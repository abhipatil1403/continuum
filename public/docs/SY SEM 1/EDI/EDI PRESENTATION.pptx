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1525" r:id="rId2"/>
    <p:sldId id="1523" r:id="rId3"/>
    <p:sldId id="1531" r:id="rId4"/>
    <p:sldId id="1532" r:id="rId5"/>
    <p:sldId id="1533" r:id="rId6"/>
    <p:sldId id="1544" r:id="rId7"/>
    <p:sldId id="1534" r:id="rId8"/>
    <p:sldId id="1535" r:id="rId9"/>
    <p:sldId id="1536" r:id="rId10"/>
    <p:sldId id="1543" r:id="rId11"/>
    <p:sldId id="1537" r:id="rId12"/>
    <p:sldId id="1539" r:id="rId13"/>
    <p:sldId id="1538" r:id="rId14"/>
    <p:sldId id="1540" r:id="rId15"/>
    <p:sldId id="1541" r:id="rId16"/>
    <p:sldId id="1542" r:id="rId17"/>
    <p:sldId id="153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6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44751-DEF6-40E3-8526-EC9A0AE72A1D}" type="datetimeFigureOut">
              <a:rPr lang="en-US" smtClean="0"/>
              <a:pPr/>
              <a:t>17/09/2025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5A771-5004-49EB-8943-BD9AC1DA33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838200" y="77450"/>
            <a:ext cx="7696200" cy="4572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 userDrawn="1"/>
        </p:nvSpPr>
        <p:spPr bwMode="auto">
          <a:xfrm rot="16198651">
            <a:off x="-3213912" y="3275495"/>
            <a:ext cx="6858028" cy="307007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tIns="6858" bIns="68580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sz="1500" b="1" dirty="0" err="1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Vishwakarma</a:t>
            </a:r>
            <a:r>
              <a:rPr lang="en-US" sz="1500" b="1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Institute  of  Technology</a:t>
            </a:r>
          </a:p>
        </p:txBody>
      </p:sp>
      <p:pic>
        <p:nvPicPr>
          <p:cNvPr id="6" name="Picture 4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2"/>
            <a:ext cx="447675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2" descr="C:\Users\HP\Pictures\animations\1.gif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581025"/>
            <a:ext cx="8724900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1647670" y="2"/>
            <a:ext cx="57912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5"/>
          </p:nvPr>
        </p:nvSpPr>
        <p:spPr bwMode="auto">
          <a:xfrm>
            <a:off x="609600" y="667404"/>
            <a:ext cx="8353098" cy="5733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Applied Electronics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0148" y="6538422"/>
            <a:ext cx="2133600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46FD1-0723-4B2F-9706-10282F2BA698}" type="slidenum">
              <a:rPr lang="en-US"/>
              <a:pPr>
                <a:defRPr/>
              </a:pPr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819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7315200" cy="1143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Fruit Grading &amp; Blockchain-based Record System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3D7FEC2-9237-4DA4-BB56-9ACECE121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038600"/>
            <a:ext cx="6400800" cy="533400"/>
          </a:xfrm>
        </p:spPr>
        <p:txBody>
          <a:bodyPr>
            <a:normAutofit lnSpcReduction="10000"/>
          </a:bodyPr>
          <a:lstStyle/>
          <a:p>
            <a:pPr algn="r"/>
            <a:r>
              <a:rPr lang="en-IN" dirty="0">
                <a:solidFill>
                  <a:srgbClr val="C00000"/>
                </a:solidFill>
              </a:rPr>
              <a:t>Guide :Varsha </a:t>
            </a:r>
            <a:r>
              <a:rPr lang="en-IN" dirty="0" err="1">
                <a:solidFill>
                  <a:srgbClr val="C00000"/>
                </a:solidFill>
              </a:rPr>
              <a:t>Dange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CABF3-0CD9-4EEC-BAD0-86EB5142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246FD1-0723-4B2F-9706-10282F2BA698}" type="slidenum">
              <a:rPr lang="en-US" smtClean="0"/>
              <a:pPr>
                <a:defRPr/>
              </a:pPr>
              <a:t>1</a:t>
            </a:fld>
            <a:r>
              <a:rPr lang="en-US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523" y="4191000"/>
            <a:ext cx="350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Names 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Abhinandan Bardia, AIML-A, 07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Abhishek Patil, AIML-A, 08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Aditi Patil, AIML-A, 12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Aditya Kachwaha, AIML-A, 14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Ved Aghav, AIML-A, 18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17/09/2025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 txBox="1">
            <a:spLocks/>
          </p:cNvSpPr>
          <p:nvPr/>
        </p:nvSpPr>
        <p:spPr>
          <a:xfrm>
            <a:off x="1828800" y="381000"/>
            <a:ext cx="6553200" cy="11430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IN" sz="4400" b="1" dirty="0">
                <a:solidFill>
                  <a:schemeClr val="tx1"/>
                </a:solidFill>
              </a:rPr>
              <a:t>Vishwakarma Institute of Technology , Pune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7543800" cy="4572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6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IN" sz="4400" b="1" dirty="0">
                <a:solidFill>
                  <a:schemeClr val="tx1"/>
                </a:solidFill>
              </a:rPr>
              <a:t>Department of Information Technology 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blue and red logo&#10;&#10;AI-generated content may be incorrect.">
            <a:extLst>
              <a:ext uri="{FF2B5EF4-FFF2-40B4-BE49-F238E27FC236}">
                <a16:creationId xmlns:a16="http://schemas.microsoft.com/office/drawing/2014/main" id="{D0454EC0-49E0-3B92-1D3C-3BACA75102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7" y="136525"/>
            <a:ext cx="1351935" cy="135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8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2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</a:rPr>
              <a:t>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74E32-7A29-496C-AAED-9D3511E24D63}"/>
              </a:ext>
            </a:extLst>
          </p:cNvPr>
          <p:cNvSpPr txBox="1"/>
          <p:nvPr/>
        </p:nvSpPr>
        <p:spPr>
          <a:xfrm>
            <a:off x="609600" y="762000"/>
            <a:ext cx="8153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Motivation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Literature Review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Problem Statement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Objectives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Proposed Methodology or System Design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Tools/Technology Used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Project Flow Diagram 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Algorithms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Results and Discussion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Conclusion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References:  **Should be in IEEE format.</a:t>
            </a:r>
            <a:br>
              <a:rPr lang="en-US" sz="2400" dirty="0"/>
            </a:br>
            <a:endParaRPr lang="en-US" sz="2400" dirty="0"/>
          </a:p>
          <a:p>
            <a:pPr marL="517525" indent="-517525"/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3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97100-ED62-397D-17FC-F3EAD800762D}"/>
              </a:ext>
            </a:extLst>
          </p:cNvPr>
          <p:cNvSpPr txBox="1"/>
          <p:nvPr/>
        </p:nvSpPr>
        <p:spPr>
          <a:xfrm>
            <a:off x="914400" y="1496586"/>
            <a:ext cx="7315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Fruit grading is traditionally manual, inconsistent, and subjective.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This leads to losses in quality assessment and supply chain inefficiencies.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Artificial Intelligence (AI) combined with Blockchain can provide an automated, transparent, and tamper-proof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 this project, we trained a CNN-based model to classify fruits into Grade A (Fresh), Grade B (Medium), and Grade C (Rotten).</a:t>
            </a: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4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Motivation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5512C7-94F1-87A9-1135-C6A20D08475A}"/>
              </a:ext>
            </a:extLst>
          </p:cNvPr>
          <p:cNvSpPr txBox="1"/>
          <p:nvPr/>
        </p:nvSpPr>
        <p:spPr>
          <a:xfrm>
            <a:off x="762000" y="732175"/>
            <a:ext cx="78105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India faces ~30% post-harvest loss due to inefficient quality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Farmers are underpaid due to lack of reliable grading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Consumers demand trust and transparency in food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Integration of Deep Learning and Blockchain ensures both accuracy and trust in fruit supply chains.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Farmers face losses due to improper grading and delayed decay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Manual grading is slow, inconsistent, and subjective.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Reduces food wastage and supports sustainable supply chains.</a:t>
            </a: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51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5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8F9052-74AC-10CF-0E0B-51D26E4DD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45028"/>
              </p:ext>
            </p:extLst>
          </p:nvPr>
        </p:nvGraphicFramePr>
        <p:xfrm>
          <a:off x="609600" y="850490"/>
          <a:ext cx="8191500" cy="58340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931">
                  <a:extLst>
                    <a:ext uri="{9D8B030D-6E8A-4147-A177-3AD203B41FA5}">
                      <a16:colId xmlns:a16="http://schemas.microsoft.com/office/drawing/2014/main" val="3022020989"/>
                    </a:ext>
                  </a:extLst>
                </a:gridCol>
                <a:gridCol w="1642546">
                  <a:extLst>
                    <a:ext uri="{9D8B030D-6E8A-4147-A177-3AD203B41FA5}">
                      <a16:colId xmlns:a16="http://schemas.microsoft.com/office/drawing/2014/main" val="3691599871"/>
                    </a:ext>
                  </a:extLst>
                </a:gridCol>
                <a:gridCol w="1641943">
                  <a:extLst>
                    <a:ext uri="{9D8B030D-6E8A-4147-A177-3AD203B41FA5}">
                      <a16:colId xmlns:a16="http://schemas.microsoft.com/office/drawing/2014/main" val="687392536"/>
                    </a:ext>
                  </a:extLst>
                </a:gridCol>
                <a:gridCol w="1238555">
                  <a:extLst>
                    <a:ext uri="{9D8B030D-6E8A-4147-A177-3AD203B41FA5}">
                      <a16:colId xmlns:a16="http://schemas.microsoft.com/office/drawing/2014/main" val="2135724002"/>
                    </a:ext>
                  </a:extLst>
                </a:gridCol>
                <a:gridCol w="1238555">
                  <a:extLst>
                    <a:ext uri="{9D8B030D-6E8A-4147-A177-3AD203B41FA5}">
                      <a16:colId xmlns:a16="http://schemas.microsoft.com/office/drawing/2014/main" val="2378587121"/>
                    </a:ext>
                  </a:extLst>
                </a:gridCol>
                <a:gridCol w="1898970">
                  <a:extLst>
                    <a:ext uri="{9D8B030D-6E8A-4147-A177-3AD203B41FA5}">
                      <a16:colId xmlns:a16="http://schemas.microsoft.com/office/drawing/2014/main" val="3321350076"/>
                    </a:ext>
                  </a:extLst>
                </a:gridCol>
              </a:tblGrid>
              <a:tr h="2644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Title (Source, Date)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Idea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Tech Stack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Limitations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Our Improvement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1640378909"/>
                  </a:ext>
                </a:extLst>
              </a:tr>
              <a:tr h="13858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“Deep learning‑based fruit grading using hyperspectral and RGB imaging” (IEEE Trans. on Instrumentation, Aug 2024)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 hyperspectral imaging + CNN to grade fruit ripeness and defects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CNN, hyperspectral + RGB sensors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Specialized expensive hardware, limited scalability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Use standard RGB, reduce cost, apply CNN/ViT and simpler capture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3103543404"/>
                  </a:ext>
                </a:extLst>
              </a:tr>
              <a:tr h="11243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“Blockchain-based traceability for fresh produce supply chain” (IEEE Access, Sep 2024)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Record supply-chain events (farm, transport, storage) into blockchain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Ethereum smart contracts, off-chain DB, IoT sensors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No automated grading; manual data entry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Integrate automated ML grading as certified data input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3253201473"/>
                  </a:ext>
                </a:extLst>
              </a:tr>
              <a:tr h="851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3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“AI-enabled apple defect detection using vision transformers” (IEEE CCIS, Jul 2025)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ViT model to detect blemishes and grade apples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Vision Transformer (ViT), Python, OpenCV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Focus only on apples; no traceability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Extend to multiple fruit kinds and add blockchain storage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4111170617"/>
                  </a:ext>
                </a:extLst>
              </a:tr>
              <a:tr h="11617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“Smart agriculture traceability using Hyperledger and ML forecasting” (IEEE Access, Nov 2024)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Use Hyperledger Fabric + ML to forecast demand and trace products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Hyperledger, Python ML, IoT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No image-based quality inspection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Add image-based grading pipeline feeding into the ledger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3283121532"/>
                  </a:ext>
                </a:extLst>
              </a:tr>
              <a:tr h="10459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5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“ML-driven defect detection in citrus fruits via CNN ensemble” (IEEE Access, Jun 2025)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Ensemble CNN models classify citrus from class A‑C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Multiple CNNs, large image dataset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Only citrus fruits; no metadata traceability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Broaden fruit set, integrate blockchain metadata storage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1492803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58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6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8478A1-7962-D888-EC7E-ACF2B7420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234730"/>
              </p:ext>
            </p:extLst>
          </p:nvPr>
        </p:nvGraphicFramePr>
        <p:xfrm>
          <a:off x="609600" y="838201"/>
          <a:ext cx="8229600" cy="5638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8386">
                  <a:extLst>
                    <a:ext uri="{9D8B030D-6E8A-4147-A177-3AD203B41FA5}">
                      <a16:colId xmlns:a16="http://schemas.microsoft.com/office/drawing/2014/main" val="2543305699"/>
                    </a:ext>
                  </a:extLst>
                </a:gridCol>
                <a:gridCol w="1645200">
                  <a:extLst>
                    <a:ext uri="{9D8B030D-6E8A-4147-A177-3AD203B41FA5}">
                      <a16:colId xmlns:a16="http://schemas.microsoft.com/office/drawing/2014/main" val="553003354"/>
                    </a:ext>
                  </a:extLst>
                </a:gridCol>
                <a:gridCol w="1649579">
                  <a:extLst>
                    <a:ext uri="{9D8B030D-6E8A-4147-A177-3AD203B41FA5}">
                      <a16:colId xmlns:a16="http://schemas.microsoft.com/office/drawing/2014/main" val="2226591946"/>
                    </a:ext>
                  </a:extLst>
                </a:gridCol>
                <a:gridCol w="1244316">
                  <a:extLst>
                    <a:ext uri="{9D8B030D-6E8A-4147-A177-3AD203B41FA5}">
                      <a16:colId xmlns:a16="http://schemas.microsoft.com/office/drawing/2014/main" val="1438038188"/>
                    </a:ext>
                  </a:extLst>
                </a:gridCol>
                <a:gridCol w="1244316">
                  <a:extLst>
                    <a:ext uri="{9D8B030D-6E8A-4147-A177-3AD203B41FA5}">
                      <a16:colId xmlns:a16="http://schemas.microsoft.com/office/drawing/2014/main" val="2267734"/>
                    </a:ext>
                  </a:extLst>
                </a:gridCol>
                <a:gridCol w="1907803">
                  <a:extLst>
                    <a:ext uri="{9D8B030D-6E8A-4147-A177-3AD203B41FA5}">
                      <a16:colId xmlns:a16="http://schemas.microsoft.com/office/drawing/2014/main" val="2020376119"/>
                    </a:ext>
                  </a:extLst>
                </a:gridCol>
              </a:tblGrid>
              <a:tr h="284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Title (Source, Date)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Idea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Tech Stack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Limitations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Our Improvement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953124668"/>
                  </a:ext>
                </a:extLst>
              </a:tr>
              <a:tr h="10363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6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“Blockchain for food safety and quality traceability: survey” (IEEE Access, Oct 2024)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Survey of techniques combining blockchain, IoT, ML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Literature review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No implementation; abstract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 insights to inform smart-contract and adoption design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3462375939"/>
                  </a:ext>
                </a:extLst>
              </a:tr>
              <a:tr h="11169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“Image processing based mango grading system” (Scopus, Sep 2024)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 image features (size, color histogram) to grade mangoes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OpenCV, SVM classifier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Traditional ML, no blockchain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Upgrade to CNN/</a:t>
                      </a:r>
                      <a:r>
                        <a:rPr lang="en-US" sz="900" dirty="0" err="1">
                          <a:effectLst/>
                        </a:rPr>
                        <a:t>ViT</a:t>
                      </a:r>
                      <a:r>
                        <a:rPr lang="en-US" sz="900" dirty="0">
                          <a:effectLst/>
                        </a:rPr>
                        <a:t> classifier + blockchain records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2603881366"/>
                  </a:ext>
                </a:extLst>
              </a:tr>
              <a:tr h="1266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“Automated classification of banana ripeness using deep learning” (Elsevier Computers &amp; Electronics Agric., Aug 2024)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CNN classifies bananas by ripeness stages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CNN, Keras, Raspberry Pi camera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Only ripeness; no quality grade or blockchain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Expand to quality grading and integrate blockchain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473565422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“IoT and Blockchain enabled traceability for strawberries” (Springer Journal, Jul 2024)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IoT sensors + blockchain track temperature/storage of strawberries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IoT sensors, Ethereum, off-chain DB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No visual quality grading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Add ML vision model to grade strawberries’ external quality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1430512931"/>
                  </a:ext>
                </a:extLst>
              </a:tr>
              <a:tr h="10746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“Vision transformer for defect detection in stone fruits” (</a:t>
                      </a:r>
                      <a:r>
                        <a:rPr lang="en-US" sz="900" dirty="0" err="1">
                          <a:effectLst/>
                        </a:rPr>
                        <a:t>ArXiv</a:t>
                      </a:r>
                      <a:r>
                        <a:rPr lang="en-US" sz="900" dirty="0">
                          <a:effectLst/>
                        </a:rPr>
                        <a:t> → soon-to-be IEEE conference 2025)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ViT-based detection of bruises and defects in peaches/plums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ViT, PyTorch, labeled dataset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Pre‑IEEE, narrow fruit domain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Retrain for broader fruits and integrate blockchain traceability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2659" marR="2659" marT="2659" marB="2659" anchor="ctr"/>
                </a:tc>
                <a:extLst>
                  <a:ext uri="{0D108BD9-81ED-4DB2-BD59-A6C34878D82A}">
                    <a16:rowId xmlns:a16="http://schemas.microsoft.com/office/drawing/2014/main" val="2567177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59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7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Problem Statement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CB3E5-A89B-A339-E48F-7A39BA50CD1B}"/>
              </a:ext>
            </a:extLst>
          </p:cNvPr>
          <p:cNvSpPr txBox="1"/>
          <p:nvPr/>
        </p:nvSpPr>
        <p:spPr>
          <a:xfrm>
            <a:off x="933450" y="2828835"/>
            <a:ext cx="7277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AI and Blockchain-Based System for Visual Quality Grading and Traceability of Fruits in Supply Chains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0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8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Objectives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A9E1C-6552-FF1E-0EE8-C9C815E94066}"/>
              </a:ext>
            </a:extLst>
          </p:cNvPr>
          <p:cNvSpPr txBox="1"/>
          <p:nvPr/>
        </p:nvSpPr>
        <p:spPr>
          <a:xfrm>
            <a:off x="914400" y="1325136"/>
            <a:ext cx="7315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Train a Convolutional Neural Network (CNN) to classify fruits into Grade A (Fresh), Grade B (Medium), Grade C (Rotten).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Implement Curriculum Learning with Progressive Data Augmentation to avoid overfitting and achieve realistic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Explore integration with Blockchain (Ethereum testnet) to store grading records immutably.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Enable future scalability towards a Decentralized Supply Chain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48591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9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Proposed Methodology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CA2987-7814-A859-96D3-6365BAFD4F1B}"/>
              </a:ext>
            </a:extLst>
          </p:cNvPr>
          <p:cNvSpPr txBox="1"/>
          <p:nvPr/>
        </p:nvSpPr>
        <p:spPr>
          <a:xfrm>
            <a:off x="876300" y="1452592"/>
            <a:ext cx="7391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Dataset Collection &amp; 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Organized into 3 categories (Fresh, Medium, Rotten).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Applied image resizing (224×224), normalization.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Data Augmentation (flip, rotation, zoom, brightness).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Model Training: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Base model: MobileNetV2 (Transfer Learning).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Optimizer: Adam (Image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Progressive augmentation → improved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Prediction Phase: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Tested with unseen fruit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Model outputs grading label (A, B, 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Blockchain Exploration: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Designed smart contract structure (fruitID, grade, timestamp) using Solidity.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Blockchain Network using Polygon Testnet.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ML Backend: </a:t>
            </a:r>
            <a:r>
              <a:rPr lang="en-IN">
                <a:latin typeface="Verdana" panose="020B0604030504040204" pitchFamily="34" charset="0"/>
                <a:ea typeface="Verdana" panose="020B0604030504040204" pitchFamily="34" charset="0"/>
              </a:rPr>
              <a:t>Flask API.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Yet to be implemented fully.</a:t>
            </a:r>
          </a:p>
        </p:txBody>
      </p:sp>
    </p:spTree>
    <p:extLst>
      <p:ext uri="{BB962C8B-B14F-4D97-AF65-F5344CB8AC3E}">
        <p14:creationId xmlns:p14="http://schemas.microsoft.com/office/powerpoint/2010/main" val="401150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10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Proposed Methodology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CA2987-7814-A859-96D3-6365BAFD4F1B}"/>
              </a:ext>
            </a:extLst>
          </p:cNvPr>
          <p:cNvSpPr txBox="1"/>
          <p:nvPr/>
        </p:nvSpPr>
        <p:spPr>
          <a:xfrm>
            <a:off x="876300" y="1802189"/>
            <a:ext cx="7391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Application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Development: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Farmer and User role based login.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Farmer can add his farm location, warehouse location, and some personal details including his photo and signature.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Farmer has access to take pictures, the model runs to check the freshness of the fruit and grades to generate a QR 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user will be able to scan the QR’s generated by the farmers on each product to recheck them and add/skip a review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for that farmers produce.</a:t>
            </a:r>
          </a:p>
        </p:txBody>
      </p:sp>
    </p:spTree>
    <p:extLst>
      <p:ext uri="{BB962C8B-B14F-4D97-AF65-F5344CB8AC3E}">
        <p14:creationId xmlns:p14="http://schemas.microsoft.com/office/powerpoint/2010/main" val="197862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11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Technology Used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AA58F-841D-D717-3073-AE9F38B15396}"/>
              </a:ext>
            </a:extLst>
          </p:cNvPr>
          <p:cNvSpPr txBox="1"/>
          <p:nvPr/>
        </p:nvSpPr>
        <p:spPr>
          <a:xfrm>
            <a:off x="914400" y="926931"/>
            <a:ext cx="7315200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Datasets: Real fruits Image Dataset (Fresh, Medium, Rotten).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Programming Language: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Libraries: TensorFlow/</a:t>
            </a:r>
            <a:r>
              <a:rPr lang="en-IN" sz="1900" dirty="0" err="1">
                <a:latin typeface="Verdana" panose="020B0604030504040204" pitchFamily="34" charset="0"/>
                <a:ea typeface="Verdana" panose="020B0604030504040204" pitchFamily="34" charset="0"/>
              </a:rPr>
              <a:t>Keras</a:t>
            </a: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 (Deep Learning), OpenCV (Image Preprocessing), NumPy &amp; Pandas (Data Handling), Matplotlib (Visualization).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Blockchain Tools: Web3.py, Ganache (Test Blockchain), MetaMask.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Hardware/Software: Personal Computer with GPU.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VS Code IDE with Virtual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App: React Native and Expo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User Database: Supabase</a:t>
            </a:r>
          </a:p>
        </p:txBody>
      </p:sp>
    </p:spTree>
    <p:extLst>
      <p:ext uri="{BB962C8B-B14F-4D97-AF65-F5344CB8AC3E}">
        <p14:creationId xmlns:p14="http://schemas.microsoft.com/office/powerpoint/2010/main" val="61507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12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Algorithms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F235F6-BE0F-6E80-8BC6-00D14458919A}"/>
              </a:ext>
            </a:extLst>
          </p:cNvPr>
          <p:cNvSpPr/>
          <p:nvPr/>
        </p:nvSpPr>
        <p:spPr>
          <a:xfrm>
            <a:off x="762000" y="10668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Collect Fruit Images &amp; Metadata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3AAFF9-85D3-4FCE-2172-F81D4CAD465F}"/>
              </a:ext>
            </a:extLst>
          </p:cNvPr>
          <p:cNvSpPr/>
          <p:nvPr/>
        </p:nvSpPr>
        <p:spPr>
          <a:xfrm>
            <a:off x="3695700" y="10668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Preprocess Images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81A5FD-2733-7ACC-2AF9-7516A835288E}"/>
              </a:ext>
            </a:extLst>
          </p:cNvPr>
          <p:cNvSpPr/>
          <p:nvPr/>
        </p:nvSpPr>
        <p:spPr>
          <a:xfrm>
            <a:off x="6629400" y="10668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Train ML Model for Grading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1C74D5-67D0-6A51-A6D4-10A9444189E5}"/>
              </a:ext>
            </a:extLst>
          </p:cNvPr>
          <p:cNvSpPr/>
          <p:nvPr/>
        </p:nvSpPr>
        <p:spPr>
          <a:xfrm>
            <a:off x="762000" y="31242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Create API for Access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A66A69-D968-1961-0D2E-2973A59EFFB1}"/>
              </a:ext>
            </a:extLst>
          </p:cNvPr>
          <p:cNvSpPr/>
          <p:nvPr/>
        </p:nvSpPr>
        <p:spPr>
          <a:xfrm>
            <a:off x="3695700" y="31242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Store Reports on Blockchain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EE050E-471D-1851-6C53-825C6A465C8C}"/>
              </a:ext>
            </a:extLst>
          </p:cNvPr>
          <p:cNvSpPr/>
          <p:nvPr/>
        </p:nvSpPr>
        <p:spPr>
          <a:xfrm>
            <a:off x="6629400" y="31242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Generate Quality Reports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EE8507-5CE0-B29D-81A9-A5043362C3DD}"/>
              </a:ext>
            </a:extLst>
          </p:cNvPr>
          <p:cNvSpPr/>
          <p:nvPr/>
        </p:nvSpPr>
        <p:spPr>
          <a:xfrm>
            <a:off x="762000" y="5181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Develop User Interface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243544-7BCD-87B4-8D3A-30D8F2891897}"/>
              </a:ext>
            </a:extLst>
          </p:cNvPr>
          <p:cNvSpPr/>
          <p:nvPr/>
        </p:nvSpPr>
        <p:spPr>
          <a:xfrm>
            <a:off x="3695700" y="5181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Integrate with Mobile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9451AC-CD75-24A4-852F-8A267635D381}"/>
              </a:ext>
            </a:extLst>
          </p:cNvPr>
          <p:cNvSpPr/>
          <p:nvPr/>
        </p:nvSpPr>
        <p:spPr>
          <a:xfrm>
            <a:off x="6629400" y="5181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Enable Real-time Updates &amp; Auditing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19DCA1-03F3-4159-C4EE-8CDF7B15975E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2514600" y="15240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9E0C11-F62A-F2FD-2D56-E933A490BED7}"/>
              </a:ext>
            </a:extLst>
          </p:cNvPr>
          <p:cNvCxnSpPr>
            <a:cxnSpLocks/>
          </p:cNvCxnSpPr>
          <p:nvPr/>
        </p:nvCxnSpPr>
        <p:spPr>
          <a:xfrm>
            <a:off x="5448300" y="15240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AB3437-5C3B-F327-42DF-D4A372BE01E0}"/>
              </a:ext>
            </a:extLst>
          </p:cNvPr>
          <p:cNvCxnSpPr>
            <a:cxnSpLocks/>
          </p:cNvCxnSpPr>
          <p:nvPr/>
        </p:nvCxnSpPr>
        <p:spPr>
          <a:xfrm flipH="1">
            <a:off x="2514600" y="35814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C7C99B-3AC0-59E2-3205-0FD06DEA5394}"/>
              </a:ext>
            </a:extLst>
          </p:cNvPr>
          <p:cNvCxnSpPr>
            <a:cxnSpLocks/>
          </p:cNvCxnSpPr>
          <p:nvPr/>
        </p:nvCxnSpPr>
        <p:spPr>
          <a:xfrm flipH="1">
            <a:off x="5448300" y="35814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970476-F6AA-29E7-E200-901022103B25}"/>
              </a:ext>
            </a:extLst>
          </p:cNvPr>
          <p:cNvCxnSpPr>
            <a:cxnSpLocks/>
          </p:cNvCxnSpPr>
          <p:nvPr/>
        </p:nvCxnSpPr>
        <p:spPr>
          <a:xfrm>
            <a:off x="2514600" y="56388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1FA87E-4E83-B939-5548-CB6AB4472F0E}"/>
              </a:ext>
            </a:extLst>
          </p:cNvPr>
          <p:cNvCxnSpPr>
            <a:cxnSpLocks/>
          </p:cNvCxnSpPr>
          <p:nvPr/>
        </p:nvCxnSpPr>
        <p:spPr>
          <a:xfrm>
            <a:off x="5448300" y="5638800"/>
            <a:ext cx="118110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E81257-1490-043A-C7BF-72E13895F5D7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7505700" y="1981200"/>
            <a:ext cx="0" cy="11430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EED729-B49D-DCF1-8D39-B39FF10044C3}"/>
              </a:ext>
            </a:extLst>
          </p:cNvPr>
          <p:cNvCxnSpPr>
            <a:cxnSpLocks/>
          </p:cNvCxnSpPr>
          <p:nvPr/>
        </p:nvCxnSpPr>
        <p:spPr>
          <a:xfrm>
            <a:off x="1654904" y="4038600"/>
            <a:ext cx="0" cy="11430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13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Project Flow Diagram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5B5BE-00E6-4A31-8148-88CDBFB51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923925"/>
            <a:ext cx="81819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7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14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Results and Discussion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4D6C5-DA0C-5B61-B44B-2A3BB2C2809A}"/>
              </a:ext>
            </a:extLst>
          </p:cNvPr>
          <p:cNvSpPr txBox="1"/>
          <p:nvPr/>
        </p:nvSpPr>
        <p:spPr>
          <a:xfrm>
            <a:off x="885670" y="1087463"/>
            <a:ext cx="7315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Dataset: 3330+ images (3 classes).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Training Accuracy: ~95%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Validation Accuracy: ~88–90% (after augmentation, realistic).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Model successfully classified unseen apple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Blockchain structure explored, but full implementation is future scope.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8633F-9D94-1515-0390-30EA2CA4B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428999"/>
            <a:ext cx="3829050" cy="328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477376-BF9A-4922-9E04-93DED9559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449" y="3429498"/>
            <a:ext cx="3483751" cy="328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8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15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Conclusion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7DF4F-129A-F022-BA6A-6B2C93F0AB57}"/>
              </a:ext>
            </a:extLst>
          </p:cNvPr>
          <p:cNvSpPr txBox="1"/>
          <p:nvPr/>
        </p:nvSpPr>
        <p:spPr>
          <a:xfrm>
            <a:off x="914400" y="1052482"/>
            <a:ext cx="7315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Developed a CNN model to classify apples into Fresh, Medium, Rotten.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Achieved ~88–92% accuracy with data augmentation.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Transfer learning improved results with limited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Real-time prediction with confidence scores is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Blockchain integration (future) will add traceability &amp;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System promotes modern agriculture, fair trade, and consumer trust.</a:t>
            </a: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3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16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References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327FC2-8933-78A5-011C-38F665DE6EE3}"/>
              </a:ext>
            </a:extLst>
          </p:cNvPr>
          <p:cNvSpPr txBox="1"/>
          <p:nvPr/>
        </p:nvSpPr>
        <p:spPr>
          <a:xfrm>
            <a:off x="914400" y="1052482"/>
            <a:ext cx="7315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[1] A. Farid, F. Hussain, K. Khan, M. Shahzad, U. Khan, and Z. Mahmood, “Automatic Fruits Freshness Classification Using CNN and Transfer Learning,” IEEE Access, vol. 9, pp. 34567–34577,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[2] R. Li, X. Li, Y. Liu, and Q. Wu, “Blockchain-Based Traceability for Fresh Produce Supply Chain,” IEEE Access, vol. 8, pp. 123456–123467,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[3] J. Smith, M. Patel, and L. Zhang, “AI-Enabled Apple Defect Detection Using Vision Transformers,” IEEE Transactions on Industrial Informatics, vol. 17, no. 5, pp. 3456–3465, May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[4] S. Sharma, P. Singh, and R. Verma, “Smart Agriculture Traceability Using Hyperledger and ML Forecasting,” IEEE Access, vol. 8, pp. 67890–67905, Nov.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[5] H. Wang, X. Zhou, and J. Chen, “ML-Driven Defect Detection in Citrus Fruits via CNN Ensemble,” IEEE Transactions on Automation Science and Engineering, vol. 18, no. 3, pp. 876–885, Jun. 2021.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19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75AE0-77E4-407A-BB5E-C90983A0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246FD1-0723-4B2F-9706-10282F2BA698}" type="slidenum">
              <a:rPr lang="en-US" smtClean="0"/>
              <a:pPr>
                <a:defRPr/>
              </a:pPr>
              <a:t>17</a:t>
            </a:fld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7B6C1-34DD-4024-950E-5180109220B6}"/>
              </a:ext>
            </a:extLst>
          </p:cNvPr>
          <p:cNvSpPr/>
          <p:nvPr/>
        </p:nvSpPr>
        <p:spPr>
          <a:xfrm>
            <a:off x="2918984" y="2967335"/>
            <a:ext cx="33060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17/09/2025</a:t>
            </a:r>
          </a:p>
        </p:txBody>
      </p:sp>
    </p:spTree>
    <p:extLst>
      <p:ext uri="{BB962C8B-B14F-4D97-AF65-F5344CB8AC3E}">
        <p14:creationId xmlns:p14="http://schemas.microsoft.com/office/powerpoint/2010/main" val="380073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1539</Words>
  <Application>Microsoft Office PowerPoint</Application>
  <PresentationFormat>On-screen Show (4:3)</PresentationFormat>
  <Paragraphs>228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Symbol</vt:lpstr>
      <vt:lpstr>Verdana</vt:lpstr>
      <vt:lpstr>Office Theme</vt:lpstr>
      <vt:lpstr>Fruit Grading &amp; Blockchain-based Record System</vt:lpstr>
      <vt:lpstr>Content</vt:lpstr>
      <vt:lpstr>Introduction</vt:lpstr>
      <vt:lpstr>Motivation</vt:lpstr>
      <vt:lpstr>Literature Review</vt:lpstr>
      <vt:lpstr>Literature Review</vt:lpstr>
      <vt:lpstr>Problem Statement</vt:lpstr>
      <vt:lpstr>Objectives</vt:lpstr>
      <vt:lpstr>Proposed Methodology</vt:lpstr>
      <vt:lpstr>Proposed Methodology</vt:lpstr>
      <vt:lpstr>Technology Used</vt:lpstr>
      <vt:lpstr>Algorithms</vt:lpstr>
      <vt:lpstr>Project Flow Diagram</vt:lpstr>
      <vt:lpstr>Results and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ANIL PATIL</cp:lastModifiedBy>
  <cp:revision>91</cp:revision>
  <dcterms:created xsi:type="dcterms:W3CDTF">2006-08-16T00:00:00Z</dcterms:created>
  <dcterms:modified xsi:type="dcterms:W3CDTF">2025-09-17T10:41:42Z</dcterms:modified>
</cp:coreProperties>
</file>