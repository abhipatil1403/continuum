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1525" r:id="rId2"/>
    <p:sldId id="1523" r:id="rId3"/>
    <p:sldId id="1531" r:id="rId4"/>
    <p:sldId id="1532" r:id="rId5"/>
    <p:sldId id="1533" r:id="rId6"/>
    <p:sldId id="1544" r:id="rId7"/>
    <p:sldId id="1534" r:id="rId8"/>
    <p:sldId id="1535" r:id="rId9"/>
    <p:sldId id="1546" r:id="rId10"/>
    <p:sldId id="1536" r:id="rId11"/>
    <p:sldId id="1543" r:id="rId12"/>
    <p:sldId id="1537" r:id="rId13"/>
    <p:sldId id="1539" r:id="rId14"/>
    <p:sldId id="1538" r:id="rId15"/>
    <p:sldId id="1540" r:id="rId16"/>
    <p:sldId id="1541" r:id="rId17"/>
    <p:sldId id="1542" r:id="rId18"/>
    <p:sldId id="1545" r:id="rId19"/>
    <p:sldId id="1530"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27" autoAdjust="0"/>
    <p:restoredTop sz="94624" autoAdjust="0"/>
  </p:normalViewPr>
  <p:slideViewPr>
    <p:cSldViewPr>
      <p:cViewPr varScale="1">
        <p:scale>
          <a:sx n="63" d="100"/>
          <a:sy n="63" d="100"/>
        </p:scale>
        <p:origin x="1352" y="64"/>
      </p:cViewPr>
      <p:guideLst>
        <p:guide orient="horz" pos="2160"/>
        <p:guide pos="2880"/>
      </p:guideLst>
    </p:cSldViewPr>
  </p:slideViewPr>
  <p:outlineViewPr>
    <p:cViewPr>
      <p:scale>
        <a:sx n="33" d="100"/>
        <a:sy n="33" d="100"/>
      </p:scale>
      <p:origin x="0" y="51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CA44751-DEF6-40E3-8526-EC9A0AE72A1D}" type="datetimeFigureOut">
              <a:rPr lang="en-US" smtClean="0"/>
              <a:pPr/>
              <a:t>12/6/2025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A5A771-5004-49EB-8943-BD9AC1DA33B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1A5A771-5004-49EB-8943-BD9AC1DA33B6}" type="slidenum">
              <a:rPr lang="en-US" smtClean="0"/>
              <a:pPr/>
              <a:t>12</a:t>
            </a:fld>
            <a:endParaRPr lang="en-US"/>
          </a:p>
        </p:txBody>
      </p:sp>
    </p:spTree>
    <p:extLst>
      <p:ext uri="{BB962C8B-B14F-4D97-AF65-F5344CB8AC3E}">
        <p14:creationId xmlns:p14="http://schemas.microsoft.com/office/powerpoint/2010/main" val="632490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Applied Electronics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Applied Electronics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Applied Electronics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Applied Electronics</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Applied Electronics</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Applied Electronics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Applied Electronics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Applied Electronics</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Applied Electronics</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Applied Electronics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Applied Electronics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
        <p:nvSpPr>
          <p:cNvPr id="4" name="Rounded Rectangle 3"/>
          <p:cNvSpPr/>
          <p:nvPr userDrawn="1"/>
        </p:nvSpPr>
        <p:spPr>
          <a:xfrm>
            <a:off x="838200" y="77450"/>
            <a:ext cx="7696200" cy="457200"/>
          </a:xfrm>
          <a:prstGeom prst="roundRect">
            <a:avLst/>
          </a:prstGeom>
        </p:spPr>
        <p:style>
          <a:lnRef idx="0">
            <a:schemeClr val="accent1"/>
          </a:lnRef>
          <a:fillRef idx="3">
            <a:schemeClr val="accent1"/>
          </a:fillRef>
          <a:effectRef idx="3">
            <a:schemeClr val="accent1"/>
          </a:effectRef>
          <a:fontRef idx="minor">
            <a:schemeClr val="lt1"/>
          </a:fontRef>
        </p:style>
        <p:txBody>
          <a:bodyPr anchor="ctr"/>
          <a:lstStyle/>
          <a:p>
            <a:pPr algn="ctr">
              <a:defRPr/>
            </a:pPr>
            <a:endParaRPr lang="en-US" sz="1350" dirty="0">
              <a:solidFill>
                <a:schemeClr val="bg1"/>
              </a:solidFill>
            </a:endParaRPr>
          </a:p>
        </p:txBody>
      </p:sp>
      <p:sp>
        <p:nvSpPr>
          <p:cNvPr id="5" name="Text Box 14"/>
          <p:cNvSpPr txBox="1">
            <a:spLocks noChangeArrowheads="1"/>
          </p:cNvSpPr>
          <p:nvPr userDrawn="1"/>
        </p:nvSpPr>
        <p:spPr bwMode="auto">
          <a:xfrm rot="16198651">
            <a:off x="-3213912" y="3275495"/>
            <a:ext cx="6858028" cy="307007"/>
          </a:xfrm>
          <a:prstGeom prst="rect">
            <a:avLst/>
          </a:prstGeom>
          <a:solidFill>
            <a:srgbClr val="000080"/>
          </a:solidFill>
          <a:ln w="9525">
            <a:noFill/>
            <a:miter lim="800000"/>
            <a:headEnd/>
            <a:tailEnd/>
          </a:ln>
          <a:scene3d>
            <a:camera prst="orthographicFront"/>
            <a:lightRig rig="threePt" dir="t"/>
          </a:scene3d>
          <a:sp3d>
            <a:bevelT/>
            <a:bevelB/>
          </a:sp3d>
        </p:spPr>
        <p:txBody>
          <a:bodyPr tIns="6858" bIns="68580">
            <a:spAutoFit/>
          </a:bodyPr>
          <a:lstStyle/>
          <a:p>
            <a:pPr fontAlgn="auto">
              <a:spcBef>
                <a:spcPct val="50000"/>
              </a:spcBef>
              <a:spcAft>
                <a:spcPts val="0"/>
              </a:spcAft>
              <a:defRPr/>
            </a:pPr>
            <a:r>
              <a:rPr lang="en-US" sz="1500" b="1" dirty="0">
                <a:solidFill>
                  <a:schemeClr val="bg1"/>
                </a:solidFill>
                <a:latin typeface="Verdana" pitchFamily="34" charset="0"/>
                <a:ea typeface="Verdana" pitchFamily="34" charset="0"/>
                <a:cs typeface="Verdana" pitchFamily="34" charset="0"/>
              </a:rPr>
              <a:t>   </a:t>
            </a:r>
            <a:r>
              <a:rPr lang="en-US" sz="1500" b="1" dirty="0" err="1">
                <a:solidFill>
                  <a:schemeClr val="bg1"/>
                </a:solidFill>
                <a:latin typeface="Verdana" pitchFamily="34" charset="0"/>
                <a:ea typeface="Verdana" pitchFamily="34" charset="0"/>
                <a:cs typeface="Verdana" pitchFamily="34" charset="0"/>
              </a:rPr>
              <a:t>Vishwakarma</a:t>
            </a:r>
            <a:r>
              <a:rPr lang="en-US" sz="1500" b="1" dirty="0">
                <a:solidFill>
                  <a:schemeClr val="bg1"/>
                </a:solidFill>
                <a:latin typeface="Verdana" pitchFamily="34" charset="0"/>
                <a:ea typeface="Verdana" pitchFamily="34" charset="0"/>
                <a:cs typeface="Verdana" pitchFamily="34" charset="0"/>
              </a:rPr>
              <a:t>  Institute  of  Technology</a:t>
            </a:r>
          </a:p>
        </p:txBody>
      </p:sp>
      <p:pic>
        <p:nvPicPr>
          <p:cNvPr id="6" name="Picture 43"/>
          <p:cNvPicPr>
            <a:picLocks noChangeAspect="1" noChangeArrowheads="1"/>
          </p:cNvPicPr>
          <p:nvPr userDrawn="1"/>
        </p:nvPicPr>
        <p:blipFill>
          <a:blip r:embed="rId2" cstate="print"/>
          <a:srcRect/>
          <a:stretch>
            <a:fillRect/>
          </a:stretch>
        </p:blipFill>
        <p:spPr bwMode="auto">
          <a:xfrm>
            <a:off x="1" y="2"/>
            <a:ext cx="447675" cy="614363"/>
          </a:xfrm>
          <a:prstGeom prst="rect">
            <a:avLst/>
          </a:prstGeom>
          <a:noFill/>
          <a:ln w="9525">
            <a:noFill/>
            <a:miter lim="800000"/>
            <a:headEnd/>
            <a:tailEnd/>
          </a:ln>
        </p:spPr>
      </p:pic>
      <p:pic>
        <p:nvPicPr>
          <p:cNvPr id="9" name="Picture 12" descr="C:\Users\HP\Pictures\animations\1.gif"/>
          <p:cNvPicPr>
            <a:picLocks noChangeArrowheads="1"/>
          </p:cNvPicPr>
          <p:nvPr userDrawn="1"/>
        </p:nvPicPr>
        <p:blipFill>
          <a:blip r:embed="rId3" cstate="print"/>
          <a:srcRect/>
          <a:stretch>
            <a:fillRect/>
          </a:stretch>
        </p:blipFill>
        <p:spPr bwMode="auto">
          <a:xfrm>
            <a:off x="409575" y="581025"/>
            <a:ext cx="8724900" cy="71438"/>
          </a:xfrm>
          <a:prstGeom prst="rect">
            <a:avLst/>
          </a:prstGeom>
          <a:noFill/>
          <a:ln w="9525">
            <a:noFill/>
            <a:miter lim="800000"/>
            <a:headEnd/>
            <a:tailEnd/>
          </a:ln>
        </p:spPr>
      </p:pic>
      <p:sp>
        <p:nvSpPr>
          <p:cNvPr id="7" name="Title Placeholder 1"/>
          <p:cNvSpPr>
            <a:spLocks noGrp="1"/>
          </p:cNvSpPr>
          <p:nvPr>
            <p:ph type="title"/>
          </p:nvPr>
        </p:nvSpPr>
        <p:spPr bwMode="auto">
          <a:xfrm>
            <a:off x="1647670" y="2"/>
            <a:ext cx="5791200" cy="639763"/>
          </a:xfrm>
          <a:prstGeom prst="rect">
            <a:avLst/>
          </a:prstGeom>
          <a:noFill/>
          <a:ln w="9525">
            <a:noFill/>
            <a:miter lim="800000"/>
            <a:headEnd/>
            <a:tailEnd/>
          </a:ln>
        </p:spPr>
        <p:txBody>
          <a:bodyPr>
            <a:normAutofit/>
          </a:bodyPr>
          <a:lstStyle>
            <a:lvl1pPr>
              <a:defRPr sz="2800">
                <a:solidFill>
                  <a:schemeClr val="bg1"/>
                </a:solidFill>
                <a:latin typeface="Verdana" panose="020B0604030504040204" pitchFamily="34" charset="0"/>
                <a:ea typeface="Verdana" panose="020B0604030504040204" pitchFamily="34" charset="0"/>
              </a:defRPr>
            </a:lvl1pPr>
          </a:lstStyle>
          <a:p>
            <a:pPr lvl="0"/>
            <a:r>
              <a:rPr lang="en-US" dirty="0"/>
              <a:t>Click to edit Master title style</a:t>
            </a:r>
          </a:p>
        </p:txBody>
      </p:sp>
      <p:sp>
        <p:nvSpPr>
          <p:cNvPr id="8" name="Text Placeholder 2"/>
          <p:cNvSpPr>
            <a:spLocks noGrp="1"/>
          </p:cNvSpPr>
          <p:nvPr>
            <p:ph idx="5"/>
          </p:nvPr>
        </p:nvSpPr>
        <p:spPr bwMode="auto">
          <a:xfrm>
            <a:off x="609600" y="667404"/>
            <a:ext cx="8353098" cy="57333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a:lnSpc>
                <a:spcPct val="150000"/>
              </a:lnSpc>
              <a:defRPr sz="2000">
                <a:latin typeface="Verdana" pitchFamily="34" charset="0"/>
                <a:ea typeface="Verdana" pitchFamily="34" charset="0"/>
                <a:cs typeface="Verdana" pitchFamily="34" charset="0"/>
              </a:defRPr>
            </a:lvl1pPr>
            <a:lvl2pPr>
              <a:lnSpc>
                <a:spcPct val="150000"/>
              </a:lnSpc>
              <a:defRPr sz="2000">
                <a:latin typeface="Verdana" pitchFamily="34" charset="0"/>
                <a:ea typeface="Verdana" pitchFamily="34" charset="0"/>
                <a:cs typeface="Verdana" pitchFamily="34" charset="0"/>
              </a:defRPr>
            </a:lvl2pPr>
            <a:lvl3pPr>
              <a:lnSpc>
                <a:spcPct val="150000"/>
              </a:lnSpc>
              <a:defRPr sz="2000">
                <a:latin typeface="Verdana" pitchFamily="34" charset="0"/>
                <a:ea typeface="Verdana" pitchFamily="34" charset="0"/>
                <a:cs typeface="Verdana" pitchFamily="34" charset="0"/>
              </a:defRPr>
            </a:lvl3pPr>
            <a:lvl4pPr>
              <a:lnSpc>
                <a:spcPct val="150000"/>
              </a:lnSpc>
              <a:defRPr sz="2000">
                <a:latin typeface="Verdana" pitchFamily="34" charset="0"/>
                <a:ea typeface="Verdana" pitchFamily="34" charset="0"/>
                <a:cs typeface="Verdana" pitchFamily="34" charset="0"/>
              </a:defRPr>
            </a:lvl4pPr>
            <a:lvl5pPr>
              <a:lnSpc>
                <a:spcPct val="150000"/>
              </a:lnSpc>
              <a:defRPr sz="2000">
                <a:latin typeface="Verdana" pitchFamily="34" charset="0"/>
                <a:ea typeface="Verdana" pitchFamily="34" charset="0"/>
                <a:cs typeface="Verdana"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Footer Placeholder 4"/>
          <p:cNvSpPr>
            <a:spLocks noGrp="1"/>
          </p:cNvSpPr>
          <p:nvPr>
            <p:ph type="ftr" sz="quarter" idx="11"/>
          </p:nvPr>
        </p:nvSpPr>
        <p:spPr>
          <a:xfrm>
            <a:off x="3124200" y="6553200"/>
            <a:ext cx="2895600" cy="260350"/>
          </a:xfrm>
        </p:spPr>
        <p:txBody>
          <a:bodyPr/>
          <a:lstStyle>
            <a:lvl1pPr>
              <a:defRPr/>
            </a:lvl1pPr>
          </a:lstStyle>
          <a:p>
            <a:pPr>
              <a:defRPr/>
            </a:pPr>
            <a:r>
              <a:rPr lang="en-US" dirty="0"/>
              <a:t>Applied Electronics</a:t>
            </a:r>
          </a:p>
        </p:txBody>
      </p:sp>
      <p:sp>
        <p:nvSpPr>
          <p:cNvPr id="12" name="Slide Number Placeholder 5"/>
          <p:cNvSpPr>
            <a:spLocks noGrp="1"/>
          </p:cNvSpPr>
          <p:nvPr>
            <p:ph type="sldNum" sz="quarter" idx="12"/>
          </p:nvPr>
        </p:nvSpPr>
        <p:spPr>
          <a:xfrm>
            <a:off x="6950148" y="6538422"/>
            <a:ext cx="2133600" cy="260350"/>
          </a:xfrm>
        </p:spPr>
        <p:txBody>
          <a:bodyPr/>
          <a:lstStyle>
            <a:lvl1pPr>
              <a:defRPr/>
            </a:lvl1pPr>
          </a:lstStyle>
          <a:p>
            <a:pPr>
              <a:defRPr/>
            </a:pPr>
            <a:fld id="{02246FD1-0723-4B2F-9706-10282F2BA698}" type="slidenum">
              <a:rPr lang="en-US"/>
              <a:pPr>
                <a:defRPr/>
              </a:pPr>
              <a:t>‹#›</a:t>
            </a:fld>
            <a:r>
              <a:rPr lang="en-US" dirty="0"/>
              <a:t> </a:t>
            </a:r>
          </a:p>
        </p:txBody>
      </p:sp>
    </p:spTree>
    <p:extLst>
      <p:ext uri="{BB962C8B-B14F-4D97-AF65-F5344CB8AC3E}">
        <p14:creationId xmlns:p14="http://schemas.microsoft.com/office/powerpoint/2010/main" val="3998191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Applied Electronics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56D84A7-6477-406F-8B6C-54AB870494E1}"/>
              </a:ext>
            </a:extLst>
          </p:cNvPr>
          <p:cNvSpPr>
            <a:spLocks noGrp="1"/>
          </p:cNvSpPr>
          <p:nvPr>
            <p:ph type="ctrTitle"/>
          </p:nvPr>
        </p:nvSpPr>
        <p:spPr>
          <a:xfrm>
            <a:off x="973395" y="2389317"/>
            <a:ext cx="7315200" cy="1143000"/>
          </a:xfrm>
        </p:spPr>
        <p:style>
          <a:lnRef idx="3">
            <a:schemeClr val="lt1"/>
          </a:lnRef>
          <a:fillRef idx="1">
            <a:schemeClr val="accent1"/>
          </a:fillRef>
          <a:effectRef idx="1">
            <a:schemeClr val="accent1"/>
          </a:effectRef>
          <a:fontRef idx="minor">
            <a:schemeClr val="lt1"/>
          </a:fontRef>
        </p:style>
        <p:txBody>
          <a:bodyPr>
            <a:noAutofit/>
          </a:bodyPr>
          <a:lstStyle/>
          <a:p>
            <a:r>
              <a:rPr lang="en-US" sz="2400" dirty="0"/>
              <a:t>AI and </a:t>
            </a:r>
            <a:r>
              <a:rPr lang="en-US" sz="2400" dirty="0" err="1"/>
              <a:t>Blockchain</a:t>
            </a:r>
            <a:r>
              <a:rPr lang="en-US" sz="2400" dirty="0"/>
              <a:t>-Based System for Visual Quality Grading and Traceability of Apples in Supply Chains</a:t>
            </a:r>
            <a:endParaRPr lang="en-IN" sz="2400" dirty="0"/>
          </a:p>
        </p:txBody>
      </p:sp>
      <p:sp>
        <p:nvSpPr>
          <p:cNvPr id="7" name="Subtitle 6">
            <a:extLst>
              <a:ext uri="{FF2B5EF4-FFF2-40B4-BE49-F238E27FC236}">
                <a16:creationId xmlns:a16="http://schemas.microsoft.com/office/drawing/2014/main" id="{E3D7FEC2-9237-4DA4-BB56-9ACECE121171}"/>
              </a:ext>
            </a:extLst>
          </p:cNvPr>
          <p:cNvSpPr>
            <a:spLocks noGrp="1"/>
          </p:cNvSpPr>
          <p:nvPr>
            <p:ph type="subTitle" idx="1"/>
          </p:nvPr>
        </p:nvSpPr>
        <p:spPr>
          <a:xfrm>
            <a:off x="1887795" y="3621515"/>
            <a:ext cx="6400800" cy="533400"/>
          </a:xfrm>
        </p:spPr>
        <p:txBody>
          <a:bodyPr>
            <a:normAutofit lnSpcReduction="10000"/>
          </a:bodyPr>
          <a:lstStyle/>
          <a:p>
            <a:pPr algn="r"/>
            <a:r>
              <a:rPr lang="en-IN" dirty="0">
                <a:solidFill>
                  <a:srgbClr val="C00000"/>
                </a:solidFill>
              </a:rPr>
              <a:t>Guide </a:t>
            </a:r>
            <a:r>
              <a:rPr lang="en-IN" dirty="0" smtClean="0">
                <a:solidFill>
                  <a:srgbClr val="C00000"/>
                </a:solidFill>
              </a:rPr>
              <a:t>:</a:t>
            </a:r>
            <a:r>
              <a:rPr lang="en-IN" dirty="0" err="1" smtClean="0">
                <a:solidFill>
                  <a:srgbClr val="C00000"/>
                </a:solidFill>
              </a:rPr>
              <a:t>Dr.</a:t>
            </a:r>
            <a:r>
              <a:rPr lang="en-IN" dirty="0" smtClean="0">
                <a:solidFill>
                  <a:srgbClr val="C00000"/>
                </a:solidFill>
              </a:rPr>
              <a:t> </a:t>
            </a:r>
            <a:r>
              <a:rPr lang="en-IN" dirty="0" err="1" smtClean="0">
                <a:solidFill>
                  <a:srgbClr val="C00000"/>
                </a:solidFill>
              </a:rPr>
              <a:t>Varsha</a:t>
            </a:r>
            <a:r>
              <a:rPr lang="en-IN" dirty="0" smtClean="0">
                <a:solidFill>
                  <a:srgbClr val="C00000"/>
                </a:solidFill>
              </a:rPr>
              <a:t> </a:t>
            </a:r>
            <a:r>
              <a:rPr lang="en-IN" dirty="0" err="1">
                <a:solidFill>
                  <a:srgbClr val="C00000"/>
                </a:solidFill>
              </a:rPr>
              <a:t>Dange</a:t>
            </a:r>
            <a:endParaRPr lang="en-IN" dirty="0">
              <a:solidFill>
                <a:srgbClr val="C00000"/>
              </a:solidFill>
            </a:endParaRPr>
          </a:p>
        </p:txBody>
      </p:sp>
      <p:sp>
        <p:nvSpPr>
          <p:cNvPr id="5" name="Slide Number Placeholder 4">
            <a:extLst>
              <a:ext uri="{FF2B5EF4-FFF2-40B4-BE49-F238E27FC236}">
                <a16:creationId xmlns:a16="http://schemas.microsoft.com/office/drawing/2014/main" id="{EFACABF3-0CD9-4EEC-BAD0-86EB51425063}"/>
              </a:ext>
            </a:extLst>
          </p:cNvPr>
          <p:cNvSpPr>
            <a:spLocks noGrp="1"/>
          </p:cNvSpPr>
          <p:nvPr>
            <p:ph type="sldNum" sz="quarter" idx="12"/>
          </p:nvPr>
        </p:nvSpPr>
        <p:spPr/>
        <p:txBody>
          <a:bodyPr/>
          <a:lstStyle/>
          <a:p>
            <a:pPr>
              <a:defRPr/>
            </a:pPr>
            <a:fld id="{02246FD1-0723-4B2F-9706-10282F2BA698}" type="slidenum">
              <a:rPr lang="en-US" smtClean="0"/>
              <a:pPr>
                <a:defRPr/>
              </a:pPr>
              <a:t>1</a:t>
            </a:fld>
            <a:r>
              <a:rPr lang="en-US" dirty="0"/>
              <a:t> </a:t>
            </a:r>
          </a:p>
        </p:txBody>
      </p:sp>
      <p:sp>
        <p:nvSpPr>
          <p:cNvPr id="8" name="TextBox 7"/>
          <p:cNvSpPr txBox="1"/>
          <p:nvPr/>
        </p:nvSpPr>
        <p:spPr>
          <a:xfrm>
            <a:off x="680720" y="4154915"/>
            <a:ext cx="4397478" cy="1938992"/>
          </a:xfrm>
          <a:prstGeom prst="rect">
            <a:avLst/>
          </a:prstGeom>
          <a:noFill/>
        </p:spPr>
        <p:txBody>
          <a:bodyPr wrap="square" rtlCol="0">
            <a:spAutoFit/>
          </a:bodyPr>
          <a:lstStyle/>
          <a:p>
            <a:r>
              <a:rPr lang="en-IN" sz="2000" dirty="0"/>
              <a:t>Students Names :</a:t>
            </a:r>
          </a:p>
          <a:p>
            <a:pPr marL="342900" indent="-342900">
              <a:buFont typeface="+mj-lt"/>
              <a:buAutoNum type="arabicPeriod"/>
            </a:pPr>
            <a:r>
              <a:rPr lang="en-IN" sz="2000" dirty="0"/>
              <a:t>Abhinandan Bardia, </a:t>
            </a:r>
            <a:r>
              <a:rPr lang="en-IN" sz="2000" dirty="0" smtClean="0"/>
              <a:t>CSE(AIML)-A</a:t>
            </a:r>
            <a:r>
              <a:rPr lang="en-IN" sz="2000" dirty="0"/>
              <a:t>, 07</a:t>
            </a:r>
          </a:p>
          <a:p>
            <a:pPr marL="342900" indent="-342900">
              <a:buFont typeface="+mj-lt"/>
              <a:buAutoNum type="arabicPeriod"/>
            </a:pPr>
            <a:r>
              <a:rPr lang="en-IN" sz="2000" dirty="0"/>
              <a:t>Abhishek Patil, </a:t>
            </a:r>
            <a:r>
              <a:rPr lang="en-IN" sz="2000" dirty="0" smtClean="0"/>
              <a:t>CSE(AIML)-A</a:t>
            </a:r>
            <a:r>
              <a:rPr lang="en-IN" sz="2000" dirty="0"/>
              <a:t>, 08</a:t>
            </a:r>
          </a:p>
          <a:p>
            <a:pPr marL="342900" indent="-342900">
              <a:buFont typeface="+mj-lt"/>
              <a:buAutoNum type="arabicPeriod"/>
            </a:pPr>
            <a:r>
              <a:rPr lang="en-IN" sz="2000" dirty="0"/>
              <a:t>Aditi Patil, </a:t>
            </a:r>
            <a:r>
              <a:rPr lang="en-IN" sz="2000" dirty="0" smtClean="0"/>
              <a:t>CSE(AIML)-A</a:t>
            </a:r>
            <a:r>
              <a:rPr lang="en-IN" sz="2000" dirty="0"/>
              <a:t>, 12</a:t>
            </a:r>
          </a:p>
          <a:p>
            <a:pPr marL="342900" indent="-342900">
              <a:buFont typeface="+mj-lt"/>
              <a:buAutoNum type="arabicPeriod"/>
            </a:pPr>
            <a:r>
              <a:rPr lang="en-IN" sz="2000" dirty="0"/>
              <a:t>Aditya Kachwaha, </a:t>
            </a:r>
            <a:r>
              <a:rPr lang="en-IN" sz="2000" dirty="0" smtClean="0"/>
              <a:t>CSE(AIML)-A</a:t>
            </a:r>
            <a:r>
              <a:rPr lang="en-IN" sz="2000" dirty="0"/>
              <a:t>, 14</a:t>
            </a:r>
          </a:p>
          <a:p>
            <a:pPr marL="342900" indent="-342900">
              <a:buFont typeface="+mj-lt"/>
              <a:buAutoNum type="arabicPeriod"/>
            </a:pPr>
            <a:r>
              <a:rPr lang="en-IN" sz="2000" dirty="0"/>
              <a:t>Ved Aghav, </a:t>
            </a:r>
            <a:r>
              <a:rPr lang="en-IN" sz="2000" dirty="0" smtClean="0"/>
              <a:t>CSE(AIML)-A</a:t>
            </a:r>
            <a:r>
              <a:rPr lang="en-IN" sz="2000" dirty="0"/>
              <a:t>, 18</a:t>
            </a:r>
          </a:p>
        </p:txBody>
      </p:sp>
      <p:sp>
        <p:nvSpPr>
          <p:cNvPr id="9" name="Date Placeholder 8"/>
          <p:cNvSpPr>
            <a:spLocks noGrp="1"/>
          </p:cNvSpPr>
          <p:nvPr>
            <p:ph type="dt" sz="half" idx="10"/>
          </p:nvPr>
        </p:nvSpPr>
        <p:spPr/>
        <p:txBody>
          <a:bodyPr/>
          <a:lstStyle/>
          <a:p>
            <a:r>
              <a:rPr lang="en-US" dirty="0"/>
              <a:t>Date: 17/09/2025</a:t>
            </a:r>
          </a:p>
        </p:txBody>
      </p:sp>
      <p:sp>
        <p:nvSpPr>
          <p:cNvPr id="11" name="Title 5">
            <a:extLst>
              <a:ext uri="{FF2B5EF4-FFF2-40B4-BE49-F238E27FC236}">
                <a16:creationId xmlns:a16="http://schemas.microsoft.com/office/drawing/2014/main" id="{056D84A7-6477-406F-8B6C-54AB870494E1}"/>
              </a:ext>
            </a:extLst>
          </p:cNvPr>
          <p:cNvSpPr txBox="1">
            <a:spLocks/>
          </p:cNvSpPr>
          <p:nvPr/>
        </p:nvSpPr>
        <p:spPr>
          <a:xfrm>
            <a:off x="685800" y="304800"/>
            <a:ext cx="8458200" cy="1143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fontScale="90000" lnSpcReduction="20000"/>
          </a:bodyPr>
          <a:lstStyle/>
          <a:p>
            <a:pPr lvl="0" algn="ctr">
              <a:spcBef>
                <a:spcPct val="0"/>
              </a:spcBef>
            </a:pPr>
            <a:r>
              <a:rPr lang="en-IN" sz="4400" b="1" dirty="0">
                <a:solidFill>
                  <a:schemeClr val="tx1"/>
                </a:solidFill>
              </a:rPr>
              <a:t>Vishwakarma Institute of Technology </a:t>
            </a:r>
            <a:r>
              <a:rPr lang="en-IN" sz="4400" b="1" dirty="0" smtClean="0">
                <a:solidFill>
                  <a:schemeClr val="tx1"/>
                </a:solidFill>
              </a:rPr>
              <a:t> </a:t>
            </a:r>
            <a:r>
              <a:rPr lang="en-IN" sz="4400" b="1" dirty="0">
                <a:solidFill>
                  <a:schemeClr val="tx1"/>
                </a:solidFill>
              </a:rPr>
              <a:t>Pune</a:t>
            </a:r>
            <a:endParaRPr kumimoji="0" lang="en-IN" sz="4400" b="1" i="0" u="none" strike="noStrike" kern="1200" cap="none" spc="0" normalizeH="0" baseline="0" noProof="0" dirty="0">
              <a:ln>
                <a:noFill/>
              </a:ln>
              <a:solidFill>
                <a:schemeClr val="tx1"/>
              </a:solidFill>
              <a:effectLst/>
              <a:uLnTx/>
              <a:uFillTx/>
              <a:latin typeface="+mn-lt"/>
              <a:ea typeface="+mn-ea"/>
              <a:cs typeface="+mn-cs"/>
            </a:endParaRPr>
          </a:p>
        </p:txBody>
      </p:sp>
      <p:sp>
        <p:nvSpPr>
          <p:cNvPr id="12" name="Title 5">
            <a:extLst>
              <a:ext uri="{FF2B5EF4-FFF2-40B4-BE49-F238E27FC236}">
                <a16:creationId xmlns:a16="http://schemas.microsoft.com/office/drawing/2014/main" id="{056D84A7-6477-406F-8B6C-54AB870494E1}"/>
              </a:ext>
            </a:extLst>
          </p:cNvPr>
          <p:cNvSpPr txBox="1">
            <a:spLocks/>
          </p:cNvSpPr>
          <p:nvPr/>
        </p:nvSpPr>
        <p:spPr>
          <a:xfrm>
            <a:off x="859095" y="1637215"/>
            <a:ext cx="7543800" cy="4572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fontScale="67500" lnSpcReduction="20000"/>
          </a:bodyPr>
          <a:lstStyle/>
          <a:p>
            <a:pPr lvl="0" algn="ctr">
              <a:spcBef>
                <a:spcPct val="0"/>
              </a:spcBef>
            </a:pPr>
            <a:r>
              <a:rPr lang="en-IN" sz="4400" b="1" dirty="0">
                <a:solidFill>
                  <a:schemeClr val="tx1"/>
                </a:solidFill>
              </a:rPr>
              <a:t>Department </a:t>
            </a:r>
            <a:r>
              <a:rPr lang="en-IN" sz="4400" b="1" dirty="0" smtClean="0">
                <a:solidFill>
                  <a:schemeClr val="tx1"/>
                </a:solidFill>
              </a:rPr>
              <a:t>of CSE(AIML)</a:t>
            </a:r>
            <a:endParaRPr kumimoji="0" lang="en-IN" sz="4400" b="1" i="0" u="none" strike="noStrike" kern="1200" cap="none" spc="0" normalizeH="0" baseline="0" noProof="0" dirty="0">
              <a:ln>
                <a:noFill/>
              </a:ln>
              <a:solidFill>
                <a:schemeClr val="tx1"/>
              </a:solidFill>
              <a:effectLst/>
              <a:uLnTx/>
              <a:uFillTx/>
              <a:latin typeface="+mn-lt"/>
              <a:ea typeface="+mn-ea"/>
              <a:cs typeface="+mn-cs"/>
            </a:endParaRPr>
          </a:p>
        </p:txBody>
      </p:sp>
      <p:pic>
        <p:nvPicPr>
          <p:cNvPr id="3" name="Picture 2" descr="A blue and red logo&#10;&#10;AI-generated content may be incorrect.">
            <a:extLst>
              <a:ext uri="{FF2B5EF4-FFF2-40B4-BE49-F238E27FC236}">
                <a16:creationId xmlns:a16="http://schemas.microsoft.com/office/drawing/2014/main" id="{D0454EC0-49E0-3B92-1D3C-3BACA75102E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 y="-136555"/>
            <a:ext cx="1127155" cy="1127155"/>
          </a:xfrm>
          <a:prstGeom prst="rect">
            <a:avLst/>
          </a:prstGeom>
        </p:spPr>
      </p:pic>
    </p:spTree>
    <p:extLst>
      <p:ext uri="{BB962C8B-B14F-4D97-AF65-F5344CB8AC3E}">
        <p14:creationId xmlns:p14="http://schemas.microsoft.com/office/powerpoint/2010/main" val="13599864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7391400" y="6477000"/>
            <a:ext cx="1600200" cy="195263"/>
          </a:xfrm>
        </p:spPr>
        <p:txBody>
          <a:bodyPr/>
          <a:lstStyle/>
          <a:p>
            <a:pPr>
              <a:defRPr/>
            </a:pPr>
            <a:fld id="{02246FD1-0723-4B2F-9706-10282F2BA698}" type="slidenum">
              <a:rPr lang="en-US" smtClean="0">
                <a:latin typeface="Verdana" panose="020B0604030504040204" pitchFamily="34" charset="0"/>
                <a:ea typeface="Verdana" panose="020B0604030504040204" pitchFamily="34" charset="0"/>
              </a:rPr>
              <a:pPr>
                <a:defRPr/>
              </a:pPr>
              <a:t>2</a:t>
            </a:fld>
            <a:r>
              <a:rPr lang="en-US" dirty="0">
                <a:latin typeface="Verdana" panose="020B0604030504040204" pitchFamily="34" charset="0"/>
                <a:ea typeface="Verdana" panose="020B0604030504040204" pitchFamily="34" charset="0"/>
              </a:rPr>
              <a:t> </a:t>
            </a:r>
          </a:p>
        </p:txBody>
      </p:sp>
      <p:sp>
        <p:nvSpPr>
          <p:cNvPr id="18" name="Rectangle 3"/>
          <p:cNvSpPr txBox="1">
            <a:spLocks noChangeArrowheads="1"/>
          </p:cNvSpPr>
          <p:nvPr/>
        </p:nvSpPr>
        <p:spPr>
          <a:xfrm>
            <a:off x="1543050" y="3371850"/>
            <a:ext cx="6286500" cy="342900"/>
          </a:xfrm>
          <a:prstGeom prst="rect">
            <a:avLst/>
          </a:prstGeom>
        </p:spPr>
        <p:txBody>
          <a:bodyPr/>
          <a:lstStyle/>
          <a:p>
            <a:pPr algn="ctr" eaLnBrk="0" fontAlgn="base" hangingPunct="0">
              <a:spcBef>
                <a:spcPct val="20000"/>
              </a:spcBef>
              <a:spcAft>
                <a:spcPct val="20000"/>
              </a:spcAft>
              <a:defRPr/>
            </a:pPr>
            <a:endParaRPr lang="en-US" sz="3600" dirty="0">
              <a:sym typeface="Symbol" pitchFamily="18" charset="2"/>
            </a:endParaRPr>
          </a:p>
        </p:txBody>
      </p:sp>
      <p:sp>
        <p:nvSpPr>
          <p:cNvPr id="3" name="Title 2">
            <a:extLst>
              <a:ext uri="{FF2B5EF4-FFF2-40B4-BE49-F238E27FC236}">
                <a16:creationId xmlns:a16="http://schemas.microsoft.com/office/drawing/2014/main" id="{7CBEB6BF-435C-4050-8916-C2A3F4028ED5}"/>
              </a:ext>
            </a:extLst>
          </p:cNvPr>
          <p:cNvSpPr>
            <a:spLocks noGrp="1"/>
          </p:cNvSpPr>
          <p:nvPr>
            <p:ph type="title"/>
          </p:nvPr>
        </p:nvSpPr>
        <p:spPr/>
        <p:txBody>
          <a:bodyPr>
            <a:normAutofit/>
          </a:bodyPr>
          <a:lstStyle/>
          <a:p>
            <a:r>
              <a:rPr lang="en-IN" sz="2800" dirty="0">
                <a:latin typeface="Verdana" panose="020B0604030504040204" pitchFamily="34" charset="0"/>
                <a:ea typeface="Verdana" panose="020B0604030504040204" pitchFamily="34" charset="0"/>
              </a:rPr>
              <a:t>Content</a:t>
            </a:r>
          </a:p>
        </p:txBody>
      </p:sp>
      <p:sp>
        <p:nvSpPr>
          <p:cNvPr id="7" name="TextBox 6">
            <a:extLst>
              <a:ext uri="{FF2B5EF4-FFF2-40B4-BE49-F238E27FC236}">
                <a16:creationId xmlns:a16="http://schemas.microsoft.com/office/drawing/2014/main" id="{CE674E32-7A29-496C-AAED-9D3511E24D63}"/>
              </a:ext>
            </a:extLst>
          </p:cNvPr>
          <p:cNvSpPr txBox="1"/>
          <p:nvPr/>
        </p:nvSpPr>
        <p:spPr>
          <a:xfrm>
            <a:off x="609600" y="762000"/>
            <a:ext cx="8153400" cy="5632311"/>
          </a:xfrm>
          <a:prstGeom prst="rect">
            <a:avLst/>
          </a:prstGeom>
          <a:noFill/>
        </p:spPr>
        <p:txBody>
          <a:bodyPr wrap="square" rtlCol="0">
            <a:spAutoFit/>
          </a:bodyPr>
          <a:lstStyle/>
          <a:p>
            <a:pPr marL="288925" indent="-288925">
              <a:buFont typeface="Arial" pitchFamily="34" charset="0"/>
              <a:buChar char="•"/>
            </a:pPr>
            <a:r>
              <a:rPr lang="en-US" sz="2400" dirty="0"/>
              <a:t>Introduction</a:t>
            </a:r>
          </a:p>
          <a:p>
            <a:pPr marL="288925" indent="-288925">
              <a:buFont typeface="Arial" pitchFamily="34" charset="0"/>
              <a:buChar char="•"/>
            </a:pPr>
            <a:r>
              <a:rPr lang="en-US" sz="2400" dirty="0"/>
              <a:t>Motivation</a:t>
            </a:r>
          </a:p>
          <a:p>
            <a:pPr marL="288925" indent="-288925">
              <a:buFont typeface="Arial" pitchFamily="34" charset="0"/>
              <a:buChar char="•"/>
            </a:pPr>
            <a:r>
              <a:rPr lang="en-US" sz="2400" dirty="0"/>
              <a:t>Literature Review</a:t>
            </a:r>
          </a:p>
          <a:p>
            <a:pPr marL="288925" indent="-288925">
              <a:buFont typeface="Arial" pitchFamily="34" charset="0"/>
              <a:buChar char="•"/>
            </a:pPr>
            <a:r>
              <a:rPr lang="en-US" sz="2400" dirty="0"/>
              <a:t>Problem Statement</a:t>
            </a:r>
          </a:p>
          <a:p>
            <a:pPr marL="288925" indent="-288925">
              <a:buFont typeface="Arial" pitchFamily="34" charset="0"/>
              <a:buChar char="•"/>
            </a:pPr>
            <a:r>
              <a:rPr lang="en-US" sz="2400" dirty="0"/>
              <a:t>Objectives</a:t>
            </a:r>
          </a:p>
          <a:p>
            <a:pPr marL="288925" indent="-288925">
              <a:buFont typeface="Arial" pitchFamily="34" charset="0"/>
              <a:buChar char="•"/>
            </a:pPr>
            <a:r>
              <a:rPr lang="en-US" sz="2400" dirty="0"/>
              <a:t>Proposed Methodology or System Design</a:t>
            </a:r>
          </a:p>
          <a:p>
            <a:pPr marL="288925" indent="-288925">
              <a:buFont typeface="Arial" pitchFamily="34" charset="0"/>
              <a:buChar char="•"/>
            </a:pPr>
            <a:r>
              <a:rPr lang="en-US" sz="2400" dirty="0"/>
              <a:t>Tools/Technology Used</a:t>
            </a:r>
          </a:p>
          <a:p>
            <a:pPr marL="288925" indent="-288925">
              <a:buFont typeface="Arial" pitchFamily="34" charset="0"/>
              <a:buChar char="•"/>
            </a:pPr>
            <a:r>
              <a:rPr lang="en-US" sz="2400" dirty="0"/>
              <a:t>Project Flow Diagram </a:t>
            </a:r>
          </a:p>
          <a:p>
            <a:pPr marL="288925" indent="-288925">
              <a:buFont typeface="Arial" pitchFamily="34" charset="0"/>
              <a:buChar char="•"/>
            </a:pPr>
            <a:r>
              <a:rPr lang="en-US" sz="2400" dirty="0"/>
              <a:t>Algorithms</a:t>
            </a:r>
          </a:p>
          <a:p>
            <a:pPr marL="288925" indent="-288925">
              <a:buFont typeface="Arial" pitchFamily="34" charset="0"/>
              <a:buChar char="•"/>
            </a:pPr>
            <a:r>
              <a:rPr lang="en-US" sz="2400" dirty="0"/>
              <a:t>Results and Discussion</a:t>
            </a:r>
          </a:p>
          <a:p>
            <a:pPr marL="288925" indent="-288925">
              <a:buFont typeface="Arial" pitchFamily="34" charset="0"/>
              <a:buChar char="•"/>
            </a:pPr>
            <a:r>
              <a:rPr lang="en-US" sz="2400" dirty="0"/>
              <a:t>Conclusion</a:t>
            </a:r>
          </a:p>
          <a:p>
            <a:pPr marL="288925" indent="-288925">
              <a:buFont typeface="Arial" pitchFamily="34" charset="0"/>
              <a:buChar char="•"/>
            </a:pPr>
            <a:r>
              <a:rPr lang="en-US" sz="2400" dirty="0"/>
              <a:t>References</a:t>
            </a:r>
            <a:r>
              <a:rPr lang="en-US" sz="2400" dirty="0" smtClean="0"/>
              <a:t>:</a:t>
            </a:r>
            <a:r>
              <a:rPr lang="en-US" sz="2400" dirty="0"/>
              <a:t/>
            </a:r>
            <a:br>
              <a:rPr lang="en-US" sz="2400" dirty="0"/>
            </a:br>
            <a:endParaRPr lang="en-US" sz="2400" dirty="0"/>
          </a:p>
          <a:p>
            <a:pPr marL="517525" indent="-517525"/>
            <a:r>
              <a:rPr lang="en-US" sz="2400" dirty="0"/>
              <a:t/>
            </a:r>
            <a:br>
              <a:rPr lang="en-US" sz="2400" dirty="0"/>
            </a:b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7391400" y="6477000"/>
            <a:ext cx="1600200" cy="195263"/>
          </a:xfrm>
        </p:spPr>
        <p:txBody>
          <a:bodyPr/>
          <a:lstStyle/>
          <a:p>
            <a:pPr>
              <a:defRPr/>
            </a:pPr>
            <a:fld id="{02246FD1-0723-4B2F-9706-10282F2BA698}" type="slidenum">
              <a:rPr lang="en-US" smtClean="0">
                <a:latin typeface="Verdana" panose="020B0604030504040204" pitchFamily="34" charset="0"/>
                <a:ea typeface="Verdana" panose="020B0604030504040204" pitchFamily="34" charset="0"/>
              </a:rPr>
              <a:pPr>
                <a:defRPr/>
              </a:pPr>
              <a:t>3</a:t>
            </a:fld>
            <a:r>
              <a:rPr lang="en-US" dirty="0">
                <a:latin typeface="Verdana" panose="020B0604030504040204" pitchFamily="34" charset="0"/>
                <a:ea typeface="Verdana" panose="020B0604030504040204" pitchFamily="34" charset="0"/>
              </a:rPr>
              <a:t> </a:t>
            </a:r>
          </a:p>
        </p:txBody>
      </p:sp>
      <p:sp>
        <p:nvSpPr>
          <p:cNvPr id="18" name="Rectangle 3"/>
          <p:cNvSpPr txBox="1">
            <a:spLocks noChangeArrowheads="1"/>
          </p:cNvSpPr>
          <p:nvPr/>
        </p:nvSpPr>
        <p:spPr>
          <a:xfrm>
            <a:off x="1543050" y="3371850"/>
            <a:ext cx="6286500" cy="342900"/>
          </a:xfrm>
          <a:prstGeom prst="rect">
            <a:avLst/>
          </a:prstGeom>
        </p:spPr>
        <p:txBody>
          <a:bodyPr/>
          <a:lstStyle/>
          <a:p>
            <a:pPr algn="ctr" eaLnBrk="0" fontAlgn="base" hangingPunct="0">
              <a:spcBef>
                <a:spcPct val="20000"/>
              </a:spcBef>
              <a:spcAft>
                <a:spcPct val="20000"/>
              </a:spcAft>
              <a:defRPr/>
            </a:pPr>
            <a:endParaRPr lang="en-US" sz="3600" dirty="0">
              <a:sym typeface="Symbol" pitchFamily="18" charset="2"/>
            </a:endParaRPr>
          </a:p>
        </p:txBody>
      </p:sp>
      <p:sp>
        <p:nvSpPr>
          <p:cNvPr id="3" name="Title 2">
            <a:extLst>
              <a:ext uri="{FF2B5EF4-FFF2-40B4-BE49-F238E27FC236}">
                <a16:creationId xmlns:a16="http://schemas.microsoft.com/office/drawing/2014/main" id="{7CBEB6BF-435C-4050-8916-C2A3F4028ED5}"/>
              </a:ext>
            </a:extLst>
          </p:cNvPr>
          <p:cNvSpPr>
            <a:spLocks noGrp="1"/>
          </p:cNvSpPr>
          <p:nvPr>
            <p:ph type="title"/>
          </p:nvPr>
        </p:nvSpPr>
        <p:spPr/>
        <p:txBody>
          <a:bodyPr>
            <a:normAutofit/>
          </a:bodyPr>
          <a:lstStyle/>
          <a:p>
            <a:r>
              <a:rPr lang="en-US" sz="2800" dirty="0"/>
              <a:t>Introduction</a:t>
            </a:r>
            <a:endParaRPr lang="en-IN" sz="2800" dirty="0">
              <a:latin typeface="Verdana" panose="020B0604030504040204" pitchFamily="34" charset="0"/>
              <a:ea typeface="Verdana" panose="020B0604030504040204" pitchFamily="34" charset="0"/>
            </a:endParaRPr>
          </a:p>
        </p:txBody>
      </p:sp>
      <p:sp>
        <p:nvSpPr>
          <p:cNvPr id="2" name="TextBox 1">
            <a:extLst>
              <a:ext uri="{FF2B5EF4-FFF2-40B4-BE49-F238E27FC236}">
                <a16:creationId xmlns:a16="http://schemas.microsoft.com/office/drawing/2014/main" id="{A5897100-ED62-397D-17FC-F3EAD800762D}"/>
              </a:ext>
            </a:extLst>
          </p:cNvPr>
          <p:cNvSpPr txBox="1"/>
          <p:nvPr/>
        </p:nvSpPr>
        <p:spPr>
          <a:xfrm>
            <a:off x="1028700" y="921677"/>
            <a:ext cx="7315200" cy="5586145"/>
          </a:xfrm>
          <a:prstGeom prst="rect">
            <a:avLst/>
          </a:prstGeom>
          <a:noFill/>
        </p:spPr>
        <p:txBody>
          <a:bodyPr wrap="square" rtlCol="0">
            <a:spAutoFit/>
          </a:bodyPr>
          <a:lstStyle/>
          <a:p>
            <a:pPr marL="285750" indent="-285750" algn="just">
              <a:buFont typeface="Arial" panose="020B0604020202020204" pitchFamily="34" charset="0"/>
              <a:buChar char="•"/>
            </a:pPr>
            <a:r>
              <a:rPr lang="en-US" sz="2100" dirty="0">
                <a:latin typeface="Verdana" panose="020B0604030504040204" pitchFamily="34" charset="0"/>
                <a:ea typeface="Verdana" panose="020B0604030504040204" pitchFamily="34" charset="0"/>
              </a:rPr>
              <a:t>Fruit grading is traditionally manual, inconsistent, and subjective.</a:t>
            </a:r>
          </a:p>
          <a:p>
            <a:pPr marL="285750" indent="-285750" algn="just">
              <a:buFont typeface="Arial" panose="020B0604020202020204" pitchFamily="34" charset="0"/>
              <a:buChar char="•"/>
            </a:pPr>
            <a:endParaRPr lang="en-US" sz="2100" dirty="0">
              <a:latin typeface="Verdana" panose="020B0604030504040204" pitchFamily="34" charset="0"/>
              <a:ea typeface="Verdana" panose="020B0604030504040204" pitchFamily="34" charset="0"/>
            </a:endParaRPr>
          </a:p>
          <a:p>
            <a:pPr marL="285750" indent="-285750" algn="just">
              <a:buFont typeface="Arial" panose="020B0604020202020204" pitchFamily="34" charset="0"/>
              <a:buChar char="•"/>
            </a:pPr>
            <a:r>
              <a:rPr lang="en-US" sz="2100" dirty="0">
                <a:latin typeface="Verdana" panose="020B0604030504040204" pitchFamily="34" charset="0"/>
                <a:ea typeface="Verdana" panose="020B0604030504040204" pitchFamily="34" charset="0"/>
              </a:rPr>
              <a:t>This leads to losses in quality assessment and supply chain inefficiencies.</a:t>
            </a:r>
          </a:p>
          <a:p>
            <a:pPr marL="285750" indent="-285750" algn="just">
              <a:buFont typeface="Arial" panose="020B0604020202020204" pitchFamily="34" charset="0"/>
              <a:buChar char="•"/>
            </a:pPr>
            <a:endParaRPr lang="en-US" sz="2100" dirty="0">
              <a:latin typeface="Verdana" panose="020B0604030504040204" pitchFamily="34" charset="0"/>
              <a:ea typeface="Verdana" panose="020B0604030504040204" pitchFamily="34" charset="0"/>
            </a:endParaRPr>
          </a:p>
          <a:p>
            <a:pPr marL="285750" indent="-285750" algn="just">
              <a:buFont typeface="Arial" panose="020B0604020202020204" pitchFamily="34" charset="0"/>
              <a:buChar char="•"/>
            </a:pPr>
            <a:r>
              <a:rPr lang="en-US" sz="2100" dirty="0">
                <a:latin typeface="Verdana" panose="020B0604030504040204" pitchFamily="34" charset="0"/>
                <a:ea typeface="Verdana" panose="020B0604030504040204" pitchFamily="34" charset="0"/>
              </a:rPr>
              <a:t>Artificial Intelligence (AI) combined with Blockchain can provide an automated, transparent, and tamper-proof solution.</a:t>
            </a:r>
          </a:p>
          <a:p>
            <a:pPr marL="285750" indent="-285750" algn="just">
              <a:buFont typeface="Arial" panose="020B0604020202020204" pitchFamily="34" charset="0"/>
              <a:buChar char="•"/>
            </a:pPr>
            <a:endParaRPr lang="en-US" sz="2100" dirty="0">
              <a:latin typeface="Verdana" panose="020B0604030504040204" pitchFamily="34" charset="0"/>
              <a:ea typeface="Verdana" panose="020B0604030504040204" pitchFamily="34" charset="0"/>
            </a:endParaRPr>
          </a:p>
          <a:p>
            <a:pPr marL="285750" indent="-285750" algn="just">
              <a:buFont typeface="Arial" panose="020B0604020202020204" pitchFamily="34" charset="0"/>
              <a:buChar char="•"/>
            </a:pPr>
            <a:r>
              <a:rPr lang="en-US" sz="2100" dirty="0">
                <a:latin typeface="Verdana" panose="020B0604030504040204" pitchFamily="34" charset="0"/>
                <a:ea typeface="Verdana" panose="020B0604030504040204" pitchFamily="34" charset="0"/>
              </a:rPr>
              <a:t>In this project, we trained a CNN-based model to classify fruits into Grade A (Fresh), Grade B (Medium), and Grade C (Rotten</a:t>
            </a:r>
            <a:r>
              <a:rPr lang="en-US" sz="2100" dirty="0" smtClean="0">
                <a:latin typeface="Verdana" panose="020B0604030504040204" pitchFamily="34" charset="0"/>
                <a:ea typeface="Verdana" panose="020B0604030504040204" pitchFamily="34" charset="0"/>
              </a:rPr>
              <a:t>).</a:t>
            </a:r>
          </a:p>
          <a:p>
            <a:pPr marL="285750" indent="-285750" algn="just">
              <a:buFont typeface="Arial" panose="020B0604020202020204" pitchFamily="34" charset="0"/>
              <a:buChar char="•"/>
            </a:pPr>
            <a:endParaRPr lang="en-US" sz="2100" dirty="0">
              <a:latin typeface="Verdana" panose="020B0604030504040204" pitchFamily="34" charset="0"/>
              <a:ea typeface="Verdana" panose="020B0604030504040204" pitchFamily="34" charset="0"/>
            </a:endParaRPr>
          </a:p>
          <a:p>
            <a:pPr marL="285750" indent="-285750" algn="just">
              <a:buFont typeface="Arial" panose="020B0604020202020204" pitchFamily="34" charset="0"/>
              <a:buChar char="•"/>
            </a:pPr>
            <a:r>
              <a:rPr lang="en-US" sz="2100" dirty="0">
                <a:latin typeface="Verdana" panose="020B0604030504040204" pitchFamily="34" charset="0"/>
                <a:ea typeface="Verdana" panose="020B0604030504040204" pitchFamily="34" charset="0"/>
              </a:rPr>
              <a:t>This system helps farmers and distributors make faster, data-driven grading decisions, improving overall supply-chain efficiency.</a:t>
            </a:r>
            <a:endParaRPr lang="en-IN" sz="2100" dirty="0">
              <a:latin typeface="Verdana" panose="020B0604030504040204" pitchFamily="34" charset="0"/>
              <a:ea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7391400" y="6477000"/>
            <a:ext cx="1600200" cy="195263"/>
          </a:xfrm>
        </p:spPr>
        <p:txBody>
          <a:bodyPr/>
          <a:lstStyle/>
          <a:p>
            <a:pPr>
              <a:defRPr/>
            </a:pPr>
            <a:fld id="{02246FD1-0723-4B2F-9706-10282F2BA698}" type="slidenum">
              <a:rPr lang="en-US" smtClean="0">
                <a:latin typeface="Verdana" panose="020B0604030504040204" pitchFamily="34" charset="0"/>
                <a:ea typeface="Verdana" panose="020B0604030504040204" pitchFamily="34" charset="0"/>
              </a:rPr>
              <a:pPr>
                <a:defRPr/>
              </a:pPr>
              <a:t>4</a:t>
            </a:fld>
            <a:r>
              <a:rPr lang="en-US" dirty="0">
                <a:latin typeface="Verdana" panose="020B0604030504040204" pitchFamily="34" charset="0"/>
                <a:ea typeface="Verdana" panose="020B0604030504040204" pitchFamily="34" charset="0"/>
              </a:rPr>
              <a:t> </a:t>
            </a:r>
          </a:p>
        </p:txBody>
      </p:sp>
      <p:sp>
        <p:nvSpPr>
          <p:cNvPr id="3" name="Title 2">
            <a:extLst>
              <a:ext uri="{FF2B5EF4-FFF2-40B4-BE49-F238E27FC236}">
                <a16:creationId xmlns:a16="http://schemas.microsoft.com/office/drawing/2014/main" id="{7CBEB6BF-435C-4050-8916-C2A3F4028ED5}"/>
              </a:ext>
            </a:extLst>
          </p:cNvPr>
          <p:cNvSpPr>
            <a:spLocks noGrp="1"/>
          </p:cNvSpPr>
          <p:nvPr>
            <p:ph type="title"/>
          </p:nvPr>
        </p:nvSpPr>
        <p:spPr/>
        <p:txBody>
          <a:bodyPr>
            <a:normAutofit/>
          </a:bodyPr>
          <a:lstStyle/>
          <a:p>
            <a:r>
              <a:rPr lang="en-US" sz="2800" dirty="0"/>
              <a:t>Motivation</a:t>
            </a:r>
            <a:endParaRPr lang="en-IN" sz="2800" dirty="0">
              <a:latin typeface="Verdana" panose="020B0604030504040204" pitchFamily="34" charset="0"/>
              <a:ea typeface="Verdana" panose="020B0604030504040204" pitchFamily="34" charset="0"/>
            </a:endParaRPr>
          </a:p>
        </p:txBody>
      </p:sp>
      <p:sp>
        <p:nvSpPr>
          <p:cNvPr id="2" name="TextBox 1">
            <a:extLst>
              <a:ext uri="{FF2B5EF4-FFF2-40B4-BE49-F238E27FC236}">
                <a16:creationId xmlns:a16="http://schemas.microsoft.com/office/drawing/2014/main" id="{225512C7-94F1-87A9-1135-C6A20D08475A}"/>
              </a:ext>
            </a:extLst>
          </p:cNvPr>
          <p:cNvSpPr txBox="1"/>
          <p:nvPr/>
        </p:nvSpPr>
        <p:spPr>
          <a:xfrm>
            <a:off x="762000" y="732175"/>
            <a:ext cx="7810500" cy="5940088"/>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Verdana" panose="020B0604030504040204" pitchFamily="34" charset="0"/>
                <a:ea typeface="Verdana" panose="020B0604030504040204" pitchFamily="34" charset="0"/>
              </a:rPr>
              <a:t>India faces ~30% post-harvest loss due to inefficient quality assessment.</a:t>
            </a:r>
          </a:p>
          <a:p>
            <a:pPr marL="285750" indent="-285750">
              <a:buFont typeface="Arial" panose="020B0604020202020204" pitchFamily="34" charset="0"/>
              <a:buChar char="•"/>
            </a:pPr>
            <a:endParaRPr lang="en-US" sz="2000"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US" sz="2000" dirty="0">
                <a:latin typeface="Verdana" panose="020B0604030504040204" pitchFamily="34" charset="0"/>
                <a:ea typeface="Verdana" panose="020B0604030504040204" pitchFamily="34" charset="0"/>
              </a:rPr>
              <a:t>Farmers are underpaid due to lack of reliable grading systems.</a:t>
            </a:r>
          </a:p>
          <a:p>
            <a:pPr marL="285750" indent="-285750">
              <a:buFont typeface="Arial" panose="020B0604020202020204" pitchFamily="34" charset="0"/>
              <a:buChar char="•"/>
            </a:pPr>
            <a:endParaRPr lang="en-US" sz="2000"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US" sz="2000" dirty="0">
                <a:latin typeface="Verdana" panose="020B0604030504040204" pitchFamily="34" charset="0"/>
                <a:ea typeface="Verdana" panose="020B0604030504040204" pitchFamily="34" charset="0"/>
              </a:rPr>
              <a:t>Consumers demand trust and transparency in food quality.</a:t>
            </a:r>
          </a:p>
          <a:p>
            <a:pPr marL="285750" indent="-285750">
              <a:buFont typeface="Arial" panose="020B0604020202020204" pitchFamily="34" charset="0"/>
              <a:buChar char="•"/>
            </a:pPr>
            <a:endParaRPr lang="en-US" sz="2000"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US" sz="2000" dirty="0">
                <a:latin typeface="Verdana" panose="020B0604030504040204" pitchFamily="34" charset="0"/>
                <a:ea typeface="Verdana" panose="020B0604030504040204" pitchFamily="34" charset="0"/>
              </a:rPr>
              <a:t>Integration of Deep Learning and Blockchain ensures both accuracy and trust in fruit supply chains.</a:t>
            </a:r>
          </a:p>
          <a:p>
            <a:pPr marL="285750" indent="-285750">
              <a:buFont typeface="Arial" panose="020B0604020202020204" pitchFamily="34" charset="0"/>
              <a:buChar char="•"/>
            </a:pPr>
            <a:endParaRPr lang="en-US" sz="2000"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US" sz="2000" dirty="0">
                <a:latin typeface="Verdana" panose="020B0604030504040204" pitchFamily="34" charset="0"/>
                <a:ea typeface="Verdana" panose="020B0604030504040204" pitchFamily="34" charset="0"/>
              </a:rPr>
              <a:t>Farmers face losses due to improper grading and delayed decay detection.</a:t>
            </a:r>
          </a:p>
          <a:p>
            <a:pPr marL="285750" indent="-285750">
              <a:buFont typeface="Arial" panose="020B0604020202020204" pitchFamily="34" charset="0"/>
              <a:buChar char="•"/>
            </a:pPr>
            <a:endParaRPr lang="en-US" sz="2000"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US" sz="2000" dirty="0">
                <a:latin typeface="Verdana" panose="020B0604030504040204" pitchFamily="34" charset="0"/>
                <a:ea typeface="Verdana" panose="020B0604030504040204" pitchFamily="34" charset="0"/>
              </a:rPr>
              <a:t>Manual grading is slow, inconsistent, and subjective.</a:t>
            </a:r>
          </a:p>
          <a:p>
            <a:endParaRPr lang="en-US" sz="2000"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US" sz="2000" dirty="0">
                <a:latin typeface="Verdana" panose="020B0604030504040204" pitchFamily="34" charset="0"/>
                <a:ea typeface="Verdana" panose="020B0604030504040204" pitchFamily="34" charset="0"/>
              </a:rPr>
              <a:t>Reduces food wastage and supports sustainable supply chains.</a:t>
            </a:r>
            <a:endParaRPr lang="en-IN" sz="20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8505127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7391400" y="6477000"/>
            <a:ext cx="1600200" cy="195263"/>
          </a:xfrm>
        </p:spPr>
        <p:txBody>
          <a:bodyPr/>
          <a:lstStyle/>
          <a:p>
            <a:pPr>
              <a:defRPr/>
            </a:pPr>
            <a:fld id="{02246FD1-0723-4B2F-9706-10282F2BA698}" type="slidenum">
              <a:rPr lang="en-US" smtClean="0">
                <a:latin typeface="Verdana" panose="020B0604030504040204" pitchFamily="34" charset="0"/>
                <a:ea typeface="Verdana" panose="020B0604030504040204" pitchFamily="34" charset="0"/>
              </a:rPr>
              <a:pPr>
                <a:defRPr/>
              </a:pPr>
              <a:t>5</a:t>
            </a:fld>
            <a:r>
              <a:rPr lang="en-US" dirty="0">
                <a:latin typeface="Verdana" panose="020B0604030504040204" pitchFamily="34" charset="0"/>
                <a:ea typeface="Verdana" panose="020B0604030504040204" pitchFamily="34" charset="0"/>
              </a:rPr>
              <a:t> </a:t>
            </a:r>
          </a:p>
        </p:txBody>
      </p:sp>
      <p:sp>
        <p:nvSpPr>
          <p:cNvPr id="18" name="Rectangle 3"/>
          <p:cNvSpPr txBox="1">
            <a:spLocks noChangeArrowheads="1"/>
          </p:cNvSpPr>
          <p:nvPr/>
        </p:nvSpPr>
        <p:spPr>
          <a:xfrm>
            <a:off x="1543050" y="3371850"/>
            <a:ext cx="6286500" cy="342900"/>
          </a:xfrm>
          <a:prstGeom prst="rect">
            <a:avLst/>
          </a:prstGeom>
        </p:spPr>
        <p:txBody>
          <a:bodyPr/>
          <a:lstStyle/>
          <a:p>
            <a:pPr algn="ctr" eaLnBrk="0" fontAlgn="base" hangingPunct="0">
              <a:spcBef>
                <a:spcPct val="20000"/>
              </a:spcBef>
              <a:spcAft>
                <a:spcPct val="20000"/>
              </a:spcAft>
              <a:defRPr/>
            </a:pPr>
            <a:endParaRPr lang="en-US" sz="3600" dirty="0">
              <a:sym typeface="Symbol" pitchFamily="18" charset="2"/>
            </a:endParaRPr>
          </a:p>
        </p:txBody>
      </p:sp>
      <p:sp>
        <p:nvSpPr>
          <p:cNvPr id="3" name="Title 2">
            <a:extLst>
              <a:ext uri="{FF2B5EF4-FFF2-40B4-BE49-F238E27FC236}">
                <a16:creationId xmlns:a16="http://schemas.microsoft.com/office/drawing/2014/main" id="{7CBEB6BF-435C-4050-8916-C2A3F4028ED5}"/>
              </a:ext>
            </a:extLst>
          </p:cNvPr>
          <p:cNvSpPr>
            <a:spLocks noGrp="1"/>
          </p:cNvSpPr>
          <p:nvPr>
            <p:ph type="title"/>
          </p:nvPr>
        </p:nvSpPr>
        <p:spPr/>
        <p:txBody>
          <a:bodyPr>
            <a:normAutofit/>
          </a:bodyPr>
          <a:lstStyle/>
          <a:p>
            <a:r>
              <a:rPr lang="en-US" sz="2800" dirty="0"/>
              <a:t>Literature Review</a:t>
            </a:r>
            <a:endParaRPr lang="en-IN" sz="2800" dirty="0">
              <a:latin typeface="Verdana" panose="020B0604030504040204" pitchFamily="34" charset="0"/>
              <a:ea typeface="Verdana" panose="020B0604030504040204" pitchFamily="34" charset="0"/>
            </a:endParaRPr>
          </a:p>
        </p:txBody>
      </p:sp>
      <p:graphicFrame>
        <p:nvGraphicFramePr>
          <p:cNvPr id="5" name="Table 4">
            <a:extLst>
              <a:ext uri="{FF2B5EF4-FFF2-40B4-BE49-F238E27FC236}">
                <a16:creationId xmlns:a16="http://schemas.microsoft.com/office/drawing/2014/main" id="{9E8F9052-74AC-10CF-0E0B-51D26E4DD4BC}"/>
              </a:ext>
            </a:extLst>
          </p:cNvPr>
          <p:cNvGraphicFramePr>
            <a:graphicFrameLocks noGrp="1"/>
          </p:cNvGraphicFramePr>
          <p:nvPr>
            <p:extLst>
              <p:ext uri="{D42A27DB-BD31-4B8C-83A1-F6EECF244321}">
                <p14:modId xmlns:p14="http://schemas.microsoft.com/office/powerpoint/2010/main" val="2581686129"/>
              </p:ext>
            </p:extLst>
          </p:nvPr>
        </p:nvGraphicFramePr>
        <p:xfrm>
          <a:off x="609600" y="771217"/>
          <a:ext cx="8153400" cy="5423526"/>
        </p:xfrm>
        <a:graphic>
          <a:graphicData uri="http://schemas.openxmlformats.org/drawingml/2006/table">
            <a:tbl>
              <a:tblPr firstRow="1" firstCol="1" bandRow="1">
                <a:tableStyleId>{5C22544A-7EE6-4342-B048-85BDC9FD1C3A}</a:tableStyleId>
              </a:tblPr>
              <a:tblGrid>
                <a:gridCol w="528462">
                  <a:extLst>
                    <a:ext uri="{9D8B030D-6E8A-4147-A177-3AD203B41FA5}">
                      <a16:colId xmlns:a16="http://schemas.microsoft.com/office/drawing/2014/main" val="3022020989"/>
                    </a:ext>
                  </a:extLst>
                </a:gridCol>
                <a:gridCol w="1634906">
                  <a:extLst>
                    <a:ext uri="{9D8B030D-6E8A-4147-A177-3AD203B41FA5}">
                      <a16:colId xmlns:a16="http://schemas.microsoft.com/office/drawing/2014/main" val="3691599871"/>
                    </a:ext>
                  </a:extLst>
                </a:gridCol>
                <a:gridCol w="1634306">
                  <a:extLst>
                    <a:ext uri="{9D8B030D-6E8A-4147-A177-3AD203B41FA5}">
                      <a16:colId xmlns:a16="http://schemas.microsoft.com/office/drawing/2014/main" val="687392536"/>
                    </a:ext>
                  </a:extLst>
                </a:gridCol>
                <a:gridCol w="1232794">
                  <a:extLst>
                    <a:ext uri="{9D8B030D-6E8A-4147-A177-3AD203B41FA5}">
                      <a16:colId xmlns:a16="http://schemas.microsoft.com/office/drawing/2014/main" val="2135724002"/>
                    </a:ext>
                  </a:extLst>
                </a:gridCol>
                <a:gridCol w="1232794">
                  <a:extLst>
                    <a:ext uri="{9D8B030D-6E8A-4147-A177-3AD203B41FA5}">
                      <a16:colId xmlns:a16="http://schemas.microsoft.com/office/drawing/2014/main" val="2378587121"/>
                    </a:ext>
                  </a:extLst>
                </a:gridCol>
                <a:gridCol w="1890138">
                  <a:extLst>
                    <a:ext uri="{9D8B030D-6E8A-4147-A177-3AD203B41FA5}">
                      <a16:colId xmlns:a16="http://schemas.microsoft.com/office/drawing/2014/main" val="3321350076"/>
                    </a:ext>
                  </a:extLst>
                </a:gridCol>
              </a:tblGrid>
              <a:tr h="381000">
                <a:tc>
                  <a:txBody>
                    <a:bodyPr/>
                    <a:lstStyle/>
                    <a:p>
                      <a:pPr marL="0" marR="0" algn="ctr">
                        <a:lnSpc>
                          <a:spcPct val="107000"/>
                        </a:lnSpc>
                        <a:spcBef>
                          <a:spcPts val="0"/>
                        </a:spcBef>
                        <a:spcAft>
                          <a:spcPts val="0"/>
                        </a:spcAft>
                      </a:pPr>
                      <a:r>
                        <a:rPr lang="en-US" sz="600" dirty="0">
                          <a:effectLst/>
                        </a:rPr>
                        <a:t>No</a:t>
                      </a:r>
                      <a:endParaRPr lang="en-IN" sz="600" dirty="0">
                        <a:effectLst/>
                        <a:latin typeface="Calibri" panose="020F0502020204030204" pitchFamily="34" charset="0"/>
                        <a:ea typeface="Calibri" panose="020F0502020204030204" pitchFamily="34" charset="0"/>
                        <a:cs typeface="Mangal" panose="02040503050203030202" pitchFamily="18" charset="0"/>
                      </a:endParaRPr>
                    </a:p>
                  </a:txBody>
                  <a:tcPr marL="2659" marR="2659" marT="2659" marB="2659" anchor="ctr"/>
                </a:tc>
                <a:tc>
                  <a:txBody>
                    <a:bodyPr/>
                    <a:lstStyle/>
                    <a:p>
                      <a:pPr marL="0" marR="0" algn="ctr">
                        <a:lnSpc>
                          <a:spcPct val="107000"/>
                        </a:lnSpc>
                        <a:spcBef>
                          <a:spcPts val="0"/>
                        </a:spcBef>
                        <a:spcAft>
                          <a:spcPts val="0"/>
                        </a:spcAft>
                      </a:pPr>
                      <a:r>
                        <a:rPr lang="en-US" sz="1400" dirty="0">
                          <a:effectLst/>
                        </a:rPr>
                        <a:t>Title (Source, Date)</a:t>
                      </a:r>
                      <a:endParaRPr lang="en-IN" sz="1400" dirty="0">
                        <a:effectLst/>
                        <a:latin typeface="Calibri" panose="020F0502020204030204" pitchFamily="34" charset="0"/>
                        <a:ea typeface="Calibri" panose="020F0502020204030204" pitchFamily="34" charset="0"/>
                        <a:cs typeface="Mangal" panose="02040503050203030202" pitchFamily="18" charset="0"/>
                      </a:endParaRPr>
                    </a:p>
                  </a:txBody>
                  <a:tcPr marL="2659" marR="2659" marT="2659" marB="2659" anchor="ctr"/>
                </a:tc>
                <a:tc>
                  <a:txBody>
                    <a:bodyPr/>
                    <a:lstStyle/>
                    <a:p>
                      <a:pPr marL="0" marR="0" algn="ctr">
                        <a:lnSpc>
                          <a:spcPct val="107000"/>
                        </a:lnSpc>
                        <a:spcBef>
                          <a:spcPts val="0"/>
                        </a:spcBef>
                        <a:spcAft>
                          <a:spcPts val="0"/>
                        </a:spcAft>
                      </a:pPr>
                      <a:r>
                        <a:rPr lang="en-US" sz="1400">
                          <a:effectLst/>
                        </a:rPr>
                        <a:t>Project Idea</a:t>
                      </a:r>
                      <a:endParaRPr lang="en-IN" sz="1400">
                        <a:effectLst/>
                        <a:latin typeface="Calibri" panose="020F0502020204030204" pitchFamily="34" charset="0"/>
                        <a:ea typeface="Calibri" panose="020F0502020204030204" pitchFamily="34" charset="0"/>
                        <a:cs typeface="Mangal" panose="02040503050203030202" pitchFamily="18" charset="0"/>
                      </a:endParaRPr>
                    </a:p>
                  </a:txBody>
                  <a:tcPr marL="2659" marR="2659" marT="2659" marB="2659" anchor="ctr"/>
                </a:tc>
                <a:tc>
                  <a:txBody>
                    <a:bodyPr/>
                    <a:lstStyle/>
                    <a:p>
                      <a:pPr marL="0" marR="0" algn="ctr">
                        <a:lnSpc>
                          <a:spcPct val="107000"/>
                        </a:lnSpc>
                        <a:spcBef>
                          <a:spcPts val="0"/>
                        </a:spcBef>
                        <a:spcAft>
                          <a:spcPts val="0"/>
                        </a:spcAft>
                      </a:pPr>
                      <a:r>
                        <a:rPr lang="en-US" sz="1400">
                          <a:effectLst/>
                        </a:rPr>
                        <a:t>Tech Stack</a:t>
                      </a:r>
                      <a:endParaRPr lang="en-IN" sz="1400">
                        <a:effectLst/>
                        <a:latin typeface="Calibri" panose="020F0502020204030204" pitchFamily="34" charset="0"/>
                        <a:ea typeface="Calibri" panose="020F0502020204030204" pitchFamily="34" charset="0"/>
                        <a:cs typeface="Mangal" panose="02040503050203030202" pitchFamily="18" charset="0"/>
                      </a:endParaRPr>
                    </a:p>
                  </a:txBody>
                  <a:tcPr marL="2659" marR="2659" marT="2659" marB="2659" anchor="ctr"/>
                </a:tc>
                <a:tc>
                  <a:txBody>
                    <a:bodyPr/>
                    <a:lstStyle/>
                    <a:p>
                      <a:pPr marL="0" marR="0" algn="ctr">
                        <a:lnSpc>
                          <a:spcPct val="107000"/>
                        </a:lnSpc>
                        <a:spcBef>
                          <a:spcPts val="0"/>
                        </a:spcBef>
                        <a:spcAft>
                          <a:spcPts val="0"/>
                        </a:spcAft>
                      </a:pPr>
                      <a:r>
                        <a:rPr lang="en-US" sz="1400">
                          <a:effectLst/>
                        </a:rPr>
                        <a:t>Limitations</a:t>
                      </a:r>
                      <a:endParaRPr lang="en-IN" sz="1400">
                        <a:effectLst/>
                        <a:latin typeface="Calibri" panose="020F0502020204030204" pitchFamily="34" charset="0"/>
                        <a:ea typeface="Calibri" panose="020F0502020204030204" pitchFamily="34" charset="0"/>
                        <a:cs typeface="Mangal" panose="02040503050203030202" pitchFamily="18" charset="0"/>
                      </a:endParaRPr>
                    </a:p>
                  </a:txBody>
                  <a:tcPr marL="2659" marR="2659" marT="2659" marB="2659" anchor="ctr"/>
                </a:tc>
                <a:tc>
                  <a:txBody>
                    <a:bodyPr/>
                    <a:lstStyle/>
                    <a:p>
                      <a:pPr marL="0" marR="0" algn="ctr">
                        <a:lnSpc>
                          <a:spcPct val="107000"/>
                        </a:lnSpc>
                        <a:spcBef>
                          <a:spcPts val="0"/>
                        </a:spcBef>
                        <a:spcAft>
                          <a:spcPts val="0"/>
                        </a:spcAft>
                      </a:pPr>
                      <a:r>
                        <a:rPr lang="en-US" sz="1400" dirty="0">
                          <a:effectLst/>
                        </a:rPr>
                        <a:t>Our Improvement</a:t>
                      </a:r>
                      <a:endParaRPr lang="en-IN" sz="1400" dirty="0">
                        <a:effectLst/>
                        <a:latin typeface="Calibri" panose="020F0502020204030204" pitchFamily="34" charset="0"/>
                        <a:ea typeface="Calibri" panose="020F0502020204030204" pitchFamily="34" charset="0"/>
                        <a:cs typeface="Mangal" panose="02040503050203030202" pitchFamily="18" charset="0"/>
                      </a:endParaRPr>
                    </a:p>
                  </a:txBody>
                  <a:tcPr marL="2659" marR="2659" marT="2659" marB="2659" anchor="ctr"/>
                </a:tc>
                <a:extLst>
                  <a:ext uri="{0D108BD9-81ED-4DB2-BD59-A6C34878D82A}">
                    <a16:rowId xmlns:a16="http://schemas.microsoft.com/office/drawing/2014/main" val="1640378909"/>
                  </a:ext>
                </a:extLst>
              </a:tr>
              <a:tr h="1097895">
                <a:tc>
                  <a:txBody>
                    <a:bodyPr/>
                    <a:lstStyle/>
                    <a:p>
                      <a:pPr marL="0" marR="0" algn="ctr">
                        <a:lnSpc>
                          <a:spcPct val="107000"/>
                        </a:lnSpc>
                        <a:spcBef>
                          <a:spcPts val="0"/>
                        </a:spcBef>
                        <a:spcAft>
                          <a:spcPts val="0"/>
                        </a:spcAft>
                      </a:pPr>
                      <a:r>
                        <a:rPr lang="en-US" sz="2000" dirty="0" smtClean="0">
                          <a:effectLst/>
                          <a:latin typeface="Calibri" panose="020F0502020204030204" pitchFamily="34" charset="0"/>
                          <a:ea typeface="Calibri" panose="020F0502020204030204" pitchFamily="34" charset="0"/>
                          <a:cs typeface="Mangal" panose="02040503050203030202" pitchFamily="18" charset="0"/>
                        </a:rPr>
                        <a:t>1</a:t>
                      </a:r>
                      <a:endParaRPr lang="en-IN" sz="2000" dirty="0">
                        <a:effectLst/>
                        <a:latin typeface="Calibri" panose="020F0502020204030204" pitchFamily="34" charset="0"/>
                        <a:ea typeface="Calibri" panose="020F0502020204030204" pitchFamily="34" charset="0"/>
                        <a:cs typeface="Mangal" panose="02040503050203030202" pitchFamily="18" charset="0"/>
                      </a:endParaRPr>
                    </a:p>
                  </a:txBody>
                  <a:tcPr marL="2659" marR="2659" marT="2659" marB="2659" anchor="ctr"/>
                </a:tc>
                <a:tc>
                  <a:txBody>
                    <a:bodyPr/>
                    <a:lstStyle/>
                    <a:p>
                      <a:r>
                        <a:rPr lang="en-US" sz="1200" b="1"/>
                        <a:t>1. Research on Image Recognition and Grading Method of Apple Based on Machine Vision (CEI, 2022)</a:t>
                      </a:r>
                      <a:endParaRPr lang="en-US" sz="1200"/>
                    </a:p>
                  </a:txBody>
                  <a:tcPr anchor="ctr"/>
                </a:tc>
                <a:tc>
                  <a:txBody>
                    <a:bodyPr/>
                    <a:lstStyle/>
                    <a:p>
                      <a:r>
                        <a:rPr lang="en-US" sz="1200"/>
                        <a:t>Apple grading using classical machine vision</a:t>
                      </a:r>
                    </a:p>
                  </a:txBody>
                  <a:tcPr anchor="ctr"/>
                </a:tc>
                <a:tc>
                  <a:txBody>
                    <a:bodyPr/>
                    <a:lstStyle/>
                    <a:p>
                      <a:r>
                        <a:rPr lang="en-IN" sz="1200"/>
                        <a:t>Traditional image processing, feature extraction</a:t>
                      </a:r>
                    </a:p>
                  </a:txBody>
                  <a:tcPr anchor="ctr"/>
                </a:tc>
                <a:tc>
                  <a:txBody>
                    <a:bodyPr/>
                    <a:lstStyle/>
                    <a:p>
                      <a:r>
                        <a:rPr lang="en-US" sz="1200"/>
                        <a:t>Lower accuracy on real-world diverse apples; limited deep learning</a:t>
                      </a:r>
                    </a:p>
                  </a:txBody>
                  <a:tcPr anchor="ctr"/>
                </a:tc>
                <a:tc>
                  <a:txBody>
                    <a:bodyPr/>
                    <a:lstStyle/>
                    <a:p>
                      <a:r>
                        <a:rPr lang="en-US" sz="1200" dirty="0"/>
                        <a:t>Use advanced CNN models + </a:t>
                      </a:r>
                      <a:r>
                        <a:rPr lang="en-US" sz="1200" dirty="0" err="1"/>
                        <a:t>blockchain</a:t>
                      </a:r>
                      <a:r>
                        <a:rPr lang="en-US" sz="1200" dirty="0"/>
                        <a:t> traceability + mobile app ecosystem</a:t>
                      </a:r>
                    </a:p>
                  </a:txBody>
                  <a:tcPr anchor="ctr"/>
                </a:tc>
                <a:extLst>
                  <a:ext uri="{0D108BD9-81ED-4DB2-BD59-A6C34878D82A}">
                    <a16:rowId xmlns:a16="http://schemas.microsoft.com/office/drawing/2014/main" val="1893674864"/>
                  </a:ext>
                </a:extLst>
              </a:tr>
              <a:tr h="927111">
                <a:tc>
                  <a:txBody>
                    <a:bodyPr/>
                    <a:lstStyle/>
                    <a:p>
                      <a:pPr marL="0" marR="0" algn="ctr">
                        <a:lnSpc>
                          <a:spcPct val="107000"/>
                        </a:lnSpc>
                        <a:spcBef>
                          <a:spcPts val="0"/>
                        </a:spcBef>
                        <a:spcAft>
                          <a:spcPts val="0"/>
                        </a:spcAft>
                      </a:pPr>
                      <a:r>
                        <a:rPr lang="en-US" sz="2000" dirty="0">
                          <a:effectLst/>
                        </a:rPr>
                        <a:t>2</a:t>
                      </a:r>
                      <a:endParaRPr lang="en-IN" sz="2000" dirty="0">
                        <a:effectLst/>
                        <a:latin typeface="Calibri" panose="020F0502020204030204" pitchFamily="34" charset="0"/>
                        <a:ea typeface="Calibri" panose="020F0502020204030204" pitchFamily="34" charset="0"/>
                        <a:cs typeface="Mangal" panose="02040503050203030202" pitchFamily="18" charset="0"/>
                      </a:endParaRPr>
                    </a:p>
                  </a:txBody>
                  <a:tcPr marL="2659" marR="2659" marT="2659" marB="2659" anchor="ctr"/>
                </a:tc>
                <a:tc>
                  <a:txBody>
                    <a:bodyPr/>
                    <a:lstStyle/>
                    <a:p>
                      <a:r>
                        <a:rPr lang="en-US" sz="1200" b="1"/>
                        <a:t>2. Enhanced CNN for Fruit Disease Detection &amp; Grading (IEEE Sensors Journal, 2024)</a:t>
                      </a:r>
                      <a:endParaRPr lang="en-US" sz="1200"/>
                    </a:p>
                  </a:txBody>
                  <a:tcPr anchor="ctr"/>
                </a:tc>
                <a:tc>
                  <a:txBody>
                    <a:bodyPr/>
                    <a:lstStyle/>
                    <a:p>
                      <a:r>
                        <a:rPr lang="en-US" sz="1200"/>
                        <a:t>Detect diseases and grade fruits using CNN + SSDAE-SVM</a:t>
                      </a:r>
                    </a:p>
                  </a:txBody>
                  <a:tcPr anchor="ctr"/>
                </a:tc>
                <a:tc>
                  <a:txBody>
                    <a:bodyPr/>
                    <a:lstStyle/>
                    <a:p>
                      <a:r>
                        <a:rPr lang="en-IN" sz="1200"/>
                        <a:t>CNN, SSDAE, SVM</a:t>
                      </a:r>
                    </a:p>
                  </a:txBody>
                  <a:tcPr anchor="ctr"/>
                </a:tc>
                <a:tc>
                  <a:txBody>
                    <a:bodyPr/>
                    <a:lstStyle/>
                    <a:p>
                      <a:r>
                        <a:rPr lang="en-US" sz="1200"/>
                        <a:t>Heavy computation; not optimized for real-time mobile use</a:t>
                      </a:r>
                    </a:p>
                  </a:txBody>
                  <a:tcPr anchor="ctr"/>
                </a:tc>
                <a:tc>
                  <a:txBody>
                    <a:bodyPr/>
                    <a:lstStyle/>
                    <a:p>
                      <a:r>
                        <a:rPr lang="en-US" sz="1200" dirty="0"/>
                        <a:t>Lightweight CNN models + on-device inference + optimized pipeline</a:t>
                      </a:r>
                    </a:p>
                  </a:txBody>
                  <a:tcPr anchor="ctr"/>
                </a:tc>
                <a:extLst>
                  <a:ext uri="{0D108BD9-81ED-4DB2-BD59-A6C34878D82A}">
                    <a16:rowId xmlns:a16="http://schemas.microsoft.com/office/drawing/2014/main" val="3253201473"/>
                  </a:ext>
                </a:extLst>
              </a:tr>
              <a:tr h="756328">
                <a:tc>
                  <a:txBody>
                    <a:bodyPr/>
                    <a:lstStyle/>
                    <a:p>
                      <a:pPr marL="0" marR="0" algn="ctr">
                        <a:lnSpc>
                          <a:spcPct val="107000"/>
                        </a:lnSpc>
                        <a:spcBef>
                          <a:spcPts val="0"/>
                        </a:spcBef>
                        <a:spcAft>
                          <a:spcPts val="0"/>
                        </a:spcAft>
                      </a:pPr>
                      <a:r>
                        <a:rPr lang="en-US" sz="2000" dirty="0">
                          <a:effectLst/>
                        </a:rPr>
                        <a:t>3</a:t>
                      </a:r>
                      <a:endParaRPr lang="en-IN" sz="2000" dirty="0">
                        <a:effectLst/>
                        <a:latin typeface="Calibri" panose="020F0502020204030204" pitchFamily="34" charset="0"/>
                        <a:ea typeface="Calibri" panose="020F0502020204030204" pitchFamily="34" charset="0"/>
                        <a:cs typeface="Mangal" panose="02040503050203030202" pitchFamily="18" charset="0"/>
                      </a:endParaRPr>
                    </a:p>
                  </a:txBody>
                  <a:tcPr marL="2659" marR="2659" marT="2659" marB="2659" anchor="ctr"/>
                </a:tc>
                <a:tc>
                  <a:txBody>
                    <a:bodyPr/>
                    <a:lstStyle/>
                    <a:p>
                      <a:r>
                        <a:rPr lang="en-IN" sz="1200" b="1"/>
                        <a:t>3. Fruit &amp; Vegetable Grading via Transfer Learning (ICACTA, 2023)</a:t>
                      </a:r>
                      <a:endParaRPr lang="en-IN" sz="1200"/>
                    </a:p>
                  </a:txBody>
                  <a:tcPr anchor="ctr"/>
                </a:tc>
                <a:tc>
                  <a:txBody>
                    <a:bodyPr/>
                    <a:lstStyle/>
                    <a:p>
                      <a:r>
                        <a:rPr lang="en-IN" sz="1200"/>
                        <a:t>Fruit classification using TL models</a:t>
                      </a:r>
                    </a:p>
                  </a:txBody>
                  <a:tcPr anchor="ctr"/>
                </a:tc>
                <a:tc>
                  <a:txBody>
                    <a:bodyPr/>
                    <a:lstStyle/>
                    <a:p>
                      <a:r>
                        <a:rPr lang="en-IN" sz="1200"/>
                        <a:t>Transfer Learning (Inception, ResNet)</a:t>
                      </a:r>
                    </a:p>
                  </a:txBody>
                  <a:tcPr anchor="ctr"/>
                </a:tc>
                <a:tc>
                  <a:txBody>
                    <a:bodyPr/>
                    <a:lstStyle/>
                    <a:p>
                      <a:r>
                        <a:rPr lang="en-US" sz="1200"/>
                        <a:t>Limited dataset diversity; overfitting risk</a:t>
                      </a:r>
                    </a:p>
                  </a:txBody>
                  <a:tcPr anchor="ctr"/>
                </a:tc>
                <a:tc>
                  <a:txBody>
                    <a:bodyPr/>
                    <a:lstStyle/>
                    <a:p>
                      <a:r>
                        <a:rPr lang="en-US" sz="1200"/>
                        <a:t>Collect real-farm apple dataset + robust augmentation</a:t>
                      </a:r>
                    </a:p>
                  </a:txBody>
                  <a:tcPr anchor="ctr"/>
                </a:tc>
                <a:extLst>
                  <a:ext uri="{0D108BD9-81ED-4DB2-BD59-A6C34878D82A}">
                    <a16:rowId xmlns:a16="http://schemas.microsoft.com/office/drawing/2014/main" val="4111170617"/>
                  </a:ext>
                </a:extLst>
              </a:tr>
              <a:tr h="927111">
                <a:tc>
                  <a:txBody>
                    <a:bodyPr/>
                    <a:lstStyle/>
                    <a:p>
                      <a:pPr marL="0" marR="0" algn="ctr">
                        <a:lnSpc>
                          <a:spcPct val="107000"/>
                        </a:lnSpc>
                        <a:spcBef>
                          <a:spcPts val="0"/>
                        </a:spcBef>
                        <a:spcAft>
                          <a:spcPts val="0"/>
                        </a:spcAft>
                      </a:pPr>
                      <a:r>
                        <a:rPr lang="en-US" sz="2000" dirty="0">
                          <a:effectLst/>
                        </a:rPr>
                        <a:t>4</a:t>
                      </a:r>
                      <a:endParaRPr lang="en-IN" sz="2000" dirty="0">
                        <a:effectLst/>
                        <a:latin typeface="Calibri" panose="020F0502020204030204" pitchFamily="34" charset="0"/>
                        <a:ea typeface="Calibri" panose="020F0502020204030204" pitchFamily="34" charset="0"/>
                        <a:cs typeface="Mangal" panose="02040503050203030202" pitchFamily="18" charset="0"/>
                      </a:endParaRPr>
                    </a:p>
                  </a:txBody>
                  <a:tcPr marL="2659" marR="2659" marT="2659" marB="2659" anchor="ctr"/>
                </a:tc>
                <a:tc>
                  <a:txBody>
                    <a:bodyPr/>
                    <a:lstStyle/>
                    <a:p>
                      <a:r>
                        <a:rPr lang="en-US" sz="1200" b="1"/>
                        <a:t>4. Attribute-based Maturity Grading of Mango (ICIIET, 2022)</a:t>
                      </a:r>
                      <a:endParaRPr lang="en-US" sz="1200"/>
                    </a:p>
                  </a:txBody>
                  <a:tcPr anchor="ctr"/>
                </a:tc>
                <a:tc>
                  <a:txBody>
                    <a:bodyPr/>
                    <a:lstStyle/>
                    <a:p>
                      <a:r>
                        <a:rPr lang="en-US" sz="1200"/>
                        <a:t>Maturity detection using handcrafted features</a:t>
                      </a:r>
                    </a:p>
                  </a:txBody>
                  <a:tcPr anchor="ctr"/>
                </a:tc>
                <a:tc>
                  <a:txBody>
                    <a:bodyPr/>
                    <a:lstStyle/>
                    <a:p>
                      <a:r>
                        <a:rPr lang="en-IN" sz="1200"/>
                        <a:t>ML models (SVM, KNN)</a:t>
                      </a:r>
                    </a:p>
                  </a:txBody>
                  <a:tcPr anchor="ctr"/>
                </a:tc>
                <a:tc>
                  <a:txBody>
                    <a:bodyPr/>
                    <a:lstStyle/>
                    <a:p>
                      <a:r>
                        <a:rPr lang="en-US" sz="1200"/>
                        <a:t>Manual feature engineering → inconsistent accuracy</a:t>
                      </a:r>
                    </a:p>
                  </a:txBody>
                  <a:tcPr anchor="ctr"/>
                </a:tc>
                <a:tc>
                  <a:txBody>
                    <a:bodyPr/>
                    <a:lstStyle/>
                    <a:p>
                      <a:r>
                        <a:rPr lang="en-US" sz="1200" dirty="0"/>
                        <a:t>Deep CNN model with automatic feature extraction</a:t>
                      </a:r>
                    </a:p>
                  </a:txBody>
                  <a:tcPr anchor="ctr"/>
                </a:tc>
                <a:extLst>
                  <a:ext uri="{0D108BD9-81ED-4DB2-BD59-A6C34878D82A}">
                    <a16:rowId xmlns:a16="http://schemas.microsoft.com/office/drawing/2014/main" val="3283121532"/>
                  </a:ext>
                </a:extLst>
              </a:tr>
              <a:tr h="1097895">
                <a:tc>
                  <a:txBody>
                    <a:bodyPr/>
                    <a:lstStyle/>
                    <a:p>
                      <a:pPr marL="0" marR="0" algn="ctr">
                        <a:lnSpc>
                          <a:spcPct val="107000"/>
                        </a:lnSpc>
                        <a:spcBef>
                          <a:spcPts val="0"/>
                        </a:spcBef>
                        <a:spcAft>
                          <a:spcPts val="0"/>
                        </a:spcAft>
                      </a:pPr>
                      <a:r>
                        <a:rPr lang="en-US" sz="2000" dirty="0">
                          <a:effectLst/>
                        </a:rPr>
                        <a:t>5</a:t>
                      </a:r>
                      <a:endParaRPr lang="en-IN" sz="2000" dirty="0">
                        <a:effectLst/>
                        <a:latin typeface="Calibri" panose="020F0502020204030204" pitchFamily="34" charset="0"/>
                        <a:ea typeface="Calibri" panose="020F0502020204030204" pitchFamily="34" charset="0"/>
                        <a:cs typeface="Mangal" panose="02040503050203030202" pitchFamily="18" charset="0"/>
                      </a:endParaRPr>
                    </a:p>
                  </a:txBody>
                  <a:tcPr marL="2659" marR="2659" marT="2659" marB="2659" anchor="ctr"/>
                </a:tc>
                <a:tc>
                  <a:txBody>
                    <a:bodyPr/>
                    <a:lstStyle/>
                    <a:p>
                      <a:r>
                        <a:rPr lang="en-IN" sz="1200" b="1" dirty="0"/>
                        <a:t>5. Precision Grade Classification of Pomegranates (INNOVA, 2024)</a:t>
                      </a:r>
                      <a:endParaRPr lang="en-IN" sz="1200" dirty="0"/>
                    </a:p>
                  </a:txBody>
                  <a:tcPr anchor="ctr"/>
                </a:tc>
                <a:tc>
                  <a:txBody>
                    <a:bodyPr/>
                    <a:lstStyle/>
                    <a:p>
                      <a:r>
                        <a:rPr lang="en-US" sz="1200"/>
                        <a:t>Deep learning model for grade-quality classification</a:t>
                      </a:r>
                    </a:p>
                  </a:txBody>
                  <a:tcPr anchor="ctr"/>
                </a:tc>
                <a:tc>
                  <a:txBody>
                    <a:bodyPr/>
                    <a:lstStyle/>
                    <a:p>
                      <a:r>
                        <a:rPr lang="en-IN" sz="1200"/>
                        <a:t>CNN, DL frameworks</a:t>
                      </a:r>
                    </a:p>
                  </a:txBody>
                  <a:tcPr anchor="ctr"/>
                </a:tc>
                <a:tc>
                  <a:txBody>
                    <a:bodyPr/>
                    <a:lstStyle/>
                    <a:p>
                      <a:r>
                        <a:rPr lang="en-US" sz="1200"/>
                        <a:t>Focused only on pomegranates; no supply-chain integration</a:t>
                      </a:r>
                    </a:p>
                  </a:txBody>
                  <a:tcPr anchor="ctr"/>
                </a:tc>
                <a:tc>
                  <a:txBody>
                    <a:bodyPr/>
                    <a:lstStyle/>
                    <a:p>
                      <a:r>
                        <a:rPr lang="en-US" sz="1200" dirty="0"/>
                        <a:t>Extend to apple grading + </a:t>
                      </a:r>
                      <a:r>
                        <a:rPr lang="en-US" sz="1200" dirty="0" err="1"/>
                        <a:t>blockchain</a:t>
                      </a:r>
                      <a:r>
                        <a:rPr lang="en-US" sz="1200" dirty="0"/>
                        <a:t>-based traceability</a:t>
                      </a:r>
                    </a:p>
                  </a:txBody>
                  <a:tcPr anchor="ctr"/>
                </a:tc>
                <a:extLst>
                  <a:ext uri="{0D108BD9-81ED-4DB2-BD59-A6C34878D82A}">
                    <a16:rowId xmlns:a16="http://schemas.microsoft.com/office/drawing/2014/main" val="1492803336"/>
                  </a:ext>
                </a:extLst>
              </a:tr>
            </a:tbl>
          </a:graphicData>
        </a:graphic>
      </p:graphicFrame>
    </p:spTree>
    <p:extLst>
      <p:ext uri="{BB962C8B-B14F-4D97-AF65-F5344CB8AC3E}">
        <p14:creationId xmlns:p14="http://schemas.microsoft.com/office/powerpoint/2010/main" val="3516582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7391400" y="6477000"/>
            <a:ext cx="1600200" cy="195263"/>
          </a:xfrm>
        </p:spPr>
        <p:txBody>
          <a:bodyPr/>
          <a:lstStyle/>
          <a:p>
            <a:pPr>
              <a:defRPr/>
            </a:pPr>
            <a:fld id="{02246FD1-0723-4B2F-9706-10282F2BA698}" type="slidenum">
              <a:rPr lang="en-US" smtClean="0">
                <a:latin typeface="Verdana" panose="020B0604030504040204" pitchFamily="34" charset="0"/>
                <a:ea typeface="Verdana" panose="020B0604030504040204" pitchFamily="34" charset="0"/>
              </a:rPr>
              <a:pPr>
                <a:defRPr/>
              </a:pPr>
              <a:t>6</a:t>
            </a:fld>
            <a:r>
              <a:rPr lang="en-US" dirty="0">
                <a:latin typeface="Verdana" panose="020B0604030504040204" pitchFamily="34" charset="0"/>
                <a:ea typeface="Verdana" panose="020B0604030504040204" pitchFamily="34" charset="0"/>
              </a:rPr>
              <a:t> </a:t>
            </a:r>
          </a:p>
        </p:txBody>
      </p:sp>
      <p:sp>
        <p:nvSpPr>
          <p:cNvPr id="18" name="Rectangle 3"/>
          <p:cNvSpPr txBox="1">
            <a:spLocks noChangeArrowheads="1"/>
          </p:cNvSpPr>
          <p:nvPr/>
        </p:nvSpPr>
        <p:spPr>
          <a:xfrm>
            <a:off x="1543050" y="3371850"/>
            <a:ext cx="6286500" cy="342900"/>
          </a:xfrm>
          <a:prstGeom prst="rect">
            <a:avLst/>
          </a:prstGeom>
        </p:spPr>
        <p:txBody>
          <a:bodyPr/>
          <a:lstStyle/>
          <a:p>
            <a:pPr algn="ctr" eaLnBrk="0" fontAlgn="base" hangingPunct="0">
              <a:spcBef>
                <a:spcPct val="20000"/>
              </a:spcBef>
              <a:spcAft>
                <a:spcPct val="20000"/>
              </a:spcAft>
              <a:defRPr/>
            </a:pPr>
            <a:endParaRPr lang="en-US" sz="3600" dirty="0">
              <a:sym typeface="Symbol" pitchFamily="18" charset="2"/>
            </a:endParaRPr>
          </a:p>
        </p:txBody>
      </p:sp>
      <p:sp>
        <p:nvSpPr>
          <p:cNvPr id="3" name="Title 2">
            <a:extLst>
              <a:ext uri="{FF2B5EF4-FFF2-40B4-BE49-F238E27FC236}">
                <a16:creationId xmlns:a16="http://schemas.microsoft.com/office/drawing/2014/main" id="{7CBEB6BF-435C-4050-8916-C2A3F4028ED5}"/>
              </a:ext>
            </a:extLst>
          </p:cNvPr>
          <p:cNvSpPr>
            <a:spLocks noGrp="1"/>
          </p:cNvSpPr>
          <p:nvPr>
            <p:ph type="title"/>
          </p:nvPr>
        </p:nvSpPr>
        <p:spPr/>
        <p:txBody>
          <a:bodyPr>
            <a:normAutofit/>
          </a:bodyPr>
          <a:lstStyle/>
          <a:p>
            <a:r>
              <a:rPr lang="en-US" sz="2800" dirty="0"/>
              <a:t>Literature Review</a:t>
            </a:r>
            <a:endParaRPr lang="en-IN" sz="2800" dirty="0">
              <a:latin typeface="Verdana" panose="020B0604030504040204" pitchFamily="34" charset="0"/>
              <a:ea typeface="Verdana" panose="020B0604030504040204" pitchFamily="34" charset="0"/>
            </a:endParaRPr>
          </a:p>
        </p:txBody>
      </p:sp>
      <p:graphicFrame>
        <p:nvGraphicFramePr>
          <p:cNvPr id="2" name="Table 1">
            <a:extLst>
              <a:ext uri="{FF2B5EF4-FFF2-40B4-BE49-F238E27FC236}">
                <a16:creationId xmlns:a16="http://schemas.microsoft.com/office/drawing/2014/main" id="{ED8478A1-7962-D888-EC7E-ACF2B742095C}"/>
              </a:ext>
            </a:extLst>
          </p:cNvPr>
          <p:cNvGraphicFramePr>
            <a:graphicFrameLocks noGrp="1"/>
          </p:cNvGraphicFramePr>
          <p:nvPr>
            <p:extLst>
              <p:ext uri="{D42A27DB-BD31-4B8C-83A1-F6EECF244321}">
                <p14:modId xmlns:p14="http://schemas.microsoft.com/office/powerpoint/2010/main" val="641458635"/>
              </p:ext>
            </p:extLst>
          </p:nvPr>
        </p:nvGraphicFramePr>
        <p:xfrm>
          <a:off x="609600" y="754643"/>
          <a:ext cx="8153400" cy="5829554"/>
        </p:xfrm>
        <a:graphic>
          <a:graphicData uri="http://schemas.openxmlformats.org/drawingml/2006/table">
            <a:tbl>
              <a:tblPr firstRow="1" firstCol="1" bandRow="1">
                <a:tableStyleId>{5C22544A-7EE6-4342-B048-85BDC9FD1C3A}</a:tableStyleId>
              </a:tblPr>
              <a:tblGrid>
                <a:gridCol w="533400">
                  <a:extLst>
                    <a:ext uri="{9D8B030D-6E8A-4147-A177-3AD203B41FA5}">
                      <a16:colId xmlns:a16="http://schemas.microsoft.com/office/drawing/2014/main" val="2543305699"/>
                    </a:ext>
                  </a:extLst>
                </a:gridCol>
                <a:gridCol w="1629967">
                  <a:extLst>
                    <a:ext uri="{9D8B030D-6E8A-4147-A177-3AD203B41FA5}">
                      <a16:colId xmlns:a16="http://schemas.microsoft.com/office/drawing/2014/main" val="553003354"/>
                    </a:ext>
                  </a:extLst>
                </a:gridCol>
                <a:gridCol w="1634304">
                  <a:extLst>
                    <a:ext uri="{9D8B030D-6E8A-4147-A177-3AD203B41FA5}">
                      <a16:colId xmlns:a16="http://schemas.microsoft.com/office/drawing/2014/main" val="2226591946"/>
                    </a:ext>
                  </a:extLst>
                </a:gridCol>
                <a:gridCol w="1232795">
                  <a:extLst>
                    <a:ext uri="{9D8B030D-6E8A-4147-A177-3AD203B41FA5}">
                      <a16:colId xmlns:a16="http://schemas.microsoft.com/office/drawing/2014/main" val="1438038188"/>
                    </a:ext>
                  </a:extLst>
                </a:gridCol>
                <a:gridCol w="1232795">
                  <a:extLst>
                    <a:ext uri="{9D8B030D-6E8A-4147-A177-3AD203B41FA5}">
                      <a16:colId xmlns:a16="http://schemas.microsoft.com/office/drawing/2014/main" val="2267734"/>
                    </a:ext>
                  </a:extLst>
                </a:gridCol>
                <a:gridCol w="1890139">
                  <a:extLst>
                    <a:ext uri="{9D8B030D-6E8A-4147-A177-3AD203B41FA5}">
                      <a16:colId xmlns:a16="http://schemas.microsoft.com/office/drawing/2014/main" val="2020376119"/>
                    </a:ext>
                  </a:extLst>
                </a:gridCol>
              </a:tblGrid>
              <a:tr h="256674">
                <a:tc>
                  <a:txBody>
                    <a:bodyPr/>
                    <a:lstStyle/>
                    <a:p>
                      <a:pPr marL="0" marR="0" algn="ctr">
                        <a:lnSpc>
                          <a:spcPct val="107000"/>
                        </a:lnSpc>
                        <a:spcBef>
                          <a:spcPts val="0"/>
                        </a:spcBef>
                        <a:spcAft>
                          <a:spcPts val="0"/>
                        </a:spcAft>
                      </a:pPr>
                      <a:r>
                        <a:rPr lang="en-US" sz="1400" dirty="0">
                          <a:effectLst/>
                        </a:rPr>
                        <a:t>No</a:t>
                      </a:r>
                      <a:endParaRPr lang="en-IN" sz="1400" dirty="0">
                        <a:effectLst/>
                        <a:latin typeface="Calibri" panose="020F0502020204030204" pitchFamily="34" charset="0"/>
                        <a:ea typeface="Calibri" panose="020F0502020204030204" pitchFamily="34" charset="0"/>
                        <a:cs typeface="Mangal" panose="02040503050203030202" pitchFamily="18" charset="0"/>
                      </a:endParaRPr>
                    </a:p>
                  </a:txBody>
                  <a:tcPr marL="2659" marR="2659" marT="2659" marB="2659" anchor="ctr"/>
                </a:tc>
                <a:tc>
                  <a:txBody>
                    <a:bodyPr/>
                    <a:lstStyle/>
                    <a:p>
                      <a:pPr marL="0" marR="0" algn="ctr">
                        <a:lnSpc>
                          <a:spcPct val="107000"/>
                        </a:lnSpc>
                        <a:spcBef>
                          <a:spcPts val="0"/>
                        </a:spcBef>
                        <a:spcAft>
                          <a:spcPts val="0"/>
                        </a:spcAft>
                      </a:pPr>
                      <a:r>
                        <a:rPr lang="en-US" sz="1600" dirty="0">
                          <a:effectLst/>
                        </a:rPr>
                        <a:t>Title (Source, Date)</a:t>
                      </a:r>
                      <a:endParaRPr lang="en-IN" sz="1600" dirty="0">
                        <a:effectLst/>
                        <a:latin typeface="Calibri" panose="020F0502020204030204" pitchFamily="34" charset="0"/>
                        <a:ea typeface="Calibri" panose="020F0502020204030204" pitchFamily="34" charset="0"/>
                        <a:cs typeface="Mangal" panose="02040503050203030202" pitchFamily="18" charset="0"/>
                      </a:endParaRPr>
                    </a:p>
                  </a:txBody>
                  <a:tcPr marL="2659" marR="2659" marT="2659" marB="2659" anchor="ctr"/>
                </a:tc>
                <a:tc>
                  <a:txBody>
                    <a:bodyPr/>
                    <a:lstStyle/>
                    <a:p>
                      <a:pPr marL="0" marR="0" algn="ctr">
                        <a:lnSpc>
                          <a:spcPct val="107000"/>
                        </a:lnSpc>
                        <a:spcBef>
                          <a:spcPts val="0"/>
                        </a:spcBef>
                        <a:spcAft>
                          <a:spcPts val="0"/>
                        </a:spcAft>
                      </a:pPr>
                      <a:r>
                        <a:rPr lang="en-US" sz="1600" dirty="0">
                          <a:effectLst/>
                        </a:rPr>
                        <a:t>Project Idea</a:t>
                      </a:r>
                      <a:endParaRPr lang="en-IN" sz="1600" dirty="0">
                        <a:effectLst/>
                        <a:latin typeface="Calibri" panose="020F0502020204030204" pitchFamily="34" charset="0"/>
                        <a:ea typeface="Calibri" panose="020F0502020204030204" pitchFamily="34" charset="0"/>
                        <a:cs typeface="Mangal" panose="02040503050203030202" pitchFamily="18" charset="0"/>
                      </a:endParaRPr>
                    </a:p>
                  </a:txBody>
                  <a:tcPr marL="2659" marR="2659" marT="2659" marB="2659" anchor="ctr"/>
                </a:tc>
                <a:tc>
                  <a:txBody>
                    <a:bodyPr/>
                    <a:lstStyle/>
                    <a:p>
                      <a:pPr marL="0" marR="0" algn="ctr">
                        <a:lnSpc>
                          <a:spcPct val="107000"/>
                        </a:lnSpc>
                        <a:spcBef>
                          <a:spcPts val="0"/>
                        </a:spcBef>
                        <a:spcAft>
                          <a:spcPts val="0"/>
                        </a:spcAft>
                      </a:pPr>
                      <a:r>
                        <a:rPr lang="en-US" sz="1600" dirty="0">
                          <a:effectLst/>
                        </a:rPr>
                        <a:t>Tech Stack</a:t>
                      </a:r>
                      <a:endParaRPr lang="en-IN" sz="1600" dirty="0">
                        <a:effectLst/>
                        <a:latin typeface="Calibri" panose="020F0502020204030204" pitchFamily="34" charset="0"/>
                        <a:ea typeface="Calibri" panose="020F0502020204030204" pitchFamily="34" charset="0"/>
                        <a:cs typeface="Mangal" panose="02040503050203030202" pitchFamily="18" charset="0"/>
                      </a:endParaRPr>
                    </a:p>
                  </a:txBody>
                  <a:tcPr marL="2659" marR="2659" marT="2659" marB="2659" anchor="ctr"/>
                </a:tc>
                <a:tc>
                  <a:txBody>
                    <a:bodyPr/>
                    <a:lstStyle/>
                    <a:p>
                      <a:pPr marL="0" marR="0" algn="ctr">
                        <a:lnSpc>
                          <a:spcPct val="107000"/>
                        </a:lnSpc>
                        <a:spcBef>
                          <a:spcPts val="0"/>
                        </a:spcBef>
                        <a:spcAft>
                          <a:spcPts val="0"/>
                        </a:spcAft>
                      </a:pPr>
                      <a:r>
                        <a:rPr lang="en-US" sz="1600" dirty="0">
                          <a:effectLst/>
                        </a:rPr>
                        <a:t>Limitations</a:t>
                      </a:r>
                      <a:endParaRPr lang="en-IN" sz="1600" dirty="0">
                        <a:effectLst/>
                        <a:latin typeface="Calibri" panose="020F0502020204030204" pitchFamily="34" charset="0"/>
                        <a:ea typeface="Calibri" panose="020F0502020204030204" pitchFamily="34" charset="0"/>
                        <a:cs typeface="Mangal" panose="02040503050203030202" pitchFamily="18" charset="0"/>
                      </a:endParaRPr>
                    </a:p>
                  </a:txBody>
                  <a:tcPr marL="2659" marR="2659" marT="2659" marB="2659" anchor="ctr"/>
                </a:tc>
                <a:tc>
                  <a:txBody>
                    <a:bodyPr/>
                    <a:lstStyle/>
                    <a:p>
                      <a:pPr marL="0" marR="0" algn="ctr">
                        <a:lnSpc>
                          <a:spcPct val="107000"/>
                        </a:lnSpc>
                        <a:spcBef>
                          <a:spcPts val="0"/>
                        </a:spcBef>
                        <a:spcAft>
                          <a:spcPts val="0"/>
                        </a:spcAft>
                      </a:pPr>
                      <a:r>
                        <a:rPr lang="en-US" sz="1600" dirty="0">
                          <a:effectLst/>
                        </a:rPr>
                        <a:t>Our Improvement</a:t>
                      </a:r>
                      <a:endParaRPr lang="en-IN" sz="1600" dirty="0">
                        <a:effectLst/>
                        <a:latin typeface="Calibri" panose="020F0502020204030204" pitchFamily="34" charset="0"/>
                        <a:ea typeface="Calibri" panose="020F0502020204030204" pitchFamily="34" charset="0"/>
                        <a:cs typeface="Mangal" panose="02040503050203030202" pitchFamily="18" charset="0"/>
                      </a:endParaRPr>
                    </a:p>
                  </a:txBody>
                  <a:tcPr marL="2659" marR="2659" marT="2659" marB="2659" anchor="ctr"/>
                </a:tc>
                <a:extLst>
                  <a:ext uri="{0D108BD9-81ED-4DB2-BD59-A6C34878D82A}">
                    <a16:rowId xmlns:a16="http://schemas.microsoft.com/office/drawing/2014/main" val="953124668"/>
                  </a:ext>
                </a:extLst>
              </a:tr>
              <a:tr h="898363">
                <a:tc>
                  <a:txBody>
                    <a:bodyPr/>
                    <a:lstStyle/>
                    <a:p>
                      <a:pPr marL="0" marR="0" algn="ctr">
                        <a:lnSpc>
                          <a:spcPct val="107000"/>
                        </a:lnSpc>
                        <a:spcBef>
                          <a:spcPts val="0"/>
                        </a:spcBef>
                        <a:spcAft>
                          <a:spcPts val="0"/>
                        </a:spcAft>
                      </a:pPr>
                      <a:r>
                        <a:rPr lang="en-US" sz="800" dirty="0">
                          <a:effectLst/>
                        </a:rPr>
                        <a:t>6</a:t>
                      </a:r>
                      <a:endParaRPr lang="en-IN" sz="800" dirty="0">
                        <a:effectLst/>
                        <a:latin typeface="Calibri" panose="020F0502020204030204" pitchFamily="34" charset="0"/>
                        <a:ea typeface="Calibri" panose="020F0502020204030204" pitchFamily="34" charset="0"/>
                        <a:cs typeface="Mangal" panose="02040503050203030202" pitchFamily="18" charset="0"/>
                      </a:endParaRPr>
                    </a:p>
                  </a:txBody>
                  <a:tcPr marL="2659" marR="2659" marT="2659" marB="2659" anchor="ctr"/>
                </a:tc>
                <a:tc>
                  <a:txBody>
                    <a:bodyPr/>
                    <a:lstStyle/>
                    <a:p>
                      <a:r>
                        <a:rPr lang="en-US" sz="1600" b="1" dirty="0" smtClean="0"/>
                        <a:t>Dragon </a:t>
                      </a:r>
                      <a:r>
                        <a:rPr lang="en-US" sz="1600" b="1" dirty="0"/>
                        <a:t>Fruit Grading with Scalable DNNs (</a:t>
                      </a:r>
                      <a:r>
                        <a:rPr lang="en-US" sz="1600" b="1" dirty="0" err="1"/>
                        <a:t>IDCIoT</a:t>
                      </a:r>
                      <a:r>
                        <a:rPr lang="en-US" sz="1600" b="1" dirty="0"/>
                        <a:t>, 2025)</a:t>
                      </a:r>
                    </a:p>
                  </a:txBody>
                  <a:tcPr anchor="ctr"/>
                </a:tc>
                <a:tc>
                  <a:txBody>
                    <a:bodyPr/>
                    <a:lstStyle/>
                    <a:p>
                      <a:r>
                        <a:rPr lang="en-IN" sz="1600" dirty="0"/>
                        <a:t>Maturity + quality grading</a:t>
                      </a:r>
                    </a:p>
                  </a:txBody>
                  <a:tcPr anchor="ctr"/>
                </a:tc>
                <a:tc>
                  <a:txBody>
                    <a:bodyPr/>
                    <a:lstStyle/>
                    <a:p>
                      <a:r>
                        <a:rPr lang="en-IN" sz="1600" dirty="0" smtClean="0"/>
                        <a:t>Scalable Deep Neural Networks</a:t>
                      </a:r>
                      <a:endParaRPr lang="en-IN" sz="1600" dirty="0"/>
                    </a:p>
                  </a:txBody>
                  <a:tcPr marL="2659" marR="2659" marT="2659" marB="2659" anchor="ctr"/>
                </a:tc>
                <a:tc>
                  <a:txBody>
                    <a:bodyPr/>
                    <a:lstStyle/>
                    <a:p>
                      <a:r>
                        <a:rPr lang="en-US" sz="1600" dirty="0" smtClean="0"/>
                        <a:t>High training cost; limited </a:t>
                      </a:r>
                      <a:r>
                        <a:rPr lang="en-US" sz="1600" dirty="0" err="1" smtClean="0"/>
                        <a:t>explainability</a:t>
                      </a:r>
                      <a:endParaRPr lang="en-IN" sz="1600" dirty="0"/>
                    </a:p>
                  </a:txBody>
                  <a:tcPr marL="2659" marR="2659" marT="2659" marB="2659" anchor="ctr"/>
                </a:tc>
                <a:tc>
                  <a:txBody>
                    <a:bodyPr/>
                    <a:lstStyle/>
                    <a:p>
                      <a:r>
                        <a:rPr lang="en-US" sz="1600" dirty="0" smtClean="0"/>
                        <a:t>Use explainable AI + optimized quantized models</a:t>
                      </a:r>
                      <a:endParaRPr lang="en-IN" sz="1600" dirty="0"/>
                    </a:p>
                  </a:txBody>
                  <a:tcPr marL="2659" marR="2659" marT="2659" marB="2659" anchor="ctr"/>
                </a:tc>
                <a:extLst>
                  <a:ext uri="{0D108BD9-81ED-4DB2-BD59-A6C34878D82A}">
                    <a16:rowId xmlns:a16="http://schemas.microsoft.com/office/drawing/2014/main" val="3462375939"/>
                  </a:ext>
                </a:extLst>
              </a:tr>
              <a:tr h="885532">
                <a:tc>
                  <a:txBody>
                    <a:bodyPr/>
                    <a:lstStyle/>
                    <a:p>
                      <a:pPr marL="0" marR="0" algn="ctr">
                        <a:lnSpc>
                          <a:spcPct val="107000"/>
                        </a:lnSpc>
                        <a:spcBef>
                          <a:spcPts val="0"/>
                        </a:spcBef>
                        <a:spcAft>
                          <a:spcPts val="0"/>
                        </a:spcAft>
                      </a:pPr>
                      <a:r>
                        <a:rPr lang="en-US" sz="800">
                          <a:effectLst/>
                        </a:rPr>
                        <a:t>7</a:t>
                      </a:r>
                      <a:endParaRPr lang="en-IN" sz="800">
                        <a:effectLst/>
                        <a:latin typeface="Calibri" panose="020F0502020204030204" pitchFamily="34" charset="0"/>
                        <a:ea typeface="Calibri" panose="020F0502020204030204" pitchFamily="34" charset="0"/>
                        <a:cs typeface="Mangal" panose="02040503050203030202" pitchFamily="18" charset="0"/>
                      </a:endParaRPr>
                    </a:p>
                  </a:txBody>
                  <a:tcPr marL="2659" marR="2659" marT="2659" marB="2659" anchor="ctr"/>
                </a:tc>
                <a:tc>
                  <a:txBody>
                    <a:bodyPr/>
                    <a:lstStyle/>
                    <a:p>
                      <a:r>
                        <a:rPr lang="en-US" sz="1600" b="1" dirty="0" smtClean="0"/>
                        <a:t>CNN Comparison for Muskmelon Grading (ICICKE, 2025)</a:t>
                      </a:r>
                      <a:endParaRPr lang="en-IN" sz="1600" b="1" dirty="0"/>
                    </a:p>
                  </a:txBody>
                  <a:tcPr marL="2659" marR="2659" marT="2659" marB="2659" anchor="ctr"/>
                </a:tc>
                <a:tc>
                  <a:txBody>
                    <a:bodyPr/>
                    <a:lstStyle/>
                    <a:p>
                      <a:r>
                        <a:rPr lang="en-US" sz="1600" dirty="0" smtClean="0"/>
                        <a:t>Compare CNN architectures for fruit grading</a:t>
                      </a:r>
                      <a:endParaRPr lang="en-IN" sz="1600" dirty="0"/>
                    </a:p>
                  </a:txBody>
                  <a:tcPr marL="2659" marR="2659" marT="2659" marB="2659" anchor="ctr"/>
                </a:tc>
                <a:tc>
                  <a:txBody>
                    <a:bodyPr/>
                    <a:lstStyle/>
                    <a:p>
                      <a:r>
                        <a:rPr lang="en-IN" sz="1600" dirty="0" smtClean="0"/>
                        <a:t>VGG, </a:t>
                      </a:r>
                      <a:r>
                        <a:rPr lang="en-IN" sz="1600" dirty="0" err="1" smtClean="0"/>
                        <a:t>ResNet</a:t>
                      </a:r>
                      <a:r>
                        <a:rPr lang="en-IN" sz="1600" dirty="0" smtClean="0"/>
                        <a:t>, </a:t>
                      </a:r>
                      <a:r>
                        <a:rPr lang="en-IN" sz="1600" dirty="0" err="1" smtClean="0"/>
                        <a:t>DenseNet</a:t>
                      </a:r>
                      <a:endParaRPr lang="en-IN" sz="1600" dirty="0"/>
                    </a:p>
                  </a:txBody>
                  <a:tcPr marL="2659" marR="2659" marT="2659" marB="2659" anchor="ctr"/>
                </a:tc>
                <a:tc>
                  <a:txBody>
                    <a:bodyPr/>
                    <a:lstStyle/>
                    <a:p>
                      <a:r>
                        <a:rPr lang="en-US" sz="1600" dirty="0" smtClean="0"/>
                        <a:t>Only comparison; no end-to-end system</a:t>
                      </a:r>
                      <a:endParaRPr lang="en-IN" sz="1600" dirty="0"/>
                    </a:p>
                  </a:txBody>
                  <a:tcPr marL="2659" marR="2659" marT="2659" marB="2659" anchor="ctr"/>
                </a:tc>
                <a:tc>
                  <a:txBody>
                    <a:bodyPr/>
                    <a:lstStyle/>
                    <a:p>
                      <a:r>
                        <a:rPr lang="en-US" sz="1600" dirty="0" smtClean="0"/>
                        <a:t>Build full ecosystem: AI grading + QR traceability + farmer app</a:t>
                      </a:r>
                      <a:endParaRPr lang="en-IN" sz="1600" dirty="0"/>
                    </a:p>
                  </a:txBody>
                  <a:tcPr marL="2659" marR="2659" marT="2659" marB="2659" anchor="ctr"/>
                </a:tc>
                <a:extLst>
                  <a:ext uri="{0D108BD9-81ED-4DB2-BD59-A6C34878D82A}">
                    <a16:rowId xmlns:a16="http://schemas.microsoft.com/office/drawing/2014/main" val="2603881366"/>
                  </a:ext>
                </a:extLst>
              </a:tr>
              <a:tr h="885532">
                <a:tc>
                  <a:txBody>
                    <a:bodyPr/>
                    <a:lstStyle/>
                    <a:p>
                      <a:pPr marL="0" marR="0" algn="ctr">
                        <a:lnSpc>
                          <a:spcPct val="107000"/>
                        </a:lnSpc>
                        <a:spcBef>
                          <a:spcPts val="0"/>
                        </a:spcBef>
                        <a:spcAft>
                          <a:spcPts val="0"/>
                        </a:spcAft>
                      </a:pPr>
                      <a:r>
                        <a:rPr lang="en-US" sz="800">
                          <a:effectLst/>
                        </a:rPr>
                        <a:t>8</a:t>
                      </a:r>
                      <a:endParaRPr lang="en-IN" sz="800">
                        <a:effectLst/>
                        <a:latin typeface="Calibri" panose="020F0502020204030204" pitchFamily="34" charset="0"/>
                        <a:ea typeface="Calibri" panose="020F0502020204030204" pitchFamily="34" charset="0"/>
                        <a:cs typeface="Mangal" panose="02040503050203030202" pitchFamily="18" charset="0"/>
                      </a:endParaRPr>
                    </a:p>
                  </a:txBody>
                  <a:tcPr marL="2659" marR="2659" marT="2659" marB="2659" anchor="ctr"/>
                </a:tc>
                <a:tc>
                  <a:txBody>
                    <a:bodyPr/>
                    <a:lstStyle/>
                    <a:p>
                      <a:r>
                        <a:rPr lang="en-US" sz="1600" b="1" dirty="0" err="1" smtClean="0"/>
                        <a:t>FruitQ-GradeX</a:t>
                      </a:r>
                      <a:r>
                        <a:rPr lang="en-US" sz="1600" b="1" dirty="0" smtClean="0"/>
                        <a:t>: Explainable Grading (ICRITO, 2025)</a:t>
                      </a:r>
                      <a:endParaRPr lang="en-IN" sz="1600" b="1" dirty="0"/>
                    </a:p>
                  </a:txBody>
                  <a:tcPr marL="2659" marR="2659" marT="2659" marB="2659" anchor="ctr"/>
                </a:tc>
                <a:tc>
                  <a:txBody>
                    <a:bodyPr/>
                    <a:lstStyle/>
                    <a:p>
                      <a:r>
                        <a:rPr lang="en-US" sz="1600" dirty="0" smtClean="0"/>
                        <a:t>Explainable deep learning fruit grading</a:t>
                      </a:r>
                      <a:endParaRPr lang="en-IN" sz="1600" dirty="0"/>
                    </a:p>
                  </a:txBody>
                  <a:tcPr marL="2659" marR="2659" marT="2659" marB="2659" anchor="ctr"/>
                </a:tc>
                <a:tc>
                  <a:txBody>
                    <a:bodyPr/>
                    <a:lstStyle/>
                    <a:p>
                      <a:r>
                        <a:rPr lang="en-IN" sz="1600" dirty="0" smtClean="0"/>
                        <a:t>XAI + CNN</a:t>
                      </a:r>
                      <a:endParaRPr lang="en-IN" sz="1600" dirty="0"/>
                    </a:p>
                  </a:txBody>
                  <a:tcPr marL="2659" marR="2659" marT="2659" marB="2659" anchor="ctr"/>
                </a:tc>
                <a:tc>
                  <a:txBody>
                    <a:bodyPr/>
                    <a:lstStyle/>
                    <a:p>
                      <a:r>
                        <a:rPr lang="en-US" sz="1600" dirty="0" smtClean="0"/>
                        <a:t>Slower inference due to </a:t>
                      </a:r>
                      <a:r>
                        <a:rPr lang="en-US" sz="1600" dirty="0" err="1" smtClean="0"/>
                        <a:t>explainability</a:t>
                      </a:r>
                      <a:r>
                        <a:rPr lang="en-US" sz="1600" dirty="0" smtClean="0"/>
                        <a:t> layers</a:t>
                      </a:r>
                      <a:endParaRPr lang="en-IN" sz="1600" dirty="0"/>
                    </a:p>
                  </a:txBody>
                  <a:tcPr marL="2659" marR="2659" marT="2659" marB="2659" anchor="ctr"/>
                </a:tc>
                <a:tc>
                  <a:txBody>
                    <a:bodyPr/>
                    <a:lstStyle/>
                    <a:p>
                      <a:r>
                        <a:rPr lang="en-US" sz="1600" dirty="0" smtClean="0"/>
                        <a:t>Provide optional </a:t>
                      </a:r>
                      <a:r>
                        <a:rPr lang="en-US" sz="1600" dirty="0" err="1" smtClean="0"/>
                        <a:t>explainability</a:t>
                      </a:r>
                      <a:r>
                        <a:rPr lang="en-US" sz="1600" dirty="0" smtClean="0"/>
                        <a:t> mode + faster real-time mode</a:t>
                      </a:r>
                      <a:endParaRPr lang="en-IN" sz="1600" dirty="0"/>
                    </a:p>
                  </a:txBody>
                  <a:tcPr marL="2659" marR="2659" marT="2659" marB="2659" anchor="ctr"/>
                </a:tc>
                <a:extLst>
                  <a:ext uri="{0D108BD9-81ED-4DB2-BD59-A6C34878D82A}">
                    <a16:rowId xmlns:a16="http://schemas.microsoft.com/office/drawing/2014/main" val="473565422"/>
                  </a:ext>
                </a:extLst>
              </a:tr>
              <a:tr h="885532">
                <a:tc>
                  <a:txBody>
                    <a:bodyPr/>
                    <a:lstStyle/>
                    <a:p>
                      <a:pPr marL="0" marR="0" algn="ctr">
                        <a:lnSpc>
                          <a:spcPct val="107000"/>
                        </a:lnSpc>
                        <a:spcBef>
                          <a:spcPts val="0"/>
                        </a:spcBef>
                        <a:spcAft>
                          <a:spcPts val="0"/>
                        </a:spcAft>
                      </a:pPr>
                      <a:r>
                        <a:rPr lang="en-US" sz="800">
                          <a:effectLst/>
                        </a:rPr>
                        <a:t>9</a:t>
                      </a:r>
                      <a:endParaRPr lang="en-IN" sz="800">
                        <a:effectLst/>
                        <a:latin typeface="Calibri" panose="020F0502020204030204" pitchFamily="34" charset="0"/>
                        <a:ea typeface="Calibri" panose="020F0502020204030204" pitchFamily="34" charset="0"/>
                        <a:cs typeface="Mangal" panose="02040503050203030202" pitchFamily="18" charset="0"/>
                      </a:endParaRPr>
                    </a:p>
                  </a:txBody>
                  <a:tcPr marL="2659" marR="2659" marT="2659" marB="2659" anchor="ctr"/>
                </a:tc>
                <a:tc>
                  <a:txBody>
                    <a:bodyPr/>
                    <a:lstStyle/>
                    <a:p>
                      <a:r>
                        <a:rPr lang="en-US" sz="1600" b="1" dirty="0" smtClean="0"/>
                        <a:t>Fruit Quality Assessment with </a:t>
                      </a:r>
                      <a:r>
                        <a:rPr lang="en-US" sz="1600" b="1" dirty="0" err="1" smtClean="0"/>
                        <a:t>DenseNet</a:t>
                      </a:r>
                      <a:r>
                        <a:rPr lang="en-US" sz="1600" b="1" dirty="0" smtClean="0"/>
                        <a:t> (ICECE, 2022)</a:t>
                      </a:r>
                      <a:endParaRPr lang="en-IN" sz="1600" b="1" dirty="0"/>
                    </a:p>
                  </a:txBody>
                  <a:tcPr marL="2659" marR="2659" marT="2659" marB="2659" anchor="ctr"/>
                </a:tc>
                <a:tc>
                  <a:txBody>
                    <a:bodyPr/>
                    <a:lstStyle/>
                    <a:p>
                      <a:r>
                        <a:rPr lang="en-IN" sz="1600" dirty="0" smtClean="0"/>
                        <a:t>CNN-based quality grading</a:t>
                      </a:r>
                      <a:endParaRPr lang="en-IN" sz="1600" dirty="0"/>
                    </a:p>
                  </a:txBody>
                  <a:tcPr marL="2659" marR="2659" marT="2659" marB="2659" anchor="ctr"/>
                </a:tc>
                <a:tc>
                  <a:txBody>
                    <a:bodyPr/>
                    <a:lstStyle/>
                    <a:p>
                      <a:r>
                        <a:rPr lang="en-IN" sz="1600" dirty="0" err="1" smtClean="0"/>
                        <a:t>DenseNet</a:t>
                      </a:r>
                      <a:endParaRPr lang="en-IN" sz="1600" dirty="0"/>
                    </a:p>
                  </a:txBody>
                  <a:tcPr marL="2659" marR="2659" marT="2659" marB="2659" anchor="ctr"/>
                </a:tc>
                <a:tc>
                  <a:txBody>
                    <a:bodyPr/>
                    <a:lstStyle/>
                    <a:p>
                      <a:r>
                        <a:rPr lang="en-US" sz="1600" dirty="0" smtClean="0"/>
                        <a:t>Heavy model unsuitable for edge devices</a:t>
                      </a:r>
                      <a:endParaRPr lang="en-IN" sz="1600" dirty="0"/>
                    </a:p>
                  </a:txBody>
                  <a:tcPr marL="2659" marR="2659" marT="2659" marB="2659" anchor="ctr"/>
                </a:tc>
                <a:tc>
                  <a:txBody>
                    <a:bodyPr/>
                    <a:lstStyle/>
                    <a:p>
                      <a:r>
                        <a:rPr lang="en-IN" sz="1600" dirty="0" smtClean="0"/>
                        <a:t>Use </a:t>
                      </a:r>
                      <a:r>
                        <a:rPr lang="en-IN" sz="1600" dirty="0" err="1" smtClean="0"/>
                        <a:t>MobileNet</a:t>
                      </a:r>
                      <a:r>
                        <a:rPr lang="en-IN" sz="1600" dirty="0" smtClean="0"/>
                        <a:t>/</a:t>
                      </a:r>
                      <a:r>
                        <a:rPr lang="en-IN" sz="1600" dirty="0" err="1" smtClean="0"/>
                        <a:t>EfficientNet</a:t>
                      </a:r>
                      <a:r>
                        <a:rPr lang="en-IN" sz="1600" dirty="0" smtClean="0"/>
                        <a:t> for mobile-friendly grading</a:t>
                      </a:r>
                      <a:endParaRPr lang="en-IN" sz="1600" dirty="0"/>
                    </a:p>
                  </a:txBody>
                  <a:tcPr marL="2659" marR="2659" marT="2659" marB="2659" anchor="ctr"/>
                </a:tc>
                <a:extLst>
                  <a:ext uri="{0D108BD9-81ED-4DB2-BD59-A6C34878D82A}">
                    <a16:rowId xmlns:a16="http://schemas.microsoft.com/office/drawing/2014/main" val="1430512931"/>
                  </a:ext>
                </a:extLst>
              </a:tr>
              <a:tr h="1293765">
                <a:tc>
                  <a:txBody>
                    <a:bodyPr/>
                    <a:lstStyle/>
                    <a:p>
                      <a:pPr marL="0" marR="0" algn="ctr">
                        <a:lnSpc>
                          <a:spcPct val="107000"/>
                        </a:lnSpc>
                        <a:spcBef>
                          <a:spcPts val="0"/>
                        </a:spcBef>
                        <a:spcAft>
                          <a:spcPts val="0"/>
                        </a:spcAft>
                      </a:pPr>
                      <a:r>
                        <a:rPr lang="en-US" sz="800">
                          <a:effectLst/>
                        </a:rPr>
                        <a:t>10</a:t>
                      </a:r>
                      <a:endParaRPr lang="en-IN" sz="800">
                        <a:effectLst/>
                        <a:latin typeface="Calibri" panose="020F0502020204030204" pitchFamily="34" charset="0"/>
                        <a:ea typeface="Calibri" panose="020F0502020204030204" pitchFamily="34" charset="0"/>
                        <a:cs typeface="Mangal" panose="02040503050203030202" pitchFamily="18" charset="0"/>
                      </a:endParaRPr>
                    </a:p>
                  </a:txBody>
                  <a:tcPr marL="2659" marR="2659" marT="2659" marB="2659" anchor="ctr"/>
                </a:tc>
                <a:tc>
                  <a:txBody>
                    <a:bodyPr/>
                    <a:lstStyle/>
                    <a:p>
                      <a:r>
                        <a:rPr lang="en-US" sz="1600" b="1" dirty="0" smtClean="0"/>
                        <a:t>Mango </a:t>
                      </a:r>
                      <a:r>
                        <a:rPr lang="en-US" sz="1600" b="1" dirty="0"/>
                        <a:t>Defect Detection Using MobileNetV2 (INNOCOMP, 2024)</a:t>
                      </a:r>
                    </a:p>
                  </a:txBody>
                  <a:tcPr anchor="ctr"/>
                </a:tc>
                <a:tc>
                  <a:txBody>
                    <a:bodyPr/>
                    <a:lstStyle/>
                    <a:p>
                      <a:r>
                        <a:rPr lang="en-US" sz="1600" dirty="0" smtClean="0"/>
                        <a:t>Detect defects using compact model</a:t>
                      </a:r>
                      <a:endParaRPr lang="en-IN" sz="1600" dirty="0"/>
                    </a:p>
                  </a:txBody>
                  <a:tcPr marL="2659" marR="2659" marT="2659" marB="2659" anchor="ctr"/>
                </a:tc>
                <a:tc>
                  <a:txBody>
                    <a:bodyPr/>
                    <a:lstStyle/>
                    <a:p>
                      <a:r>
                        <a:rPr lang="en-IN" sz="1600" dirty="0" smtClean="0"/>
                        <a:t>MobileNetV2</a:t>
                      </a:r>
                      <a:endParaRPr lang="en-IN" sz="1600" dirty="0"/>
                    </a:p>
                  </a:txBody>
                  <a:tcPr marL="2659" marR="2659" marT="2659" marB="2659" anchor="ctr"/>
                </a:tc>
                <a:tc>
                  <a:txBody>
                    <a:bodyPr/>
                    <a:lstStyle/>
                    <a:p>
                      <a:r>
                        <a:rPr lang="en-US" sz="1600" dirty="0" smtClean="0"/>
                        <a:t>Works only for defect detection, not full grading</a:t>
                      </a:r>
                      <a:endParaRPr lang="en-IN" sz="1600" dirty="0"/>
                    </a:p>
                  </a:txBody>
                  <a:tcPr marL="2659" marR="2659" marT="2659" marB="2659" anchor="ctr"/>
                </a:tc>
                <a:tc>
                  <a:txBody>
                    <a:bodyPr/>
                    <a:lstStyle/>
                    <a:p>
                      <a:r>
                        <a:rPr lang="en-US" sz="1600" dirty="0" smtClean="0"/>
                        <a:t>Multi-class grading: size, color, defects, maturity + </a:t>
                      </a:r>
                      <a:r>
                        <a:rPr lang="en-US" sz="1600" dirty="0" err="1" smtClean="0"/>
                        <a:t>blockchain</a:t>
                      </a:r>
                      <a:r>
                        <a:rPr lang="en-US" sz="1600" dirty="0" smtClean="0"/>
                        <a:t> storage</a:t>
                      </a:r>
                      <a:endParaRPr lang="en-IN" sz="1600" dirty="0"/>
                    </a:p>
                  </a:txBody>
                  <a:tcPr marL="2659" marR="2659" marT="2659" marB="2659" anchor="ctr"/>
                </a:tc>
                <a:extLst>
                  <a:ext uri="{0D108BD9-81ED-4DB2-BD59-A6C34878D82A}">
                    <a16:rowId xmlns:a16="http://schemas.microsoft.com/office/drawing/2014/main" val="2567177598"/>
                  </a:ext>
                </a:extLst>
              </a:tr>
            </a:tbl>
          </a:graphicData>
        </a:graphic>
      </p:graphicFrame>
    </p:spTree>
    <p:extLst>
      <p:ext uri="{BB962C8B-B14F-4D97-AF65-F5344CB8AC3E}">
        <p14:creationId xmlns:p14="http://schemas.microsoft.com/office/powerpoint/2010/main" val="4009594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7391400" y="6477000"/>
            <a:ext cx="1600200" cy="195263"/>
          </a:xfrm>
        </p:spPr>
        <p:txBody>
          <a:bodyPr/>
          <a:lstStyle/>
          <a:p>
            <a:pPr>
              <a:defRPr/>
            </a:pPr>
            <a:fld id="{02246FD1-0723-4B2F-9706-10282F2BA698}" type="slidenum">
              <a:rPr lang="en-US" smtClean="0">
                <a:latin typeface="Verdana" panose="020B0604030504040204" pitchFamily="34" charset="0"/>
                <a:ea typeface="Verdana" panose="020B0604030504040204" pitchFamily="34" charset="0"/>
              </a:rPr>
              <a:pPr>
                <a:defRPr/>
              </a:pPr>
              <a:t>7</a:t>
            </a:fld>
            <a:r>
              <a:rPr lang="en-US" dirty="0">
                <a:latin typeface="Verdana" panose="020B0604030504040204" pitchFamily="34" charset="0"/>
                <a:ea typeface="Verdana" panose="020B0604030504040204" pitchFamily="34" charset="0"/>
              </a:rPr>
              <a:t> </a:t>
            </a:r>
          </a:p>
        </p:txBody>
      </p:sp>
      <p:sp>
        <p:nvSpPr>
          <p:cNvPr id="18" name="Rectangle 3"/>
          <p:cNvSpPr txBox="1">
            <a:spLocks noChangeArrowheads="1"/>
          </p:cNvSpPr>
          <p:nvPr/>
        </p:nvSpPr>
        <p:spPr>
          <a:xfrm>
            <a:off x="1543050" y="3371850"/>
            <a:ext cx="6286500" cy="342900"/>
          </a:xfrm>
          <a:prstGeom prst="rect">
            <a:avLst/>
          </a:prstGeom>
        </p:spPr>
        <p:txBody>
          <a:bodyPr/>
          <a:lstStyle/>
          <a:p>
            <a:pPr algn="ctr" eaLnBrk="0" fontAlgn="base" hangingPunct="0">
              <a:spcBef>
                <a:spcPct val="20000"/>
              </a:spcBef>
              <a:spcAft>
                <a:spcPct val="20000"/>
              </a:spcAft>
              <a:defRPr/>
            </a:pPr>
            <a:endParaRPr lang="en-US" sz="3600" dirty="0">
              <a:sym typeface="Symbol" pitchFamily="18" charset="2"/>
            </a:endParaRPr>
          </a:p>
        </p:txBody>
      </p:sp>
      <p:sp>
        <p:nvSpPr>
          <p:cNvPr id="3" name="Title 2">
            <a:extLst>
              <a:ext uri="{FF2B5EF4-FFF2-40B4-BE49-F238E27FC236}">
                <a16:creationId xmlns:a16="http://schemas.microsoft.com/office/drawing/2014/main" id="{7CBEB6BF-435C-4050-8916-C2A3F4028ED5}"/>
              </a:ext>
            </a:extLst>
          </p:cNvPr>
          <p:cNvSpPr>
            <a:spLocks noGrp="1"/>
          </p:cNvSpPr>
          <p:nvPr>
            <p:ph type="title"/>
          </p:nvPr>
        </p:nvSpPr>
        <p:spPr/>
        <p:txBody>
          <a:bodyPr>
            <a:normAutofit/>
          </a:bodyPr>
          <a:lstStyle/>
          <a:p>
            <a:r>
              <a:rPr lang="en-US" sz="2800" dirty="0"/>
              <a:t>Problem Statement</a:t>
            </a:r>
            <a:endParaRPr lang="en-IN" sz="2800" dirty="0">
              <a:latin typeface="Verdana" panose="020B0604030504040204" pitchFamily="34" charset="0"/>
              <a:ea typeface="Verdana" panose="020B0604030504040204" pitchFamily="34" charset="0"/>
            </a:endParaRPr>
          </a:p>
        </p:txBody>
      </p:sp>
      <p:sp>
        <p:nvSpPr>
          <p:cNvPr id="2" name="TextBox 1">
            <a:extLst>
              <a:ext uri="{FF2B5EF4-FFF2-40B4-BE49-F238E27FC236}">
                <a16:creationId xmlns:a16="http://schemas.microsoft.com/office/drawing/2014/main" id="{747CB3E5-A89B-A339-E48F-7A39BA50CD1B}"/>
              </a:ext>
            </a:extLst>
          </p:cNvPr>
          <p:cNvSpPr txBox="1"/>
          <p:nvPr/>
        </p:nvSpPr>
        <p:spPr>
          <a:xfrm>
            <a:off x="933450" y="2828835"/>
            <a:ext cx="7277100" cy="1200329"/>
          </a:xfrm>
          <a:prstGeom prst="rect">
            <a:avLst/>
          </a:prstGeom>
          <a:noFill/>
        </p:spPr>
        <p:txBody>
          <a:bodyPr wrap="square" rtlCol="0">
            <a:spAutoFit/>
          </a:bodyPr>
          <a:lstStyle/>
          <a:p>
            <a:pPr algn="ctr"/>
            <a:r>
              <a:rPr lang="en-US" sz="2400" b="1" dirty="0">
                <a:latin typeface="Verdana" panose="020B0604030504040204" pitchFamily="34" charset="0"/>
                <a:ea typeface="Verdana" panose="020B0604030504040204" pitchFamily="34" charset="0"/>
              </a:rPr>
              <a:t>AI and Blockchain-Based System for Visual Quality Grading and Traceability of </a:t>
            </a:r>
            <a:r>
              <a:rPr lang="en-US" sz="2400" b="1" dirty="0" smtClean="0">
                <a:latin typeface="Verdana" panose="020B0604030504040204" pitchFamily="34" charset="0"/>
                <a:ea typeface="Verdana" panose="020B0604030504040204" pitchFamily="34" charset="0"/>
              </a:rPr>
              <a:t>Apple </a:t>
            </a:r>
            <a:r>
              <a:rPr lang="en-US" sz="2400" b="1" dirty="0">
                <a:latin typeface="Verdana" panose="020B0604030504040204" pitchFamily="34" charset="0"/>
                <a:ea typeface="Verdana" panose="020B0604030504040204" pitchFamily="34" charset="0"/>
              </a:rPr>
              <a:t>in Supply Chains</a:t>
            </a:r>
            <a:endParaRPr lang="en-IN" sz="2400" b="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092007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7391400" y="6477000"/>
            <a:ext cx="1600200" cy="195263"/>
          </a:xfrm>
        </p:spPr>
        <p:txBody>
          <a:bodyPr/>
          <a:lstStyle/>
          <a:p>
            <a:pPr>
              <a:defRPr/>
            </a:pPr>
            <a:fld id="{02246FD1-0723-4B2F-9706-10282F2BA698}" type="slidenum">
              <a:rPr lang="en-US" smtClean="0">
                <a:latin typeface="Verdana" panose="020B0604030504040204" pitchFamily="34" charset="0"/>
                <a:ea typeface="Verdana" panose="020B0604030504040204" pitchFamily="34" charset="0"/>
              </a:rPr>
              <a:pPr>
                <a:defRPr/>
              </a:pPr>
              <a:t>8</a:t>
            </a:fld>
            <a:r>
              <a:rPr lang="en-US" dirty="0">
                <a:latin typeface="Verdana" panose="020B0604030504040204" pitchFamily="34" charset="0"/>
                <a:ea typeface="Verdana" panose="020B0604030504040204" pitchFamily="34" charset="0"/>
              </a:rPr>
              <a:t> </a:t>
            </a:r>
          </a:p>
        </p:txBody>
      </p:sp>
      <p:sp>
        <p:nvSpPr>
          <p:cNvPr id="18" name="Rectangle 3"/>
          <p:cNvSpPr txBox="1">
            <a:spLocks noChangeArrowheads="1"/>
          </p:cNvSpPr>
          <p:nvPr/>
        </p:nvSpPr>
        <p:spPr>
          <a:xfrm>
            <a:off x="1543050" y="3371850"/>
            <a:ext cx="6286500" cy="342900"/>
          </a:xfrm>
          <a:prstGeom prst="rect">
            <a:avLst/>
          </a:prstGeom>
        </p:spPr>
        <p:txBody>
          <a:bodyPr/>
          <a:lstStyle/>
          <a:p>
            <a:pPr algn="ctr" eaLnBrk="0" fontAlgn="base" hangingPunct="0">
              <a:spcBef>
                <a:spcPct val="20000"/>
              </a:spcBef>
              <a:spcAft>
                <a:spcPct val="20000"/>
              </a:spcAft>
              <a:defRPr/>
            </a:pPr>
            <a:endParaRPr lang="en-US" sz="3600" dirty="0">
              <a:sym typeface="Symbol" pitchFamily="18" charset="2"/>
            </a:endParaRPr>
          </a:p>
        </p:txBody>
      </p:sp>
      <p:sp>
        <p:nvSpPr>
          <p:cNvPr id="3" name="Title 2">
            <a:extLst>
              <a:ext uri="{FF2B5EF4-FFF2-40B4-BE49-F238E27FC236}">
                <a16:creationId xmlns:a16="http://schemas.microsoft.com/office/drawing/2014/main" id="{7CBEB6BF-435C-4050-8916-C2A3F4028ED5}"/>
              </a:ext>
            </a:extLst>
          </p:cNvPr>
          <p:cNvSpPr>
            <a:spLocks noGrp="1"/>
          </p:cNvSpPr>
          <p:nvPr>
            <p:ph type="title"/>
          </p:nvPr>
        </p:nvSpPr>
        <p:spPr/>
        <p:txBody>
          <a:bodyPr>
            <a:normAutofit/>
          </a:bodyPr>
          <a:lstStyle/>
          <a:p>
            <a:r>
              <a:rPr lang="en-US" sz="2800" dirty="0"/>
              <a:t>Objectives</a:t>
            </a:r>
            <a:endParaRPr lang="en-IN" sz="2800" dirty="0">
              <a:latin typeface="Verdana" panose="020B0604030504040204" pitchFamily="34" charset="0"/>
              <a:ea typeface="Verdana" panose="020B0604030504040204" pitchFamily="34" charset="0"/>
            </a:endParaRPr>
          </a:p>
        </p:txBody>
      </p:sp>
      <p:sp>
        <p:nvSpPr>
          <p:cNvPr id="2" name="TextBox 1">
            <a:extLst>
              <a:ext uri="{FF2B5EF4-FFF2-40B4-BE49-F238E27FC236}">
                <a16:creationId xmlns:a16="http://schemas.microsoft.com/office/drawing/2014/main" id="{032A9E1C-6552-FF1E-0EE8-C9C815E94066}"/>
              </a:ext>
            </a:extLst>
          </p:cNvPr>
          <p:cNvSpPr txBox="1"/>
          <p:nvPr/>
        </p:nvSpPr>
        <p:spPr>
          <a:xfrm rot="10800000">
            <a:off x="1821180" y="4469190"/>
            <a:ext cx="6522720" cy="45719"/>
          </a:xfrm>
          <a:prstGeom prst="rect">
            <a:avLst/>
          </a:prstGeom>
          <a:noFill/>
        </p:spPr>
        <p:txBody>
          <a:bodyPr wrap="square" rtlCol="0">
            <a:spAutoFit/>
          </a:bodyPr>
          <a:lstStyle/>
          <a:p>
            <a:pPr marL="285750" indent="-285750">
              <a:buFont typeface="Arial" panose="020B0604020202020204" pitchFamily="34" charset="0"/>
              <a:buChar char="•"/>
            </a:pPr>
            <a:endParaRPr lang="en-IN" sz="2000" dirty="0">
              <a:latin typeface="Verdana" panose="020B0604030504040204" pitchFamily="34" charset="0"/>
              <a:ea typeface="Verdana" panose="020B0604030504040204" pitchFamily="34" charset="0"/>
            </a:endParaRPr>
          </a:p>
        </p:txBody>
      </p:sp>
      <p:sp>
        <p:nvSpPr>
          <p:cNvPr id="7" name="Rectangle 3"/>
          <p:cNvSpPr>
            <a:spLocks noChangeArrowheads="1"/>
          </p:cNvSpPr>
          <p:nvPr/>
        </p:nvSpPr>
        <p:spPr bwMode="auto">
          <a:xfrm rot="10800000" flipV="1">
            <a:off x="550390" y="1360259"/>
            <a:ext cx="798576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eaLnBrk="0" fontAlgn="base" hangingPunct="0">
              <a:spcBef>
                <a:spcPct val="0"/>
              </a:spcBef>
              <a:spcAft>
                <a:spcPct val="0"/>
              </a:spcAft>
              <a:buFont typeface="Arial" panose="020B0604020202020204" pitchFamily="34" charset="0"/>
              <a:buChar char="•"/>
            </a:pPr>
            <a:r>
              <a:rPr lang="en-US" altLang="en-US" sz="2000" dirty="0" smtClean="0">
                <a:latin typeface="Verdana" panose="020B0604030504040204" pitchFamily="34" charset="0"/>
                <a:ea typeface="Verdana" panose="020B0604030504040204" pitchFamily="34" charset="0"/>
              </a:rPr>
              <a:t>To </a:t>
            </a:r>
            <a:r>
              <a:rPr lang="en-US" altLang="en-US" sz="2000" dirty="0">
                <a:latin typeface="Verdana" panose="020B0604030504040204" pitchFamily="34" charset="0"/>
                <a:ea typeface="Verdana" panose="020B0604030504040204" pitchFamily="34" charset="0"/>
              </a:rPr>
              <a:t>develop an automatic fruit grading system (focused on apples) using computer vision and machine learning to assess quality based on color, size, texture, and defects</a:t>
            </a:r>
            <a:r>
              <a:rPr lang="en-US" altLang="en-US" sz="2000" dirty="0" smtClean="0">
                <a:latin typeface="Verdana" panose="020B0604030504040204" pitchFamily="34" charset="0"/>
                <a:ea typeface="Verdana" panose="020B0604030504040204" pitchFamily="34" charset="0"/>
              </a:rPr>
              <a:t>.</a:t>
            </a:r>
          </a:p>
          <a:p>
            <a:pPr marL="342900" lvl="0" indent="-342900" algn="just" eaLnBrk="0" fontAlgn="base" hangingPunct="0">
              <a:spcBef>
                <a:spcPct val="0"/>
              </a:spcBef>
              <a:spcAft>
                <a:spcPct val="0"/>
              </a:spcAft>
              <a:buFont typeface="Arial" panose="020B0604020202020204" pitchFamily="34" charset="0"/>
              <a:buChar char="•"/>
            </a:pPr>
            <a:endParaRPr lang="en-US" altLang="en-US" sz="2000" dirty="0" smtClean="0">
              <a:latin typeface="Verdana" panose="020B0604030504040204" pitchFamily="34" charset="0"/>
              <a:ea typeface="Verdana" panose="020B0604030504040204" pitchFamily="34"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000" dirty="0" smtClean="0">
                <a:latin typeface="Verdana" panose="020B0604030504040204" pitchFamily="34" charset="0"/>
                <a:ea typeface="Verdana" panose="020B0604030504040204" pitchFamily="34" charset="0"/>
              </a:rPr>
              <a:t>To </a:t>
            </a:r>
            <a:r>
              <a:rPr lang="en-US" altLang="en-US" sz="2000" dirty="0">
                <a:latin typeface="Verdana" panose="020B0604030504040204" pitchFamily="34" charset="0"/>
                <a:ea typeface="Verdana" panose="020B0604030504040204" pitchFamily="34" charset="0"/>
              </a:rPr>
              <a:t>enhance grading accuracy through multi-level verification using CNN-based image analysis combined with domain-specific features</a:t>
            </a:r>
            <a:r>
              <a:rPr lang="en-US" altLang="en-US" sz="2000" dirty="0" smtClean="0">
                <a:latin typeface="Verdana" panose="020B0604030504040204" pitchFamily="34" charset="0"/>
                <a:ea typeface="Verdana" panose="020B0604030504040204" pitchFamily="34" charset="0"/>
              </a:rPr>
              <a:t>.</a:t>
            </a:r>
          </a:p>
          <a:p>
            <a:pPr marL="342900" lvl="0" indent="-342900" algn="just" eaLnBrk="0" fontAlgn="base" hangingPunct="0">
              <a:spcBef>
                <a:spcPct val="0"/>
              </a:spcBef>
              <a:spcAft>
                <a:spcPct val="0"/>
              </a:spcAft>
              <a:buFont typeface="Arial" panose="020B0604020202020204" pitchFamily="34" charset="0"/>
              <a:buChar char="•"/>
            </a:pPr>
            <a:endParaRPr lang="en-US" altLang="en-US" sz="2000" dirty="0" smtClean="0">
              <a:latin typeface="Verdana" panose="020B0604030504040204" pitchFamily="34" charset="0"/>
              <a:ea typeface="Verdana" panose="020B0604030504040204" pitchFamily="34"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000" dirty="0" smtClean="0">
                <a:latin typeface="Verdana" panose="020B0604030504040204" pitchFamily="34" charset="0"/>
                <a:ea typeface="Verdana" panose="020B0604030504040204" pitchFamily="34" charset="0"/>
              </a:rPr>
              <a:t>To </a:t>
            </a:r>
            <a:r>
              <a:rPr lang="en-US" altLang="en-US" sz="2000" dirty="0">
                <a:latin typeface="Verdana" panose="020B0604030504040204" pitchFamily="34" charset="0"/>
                <a:ea typeface="Verdana" panose="020B0604030504040204" pitchFamily="34" charset="0"/>
              </a:rPr>
              <a:t>implement a </a:t>
            </a:r>
            <a:r>
              <a:rPr lang="en-US" altLang="en-US" sz="2000" dirty="0" err="1">
                <a:latin typeface="Verdana" panose="020B0604030504040204" pitchFamily="34" charset="0"/>
                <a:ea typeface="Verdana" panose="020B0604030504040204" pitchFamily="34" charset="0"/>
              </a:rPr>
              <a:t>blockchain</a:t>
            </a:r>
            <a:r>
              <a:rPr lang="en-US" altLang="en-US" sz="2000" dirty="0">
                <a:latin typeface="Verdana" panose="020B0604030504040204" pitchFamily="34" charset="0"/>
                <a:ea typeface="Verdana" panose="020B0604030504040204" pitchFamily="34" charset="0"/>
              </a:rPr>
              <a:t>-backed traceability system ensuring transparent, tamper-proof storage of grading results and supply-chain records</a:t>
            </a:r>
            <a:r>
              <a:rPr lang="en-US" altLang="en-US" sz="2000" dirty="0" smtClean="0">
                <a:latin typeface="Verdana" panose="020B0604030504040204" pitchFamily="34" charset="0"/>
                <a:ea typeface="Verdana" panose="020B0604030504040204" pitchFamily="34" charset="0"/>
              </a:rPr>
              <a:t>.</a:t>
            </a:r>
          </a:p>
          <a:p>
            <a:pPr marL="457200" lvl="0" indent="-457200" algn="just" eaLnBrk="0" fontAlgn="base" hangingPunct="0">
              <a:spcBef>
                <a:spcPct val="0"/>
              </a:spcBef>
              <a:spcAft>
                <a:spcPct val="0"/>
              </a:spcAft>
              <a:buFont typeface="Arial" panose="020B0604020202020204" pitchFamily="34" charset="0"/>
              <a:buChar char="•"/>
            </a:pPr>
            <a:endParaRPr lang="en-US" altLang="en-US" sz="2000" dirty="0" smtClean="0">
              <a:latin typeface="Verdana" panose="020B0604030504040204" pitchFamily="34" charset="0"/>
              <a:ea typeface="Verdana" panose="020B0604030504040204" pitchFamily="34"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000" dirty="0" smtClean="0">
                <a:latin typeface="Verdana" panose="020B0604030504040204" pitchFamily="34" charset="0"/>
                <a:ea typeface="Verdana" panose="020B0604030504040204" pitchFamily="34" charset="0"/>
              </a:rPr>
              <a:t>To </a:t>
            </a:r>
            <a:r>
              <a:rPr lang="en-US" altLang="en-US" sz="2000" dirty="0">
                <a:latin typeface="Verdana" panose="020B0604030504040204" pitchFamily="34" charset="0"/>
                <a:ea typeface="Verdana" panose="020B0604030504040204" pitchFamily="34" charset="0"/>
              </a:rPr>
              <a:t>create a unified grading pipeline that improves efficiency, reduces human error, and provides consistent, scalable quality assessment for farmers and distributors.</a:t>
            </a:r>
            <a:endParaRPr kumimoji="0" lang="en-US" altLang="en-US" sz="2000" i="0" u="none" strike="noStrike" cap="none" normalizeH="0" baseline="0" dirty="0" smtClean="0">
              <a:ln>
                <a:noFill/>
              </a:ln>
              <a:solidFill>
                <a:schemeClr val="tx1"/>
              </a:solidFill>
              <a:effectLst/>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85914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Research Gap</a:t>
            </a:r>
          </a:p>
        </p:txBody>
      </p:sp>
      <p:sp>
        <p:nvSpPr>
          <p:cNvPr id="4" name="Slide Number Placeholder 3"/>
          <p:cNvSpPr>
            <a:spLocks noGrp="1"/>
          </p:cNvSpPr>
          <p:nvPr>
            <p:ph type="sldNum" sz="quarter" idx="12"/>
          </p:nvPr>
        </p:nvSpPr>
        <p:spPr/>
        <p:txBody>
          <a:bodyPr/>
          <a:lstStyle/>
          <a:p>
            <a:pPr>
              <a:defRPr/>
            </a:pPr>
            <a:fld id="{02246FD1-0723-4B2F-9706-10282F2BA698}" type="slidenum">
              <a:rPr lang="en-US" smtClean="0"/>
              <a:pPr>
                <a:defRPr/>
              </a:pPr>
              <a:t>9</a:t>
            </a:fld>
            <a:r>
              <a:rPr lang="en-US" smtClean="0"/>
              <a:t> </a:t>
            </a:r>
            <a:endParaRPr lang="en-US" dirty="0"/>
          </a:p>
        </p:txBody>
      </p:sp>
      <p:sp>
        <p:nvSpPr>
          <p:cNvPr id="5" name="Rectangle 1"/>
          <p:cNvSpPr>
            <a:spLocks noGrp="1" noChangeArrowheads="1"/>
          </p:cNvSpPr>
          <p:nvPr>
            <p:ph idx="5"/>
          </p:nvPr>
        </p:nvSpPr>
        <p:spPr bwMode="auto">
          <a:xfrm>
            <a:off x="685800" y="1101034"/>
            <a:ext cx="80010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rPr>
              <a:t>Most existing grading systems rely on traditional machine vision, lacking the accuracy of modern deep learning models.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rPr>
              <a:t>Current solutions do not provide real-time grading capabilities suitable for on-field or mobile use.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rPr>
              <a:t>Few studies integrate AI grading with </a:t>
            </a:r>
            <a:r>
              <a:rPr kumimoji="0" lang="en-US" altLang="en-US" i="0" u="none" strike="noStrike" cap="none" normalizeH="0" baseline="0" dirty="0" err="1" smtClean="0">
                <a:ln>
                  <a:noFill/>
                </a:ln>
                <a:solidFill>
                  <a:schemeClr val="tx1"/>
                </a:solidFill>
                <a:effectLst/>
              </a:rPr>
              <a:t>blockchain</a:t>
            </a:r>
            <a:r>
              <a:rPr kumimoji="0" lang="en-US" altLang="en-US" i="0" u="none" strike="noStrike" cap="none" normalizeH="0" baseline="0" dirty="0" smtClean="0">
                <a:ln>
                  <a:noFill/>
                </a:ln>
                <a:solidFill>
                  <a:schemeClr val="tx1"/>
                </a:solidFill>
                <a:effectLst/>
              </a:rPr>
              <a:t>, leaving a gap in secure and transparent quality recordkeeping.</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rPr>
              <a:t>Existing systems rarely offer end-to-end traceability, limiting buyer confidence and supply-chain visibility.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rPr>
              <a:t>Most research focuses only on classification, without addressing practical deployment for farmers through mobile apps.</a:t>
            </a:r>
          </a:p>
        </p:txBody>
      </p:sp>
    </p:spTree>
    <p:extLst>
      <p:ext uri="{BB962C8B-B14F-4D97-AF65-F5344CB8AC3E}">
        <p14:creationId xmlns:p14="http://schemas.microsoft.com/office/powerpoint/2010/main" val="2140073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7391400" y="6477000"/>
            <a:ext cx="1600200" cy="195263"/>
          </a:xfrm>
        </p:spPr>
        <p:txBody>
          <a:bodyPr/>
          <a:lstStyle/>
          <a:p>
            <a:pPr>
              <a:defRPr/>
            </a:pPr>
            <a:fld id="{02246FD1-0723-4B2F-9706-10282F2BA698}" type="slidenum">
              <a:rPr lang="en-US" smtClean="0">
                <a:latin typeface="Verdana" panose="020B0604030504040204" pitchFamily="34" charset="0"/>
                <a:ea typeface="Verdana" panose="020B0604030504040204" pitchFamily="34" charset="0"/>
              </a:rPr>
              <a:pPr>
                <a:defRPr/>
              </a:pPr>
              <a:t>10</a:t>
            </a:fld>
            <a:r>
              <a:rPr lang="en-US" dirty="0">
                <a:latin typeface="Verdana" panose="020B0604030504040204" pitchFamily="34" charset="0"/>
                <a:ea typeface="Verdana" panose="020B0604030504040204" pitchFamily="34" charset="0"/>
              </a:rPr>
              <a:t> </a:t>
            </a:r>
          </a:p>
        </p:txBody>
      </p:sp>
      <p:sp>
        <p:nvSpPr>
          <p:cNvPr id="18" name="Rectangle 3"/>
          <p:cNvSpPr txBox="1">
            <a:spLocks noChangeArrowheads="1"/>
          </p:cNvSpPr>
          <p:nvPr/>
        </p:nvSpPr>
        <p:spPr>
          <a:xfrm>
            <a:off x="1543050" y="3371850"/>
            <a:ext cx="6286500" cy="342900"/>
          </a:xfrm>
          <a:prstGeom prst="rect">
            <a:avLst/>
          </a:prstGeom>
        </p:spPr>
        <p:txBody>
          <a:bodyPr/>
          <a:lstStyle/>
          <a:p>
            <a:pPr algn="ctr" eaLnBrk="0" fontAlgn="base" hangingPunct="0">
              <a:spcBef>
                <a:spcPct val="20000"/>
              </a:spcBef>
              <a:spcAft>
                <a:spcPct val="20000"/>
              </a:spcAft>
              <a:defRPr/>
            </a:pPr>
            <a:endParaRPr lang="en-US" sz="3600" dirty="0">
              <a:sym typeface="Symbol" pitchFamily="18" charset="2"/>
            </a:endParaRPr>
          </a:p>
        </p:txBody>
      </p:sp>
      <p:sp>
        <p:nvSpPr>
          <p:cNvPr id="3" name="Title 2">
            <a:extLst>
              <a:ext uri="{FF2B5EF4-FFF2-40B4-BE49-F238E27FC236}">
                <a16:creationId xmlns:a16="http://schemas.microsoft.com/office/drawing/2014/main" id="{7CBEB6BF-435C-4050-8916-C2A3F4028ED5}"/>
              </a:ext>
            </a:extLst>
          </p:cNvPr>
          <p:cNvSpPr>
            <a:spLocks noGrp="1"/>
          </p:cNvSpPr>
          <p:nvPr>
            <p:ph type="title"/>
          </p:nvPr>
        </p:nvSpPr>
        <p:spPr/>
        <p:txBody>
          <a:bodyPr>
            <a:normAutofit/>
          </a:bodyPr>
          <a:lstStyle/>
          <a:p>
            <a:r>
              <a:rPr lang="en-US" sz="2800" dirty="0"/>
              <a:t>Proposed Methodology</a:t>
            </a:r>
            <a:endParaRPr lang="en-IN" sz="2800" dirty="0">
              <a:latin typeface="Verdana" panose="020B0604030504040204" pitchFamily="34" charset="0"/>
              <a:ea typeface="Verdana" panose="020B0604030504040204" pitchFamily="34" charset="0"/>
            </a:endParaRPr>
          </a:p>
        </p:txBody>
      </p:sp>
      <p:sp>
        <p:nvSpPr>
          <p:cNvPr id="2" name="TextBox 1">
            <a:extLst>
              <a:ext uri="{FF2B5EF4-FFF2-40B4-BE49-F238E27FC236}">
                <a16:creationId xmlns:a16="http://schemas.microsoft.com/office/drawing/2014/main" id="{A9CA2987-7814-A859-96D3-6365BAFD4F1B}"/>
              </a:ext>
            </a:extLst>
          </p:cNvPr>
          <p:cNvSpPr txBox="1"/>
          <p:nvPr/>
        </p:nvSpPr>
        <p:spPr>
          <a:xfrm>
            <a:off x="914400" y="814348"/>
            <a:ext cx="8077200" cy="5586145"/>
          </a:xfrm>
          <a:prstGeom prst="rect">
            <a:avLst/>
          </a:prstGeom>
          <a:noFill/>
        </p:spPr>
        <p:txBody>
          <a:bodyPr wrap="square" rtlCol="0">
            <a:spAutoFit/>
          </a:bodyPr>
          <a:lstStyle/>
          <a:p>
            <a:pPr marL="285750" indent="-285750">
              <a:buFont typeface="Arial" panose="020B0604020202020204" pitchFamily="34" charset="0"/>
              <a:buChar char="•"/>
            </a:pPr>
            <a:r>
              <a:rPr lang="en-IN" sz="1700" dirty="0">
                <a:latin typeface="Verdana" panose="020B0604030504040204" pitchFamily="34" charset="0"/>
                <a:ea typeface="Verdana" panose="020B0604030504040204" pitchFamily="34" charset="0"/>
              </a:rPr>
              <a:t>Dataset Collection &amp; </a:t>
            </a:r>
            <a:r>
              <a:rPr lang="en-IN" sz="1700" dirty="0" err="1">
                <a:latin typeface="Verdana" panose="020B0604030504040204" pitchFamily="34" charset="0"/>
                <a:ea typeface="Verdana" panose="020B0604030504040204" pitchFamily="34" charset="0"/>
              </a:rPr>
              <a:t>Preprocessing</a:t>
            </a:r>
            <a:r>
              <a:rPr lang="en-IN" sz="1700" dirty="0" smtClean="0">
                <a:latin typeface="Verdana" panose="020B0604030504040204" pitchFamily="34" charset="0"/>
                <a:ea typeface="Verdana" panose="020B0604030504040204" pitchFamily="34" charset="0"/>
              </a:rPr>
              <a:t>:</a:t>
            </a:r>
          </a:p>
          <a:p>
            <a:pPr marL="285750" indent="-285750">
              <a:buFont typeface="Arial" panose="020B0604020202020204" pitchFamily="34" charset="0"/>
              <a:buChar char="•"/>
            </a:pPr>
            <a:endParaRPr lang="en-IN" sz="1700" dirty="0">
              <a:latin typeface="Verdana" panose="020B0604030504040204" pitchFamily="34" charset="0"/>
              <a:ea typeface="Verdana" panose="020B0604030504040204" pitchFamily="34" charset="0"/>
            </a:endParaRPr>
          </a:p>
          <a:p>
            <a:pPr marL="742950" lvl="1" indent="-285750">
              <a:buFont typeface="Arial" panose="020B0604020202020204" pitchFamily="34" charset="0"/>
              <a:buChar char="•"/>
            </a:pPr>
            <a:r>
              <a:rPr lang="en-IN" sz="1700" dirty="0">
                <a:latin typeface="Verdana" panose="020B0604030504040204" pitchFamily="34" charset="0"/>
                <a:ea typeface="Verdana" panose="020B0604030504040204" pitchFamily="34" charset="0"/>
              </a:rPr>
              <a:t>Organized into 3 categories (Fresh, Medium, Rotten).</a:t>
            </a:r>
          </a:p>
          <a:p>
            <a:pPr marL="742950" lvl="1" indent="-285750">
              <a:buFont typeface="Arial" panose="020B0604020202020204" pitchFamily="34" charset="0"/>
              <a:buChar char="•"/>
            </a:pPr>
            <a:r>
              <a:rPr lang="en-IN" sz="1700" dirty="0">
                <a:latin typeface="Verdana" panose="020B0604030504040204" pitchFamily="34" charset="0"/>
                <a:ea typeface="Verdana" panose="020B0604030504040204" pitchFamily="34" charset="0"/>
              </a:rPr>
              <a:t>Applied image resizing (224×224), normalization.</a:t>
            </a:r>
          </a:p>
          <a:p>
            <a:pPr marL="742950" lvl="1" indent="-285750">
              <a:buFont typeface="Arial" panose="020B0604020202020204" pitchFamily="34" charset="0"/>
              <a:buChar char="•"/>
            </a:pPr>
            <a:r>
              <a:rPr lang="en-IN" sz="1700" dirty="0">
                <a:latin typeface="Verdana" panose="020B0604030504040204" pitchFamily="34" charset="0"/>
                <a:ea typeface="Verdana" panose="020B0604030504040204" pitchFamily="34" charset="0"/>
              </a:rPr>
              <a:t>Data Augmentation (flip, rotation, zoom, brightness</a:t>
            </a:r>
            <a:r>
              <a:rPr lang="en-IN" sz="1700" dirty="0" smtClean="0">
                <a:latin typeface="Verdana" panose="020B0604030504040204" pitchFamily="34" charset="0"/>
                <a:ea typeface="Verdana" panose="020B0604030504040204" pitchFamily="34" charset="0"/>
              </a:rPr>
              <a:t>).</a:t>
            </a:r>
          </a:p>
          <a:p>
            <a:pPr marL="742950" lvl="1" indent="-285750">
              <a:buFont typeface="Arial" panose="020B0604020202020204" pitchFamily="34" charset="0"/>
              <a:buChar char="•"/>
            </a:pPr>
            <a:endParaRPr lang="en-IN" sz="1700"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IN" sz="1700" dirty="0">
                <a:latin typeface="Verdana" panose="020B0604030504040204" pitchFamily="34" charset="0"/>
                <a:ea typeface="Verdana" panose="020B0604030504040204" pitchFamily="34" charset="0"/>
              </a:rPr>
              <a:t>Model Training</a:t>
            </a:r>
            <a:r>
              <a:rPr lang="en-IN" sz="1700" dirty="0" smtClean="0">
                <a:latin typeface="Verdana" panose="020B0604030504040204" pitchFamily="34" charset="0"/>
                <a:ea typeface="Verdana" panose="020B0604030504040204" pitchFamily="34" charset="0"/>
              </a:rPr>
              <a:t>:</a:t>
            </a:r>
          </a:p>
          <a:p>
            <a:pPr marL="285750" indent="-285750">
              <a:buFont typeface="Arial" panose="020B0604020202020204" pitchFamily="34" charset="0"/>
              <a:buChar char="•"/>
            </a:pPr>
            <a:endParaRPr lang="en-IN" sz="1700" dirty="0">
              <a:latin typeface="Verdana" panose="020B0604030504040204" pitchFamily="34" charset="0"/>
              <a:ea typeface="Verdana" panose="020B0604030504040204" pitchFamily="34" charset="0"/>
            </a:endParaRPr>
          </a:p>
          <a:p>
            <a:pPr marL="742950" lvl="1" indent="-285750">
              <a:buFont typeface="Arial" panose="020B0604020202020204" pitchFamily="34" charset="0"/>
              <a:buChar char="•"/>
            </a:pPr>
            <a:r>
              <a:rPr lang="en-IN" sz="1700" dirty="0">
                <a:latin typeface="Verdana" panose="020B0604030504040204" pitchFamily="34" charset="0"/>
                <a:ea typeface="Verdana" panose="020B0604030504040204" pitchFamily="34" charset="0"/>
              </a:rPr>
              <a:t>Base model: </a:t>
            </a:r>
            <a:r>
              <a:rPr lang="en-IN" sz="1700" dirty="0" smtClean="0">
                <a:latin typeface="Verdana" panose="020B0604030504040204" pitchFamily="34" charset="0"/>
                <a:ea typeface="Verdana" panose="020B0604030504040204" pitchFamily="34" charset="0"/>
              </a:rPr>
              <a:t>MobileNetV3 </a:t>
            </a:r>
            <a:r>
              <a:rPr lang="en-IN" sz="1700" dirty="0">
                <a:latin typeface="Verdana" panose="020B0604030504040204" pitchFamily="34" charset="0"/>
                <a:ea typeface="Verdana" panose="020B0604030504040204" pitchFamily="34" charset="0"/>
              </a:rPr>
              <a:t>(Transfer Learning).</a:t>
            </a:r>
          </a:p>
          <a:p>
            <a:pPr marL="742950" lvl="1" indent="-285750">
              <a:buFont typeface="Arial" panose="020B0604020202020204" pitchFamily="34" charset="0"/>
              <a:buChar char="•"/>
            </a:pPr>
            <a:r>
              <a:rPr lang="en-IN" sz="1700" dirty="0">
                <a:latin typeface="Verdana" panose="020B0604030504040204" pitchFamily="34" charset="0"/>
                <a:ea typeface="Verdana" panose="020B0604030504040204" pitchFamily="34" charset="0"/>
              </a:rPr>
              <a:t>Optimizer: Adam, Loss: Categorical Cross-Entropy.</a:t>
            </a:r>
          </a:p>
          <a:p>
            <a:pPr marL="742950" lvl="1" indent="-285750">
              <a:buFont typeface="Arial" panose="020B0604020202020204" pitchFamily="34" charset="0"/>
              <a:buChar char="•"/>
            </a:pPr>
            <a:r>
              <a:rPr lang="en-IN" sz="1700" dirty="0">
                <a:latin typeface="Verdana" panose="020B0604030504040204" pitchFamily="34" charset="0"/>
                <a:ea typeface="Verdana" panose="020B0604030504040204" pitchFamily="34" charset="0"/>
              </a:rPr>
              <a:t>Progressive augmentation → improved generalization</a:t>
            </a:r>
            <a:r>
              <a:rPr lang="en-IN" sz="1700" dirty="0" smtClean="0">
                <a:latin typeface="Verdana" panose="020B0604030504040204" pitchFamily="34" charset="0"/>
                <a:ea typeface="Verdana" panose="020B0604030504040204" pitchFamily="34" charset="0"/>
              </a:rPr>
              <a:t>.</a:t>
            </a:r>
          </a:p>
          <a:p>
            <a:pPr marL="742950" lvl="1" indent="-285750">
              <a:buFont typeface="Arial" panose="020B0604020202020204" pitchFamily="34" charset="0"/>
              <a:buChar char="•"/>
            </a:pPr>
            <a:endParaRPr lang="en-IN" sz="1700"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IN" sz="1700" dirty="0">
                <a:latin typeface="Verdana" panose="020B0604030504040204" pitchFamily="34" charset="0"/>
                <a:ea typeface="Verdana" panose="020B0604030504040204" pitchFamily="34" charset="0"/>
              </a:rPr>
              <a:t>Prediction Phase</a:t>
            </a:r>
            <a:r>
              <a:rPr lang="en-IN" sz="1700" dirty="0" smtClean="0">
                <a:latin typeface="Verdana" panose="020B0604030504040204" pitchFamily="34" charset="0"/>
                <a:ea typeface="Verdana" panose="020B0604030504040204" pitchFamily="34" charset="0"/>
              </a:rPr>
              <a:t>:</a:t>
            </a:r>
          </a:p>
          <a:p>
            <a:pPr marL="285750" indent="-285750">
              <a:buFont typeface="Arial" panose="020B0604020202020204" pitchFamily="34" charset="0"/>
              <a:buChar char="•"/>
            </a:pPr>
            <a:endParaRPr lang="en-IN" sz="1700" dirty="0">
              <a:latin typeface="Verdana" panose="020B0604030504040204" pitchFamily="34" charset="0"/>
              <a:ea typeface="Verdana" panose="020B0604030504040204" pitchFamily="34" charset="0"/>
            </a:endParaRPr>
          </a:p>
          <a:p>
            <a:pPr marL="742950" lvl="1" indent="-285750">
              <a:buFont typeface="Arial" panose="020B0604020202020204" pitchFamily="34" charset="0"/>
              <a:buChar char="•"/>
            </a:pPr>
            <a:r>
              <a:rPr lang="en-IN" sz="1700" dirty="0">
                <a:latin typeface="Verdana" panose="020B0604030504040204" pitchFamily="34" charset="0"/>
                <a:ea typeface="Verdana" panose="020B0604030504040204" pitchFamily="34" charset="0"/>
              </a:rPr>
              <a:t>Tested with unseen fruit images.</a:t>
            </a:r>
          </a:p>
          <a:p>
            <a:pPr marL="742950" lvl="1" indent="-285750">
              <a:buFont typeface="Arial" panose="020B0604020202020204" pitchFamily="34" charset="0"/>
              <a:buChar char="•"/>
            </a:pPr>
            <a:r>
              <a:rPr lang="en-IN" sz="1700" dirty="0">
                <a:latin typeface="Verdana" panose="020B0604030504040204" pitchFamily="34" charset="0"/>
                <a:ea typeface="Verdana" panose="020B0604030504040204" pitchFamily="34" charset="0"/>
              </a:rPr>
              <a:t>Model outputs grading label (A, B, C</a:t>
            </a:r>
            <a:r>
              <a:rPr lang="en-IN" sz="1700" dirty="0" smtClean="0">
                <a:latin typeface="Verdana" panose="020B0604030504040204" pitchFamily="34" charset="0"/>
                <a:ea typeface="Verdana" panose="020B0604030504040204" pitchFamily="34" charset="0"/>
              </a:rPr>
              <a:t>).</a:t>
            </a:r>
          </a:p>
          <a:p>
            <a:pPr marL="742950" lvl="1" indent="-285750">
              <a:buFont typeface="Arial" panose="020B0604020202020204" pitchFamily="34" charset="0"/>
              <a:buChar char="•"/>
            </a:pPr>
            <a:endParaRPr lang="en-IN" sz="1700"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IN" sz="1700" dirty="0">
                <a:latin typeface="Verdana" panose="020B0604030504040204" pitchFamily="34" charset="0"/>
                <a:ea typeface="Verdana" panose="020B0604030504040204" pitchFamily="34" charset="0"/>
              </a:rPr>
              <a:t>Blockchain Exploration</a:t>
            </a:r>
            <a:r>
              <a:rPr lang="en-IN" sz="1700" dirty="0" smtClean="0">
                <a:latin typeface="Verdana" panose="020B0604030504040204" pitchFamily="34" charset="0"/>
                <a:ea typeface="Verdana" panose="020B0604030504040204" pitchFamily="34" charset="0"/>
              </a:rPr>
              <a:t>:</a:t>
            </a:r>
          </a:p>
          <a:p>
            <a:pPr marL="285750" indent="-285750">
              <a:buFont typeface="Arial" panose="020B0604020202020204" pitchFamily="34" charset="0"/>
              <a:buChar char="•"/>
            </a:pPr>
            <a:endParaRPr lang="en-IN" sz="1700" dirty="0">
              <a:latin typeface="Verdana" panose="020B0604030504040204" pitchFamily="34" charset="0"/>
              <a:ea typeface="Verdana" panose="020B0604030504040204" pitchFamily="34" charset="0"/>
            </a:endParaRPr>
          </a:p>
          <a:p>
            <a:pPr marL="742950" lvl="1" indent="-285750">
              <a:buFont typeface="Arial" panose="020B0604020202020204" pitchFamily="34" charset="0"/>
              <a:buChar char="•"/>
            </a:pPr>
            <a:r>
              <a:rPr lang="en-IN" sz="1700" dirty="0">
                <a:latin typeface="Verdana" panose="020B0604030504040204" pitchFamily="34" charset="0"/>
                <a:ea typeface="Verdana" panose="020B0604030504040204" pitchFamily="34" charset="0"/>
              </a:rPr>
              <a:t>Designed smart contract structure </a:t>
            </a:r>
            <a:r>
              <a:rPr lang="en-IN" sz="1700" dirty="0" smtClean="0">
                <a:latin typeface="Verdana" panose="020B0604030504040204" pitchFamily="34" charset="0"/>
                <a:ea typeface="Verdana" panose="020B0604030504040204" pitchFamily="34" charset="0"/>
              </a:rPr>
              <a:t>(</a:t>
            </a:r>
            <a:r>
              <a:rPr lang="en-IN" sz="1700" dirty="0" err="1" smtClean="0">
                <a:latin typeface="Verdana" panose="020B0604030504040204" pitchFamily="34" charset="0"/>
                <a:ea typeface="Verdana" panose="020B0604030504040204" pitchFamily="34" charset="0"/>
              </a:rPr>
              <a:t>AppleID,FramerID</a:t>
            </a:r>
            <a:r>
              <a:rPr lang="en-IN" sz="1700" dirty="0" smtClean="0">
                <a:latin typeface="Verdana" panose="020B0604030504040204" pitchFamily="34" charset="0"/>
                <a:ea typeface="Verdana" panose="020B0604030504040204" pitchFamily="34" charset="0"/>
              </a:rPr>
              <a:t> </a:t>
            </a:r>
            <a:r>
              <a:rPr lang="en-IN" sz="1700" dirty="0">
                <a:latin typeface="Verdana" panose="020B0604030504040204" pitchFamily="34" charset="0"/>
                <a:ea typeface="Verdana" panose="020B0604030504040204" pitchFamily="34" charset="0"/>
              </a:rPr>
              <a:t>grade, timestamp</a:t>
            </a:r>
            <a:r>
              <a:rPr lang="en-IN" sz="1700" dirty="0" smtClean="0">
                <a:latin typeface="Verdana" panose="020B0604030504040204" pitchFamily="34" charset="0"/>
                <a:ea typeface="Verdana" panose="020B0604030504040204" pitchFamily="34" charset="0"/>
              </a:rPr>
              <a:t>).</a:t>
            </a:r>
            <a:endParaRPr lang="en-IN" sz="17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011502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7391400" y="6477000"/>
            <a:ext cx="1600200" cy="195263"/>
          </a:xfrm>
        </p:spPr>
        <p:txBody>
          <a:bodyPr/>
          <a:lstStyle/>
          <a:p>
            <a:pPr>
              <a:defRPr/>
            </a:pPr>
            <a:fld id="{02246FD1-0723-4B2F-9706-10282F2BA698}" type="slidenum">
              <a:rPr lang="en-US" smtClean="0">
                <a:latin typeface="Verdana" panose="020B0604030504040204" pitchFamily="34" charset="0"/>
                <a:ea typeface="Verdana" panose="020B0604030504040204" pitchFamily="34" charset="0"/>
              </a:rPr>
              <a:pPr>
                <a:defRPr/>
              </a:pPr>
              <a:t>11</a:t>
            </a:fld>
            <a:r>
              <a:rPr lang="en-US" dirty="0">
                <a:latin typeface="Verdana" panose="020B0604030504040204" pitchFamily="34" charset="0"/>
                <a:ea typeface="Verdana" panose="020B0604030504040204" pitchFamily="34" charset="0"/>
              </a:rPr>
              <a:t> </a:t>
            </a:r>
          </a:p>
        </p:txBody>
      </p:sp>
      <p:sp>
        <p:nvSpPr>
          <p:cNvPr id="18" name="Rectangle 3"/>
          <p:cNvSpPr txBox="1">
            <a:spLocks noChangeArrowheads="1"/>
          </p:cNvSpPr>
          <p:nvPr/>
        </p:nvSpPr>
        <p:spPr>
          <a:xfrm>
            <a:off x="1543050" y="3371850"/>
            <a:ext cx="6286500" cy="342900"/>
          </a:xfrm>
          <a:prstGeom prst="rect">
            <a:avLst/>
          </a:prstGeom>
        </p:spPr>
        <p:txBody>
          <a:bodyPr/>
          <a:lstStyle/>
          <a:p>
            <a:pPr algn="ctr" eaLnBrk="0" fontAlgn="base" hangingPunct="0">
              <a:spcBef>
                <a:spcPct val="20000"/>
              </a:spcBef>
              <a:spcAft>
                <a:spcPct val="20000"/>
              </a:spcAft>
              <a:defRPr/>
            </a:pPr>
            <a:endParaRPr lang="en-US" sz="3600" dirty="0">
              <a:sym typeface="Symbol" pitchFamily="18" charset="2"/>
            </a:endParaRPr>
          </a:p>
        </p:txBody>
      </p:sp>
      <p:sp>
        <p:nvSpPr>
          <p:cNvPr id="3" name="Title 2">
            <a:extLst>
              <a:ext uri="{FF2B5EF4-FFF2-40B4-BE49-F238E27FC236}">
                <a16:creationId xmlns:a16="http://schemas.microsoft.com/office/drawing/2014/main" id="{7CBEB6BF-435C-4050-8916-C2A3F4028ED5}"/>
              </a:ext>
            </a:extLst>
          </p:cNvPr>
          <p:cNvSpPr>
            <a:spLocks noGrp="1"/>
          </p:cNvSpPr>
          <p:nvPr>
            <p:ph type="title"/>
          </p:nvPr>
        </p:nvSpPr>
        <p:spPr/>
        <p:txBody>
          <a:bodyPr>
            <a:normAutofit/>
          </a:bodyPr>
          <a:lstStyle/>
          <a:p>
            <a:r>
              <a:rPr lang="en-US" sz="2800" dirty="0"/>
              <a:t>Proposed Methodology</a:t>
            </a:r>
            <a:endParaRPr lang="en-IN" sz="2800" dirty="0">
              <a:latin typeface="Verdana" panose="020B0604030504040204" pitchFamily="34" charset="0"/>
              <a:ea typeface="Verdana" panose="020B0604030504040204" pitchFamily="34" charset="0"/>
            </a:endParaRPr>
          </a:p>
        </p:txBody>
      </p:sp>
      <p:sp>
        <p:nvSpPr>
          <p:cNvPr id="2" name="TextBox 1">
            <a:extLst>
              <a:ext uri="{FF2B5EF4-FFF2-40B4-BE49-F238E27FC236}">
                <a16:creationId xmlns:a16="http://schemas.microsoft.com/office/drawing/2014/main" id="{A9CA2987-7814-A859-96D3-6365BAFD4F1B}"/>
              </a:ext>
            </a:extLst>
          </p:cNvPr>
          <p:cNvSpPr txBox="1"/>
          <p:nvPr/>
        </p:nvSpPr>
        <p:spPr>
          <a:xfrm>
            <a:off x="847570" y="960150"/>
            <a:ext cx="7391400" cy="5509200"/>
          </a:xfrm>
          <a:prstGeom prst="rect">
            <a:avLst/>
          </a:prstGeom>
          <a:noFill/>
        </p:spPr>
        <p:txBody>
          <a:bodyPr wrap="square" rtlCol="0">
            <a:spAutoFit/>
          </a:bodyPr>
          <a:lstStyle/>
          <a:p>
            <a:pPr marL="285750" indent="-285750" algn="just">
              <a:buFont typeface="Arial" panose="020B0604020202020204" pitchFamily="34" charset="0"/>
              <a:buChar char="•"/>
            </a:pPr>
            <a:r>
              <a:rPr lang="en-IN" sz="2200" dirty="0">
                <a:latin typeface="Verdana" panose="020B0604030504040204" pitchFamily="34" charset="0"/>
                <a:ea typeface="Verdana" panose="020B0604030504040204" pitchFamily="34" charset="0"/>
              </a:rPr>
              <a:t>Application </a:t>
            </a:r>
            <a:r>
              <a:rPr lang="en-US" sz="2200" dirty="0">
                <a:latin typeface="Verdana" panose="020B0604030504040204" pitchFamily="34" charset="0"/>
                <a:ea typeface="Verdana" panose="020B0604030504040204" pitchFamily="34" charset="0"/>
              </a:rPr>
              <a:t>Development</a:t>
            </a:r>
            <a:r>
              <a:rPr lang="en-US" sz="2200" dirty="0" smtClean="0">
                <a:latin typeface="Verdana" panose="020B0604030504040204" pitchFamily="34" charset="0"/>
                <a:ea typeface="Verdana" panose="020B0604030504040204" pitchFamily="34" charset="0"/>
              </a:rPr>
              <a:t>:</a:t>
            </a:r>
          </a:p>
          <a:p>
            <a:pPr algn="just"/>
            <a:endParaRPr lang="en-US" sz="2200" dirty="0">
              <a:latin typeface="Verdana" panose="020B0604030504040204" pitchFamily="34" charset="0"/>
              <a:ea typeface="Verdana" panose="020B0604030504040204" pitchFamily="34" charset="0"/>
            </a:endParaRPr>
          </a:p>
          <a:p>
            <a:pPr marL="742950" lvl="1" indent="-285750" algn="just">
              <a:buFont typeface="Arial" panose="020B0604020202020204" pitchFamily="34" charset="0"/>
              <a:buChar char="•"/>
            </a:pPr>
            <a:r>
              <a:rPr lang="en-US" sz="2200" dirty="0">
                <a:latin typeface="Verdana" panose="020B0604030504040204" pitchFamily="34" charset="0"/>
                <a:ea typeface="Verdana" panose="020B0604030504040204" pitchFamily="34" charset="0"/>
              </a:rPr>
              <a:t>Farmer and User role based login</a:t>
            </a:r>
            <a:r>
              <a:rPr lang="en-US" sz="2200" dirty="0" smtClean="0">
                <a:latin typeface="Verdana" panose="020B0604030504040204" pitchFamily="34" charset="0"/>
                <a:ea typeface="Verdana" panose="020B0604030504040204" pitchFamily="34" charset="0"/>
              </a:rPr>
              <a:t>.</a:t>
            </a:r>
          </a:p>
          <a:p>
            <a:pPr lvl="1" algn="just"/>
            <a:endParaRPr lang="en-US" sz="2200" dirty="0">
              <a:latin typeface="Verdana" panose="020B0604030504040204" pitchFamily="34" charset="0"/>
              <a:ea typeface="Verdana" panose="020B0604030504040204" pitchFamily="34" charset="0"/>
            </a:endParaRPr>
          </a:p>
          <a:p>
            <a:pPr marL="742950" lvl="1" indent="-285750" algn="just">
              <a:buFont typeface="Arial" panose="020B0604020202020204" pitchFamily="34" charset="0"/>
              <a:buChar char="•"/>
            </a:pPr>
            <a:r>
              <a:rPr lang="en-US" sz="2200" dirty="0">
                <a:latin typeface="Verdana" panose="020B0604030504040204" pitchFamily="34" charset="0"/>
                <a:ea typeface="Verdana" panose="020B0604030504040204" pitchFamily="34" charset="0"/>
              </a:rPr>
              <a:t>Farmer can add his farm location, warehouse location, and some personal details including his photo and signature</a:t>
            </a:r>
            <a:r>
              <a:rPr lang="en-US" sz="2200" dirty="0" smtClean="0">
                <a:latin typeface="Verdana" panose="020B0604030504040204" pitchFamily="34" charset="0"/>
                <a:ea typeface="Verdana" panose="020B0604030504040204" pitchFamily="34" charset="0"/>
              </a:rPr>
              <a:t>.</a:t>
            </a:r>
          </a:p>
          <a:p>
            <a:pPr lvl="1" algn="just"/>
            <a:endParaRPr lang="en-US" sz="2200" dirty="0">
              <a:latin typeface="Verdana" panose="020B0604030504040204" pitchFamily="34" charset="0"/>
              <a:ea typeface="Verdana" panose="020B0604030504040204" pitchFamily="34" charset="0"/>
            </a:endParaRPr>
          </a:p>
          <a:p>
            <a:pPr marL="742950" lvl="1" indent="-285750" algn="just">
              <a:buFont typeface="Arial" panose="020B0604020202020204" pitchFamily="34" charset="0"/>
              <a:buChar char="•"/>
            </a:pPr>
            <a:r>
              <a:rPr lang="en-US" sz="2200" dirty="0">
                <a:latin typeface="Verdana" panose="020B0604030504040204" pitchFamily="34" charset="0"/>
                <a:ea typeface="Verdana" panose="020B0604030504040204" pitchFamily="34" charset="0"/>
              </a:rPr>
              <a:t>Farmer has access to take pictures, the model runs to check the freshness of the fruit and grades to generate a QR code</a:t>
            </a:r>
            <a:r>
              <a:rPr lang="en-US" sz="2200" dirty="0" smtClean="0">
                <a:latin typeface="Verdana" panose="020B0604030504040204" pitchFamily="34" charset="0"/>
                <a:ea typeface="Verdana" panose="020B0604030504040204" pitchFamily="34" charset="0"/>
              </a:rPr>
              <a:t>.</a:t>
            </a:r>
          </a:p>
          <a:p>
            <a:pPr lvl="1" algn="just"/>
            <a:endParaRPr lang="en-US" sz="2200" dirty="0">
              <a:latin typeface="Verdana" panose="020B0604030504040204" pitchFamily="34" charset="0"/>
              <a:ea typeface="Verdana" panose="020B0604030504040204" pitchFamily="34" charset="0"/>
            </a:endParaRPr>
          </a:p>
          <a:p>
            <a:pPr marL="742950" lvl="1" indent="-285750" algn="just">
              <a:buFont typeface="Arial" panose="020B0604020202020204" pitchFamily="34" charset="0"/>
              <a:buChar char="•"/>
            </a:pPr>
            <a:r>
              <a:rPr lang="en-US" sz="2200" dirty="0">
                <a:latin typeface="Verdana" panose="020B0604030504040204" pitchFamily="34" charset="0"/>
                <a:ea typeface="Verdana" panose="020B0604030504040204" pitchFamily="34" charset="0"/>
              </a:rPr>
              <a:t>The user will be able to scan the QR’s generated by the farmers on each product to recheck them and add/skip a review</a:t>
            </a:r>
            <a:r>
              <a:rPr lang="en-IN" sz="2200" dirty="0">
                <a:latin typeface="Verdana" panose="020B0604030504040204" pitchFamily="34" charset="0"/>
                <a:ea typeface="Verdana" panose="020B0604030504040204" pitchFamily="34" charset="0"/>
              </a:rPr>
              <a:t> for that farmers produce.</a:t>
            </a:r>
          </a:p>
        </p:txBody>
      </p:sp>
    </p:spTree>
    <p:extLst>
      <p:ext uri="{BB962C8B-B14F-4D97-AF65-F5344CB8AC3E}">
        <p14:creationId xmlns:p14="http://schemas.microsoft.com/office/powerpoint/2010/main" val="1978626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7391400" y="6477000"/>
            <a:ext cx="1600200" cy="195263"/>
          </a:xfrm>
        </p:spPr>
        <p:txBody>
          <a:bodyPr/>
          <a:lstStyle/>
          <a:p>
            <a:pPr>
              <a:defRPr/>
            </a:pPr>
            <a:fld id="{02246FD1-0723-4B2F-9706-10282F2BA698}" type="slidenum">
              <a:rPr lang="en-US" smtClean="0">
                <a:latin typeface="Verdana" panose="020B0604030504040204" pitchFamily="34" charset="0"/>
                <a:ea typeface="Verdana" panose="020B0604030504040204" pitchFamily="34" charset="0"/>
              </a:rPr>
              <a:pPr>
                <a:defRPr/>
              </a:pPr>
              <a:t>12</a:t>
            </a:fld>
            <a:r>
              <a:rPr lang="en-US" dirty="0">
                <a:latin typeface="Verdana" panose="020B0604030504040204" pitchFamily="34" charset="0"/>
                <a:ea typeface="Verdana" panose="020B0604030504040204" pitchFamily="34" charset="0"/>
              </a:rPr>
              <a:t> </a:t>
            </a:r>
          </a:p>
        </p:txBody>
      </p:sp>
      <p:sp>
        <p:nvSpPr>
          <p:cNvPr id="18" name="Rectangle 3"/>
          <p:cNvSpPr txBox="1">
            <a:spLocks noChangeArrowheads="1"/>
          </p:cNvSpPr>
          <p:nvPr/>
        </p:nvSpPr>
        <p:spPr>
          <a:xfrm>
            <a:off x="1543050" y="3371850"/>
            <a:ext cx="6286500" cy="342900"/>
          </a:xfrm>
          <a:prstGeom prst="rect">
            <a:avLst/>
          </a:prstGeom>
        </p:spPr>
        <p:txBody>
          <a:bodyPr/>
          <a:lstStyle/>
          <a:p>
            <a:pPr algn="ctr" eaLnBrk="0" fontAlgn="base" hangingPunct="0">
              <a:spcBef>
                <a:spcPct val="20000"/>
              </a:spcBef>
              <a:spcAft>
                <a:spcPct val="20000"/>
              </a:spcAft>
              <a:defRPr/>
            </a:pPr>
            <a:endParaRPr lang="en-US" sz="3600" dirty="0">
              <a:sym typeface="Symbol" pitchFamily="18" charset="2"/>
            </a:endParaRPr>
          </a:p>
        </p:txBody>
      </p:sp>
      <p:sp>
        <p:nvSpPr>
          <p:cNvPr id="3" name="Title 2">
            <a:extLst>
              <a:ext uri="{FF2B5EF4-FFF2-40B4-BE49-F238E27FC236}">
                <a16:creationId xmlns:a16="http://schemas.microsoft.com/office/drawing/2014/main" id="{7CBEB6BF-435C-4050-8916-C2A3F4028ED5}"/>
              </a:ext>
            </a:extLst>
          </p:cNvPr>
          <p:cNvSpPr>
            <a:spLocks noGrp="1"/>
          </p:cNvSpPr>
          <p:nvPr>
            <p:ph type="title"/>
          </p:nvPr>
        </p:nvSpPr>
        <p:spPr/>
        <p:txBody>
          <a:bodyPr>
            <a:normAutofit/>
          </a:bodyPr>
          <a:lstStyle/>
          <a:p>
            <a:r>
              <a:rPr lang="en-US" sz="2800" dirty="0"/>
              <a:t>Technology Used</a:t>
            </a:r>
            <a:endParaRPr lang="en-IN" sz="2800" dirty="0">
              <a:latin typeface="Verdana" panose="020B0604030504040204" pitchFamily="34" charset="0"/>
              <a:ea typeface="Verdana" panose="020B0604030504040204" pitchFamily="34" charset="0"/>
            </a:endParaRPr>
          </a:p>
        </p:txBody>
      </p:sp>
      <p:sp>
        <p:nvSpPr>
          <p:cNvPr id="2" name="TextBox 1">
            <a:extLst>
              <a:ext uri="{FF2B5EF4-FFF2-40B4-BE49-F238E27FC236}">
                <a16:creationId xmlns:a16="http://schemas.microsoft.com/office/drawing/2014/main" id="{4CFAA58F-841D-D717-3073-AE9F38B15396}"/>
              </a:ext>
            </a:extLst>
          </p:cNvPr>
          <p:cNvSpPr txBox="1"/>
          <p:nvPr/>
        </p:nvSpPr>
        <p:spPr>
          <a:xfrm>
            <a:off x="1028700" y="1158031"/>
            <a:ext cx="7315200" cy="4770537"/>
          </a:xfrm>
          <a:prstGeom prst="rect">
            <a:avLst/>
          </a:prstGeom>
          <a:noFill/>
        </p:spPr>
        <p:txBody>
          <a:bodyPr wrap="square" rtlCol="0">
            <a:spAutoFit/>
          </a:bodyPr>
          <a:lstStyle/>
          <a:p>
            <a:pPr marL="285750" indent="-285750">
              <a:buFont typeface="Arial" panose="020B0604020202020204" pitchFamily="34" charset="0"/>
              <a:buChar char="•"/>
            </a:pPr>
            <a:r>
              <a:rPr lang="en-IN" sz="1900" dirty="0">
                <a:latin typeface="Verdana" panose="020B0604030504040204" pitchFamily="34" charset="0"/>
                <a:ea typeface="Verdana" panose="020B0604030504040204" pitchFamily="34" charset="0"/>
              </a:rPr>
              <a:t>Datasets: Real fruits Image Dataset (Fresh, Medium, Rotten).</a:t>
            </a:r>
          </a:p>
          <a:p>
            <a:pPr marL="285750" indent="-285750">
              <a:buFont typeface="Arial" panose="020B0604020202020204" pitchFamily="34" charset="0"/>
              <a:buChar char="•"/>
            </a:pPr>
            <a:endParaRPr lang="en-IN" sz="1900"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IN" sz="1900" dirty="0">
                <a:latin typeface="Verdana" panose="020B0604030504040204" pitchFamily="34" charset="0"/>
                <a:ea typeface="Verdana" panose="020B0604030504040204" pitchFamily="34" charset="0"/>
              </a:rPr>
              <a:t>Programming </a:t>
            </a:r>
            <a:r>
              <a:rPr lang="en-IN" sz="1900" dirty="0" smtClean="0">
                <a:latin typeface="Verdana" panose="020B0604030504040204" pitchFamily="34" charset="0"/>
                <a:ea typeface="Verdana" panose="020B0604030504040204" pitchFamily="34" charset="0"/>
              </a:rPr>
              <a:t>Language for Model Training: </a:t>
            </a:r>
            <a:r>
              <a:rPr lang="en-IN" sz="1900" dirty="0">
                <a:latin typeface="Verdana" panose="020B0604030504040204" pitchFamily="34" charset="0"/>
                <a:ea typeface="Verdana" panose="020B0604030504040204" pitchFamily="34" charset="0"/>
              </a:rPr>
              <a:t>Python.</a:t>
            </a:r>
          </a:p>
          <a:p>
            <a:pPr marL="285750" indent="-285750">
              <a:buFont typeface="Arial" panose="020B0604020202020204" pitchFamily="34" charset="0"/>
              <a:buChar char="•"/>
            </a:pPr>
            <a:endParaRPr lang="en-IN" sz="1900"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IN" sz="1900" dirty="0">
                <a:latin typeface="Verdana" panose="020B0604030504040204" pitchFamily="34" charset="0"/>
                <a:ea typeface="Verdana" panose="020B0604030504040204" pitchFamily="34" charset="0"/>
              </a:rPr>
              <a:t>Libraries: TensorFlow/</a:t>
            </a:r>
            <a:r>
              <a:rPr lang="en-IN" sz="1900" dirty="0" err="1">
                <a:latin typeface="Verdana" panose="020B0604030504040204" pitchFamily="34" charset="0"/>
                <a:ea typeface="Verdana" panose="020B0604030504040204" pitchFamily="34" charset="0"/>
              </a:rPr>
              <a:t>Keras</a:t>
            </a:r>
            <a:r>
              <a:rPr lang="en-IN" sz="1900" dirty="0">
                <a:latin typeface="Verdana" panose="020B0604030504040204" pitchFamily="34" charset="0"/>
                <a:ea typeface="Verdana" panose="020B0604030504040204" pitchFamily="34" charset="0"/>
              </a:rPr>
              <a:t> (Deep Learning), OpenCV (Image Preprocessing), NumPy &amp; Pandas (Data Handling), Matplotlib (Visualization).</a:t>
            </a:r>
          </a:p>
          <a:p>
            <a:pPr marL="285750" indent="-285750">
              <a:buFont typeface="Arial" panose="020B0604020202020204" pitchFamily="34" charset="0"/>
              <a:buChar char="•"/>
            </a:pPr>
            <a:endParaRPr lang="en-IN" sz="1900"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IN" sz="1900" dirty="0" err="1" smtClean="0">
                <a:latin typeface="Verdana" panose="020B0604030504040204" pitchFamily="34" charset="0"/>
                <a:ea typeface="Verdana" panose="020B0604030504040204" pitchFamily="34" charset="0"/>
              </a:rPr>
              <a:t>Blockchain</a:t>
            </a:r>
            <a:r>
              <a:rPr lang="en-IN" sz="1900" dirty="0">
                <a:latin typeface="Verdana" panose="020B0604030504040204" pitchFamily="34" charset="0"/>
                <a:ea typeface="Verdana" panose="020B0604030504040204" pitchFamily="34" charset="0"/>
              </a:rPr>
              <a:t> </a:t>
            </a:r>
            <a:r>
              <a:rPr lang="en-IN" sz="1900" dirty="0" smtClean="0">
                <a:latin typeface="Verdana" panose="020B0604030504040204" pitchFamily="34" charset="0"/>
                <a:ea typeface="Verdana" panose="020B0604030504040204" pitchFamily="34" charset="0"/>
              </a:rPr>
              <a:t>Tools: Remix </a:t>
            </a:r>
            <a:r>
              <a:rPr lang="en-IN" sz="1900" dirty="0" err="1" smtClean="0">
                <a:latin typeface="Verdana" panose="020B0604030504040204" pitchFamily="34" charset="0"/>
                <a:ea typeface="Verdana" panose="020B0604030504040204" pitchFamily="34" charset="0"/>
              </a:rPr>
              <a:t>IDE,Sepolia</a:t>
            </a:r>
            <a:r>
              <a:rPr lang="en-IN" sz="1900" dirty="0" smtClean="0">
                <a:latin typeface="Verdana" panose="020B0604030504040204" pitchFamily="34" charset="0"/>
                <a:ea typeface="Verdana" panose="020B0604030504040204" pitchFamily="34" charset="0"/>
              </a:rPr>
              <a:t> </a:t>
            </a:r>
            <a:r>
              <a:rPr lang="en-IN" sz="1900" dirty="0" err="1" smtClean="0">
                <a:latin typeface="Verdana" panose="020B0604030504040204" pitchFamily="34" charset="0"/>
                <a:ea typeface="Verdana" panose="020B0604030504040204" pitchFamily="34" charset="0"/>
              </a:rPr>
              <a:t>Ethereum,Metamask,Sepolia</a:t>
            </a:r>
            <a:r>
              <a:rPr lang="en-IN" sz="1900" dirty="0" smtClean="0">
                <a:latin typeface="Verdana" panose="020B0604030504040204" pitchFamily="34" charset="0"/>
                <a:ea typeface="Verdana" panose="020B0604030504040204" pitchFamily="34" charset="0"/>
              </a:rPr>
              <a:t> POW </a:t>
            </a:r>
            <a:r>
              <a:rPr lang="en-IN" sz="1900" dirty="0" err="1" smtClean="0">
                <a:latin typeface="Verdana" panose="020B0604030504040204" pitchFamily="34" charset="0"/>
                <a:ea typeface="Verdana" panose="020B0604030504040204" pitchFamily="34" charset="0"/>
              </a:rPr>
              <a:t>Faucet,Sepolia</a:t>
            </a:r>
            <a:r>
              <a:rPr lang="en-IN" sz="1900" dirty="0" smtClean="0">
                <a:latin typeface="Verdana" panose="020B0604030504040204" pitchFamily="34" charset="0"/>
                <a:ea typeface="Verdana" panose="020B0604030504040204" pitchFamily="34" charset="0"/>
              </a:rPr>
              <a:t> </a:t>
            </a:r>
            <a:r>
              <a:rPr lang="en-IN" sz="1900" dirty="0" err="1" smtClean="0">
                <a:latin typeface="Verdana" panose="020B0604030504040204" pitchFamily="34" charset="0"/>
                <a:ea typeface="Verdana" panose="020B0604030504040204" pitchFamily="34" charset="0"/>
              </a:rPr>
              <a:t>Ethersacn</a:t>
            </a:r>
            <a:endParaRPr lang="en-IN" sz="1900" dirty="0" smtClean="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endParaRPr lang="en-IN" sz="1900"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IN" sz="1900" dirty="0">
                <a:latin typeface="Verdana" panose="020B0604030504040204" pitchFamily="34" charset="0"/>
                <a:ea typeface="Verdana" panose="020B0604030504040204" pitchFamily="34" charset="0"/>
              </a:rPr>
              <a:t>App: React Native and Expo Go</a:t>
            </a:r>
          </a:p>
          <a:p>
            <a:pPr marL="285750" indent="-285750">
              <a:buFont typeface="Arial" panose="020B0604020202020204" pitchFamily="34" charset="0"/>
              <a:buChar char="•"/>
            </a:pPr>
            <a:endParaRPr lang="en-IN" sz="1900"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IN" sz="1900" dirty="0">
                <a:latin typeface="Verdana" panose="020B0604030504040204" pitchFamily="34" charset="0"/>
                <a:ea typeface="Verdana" panose="020B0604030504040204" pitchFamily="34" charset="0"/>
              </a:rPr>
              <a:t>User Database: Supabase</a:t>
            </a:r>
          </a:p>
        </p:txBody>
      </p:sp>
    </p:spTree>
    <p:extLst>
      <p:ext uri="{BB962C8B-B14F-4D97-AF65-F5344CB8AC3E}">
        <p14:creationId xmlns:p14="http://schemas.microsoft.com/office/powerpoint/2010/main" val="615070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7391400" y="6477000"/>
            <a:ext cx="1600200" cy="195263"/>
          </a:xfrm>
        </p:spPr>
        <p:txBody>
          <a:bodyPr/>
          <a:lstStyle/>
          <a:p>
            <a:pPr>
              <a:defRPr/>
            </a:pPr>
            <a:fld id="{02246FD1-0723-4B2F-9706-10282F2BA698}" type="slidenum">
              <a:rPr lang="en-US" smtClean="0">
                <a:latin typeface="Verdana" panose="020B0604030504040204" pitchFamily="34" charset="0"/>
                <a:ea typeface="Verdana" panose="020B0604030504040204" pitchFamily="34" charset="0"/>
              </a:rPr>
              <a:pPr>
                <a:defRPr/>
              </a:pPr>
              <a:t>13</a:t>
            </a:fld>
            <a:r>
              <a:rPr lang="en-US" dirty="0">
                <a:latin typeface="Verdana" panose="020B0604030504040204" pitchFamily="34" charset="0"/>
                <a:ea typeface="Verdana" panose="020B0604030504040204" pitchFamily="34" charset="0"/>
              </a:rPr>
              <a:t> </a:t>
            </a:r>
          </a:p>
        </p:txBody>
      </p:sp>
      <p:sp>
        <p:nvSpPr>
          <p:cNvPr id="18" name="Rectangle 3"/>
          <p:cNvSpPr txBox="1">
            <a:spLocks noChangeArrowheads="1"/>
          </p:cNvSpPr>
          <p:nvPr/>
        </p:nvSpPr>
        <p:spPr>
          <a:xfrm>
            <a:off x="1543050" y="3371850"/>
            <a:ext cx="6286500" cy="342900"/>
          </a:xfrm>
          <a:prstGeom prst="rect">
            <a:avLst/>
          </a:prstGeom>
        </p:spPr>
        <p:txBody>
          <a:bodyPr/>
          <a:lstStyle/>
          <a:p>
            <a:pPr algn="ctr" eaLnBrk="0" fontAlgn="base" hangingPunct="0">
              <a:spcBef>
                <a:spcPct val="20000"/>
              </a:spcBef>
              <a:spcAft>
                <a:spcPct val="20000"/>
              </a:spcAft>
              <a:defRPr/>
            </a:pPr>
            <a:endParaRPr lang="en-US" sz="3600" dirty="0">
              <a:sym typeface="Symbol" pitchFamily="18" charset="2"/>
            </a:endParaRPr>
          </a:p>
        </p:txBody>
      </p:sp>
      <p:sp>
        <p:nvSpPr>
          <p:cNvPr id="3" name="Title 2">
            <a:extLst>
              <a:ext uri="{FF2B5EF4-FFF2-40B4-BE49-F238E27FC236}">
                <a16:creationId xmlns:a16="http://schemas.microsoft.com/office/drawing/2014/main" id="{7CBEB6BF-435C-4050-8916-C2A3F4028ED5}"/>
              </a:ext>
            </a:extLst>
          </p:cNvPr>
          <p:cNvSpPr>
            <a:spLocks noGrp="1"/>
          </p:cNvSpPr>
          <p:nvPr>
            <p:ph type="title"/>
          </p:nvPr>
        </p:nvSpPr>
        <p:spPr/>
        <p:txBody>
          <a:bodyPr>
            <a:normAutofit/>
          </a:bodyPr>
          <a:lstStyle/>
          <a:p>
            <a:r>
              <a:rPr lang="en-US" sz="2800" dirty="0"/>
              <a:t>Algorithms</a:t>
            </a:r>
            <a:endParaRPr lang="en-IN" sz="2800" dirty="0">
              <a:latin typeface="Verdana" panose="020B0604030504040204" pitchFamily="34" charset="0"/>
              <a:ea typeface="Verdana" panose="020B0604030504040204" pitchFamily="34" charset="0"/>
            </a:endParaRPr>
          </a:p>
        </p:txBody>
      </p:sp>
      <p:sp>
        <p:nvSpPr>
          <p:cNvPr id="2" name="Rectangle: Rounded Corners 1">
            <a:extLst>
              <a:ext uri="{FF2B5EF4-FFF2-40B4-BE49-F238E27FC236}">
                <a16:creationId xmlns:a16="http://schemas.microsoft.com/office/drawing/2014/main" id="{ADF235F6-BE0F-6E80-8BC6-00D14458919A}"/>
              </a:ext>
            </a:extLst>
          </p:cNvPr>
          <p:cNvSpPr/>
          <p:nvPr/>
        </p:nvSpPr>
        <p:spPr>
          <a:xfrm>
            <a:off x="762000" y="1066800"/>
            <a:ext cx="1752600" cy="914400"/>
          </a:xfrm>
          <a:prstGeom prst="roundRect">
            <a:avLst/>
          </a:prstGeom>
          <a:solidFill>
            <a:schemeClr val="accent1">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lumMod val="75000"/>
                  </a:schemeClr>
                </a:solidFill>
              </a:rPr>
              <a:t>Collect Fruit Images &amp; Metadata</a:t>
            </a:r>
          </a:p>
        </p:txBody>
      </p:sp>
      <p:sp>
        <p:nvSpPr>
          <p:cNvPr id="5" name="Rectangle: Rounded Corners 4">
            <a:extLst>
              <a:ext uri="{FF2B5EF4-FFF2-40B4-BE49-F238E27FC236}">
                <a16:creationId xmlns:a16="http://schemas.microsoft.com/office/drawing/2014/main" id="{9A3AAFF9-85D3-4FCE-2172-F81D4CAD465F}"/>
              </a:ext>
            </a:extLst>
          </p:cNvPr>
          <p:cNvSpPr/>
          <p:nvPr/>
        </p:nvSpPr>
        <p:spPr>
          <a:xfrm>
            <a:off x="3695700" y="1066800"/>
            <a:ext cx="1752600" cy="914400"/>
          </a:xfrm>
          <a:prstGeom prst="roundRect">
            <a:avLst/>
          </a:prstGeom>
          <a:solidFill>
            <a:schemeClr val="accent1">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lumMod val="75000"/>
                  </a:schemeClr>
                </a:solidFill>
              </a:rPr>
              <a:t>Preprocess Images</a:t>
            </a:r>
          </a:p>
        </p:txBody>
      </p:sp>
      <p:sp>
        <p:nvSpPr>
          <p:cNvPr id="6" name="Rectangle: Rounded Corners 5">
            <a:extLst>
              <a:ext uri="{FF2B5EF4-FFF2-40B4-BE49-F238E27FC236}">
                <a16:creationId xmlns:a16="http://schemas.microsoft.com/office/drawing/2014/main" id="{8B81A5FD-2733-7ACC-2AF9-7516A835288E}"/>
              </a:ext>
            </a:extLst>
          </p:cNvPr>
          <p:cNvSpPr/>
          <p:nvPr/>
        </p:nvSpPr>
        <p:spPr>
          <a:xfrm>
            <a:off x="6629400" y="1066800"/>
            <a:ext cx="1752600" cy="914400"/>
          </a:xfrm>
          <a:prstGeom prst="roundRect">
            <a:avLst/>
          </a:prstGeom>
          <a:solidFill>
            <a:schemeClr val="accent1">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lumMod val="75000"/>
                  </a:schemeClr>
                </a:solidFill>
              </a:rPr>
              <a:t>Train ML Model for Grading</a:t>
            </a:r>
          </a:p>
        </p:txBody>
      </p:sp>
      <p:sp>
        <p:nvSpPr>
          <p:cNvPr id="9" name="Rectangle: Rounded Corners 8">
            <a:extLst>
              <a:ext uri="{FF2B5EF4-FFF2-40B4-BE49-F238E27FC236}">
                <a16:creationId xmlns:a16="http://schemas.microsoft.com/office/drawing/2014/main" id="{D11C74D5-67D0-6A51-A6D4-10A9444189E5}"/>
              </a:ext>
            </a:extLst>
          </p:cNvPr>
          <p:cNvSpPr/>
          <p:nvPr/>
        </p:nvSpPr>
        <p:spPr>
          <a:xfrm>
            <a:off x="762000" y="3124200"/>
            <a:ext cx="1752600" cy="914400"/>
          </a:xfrm>
          <a:prstGeom prst="roundRect">
            <a:avLst/>
          </a:prstGeom>
          <a:solidFill>
            <a:schemeClr val="accent1">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lumMod val="75000"/>
                  </a:schemeClr>
                </a:solidFill>
              </a:rPr>
              <a:t>Create API for Access</a:t>
            </a:r>
          </a:p>
        </p:txBody>
      </p:sp>
      <p:sp>
        <p:nvSpPr>
          <p:cNvPr id="10" name="Rectangle: Rounded Corners 9">
            <a:extLst>
              <a:ext uri="{FF2B5EF4-FFF2-40B4-BE49-F238E27FC236}">
                <a16:creationId xmlns:a16="http://schemas.microsoft.com/office/drawing/2014/main" id="{F0A66A69-D968-1961-0D2E-2973A59EFFB1}"/>
              </a:ext>
            </a:extLst>
          </p:cNvPr>
          <p:cNvSpPr/>
          <p:nvPr/>
        </p:nvSpPr>
        <p:spPr>
          <a:xfrm>
            <a:off x="3695700" y="3124200"/>
            <a:ext cx="1752600" cy="914400"/>
          </a:xfrm>
          <a:prstGeom prst="roundRect">
            <a:avLst/>
          </a:prstGeom>
          <a:solidFill>
            <a:schemeClr val="accent1">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lumMod val="75000"/>
                  </a:schemeClr>
                </a:solidFill>
              </a:rPr>
              <a:t>Store Reports on Blockchain</a:t>
            </a:r>
          </a:p>
        </p:txBody>
      </p:sp>
      <p:sp>
        <p:nvSpPr>
          <p:cNvPr id="11" name="Rectangle: Rounded Corners 10">
            <a:extLst>
              <a:ext uri="{FF2B5EF4-FFF2-40B4-BE49-F238E27FC236}">
                <a16:creationId xmlns:a16="http://schemas.microsoft.com/office/drawing/2014/main" id="{4AEE050E-471D-1851-6C53-825C6A465C8C}"/>
              </a:ext>
            </a:extLst>
          </p:cNvPr>
          <p:cNvSpPr/>
          <p:nvPr/>
        </p:nvSpPr>
        <p:spPr>
          <a:xfrm>
            <a:off x="6629400" y="3124200"/>
            <a:ext cx="1752600" cy="914400"/>
          </a:xfrm>
          <a:prstGeom prst="roundRect">
            <a:avLst/>
          </a:prstGeom>
          <a:solidFill>
            <a:schemeClr val="accent1">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lumMod val="75000"/>
                  </a:schemeClr>
                </a:solidFill>
              </a:rPr>
              <a:t>Generate Quality Reports</a:t>
            </a:r>
          </a:p>
        </p:txBody>
      </p:sp>
      <p:sp>
        <p:nvSpPr>
          <p:cNvPr id="12" name="Rectangle: Rounded Corners 11">
            <a:extLst>
              <a:ext uri="{FF2B5EF4-FFF2-40B4-BE49-F238E27FC236}">
                <a16:creationId xmlns:a16="http://schemas.microsoft.com/office/drawing/2014/main" id="{99EE8507-5CE0-B29D-81A9-A5043362C3DD}"/>
              </a:ext>
            </a:extLst>
          </p:cNvPr>
          <p:cNvSpPr/>
          <p:nvPr/>
        </p:nvSpPr>
        <p:spPr>
          <a:xfrm>
            <a:off x="762000" y="5181600"/>
            <a:ext cx="1752600" cy="914400"/>
          </a:xfrm>
          <a:prstGeom prst="roundRect">
            <a:avLst/>
          </a:prstGeom>
          <a:solidFill>
            <a:schemeClr val="accent1">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lumMod val="75000"/>
                  </a:schemeClr>
                </a:solidFill>
              </a:rPr>
              <a:t>Develop User Interface</a:t>
            </a:r>
          </a:p>
        </p:txBody>
      </p:sp>
      <p:sp>
        <p:nvSpPr>
          <p:cNvPr id="13" name="Rectangle: Rounded Corners 12">
            <a:extLst>
              <a:ext uri="{FF2B5EF4-FFF2-40B4-BE49-F238E27FC236}">
                <a16:creationId xmlns:a16="http://schemas.microsoft.com/office/drawing/2014/main" id="{C4243544-7BCD-87B4-8D3A-30D8F2891897}"/>
              </a:ext>
            </a:extLst>
          </p:cNvPr>
          <p:cNvSpPr/>
          <p:nvPr/>
        </p:nvSpPr>
        <p:spPr>
          <a:xfrm>
            <a:off x="3695700" y="5181600"/>
            <a:ext cx="1752600" cy="914400"/>
          </a:xfrm>
          <a:prstGeom prst="roundRect">
            <a:avLst/>
          </a:prstGeom>
          <a:solidFill>
            <a:schemeClr val="accent1">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lumMod val="75000"/>
                  </a:schemeClr>
                </a:solidFill>
              </a:rPr>
              <a:t>Integrate with Mobile</a:t>
            </a:r>
            <a:endParaRPr lang="en-IN" dirty="0">
              <a:solidFill>
                <a:schemeClr val="tx2">
                  <a:lumMod val="75000"/>
                </a:schemeClr>
              </a:solidFill>
            </a:endParaRPr>
          </a:p>
        </p:txBody>
      </p:sp>
      <p:sp>
        <p:nvSpPr>
          <p:cNvPr id="14" name="Rectangle: Rounded Corners 13">
            <a:extLst>
              <a:ext uri="{FF2B5EF4-FFF2-40B4-BE49-F238E27FC236}">
                <a16:creationId xmlns:a16="http://schemas.microsoft.com/office/drawing/2014/main" id="{DE9451AC-CD75-24A4-852F-8A267635D381}"/>
              </a:ext>
            </a:extLst>
          </p:cNvPr>
          <p:cNvSpPr/>
          <p:nvPr/>
        </p:nvSpPr>
        <p:spPr>
          <a:xfrm>
            <a:off x="6629400" y="5181600"/>
            <a:ext cx="1752600" cy="914400"/>
          </a:xfrm>
          <a:prstGeom prst="roundRect">
            <a:avLst/>
          </a:prstGeom>
          <a:solidFill>
            <a:schemeClr val="accent1">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lumMod val="75000"/>
                  </a:schemeClr>
                </a:solidFill>
              </a:rPr>
              <a:t>Enable Real-time Updates &amp; Auditing</a:t>
            </a:r>
          </a:p>
        </p:txBody>
      </p:sp>
      <p:cxnSp>
        <p:nvCxnSpPr>
          <p:cNvPr id="16" name="Straight Arrow Connector 15">
            <a:extLst>
              <a:ext uri="{FF2B5EF4-FFF2-40B4-BE49-F238E27FC236}">
                <a16:creationId xmlns:a16="http://schemas.microsoft.com/office/drawing/2014/main" id="{7819DCA1-03F3-4159-C4EE-8CDF7B15975E}"/>
              </a:ext>
            </a:extLst>
          </p:cNvPr>
          <p:cNvCxnSpPr>
            <a:cxnSpLocks/>
            <a:stCxn id="2" idx="3"/>
            <a:endCxn id="5" idx="1"/>
          </p:cNvCxnSpPr>
          <p:nvPr/>
        </p:nvCxnSpPr>
        <p:spPr>
          <a:xfrm>
            <a:off x="2514600" y="1524000"/>
            <a:ext cx="1181100" cy="0"/>
          </a:xfrm>
          <a:prstGeom prst="straightConnector1">
            <a:avLst/>
          </a:prstGeom>
          <a:ln>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99E0C11-F62A-F2FD-2D56-E933A490BED7}"/>
              </a:ext>
            </a:extLst>
          </p:cNvPr>
          <p:cNvCxnSpPr>
            <a:cxnSpLocks/>
          </p:cNvCxnSpPr>
          <p:nvPr/>
        </p:nvCxnSpPr>
        <p:spPr>
          <a:xfrm>
            <a:off x="5448300" y="1524000"/>
            <a:ext cx="1181100" cy="0"/>
          </a:xfrm>
          <a:prstGeom prst="straightConnector1">
            <a:avLst/>
          </a:prstGeom>
          <a:ln>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BAB3437-5C3B-F327-42DF-D4A372BE01E0}"/>
              </a:ext>
            </a:extLst>
          </p:cNvPr>
          <p:cNvCxnSpPr>
            <a:cxnSpLocks/>
          </p:cNvCxnSpPr>
          <p:nvPr/>
        </p:nvCxnSpPr>
        <p:spPr>
          <a:xfrm flipH="1">
            <a:off x="2514600" y="3581400"/>
            <a:ext cx="1181100" cy="0"/>
          </a:xfrm>
          <a:prstGeom prst="straightConnector1">
            <a:avLst/>
          </a:prstGeom>
          <a:ln>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7C7C99B-3AC0-59E2-3205-0FD06DEA5394}"/>
              </a:ext>
            </a:extLst>
          </p:cNvPr>
          <p:cNvCxnSpPr>
            <a:cxnSpLocks/>
          </p:cNvCxnSpPr>
          <p:nvPr/>
        </p:nvCxnSpPr>
        <p:spPr>
          <a:xfrm flipH="1">
            <a:off x="5448300" y="3581400"/>
            <a:ext cx="1181100" cy="0"/>
          </a:xfrm>
          <a:prstGeom prst="straightConnector1">
            <a:avLst/>
          </a:prstGeom>
          <a:ln>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3970476-F6AA-29E7-E200-901022103B25}"/>
              </a:ext>
            </a:extLst>
          </p:cNvPr>
          <p:cNvCxnSpPr>
            <a:cxnSpLocks/>
          </p:cNvCxnSpPr>
          <p:nvPr/>
        </p:nvCxnSpPr>
        <p:spPr>
          <a:xfrm>
            <a:off x="2514600" y="5638800"/>
            <a:ext cx="1181100" cy="0"/>
          </a:xfrm>
          <a:prstGeom prst="straightConnector1">
            <a:avLst/>
          </a:prstGeom>
          <a:ln>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F1FA87E-4E83-B939-5548-CB6AB4472F0E}"/>
              </a:ext>
            </a:extLst>
          </p:cNvPr>
          <p:cNvCxnSpPr>
            <a:cxnSpLocks/>
          </p:cNvCxnSpPr>
          <p:nvPr/>
        </p:nvCxnSpPr>
        <p:spPr>
          <a:xfrm>
            <a:off x="5448300" y="5638800"/>
            <a:ext cx="1181100" cy="0"/>
          </a:xfrm>
          <a:prstGeom prst="straightConnector1">
            <a:avLst/>
          </a:prstGeom>
          <a:ln>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CE81257-1490-043A-C7BF-72E13895F5D7}"/>
              </a:ext>
            </a:extLst>
          </p:cNvPr>
          <p:cNvCxnSpPr>
            <a:cxnSpLocks/>
            <a:stCxn id="6" idx="2"/>
            <a:endCxn id="11" idx="0"/>
          </p:cNvCxnSpPr>
          <p:nvPr/>
        </p:nvCxnSpPr>
        <p:spPr>
          <a:xfrm>
            <a:off x="7505700" y="1981200"/>
            <a:ext cx="0" cy="1143000"/>
          </a:xfrm>
          <a:prstGeom prst="straightConnector1">
            <a:avLst/>
          </a:prstGeom>
          <a:ln>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EEED729-B49D-DCF1-8D39-B39FF10044C3}"/>
              </a:ext>
            </a:extLst>
          </p:cNvPr>
          <p:cNvCxnSpPr>
            <a:cxnSpLocks/>
          </p:cNvCxnSpPr>
          <p:nvPr/>
        </p:nvCxnSpPr>
        <p:spPr>
          <a:xfrm>
            <a:off x="1654904" y="4038600"/>
            <a:ext cx="0" cy="1143000"/>
          </a:xfrm>
          <a:prstGeom prst="straightConnector1">
            <a:avLst/>
          </a:prstGeom>
          <a:ln>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0884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7391400" y="6477000"/>
            <a:ext cx="1600200" cy="195263"/>
          </a:xfrm>
        </p:spPr>
        <p:txBody>
          <a:bodyPr/>
          <a:lstStyle/>
          <a:p>
            <a:pPr>
              <a:defRPr/>
            </a:pPr>
            <a:fld id="{02246FD1-0723-4B2F-9706-10282F2BA698}" type="slidenum">
              <a:rPr lang="en-US" smtClean="0">
                <a:latin typeface="Verdana" panose="020B0604030504040204" pitchFamily="34" charset="0"/>
                <a:ea typeface="Verdana" panose="020B0604030504040204" pitchFamily="34" charset="0"/>
              </a:rPr>
              <a:pPr>
                <a:defRPr/>
              </a:pPr>
              <a:t>14</a:t>
            </a:fld>
            <a:r>
              <a:rPr lang="en-US" dirty="0">
                <a:latin typeface="Verdana" panose="020B0604030504040204" pitchFamily="34" charset="0"/>
                <a:ea typeface="Verdana" panose="020B0604030504040204" pitchFamily="34" charset="0"/>
              </a:rPr>
              <a:t> </a:t>
            </a:r>
          </a:p>
        </p:txBody>
      </p:sp>
      <p:sp>
        <p:nvSpPr>
          <p:cNvPr id="18" name="Rectangle 3"/>
          <p:cNvSpPr txBox="1">
            <a:spLocks noChangeArrowheads="1"/>
          </p:cNvSpPr>
          <p:nvPr/>
        </p:nvSpPr>
        <p:spPr>
          <a:xfrm>
            <a:off x="1543050" y="3371850"/>
            <a:ext cx="6286500" cy="342900"/>
          </a:xfrm>
          <a:prstGeom prst="rect">
            <a:avLst/>
          </a:prstGeom>
        </p:spPr>
        <p:txBody>
          <a:bodyPr/>
          <a:lstStyle/>
          <a:p>
            <a:pPr algn="ctr" eaLnBrk="0" fontAlgn="base" hangingPunct="0">
              <a:spcBef>
                <a:spcPct val="20000"/>
              </a:spcBef>
              <a:spcAft>
                <a:spcPct val="20000"/>
              </a:spcAft>
              <a:defRPr/>
            </a:pPr>
            <a:endParaRPr lang="en-US" sz="3600" dirty="0">
              <a:sym typeface="Symbol" pitchFamily="18" charset="2"/>
            </a:endParaRPr>
          </a:p>
        </p:txBody>
      </p:sp>
      <p:sp>
        <p:nvSpPr>
          <p:cNvPr id="3" name="Title 2">
            <a:extLst>
              <a:ext uri="{FF2B5EF4-FFF2-40B4-BE49-F238E27FC236}">
                <a16:creationId xmlns:a16="http://schemas.microsoft.com/office/drawing/2014/main" id="{7CBEB6BF-435C-4050-8916-C2A3F4028ED5}"/>
              </a:ext>
            </a:extLst>
          </p:cNvPr>
          <p:cNvSpPr>
            <a:spLocks noGrp="1"/>
          </p:cNvSpPr>
          <p:nvPr>
            <p:ph type="title"/>
          </p:nvPr>
        </p:nvSpPr>
        <p:spPr>
          <a:xfrm>
            <a:off x="1295400" y="-4763"/>
            <a:ext cx="7129617" cy="639763"/>
          </a:xfrm>
        </p:spPr>
        <p:txBody>
          <a:bodyPr>
            <a:normAutofit fontScale="90000"/>
          </a:bodyPr>
          <a:lstStyle/>
          <a:p>
            <a:r>
              <a:rPr lang="en-US" dirty="0"/>
              <a:t>SYSTEM ARCHITECTURE  (Grade My Apple)</a:t>
            </a:r>
            <a:endParaRPr lang="en-IN" sz="2800" dirty="0">
              <a:latin typeface="Verdana" panose="020B0604030504040204" pitchFamily="34" charset="0"/>
              <a:ea typeface="Verdana" panose="020B0604030504040204" pitchFamily="34"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295400"/>
            <a:ext cx="8077200" cy="4543425"/>
          </a:xfrm>
          <a:prstGeom prst="rect">
            <a:avLst/>
          </a:prstGeom>
        </p:spPr>
      </p:pic>
    </p:spTree>
    <p:extLst>
      <p:ext uri="{BB962C8B-B14F-4D97-AF65-F5344CB8AC3E}">
        <p14:creationId xmlns:p14="http://schemas.microsoft.com/office/powerpoint/2010/main" val="1044078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7391400" y="6477000"/>
            <a:ext cx="1600200" cy="195263"/>
          </a:xfrm>
        </p:spPr>
        <p:txBody>
          <a:bodyPr/>
          <a:lstStyle/>
          <a:p>
            <a:pPr>
              <a:defRPr/>
            </a:pPr>
            <a:fld id="{02246FD1-0723-4B2F-9706-10282F2BA698}" type="slidenum">
              <a:rPr lang="en-US" smtClean="0">
                <a:latin typeface="Verdana" panose="020B0604030504040204" pitchFamily="34" charset="0"/>
                <a:ea typeface="Verdana" panose="020B0604030504040204" pitchFamily="34" charset="0"/>
              </a:rPr>
              <a:pPr>
                <a:defRPr/>
              </a:pPr>
              <a:t>15</a:t>
            </a:fld>
            <a:r>
              <a:rPr lang="en-US" dirty="0">
                <a:latin typeface="Verdana" panose="020B0604030504040204" pitchFamily="34" charset="0"/>
                <a:ea typeface="Verdana" panose="020B0604030504040204" pitchFamily="34" charset="0"/>
              </a:rPr>
              <a:t> </a:t>
            </a:r>
          </a:p>
        </p:txBody>
      </p:sp>
      <p:sp>
        <p:nvSpPr>
          <p:cNvPr id="18" name="Rectangle 3"/>
          <p:cNvSpPr txBox="1">
            <a:spLocks noChangeArrowheads="1"/>
          </p:cNvSpPr>
          <p:nvPr/>
        </p:nvSpPr>
        <p:spPr>
          <a:xfrm>
            <a:off x="1543050" y="3371850"/>
            <a:ext cx="6286500" cy="342900"/>
          </a:xfrm>
          <a:prstGeom prst="rect">
            <a:avLst/>
          </a:prstGeom>
        </p:spPr>
        <p:txBody>
          <a:bodyPr/>
          <a:lstStyle/>
          <a:p>
            <a:pPr algn="ctr" eaLnBrk="0" fontAlgn="base" hangingPunct="0">
              <a:spcBef>
                <a:spcPct val="20000"/>
              </a:spcBef>
              <a:spcAft>
                <a:spcPct val="20000"/>
              </a:spcAft>
              <a:defRPr/>
            </a:pPr>
            <a:endParaRPr lang="en-US" sz="3600" dirty="0">
              <a:sym typeface="Symbol" pitchFamily="18" charset="2"/>
            </a:endParaRPr>
          </a:p>
        </p:txBody>
      </p:sp>
      <p:sp>
        <p:nvSpPr>
          <p:cNvPr id="3" name="Title 2">
            <a:extLst>
              <a:ext uri="{FF2B5EF4-FFF2-40B4-BE49-F238E27FC236}">
                <a16:creationId xmlns:a16="http://schemas.microsoft.com/office/drawing/2014/main" id="{7CBEB6BF-435C-4050-8916-C2A3F4028ED5}"/>
              </a:ext>
            </a:extLst>
          </p:cNvPr>
          <p:cNvSpPr>
            <a:spLocks noGrp="1"/>
          </p:cNvSpPr>
          <p:nvPr>
            <p:ph type="title"/>
          </p:nvPr>
        </p:nvSpPr>
        <p:spPr/>
        <p:txBody>
          <a:bodyPr>
            <a:normAutofit/>
          </a:bodyPr>
          <a:lstStyle/>
          <a:p>
            <a:r>
              <a:rPr lang="en-US" sz="2800" dirty="0"/>
              <a:t>Results and Discussion</a:t>
            </a:r>
            <a:endParaRPr lang="en-IN" sz="2800" dirty="0">
              <a:latin typeface="Verdana" panose="020B0604030504040204" pitchFamily="34" charset="0"/>
              <a:ea typeface="Verdana" panose="020B0604030504040204" pitchFamily="34" charset="0"/>
            </a:endParaRPr>
          </a:p>
        </p:txBody>
      </p:sp>
      <p:sp>
        <p:nvSpPr>
          <p:cNvPr id="2" name="TextBox 1">
            <a:extLst>
              <a:ext uri="{FF2B5EF4-FFF2-40B4-BE49-F238E27FC236}">
                <a16:creationId xmlns:a16="http://schemas.microsoft.com/office/drawing/2014/main" id="{2F34D6C5-DA0C-5B61-B44B-2A3BB2C2809A}"/>
              </a:ext>
            </a:extLst>
          </p:cNvPr>
          <p:cNvSpPr txBox="1"/>
          <p:nvPr/>
        </p:nvSpPr>
        <p:spPr>
          <a:xfrm>
            <a:off x="885670" y="1087463"/>
            <a:ext cx="7315200" cy="2246769"/>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Verdana" panose="020B0604030504040204" pitchFamily="34" charset="0"/>
                <a:ea typeface="Verdana" panose="020B0604030504040204" pitchFamily="34" charset="0"/>
              </a:rPr>
              <a:t>Dataset: 3330+ images (3 classes).</a:t>
            </a:r>
          </a:p>
          <a:p>
            <a:pPr marL="285750" indent="-285750">
              <a:buFont typeface="Arial" panose="020B0604020202020204" pitchFamily="34" charset="0"/>
              <a:buChar char="•"/>
            </a:pPr>
            <a:r>
              <a:rPr lang="en-IN" sz="2000" dirty="0">
                <a:latin typeface="Verdana" panose="020B0604030504040204" pitchFamily="34" charset="0"/>
                <a:ea typeface="Verdana" panose="020B0604030504040204" pitchFamily="34" charset="0"/>
              </a:rPr>
              <a:t>Training Accuracy: ~95%</a:t>
            </a:r>
          </a:p>
          <a:p>
            <a:pPr marL="285750" indent="-285750">
              <a:buFont typeface="Arial" panose="020B0604020202020204" pitchFamily="34" charset="0"/>
              <a:buChar char="•"/>
            </a:pPr>
            <a:r>
              <a:rPr lang="en-IN" sz="2000" dirty="0">
                <a:latin typeface="Verdana" panose="020B0604030504040204" pitchFamily="34" charset="0"/>
                <a:ea typeface="Verdana" panose="020B0604030504040204" pitchFamily="34" charset="0"/>
              </a:rPr>
              <a:t>Validation Accuracy: ~88–90% (after augmentation, realistic).</a:t>
            </a:r>
          </a:p>
          <a:p>
            <a:pPr marL="285750" indent="-285750">
              <a:buFont typeface="Arial" panose="020B0604020202020204" pitchFamily="34" charset="0"/>
              <a:buChar char="•"/>
            </a:pPr>
            <a:r>
              <a:rPr lang="en-IN" sz="2000" dirty="0">
                <a:latin typeface="Verdana" panose="020B0604030504040204" pitchFamily="34" charset="0"/>
                <a:ea typeface="Verdana" panose="020B0604030504040204" pitchFamily="34" charset="0"/>
              </a:rPr>
              <a:t>Model successfully classified unseen apple images.</a:t>
            </a:r>
          </a:p>
          <a:p>
            <a:pPr marL="285750" indent="-285750">
              <a:buFont typeface="Arial" panose="020B0604020202020204" pitchFamily="34" charset="0"/>
              <a:buChar char="•"/>
            </a:pPr>
            <a:r>
              <a:rPr lang="en-IN" sz="2000" dirty="0">
                <a:latin typeface="Verdana" panose="020B0604030504040204" pitchFamily="34" charset="0"/>
                <a:ea typeface="Verdana" panose="020B0604030504040204" pitchFamily="34" charset="0"/>
              </a:rPr>
              <a:t>Blockchain structure explored, but full implementation is future scope.</a:t>
            </a:r>
          </a:p>
        </p:txBody>
      </p:sp>
      <p:pic>
        <p:nvPicPr>
          <p:cNvPr id="6" name="Picture 5">
            <a:extLst>
              <a:ext uri="{FF2B5EF4-FFF2-40B4-BE49-F238E27FC236}">
                <a16:creationId xmlns:a16="http://schemas.microsoft.com/office/drawing/2014/main" id="{D538633F-9D94-1515-0390-30EA2CA4BF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950" y="3428999"/>
            <a:ext cx="3829050" cy="3281363"/>
          </a:xfrm>
          <a:prstGeom prst="rect">
            <a:avLst/>
          </a:prstGeom>
        </p:spPr>
      </p:pic>
      <p:pic>
        <p:nvPicPr>
          <p:cNvPr id="8" name="Picture 7">
            <a:extLst>
              <a:ext uri="{FF2B5EF4-FFF2-40B4-BE49-F238E27FC236}">
                <a16:creationId xmlns:a16="http://schemas.microsoft.com/office/drawing/2014/main" id="{4A477376-BF9A-4922-9E04-93DED95595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74449" y="3429498"/>
            <a:ext cx="3483751" cy="3283758"/>
          </a:xfrm>
          <a:prstGeom prst="rect">
            <a:avLst/>
          </a:prstGeom>
        </p:spPr>
      </p:pic>
    </p:spTree>
    <p:extLst>
      <p:ext uri="{BB962C8B-B14F-4D97-AF65-F5344CB8AC3E}">
        <p14:creationId xmlns:p14="http://schemas.microsoft.com/office/powerpoint/2010/main" val="2928584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7391400" y="6477000"/>
            <a:ext cx="1600200" cy="195263"/>
          </a:xfrm>
        </p:spPr>
        <p:txBody>
          <a:bodyPr/>
          <a:lstStyle/>
          <a:p>
            <a:pPr>
              <a:defRPr/>
            </a:pPr>
            <a:fld id="{02246FD1-0723-4B2F-9706-10282F2BA698}" type="slidenum">
              <a:rPr lang="en-US" smtClean="0">
                <a:latin typeface="Verdana" panose="020B0604030504040204" pitchFamily="34" charset="0"/>
                <a:ea typeface="Verdana" panose="020B0604030504040204" pitchFamily="34" charset="0"/>
              </a:rPr>
              <a:pPr>
                <a:defRPr/>
              </a:pPr>
              <a:t>16</a:t>
            </a:fld>
            <a:r>
              <a:rPr lang="en-US" dirty="0">
                <a:latin typeface="Verdana" panose="020B0604030504040204" pitchFamily="34" charset="0"/>
                <a:ea typeface="Verdana" panose="020B0604030504040204" pitchFamily="34" charset="0"/>
              </a:rPr>
              <a:t> </a:t>
            </a:r>
          </a:p>
        </p:txBody>
      </p:sp>
      <p:sp>
        <p:nvSpPr>
          <p:cNvPr id="18" name="Rectangle 3"/>
          <p:cNvSpPr txBox="1">
            <a:spLocks noChangeArrowheads="1"/>
          </p:cNvSpPr>
          <p:nvPr/>
        </p:nvSpPr>
        <p:spPr>
          <a:xfrm>
            <a:off x="1543050" y="3371850"/>
            <a:ext cx="6286500" cy="342900"/>
          </a:xfrm>
          <a:prstGeom prst="rect">
            <a:avLst/>
          </a:prstGeom>
        </p:spPr>
        <p:txBody>
          <a:bodyPr/>
          <a:lstStyle/>
          <a:p>
            <a:pPr algn="ctr" eaLnBrk="0" fontAlgn="base" hangingPunct="0">
              <a:spcBef>
                <a:spcPct val="20000"/>
              </a:spcBef>
              <a:spcAft>
                <a:spcPct val="20000"/>
              </a:spcAft>
              <a:defRPr/>
            </a:pPr>
            <a:endParaRPr lang="en-US" sz="3600" dirty="0">
              <a:sym typeface="Symbol" pitchFamily="18" charset="2"/>
            </a:endParaRPr>
          </a:p>
        </p:txBody>
      </p:sp>
      <p:sp>
        <p:nvSpPr>
          <p:cNvPr id="3" name="Title 2">
            <a:extLst>
              <a:ext uri="{FF2B5EF4-FFF2-40B4-BE49-F238E27FC236}">
                <a16:creationId xmlns:a16="http://schemas.microsoft.com/office/drawing/2014/main" id="{7CBEB6BF-435C-4050-8916-C2A3F4028ED5}"/>
              </a:ext>
            </a:extLst>
          </p:cNvPr>
          <p:cNvSpPr>
            <a:spLocks noGrp="1"/>
          </p:cNvSpPr>
          <p:nvPr>
            <p:ph type="title"/>
          </p:nvPr>
        </p:nvSpPr>
        <p:spPr/>
        <p:txBody>
          <a:bodyPr>
            <a:normAutofit/>
          </a:bodyPr>
          <a:lstStyle/>
          <a:p>
            <a:r>
              <a:rPr lang="en-US" sz="2800" dirty="0"/>
              <a:t>Conclusion</a:t>
            </a:r>
            <a:endParaRPr lang="en-IN" sz="2800" dirty="0">
              <a:latin typeface="Verdana" panose="020B0604030504040204" pitchFamily="34" charset="0"/>
              <a:ea typeface="Verdana" panose="020B0604030504040204" pitchFamily="34" charset="0"/>
            </a:endParaRPr>
          </a:p>
        </p:txBody>
      </p:sp>
      <p:sp>
        <p:nvSpPr>
          <p:cNvPr id="6" name="TextBox 5">
            <a:extLst>
              <a:ext uri="{FF2B5EF4-FFF2-40B4-BE49-F238E27FC236}">
                <a16:creationId xmlns:a16="http://schemas.microsoft.com/office/drawing/2014/main" id="{33D7DF4F-129A-F022-BA6A-6B2C93F0AB57}"/>
              </a:ext>
            </a:extLst>
          </p:cNvPr>
          <p:cNvSpPr txBox="1"/>
          <p:nvPr/>
        </p:nvSpPr>
        <p:spPr>
          <a:xfrm>
            <a:off x="914400" y="1052482"/>
            <a:ext cx="7315200" cy="5324535"/>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latin typeface="Verdana" panose="020B0604030504040204" pitchFamily="34" charset="0"/>
                <a:ea typeface="Verdana" panose="020B0604030504040204" pitchFamily="34" charset="0"/>
              </a:rPr>
              <a:t>Developed a CNN model to classify apples into Fresh, Medium, Rotten.</a:t>
            </a:r>
          </a:p>
          <a:p>
            <a:pPr marL="285750" indent="-285750" algn="just">
              <a:buFont typeface="Arial" panose="020B0604020202020204" pitchFamily="34" charset="0"/>
              <a:buChar char="•"/>
            </a:pPr>
            <a:endParaRPr lang="en-US" sz="2000" dirty="0">
              <a:latin typeface="Verdana" panose="020B0604030504040204" pitchFamily="34" charset="0"/>
              <a:ea typeface="Verdana" panose="020B0604030504040204" pitchFamily="34" charset="0"/>
            </a:endParaRPr>
          </a:p>
          <a:p>
            <a:pPr marL="285750" indent="-285750" algn="just">
              <a:buFont typeface="Arial" panose="020B0604020202020204" pitchFamily="34" charset="0"/>
              <a:buChar char="•"/>
            </a:pPr>
            <a:r>
              <a:rPr lang="en-US" sz="2000" dirty="0">
                <a:latin typeface="Verdana" panose="020B0604030504040204" pitchFamily="34" charset="0"/>
                <a:ea typeface="Verdana" panose="020B0604030504040204" pitchFamily="34" charset="0"/>
              </a:rPr>
              <a:t>Achieved ~88–92% accuracy with data augmentation.</a:t>
            </a:r>
          </a:p>
          <a:p>
            <a:pPr marL="285750" indent="-285750" algn="just">
              <a:buFont typeface="Arial" panose="020B0604020202020204" pitchFamily="34" charset="0"/>
              <a:buChar char="•"/>
            </a:pPr>
            <a:endParaRPr lang="en-US" sz="2000" dirty="0">
              <a:latin typeface="Verdana" panose="020B0604030504040204" pitchFamily="34" charset="0"/>
              <a:ea typeface="Verdana" panose="020B0604030504040204" pitchFamily="34" charset="0"/>
            </a:endParaRPr>
          </a:p>
          <a:p>
            <a:pPr marL="285750" indent="-285750" algn="just">
              <a:buFont typeface="Arial" panose="020B0604020202020204" pitchFamily="34" charset="0"/>
              <a:buChar char="•"/>
            </a:pPr>
            <a:r>
              <a:rPr lang="en-US" sz="2000" dirty="0">
                <a:latin typeface="Verdana" panose="020B0604030504040204" pitchFamily="34" charset="0"/>
                <a:ea typeface="Verdana" panose="020B0604030504040204" pitchFamily="34" charset="0"/>
              </a:rPr>
              <a:t>Transfer learning improved results with limited dataset.</a:t>
            </a:r>
          </a:p>
          <a:p>
            <a:pPr marL="285750" indent="-285750" algn="just">
              <a:buFont typeface="Arial" panose="020B0604020202020204" pitchFamily="34" charset="0"/>
              <a:buChar char="•"/>
            </a:pPr>
            <a:endParaRPr lang="en-US" sz="2000" dirty="0">
              <a:latin typeface="Verdana" panose="020B0604030504040204" pitchFamily="34" charset="0"/>
              <a:ea typeface="Verdana" panose="020B0604030504040204" pitchFamily="34" charset="0"/>
            </a:endParaRPr>
          </a:p>
          <a:p>
            <a:pPr marL="285750" indent="-285750" algn="just">
              <a:buFont typeface="Arial" panose="020B0604020202020204" pitchFamily="34" charset="0"/>
              <a:buChar char="•"/>
            </a:pPr>
            <a:r>
              <a:rPr lang="en-US" sz="2000" dirty="0">
                <a:latin typeface="Verdana" panose="020B0604030504040204" pitchFamily="34" charset="0"/>
                <a:ea typeface="Verdana" panose="020B0604030504040204" pitchFamily="34" charset="0"/>
              </a:rPr>
              <a:t>Real-time prediction with confidence scores is possible.</a:t>
            </a:r>
          </a:p>
          <a:p>
            <a:pPr marL="285750" indent="-285750" algn="just">
              <a:buFont typeface="Arial" panose="020B0604020202020204" pitchFamily="34" charset="0"/>
              <a:buChar char="•"/>
            </a:pPr>
            <a:endParaRPr lang="en-US" sz="2000" dirty="0">
              <a:latin typeface="Verdana" panose="020B0604030504040204" pitchFamily="34" charset="0"/>
              <a:ea typeface="Verdana" panose="020B0604030504040204" pitchFamily="34" charset="0"/>
            </a:endParaRPr>
          </a:p>
          <a:p>
            <a:pPr marL="285750" indent="-285750" algn="just">
              <a:buFont typeface="Arial" panose="020B0604020202020204" pitchFamily="34" charset="0"/>
              <a:buChar char="•"/>
            </a:pPr>
            <a:r>
              <a:rPr lang="en-US" sz="2000" dirty="0">
                <a:latin typeface="Verdana" panose="020B0604030504040204" pitchFamily="34" charset="0"/>
                <a:ea typeface="Verdana" panose="020B0604030504040204" pitchFamily="34" charset="0"/>
              </a:rPr>
              <a:t>Blockchain integration (future) will add traceability &amp; security.</a:t>
            </a:r>
          </a:p>
          <a:p>
            <a:pPr marL="285750" indent="-285750" algn="just">
              <a:buFont typeface="Arial" panose="020B0604020202020204" pitchFamily="34" charset="0"/>
              <a:buChar char="•"/>
            </a:pPr>
            <a:endParaRPr lang="en-US" sz="2000" dirty="0">
              <a:latin typeface="Verdana" panose="020B0604030504040204" pitchFamily="34" charset="0"/>
              <a:ea typeface="Verdana" panose="020B0604030504040204" pitchFamily="34" charset="0"/>
            </a:endParaRPr>
          </a:p>
          <a:p>
            <a:pPr marL="285750" indent="-285750" algn="just">
              <a:buFont typeface="Arial" panose="020B0604020202020204" pitchFamily="34" charset="0"/>
              <a:buChar char="•"/>
            </a:pPr>
            <a:r>
              <a:rPr lang="en-US" sz="2000" dirty="0">
                <a:latin typeface="Verdana" panose="020B0604030504040204" pitchFamily="34" charset="0"/>
                <a:ea typeface="Verdana" panose="020B0604030504040204" pitchFamily="34" charset="0"/>
              </a:rPr>
              <a:t>System promotes modern agriculture, fair trade, and consumer trust.</a:t>
            </a:r>
            <a:endParaRPr lang="en-IN" sz="20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625339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7391400" y="6477000"/>
            <a:ext cx="1600200" cy="195263"/>
          </a:xfrm>
        </p:spPr>
        <p:txBody>
          <a:bodyPr/>
          <a:lstStyle/>
          <a:p>
            <a:pPr>
              <a:defRPr/>
            </a:pPr>
            <a:fld id="{02246FD1-0723-4B2F-9706-10282F2BA698}" type="slidenum">
              <a:rPr lang="en-US" smtClean="0">
                <a:latin typeface="Verdana" panose="020B0604030504040204" pitchFamily="34" charset="0"/>
                <a:ea typeface="Verdana" panose="020B0604030504040204" pitchFamily="34" charset="0"/>
              </a:rPr>
              <a:pPr>
                <a:defRPr/>
              </a:pPr>
              <a:t>17</a:t>
            </a:fld>
            <a:r>
              <a:rPr lang="en-US" dirty="0">
                <a:latin typeface="Verdana" panose="020B0604030504040204" pitchFamily="34" charset="0"/>
                <a:ea typeface="Verdana" panose="020B0604030504040204" pitchFamily="34" charset="0"/>
              </a:rPr>
              <a:t> </a:t>
            </a:r>
          </a:p>
        </p:txBody>
      </p:sp>
      <p:sp>
        <p:nvSpPr>
          <p:cNvPr id="18" name="Rectangle 3"/>
          <p:cNvSpPr txBox="1">
            <a:spLocks noChangeArrowheads="1"/>
          </p:cNvSpPr>
          <p:nvPr/>
        </p:nvSpPr>
        <p:spPr>
          <a:xfrm>
            <a:off x="1543050" y="3371850"/>
            <a:ext cx="6286500" cy="342900"/>
          </a:xfrm>
          <a:prstGeom prst="rect">
            <a:avLst/>
          </a:prstGeom>
        </p:spPr>
        <p:txBody>
          <a:bodyPr/>
          <a:lstStyle/>
          <a:p>
            <a:pPr algn="ctr" eaLnBrk="0" fontAlgn="base" hangingPunct="0">
              <a:spcBef>
                <a:spcPct val="20000"/>
              </a:spcBef>
              <a:spcAft>
                <a:spcPct val="20000"/>
              </a:spcAft>
              <a:defRPr/>
            </a:pPr>
            <a:endParaRPr lang="en-US" sz="3600" dirty="0">
              <a:sym typeface="Symbol" pitchFamily="18" charset="2"/>
            </a:endParaRPr>
          </a:p>
        </p:txBody>
      </p:sp>
      <p:sp>
        <p:nvSpPr>
          <p:cNvPr id="3" name="Title 2">
            <a:extLst>
              <a:ext uri="{FF2B5EF4-FFF2-40B4-BE49-F238E27FC236}">
                <a16:creationId xmlns:a16="http://schemas.microsoft.com/office/drawing/2014/main" id="{7CBEB6BF-435C-4050-8916-C2A3F4028ED5}"/>
              </a:ext>
            </a:extLst>
          </p:cNvPr>
          <p:cNvSpPr>
            <a:spLocks noGrp="1"/>
          </p:cNvSpPr>
          <p:nvPr>
            <p:ph type="title"/>
          </p:nvPr>
        </p:nvSpPr>
        <p:spPr/>
        <p:txBody>
          <a:bodyPr>
            <a:normAutofit/>
          </a:bodyPr>
          <a:lstStyle/>
          <a:p>
            <a:r>
              <a:rPr lang="en-US" sz="2800" dirty="0"/>
              <a:t>References</a:t>
            </a:r>
            <a:endParaRPr lang="en-IN" sz="2800" dirty="0">
              <a:latin typeface="Verdana" panose="020B0604030504040204" pitchFamily="34" charset="0"/>
              <a:ea typeface="Verdana" panose="020B0604030504040204" pitchFamily="34" charset="0"/>
            </a:endParaRPr>
          </a:p>
        </p:txBody>
      </p:sp>
      <p:sp>
        <p:nvSpPr>
          <p:cNvPr id="2" name="Rectangle 1"/>
          <p:cNvSpPr/>
          <p:nvPr/>
        </p:nvSpPr>
        <p:spPr>
          <a:xfrm>
            <a:off x="628650" y="914400"/>
            <a:ext cx="8115300" cy="5401479"/>
          </a:xfrm>
          <a:prstGeom prst="rect">
            <a:avLst/>
          </a:prstGeom>
        </p:spPr>
        <p:txBody>
          <a:bodyPr wrap="square">
            <a:spAutoFit/>
          </a:bodyPr>
          <a:lstStyle/>
          <a:p>
            <a:pPr algn="just"/>
            <a:r>
              <a:rPr lang="en-IN" sz="1500" dirty="0">
                <a:latin typeface="Verdana" panose="020B0604030504040204" pitchFamily="34" charset="0"/>
                <a:ea typeface="Verdana" panose="020B0604030504040204" pitchFamily="34" charset="0"/>
              </a:rPr>
              <a:t>[1] J. Peng, J. Li, X. Li, L. Fang, P. Zhang, and Y. </a:t>
            </a:r>
            <a:r>
              <a:rPr lang="en-IN" sz="1500" dirty="0" err="1">
                <a:latin typeface="Verdana" panose="020B0604030504040204" pitchFamily="34" charset="0"/>
                <a:ea typeface="Verdana" panose="020B0604030504040204" pitchFamily="34" charset="0"/>
              </a:rPr>
              <a:t>Lv</a:t>
            </a:r>
            <a:r>
              <a:rPr lang="en-IN" sz="1500" dirty="0">
                <a:latin typeface="Verdana" panose="020B0604030504040204" pitchFamily="34" charset="0"/>
                <a:ea typeface="Verdana" panose="020B0604030504040204" pitchFamily="34" charset="0"/>
              </a:rPr>
              <a:t>, “Research on Image Recognition and Grading Method of Apple Based on Machine Vision,” in 2022 2nd International Conference on Computer Science, Electronic Information Engineering and Intelligent Control Technology (CEI), Nanjing, China, 2022, pp. 511–515</a:t>
            </a:r>
            <a:r>
              <a:rPr lang="en-IN" sz="1500" dirty="0" smtClean="0">
                <a:latin typeface="Verdana" panose="020B0604030504040204" pitchFamily="34" charset="0"/>
                <a:ea typeface="Verdana" panose="020B0604030504040204" pitchFamily="34" charset="0"/>
              </a:rPr>
              <a:t>.</a:t>
            </a:r>
          </a:p>
          <a:p>
            <a:pPr algn="just"/>
            <a:endParaRPr lang="en-IN" sz="1500" dirty="0" smtClean="0">
              <a:latin typeface="Verdana" panose="020B0604030504040204" pitchFamily="34" charset="0"/>
              <a:ea typeface="Verdana" panose="020B0604030504040204" pitchFamily="34" charset="0"/>
            </a:endParaRPr>
          </a:p>
          <a:p>
            <a:pPr algn="just"/>
            <a:r>
              <a:rPr lang="en-IN" sz="1500" dirty="0" smtClean="0">
                <a:latin typeface="Verdana" panose="020B0604030504040204" pitchFamily="34" charset="0"/>
                <a:ea typeface="Verdana" panose="020B0604030504040204" pitchFamily="34" charset="0"/>
              </a:rPr>
              <a:t>[</a:t>
            </a:r>
            <a:r>
              <a:rPr lang="en-IN" sz="1500" dirty="0">
                <a:latin typeface="Verdana" panose="020B0604030504040204" pitchFamily="34" charset="0"/>
                <a:ea typeface="Verdana" panose="020B0604030504040204" pitchFamily="34" charset="0"/>
              </a:rPr>
              <a:t>2] H. B. Patel and N. J. </a:t>
            </a:r>
            <a:r>
              <a:rPr lang="en-IN" sz="1500" dirty="0" err="1">
                <a:latin typeface="Verdana" panose="020B0604030504040204" pitchFamily="34" charset="0"/>
                <a:ea typeface="Verdana" panose="020B0604030504040204" pitchFamily="34" charset="0"/>
              </a:rPr>
              <a:t>Patil</a:t>
            </a:r>
            <a:r>
              <a:rPr lang="en-IN" sz="1500" dirty="0">
                <a:latin typeface="Verdana" panose="020B0604030504040204" pitchFamily="34" charset="0"/>
                <a:ea typeface="Verdana" panose="020B0604030504040204" pitchFamily="34" charset="0"/>
              </a:rPr>
              <a:t>, “Enhanced CNN for Fruit Disease Detection and Grading Classification Using SSDAE-SVM for Postharvest Fruits,” IEEE Sensors Journal, vol. 24, no. 5, pp. 6719–6732</a:t>
            </a:r>
            <a:r>
              <a:rPr lang="en-IN" sz="1500" dirty="0" smtClean="0">
                <a:latin typeface="Verdana" panose="020B0604030504040204" pitchFamily="34" charset="0"/>
                <a:ea typeface="Verdana" panose="020B0604030504040204" pitchFamily="34" charset="0"/>
              </a:rPr>
              <a:t>.</a:t>
            </a:r>
          </a:p>
          <a:p>
            <a:pPr algn="just"/>
            <a:endParaRPr lang="en-IN" sz="1500" dirty="0" smtClean="0">
              <a:latin typeface="Verdana" panose="020B0604030504040204" pitchFamily="34" charset="0"/>
              <a:ea typeface="Verdana" panose="020B0604030504040204" pitchFamily="34" charset="0"/>
            </a:endParaRPr>
          </a:p>
          <a:p>
            <a:pPr algn="just"/>
            <a:r>
              <a:rPr lang="en-IN" sz="1500" dirty="0" smtClean="0">
                <a:latin typeface="Verdana" panose="020B0604030504040204" pitchFamily="34" charset="0"/>
                <a:ea typeface="Verdana" panose="020B0604030504040204" pitchFamily="34" charset="0"/>
              </a:rPr>
              <a:t>[</a:t>
            </a:r>
            <a:r>
              <a:rPr lang="en-IN" sz="1500" dirty="0">
                <a:latin typeface="Verdana" panose="020B0604030504040204" pitchFamily="34" charset="0"/>
                <a:ea typeface="Verdana" panose="020B0604030504040204" pitchFamily="34" charset="0"/>
              </a:rPr>
              <a:t>3] C. </a:t>
            </a:r>
            <a:r>
              <a:rPr lang="en-IN" sz="1500" dirty="0" err="1">
                <a:latin typeface="Verdana" panose="020B0604030504040204" pitchFamily="34" charset="0"/>
                <a:ea typeface="Verdana" panose="020B0604030504040204" pitchFamily="34" charset="0"/>
              </a:rPr>
              <a:t>Narvekar</a:t>
            </a:r>
            <a:r>
              <a:rPr lang="en-IN" sz="1500" dirty="0">
                <a:latin typeface="Verdana" panose="020B0604030504040204" pitchFamily="34" charset="0"/>
                <a:ea typeface="Verdana" panose="020B0604030504040204" pitchFamily="34" charset="0"/>
              </a:rPr>
              <a:t> and M. Rao, “Fruit and Vegetable Grading with Transfer Learning and Convolutional Neural Networks for Better Productivity,” in 2023 International Conference on Advanced Computing Technologies and Applications (ICACTA), Mumbai, India, 2023, pp. 1–5</a:t>
            </a:r>
            <a:r>
              <a:rPr lang="en-IN" sz="1500" dirty="0" smtClean="0">
                <a:latin typeface="Verdana" panose="020B0604030504040204" pitchFamily="34" charset="0"/>
                <a:ea typeface="Verdana" panose="020B0604030504040204" pitchFamily="34" charset="0"/>
              </a:rPr>
              <a:t>.</a:t>
            </a:r>
          </a:p>
          <a:p>
            <a:pPr algn="just"/>
            <a:endParaRPr lang="en-IN" sz="1500" dirty="0" smtClean="0">
              <a:latin typeface="Verdana" panose="020B0604030504040204" pitchFamily="34" charset="0"/>
              <a:ea typeface="Verdana" panose="020B0604030504040204" pitchFamily="34" charset="0"/>
            </a:endParaRPr>
          </a:p>
          <a:p>
            <a:pPr algn="just"/>
            <a:r>
              <a:rPr lang="en-IN" sz="1500" dirty="0" smtClean="0">
                <a:latin typeface="Verdana" panose="020B0604030504040204" pitchFamily="34" charset="0"/>
                <a:ea typeface="Verdana" panose="020B0604030504040204" pitchFamily="34" charset="0"/>
              </a:rPr>
              <a:t>[</a:t>
            </a:r>
            <a:r>
              <a:rPr lang="en-IN" sz="1500" dirty="0">
                <a:latin typeface="Verdana" panose="020B0604030504040204" pitchFamily="34" charset="0"/>
                <a:ea typeface="Verdana" panose="020B0604030504040204" pitchFamily="34" charset="0"/>
              </a:rPr>
              <a:t>4] S. </a:t>
            </a:r>
            <a:r>
              <a:rPr lang="en-IN" sz="1500" dirty="0" err="1">
                <a:latin typeface="Verdana" panose="020B0604030504040204" pitchFamily="34" charset="0"/>
                <a:ea typeface="Verdana" panose="020B0604030504040204" pitchFamily="34" charset="0"/>
              </a:rPr>
              <a:t>Kripa</a:t>
            </a:r>
            <a:r>
              <a:rPr lang="en-IN" sz="1500" dirty="0">
                <a:latin typeface="Verdana" panose="020B0604030504040204" pitchFamily="34" charset="0"/>
                <a:ea typeface="Verdana" panose="020B0604030504040204" pitchFamily="34" charset="0"/>
              </a:rPr>
              <a:t> and V. </a:t>
            </a:r>
            <a:r>
              <a:rPr lang="en-IN" sz="1500" dirty="0" err="1">
                <a:latin typeface="Verdana" panose="020B0604030504040204" pitchFamily="34" charset="0"/>
                <a:ea typeface="Verdana" panose="020B0604030504040204" pitchFamily="34" charset="0"/>
              </a:rPr>
              <a:t>Jeyalakshmi</a:t>
            </a:r>
            <a:r>
              <a:rPr lang="en-IN" sz="1500" dirty="0">
                <a:latin typeface="Verdana" panose="020B0604030504040204" pitchFamily="34" charset="0"/>
                <a:ea typeface="Verdana" panose="020B0604030504040204" pitchFamily="34" charset="0"/>
              </a:rPr>
              <a:t>, “Attribute-based Maturity Grading of Mango Fruit by Machine Learning,” in 2022 International Conference on Intelligent Innovations in Engineering and Technology (ICIIET), Coimbatore, India, 2022, pp. 329–334</a:t>
            </a:r>
            <a:r>
              <a:rPr lang="en-IN" sz="1500" dirty="0" smtClean="0">
                <a:latin typeface="Verdana" panose="020B0604030504040204" pitchFamily="34" charset="0"/>
                <a:ea typeface="Verdana" panose="020B0604030504040204" pitchFamily="34" charset="0"/>
              </a:rPr>
              <a:t>.</a:t>
            </a:r>
          </a:p>
          <a:p>
            <a:pPr algn="just"/>
            <a:endParaRPr lang="en-IN" sz="1500" dirty="0" smtClean="0">
              <a:latin typeface="Verdana" panose="020B0604030504040204" pitchFamily="34" charset="0"/>
              <a:ea typeface="Verdana" panose="020B0604030504040204" pitchFamily="34" charset="0"/>
            </a:endParaRPr>
          </a:p>
          <a:p>
            <a:pPr algn="just"/>
            <a:r>
              <a:rPr lang="en-IN" sz="1500" dirty="0" smtClean="0">
                <a:latin typeface="Verdana" panose="020B0604030504040204" pitchFamily="34" charset="0"/>
                <a:ea typeface="Verdana" panose="020B0604030504040204" pitchFamily="34" charset="0"/>
              </a:rPr>
              <a:t>[</a:t>
            </a:r>
            <a:r>
              <a:rPr lang="en-IN" sz="1500" dirty="0">
                <a:latin typeface="Verdana" panose="020B0604030504040204" pitchFamily="34" charset="0"/>
                <a:ea typeface="Verdana" panose="020B0604030504040204" pitchFamily="34" charset="0"/>
              </a:rPr>
              <a:t>5] R. M. Math, N. V. </a:t>
            </a:r>
            <a:r>
              <a:rPr lang="en-IN" sz="1500" dirty="0" err="1">
                <a:latin typeface="Verdana" panose="020B0604030504040204" pitchFamily="34" charset="0"/>
                <a:ea typeface="Verdana" panose="020B0604030504040204" pitchFamily="34" charset="0"/>
              </a:rPr>
              <a:t>Dharwadkar</a:t>
            </a:r>
            <a:r>
              <a:rPr lang="en-IN" sz="1500" dirty="0">
                <a:latin typeface="Verdana" panose="020B0604030504040204" pitchFamily="34" charset="0"/>
                <a:ea typeface="Verdana" panose="020B0604030504040204" pitchFamily="34" charset="0"/>
              </a:rPr>
              <a:t>, V. </a:t>
            </a:r>
            <a:r>
              <a:rPr lang="en-IN" sz="1500" dirty="0" err="1">
                <a:latin typeface="Verdana" panose="020B0604030504040204" pitchFamily="34" charset="0"/>
                <a:ea typeface="Verdana" panose="020B0604030504040204" pitchFamily="34" charset="0"/>
              </a:rPr>
              <a:t>Sajjanar</a:t>
            </a:r>
            <a:r>
              <a:rPr lang="en-IN" sz="1500" dirty="0">
                <a:latin typeface="Verdana" panose="020B0604030504040204" pitchFamily="34" charset="0"/>
                <a:ea typeface="Verdana" panose="020B0604030504040204" pitchFamily="34" charset="0"/>
              </a:rPr>
              <a:t>, and M. N. </a:t>
            </a:r>
            <a:r>
              <a:rPr lang="en-IN" sz="1500" dirty="0" err="1">
                <a:latin typeface="Verdana" panose="020B0604030504040204" pitchFamily="34" charset="0"/>
                <a:ea typeface="Verdana" panose="020B0604030504040204" pitchFamily="34" charset="0"/>
              </a:rPr>
              <a:t>Deshmukh</a:t>
            </a:r>
            <a:r>
              <a:rPr lang="en-IN" sz="1500" dirty="0">
                <a:latin typeface="Verdana" panose="020B0604030504040204" pitchFamily="34" charset="0"/>
                <a:ea typeface="Verdana" panose="020B0604030504040204" pitchFamily="34" charset="0"/>
              </a:rPr>
              <a:t>, “Deep Learning for Precision Grade-Quality Classification of Pomegranates,” in 2024 International Conference on Innovation and Novelty in Engineering and Technology (INNOVA), </a:t>
            </a:r>
            <a:r>
              <a:rPr lang="en-IN" sz="1500" dirty="0" err="1">
                <a:latin typeface="Verdana" panose="020B0604030504040204" pitchFamily="34" charset="0"/>
                <a:ea typeface="Verdana" panose="020B0604030504040204" pitchFamily="34" charset="0"/>
              </a:rPr>
              <a:t>Vijayapura</a:t>
            </a:r>
            <a:r>
              <a:rPr lang="en-IN" sz="1500" dirty="0">
                <a:latin typeface="Verdana" panose="020B0604030504040204" pitchFamily="34" charset="0"/>
                <a:ea typeface="Verdana" panose="020B0604030504040204" pitchFamily="34" charset="0"/>
              </a:rPr>
              <a:t>, India, 2024, pp. 1–6.</a:t>
            </a:r>
          </a:p>
        </p:txBody>
      </p:sp>
    </p:spTree>
    <p:extLst>
      <p:ext uri="{BB962C8B-B14F-4D97-AF65-F5344CB8AC3E}">
        <p14:creationId xmlns:p14="http://schemas.microsoft.com/office/powerpoint/2010/main" val="1997194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endParaRPr lang="en-IN" dirty="0"/>
          </a:p>
        </p:txBody>
      </p:sp>
      <p:sp>
        <p:nvSpPr>
          <p:cNvPr id="4" name="Slide Number Placeholder 3"/>
          <p:cNvSpPr>
            <a:spLocks noGrp="1"/>
          </p:cNvSpPr>
          <p:nvPr>
            <p:ph type="sldNum" sz="quarter" idx="12"/>
          </p:nvPr>
        </p:nvSpPr>
        <p:spPr/>
        <p:txBody>
          <a:bodyPr/>
          <a:lstStyle/>
          <a:p>
            <a:pPr>
              <a:defRPr/>
            </a:pPr>
            <a:fld id="{02246FD1-0723-4B2F-9706-10282F2BA698}" type="slidenum">
              <a:rPr lang="en-US" smtClean="0"/>
              <a:pPr>
                <a:defRPr/>
              </a:pPr>
              <a:t>18</a:t>
            </a:fld>
            <a:r>
              <a:rPr lang="en-US" smtClean="0"/>
              <a:t> </a:t>
            </a:r>
            <a:endParaRPr lang="en-US" dirty="0"/>
          </a:p>
        </p:txBody>
      </p:sp>
      <p:sp>
        <p:nvSpPr>
          <p:cNvPr id="5" name="Content Placeholder 4"/>
          <p:cNvSpPr>
            <a:spLocks noGrp="1"/>
          </p:cNvSpPr>
          <p:nvPr>
            <p:ph idx="5"/>
          </p:nvPr>
        </p:nvSpPr>
        <p:spPr>
          <a:xfrm>
            <a:off x="533400" y="904721"/>
            <a:ext cx="8353098" cy="5733396"/>
          </a:xfrm>
        </p:spPr>
        <p:txBody>
          <a:bodyPr>
            <a:normAutofit fontScale="70000" lnSpcReduction="20000"/>
          </a:bodyPr>
          <a:lstStyle/>
          <a:p>
            <a:pPr marL="0" indent="0" algn="just">
              <a:buNone/>
            </a:pPr>
            <a:r>
              <a:rPr lang="en-IN" dirty="0"/>
              <a:t>[6] A. N, D. P, D. V. Shah, and R. </a:t>
            </a:r>
            <a:r>
              <a:rPr lang="en-IN" dirty="0" err="1"/>
              <a:t>Niharika</a:t>
            </a:r>
            <a:r>
              <a:rPr lang="en-IN" dirty="0"/>
              <a:t>, “Dragon Fruit Maturity Detection and Quality Grading with Scalable Deep Neural Networks,” in 2025 3rd International Conference on Intelligent Data Communication Technologies and Internet of Things (</a:t>
            </a:r>
            <a:r>
              <a:rPr lang="en-IN" dirty="0" err="1"/>
              <a:t>IDCIoT</a:t>
            </a:r>
            <a:r>
              <a:rPr lang="en-IN" dirty="0"/>
              <a:t>), Bengaluru, India, 2025, pp. 1847–1854</a:t>
            </a:r>
            <a:r>
              <a:rPr lang="en-IN" dirty="0" smtClean="0"/>
              <a:t>.</a:t>
            </a:r>
          </a:p>
          <a:p>
            <a:pPr marL="0" indent="0" algn="just">
              <a:buNone/>
            </a:pPr>
            <a:r>
              <a:rPr lang="en-IN" dirty="0" smtClean="0"/>
              <a:t>[</a:t>
            </a:r>
            <a:r>
              <a:rPr lang="en-IN" dirty="0"/>
              <a:t>7] A. </a:t>
            </a:r>
            <a:r>
              <a:rPr lang="en-IN" dirty="0" err="1"/>
              <a:t>Khannum</a:t>
            </a:r>
            <a:r>
              <a:rPr lang="en-IN" dirty="0"/>
              <a:t>, D. R, and N. K. S, “Comparative Analysis of Convolution Neural Network Models for Automated Grading of Muskmelons,” in 2025 International Conference on Intelligent Computing and Knowledge Extraction (ICICKE), Bengaluru, India, 2025, pp. 1–7</a:t>
            </a:r>
            <a:r>
              <a:rPr lang="en-IN" dirty="0" smtClean="0"/>
              <a:t>.</a:t>
            </a:r>
          </a:p>
          <a:p>
            <a:pPr marL="0" indent="0" algn="just">
              <a:buNone/>
            </a:pPr>
            <a:r>
              <a:rPr lang="en-IN" dirty="0" smtClean="0"/>
              <a:t>[</a:t>
            </a:r>
            <a:r>
              <a:rPr lang="en-IN" dirty="0"/>
              <a:t>8] S. Dutta, S. G. </a:t>
            </a:r>
            <a:r>
              <a:rPr lang="en-IN" dirty="0" err="1"/>
              <a:t>Neogi</a:t>
            </a:r>
            <a:r>
              <a:rPr lang="en-IN" dirty="0"/>
              <a:t>, D. </a:t>
            </a:r>
            <a:r>
              <a:rPr lang="en-IN" dirty="0" err="1"/>
              <a:t>Chanda</a:t>
            </a:r>
            <a:r>
              <a:rPr lang="en-IN" dirty="0"/>
              <a:t>, A. </a:t>
            </a:r>
            <a:r>
              <a:rPr lang="en-IN" dirty="0" err="1"/>
              <a:t>Pramanik</a:t>
            </a:r>
            <a:r>
              <a:rPr lang="en-IN" dirty="0"/>
              <a:t>, Ö. </a:t>
            </a:r>
            <a:r>
              <a:rPr lang="en-IN" dirty="0" err="1"/>
              <a:t>Girgin</a:t>
            </a:r>
            <a:r>
              <a:rPr lang="en-IN" dirty="0"/>
              <a:t>, and E. L. </a:t>
            </a:r>
            <a:r>
              <a:rPr lang="en-IN" dirty="0" err="1"/>
              <a:t>Öncül</a:t>
            </a:r>
            <a:r>
              <a:rPr lang="en-IN" dirty="0"/>
              <a:t>, “</a:t>
            </a:r>
            <a:r>
              <a:rPr lang="en-IN" dirty="0" err="1"/>
              <a:t>FruitQ-GradeX</a:t>
            </a:r>
            <a:r>
              <a:rPr lang="en-IN" dirty="0"/>
              <a:t>: Determining Fruit Quality and Grading with Explainable Deep Learning,” in 2025 12th International Conference on Reliability, </a:t>
            </a:r>
            <a:r>
              <a:rPr lang="en-IN" dirty="0" err="1"/>
              <a:t>Infocom</a:t>
            </a:r>
            <a:r>
              <a:rPr lang="en-IN" dirty="0"/>
              <a:t> Technologies and Optimization (ICRITO), Noida NCR, India, 2025, pp. 1–7</a:t>
            </a:r>
            <a:r>
              <a:rPr lang="en-IN" dirty="0" smtClean="0"/>
              <a:t>.</a:t>
            </a:r>
          </a:p>
          <a:p>
            <a:pPr marL="0" indent="0" algn="just">
              <a:buNone/>
            </a:pPr>
            <a:r>
              <a:rPr lang="en-IN" dirty="0" smtClean="0"/>
              <a:t>[</a:t>
            </a:r>
            <a:r>
              <a:rPr lang="en-IN" dirty="0"/>
              <a:t>9] M. S. </a:t>
            </a:r>
            <a:r>
              <a:rPr lang="en-IN" dirty="0" err="1"/>
              <a:t>Morshed</a:t>
            </a:r>
            <a:r>
              <a:rPr lang="en-IN" dirty="0"/>
              <a:t>, S. Ahmed, T. Ahmed, M. U. Islam, and A. B. M. </a:t>
            </a:r>
            <a:r>
              <a:rPr lang="en-IN" dirty="0" err="1"/>
              <a:t>Ashikur</a:t>
            </a:r>
            <a:r>
              <a:rPr lang="en-IN" dirty="0"/>
              <a:t> Rahman, “Fruit Quality Assessment with Densely Connected Convolutional Neural Network,” in 2022 12th International Conference on Electrical and Computer Engineering (ICECE), Dhaka, Bangladesh, 2022, pp. 1–4</a:t>
            </a:r>
            <a:r>
              <a:rPr lang="en-IN" dirty="0" smtClean="0"/>
              <a:t>.</a:t>
            </a:r>
          </a:p>
          <a:p>
            <a:pPr marL="0" indent="0" algn="just">
              <a:buNone/>
            </a:pPr>
            <a:r>
              <a:rPr lang="en-IN" dirty="0" smtClean="0"/>
              <a:t>[</a:t>
            </a:r>
            <a:r>
              <a:rPr lang="en-IN" dirty="0"/>
              <a:t>10] M. S. R. Kona, A. </a:t>
            </a:r>
            <a:r>
              <a:rPr lang="en-IN" dirty="0" err="1"/>
              <a:t>Guvvala</a:t>
            </a:r>
            <a:r>
              <a:rPr lang="en-IN" dirty="0"/>
              <a:t>, V. V. L. </a:t>
            </a:r>
            <a:r>
              <a:rPr lang="en-IN" dirty="0" err="1"/>
              <a:t>Eedara</a:t>
            </a:r>
            <a:r>
              <a:rPr lang="en-IN" dirty="0"/>
              <a:t>, M. S. </a:t>
            </a:r>
            <a:r>
              <a:rPr lang="en-IN" dirty="0" err="1"/>
              <a:t>Gowri</a:t>
            </a:r>
            <a:r>
              <a:rPr lang="en-IN" dirty="0"/>
              <a:t>, and V. </a:t>
            </a:r>
            <a:r>
              <a:rPr lang="en-IN" dirty="0" err="1"/>
              <a:t>Aluri</a:t>
            </a:r>
            <a:r>
              <a:rPr lang="en-IN" dirty="0"/>
              <a:t>, “Mango Fruit Defect Detection Using MobileNetV2,” in 2024 International Conference on Emerging Innovations and Advanced Computing (INNOCOMP), </a:t>
            </a:r>
            <a:r>
              <a:rPr lang="en-IN" dirty="0" err="1"/>
              <a:t>Sonipat</a:t>
            </a:r>
            <a:r>
              <a:rPr lang="en-IN" dirty="0"/>
              <a:t>, India, 2024, pp. 22–27.</a:t>
            </a:r>
          </a:p>
        </p:txBody>
      </p:sp>
    </p:spTree>
    <p:extLst>
      <p:ext uri="{BB962C8B-B14F-4D97-AF65-F5344CB8AC3E}">
        <p14:creationId xmlns:p14="http://schemas.microsoft.com/office/powerpoint/2010/main" val="260164631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1775AE0-77E4-407A-BB5E-C90983A021FB}"/>
              </a:ext>
            </a:extLst>
          </p:cNvPr>
          <p:cNvSpPr>
            <a:spLocks noGrp="1"/>
          </p:cNvSpPr>
          <p:nvPr>
            <p:ph type="sldNum" sz="quarter" idx="12"/>
          </p:nvPr>
        </p:nvSpPr>
        <p:spPr/>
        <p:txBody>
          <a:bodyPr/>
          <a:lstStyle/>
          <a:p>
            <a:pPr>
              <a:defRPr/>
            </a:pPr>
            <a:fld id="{02246FD1-0723-4B2F-9706-10282F2BA698}" type="slidenum">
              <a:rPr lang="en-US" smtClean="0"/>
              <a:pPr>
                <a:defRPr/>
              </a:pPr>
              <a:t>19</a:t>
            </a:fld>
            <a:r>
              <a:rPr lang="en-US" dirty="0"/>
              <a:t> </a:t>
            </a:r>
          </a:p>
        </p:txBody>
      </p:sp>
      <p:sp>
        <p:nvSpPr>
          <p:cNvPr id="6" name="Rectangle 5">
            <a:extLst>
              <a:ext uri="{FF2B5EF4-FFF2-40B4-BE49-F238E27FC236}">
                <a16:creationId xmlns:a16="http://schemas.microsoft.com/office/drawing/2014/main" id="{88E7B6C1-34DD-4024-950E-5180109220B6}"/>
              </a:ext>
            </a:extLst>
          </p:cNvPr>
          <p:cNvSpPr/>
          <p:nvPr/>
        </p:nvSpPr>
        <p:spPr>
          <a:xfrm>
            <a:off x="2918984" y="2967335"/>
            <a:ext cx="3306033"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Thank You </a:t>
            </a:r>
          </a:p>
        </p:txBody>
      </p:sp>
      <p:sp>
        <p:nvSpPr>
          <p:cNvPr id="7" name="Date Placeholder 6"/>
          <p:cNvSpPr>
            <a:spLocks noGrp="1"/>
          </p:cNvSpPr>
          <p:nvPr>
            <p:ph type="dt" sz="half" idx="10"/>
          </p:nvPr>
        </p:nvSpPr>
        <p:spPr/>
        <p:txBody>
          <a:bodyPr/>
          <a:lstStyle/>
          <a:p>
            <a:r>
              <a:rPr lang="en-US" dirty="0"/>
              <a:t>Date: 17/09/2025</a:t>
            </a:r>
          </a:p>
        </p:txBody>
      </p:sp>
    </p:spTree>
    <p:extLst>
      <p:ext uri="{BB962C8B-B14F-4D97-AF65-F5344CB8AC3E}">
        <p14:creationId xmlns:p14="http://schemas.microsoft.com/office/powerpoint/2010/main" val="380073276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329</TotalTime>
  <Words>1888</Words>
  <Application>Microsoft Office PowerPoint</Application>
  <PresentationFormat>On-screen Show (4:3)</PresentationFormat>
  <Paragraphs>253</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Mangal</vt:lpstr>
      <vt:lpstr>Symbol</vt:lpstr>
      <vt:lpstr>Verdana</vt:lpstr>
      <vt:lpstr>Office Theme</vt:lpstr>
      <vt:lpstr>AI and Blockchain-Based System for Visual Quality Grading and Traceability of Apples in Supply Chains</vt:lpstr>
      <vt:lpstr>Content</vt:lpstr>
      <vt:lpstr>Introduction</vt:lpstr>
      <vt:lpstr>Motivation</vt:lpstr>
      <vt:lpstr>Literature Review</vt:lpstr>
      <vt:lpstr>Literature Review</vt:lpstr>
      <vt:lpstr>Problem Statement</vt:lpstr>
      <vt:lpstr>Objectives</vt:lpstr>
      <vt:lpstr>Research Gap</vt:lpstr>
      <vt:lpstr>Proposed Methodology</vt:lpstr>
      <vt:lpstr>Proposed Methodology</vt:lpstr>
      <vt:lpstr>Technology Used</vt:lpstr>
      <vt:lpstr>Algorithms</vt:lpstr>
      <vt:lpstr>SYSTEM ARCHITECTURE  (Grade My Apple)</vt:lpstr>
      <vt:lpstr>Results and Discussion</vt:lpstr>
      <vt:lpstr>Conclusion</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Admin</cp:lastModifiedBy>
  <cp:revision>98</cp:revision>
  <dcterms:created xsi:type="dcterms:W3CDTF">2006-08-16T00:00:00Z</dcterms:created>
  <dcterms:modified xsi:type="dcterms:W3CDTF">2025-12-05T18:39:01Z</dcterms:modified>
</cp:coreProperties>
</file>