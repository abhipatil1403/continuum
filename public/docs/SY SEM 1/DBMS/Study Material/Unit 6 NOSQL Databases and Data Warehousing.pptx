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90" r:id="rId5"/>
    <p:sldId id="301" r:id="rId6"/>
    <p:sldId id="259" r:id="rId7"/>
    <p:sldId id="260" r:id="rId8"/>
    <p:sldId id="291" r:id="rId9"/>
    <p:sldId id="261" r:id="rId10"/>
    <p:sldId id="297" r:id="rId11"/>
    <p:sldId id="262" r:id="rId12"/>
    <p:sldId id="292" r:id="rId13"/>
    <p:sldId id="298" r:id="rId14"/>
    <p:sldId id="263" r:id="rId15"/>
    <p:sldId id="293" r:id="rId16"/>
    <p:sldId id="264" r:id="rId17"/>
    <p:sldId id="299" r:id="rId18"/>
    <p:sldId id="300" r:id="rId19"/>
    <p:sldId id="294" r:id="rId20"/>
    <p:sldId id="265" r:id="rId21"/>
    <p:sldId id="302" r:id="rId22"/>
    <p:sldId id="303" r:id="rId23"/>
    <p:sldId id="295" r:id="rId24"/>
    <p:sldId id="267" r:id="rId25"/>
    <p:sldId id="269" r:id="rId26"/>
    <p:sldId id="288" r:id="rId27"/>
    <p:sldId id="285" r:id="rId28"/>
    <p:sldId id="305" r:id="rId29"/>
    <p:sldId id="286" r:id="rId30"/>
    <p:sldId id="289" r:id="rId31"/>
    <p:sldId id="304" r:id="rId32"/>
    <p:sldId id="270" r:id="rId33"/>
    <p:sldId id="271" r:id="rId34"/>
    <p:sldId id="272" r:id="rId35"/>
    <p:sldId id="273" r:id="rId36"/>
    <p:sldId id="274" r:id="rId37"/>
    <p:sldId id="276" r:id="rId38"/>
    <p:sldId id="277" r:id="rId39"/>
    <p:sldId id="278" r:id="rId40"/>
    <p:sldId id="279" r:id="rId41"/>
    <p:sldId id="280" r:id="rId42"/>
    <p:sldId id="281" r:id="rId43"/>
    <p:sldId id="282" r:id="rId44"/>
    <p:sldId id="28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2276" autoAdjust="0"/>
  </p:normalViewPr>
  <p:slideViewPr>
    <p:cSldViewPr snapToGrid="0">
      <p:cViewPr>
        <p:scale>
          <a:sx n="74" d="100"/>
          <a:sy n="74" d="100"/>
        </p:scale>
        <p:origin x="-48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2D5684-AFF7-4F62-A565-480FB274B192}" type="datetimeFigureOut">
              <a:rPr lang="en-US" smtClean="0"/>
              <a:t>09/10/2025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D51F0E-0037-493F-9441-4C98D06800DF}" type="slidenum">
              <a:rPr lang="en-US" smtClean="0"/>
              <a:t>‹#›</a:t>
            </a:fld>
            <a:endParaRPr lang="en-US"/>
          </a:p>
        </p:txBody>
      </p:sp>
    </p:spTree>
    <p:extLst>
      <p:ext uri="{BB962C8B-B14F-4D97-AF65-F5344CB8AC3E}">
        <p14:creationId xmlns:p14="http://schemas.microsoft.com/office/powerpoint/2010/main" val="2766767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eeksforgeeks.org/random-access-memory-ram/"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geeksforgeeks.org/introduction-to-solid-state-drive-ssd/" TargetMode="External"/><Relationship Id="rId4" Type="http://schemas.openxmlformats.org/officeDocument/2006/relationships/hyperlink" Target="https://www.geeksforgeeks.org/central-processing-unit-cpu/"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earchsqlserver.techtarget.com/definition/schema"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phoenixnap.com/kb/what-is-nosq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eeksforgeeks.org/olap-applications/"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term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was used by Carlo </a:t>
            </a:r>
            <a:r>
              <a:rPr lang="en-US" sz="1200" b="0" i="0" kern="1200" dirty="0" err="1" smtClean="0">
                <a:solidFill>
                  <a:schemeClr val="tx1"/>
                </a:solidFill>
                <a:effectLst/>
                <a:latin typeface="+mn-lt"/>
                <a:ea typeface="+mn-ea"/>
                <a:cs typeface="+mn-cs"/>
              </a:rPr>
              <a:t>Strozzi</a:t>
            </a:r>
            <a:r>
              <a:rPr lang="en-US" sz="1200" b="0" i="0" kern="1200" dirty="0" smtClean="0">
                <a:solidFill>
                  <a:schemeClr val="tx1"/>
                </a:solidFill>
                <a:effectLst/>
                <a:latin typeface="+mn-lt"/>
                <a:ea typeface="+mn-ea"/>
                <a:cs typeface="+mn-cs"/>
              </a:rPr>
              <a:t> in 1998.</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NoSQL</a:t>
            </a:r>
            <a:r>
              <a:rPr lang="en-US" sz="1200" b="1" kern="1200" dirty="0" smtClean="0">
                <a:solidFill>
                  <a:schemeClr val="tx1"/>
                </a:solidFill>
                <a:effectLst/>
                <a:latin typeface="+mn-lt"/>
                <a:ea typeface="+mn-ea"/>
                <a:cs typeface="+mn-cs"/>
              </a:rPr>
              <a:t> is a type of database management system (DBMS) that is designed to handle and store large volumes of unstructured and semi-structured data.</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3</a:t>
            </a:fld>
            <a:endParaRPr lang="en-US"/>
          </a:p>
        </p:txBody>
      </p:sp>
    </p:spTree>
    <p:extLst>
      <p:ext uri="{BB962C8B-B14F-4D97-AF65-F5344CB8AC3E}">
        <p14:creationId xmlns:p14="http://schemas.microsoft.com/office/powerpoint/2010/main" val="3648615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base"/>
            <a:r>
              <a:rPr lang="en-US" sz="1200" b="1" kern="1200" dirty="0" smtClean="0">
                <a:solidFill>
                  <a:schemeClr val="tx1"/>
                </a:solidFill>
                <a:effectLst/>
                <a:latin typeface="+mn-lt"/>
                <a:ea typeface="+mn-ea"/>
                <a:cs typeface="+mn-cs"/>
              </a:rPr>
              <a:t>Scalability –</a:t>
            </a:r>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In almost all situations SQL databases are vertically scalable. This means that you can increase the load on a single server by increasing things like </a:t>
            </a:r>
            <a:r>
              <a:rPr lang="en-US" sz="1200" u="sng" kern="1200" dirty="0" smtClean="0">
                <a:solidFill>
                  <a:schemeClr val="tx1"/>
                </a:solidFill>
                <a:effectLst/>
                <a:latin typeface="+mn-lt"/>
                <a:ea typeface="+mn-ea"/>
                <a:cs typeface="+mn-cs"/>
                <a:hlinkClick r:id="rId3"/>
              </a:rPr>
              <a:t>RAM</a:t>
            </a:r>
            <a:r>
              <a:rPr lang="en-US" sz="1200" kern="1200" dirty="0" smtClean="0">
                <a:solidFill>
                  <a:schemeClr val="tx1"/>
                </a:solidFill>
                <a:effectLst/>
                <a:latin typeface="+mn-lt"/>
                <a:ea typeface="+mn-ea"/>
                <a:cs typeface="+mn-cs"/>
              </a:rPr>
              <a:t>, </a:t>
            </a:r>
            <a:r>
              <a:rPr lang="en-US" sz="1200" u="sng" kern="1200" dirty="0" smtClean="0">
                <a:solidFill>
                  <a:schemeClr val="tx1"/>
                </a:solidFill>
                <a:effectLst/>
                <a:latin typeface="+mn-lt"/>
                <a:ea typeface="+mn-ea"/>
                <a:cs typeface="+mn-cs"/>
                <a:hlinkClick r:id="rId4"/>
              </a:rPr>
              <a:t>CPU</a:t>
            </a:r>
            <a:r>
              <a:rPr lang="en-US" sz="1200" kern="1200" dirty="0" smtClean="0">
                <a:solidFill>
                  <a:schemeClr val="tx1"/>
                </a:solidFill>
                <a:effectLst/>
                <a:latin typeface="+mn-lt"/>
                <a:ea typeface="+mn-ea"/>
                <a:cs typeface="+mn-cs"/>
              </a:rPr>
              <a:t> or </a:t>
            </a:r>
            <a:r>
              <a:rPr lang="en-US" sz="1200" u="sng" kern="1200" dirty="0" smtClean="0">
                <a:solidFill>
                  <a:schemeClr val="tx1"/>
                </a:solidFill>
                <a:effectLst/>
                <a:latin typeface="+mn-lt"/>
                <a:ea typeface="+mn-ea"/>
                <a:cs typeface="+mn-cs"/>
                <a:hlinkClick r:id="rId5"/>
              </a:rPr>
              <a:t>SSD</a:t>
            </a:r>
            <a:r>
              <a:rPr lang="en-US" sz="1200" kern="1200" dirty="0" smtClean="0">
                <a:solidFill>
                  <a:schemeClr val="tx1"/>
                </a:solidFill>
                <a:effectLst/>
                <a:latin typeface="+mn-lt"/>
                <a:ea typeface="+mn-ea"/>
                <a:cs typeface="+mn-cs"/>
              </a:rPr>
              <a:t>. But on the other hand </a:t>
            </a:r>
            <a:r>
              <a:rPr lang="en-US" sz="1200" kern="1200" dirty="0" err="1" smtClean="0">
                <a:solidFill>
                  <a:schemeClr val="tx1"/>
                </a:solidFill>
                <a:effectLst/>
                <a:latin typeface="+mn-lt"/>
                <a:ea typeface="+mn-ea"/>
                <a:cs typeface="+mn-cs"/>
              </a:rPr>
              <a:t>NoSQL</a:t>
            </a:r>
            <a:r>
              <a:rPr lang="en-US" sz="1200" kern="1200" dirty="0" smtClean="0">
                <a:solidFill>
                  <a:schemeClr val="tx1"/>
                </a:solidFill>
                <a:effectLst/>
                <a:latin typeface="+mn-lt"/>
                <a:ea typeface="+mn-ea"/>
                <a:cs typeface="+mn-cs"/>
              </a:rPr>
              <a:t> databases are horizontally scalable. This means that you handle more traffic by </a:t>
            </a:r>
            <a:r>
              <a:rPr lang="en-US" sz="1200" kern="1200" dirty="0" err="1" smtClean="0">
                <a:solidFill>
                  <a:schemeClr val="tx1"/>
                </a:solidFill>
                <a:effectLst/>
                <a:latin typeface="+mn-lt"/>
                <a:ea typeface="+mn-ea"/>
                <a:cs typeface="+mn-cs"/>
              </a:rPr>
              <a:t>sharding</a:t>
            </a:r>
            <a:r>
              <a:rPr lang="en-US" sz="1200" kern="1200" dirty="0" smtClean="0">
                <a:solidFill>
                  <a:schemeClr val="tx1"/>
                </a:solidFill>
                <a:effectLst/>
                <a:latin typeface="+mn-lt"/>
                <a:ea typeface="+mn-ea"/>
                <a:cs typeface="+mn-cs"/>
              </a:rPr>
              <a:t>, or adding more servers in your </a:t>
            </a:r>
            <a:r>
              <a:rPr lang="en-US" sz="1200" kern="1200" dirty="0" err="1" smtClean="0">
                <a:solidFill>
                  <a:schemeClr val="tx1"/>
                </a:solidFill>
                <a:effectLst/>
                <a:latin typeface="+mn-lt"/>
                <a:ea typeface="+mn-ea"/>
                <a:cs typeface="+mn-cs"/>
              </a:rPr>
              <a:t>NoSQL</a:t>
            </a:r>
            <a:r>
              <a:rPr lang="en-US" sz="1200" kern="1200" dirty="0" smtClean="0">
                <a:solidFill>
                  <a:schemeClr val="tx1"/>
                </a:solidFill>
                <a:effectLst/>
                <a:latin typeface="+mn-lt"/>
                <a:ea typeface="+mn-ea"/>
                <a:cs typeface="+mn-cs"/>
              </a:rPr>
              <a:t> database. It is similar to adding more floors to the same building versus adding more buildings to the neighborhood. Thus </a:t>
            </a:r>
            <a:r>
              <a:rPr lang="en-US" sz="1200" kern="1200" dirty="0" err="1" smtClean="0">
                <a:solidFill>
                  <a:schemeClr val="tx1"/>
                </a:solidFill>
                <a:effectLst/>
                <a:latin typeface="+mn-lt"/>
                <a:ea typeface="+mn-ea"/>
                <a:cs typeface="+mn-cs"/>
              </a:rPr>
              <a:t>NoSQL</a:t>
            </a:r>
            <a:r>
              <a:rPr lang="en-US" sz="1200" kern="1200" dirty="0" smtClean="0">
                <a:solidFill>
                  <a:schemeClr val="tx1"/>
                </a:solidFill>
                <a:effectLst/>
                <a:latin typeface="+mn-lt"/>
                <a:ea typeface="+mn-ea"/>
                <a:cs typeface="+mn-cs"/>
              </a:rPr>
              <a:t> can ultimately become larger and more powerful, making these databases the preferred choice for large or ever-changing data sets.</a:t>
            </a:r>
          </a:p>
          <a:p>
            <a:pPr lvl="0" fontAlgn="base"/>
            <a:r>
              <a:rPr lang="en-US" sz="1200" kern="1200" dirty="0" smtClean="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4</a:t>
            </a:fld>
            <a:endParaRPr lang="en-US"/>
          </a:p>
        </p:txBody>
      </p:sp>
    </p:spTree>
    <p:extLst>
      <p:ext uri="{BB962C8B-B14F-4D97-AF65-F5344CB8AC3E}">
        <p14:creationId xmlns:p14="http://schemas.microsoft.com/office/powerpoint/2010/main" val="485417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smtClean="0">
                <a:solidFill>
                  <a:schemeClr val="tx1"/>
                </a:solidFill>
                <a:effectLst/>
                <a:latin typeface="+mn-lt"/>
                <a:ea typeface="+mn-ea"/>
                <a:cs typeface="+mn-cs"/>
              </a:rPr>
              <a:t>FoundationDB</a:t>
            </a:r>
            <a:r>
              <a:rPr lang="en-US" sz="1200" b="0" i="0" kern="1200" dirty="0" smtClean="0">
                <a:solidFill>
                  <a:schemeClr val="tx1"/>
                </a:solidFill>
                <a:effectLst/>
                <a:latin typeface="+mn-lt"/>
                <a:ea typeface="+mn-ea"/>
                <a:cs typeface="+mn-cs"/>
              </a:rPr>
              <a:t> is a free and open-source multi-model distributed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database developed by Apple Inc.(75000 servers are distributed) which follows shared nothing architecture.</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5</a:t>
            </a:fld>
            <a:endParaRPr lang="en-US"/>
          </a:p>
        </p:txBody>
      </p:sp>
    </p:spTree>
    <p:extLst>
      <p:ext uri="{BB962C8B-B14F-4D97-AF65-F5344CB8AC3E}">
        <p14:creationId xmlns:p14="http://schemas.microsoft.com/office/powerpoint/2010/main" val="2448644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6</a:t>
            </a:fld>
            <a:endParaRPr lang="en-US"/>
          </a:p>
        </p:txBody>
      </p:sp>
    </p:spTree>
    <p:extLst>
      <p:ext uri="{BB962C8B-B14F-4D97-AF65-F5344CB8AC3E}">
        <p14:creationId xmlns:p14="http://schemas.microsoft.com/office/powerpoint/2010/main" val="1248131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Amazon </a:t>
            </a:r>
            <a:r>
              <a:rPr lang="en-US" sz="1200" b="1" i="0" kern="1200" dirty="0" err="1" smtClean="0">
                <a:solidFill>
                  <a:schemeClr val="tx1"/>
                </a:solidFill>
                <a:effectLst/>
                <a:latin typeface="+mn-lt"/>
                <a:ea typeface="+mn-ea"/>
                <a:cs typeface="+mn-cs"/>
              </a:rPr>
              <a:t>DynamoDB</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is a fully managed, </a:t>
            </a:r>
            <a:r>
              <a:rPr lang="en-US" sz="1200" b="0" i="0" kern="1200" dirty="0" err="1" smtClean="0">
                <a:solidFill>
                  <a:schemeClr val="tx1"/>
                </a:solidFill>
                <a:effectLst/>
                <a:latin typeface="+mn-lt"/>
                <a:ea typeface="+mn-ea"/>
                <a:cs typeface="+mn-cs"/>
              </a:rPr>
              <a:t>serverless</a:t>
            </a:r>
            <a:r>
              <a:rPr lang="en-US" sz="1200" b="0" i="0" kern="1200" dirty="0" smtClean="0">
                <a:solidFill>
                  <a:schemeClr val="tx1"/>
                </a:solidFill>
                <a:effectLst/>
                <a:latin typeface="+mn-lt"/>
                <a:ea typeface="+mn-ea"/>
                <a:cs typeface="+mn-cs"/>
              </a:rPr>
              <a:t>, key-value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database.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smtClean="0">
                <a:solidFill>
                  <a:schemeClr val="tx1"/>
                </a:solidFill>
                <a:effectLst/>
                <a:latin typeface="+mn-lt"/>
                <a:ea typeface="+mn-ea"/>
                <a:cs typeface="+mn-cs"/>
              </a:rPr>
              <a:t>FoundationDB</a:t>
            </a:r>
            <a:r>
              <a:rPr lang="en-US" sz="1200" b="0" i="0" kern="1200" dirty="0" smtClean="0">
                <a:solidFill>
                  <a:schemeClr val="tx1"/>
                </a:solidFill>
                <a:effectLst/>
                <a:latin typeface="+mn-lt"/>
                <a:ea typeface="+mn-ea"/>
                <a:cs typeface="+mn-cs"/>
              </a:rPr>
              <a:t> is a free and open-source multi-model distributed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database developed by Apple Inc. with a shared-nothing architecture. The product was designed around a "core" database, with additional features supplied in "layers." The core database exposes an ordered key–value store with transactions.</a:t>
            </a:r>
            <a:endParaRPr lang="en-US" dirty="0" smtClean="0"/>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7</a:t>
            </a:fld>
            <a:endParaRPr lang="en-US"/>
          </a:p>
        </p:txBody>
      </p:sp>
    </p:spTree>
    <p:extLst>
      <p:ext uri="{BB962C8B-B14F-4D97-AF65-F5344CB8AC3E}">
        <p14:creationId xmlns:p14="http://schemas.microsoft.com/office/powerpoint/2010/main" val="3318601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How column-oriented databases work</a:t>
            </a:r>
          </a:p>
          <a:p>
            <a:r>
              <a:rPr lang="en-US" sz="1200" b="0" i="0" kern="1200" dirty="0" smtClean="0">
                <a:solidFill>
                  <a:schemeClr val="tx1"/>
                </a:solidFill>
                <a:effectLst/>
                <a:latin typeface="+mn-lt"/>
                <a:ea typeface="+mn-ea"/>
                <a:cs typeface="+mn-cs"/>
              </a:rPr>
              <a:t>Relational databases have a set </a:t>
            </a:r>
            <a:r>
              <a:rPr lang="en-US" sz="1200" b="0" i="0" u="sng" kern="1200" dirty="0" smtClean="0">
                <a:solidFill>
                  <a:schemeClr val="tx1"/>
                </a:solidFill>
                <a:effectLst/>
                <a:latin typeface="+mn-lt"/>
                <a:ea typeface="+mn-ea"/>
                <a:cs typeface="+mn-cs"/>
                <a:hlinkClick r:id="rId3"/>
              </a:rPr>
              <a:t>schema</a:t>
            </a:r>
            <a:r>
              <a:rPr lang="en-US" sz="1200" b="0" i="0" kern="1200" dirty="0" smtClean="0">
                <a:solidFill>
                  <a:schemeClr val="tx1"/>
                </a:solidFill>
                <a:effectLst/>
                <a:latin typeface="+mn-lt"/>
                <a:ea typeface="+mn-ea"/>
                <a:cs typeface="+mn-cs"/>
              </a:rPr>
              <a:t> and they function as tables of rows and columns. Wide-column databases have a similar, but different schema. They also have rows and columns. However, they are not fixed within a table, but have a dynamic schema. Each column is stored separately. If there are similar (related) columns, they are joined into column families and then the column families are stored separately from other column families.</a:t>
            </a:r>
          </a:p>
          <a:p>
            <a:r>
              <a:rPr lang="en-US" dirty="0" smtClean="0"/>
              <a:t>a, </a:t>
            </a:r>
            <a:r>
              <a:rPr lang="en-US" dirty="0" err="1" smtClean="0"/>
              <a:t>HBase</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9</a:t>
            </a:fld>
            <a:endParaRPr lang="en-US"/>
          </a:p>
        </p:txBody>
      </p:sp>
    </p:spTree>
    <p:extLst>
      <p:ext uri="{BB962C8B-B14F-4D97-AF65-F5344CB8AC3E}">
        <p14:creationId xmlns:p14="http://schemas.microsoft.com/office/powerpoint/2010/main" val="174973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Disadvantages of column-oriented databases</a:t>
            </a:r>
          </a:p>
          <a:p>
            <a:r>
              <a:rPr lang="en-US" sz="1200" b="1" i="0" kern="1200" dirty="0" smtClean="0">
                <a:solidFill>
                  <a:schemeClr val="tx1"/>
                </a:solidFill>
                <a:effectLst/>
                <a:latin typeface="+mn-lt"/>
                <a:ea typeface="+mn-ea"/>
                <a:cs typeface="+mn-cs"/>
              </a:rPr>
              <a:t>Online transactional processing.</a:t>
            </a:r>
            <a:r>
              <a:rPr lang="en-US" sz="1200" b="0" i="0" kern="1200" dirty="0" smtClean="0">
                <a:solidFill>
                  <a:schemeClr val="tx1"/>
                </a:solidFill>
                <a:effectLst/>
                <a:latin typeface="+mn-lt"/>
                <a:ea typeface="+mn-ea"/>
                <a:cs typeface="+mn-cs"/>
              </a:rPr>
              <a:t> These databases are not very efficient with online transactional processing as much as they are for online analytical processing. This means they are not very good with updating transactions but are designed to analyze them. This is why they can be found holding data required for business analysis with a relational database storing data in the back end.</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Row-specific queries. </a:t>
            </a:r>
            <a:r>
              <a:rPr lang="en-US" sz="1200" b="0" i="0" kern="1200" dirty="0" smtClean="0">
                <a:solidFill>
                  <a:schemeClr val="tx1"/>
                </a:solidFill>
                <a:effectLst/>
                <a:latin typeface="+mn-lt"/>
                <a:ea typeface="+mn-ea"/>
                <a:cs typeface="+mn-cs"/>
              </a:rPr>
              <a:t>Like the potential downfalls mentioned above, it all boils down to the same issue, which is using the right type of database for the right purposes. With row-specific queries, you are introducing an extra step of scanning the columns to identify the rows and then locating the data to retrieve. It takes more time to get to individual records scattered in multiple columns, rather than accessing grouped records in a single column. Frequent row-specific queries might cause performance issues by slowing down a column-oriented database, which is particularly designed to help you get to required pieces of information quickly, thus defeating its purpose.</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13</a:t>
            </a:fld>
            <a:endParaRPr lang="en-US"/>
          </a:p>
        </p:txBody>
      </p:sp>
    </p:spTree>
    <p:extLst>
      <p:ext uri="{BB962C8B-B14F-4D97-AF65-F5344CB8AC3E}">
        <p14:creationId xmlns:p14="http://schemas.microsoft.com/office/powerpoint/2010/main" val="1220511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Graph databases are </a:t>
            </a:r>
            <a:r>
              <a:rPr lang="en-US" sz="1200" b="0" i="0" u="none" strike="noStrike" kern="1200" dirty="0" err="1" smtClean="0">
                <a:solidFill>
                  <a:schemeClr val="tx1"/>
                </a:solidFill>
                <a:effectLst/>
                <a:latin typeface="+mn-lt"/>
                <a:ea typeface="+mn-ea"/>
                <a:cs typeface="+mn-cs"/>
                <a:hlinkClick r:id="rId3"/>
              </a:rPr>
              <a:t>NoSQL</a:t>
            </a:r>
            <a:r>
              <a:rPr lang="en-US" sz="1200" b="0" i="0" kern="1200" dirty="0" smtClean="0">
                <a:solidFill>
                  <a:schemeClr val="tx1"/>
                </a:solidFill>
                <a:effectLst/>
                <a:latin typeface="+mn-lt"/>
                <a:ea typeface="+mn-ea"/>
                <a:cs typeface="+mn-cs"/>
              </a:rPr>
              <a:t> systems created for exploring correlation within complexly interconnected entities</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16</a:t>
            </a:fld>
            <a:endParaRPr lang="en-US"/>
          </a:p>
        </p:txBody>
      </p:sp>
    </p:spTree>
    <p:extLst>
      <p:ext uri="{BB962C8B-B14F-4D97-AF65-F5344CB8AC3E}">
        <p14:creationId xmlns:p14="http://schemas.microsoft.com/office/powerpoint/2010/main" val="3669172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base"/>
            <a:r>
              <a:rPr lang="en-US" sz="1200" b="1" kern="1200" dirty="0" smtClean="0">
                <a:solidFill>
                  <a:schemeClr val="tx1"/>
                </a:solidFill>
                <a:effectLst/>
                <a:latin typeface="+mn-lt"/>
                <a:ea typeface="+mn-ea"/>
                <a:cs typeface="+mn-cs"/>
              </a:rPr>
              <a:t>Consistency –</a:t>
            </a:r>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Consistency means that the nodes will have the same copies of a replicated data item visible for various transactions. A guarantee that every node in a distributed cluster returns the same, most recent and a successful write. Consistency refers to every client having the same view of the data. There are various types of consistency models. Consistency in CAP refers to sequential consistency, a very strong form of consistency.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 </a:t>
            </a:r>
          </a:p>
          <a:p>
            <a:pPr lvl="0" fontAlgn="base"/>
            <a:r>
              <a:rPr lang="en-US" sz="1200" b="1" kern="1200" dirty="0" smtClean="0">
                <a:solidFill>
                  <a:schemeClr val="tx1"/>
                </a:solidFill>
                <a:effectLst/>
                <a:latin typeface="+mn-lt"/>
                <a:ea typeface="+mn-ea"/>
                <a:cs typeface="+mn-cs"/>
              </a:rPr>
              <a:t>Availability –</a:t>
            </a:r>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Availability means that each read or write request for a data item will either be processed successfully or will receive a message that the operation cannot be completed. Every non-failing node returns a response for all the read and write requests in a reasonable amount of time. The key word here is “every”. In simple terms, every node (on either side of a network partition) must be able to respond in a reasonable amount of time.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 </a:t>
            </a:r>
          </a:p>
          <a:p>
            <a:pPr lvl="0" fontAlgn="base"/>
            <a:r>
              <a:rPr lang="en-US" sz="1200" b="1" kern="1200" dirty="0" smtClean="0">
                <a:solidFill>
                  <a:schemeClr val="tx1"/>
                </a:solidFill>
                <a:effectLst/>
                <a:latin typeface="+mn-lt"/>
                <a:ea typeface="+mn-ea"/>
                <a:cs typeface="+mn-cs"/>
              </a:rPr>
              <a:t>Partition Tolerance –</a:t>
            </a:r>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Partition tolerance means that the system can continue operating even if the network connecting the nodes has a fault that results in two or more partitions, where the nodes in each partition can only communicate among each other. That means, the system continues to function and upholds its consistency guarantees in spite of network partitions. Network partitions are a fact of life. Distributed systems guaranteeing partition tolerance can gracefully recover from partitions once the partition heals.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20</a:t>
            </a:fld>
            <a:endParaRPr lang="en-US"/>
          </a:p>
        </p:txBody>
      </p:sp>
    </p:spTree>
    <p:extLst>
      <p:ext uri="{BB962C8B-B14F-4D97-AF65-F5344CB8AC3E}">
        <p14:creationId xmlns:p14="http://schemas.microsoft.com/office/powerpoint/2010/main" val="2246165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Limitations of NOSQL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Narrow focus :</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databases have a very narrow focus as it is mainly designed for storage but it provides very little functionality. Relational databases are a better choice in the field of Transaction Management than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GUI is not available :</a:t>
            </a:r>
            <a:r>
              <a:rPr lang="en-US" sz="1200" b="0" i="0" kern="1200" dirty="0" smtClean="0">
                <a:solidFill>
                  <a:schemeClr val="tx1"/>
                </a:solidFill>
                <a:effectLst/>
                <a:latin typeface="+mn-lt"/>
                <a:ea typeface="+mn-ea"/>
                <a:cs typeface="+mn-cs"/>
              </a:rPr>
              <a:t> GUI mode tools to access the database are not flexibly available in the market.</a:t>
            </a:r>
          </a:p>
          <a:p>
            <a:r>
              <a:rPr lang="en-US" sz="1200" b="1" i="0" kern="1200" dirty="0" smtClean="0">
                <a:solidFill>
                  <a:schemeClr val="tx1"/>
                </a:solidFill>
                <a:effectLst/>
                <a:latin typeface="+mn-lt"/>
                <a:ea typeface="+mn-ea"/>
                <a:cs typeface="+mn-cs"/>
              </a:rPr>
              <a:t>Lack of maturity :</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NoSQL</a:t>
            </a:r>
            <a:r>
              <a:rPr lang="en-US" sz="1200" b="0" i="0" kern="1200" dirty="0" smtClean="0">
                <a:solidFill>
                  <a:schemeClr val="tx1"/>
                </a:solidFill>
                <a:effectLst/>
                <a:latin typeface="+mn-lt"/>
                <a:ea typeface="+mn-ea"/>
                <a:cs typeface="+mn-cs"/>
              </a:rPr>
              <a:t> databases are relatively new and lack the maturity of traditional relational databases. This can make them less reliable and less secure than traditional databases</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23</a:t>
            </a:fld>
            <a:endParaRPr lang="en-US"/>
          </a:p>
        </p:txBody>
      </p:sp>
    </p:spTree>
    <p:extLst>
      <p:ext uri="{BB962C8B-B14F-4D97-AF65-F5344CB8AC3E}">
        <p14:creationId xmlns:p14="http://schemas.microsoft.com/office/powerpoint/2010/main" val="4248798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data-warehouse</a:t>
            </a:r>
            <a:r>
              <a:rPr lang="en-US" sz="1200" b="0" i="0" kern="1200" dirty="0" smtClean="0">
                <a:solidFill>
                  <a:schemeClr val="tx1"/>
                </a:solidFill>
                <a:effectLst/>
                <a:latin typeface="+mn-lt"/>
                <a:ea typeface="+mn-ea"/>
                <a:cs typeface="+mn-cs"/>
              </a:rPr>
              <a:t> is a heterogeneous collection of different data sources </a:t>
            </a:r>
            <a:r>
              <a:rPr lang="en-US" sz="1200" b="0" i="0" kern="1200" dirty="0" err="1" smtClean="0">
                <a:solidFill>
                  <a:schemeClr val="tx1"/>
                </a:solidFill>
                <a:effectLst/>
                <a:latin typeface="+mn-lt"/>
                <a:ea typeface="+mn-ea"/>
                <a:cs typeface="+mn-cs"/>
              </a:rPr>
              <a:t>organised</a:t>
            </a:r>
            <a:r>
              <a:rPr lang="en-US" sz="1200" b="0" i="0" kern="1200" dirty="0" smtClean="0">
                <a:solidFill>
                  <a:schemeClr val="tx1"/>
                </a:solidFill>
                <a:effectLst/>
                <a:latin typeface="+mn-lt"/>
                <a:ea typeface="+mn-ea"/>
                <a:cs typeface="+mn-cs"/>
              </a:rPr>
              <a:t> under a unified schema</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24</a:t>
            </a:fld>
            <a:endParaRPr lang="en-US"/>
          </a:p>
        </p:txBody>
      </p:sp>
    </p:spTree>
    <p:extLst>
      <p:ext uri="{BB962C8B-B14F-4D97-AF65-F5344CB8AC3E}">
        <p14:creationId xmlns:p14="http://schemas.microsoft.com/office/powerpoint/2010/main" val="1050182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One of the main advantages of a data warehouse is that it ensures data consistency and quality. Data from different departments is cleaned, transformed, and integrated into a unified format, giving the organization a single, reliable version of the truth. </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25</a:t>
            </a:fld>
            <a:endParaRPr lang="en-US"/>
          </a:p>
        </p:txBody>
      </p:sp>
    </p:spTree>
    <p:extLst>
      <p:ext uri="{BB962C8B-B14F-4D97-AF65-F5344CB8AC3E}">
        <p14:creationId xmlns:p14="http://schemas.microsoft.com/office/powerpoint/2010/main" val="205211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smtClean="0">
                <a:solidFill>
                  <a:schemeClr val="tx1"/>
                </a:solidFill>
                <a:effectLst/>
                <a:latin typeface="+mn-lt"/>
                <a:ea typeface="+mn-ea"/>
                <a:cs typeface="+mn-cs"/>
              </a:rPr>
              <a:t>Integrating Heterogeneous Databases</a:t>
            </a:r>
            <a:endParaRPr lang="en-US" sz="1200" b="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To integrate heterogeneous databases, we have two approaches −</a:t>
            </a:r>
          </a:p>
          <a:p>
            <a:pPr lvl="0"/>
            <a:r>
              <a:rPr lang="en-US" sz="1200" kern="1200" dirty="0" smtClean="0">
                <a:solidFill>
                  <a:schemeClr val="tx1"/>
                </a:solidFill>
                <a:effectLst/>
                <a:latin typeface="+mn-lt"/>
                <a:ea typeface="+mn-ea"/>
                <a:cs typeface="+mn-cs"/>
              </a:rPr>
              <a:t>Query-driven Approach</a:t>
            </a:r>
          </a:p>
          <a:p>
            <a:pPr lvl="0"/>
            <a:r>
              <a:rPr lang="en-US" sz="1200" kern="1200" dirty="0" smtClean="0">
                <a:solidFill>
                  <a:schemeClr val="tx1"/>
                </a:solidFill>
                <a:effectLst/>
                <a:latin typeface="+mn-lt"/>
                <a:ea typeface="+mn-ea"/>
                <a:cs typeface="+mn-cs"/>
              </a:rPr>
              <a:t>Update-driven Approach</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33</a:t>
            </a:fld>
            <a:endParaRPr lang="en-US"/>
          </a:p>
        </p:txBody>
      </p:sp>
    </p:spTree>
    <p:extLst>
      <p:ext uri="{BB962C8B-B14F-4D97-AF65-F5344CB8AC3E}">
        <p14:creationId xmlns:p14="http://schemas.microsoft.com/office/powerpoint/2010/main" val="3974606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ETL</a:t>
            </a:r>
            <a:r>
              <a:rPr lang="en-US" sz="1200" b="0" i="0" kern="1200" dirty="0" smtClean="0">
                <a:solidFill>
                  <a:schemeClr val="tx1"/>
                </a:solidFill>
                <a:effectLst/>
                <a:latin typeface="+mn-lt"/>
                <a:ea typeface="+mn-ea"/>
                <a:cs typeface="+mn-cs"/>
              </a:rPr>
              <a:t> tool. </a:t>
            </a:r>
            <a:r>
              <a:rPr lang="en-US" sz="1200" b="1" i="0" kern="1200" dirty="0" smtClean="0">
                <a:solidFill>
                  <a:schemeClr val="tx1"/>
                </a:solidFill>
                <a:effectLst/>
                <a:latin typeface="+mn-lt"/>
                <a:ea typeface="+mn-ea"/>
                <a:cs typeface="+mn-cs"/>
              </a:rPr>
              <a:t>E(Extracted):</a:t>
            </a:r>
            <a:r>
              <a:rPr lang="en-US" sz="1200" b="0" i="0" kern="1200" dirty="0" smtClean="0">
                <a:solidFill>
                  <a:schemeClr val="tx1"/>
                </a:solidFill>
                <a:effectLst/>
                <a:latin typeface="+mn-lt"/>
                <a:ea typeface="+mn-ea"/>
                <a:cs typeface="+mn-cs"/>
              </a:rPr>
              <a:t> Data is extracted from External data source.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pPr fontAlgn="base"/>
            <a:r>
              <a:rPr lang="en-US" sz="1200" b="1" i="0" kern="1200" dirty="0" smtClean="0">
                <a:solidFill>
                  <a:schemeClr val="tx1"/>
                </a:solidFill>
                <a:effectLst/>
                <a:latin typeface="+mn-lt"/>
                <a:ea typeface="+mn-ea"/>
                <a:cs typeface="+mn-cs"/>
              </a:rPr>
              <a:t>T(Transform):</a:t>
            </a:r>
            <a:r>
              <a:rPr lang="en-US" sz="1200" b="0" i="0" kern="1200" dirty="0" smtClean="0">
                <a:solidFill>
                  <a:schemeClr val="tx1"/>
                </a:solidFill>
                <a:effectLst/>
                <a:latin typeface="+mn-lt"/>
                <a:ea typeface="+mn-ea"/>
                <a:cs typeface="+mn-cs"/>
              </a:rPr>
              <a:t> Data is transformed into the standard format.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pPr fontAlgn="base"/>
            <a:r>
              <a:rPr lang="en-US" sz="1200" b="1" i="0" kern="1200" dirty="0" smtClean="0">
                <a:solidFill>
                  <a:schemeClr val="tx1"/>
                </a:solidFill>
                <a:effectLst/>
                <a:latin typeface="+mn-lt"/>
                <a:ea typeface="+mn-ea"/>
                <a:cs typeface="+mn-cs"/>
              </a:rPr>
              <a:t>L(Load):</a:t>
            </a:r>
            <a:r>
              <a:rPr lang="en-US" sz="1200" b="0" i="0" kern="1200" dirty="0" smtClean="0">
                <a:solidFill>
                  <a:schemeClr val="tx1"/>
                </a:solidFill>
                <a:effectLst/>
                <a:latin typeface="+mn-lt"/>
                <a:ea typeface="+mn-ea"/>
                <a:cs typeface="+mn-cs"/>
              </a:rPr>
              <a:t> Data is loaded into </a:t>
            </a:r>
            <a:r>
              <a:rPr lang="en-US" sz="1200" b="0" i="0" kern="1200" dirty="0" err="1" smtClean="0">
                <a:solidFill>
                  <a:schemeClr val="tx1"/>
                </a:solidFill>
                <a:effectLst/>
                <a:latin typeface="+mn-lt"/>
                <a:ea typeface="+mn-ea"/>
                <a:cs typeface="+mn-cs"/>
              </a:rPr>
              <a:t>datawarehouse</a:t>
            </a:r>
            <a:r>
              <a:rPr lang="en-US" sz="1200" b="0" i="0" kern="1200" dirty="0" smtClean="0">
                <a:solidFill>
                  <a:schemeClr val="tx1"/>
                </a:solidFill>
                <a:effectLst/>
                <a:latin typeface="+mn-lt"/>
                <a:ea typeface="+mn-ea"/>
                <a:cs typeface="+mn-cs"/>
              </a:rPr>
              <a:t> after transforming it into the standard format.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34</a:t>
            </a:fld>
            <a:endParaRPr lang="en-US"/>
          </a:p>
        </p:txBody>
      </p:sp>
    </p:spTree>
    <p:extLst>
      <p:ext uri="{BB962C8B-B14F-4D97-AF65-F5344CB8AC3E}">
        <p14:creationId xmlns:p14="http://schemas.microsoft.com/office/powerpoint/2010/main" val="758325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OLAP was introduced by </a:t>
            </a:r>
            <a:r>
              <a:rPr lang="en-US" dirty="0" err="1" smtClean="0"/>
              <a:t>E.F.Codd</a:t>
            </a:r>
            <a:r>
              <a:rPr lang="en-US" baseline="0" dirty="0" smtClean="0"/>
              <a:t>  and it is a category of software technology that enables analysts, manager to analyze the complex data derived from the </a:t>
            </a:r>
            <a:r>
              <a:rPr lang="en-US" baseline="0" dirty="0" err="1" smtClean="0"/>
              <a:t>datawarehouse</a:t>
            </a:r>
            <a:r>
              <a:rPr lang="en-US" baseline="0" dirty="0" smtClean="0"/>
              <a:t> and get meaningful insight from that data by representing it in multidimensional facets.</a:t>
            </a:r>
            <a:r>
              <a:rPr lang="en-US" sz="1200" b="1" i="0" kern="1200" dirty="0" smtClean="0">
                <a:solidFill>
                  <a:schemeClr val="tx1"/>
                </a:solidFill>
                <a:effectLst/>
                <a:latin typeface="+mn-lt"/>
                <a:ea typeface="+mn-ea"/>
                <a:cs typeface="+mn-cs"/>
              </a:rPr>
              <a:t> Examples –</a:t>
            </a:r>
            <a:r>
              <a:rPr lang="en-US" sz="1200" b="0" i="0" kern="1200" dirty="0" smtClean="0">
                <a:solidFill>
                  <a:schemeClr val="tx1"/>
                </a:solidFill>
                <a:effectLst/>
                <a:latin typeface="+mn-lt"/>
                <a:ea typeface="+mn-ea"/>
                <a:cs typeface="+mn-cs"/>
              </a:rPr>
              <a:t> Any type of Data warehouse system is an OLAP system. The </a:t>
            </a:r>
            <a:r>
              <a:rPr lang="en-US" sz="1200" b="0" i="0" u="sng" kern="1200" dirty="0" smtClean="0">
                <a:solidFill>
                  <a:schemeClr val="tx1"/>
                </a:solidFill>
                <a:effectLst/>
                <a:latin typeface="+mn-lt"/>
                <a:ea typeface="+mn-ea"/>
                <a:cs typeface="+mn-cs"/>
                <a:hlinkClick r:id="rId3"/>
              </a:rPr>
              <a:t>uses of OLAP</a:t>
            </a:r>
            <a:r>
              <a:rPr lang="en-US" sz="1200" b="0" i="0" kern="1200" dirty="0" smtClean="0">
                <a:solidFill>
                  <a:schemeClr val="tx1"/>
                </a:solidFill>
                <a:effectLst/>
                <a:latin typeface="+mn-lt"/>
                <a:ea typeface="+mn-ea"/>
                <a:cs typeface="+mn-cs"/>
              </a:rPr>
              <a:t> are as follows:</a:t>
            </a:r>
          </a:p>
          <a:p>
            <a:pPr fontAlgn="base"/>
            <a:r>
              <a:rPr lang="en-US" sz="1200" b="0" i="0" kern="1200" dirty="0" err="1" smtClean="0">
                <a:solidFill>
                  <a:schemeClr val="tx1"/>
                </a:solidFill>
                <a:effectLst/>
                <a:latin typeface="+mn-lt"/>
                <a:ea typeface="+mn-ea"/>
                <a:cs typeface="+mn-cs"/>
              </a:rPr>
              <a:t>Spotify</a:t>
            </a:r>
            <a:r>
              <a:rPr lang="en-US" sz="1200" b="0" i="0" kern="1200" dirty="0" smtClean="0">
                <a:solidFill>
                  <a:schemeClr val="tx1"/>
                </a:solidFill>
                <a:effectLst/>
                <a:latin typeface="+mn-lt"/>
                <a:ea typeface="+mn-ea"/>
                <a:cs typeface="+mn-cs"/>
              </a:rPr>
              <a:t> analyzed songs by users to come up with a personalized homepage of their songs and playlist.</a:t>
            </a:r>
          </a:p>
          <a:p>
            <a:pPr fontAlgn="base"/>
            <a:r>
              <a:rPr lang="en-US" sz="1200" b="0" i="0" kern="1200" dirty="0" smtClean="0">
                <a:solidFill>
                  <a:schemeClr val="tx1"/>
                </a:solidFill>
                <a:effectLst/>
                <a:latin typeface="+mn-lt"/>
                <a:ea typeface="+mn-ea"/>
                <a:cs typeface="+mn-cs"/>
              </a:rPr>
              <a:t>Netflix movie recommendation system.</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37</a:t>
            </a:fld>
            <a:endParaRPr lang="en-US"/>
          </a:p>
        </p:txBody>
      </p:sp>
    </p:spTree>
    <p:extLst>
      <p:ext uri="{BB962C8B-B14F-4D97-AF65-F5344CB8AC3E}">
        <p14:creationId xmlns:p14="http://schemas.microsoft.com/office/powerpoint/2010/main" val="1024387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86360C-4C4D-9F6D-A4A9-550381A557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25E6B2BA-914F-ABD9-5086-8A20FF39C9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FB7C1B9-849D-0B70-E7F9-2353052283DD}"/>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421E7DF4-0C00-90FF-B9D9-113BFC4CF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C5AB4F1-B4DF-C88D-251D-5FE1A3AC753A}"/>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42687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2835BF-AC3E-BE38-8A72-EA49A4BBFF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5EE74B03-488C-A32E-FFAF-B477ED042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8F6C8B2-1CB5-67A6-94CD-26F40BBFABE3}"/>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11443C6B-349B-2CE0-2B1B-B11571E62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156A8AB-440D-70B8-4750-169B1FE16067}"/>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4261555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2A8436-9D6D-F93C-D0A6-D7091E5B6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75B70DA7-6A4B-ECEA-6B87-A11117DAC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FD4CE3C-BF06-0330-F1F8-0BF9C7BB81FA}"/>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C96DA91F-EC90-D2C0-A7A6-A152E8A55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9461BE1-E6F7-CFB2-2930-A5D253D99907}"/>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772873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4504A1-AEB1-B8A3-9E09-8B6E3FD16C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B5BB4E7D-C818-B0CE-7458-CD52D06225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CE6AAC86-8F45-63DF-A26F-4656EFC26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7690D92-EF93-97E7-5F27-774390286058}"/>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6" name="Footer Placeholder 5">
            <a:extLst>
              <a:ext uri="{FF2B5EF4-FFF2-40B4-BE49-F238E27FC236}">
                <a16:creationId xmlns="" xmlns:a16="http://schemas.microsoft.com/office/drawing/2014/main" id="{CB41D24A-7C73-5966-3CAA-ED51895A0C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E98535C3-408E-FF1B-BB3B-9386E242E7FC}"/>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1881145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206BE1-5CC1-2655-B684-9A3FB20FFE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3056E73C-AA50-2CE3-E3C7-DFE58BCDE8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16C402F-8009-CE32-636B-D28CA95F11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9D80E78A-92A2-3BD2-626D-FE42FED67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EAB8AD5-C845-D1E7-FBB0-77D2219F10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CCDFDE7A-976F-FE09-FB27-CF79ECD82257}"/>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8" name="Footer Placeholder 7">
            <a:extLst>
              <a:ext uri="{FF2B5EF4-FFF2-40B4-BE49-F238E27FC236}">
                <a16:creationId xmlns="" xmlns:a16="http://schemas.microsoft.com/office/drawing/2014/main" id="{7468475E-08B0-42A9-6D8C-2D541B367E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E3BFE568-CF0E-0F0A-07B3-6C548D4CAD1E}"/>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65568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2D3936-F2B0-364A-E381-27416E7BCE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C49914BD-6085-D132-F46F-AF4D914F38FB}"/>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4" name="Footer Placeholder 3">
            <a:extLst>
              <a:ext uri="{FF2B5EF4-FFF2-40B4-BE49-F238E27FC236}">
                <a16:creationId xmlns="" xmlns:a16="http://schemas.microsoft.com/office/drawing/2014/main" id="{8A2CFFE3-1E49-FC74-97E0-346A969397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D98D669F-0F70-87F1-9015-868D40124D85}"/>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02614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3EFFE53-BAD4-47F1-DD22-C906E6930145}"/>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3" name="Footer Placeholder 2">
            <a:extLst>
              <a:ext uri="{FF2B5EF4-FFF2-40B4-BE49-F238E27FC236}">
                <a16:creationId xmlns="" xmlns:a16="http://schemas.microsoft.com/office/drawing/2014/main" id="{04D21521-0125-6E56-DD9A-7AD5F8E384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16192850-45CF-C6A4-A752-0AE8CA461508}"/>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85112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7E7E4-1575-86EF-B1A6-9C46F72756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857B9EA1-DCE8-B7E6-D743-47081ABA01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B514E33-7086-AE16-E462-DEC2D9269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957D61B-0573-D355-1E75-4C0DDDC51BF6}"/>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6" name="Footer Placeholder 5">
            <a:extLst>
              <a:ext uri="{FF2B5EF4-FFF2-40B4-BE49-F238E27FC236}">
                <a16:creationId xmlns="" xmlns:a16="http://schemas.microsoft.com/office/drawing/2014/main" id="{05C9B4E3-A3CA-5158-79F0-6FDD3F3C8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2920007-ECBA-CBFC-E53B-492AF2BD58A1}"/>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6051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0C4CBE-BDC6-00E6-3750-A88A81729B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C1A4C763-FE29-5367-91A3-1CC546F69E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8B6842C9-8704-9E39-98C6-F1202A895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0F52AD7-D8FF-2894-4448-A89D7E197D5D}"/>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6" name="Footer Placeholder 5">
            <a:extLst>
              <a:ext uri="{FF2B5EF4-FFF2-40B4-BE49-F238E27FC236}">
                <a16:creationId xmlns="" xmlns:a16="http://schemas.microsoft.com/office/drawing/2014/main" id="{97F22035-ABF6-3628-999F-8F8EB346BF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EAB07084-23DA-41A5-6B9A-3D8EE251ACE9}"/>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378816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AAF410-C516-4A9B-DD80-C19E680B1E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8414D45F-8890-2698-FFA0-F3D13D11FB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6D2C1036-A50E-81E3-01D6-D97820D8E459}"/>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9466C982-26D2-D1D2-9820-E14716530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0E85878-8679-2EEB-F6E5-565D0DD38D89}"/>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3997307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6FB227F-7B1B-EDAE-426A-687C5C98FD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D10D5D0-1D38-8379-2907-C4A3FAF555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AEC8923-1456-0134-3927-2E212D9F3A53}"/>
              </a:ext>
            </a:extLst>
          </p:cNvPr>
          <p:cNvSpPr>
            <a:spLocks noGrp="1"/>
          </p:cNvSpPr>
          <p:nvPr>
            <p:ph type="dt" sz="half" idx="10"/>
          </p:nvPr>
        </p:nvSpPr>
        <p:spPr/>
        <p:txBody>
          <a:body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F6876495-1889-8A31-A2F8-7211E2E4B8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60FD00E-DAF1-628E-3E80-2F425950C47C}"/>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4145095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2D053D5-1F57-FE8B-C300-AE279124D0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CB9798A6-F937-2A19-1F87-08CC882153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15AA7A5-C44B-761B-3C1F-B0D3C26B79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FEBA7B-CF0C-4804-A8B9-8875FBE30F21}" type="datetimeFigureOut">
              <a:rPr lang="en-US" smtClean="0"/>
              <a:t>09/10/2025</a:t>
            </a:fld>
            <a:endParaRPr lang="en-US"/>
          </a:p>
        </p:txBody>
      </p:sp>
      <p:sp>
        <p:nvSpPr>
          <p:cNvPr id="5" name="Footer Placeholder 4">
            <a:extLst>
              <a:ext uri="{FF2B5EF4-FFF2-40B4-BE49-F238E27FC236}">
                <a16:creationId xmlns="" xmlns:a16="http://schemas.microsoft.com/office/drawing/2014/main" id="{7F86FCDA-8810-B6F0-41B3-B056E0CEA4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69586E68-8383-1018-E484-698B5E15F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B7BE8-4919-4A86-B7E0-A6C414CC2A88}" type="slidenum">
              <a:rPr lang="en-US" smtClean="0"/>
              <a:t>‹#›</a:t>
            </a:fld>
            <a:endParaRPr lang="en-US"/>
          </a:p>
        </p:txBody>
      </p:sp>
    </p:spTree>
    <p:extLst>
      <p:ext uri="{BB962C8B-B14F-4D97-AF65-F5344CB8AC3E}">
        <p14:creationId xmlns:p14="http://schemas.microsoft.com/office/powerpoint/2010/main" val="303488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geeksforgeeks.org/neo4j-introduction/" TargetMode="External"/><Relationship Id="rId3" Type="http://schemas.openxmlformats.org/officeDocument/2006/relationships/hyperlink" Target="https://www.geeksforgeeks.org/mysql-common-mysql-queries/" TargetMode="External"/><Relationship Id="rId7" Type="http://schemas.openxmlformats.org/officeDocument/2006/relationships/hyperlink" Target="https://www.geeksforgeeks.org/architecture-of-hbas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geeksforgeeks.org/graphql-query/" TargetMode="External"/><Relationship Id="rId5" Type="http://schemas.openxmlformats.org/officeDocument/2006/relationships/hyperlink" Target="https://www.geeksforgeeks.org/mongodb-tutorial/" TargetMode="External"/><Relationship Id="rId10" Type="http://schemas.openxmlformats.org/officeDocument/2006/relationships/image" Target="../media/image2.png"/><Relationship Id="rId4" Type="http://schemas.openxmlformats.org/officeDocument/2006/relationships/hyperlink" Target="https://www.geeksforgeeks.org/what-is-postgresql-introduction/" TargetMode="External"/><Relationship Id="rId9" Type="http://schemas.openxmlformats.org/officeDocument/2006/relationships/hyperlink" Target="https://www.geeksforgeeks.org/apache-cassandra-nosql-databas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7A16E7-1120-D792-BA3C-59FA083D1588}"/>
              </a:ext>
            </a:extLst>
          </p:cNvPr>
          <p:cNvSpPr>
            <a:spLocks noGrp="1"/>
          </p:cNvSpPr>
          <p:nvPr>
            <p:ph type="ctrTitle"/>
          </p:nvPr>
        </p:nvSpPr>
        <p:spPr>
          <a:xfrm>
            <a:off x="955965" y="1122363"/>
            <a:ext cx="10446326" cy="2387600"/>
          </a:xfrm>
        </p:spPr>
        <p:txBody>
          <a:bodyPr>
            <a:normAutofit/>
          </a:bodyPr>
          <a:lstStyle/>
          <a:p>
            <a:r>
              <a:rPr lang="en-US" sz="7200" b="1" dirty="0"/>
              <a:t>Unit 6 </a:t>
            </a:r>
            <a:r>
              <a:rPr lang="en-US" sz="7200" b="1" i="0" u="none" strike="noStrike" baseline="0" dirty="0"/>
              <a:t>NOSQL </a:t>
            </a:r>
            <a:r>
              <a:rPr lang="en-US" sz="7200" b="1" i="0" u="none" strike="noStrike" baseline="0" dirty="0" smtClean="0"/>
              <a:t>Databases</a:t>
            </a:r>
            <a:endParaRPr lang="en-US" sz="7200" b="1" dirty="0"/>
          </a:p>
        </p:txBody>
      </p:sp>
    </p:spTree>
    <p:extLst>
      <p:ext uri="{BB962C8B-B14F-4D97-AF65-F5344CB8AC3E}">
        <p14:creationId xmlns:p14="http://schemas.microsoft.com/office/powerpoint/2010/main" val="1402575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B3C6BE-7279-7E04-366A-AE887354CB03}"/>
              </a:ext>
            </a:extLst>
          </p:cNvPr>
          <p:cNvSpPr>
            <a:spLocks noGrp="1"/>
          </p:cNvSpPr>
          <p:nvPr>
            <p:ph type="title"/>
          </p:nvPr>
        </p:nvSpPr>
        <p:spPr/>
        <p:txBody>
          <a:bodyPr>
            <a:normAutofit/>
          </a:bodyPr>
          <a:lstStyle/>
          <a:p>
            <a:r>
              <a:rPr lang="en-US" sz="4000" b="1" dirty="0"/>
              <a:t>Contents</a:t>
            </a:r>
          </a:p>
        </p:txBody>
      </p:sp>
      <p:sp>
        <p:nvSpPr>
          <p:cNvPr id="3" name="Content Placeholder 2">
            <a:extLst>
              <a:ext uri="{FF2B5EF4-FFF2-40B4-BE49-F238E27FC236}">
                <a16:creationId xmlns="" xmlns:a16="http://schemas.microsoft.com/office/drawing/2014/main" id="{5E8529AC-0622-A1E2-2C2D-C94BEDA79EC1}"/>
              </a:ext>
            </a:extLst>
          </p:cNvPr>
          <p:cNvSpPr>
            <a:spLocks noGrp="1"/>
          </p:cNvSpPr>
          <p:nvPr>
            <p:ph idx="1"/>
          </p:nvPr>
        </p:nvSpPr>
        <p:spPr>
          <a:xfrm>
            <a:off x="838200" y="1427018"/>
            <a:ext cx="10515600" cy="4749945"/>
          </a:xfrm>
        </p:spPr>
        <p:txBody>
          <a:bodyPr>
            <a:normAutofit/>
          </a:bodyPr>
          <a:lstStyle/>
          <a:p>
            <a:pPr algn="l"/>
            <a:r>
              <a:rPr lang="en-US" sz="3200" b="1" i="0" u="none" strike="noStrike" baseline="0" dirty="0"/>
              <a:t>NOSQL Databases : </a:t>
            </a:r>
          </a:p>
          <a:p>
            <a:pPr algn="l"/>
            <a:r>
              <a:rPr lang="en-US" sz="3200" b="0" i="0" u="none" strike="noStrike" baseline="0" dirty="0"/>
              <a:t>Introduction to NOSQL Databases,</a:t>
            </a:r>
          </a:p>
          <a:p>
            <a:pPr algn="l"/>
            <a:r>
              <a:rPr lang="en-US" sz="3200" b="0" i="0" u="none" strike="noStrike" baseline="0" dirty="0"/>
              <a:t>Types of NOSQL Databases</a:t>
            </a:r>
          </a:p>
          <a:p>
            <a:pPr algn="just"/>
            <a:r>
              <a:rPr lang="en-US" sz="3200" b="1" i="0" u="none" strike="noStrike" baseline="0" dirty="0"/>
              <a:t>BASE properties</a:t>
            </a:r>
          </a:p>
          <a:p>
            <a:pPr algn="just"/>
            <a:r>
              <a:rPr lang="en-US" sz="3200" b="1" i="0" u="none" strike="noStrike" baseline="0" dirty="0"/>
              <a:t>CAP theorem</a:t>
            </a:r>
          </a:p>
          <a:p>
            <a:pPr algn="l"/>
            <a:r>
              <a:rPr lang="en-US" sz="3200" b="1" i="0" u="none" strike="noStrike" baseline="0" dirty="0"/>
              <a:t>Data Warehousing</a:t>
            </a:r>
            <a:r>
              <a:rPr lang="en-US" sz="3200" b="0" i="0" u="none" strike="noStrike" baseline="0" dirty="0"/>
              <a:t>: Architecture and Components of Data Warehouse, OLAP</a:t>
            </a:r>
            <a:endParaRPr lang="en-US" sz="3200" dirty="0"/>
          </a:p>
        </p:txBody>
      </p:sp>
    </p:spTree>
    <p:extLst>
      <p:ext uri="{BB962C8B-B14F-4D97-AF65-F5344CB8AC3E}">
        <p14:creationId xmlns:p14="http://schemas.microsoft.com/office/powerpoint/2010/main" val="45804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NoSQL databases "not only SQL"</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332510" y="1115002"/>
            <a:ext cx="6567054" cy="5495926"/>
          </a:xfrm>
        </p:spPr>
        <p:txBody>
          <a:bodyPr>
            <a:normAutofit/>
          </a:bodyPr>
          <a:lstStyle/>
          <a:p>
            <a:pPr algn="just"/>
            <a:r>
              <a:rPr lang="en-US" b="0" i="0" dirty="0">
                <a:effectLst/>
              </a:rPr>
              <a:t>NoSQL databases (aka </a:t>
            </a:r>
            <a:r>
              <a:rPr lang="en-US" b="1" i="0" dirty="0">
                <a:solidFill>
                  <a:srgbClr val="C00000"/>
                </a:solidFill>
                <a:effectLst/>
              </a:rPr>
              <a:t>"not only SQL") </a:t>
            </a:r>
            <a:r>
              <a:rPr lang="en-US" b="1" i="0" dirty="0">
                <a:solidFill>
                  <a:srgbClr val="0000CC"/>
                </a:solidFill>
                <a:effectLst/>
              </a:rPr>
              <a:t>are non-tabular databases and store data differently than relational tables. </a:t>
            </a:r>
          </a:p>
          <a:p>
            <a:pPr algn="just"/>
            <a:r>
              <a:rPr lang="en-US" b="0" i="0" dirty="0">
                <a:effectLst/>
              </a:rPr>
              <a:t>NoSQL databases come in a variety of types based on their data model. The main types are </a:t>
            </a:r>
            <a:r>
              <a:rPr lang="en-US" b="1" i="0" dirty="0">
                <a:solidFill>
                  <a:srgbClr val="0000CC"/>
                </a:solidFill>
                <a:effectLst/>
              </a:rPr>
              <a:t>document, key-value, wide-column, and graph. </a:t>
            </a:r>
          </a:p>
          <a:p>
            <a:pPr algn="just"/>
            <a:r>
              <a:rPr lang="en-US" b="0" i="0" dirty="0">
                <a:effectLst/>
              </a:rPr>
              <a:t>Traditional RDBMS uses SQL syntax to store and retrieve data for further insights. Instead, a </a:t>
            </a:r>
            <a:r>
              <a:rPr lang="en-US" b="1" i="0" dirty="0">
                <a:solidFill>
                  <a:srgbClr val="0000CC"/>
                </a:solidFill>
                <a:effectLst/>
              </a:rPr>
              <a:t>NoSQL database system encompasses a wide range of database technologies that can store structured, semi-structured, unstructured data.</a:t>
            </a:r>
            <a:endParaRPr lang="en-US" b="1" dirty="0">
              <a:solidFill>
                <a:srgbClr val="0000CC"/>
              </a:solidFill>
            </a:endParaRPr>
          </a:p>
        </p:txBody>
      </p:sp>
      <p:pic>
        <p:nvPicPr>
          <p:cNvPr id="1026" name="Picture 2">
            <a:extLst>
              <a:ext uri="{FF2B5EF4-FFF2-40B4-BE49-F238E27FC236}">
                <a16:creationId xmlns="" xmlns:a16="http://schemas.microsoft.com/office/drawing/2014/main" id="{FBDBB738-022B-FDCB-2C2C-7479BCF7E6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8945" y="673821"/>
            <a:ext cx="4911436" cy="5061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3500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731"/>
          </a:xfrm>
        </p:spPr>
        <p:txBody>
          <a:bodyPr/>
          <a:lstStyle/>
          <a:p>
            <a:r>
              <a:rPr lang="en-US" b="1" dirty="0" smtClean="0"/>
              <a:t>SQL VS NOSQL</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77734887"/>
              </p:ext>
            </p:extLst>
          </p:nvPr>
        </p:nvGraphicFramePr>
        <p:xfrm>
          <a:off x="-1" y="567297"/>
          <a:ext cx="6297770" cy="6347824"/>
        </p:xfrm>
        <a:graphic>
          <a:graphicData uri="http://schemas.openxmlformats.org/drawingml/2006/table">
            <a:tbl>
              <a:tblPr firstRow="1" bandRow="1">
                <a:tableStyleId>{5C22544A-7EE6-4342-B048-85BDC9FD1C3A}</a:tableStyleId>
              </a:tblPr>
              <a:tblGrid>
                <a:gridCol w="473894"/>
                <a:gridCol w="2566044"/>
                <a:gridCol w="3257832"/>
              </a:tblGrid>
              <a:tr h="410868">
                <a:tc>
                  <a:txBody>
                    <a:bodyPr/>
                    <a:lstStyle/>
                    <a:p>
                      <a:r>
                        <a:rPr lang="en-US" dirty="0" smtClean="0"/>
                        <a:t>SN</a:t>
                      </a:r>
                      <a:endParaRPr lang="en-US" dirty="0"/>
                    </a:p>
                  </a:txBody>
                  <a:tcPr/>
                </a:tc>
                <a:tc>
                  <a:txBody>
                    <a:bodyPr/>
                    <a:lstStyle/>
                    <a:p>
                      <a:r>
                        <a:rPr lang="en-US" dirty="0" smtClean="0"/>
                        <a:t>SQL</a:t>
                      </a:r>
                      <a:endParaRPr lang="en-US" dirty="0"/>
                    </a:p>
                  </a:txBody>
                  <a:tcPr/>
                </a:tc>
                <a:tc>
                  <a:txBody>
                    <a:bodyPr/>
                    <a:lstStyle/>
                    <a:p>
                      <a:r>
                        <a:rPr lang="en-US" dirty="0" smtClean="0"/>
                        <a:t>NOSQL</a:t>
                      </a:r>
                      <a:endParaRPr lang="en-US" dirty="0"/>
                    </a:p>
                  </a:txBody>
                  <a:tcPr/>
                </a:tc>
              </a:tr>
              <a:tr h="642419">
                <a:tc>
                  <a:txBody>
                    <a:bodyPr/>
                    <a:lstStyle/>
                    <a:p>
                      <a:r>
                        <a:rPr lang="en-US" dirty="0" smtClean="0"/>
                        <a:t>1</a:t>
                      </a:r>
                      <a:endParaRPr lang="en-US" dirty="0"/>
                    </a:p>
                  </a:txBody>
                  <a:tcPr/>
                </a:tc>
                <a:tc>
                  <a:txBody>
                    <a:bodyPr/>
                    <a:lstStyle/>
                    <a:p>
                      <a:r>
                        <a:rPr lang="en-US" dirty="0" smtClean="0"/>
                        <a:t>SQL databases are relational</a:t>
                      </a:r>
                      <a:endParaRPr lang="en-US" dirty="0"/>
                    </a:p>
                  </a:txBody>
                  <a:tcPr/>
                </a:tc>
                <a:tc>
                  <a:txBody>
                    <a:bodyPr/>
                    <a:lstStyle/>
                    <a:p>
                      <a:r>
                        <a:rPr lang="en-US" sz="1800" b="0" i="0" kern="1200" dirty="0" err="1" smtClean="0">
                          <a:solidFill>
                            <a:schemeClr val="dk1"/>
                          </a:solidFill>
                          <a:effectLst/>
                          <a:latin typeface="+mn-lt"/>
                          <a:ea typeface="+mn-ea"/>
                          <a:cs typeface="+mn-cs"/>
                        </a:rPr>
                        <a:t>NoSQL</a:t>
                      </a:r>
                      <a:r>
                        <a:rPr lang="en-US" sz="1800" b="0" i="0" kern="1200" dirty="0" smtClean="0">
                          <a:solidFill>
                            <a:schemeClr val="dk1"/>
                          </a:solidFill>
                          <a:effectLst/>
                          <a:latin typeface="+mn-lt"/>
                          <a:ea typeface="+mn-ea"/>
                          <a:cs typeface="+mn-cs"/>
                        </a:rPr>
                        <a:t> databases are non-relational</a:t>
                      </a:r>
                      <a:endParaRPr lang="en-US" dirty="0"/>
                    </a:p>
                  </a:txBody>
                  <a:tcPr/>
                </a:tc>
              </a:tr>
              <a:tr h="1193064">
                <a:tc>
                  <a:txBody>
                    <a:bodyPr/>
                    <a:lstStyle/>
                    <a:p>
                      <a:r>
                        <a:rPr lang="en-US" dirty="0" smtClean="0"/>
                        <a:t>2</a:t>
                      </a:r>
                      <a:endParaRPr lang="en-US" dirty="0"/>
                    </a:p>
                  </a:txBody>
                  <a:tcPr/>
                </a:tc>
                <a:tc>
                  <a:txBody>
                    <a:bodyPr/>
                    <a:lstStyle/>
                    <a:p>
                      <a:r>
                        <a:rPr lang="en-US" sz="1800" b="0" i="0" kern="1200" dirty="0" smtClean="0">
                          <a:solidFill>
                            <a:schemeClr val="dk1"/>
                          </a:solidFill>
                          <a:effectLst/>
                          <a:latin typeface="+mn-lt"/>
                          <a:ea typeface="+mn-ea"/>
                          <a:cs typeface="+mn-cs"/>
                        </a:rPr>
                        <a:t>SQL databases use structured query language and have a predefined schema.</a:t>
                      </a:r>
                      <a:endParaRPr lang="en-US" dirty="0"/>
                    </a:p>
                  </a:txBody>
                  <a:tcPr/>
                </a:tc>
                <a:tc>
                  <a:txBody>
                    <a:bodyPr/>
                    <a:lstStyle/>
                    <a:p>
                      <a:r>
                        <a:rPr lang="en-US" sz="1800" b="0" i="0" kern="1200" dirty="0" err="1" smtClean="0">
                          <a:solidFill>
                            <a:schemeClr val="dk1"/>
                          </a:solidFill>
                          <a:effectLst/>
                          <a:latin typeface="+mn-lt"/>
                          <a:ea typeface="+mn-ea"/>
                          <a:cs typeface="+mn-cs"/>
                        </a:rPr>
                        <a:t>NoSQL</a:t>
                      </a:r>
                      <a:r>
                        <a:rPr lang="en-US" sz="1800" b="0" i="0" kern="1200" dirty="0" smtClean="0">
                          <a:solidFill>
                            <a:schemeClr val="dk1"/>
                          </a:solidFill>
                          <a:effectLst/>
                          <a:latin typeface="+mn-lt"/>
                          <a:ea typeface="+mn-ea"/>
                          <a:cs typeface="+mn-cs"/>
                        </a:rPr>
                        <a:t> databases have dynamic schemas for unstructured data.</a:t>
                      </a:r>
                      <a:endParaRPr lang="en-US" dirty="0"/>
                    </a:p>
                  </a:txBody>
                  <a:tcPr/>
                </a:tc>
              </a:tr>
              <a:tr h="642419">
                <a:tc>
                  <a:txBody>
                    <a:bodyPr/>
                    <a:lstStyle/>
                    <a:p>
                      <a:r>
                        <a:rPr lang="en-US" dirty="0" smtClean="0"/>
                        <a:t>3</a:t>
                      </a:r>
                      <a:endParaRPr lang="en-US" dirty="0"/>
                    </a:p>
                  </a:txBody>
                  <a:tcPr/>
                </a:tc>
                <a:tc>
                  <a:txBody>
                    <a:bodyPr/>
                    <a:lstStyle/>
                    <a:p>
                      <a:r>
                        <a:rPr lang="en-US" sz="1800" b="0" i="0" kern="1200" dirty="0" smtClean="0">
                          <a:solidFill>
                            <a:schemeClr val="dk1"/>
                          </a:solidFill>
                          <a:effectLst/>
                          <a:latin typeface="+mn-lt"/>
                          <a:ea typeface="+mn-ea"/>
                          <a:cs typeface="+mn-cs"/>
                        </a:rPr>
                        <a:t>SQL databases are vertically scalable</a:t>
                      </a:r>
                      <a:endParaRPr lang="en-US" dirty="0"/>
                    </a:p>
                  </a:txBody>
                  <a:tcPr/>
                </a:tc>
                <a:tc>
                  <a:txBody>
                    <a:bodyPr/>
                    <a:lstStyle/>
                    <a:p>
                      <a:r>
                        <a:rPr lang="en-US" sz="1800" b="0" i="0" kern="1200" dirty="0" err="1" smtClean="0">
                          <a:solidFill>
                            <a:schemeClr val="dk1"/>
                          </a:solidFill>
                          <a:effectLst/>
                          <a:latin typeface="+mn-lt"/>
                          <a:ea typeface="+mn-ea"/>
                          <a:cs typeface="+mn-cs"/>
                        </a:rPr>
                        <a:t>NoSQL</a:t>
                      </a:r>
                      <a:r>
                        <a:rPr lang="en-US" sz="1800" b="0" i="0" kern="1200" dirty="0" smtClean="0">
                          <a:solidFill>
                            <a:schemeClr val="dk1"/>
                          </a:solidFill>
                          <a:effectLst/>
                          <a:latin typeface="+mn-lt"/>
                          <a:ea typeface="+mn-ea"/>
                          <a:cs typeface="+mn-cs"/>
                        </a:rPr>
                        <a:t> databases are horizontally scalable.</a:t>
                      </a:r>
                      <a:endParaRPr lang="en-US" dirty="0"/>
                    </a:p>
                  </a:txBody>
                  <a:tcPr/>
                </a:tc>
              </a:tr>
              <a:tr h="917742">
                <a:tc>
                  <a:txBody>
                    <a:bodyPr/>
                    <a:lstStyle/>
                    <a:p>
                      <a:r>
                        <a:rPr lang="en-US" dirty="0" smtClean="0"/>
                        <a:t>4</a:t>
                      </a:r>
                      <a:endParaRPr lang="en-US" dirty="0"/>
                    </a:p>
                  </a:txBody>
                  <a:tcPr/>
                </a:tc>
                <a:tc>
                  <a:txBody>
                    <a:bodyPr/>
                    <a:lstStyle/>
                    <a:p>
                      <a:r>
                        <a:rPr lang="en-US" sz="1800" b="0" i="0" kern="1200" dirty="0" smtClean="0">
                          <a:solidFill>
                            <a:schemeClr val="dk1"/>
                          </a:solidFill>
                          <a:effectLst/>
                          <a:latin typeface="+mn-lt"/>
                          <a:ea typeface="+mn-ea"/>
                          <a:cs typeface="+mn-cs"/>
                        </a:rPr>
                        <a:t>SQL databases are table-based</a:t>
                      </a:r>
                      <a:endParaRPr lang="en-US" dirty="0"/>
                    </a:p>
                  </a:txBody>
                  <a:tcPr/>
                </a:tc>
                <a:tc>
                  <a:txBody>
                    <a:bodyPr/>
                    <a:lstStyle/>
                    <a:p>
                      <a:r>
                        <a:rPr lang="en-US" sz="1800" b="0" i="0" kern="1200" dirty="0" err="1" smtClean="0">
                          <a:solidFill>
                            <a:schemeClr val="dk1"/>
                          </a:solidFill>
                          <a:effectLst/>
                          <a:latin typeface="+mn-lt"/>
                          <a:ea typeface="+mn-ea"/>
                          <a:cs typeface="+mn-cs"/>
                        </a:rPr>
                        <a:t>NoSQL</a:t>
                      </a:r>
                      <a:r>
                        <a:rPr lang="en-US" sz="1800" b="0" i="0" kern="1200" dirty="0" smtClean="0">
                          <a:solidFill>
                            <a:schemeClr val="dk1"/>
                          </a:solidFill>
                          <a:effectLst/>
                          <a:latin typeface="+mn-lt"/>
                          <a:ea typeface="+mn-ea"/>
                          <a:cs typeface="+mn-cs"/>
                        </a:rPr>
                        <a:t> databases are document, key-value, graph, or wide-column stores.</a:t>
                      </a:r>
                      <a:endParaRPr lang="en-US" dirty="0"/>
                    </a:p>
                  </a:txBody>
                  <a:tcPr/>
                </a:tc>
              </a:tr>
              <a:tr h="917742">
                <a:tc>
                  <a:txBody>
                    <a:bodyPr/>
                    <a:lstStyle/>
                    <a:p>
                      <a:r>
                        <a:rPr lang="en-US" dirty="0" smtClean="0"/>
                        <a:t>5</a:t>
                      </a:r>
                      <a:endParaRPr lang="en-US" dirty="0"/>
                    </a:p>
                  </a:txBody>
                  <a:tcPr/>
                </a:tc>
                <a:tc>
                  <a:txBody>
                    <a:bodyPr/>
                    <a:lstStyle/>
                    <a:p>
                      <a:r>
                        <a:rPr lang="en-US" sz="1800" b="0" i="0" kern="1200" dirty="0" smtClean="0">
                          <a:solidFill>
                            <a:schemeClr val="dk1"/>
                          </a:solidFill>
                          <a:effectLst/>
                          <a:latin typeface="+mn-lt"/>
                          <a:ea typeface="+mn-ea"/>
                          <a:cs typeface="+mn-cs"/>
                        </a:rPr>
                        <a:t>SQL databases are better for multi-row transactions.</a:t>
                      </a:r>
                      <a:endParaRPr lang="en-US" dirty="0"/>
                    </a:p>
                  </a:txBody>
                  <a:tcPr/>
                </a:tc>
                <a:tc>
                  <a:txBody>
                    <a:bodyPr/>
                    <a:lstStyle/>
                    <a:p>
                      <a:r>
                        <a:rPr lang="en-US" sz="1800" b="0" i="0" kern="1200" dirty="0" err="1" smtClean="0">
                          <a:solidFill>
                            <a:schemeClr val="dk1"/>
                          </a:solidFill>
                          <a:effectLst/>
                          <a:latin typeface="+mn-lt"/>
                          <a:ea typeface="+mn-ea"/>
                          <a:cs typeface="+mn-cs"/>
                        </a:rPr>
                        <a:t>NoSQL</a:t>
                      </a:r>
                      <a:r>
                        <a:rPr lang="en-US" sz="1800" b="0" i="0" kern="1200" dirty="0" smtClean="0">
                          <a:solidFill>
                            <a:schemeClr val="dk1"/>
                          </a:solidFill>
                          <a:effectLst/>
                          <a:latin typeface="+mn-lt"/>
                          <a:ea typeface="+mn-ea"/>
                          <a:cs typeface="+mn-cs"/>
                        </a:rPr>
                        <a:t> is better for unstructured data like documents or JSON.</a:t>
                      </a:r>
                      <a:endParaRPr lang="en-US" dirty="0"/>
                    </a:p>
                  </a:txBody>
                  <a:tcPr/>
                </a:tc>
              </a:tr>
              <a:tr h="709170">
                <a:tc>
                  <a:txBody>
                    <a:bodyPr/>
                    <a:lstStyle/>
                    <a:p>
                      <a:r>
                        <a:rPr lang="en-US" dirty="0" smtClean="0"/>
                        <a:t>6</a:t>
                      </a:r>
                      <a:endParaRPr lang="en-US" dirty="0"/>
                    </a:p>
                  </a:txBody>
                  <a:tcPr/>
                </a:tc>
                <a:tc>
                  <a:txBody>
                    <a:bodyPr/>
                    <a:lstStyle/>
                    <a:p>
                      <a:r>
                        <a:rPr lang="en-US" sz="1800" b="0" i="0" kern="1200" dirty="0" smtClean="0">
                          <a:solidFill>
                            <a:schemeClr val="dk1"/>
                          </a:solidFill>
                          <a:effectLst/>
                          <a:latin typeface="+mn-lt"/>
                          <a:ea typeface="+mn-ea"/>
                          <a:cs typeface="+mn-cs"/>
                        </a:rPr>
                        <a:t>Follows ACID property</a:t>
                      </a:r>
                      <a:endParaRPr lang="en-US" dirty="0"/>
                    </a:p>
                  </a:txBody>
                  <a:tcPr/>
                </a:tc>
                <a:tc>
                  <a:txBody>
                    <a:bodyPr/>
                    <a:lstStyle/>
                    <a:p>
                      <a:r>
                        <a:rPr lang="en-US" sz="1800" b="0" i="0" kern="1200" dirty="0" smtClean="0">
                          <a:solidFill>
                            <a:schemeClr val="dk1"/>
                          </a:solidFill>
                          <a:effectLst/>
                          <a:latin typeface="+mn-lt"/>
                          <a:ea typeface="+mn-ea"/>
                          <a:cs typeface="+mn-cs"/>
                        </a:rPr>
                        <a:t>Follows CAP(consistency, availability, partition tolerance)</a:t>
                      </a:r>
                      <a:endParaRPr lang="en-US" dirty="0"/>
                    </a:p>
                  </a:txBody>
                  <a:tcPr/>
                </a:tc>
              </a:tr>
              <a:tr h="709170">
                <a:tc>
                  <a:txBody>
                    <a:bodyPr/>
                    <a:lstStyle/>
                    <a:p>
                      <a:r>
                        <a:rPr lang="en-US" dirty="0" smtClean="0"/>
                        <a:t>7</a:t>
                      </a:r>
                      <a:endParaRPr lang="en-US" dirty="0"/>
                    </a:p>
                  </a:txBody>
                  <a:tcPr/>
                </a:tc>
                <a:tc>
                  <a:txBody>
                    <a:bodyPr/>
                    <a:lstStyle/>
                    <a:p>
                      <a:r>
                        <a:rPr lang="fr-FR" sz="1800" b="1" i="0" kern="1200" dirty="0" err="1" smtClean="0">
                          <a:solidFill>
                            <a:schemeClr val="dk1"/>
                          </a:solidFill>
                          <a:effectLst/>
                          <a:latin typeface="+mn-lt"/>
                          <a:ea typeface="+mn-ea"/>
                          <a:cs typeface="+mn-cs"/>
                        </a:rPr>
                        <a:t>Examples</a:t>
                      </a:r>
                      <a:r>
                        <a:rPr lang="fr-FR" sz="1800" b="1" i="0" kern="1200" dirty="0" smtClean="0">
                          <a:solidFill>
                            <a:schemeClr val="dk1"/>
                          </a:solidFill>
                          <a:effectLst/>
                          <a:latin typeface="+mn-lt"/>
                          <a:ea typeface="+mn-ea"/>
                          <a:cs typeface="+mn-cs"/>
                        </a:rPr>
                        <a:t>: </a:t>
                      </a:r>
                      <a:r>
                        <a:rPr lang="fr-FR" sz="1800" b="0" i="0" u="sng" kern="1200" dirty="0" smtClean="0">
                          <a:solidFill>
                            <a:schemeClr val="dk1"/>
                          </a:solidFill>
                          <a:effectLst/>
                          <a:latin typeface="+mn-lt"/>
                          <a:ea typeface="+mn-ea"/>
                          <a:cs typeface="+mn-cs"/>
                          <a:hlinkClick r:id="rId3"/>
                        </a:rPr>
                        <a:t>MySQL</a:t>
                      </a:r>
                      <a:r>
                        <a:rPr lang="fr-FR" sz="1800" b="0" i="0" kern="1200" dirty="0" smtClean="0">
                          <a:solidFill>
                            <a:schemeClr val="dk1"/>
                          </a:solidFill>
                          <a:effectLst/>
                          <a:latin typeface="+mn-lt"/>
                          <a:ea typeface="+mn-ea"/>
                          <a:cs typeface="+mn-cs"/>
                        </a:rPr>
                        <a:t>, </a:t>
                      </a:r>
                      <a:r>
                        <a:rPr lang="fr-FR" sz="1800" b="0" i="0" u="sng" kern="1200" dirty="0" err="1" smtClean="0">
                          <a:solidFill>
                            <a:schemeClr val="dk1"/>
                          </a:solidFill>
                          <a:effectLst/>
                          <a:latin typeface="+mn-lt"/>
                          <a:ea typeface="+mn-ea"/>
                          <a:cs typeface="+mn-cs"/>
                          <a:hlinkClick r:id="rId4"/>
                        </a:rPr>
                        <a:t>PostgreSQL</a:t>
                      </a:r>
                      <a:r>
                        <a:rPr lang="fr-FR" sz="1800" b="0" i="0" kern="1200" dirty="0" smtClean="0">
                          <a:solidFill>
                            <a:schemeClr val="dk1"/>
                          </a:solidFill>
                          <a:effectLst/>
                          <a:latin typeface="+mn-lt"/>
                          <a:ea typeface="+mn-ea"/>
                          <a:cs typeface="+mn-cs"/>
                        </a:rPr>
                        <a:t>, Oracle, MS-SQL Server, etc</a:t>
                      </a:r>
                      <a:endParaRPr lang="en-US" dirty="0"/>
                    </a:p>
                  </a:txBody>
                  <a:tcPr/>
                </a:tc>
                <a:tc>
                  <a:txBody>
                    <a:bodyPr/>
                    <a:lstStyle/>
                    <a:p>
                      <a:r>
                        <a:rPr lang="en-US" sz="1800" b="1" i="0" kern="1200" dirty="0" smtClean="0">
                          <a:solidFill>
                            <a:schemeClr val="dk1"/>
                          </a:solidFill>
                          <a:effectLst/>
                          <a:latin typeface="+mn-lt"/>
                          <a:ea typeface="+mn-ea"/>
                          <a:cs typeface="+mn-cs"/>
                        </a:rPr>
                        <a:t>Examples: </a:t>
                      </a:r>
                      <a:r>
                        <a:rPr lang="en-US" sz="1800" b="0" i="0" u="sng" kern="1200" dirty="0" err="1" smtClean="0">
                          <a:solidFill>
                            <a:schemeClr val="dk1"/>
                          </a:solidFill>
                          <a:effectLst/>
                          <a:latin typeface="+mn-lt"/>
                          <a:ea typeface="+mn-ea"/>
                          <a:cs typeface="+mn-cs"/>
                          <a:hlinkClick r:id="rId5"/>
                        </a:rPr>
                        <a:t>MongoDB</a:t>
                      </a:r>
                      <a:r>
                        <a:rPr lang="en-US" sz="1800" b="0" i="0" kern="1200" dirty="0" smtClean="0">
                          <a:solidFill>
                            <a:schemeClr val="dk1"/>
                          </a:solidFill>
                          <a:effectLst/>
                          <a:latin typeface="+mn-lt"/>
                          <a:ea typeface="+mn-ea"/>
                          <a:cs typeface="+mn-cs"/>
                        </a:rPr>
                        <a:t>, </a:t>
                      </a:r>
                      <a:r>
                        <a:rPr lang="en-US" sz="1800" b="0" i="0" u="sng" kern="1200" dirty="0" err="1" smtClean="0">
                          <a:solidFill>
                            <a:schemeClr val="dk1"/>
                          </a:solidFill>
                          <a:effectLst/>
                          <a:latin typeface="+mn-lt"/>
                          <a:ea typeface="+mn-ea"/>
                          <a:cs typeface="+mn-cs"/>
                          <a:hlinkClick r:id="rId6"/>
                        </a:rPr>
                        <a:t>GraphQL</a:t>
                      </a:r>
                      <a:r>
                        <a:rPr lang="en-US" sz="1800" b="0" i="0" kern="1200" dirty="0" smtClean="0">
                          <a:solidFill>
                            <a:schemeClr val="dk1"/>
                          </a:solidFill>
                          <a:effectLst/>
                          <a:latin typeface="+mn-lt"/>
                          <a:ea typeface="+mn-ea"/>
                          <a:cs typeface="+mn-cs"/>
                        </a:rPr>
                        <a:t>, </a:t>
                      </a:r>
                      <a:r>
                        <a:rPr lang="en-US" sz="1800" b="0" i="0" u="sng" kern="1200" dirty="0" err="1" smtClean="0">
                          <a:solidFill>
                            <a:schemeClr val="dk1"/>
                          </a:solidFill>
                          <a:effectLst/>
                          <a:latin typeface="+mn-lt"/>
                          <a:ea typeface="+mn-ea"/>
                          <a:cs typeface="+mn-cs"/>
                          <a:hlinkClick r:id="rId7"/>
                        </a:rPr>
                        <a:t>HBase</a:t>
                      </a:r>
                      <a:r>
                        <a:rPr lang="en-US" sz="1800" b="0" i="0" kern="1200" dirty="0" smtClean="0">
                          <a:solidFill>
                            <a:schemeClr val="dk1"/>
                          </a:solidFill>
                          <a:effectLst/>
                          <a:latin typeface="+mn-lt"/>
                          <a:ea typeface="+mn-ea"/>
                          <a:cs typeface="+mn-cs"/>
                        </a:rPr>
                        <a:t>, </a:t>
                      </a:r>
                      <a:r>
                        <a:rPr lang="en-US" sz="1800" b="0" i="0" u="sng" kern="1200" dirty="0" smtClean="0">
                          <a:solidFill>
                            <a:schemeClr val="dk1"/>
                          </a:solidFill>
                          <a:effectLst/>
                          <a:latin typeface="+mn-lt"/>
                          <a:ea typeface="+mn-ea"/>
                          <a:cs typeface="+mn-cs"/>
                          <a:hlinkClick r:id="rId8"/>
                        </a:rPr>
                        <a:t>Neo4j</a:t>
                      </a:r>
                      <a:r>
                        <a:rPr lang="en-US" sz="1800" b="0" i="0" kern="1200" dirty="0" smtClean="0">
                          <a:solidFill>
                            <a:schemeClr val="dk1"/>
                          </a:solidFill>
                          <a:effectLst/>
                          <a:latin typeface="+mn-lt"/>
                          <a:ea typeface="+mn-ea"/>
                          <a:cs typeface="+mn-cs"/>
                        </a:rPr>
                        <a:t>,</a:t>
                      </a:r>
                      <a:r>
                        <a:rPr lang="en-US" sz="1800" b="0" i="0" u="sng" kern="1200" dirty="0" smtClean="0">
                          <a:solidFill>
                            <a:schemeClr val="dk1"/>
                          </a:solidFill>
                          <a:effectLst/>
                          <a:latin typeface="+mn-lt"/>
                          <a:ea typeface="+mn-ea"/>
                          <a:cs typeface="+mn-cs"/>
                          <a:hlinkClick r:id="rId9"/>
                        </a:rPr>
                        <a:t> Cassandra,</a:t>
                      </a:r>
                      <a:r>
                        <a:rPr lang="en-US" sz="1800" b="0" i="0" kern="1200" dirty="0" smtClean="0">
                          <a:solidFill>
                            <a:schemeClr val="dk1"/>
                          </a:solidFill>
                          <a:effectLst/>
                          <a:latin typeface="+mn-lt"/>
                          <a:ea typeface="+mn-ea"/>
                          <a:cs typeface="+mn-cs"/>
                        </a:rPr>
                        <a:t> etc</a:t>
                      </a:r>
                      <a:endParaRPr lang="en-US" dirty="0"/>
                    </a:p>
                  </a:txBody>
                  <a:tcPr/>
                </a:tc>
              </a:tr>
            </a:tbl>
          </a:graphicData>
        </a:graphic>
      </p:graphicFrame>
      <p:pic>
        <p:nvPicPr>
          <p:cNvPr id="1026"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07617" y="1776076"/>
            <a:ext cx="5984383" cy="3645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709893" y="5602310"/>
            <a:ext cx="5331853" cy="1477328"/>
          </a:xfrm>
          <a:prstGeom prst="rect">
            <a:avLst/>
          </a:prstGeom>
          <a:noFill/>
        </p:spPr>
        <p:txBody>
          <a:bodyPr wrap="square" rtlCol="0">
            <a:spAutoFit/>
          </a:bodyPr>
          <a:lstStyle/>
          <a:p>
            <a:r>
              <a:rPr lang="en-US" b="1" dirty="0"/>
              <a:t>Performance: </a:t>
            </a:r>
            <a:r>
              <a:rPr lang="en-US" dirty="0" err="1"/>
              <a:t>NoSQL</a:t>
            </a:r>
            <a:r>
              <a:rPr lang="en-US" dirty="0"/>
              <a:t> databases are optimized for high performance and can handle a high volume of reads and writes, making them suitable for big data and real-time applications.</a:t>
            </a:r>
          </a:p>
          <a:p>
            <a:endParaRPr lang="en-US" dirty="0"/>
          </a:p>
        </p:txBody>
      </p:sp>
    </p:spTree>
    <p:extLst>
      <p:ext uri="{BB962C8B-B14F-4D97-AF65-F5344CB8AC3E}">
        <p14:creationId xmlns:p14="http://schemas.microsoft.com/office/powerpoint/2010/main" val="3411897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9144" y="-91628"/>
            <a:ext cx="3916653" cy="993150"/>
          </a:xfrm>
        </p:spPr>
        <p:txBody>
          <a:bodyPr/>
          <a:lstStyle/>
          <a:p>
            <a:r>
              <a:rPr lang="en-US" b="1" dirty="0" smtClean="0"/>
              <a:t>Example</a:t>
            </a:r>
            <a:endParaRPr lang="en-US" b="1" dirty="0"/>
          </a:p>
        </p:txBody>
      </p:sp>
      <p:pic>
        <p:nvPicPr>
          <p:cNvPr id="1026"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4368" y="-91629"/>
            <a:ext cx="7172325" cy="3427257"/>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203696" y="3335628"/>
            <a:ext cx="7988304" cy="3522372"/>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937836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332509" y="1115002"/>
            <a:ext cx="11222181" cy="1780598"/>
          </a:xfrm>
        </p:spPr>
        <p:txBody>
          <a:bodyPr>
            <a:normAutofit/>
          </a:bodyPr>
          <a:lstStyle/>
          <a:p>
            <a:pPr algn="just"/>
            <a:r>
              <a:rPr lang="en-US" b="1" i="0" dirty="0">
                <a:effectLst/>
              </a:rPr>
              <a:t>NoSQL Databases</a:t>
            </a:r>
            <a:r>
              <a:rPr lang="en-US" b="0" i="0" dirty="0">
                <a:effectLst/>
              </a:rPr>
              <a:t> are mainly categorized into four types: </a:t>
            </a:r>
            <a:r>
              <a:rPr lang="en-US" b="1" i="0" dirty="0">
                <a:solidFill>
                  <a:srgbClr val="0000CC"/>
                </a:solidFill>
                <a:effectLst/>
              </a:rPr>
              <a:t>Key-value pair, Column-oriented(Wide-column), Graph-based and Document-oriented.</a:t>
            </a:r>
            <a:r>
              <a:rPr lang="en-US" b="0" i="0" dirty="0">
                <a:effectLst/>
              </a:rPr>
              <a:t> Every category has its unique attributes and limitations</a:t>
            </a:r>
            <a:endParaRPr lang="en-US" b="1" dirty="0"/>
          </a:p>
        </p:txBody>
      </p:sp>
      <p:pic>
        <p:nvPicPr>
          <p:cNvPr id="2050" name="Picture 2">
            <a:extLst>
              <a:ext uri="{FF2B5EF4-FFF2-40B4-BE49-F238E27FC236}">
                <a16:creationId xmlns="" xmlns:a16="http://schemas.microsoft.com/office/drawing/2014/main" id="{FA368C0D-E542-941C-89D7-FCA06937E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54" y="2578678"/>
            <a:ext cx="10931236" cy="3401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774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332509" y="1115001"/>
            <a:ext cx="11222181" cy="5495927"/>
          </a:xfrm>
        </p:spPr>
        <p:txBody>
          <a:bodyPr>
            <a:normAutofit/>
          </a:bodyPr>
          <a:lstStyle/>
          <a:p>
            <a:pPr algn="just"/>
            <a:r>
              <a:rPr lang="en-US" b="1" i="0" dirty="0">
                <a:solidFill>
                  <a:srgbClr val="222222"/>
                </a:solidFill>
                <a:effectLst/>
              </a:rPr>
              <a:t>Key Value Pair Based</a:t>
            </a:r>
          </a:p>
          <a:p>
            <a:pPr algn="just"/>
            <a:r>
              <a:rPr lang="en-US" b="0" i="0" dirty="0">
                <a:solidFill>
                  <a:srgbClr val="222222"/>
                </a:solidFill>
                <a:effectLst/>
              </a:rPr>
              <a:t>Data is </a:t>
            </a:r>
            <a:r>
              <a:rPr lang="en-US" b="1" i="0" dirty="0">
                <a:solidFill>
                  <a:srgbClr val="0000CC"/>
                </a:solidFill>
                <a:effectLst/>
              </a:rPr>
              <a:t>stored in key/value pairs</a:t>
            </a:r>
            <a:r>
              <a:rPr lang="en-US" b="0" i="0" dirty="0">
                <a:solidFill>
                  <a:srgbClr val="222222"/>
                </a:solidFill>
                <a:effectLst/>
              </a:rPr>
              <a:t>. It is designed in such a way to handle lots of data and heavy load.</a:t>
            </a:r>
          </a:p>
          <a:p>
            <a:pPr algn="just"/>
            <a:r>
              <a:rPr lang="en-US" b="1" i="0" dirty="0">
                <a:solidFill>
                  <a:srgbClr val="0000CC"/>
                </a:solidFill>
                <a:effectLst/>
              </a:rPr>
              <a:t>Key-value pair storage databases store data as a hash table where each key is unique</a:t>
            </a:r>
            <a:r>
              <a:rPr lang="en-US" b="0" i="0" dirty="0">
                <a:solidFill>
                  <a:srgbClr val="222222"/>
                </a:solidFill>
                <a:effectLst/>
              </a:rPr>
              <a:t>, and the value can be a JSON, BLOB(Binary Large Objects), string, etc.</a:t>
            </a:r>
          </a:p>
          <a:p>
            <a:pPr algn="just"/>
            <a:r>
              <a:rPr lang="en-US" b="0" i="0" dirty="0">
                <a:solidFill>
                  <a:srgbClr val="222222"/>
                </a:solidFill>
                <a:effectLst/>
              </a:rPr>
              <a:t>This kind of NoSQL database is </a:t>
            </a:r>
            <a:r>
              <a:rPr lang="en-US" b="1" i="0" dirty="0">
                <a:solidFill>
                  <a:srgbClr val="0000CC"/>
                </a:solidFill>
                <a:effectLst/>
              </a:rPr>
              <a:t>used as a collection, dictionaries, associative arrays, etc. Key value stores help the developer to store schema-less data. They work best for shopping cart contents.</a:t>
            </a:r>
          </a:p>
          <a:p>
            <a:pPr algn="just"/>
            <a:r>
              <a:rPr lang="en-US" b="1" i="0" dirty="0">
                <a:solidFill>
                  <a:srgbClr val="C00000"/>
                </a:solidFill>
                <a:effectLst/>
              </a:rPr>
              <a:t>Redis, Dynamo, </a:t>
            </a:r>
            <a:r>
              <a:rPr lang="en-US" b="1" i="0" dirty="0" err="1">
                <a:solidFill>
                  <a:srgbClr val="C00000"/>
                </a:solidFill>
                <a:effectLst/>
              </a:rPr>
              <a:t>Riak</a:t>
            </a:r>
            <a:r>
              <a:rPr lang="en-US" b="1" i="0" dirty="0">
                <a:solidFill>
                  <a:srgbClr val="C00000"/>
                </a:solidFill>
                <a:effectLst/>
              </a:rPr>
              <a:t> </a:t>
            </a:r>
            <a:r>
              <a:rPr lang="en-US" b="0" i="0" dirty="0">
                <a:solidFill>
                  <a:srgbClr val="222222"/>
                </a:solidFill>
                <a:effectLst/>
              </a:rPr>
              <a:t>are some NoSQL examples of key-value store </a:t>
            </a:r>
            <a:r>
              <a:rPr lang="en-US" b="0" i="0" dirty="0" err="1">
                <a:solidFill>
                  <a:srgbClr val="222222"/>
                </a:solidFill>
                <a:effectLst/>
              </a:rPr>
              <a:t>DataBases</a:t>
            </a:r>
            <a:r>
              <a:rPr lang="en-US" b="0" i="0" dirty="0">
                <a:solidFill>
                  <a:srgbClr val="222222"/>
                </a:solidFill>
                <a:effectLst/>
              </a:rPr>
              <a:t>. </a:t>
            </a:r>
          </a:p>
        </p:txBody>
      </p:sp>
    </p:spTree>
    <p:extLst>
      <p:ext uri="{BB962C8B-B14F-4D97-AF65-F5344CB8AC3E}">
        <p14:creationId xmlns:p14="http://schemas.microsoft.com/office/powerpoint/2010/main" val="344630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36" y="1276013"/>
            <a:ext cx="6895759" cy="4712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34895" y="2998930"/>
            <a:ext cx="5057106" cy="1663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9046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332510" y="1115001"/>
            <a:ext cx="5070764" cy="5495927"/>
          </a:xfrm>
        </p:spPr>
        <p:txBody>
          <a:bodyPr>
            <a:normAutofit lnSpcReduction="10000"/>
          </a:bodyPr>
          <a:lstStyle/>
          <a:p>
            <a:pPr algn="just"/>
            <a:r>
              <a:rPr lang="en-US" b="1" i="0" dirty="0">
                <a:effectLst/>
              </a:rPr>
              <a:t>Column-based</a:t>
            </a:r>
          </a:p>
          <a:p>
            <a:pPr algn="just"/>
            <a:r>
              <a:rPr lang="en-US" b="1" i="0" dirty="0">
                <a:solidFill>
                  <a:srgbClr val="0000CC"/>
                </a:solidFill>
                <a:effectLst/>
              </a:rPr>
              <a:t>Column-oriented databases work on columns </a:t>
            </a:r>
            <a:r>
              <a:rPr lang="en-US" b="0" i="0" dirty="0">
                <a:effectLst/>
              </a:rPr>
              <a:t>and are based on </a:t>
            </a:r>
            <a:r>
              <a:rPr lang="en-US" b="0" i="0" dirty="0" err="1">
                <a:effectLst/>
              </a:rPr>
              <a:t>BigTable</a:t>
            </a:r>
            <a:r>
              <a:rPr lang="en-US" b="0" i="0" dirty="0">
                <a:effectLst/>
              </a:rPr>
              <a:t> paper by Google. </a:t>
            </a:r>
            <a:r>
              <a:rPr lang="en-US" b="1" i="0" dirty="0">
                <a:solidFill>
                  <a:srgbClr val="0000CC"/>
                </a:solidFill>
                <a:effectLst/>
              </a:rPr>
              <a:t>Every column is treated separately. </a:t>
            </a:r>
          </a:p>
          <a:p>
            <a:pPr algn="just"/>
            <a:r>
              <a:rPr lang="en-US" b="0" i="0" dirty="0">
                <a:solidFill>
                  <a:srgbClr val="111111"/>
                </a:solidFill>
                <a:effectLst/>
              </a:rPr>
              <a:t>More specifically, column databases use the concept of </a:t>
            </a:r>
            <a:r>
              <a:rPr lang="en-US" b="1" i="1" dirty="0" err="1">
                <a:solidFill>
                  <a:srgbClr val="0000CC"/>
                </a:solidFill>
                <a:effectLst/>
              </a:rPr>
              <a:t>keyspace</a:t>
            </a:r>
            <a:r>
              <a:rPr lang="en-US" b="1" i="0" dirty="0">
                <a:solidFill>
                  <a:srgbClr val="0000CC"/>
                </a:solidFill>
                <a:effectLst/>
              </a:rPr>
              <a:t>,</a:t>
            </a:r>
            <a:r>
              <a:rPr lang="en-US" b="0" i="0" dirty="0">
                <a:solidFill>
                  <a:srgbClr val="111111"/>
                </a:solidFill>
                <a:effectLst/>
              </a:rPr>
              <a:t> which is sort of like a schema in relational models. This </a:t>
            </a:r>
            <a:r>
              <a:rPr lang="en-US" b="1" i="0" dirty="0" err="1">
                <a:solidFill>
                  <a:srgbClr val="0000CC"/>
                </a:solidFill>
                <a:effectLst/>
              </a:rPr>
              <a:t>keyspace</a:t>
            </a:r>
            <a:r>
              <a:rPr lang="en-US" b="1" i="0" dirty="0">
                <a:solidFill>
                  <a:srgbClr val="0000CC"/>
                </a:solidFill>
                <a:effectLst/>
              </a:rPr>
              <a:t> contains all the column families, which then contain rows, which then contain columns.</a:t>
            </a:r>
          </a:p>
          <a:p>
            <a:pPr algn="just"/>
            <a:endParaRPr lang="en-US" b="1" i="0" dirty="0">
              <a:solidFill>
                <a:srgbClr val="0000CC"/>
              </a:solidFill>
              <a:effectLst/>
            </a:endParaRPr>
          </a:p>
        </p:txBody>
      </p:sp>
      <p:pic>
        <p:nvPicPr>
          <p:cNvPr id="3074" name="Picture 2" descr="Image">
            <a:extLst>
              <a:ext uri="{FF2B5EF4-FFF2-40B4-BE49-F238E27FC236}">
                <a16:creationId xmlns="" xmlns:a16="http://schemas.microsoft.com/office/drawing/2014/main" id="{DE22899C-B331-2016-CF4A-066E6A349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497" y="742227"/>
            <a:ext cx="5076825" cy="20804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mage">
            <a:extLst>
              <a:ext uri="{FF2B5EF4-FFF2-40B4-BE49-F238E27FC236}">
                <a16:creationId xmlns="" xmlns:a16="http://schemas.microsoft.com/office/drawing/2014/main" id="{71E9A896-8CC0-F20E-9F88-4D13D12FF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9018" y="3145705"/>
            <a:ext cx="5860472" cy="3352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211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column-oriented databases work</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Relational </a:t>
            </a:r>
            <a:r>
              <a:rPr lang="en-US" dirty="0"/>
              <a:t>databases have a set schema and they function as tables of rows and columns. Wide-column databases have a similar, but different schema. </a:t>
            </a:r>
            <a:r>
              <a:rPr lang="en-US" dirty="0">
                <a:solidFill>
                  <a:srgbClr val="FF0000"/>
                </a:solidFill>
              </a:rPr>
              <a:t>They also have rows and columns. However, they are not fixed within a table, but have a dynamic schema. Each column is stored separately. If there are similar (related) columns, they are joined into column families and then the column families are stored separately from other column families.</a:t>
            </a:r>
          </a:p>
          <a:p>
            <a:pPr algn="just"/>
            <a:r>
              <a:rPr lang="en-US" dirty="0"/>
              <a:t>The row key is the first column in each column family, and it serves as an identifier of a row. Furthermore, </a:t>
            </a:r>
            <a:r>
              <a:rPr lang="en-US" dirty="0">
                <a:solidFill>
                  <a:srgbClr val="FF0000"/>
                </a:solidFill>
              </a:rPr>
              <a:t>each column after that has a column key (name). </a:t>
            </a:r>
            <a:r>
              <a:rPr lang="en-US" dirty="0"/>
              <a:t>It identifies columns within rows and thus enables the querying of the columns. The value and the timestamp come after the column key, leaving a trace of when the data was entered or modified.</a:t>
            </a:r>
          </a:p>
          <a:p>
            <a:endParaRPr lang="en-US" dirty="0"/>
          </a:p>
        </p:txBody>
      </p:sp>
    </p:spTree>
    <p:extLst>
      <p:ext uri="{BB962C8B-B14F-4D97-AF65-F5344CB8AC3E}">
        <p14:creationId xmlns:p14="http://schemas.microsoft.com/office/powerpoint/2010/main" val="3425992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5600456" cy="867930"/>
          </a:xfrm>
        </p:spPr>
        <p:txBody>
          <a:bodyPr>
            <a:normAutofit fontScale="90000"/>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332510" y="1115002"/>
            <a:ext cx="5070764" cy="1962580"/>
          </a:xfrm>
        </p:spPr>
        <p:txBody>
          <a:bodyPr>
            <a:normAutofit/>
          </a:bodyPr>
          <a:lstStyle/>
          <a:p>
            <a:pPr algn="just"/>
            <a:r>
              <a:rPr lang="en-US" b="0" i="0" dirty="0">
                <a:effectLst/>
              </a:rPr>
              <a:t>HBase, Cassandra, HBase, </a:t>
            </a:r>
            <a:r>
              <a:rPr lang="en-US" b="0" i="0" dirty="0" err="1">
                <a:effectLst/>
              </a:rPr>
              <a:t>Hypertable</a:t>
            </a:r>
            <a:r>
              <a:rPr lang="en-US" b="0" i="0" dirty="0">
                <a:effectLst/>
              </a:rPr>
              <a:t> are NoSQL query examples of column based database.</a:t>
            </a:r>
          </a:p>
        </p:txBody>
      </p:sp>
      <p:pic>
        <p:nvPicPr>
          <p:cNvPr id="3078" name="Picture 6" descr="Image">
            <a:extLst>
              <a:ext uri="{FF2B5EF4-FFF2-40B4-BE49-F238E27FC236}">
                <a16:creationId xmlns="" xmlns:a16="http://schemas.microsoft.com/office/drawing/2014/main" id="{42E550C8-B179-D2D1-3C97-E260796ED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8020" y="247072"/>
            <a:ext cx="6241470" cy="551641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mage">
            <a:extLst>
              <a:ext uri="{FF2B5EF4-FFF2-40B4-BE49-F238E27FC236}">
                <a16:creationId xmlns="" xmlns:a16="http://schemas.microsoft.com/office/drawing/2014/main" id="{33FCDDED-6F2C-7A45-63C4-75EA6407D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191311"/>
            <a:ext cx="5070764" cy="2114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640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lumn-Oriented Databases, Explained - KDnugge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949" y="530605"/>
            <a:ext cx="9311425" cy="4812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701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22" y="566671"/>
            <a:ext cx="10612191" cy="571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24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432955" y="1987837"/>
            <a:ext cx="11177154" cy="4426817"/>
          </a:xfrm>
        </p:spPr>
        <p:txBody>
          <a:bodyPr>
            <a:normAutofit/>
          </a:bodyPr>
          <a:lstStyle/>
          <a:p>
            <a:pPr algn="l"/>
            <a:r>
              <a:rPr lang="en-US" b="1" i="0" dirty="0">
                <a:effectLst/>
              </a:rPr>
              <a:t>Document-Oriented:</a:t>
            </a:r>
          </a:p>
          <a:p>
            <a:pPr algn="l"/>
            <a:r>
              <a:rPr lang="en-US" b="0" i="0" dirty="0">
                <a:effectLst/>
              </a:rPr>
              <a:t>Document-Oriented NoSQL DB </a:t>
            </a:r>
            <a:r>
              <a:rPr lang="en-US" b="1" i="0" dirty="0">
                <a:solidFill>
                  <a:srgbClr val="0000CC"/>
                </a:solidFill>
                <a:effectLst/>
              </a:rPr>
              <a:t>stores and retrieves data as a key value pair but the value part is stored as a document. </a:t>
            </a:r>
            <a:r>
              <a:rPr lang="en-US" b="0" i="0" dirty="0">
                <a:effectLst/>
              </a:rPr>
              <a:t>The document is stored in JSON or XML formats. The value is understood by the DB and can be queried.</a:t>
            </a:r>
          </a:p>
          <a:p>
            <a:pPr algn="l"/>
            <a:r>
              <a:rPr lang="en-US" b="0" i="0" dirty="0">
                <a:effectLst/>
              </a:rPr>
              <a:t>The document type is </a:t>
            </a:r>
            <a:r>
              <a:rPr lang="en-US" b="1" i="0" dirty="0">
                <a:solidFill>
                  <a:srgbClr val="0000CC"/>
                </a:solidFill>
                <a:effectLst/>
              </a:rPr>
              <a:t>mostly used for CMS systems, blogging platforms, real-time analytics &amp; e-commerce applications. </a:t>
            </a:r>
          </a:p>
          <a:p>
            <a:pPr algn="l"/>
            <a:r>
              <a:rPr lang="en-US" b="0" i="0" dirty="0">
                <a:effectLst/>
              </a:rPr>
              <a:t>Amazon </a:t>
            </a:r>
            <a:r>
              <a:rPr lang="en-US" b="0" i="0" dirty="0" err="1">
                <a:effectLst/>
              </a:rPr>
              <a:t>SimpleDB</a:t>
            </a:r>
            <a:r>
              <a:rPr lang="en-US" b="0" i="0" dirty="0">
                <a:effectLst/>
              </a:rPr>
              <a:t>, CouchDB, MongoDB, </a:t>
            </a:r>
            <a:r>
              <a:rPr lang="en-US" b="0" i="0" dirty="0" err="1">
                <a:effectLst/>
              </a:rPr>
              <a:t>Riak</a:t>
            </a:r>
            <a:r>
              <a:rPr lang="en-US" b="0" i="0" dirty="0">
                <a:effectLst/>
              </a:rPr>
              <a:t>, Lotus </a:t>
            </a:r>
            <a:r>
              <a:rPr lang="en-US" b="0" i="0" dirty="0" smtClean="0">
                <a:effectLst/>
              </a:rPr>
              <a:t>Notes, </a:t>
            </a:r>
            <a:r>
              <a:rPr lang="en-US" b="0" i="0" dirty="0">
                <a:effectLst/>
              </a:rPr>
              <a:t>are popular Document originated DBMS systems.</a:t>
            </a:r>
          </a:p>
          <a:p>
            <a:pPr algn="l"/>
            <a:endParaRPr lang="en-US" b="0" i="0" dirty="0">
              <a:solidFill>
                <a:srgbClr val="222222"/>
              </a:solidFill>
              <a:effectLst/>
              <a:latin typeface="Source Sans Pro" panose="020B0503030403020204" pitchFamily="34" charset="0"/>
            </a:endParaRPr>
          </a:p>
        </p:txBody>
      </p:sp>
      <p:pic>
        <p:nvPicPr>
          <p:cNvPr id="5122" name="Picture 2">
            <a:extLst>
              <a:ext uri="{FF2B5EF4-FFF2-40B4-BE49-F238E27FC236}">
                <a16:creationId xmlns="" xmlns:a16="http://schemas.microsoft.com/office/drawing/2014/main" id="{6BFB2989-6683-3699-72E6-8A6859A040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8463" y="247072"/>
            <a:ext cx="6182592" cy="2333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510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316" y="173150"/>
            <a:ext cx="6181859" cy="5666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2602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D5AB6-6C3F-4DB1-7F8F-0D9BAEE193FC}"/>
              </a:ext>
            </a:extLst>
          </p:cNvPr>
          <p:cNvSpPr>
            <a:spLocks noGrp="1"/>
          </p:cNvSpPr>
          <p:nvPr>
            <p:ph type="title"/>
          </p:nvPr>
        </p:nvSpPr>
        <p:spPr>
          <a:xfrm>
            <a:off x="117764" y="247072"/>
            <a:ext cx="10515600" cy="867930"/>
          </a:xfrm>
        </p:spPr>
        <p:txBody>
          <a:bodyPr>
            <a:normAutofit/>
          </a:bodyPr>
          <a:lstStyle/>
          <a:p>
            <a:r>
              <a:rPr lang="en-US" sz="4000" b="1" i="0" dirty="0">
                <a:effectLst/>
                <a:latin typeface="+mn-lt"/>
              </a:rPr>
              <a:t>Types of NoSQL databases</a:t>
            </a:r>
            <a:endParaRPr lang="en-US" sz="4000" b="1" dirty="0">
              <a:latin typeface="+mn-lt"/>
            </a:endParaRPr>
          </a:p>
        </p:txBody>
      </p:sp>
      <p:sp>
        <p:nvSpPr>
          <p:cNvPr id="3" name="Content Placeholder 2">
            <a:extLst>
              <a:ext uri="{FF2B5EF4-FFF2-40B4-BE49-F238E27FC236}">
                <a16:creationId xmlns="" xmlns:a16="http://schemas.microsoft.com/office/drawing/2014/main" id="{DA828996-4FEE-5BB2-4E7C-04ECDF474A02}"/>
              </a:ext>
            </a:extLst>
          </p:cNvPr>
          <p:cNvSpPr>
            <a:spLocks noGrp="1"/>
          </p:cNvSpPr>
          <p:nvPr>
            <p:ph idx="1"/>
          </p:nvPr>
        </p:nvSpPr>
        <p:spPr>
          <a:xfrm>
            <a:off x="507423" y="1215591"/>
            <a:ext cx="7181850" cy="5395337"/>
          </a:xfrm>
        </p:spPr>
        <p:txBody>
          <a:bodyPr>
            <a:normAutofit/>
          </a:bodyPr>
          <a:lstStyle/>
          <a:p>
            <a:pPr algn="just"/>
            <a:r>
              <a:rPr lang="en-US" b="1" i="0" dirty="0">
                <a:effectLst/>
              </a:rPr>
              <a:t>Graph-Based</a:t>
            </a:r>
          </a:p>
          <a:p>
            <a:pPr algn="just"/>
            <a:r>
              <a:rPr lang="en-US" b="0" i="0" dirty="0">
                <a:effectLst/>
              </a:rPr>
              <a:t>A graph type database stores entities as well the relations amongst those entities</a:t>
            </a:r>
            <a:r>
              <a:rPr lang="en-US" b="1" i="0" dirty="0">
                <a:solidFill>
                  <a:srgbClr val="0000CC"/>
                </a:solidFill>
                <a:effectLst/>
              </a:rPr>
              <a:t>. The entity is stored as a node with the relationship as edges. </a:t>
            </a:r>
          </a:p>
          <a:p>
            <a:pPr algn="just"/>
            <a:r>
              <a:rPr lang="en-US" b="0" i="0" dirty="0">
                <a:effectLst/>
              </a:rPr>
              <a:t>An </a:t>
            </a:r>
            <a:r>
              <a:rPr lang="en-US" b="1" i="0" dirty="0">
                <a:solidFill>
                  <a:srgbClr val="0000CC"/>
                </a:solidFill>
                <a:effectLst/>
              </a:rPr>
              <a:t>edge gives a relationship between nodes. </a:t>
            </a:r>
            <a:r>
              <a:rPr lang="en-US" b="0" i="0" dirty="0">
                <a:effectLst/>
              </a:rPr>
              <a:t>Every node and edge has a unique identifier.</a:t>
            </a:r>
          </a:p>
          <a:p>
            <a:pPr algn="just"/>
            <a:r>
              <a:rPr lang="en-US" b="0" i="0" dirty="0">
                <a:effectLst/>
              </a:rPr>
              <a:t>Graph base database </a:t>
            </a:r>
            <a:r>
              <a:rPr lang="en-US" b="1" i="0" dirty="0">
                <a:solidFill>
                  <a:srgbClr val="0000CC"/>
                </a:solidFill>
                <a:effectLst/>
              </a:rPr>
              <a:t>mostly used for social networks, logistics, spatial data.</a:t>
            </a:r>
          </a:p>
          <a:p>
            <a:pPr algn="just"/>
            <a:r>
              <a:rPr lang="en-US" b="0" i="0" dirty="0">
                <a:effectLst/>
              </a:rPr>
              <a:t>Neo4J, Infinite Graph, </a:t>
            </a:r>
            <a:r>
              <a:rPr lang="en-US" b="0" i="0" dirty="0" err="1">
                <a:effectLst/>
              </a:rPr>
              <a:t>OrientDB</a:t>
            </a:r>
            <a:r>
              <a:rPr lang="en-US" b="0" i="0" dirty="0">
                <a:effectLst/>
              </a:rPr>
              <a:t>, </a:t>
            </a:r>
            <a:r>
              <a:rPr lang="en-US" b="0" i="0" dirty="0" err="1">
                <a:effectLst/>
              </a:rPr>
              <a:t>FlockDB</a:t>
            </a:r>
            <a:r>
              <a:rPr lang="en-US" b="0" i="0" dirty="0">
                <a:effectLst/>
              </a:rPr>
              <a:t> are some popular graph-based databases.</a:t>
            </a:r>
          </a:p>
          <a:p>
            <a:pPr algn="just"/>
            <a:endParaRPr lang="en-US" b="0" i="0" dirty="0">
              <a:effectLst/>
            </a:endParaRPr>
          </a:p>
          <a:p>
            <a:pPr algn="l"/>
            <a:endParaRPr lang="en-US" b="0" i="0" dirty="0">
              <a:solidFill>
                <a:srgbClr val="222222"/>
              </a:solidFill>
              <a:effectLst/>
              <a:latin typeface="Source Sans Pro" panose="020B0503030403020204" pitchFamily="34" charset="0"/>
            </a:endParaRPr>
          </a:p>
        </p:txBody>
      </p:sp>
      <p:pic>
        <p:nvPicPr>
          <p:cNvPr id="6146" name="Picture 2">
            <a:extLst>
              <a:ext uri="{FF2B5EF4-FFF2-40B4-BE49-F238E27FC236}">
                <a16:creationId xmlns="" xmlns:a16="http://schemas.microsoft.com/office/drawing/2014/main" id="{2CBF09B6-A84D-230E-6A38-80231A6C6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0861" y="85724"/>
            <a:ext cx="4143375"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995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graph databases</a:t>
            </a:r>
            <a:br>
              <a:rPr lang="en-US" b="1" dirty="0"/>
            </a:br>
            <a:endParaRPr lang="en-US" dirty="0"/>
          </a:p>
        </p:txBody>
      </p:sp>
      <p:sp>
        <p:nvSpPr>
          <p:cNvPr id="3" name="Content Placeholder 2"/>
          <p:cNvSpPr>
            <a:spLocks noGrp="1"/>
          </p:cNvSpPr>
          <p:nvPr>
            <p:ph idx="1"/>
          </p:nvPr>
        </p:nvSpPr>
        <p:spPr/>
        <p:txBody>
          <a:bodyPr/>
          <a:lstStyle/>
          <a:p>
            <a:r>
              <a:rPr lang="en-US" dirty="0" err="1" smtClean="0"/>
              <a:t>NoSQL</a:t>
            </a:r>
            <a:r>
              <a:rPr lang="en-US" dirty="0" smtClean="0"/>
              <a:t> </a:t>
            </a:r>
            <a:r>
              <a:rPr lang="en-US" dirty="0"/>
              <a:t>graphs have nodes (vertices) and relationships (edges) that </a:t>
            </a:r>
            <a:r>
              <a:rPr lang="en-US" dirty="0">
                <a:solidFill>
                  <a:srgbClr val="FF0000"/>
                </a:solidFill>
              </a:rPr>
              <a:t>allow us to model all kinds of scenarios </a:t>
            </a:r>
            <a:r>
              <a:rPr lang="en-US" dirty="0"/>
              <a:t>— from a system of train paths to mapping social media connections, to a network of devices, and more.</a:t>
            </a:r>
          </a:p>
          <a:p>
            <a:r>
              <a:rPr lang="en-US" dirty="0">
                <a:solidFill>
                  <a:srgbClr val="FF0000"/>
                </a:solidFill>
              </a:rPr>
              <a:t>We can assign labels to nodes and classify nodes according to those labels.</a:t>
            </a:r>
            <a:r>
              <a:rPr lang="en-US" dirty="0"/>
              <a:t> </a:t>
            </a:r>
            <a:r>
              <a:rPr lang="en-US" dirty="0">
                <a:solidFill>
                  <a:srgbClr val="FF0000"/>
                </a:solidFill>
              </a:rPr>
              <a:t>We can also assign attributes (weights) that are in the form of key-value pairs.</a:t>
            </a:r>
            <a:r>
              <a:rPr lang="en-US" dirty="0"/>
              <a:t> </a:t>
            </a:r>
            <a:r>
              <a:rPr lang="en-US" dirty="0">
                <a:solidFill>
                  <a:srgbClr val="FF0000"/>
                </a:solidFill>
              </a:rPr>
              <a:t>Relationships can also have labels and attributes,</a:t>
            </a:r>
            <a:r>
              <a:rPr lang="en-US" dirty="0"/>
              <a:t> but can also have direction. Direction provides meaning to the relationship; they could be no direction, one-way, or two-way.</a:t>
            </a:r>
          </a:p>
          <a:p>
            <a:endParaRPr lang="en-US" dirty="0"/>
          </a:p>
        </p:txBody>
      </p:sp>
    </p:spTree>
    <p:extLst>
      <p:ext uri="{BB962C8B-B14F-4D97-AF65-F5344CB8AC3E}">
        <p14:creationId xmlns:p14="http://schemas.microsoft.com/office/powerpoint/2010/main" val="1042853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92386962"/>
              </p:ext>
            </p:extLst>
          </p:nvPr>
        </p:nvGraphicFramePr>
        <p:xfrm>
          <a:off x="875765" y="1906072"/>
          <a:ext cx="10632582" cy="3595610"/>
        </p:xfrm>
        <a:graphic>
          <a:graphicData uri="http://schemas.openxmlformats.org/drawingml/2006/table">
            <a:tbl>
              <a:tblPr/>
              <a:tblGrid>
                <a:gridCol w="3544194"/>
                <a:gridCol w="3544194"/>
                <a:gridCol w="3544194"/>
              </a:tblGrid>
              <a:tr h="479415">
                <a:tc>
                  <a:txBody>
                    <a:bodyPr/>
                    <a:lstStyle/>
                    <a:p>
                      <a:r>
                        <a:rPr lang="en-US" b="1" dirty="0">
                          <a:effectLst/>
                        </a:rPr>
                        <a:t>Type</a:t>
                      </a:r>
                      <a:endParaRPr lang="en-US" dirty="0">
                        <a:effectLst/>
                      </a:endParaRPr>
                    </a:p>
                  </a:txBody>
                  <a:tcPr anchor="ctr">
                    <a:lnL>
                      <a:noFill/>
                    </a:lnL>
                    <a:lnR>
                      <a:noFill/>
                    </a:lnR>
                    <a:lnT>
                      <a:noFill/>
                    </a:lnT>
                    <a:lnB>
                      <a:noFill/>
                    </a:lnB>
                    <a:solidFill>
                      <a:srgbClr val="F0F0F0"/>
                    </a:solidFill>
                  </a:tcPr>
                </a:tc>
                <a:tc>
                  <a:txBody>
                    <a:bodyPr/>
                    <a:lstStyle/>
                    <a:p>
                      <a:r>
                        <a:rPr lang="en-US" b="1">
                          <a:effectLst/>
                        </a:rPr>
                        <a:t>Graph</a:t>
                      </a:r>
                      <a:endParaRPr lang="en-US">
                        <a:effectLst/>
                      </a:endParaRPr>
                    </a:p>
                  </a:txBody>
                  <a:tcPr anchor="ctr">
                    <a:lnL>
                      <a:noFill/>
                    </a:lnL>
                    <a:lnR>
                      <a:noFill/>
                    </a:lnR>
                    <a:lnT>
                      <a:noFill/>
                    </a:lnT>
                    <a:lnB>
                      <a:noFill/>
                    </a:lnB>
                    <a:solidFill>
                      <a:srgbClr val="F0F0F0"/>
                    </a:solidFill>
                  </a:tcPr>
                </a:tc>
                <a:tc>
                  <a:txBody>
                    <a:bodyPr/>
                    <a:lstStyle/>
                    <a:p>
                      <a:r>
                        <a:rPr lang="en-US" b="1">
                          <a:effectLst/>
                        </a:rPr>
                        <a:t>Relational</a:t>
                      </a:r>
                      <a:endParaRPr lang="en-US">
                        <a:effectLst/>
                      </a:endParaRPr>
                    </a:p>
                  </a:txBody>
                  <a:tcPr anchor="ctr">
                    <a:lnL>
                      <a:noFill/>
                    </a:lnL>
                    <a:lnR>
                      <a:noFill/>
                    </a:lnR>
                    <a:lnT>
                      <a:noFill/>
                    </a:lnT>
                    <a:lnB>
                      <a:noFill/>
                    </a:lnB>
                    <a:solidFill>
                      <a:srgbClr val="F0F0F0"/>
                    </a:solidFill>
                  </a:tcPr>
                </a:tc>
              </a:tr>
              <a:tr h="479415">
                <a:tc>
                  <a:txBody>
                    <a:bodyPr/>
                    <a:lstStyle/>
                    <a:p>
                      <a:r>
                        <a:rPr lang="en-US" b="1">
                          <a:effectLst/>
                        </a:rPr>
                        <a:t>Format</a:t>
                      </a:r>
                      <a:endParaRPr lang="en-US">
                        <a:effectLst/>
                      </a:endParaRPr>
                    </a:p>
                  </a:txBody>
                  <a:tcPr anchor="ctr">
                    <a:lnL>
                      <a:noFill/>
                    </a:lnL>
                    <a:lnR>
                      <a:noFill/>
                    </a:lnR>
                    <a:lnT>
                      <a:noFill/>
                    </a:lnT>
                    <a:lnB>
                      <a:noFill/>
                    </a:lnB>
                  </a:tcPr>
                </a:tc>
                <a:tc>
                  <a:txBody>
                    <a:bodyPr/>
                    <a:lstStyle/>
                    <a:p>
                      <a:r>
                        <a:rPr lang="en-US">
                          <a:effectLst/>
                        </a:rPr>
                        <a:t>Nodes and edges with properties</a:t>
                      </a:r>
                    </a:p>
                  </a:txBody>
                  <a:tcPr anchor="ctr">
                    <a:lnL>
                      <a:noFill/>
                    </a:lnL>
                    <a:lnR>
                      <a:noFill/>
                    </a:lnR>
                    <a:lnT>
                      <a:noFill/>
                    </a:lnT>
                    <a:lnB>
                      <a:noFill/>
                    </a:lnB>
                  </a:tcPr>
                </a:tc>
                <a:tc>
                  <a:txBody>
                    <a:bodyPr/>
                    <a:lstStyle/>
                    <a:p>
                      <a:r>
                        <a:rPr lang="en-US">
                          <a:effectLst/>
                        </a:rPr>
                        <a:t>Tables with rows and columns</a:t>
                      </a:r>
                    </a:p>
                  </a:txBody>
                  <a:tcPr anchor="ctr">
                    <a:lnL>
                      <a:noFill/>
                    </a:lnL>
                    <a:lnR>
                      <a:noFill/>
                    </a:lnR>
                    <a:lnT>
                      <a:noFill/>
                    </a:lnT>
                    <a:lnB>
                      <a:noFill/>
                    </a:lnB>
                  </a:tcPr>
                </a:tc>
              </a:tr>
              <a:tr h="838975">
                <a:tc>
                  <a:txBody>
                    <a:bodyPr/>
                    <a:lstStyle/>
                    <a:p>
                      <a:r>
                        <a:rPr lang="en-US" b="1">
                          <a:effectLst/>
                        </a:rPr>
                        <a:t>Relationships</a:t>
                      </a:r>
                      <a:endParaRPr lang="en-US">
                        <a:effectLst/>
                      </a:endParaRPr>
                    </a:p>
                  </a:txBody>
                  <a:tcPr anchor="ctr">
                    <a:lnL>
                      <a:noFill/>
                    </a:lnL>
                    <a:lnR>
                      <a:noFill/>
                    </a:lnR>
                    <a:lnT>
                      <a:noFill/>
                    </a:lnT>
                    <a:lnB>
                      <a:noFill/>
                    </a:lnB>
                    <a:solidFill>
                      <a:srgbClr val="F0F0F0"/>
                    </a:solidFill>
                  </a:tcPr>
                </a:tc>
                <a:tc>
                  <a:txBody>
                    <a:bodyPr/>
                    <a:lstStyle/>
                    <a:p>
                      <a:r>
                        <a:rPr lang="en-US">
                          <a:effectLst/>
                        </a:rPr>
                        <a:t>Represented with edges between nodes</a:t>
                      </a:r>
                    </a:p>
                  </a:txBody>
                  <a:tcPr anchor="ctr">
                    <a:lnL>
                      <a:noFill/>
                    </a:lnL>
                    <a:lnR>
                      <a:noFill/>
                    </a:lnR>
                    <a:lnT>
                      <a:noFill/>
                    </a:lnT>
                    <a:lnB>
                      <a:noFill/>
                    </a:lnB>
                    <a:solidFill>
                      <a:srgbClr val="F0F0F0"/>
                    </a:solidFill>
                  </a:tcPr>
                </a:tc>
                <a:tc>
                  <a:txBody>
                    <a:bodyPr/>
                    <a:lstStyle/>
                    <a:p>
                      <a:r>
                        <a:rPr lang="en-US">
                          <a:effectLst/>
                        </a:rPr>
                        <a:t>Created using foreign keys between tables</a:t>
                      </a:r>
                    </a:p>
                  </a:txBody>
                  <a:tcPr anchor="ctr">
                    <a:lnL>
                      <a:noFill/>
                    </a:lnL>
                    <a:lnR>
                      <a:noFill/>
                    </a:lnR>
                    <a:lnT>
                      <a:noFill/>
                    </a:lnT>
                    <a:lnB>
                      <a:noFill/>
                    </a:lnB>
                    <a:solidFill>
                      <a:srgbClr val="F0F0F0"/>
                    </a:solidFill>
                  </a:tcPr>
                </a:tc>
              </a:tr>
              <a:tr h="479415">
                <a:tc>
                  <a:txBody>
                    <a:bodyPr/>
                    <a:lstStyle/>
                    <a:p>
                      <a:r>
                        <a:rPr lang="en-US" b="1">
                          <a:effectLst/>
                        </a:rPr>
                        <a:t>Flexibility</a:t>
                      </a:r>
                      <a:endParaRPr lang="en-US">
                        <a:effectLst/>
                      </a:endParaRPr>
                    </a:p>
                  </a:txBody>
                  <a:tcPr anchor="ctr">
                    <a:lnL>
                      <a:noFill/>
                    </a:lnL>
                    <a:lnR>
                      <a:noFill/>
                    </a:lnR>
                    <a:lnT>
                      <a:noFill/>
                    </a:lnT>
                    <a:lnB>
                      <a:noFill/>
                    </a:lnB>
                  </a:tcPr>
                </a:tc>
                <a:tc>
                  <a:txBody>
                    <a:bodyPr/>
                    <a:lstStyle/>
                    <a:p>
                      <a:r>
                        <a:rPr lang="en-US">
                          <a:effectLst/>
                        </a:rPr>
                        <a:t>Flexible</a:t>
                      </a:r>
                    </a:p>
                  </a:txBody>
                  <a:tcPr anchor="ctr">
                    <a:lnL>
                      <a:noFill/>
                    </a:lnL>
                    <a:lnR>
                      <a:noFill/>
                    </a:lnR>
                    <a:lnT>
                      <a:noFill/>
                    </a:lnT>
                    <a:lnB>
                      <a:noFill/>
                    </a:lnB>
                  </a:tcPr>
                </a:tc>
                <a:tc>
                  <a:txBody>
                    <a:bodyPr/>
                    <a:lstStyle/>
                    <a:p>
                      <a:r>
                        <a:rPr lang="en-US">
                          <a:effectLst/>
                        </a:rPr>
                        <a:t>Rigid</a:t>
                      </a:r>
                    </a:p>
                  </a:txBody>
                  <a:tcPr anchor="ctr">
                    <a:lnL>
                      <a:noFill/>
                    </a:lnL>
                    <a:lnR>
                      <a:noFill/>
                    </a:lnR>
                    <a:lnT>
                      <a:noFill/>
                    </a:lnT>
                    <a:lnB>
                      <a:noFill/>
                    </a:lnB>
                  </a:tcPr>
                </a:tc>
              </a:tr>
              <a:tr h="479415">
                <a:tc>
                  <a:txBody>
                    <a:bodyPr/>
                    <a:lstStyle/>
                    <a:p>
                      <a:r>
                        <a:rPr lang="en-US" b="1">
                          <a:effectLst/>
                        </a:rPr>
                        <a:t>Complex queries</a:t>
                      </a:r>
                      <a:endParaRPr lang="en-US">
                        <a:effectLst/>
                      </a:endParaRPr>
                    </a:p>
                  </a:txBody>
                  <a:tcPr anchor="ctr">
                    <a:lnL>
                      <a:noFill/>
                    </a:lnL>
                    <a:lnR>
                      <a:noFill/>
                    </a:lnR>
                    <a:lnT>
                      <a:noFill/>
                    </a:lnT>
                    <a:lnB>
                      <a:noFill/>
                    </a:lnB>
                    <a:solidFill>
                      <a:srgbClr val="F0F0F0"/>
                    </a:solidFill>
                  </a:tcPr>
                </a:tc>
                <a:tc>
                  <a:txBody>
                    <a:bodyPr/>
                    <a:lstStyle/>
                    <a:p>
                      <a:r>
                        <a:rPr lang="en-US">
                          <a:effectLst/>
                        </a:rPr>
                        <a:t>Quick and responsive</a:t>
                      </a:r>
                    </a:p>
                  </a:txBody>
                  <a:tcPr anchor="ctr">
                    <a:lnL>
                      <a:noFill/>
                    </a:lnL>
                    <a:lnR>
                      <a:noFill/>
                    </a:lnR>
                    <a:lnT>
                      <a:noFill/>
                    </a:lnT>
                    <a:lnB>
                      <a:noFill/>
                    </a:lnB>
                    <a:solidFill>
                      <a:srgbClr val="F0F0F0"/>
                    </a:solidFill>
                  </a:tcPr>
                </a:tc>
                <a:tc>
                  <a:txBody>
                    <a:bodyPr/>
                    <a:lstStyle/>
                    <a:p>
                      <a:r>
                        <a:rPr lang="en-US">
                          <a:effectLst/>
                        </a:rPr>
                        <a:t>Requires complex joins</a:t>
                      </a:r>
                    </a:p>
                  </a:txBody>
                  <a:tcPr anchor="ctr">
                    <a:lnL>
                      <a:noFill/>
                    </a:lnL>
                    <a:lnR>
                      <a:noFill/>
                    </a:lnR>
                    <a:lnT>
                      <a:noFill/>
                    </a:lnT>
                    <a:lnB>
                      <a:noFill/>
                    </a:lnB>
                    <a:solidFill>
                      <a:srgbClr val="F0F0F0"/>
                    </a:solidFill>
                  </a:tcPr>
                </a:tc>
              </a:tr>
              <a:tr h="838975">
                <a:tc>
                  <a:txBody>
                    <a:bodyPr/>
                    <a:lstStyle/>
                    <a:p>
                      <a:r>
                        <a:rPr lang="en-US" b="1">
                          <a:effectLst/>
                        </a:rPr>
                        <a:t>Use-case</a:t>
                      </a:r>
                      <a:endParaRPr lang="en-US">
                        <a:effectLst/>
                      </a:endParaRPr>
                    </a:p>
                  </a:txBody>
                  <a:tcPr anchor="ctr">
                    <a:lnL>
                      <a:noFill/>
                    </a:lnL>
                    <a:lnR>
                      <a:noFill/>
                    </a:lnR>
                    <a:lnT>
                      <a:noFill/>
                    </a:lnT>
                    <a:lnB>
                      <a:noFill/>
                    </a:lnB>
                  </a:tcPr>
                </a:tc>
                <a:tc>
                  <a:txBody>
                    <a:bodyPr/>
                    <a:lstStyle/>
                    <a:p>
                      <a:r>
                        <a:rPr lang="en-US">
                          <a:effectLst/>
                        </a:rPr>
                        <a:t>Systems with highly connected relationships</a:t>
                      </a:r>
                    </a:p>
                  </a:txBody>
                  <a:tcPr anchor="ctr">
                    <a:lnL>
                      <a:noFill/>
                    </a:lnL>
                    <a:lnR>
                      <a:noFill/>
                    </a:lnR>
                    <a:lnT>
                      <a:noFill/>
                    </a:lnT>
                    <a:lnB>
                      <a:noFill/>
                    </a:lnB>
                  </a:tcPr>
                </a:tc>
                <a:tc>
                  <a:txBody>
                    <a:bodyPr/>
                    <a:lstStyle/>
                    <a:p>
                      <a:r>
                        <a:rPr lang="en-US" dirty="0">
                          <a:effectLst/>
                        </a:rPr>
                        <a:t>Transaction focused systems with more straightforward relationships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607895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911" y="879251"/>
            <a:ext cx="7535548" cy="4272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223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922590-465C-3DAC-A5BA-A66AEAA8C82D}"/>
              </a:ext>
            </a:extLst>
          </p:cNvPr>
          <p:cNvSpPr>
            <a:spLocks noGrp="1"/>
          </p:cNvSpPr>
          <p:nvPr>
            <p:ph type="title"/>
          </p:nvPr>
        </p:nvSpPr>
        <p:spPr>
          <a:xfrm>
            <a:off x="200891" y="350981"/>
            <a:ext cx="10515600" cy="660111"/>
          </a:xfrm>
        </p:spPr>
        <p:txBody>
          <a:bodyPr>
            <a:normAutofit fontScale="90000"/>
          </a:bodyPr>
          <a:lstStyle/>
          <a:p>
            <a:r>
              <a:rPr lang="en-US" sz="4000" b="1" i="0" dirty="0">
                <a:solidFill>
                  <a:srgbClr val="222222"/>
                </a:solidFill>
                <a:effectLst/>
                <a:latin typeface="+mn-lt"/>
              </a:rPr>
              <a:t>What is the CAP Theorem?</a:t>
            </a:r>
            <a:br>
              <a:rPr lang="en-US" sz="4000" b="1" i="0" dirty="0">
                <a:solidFill>
                  <a:srgbClr val="222222"/>
                </a:solidFill>
                <a:effectLst/>
                <a:latin typeface="+mn-lt"/>
              </a:rPr>
            </a:br>
            <a:endParaRPr lang="en-US" sz="4000" dirty="0">
              <a:latin typeface="+mn-lt"/>
            </a:endParaRPr>
          </a:p>
        </p:txBody>
      </p:sp>
      <p:sp>
        <p:nvSpPr>
          <p:cNvPr id="3" name="Content Placeholder 2">
            <a:extLst>
              <a:ext uri="{FF2B5EF4-FFF2-40B4-BE49-F238E27FC236}">
                <a16:creationId xmlns="" xmlns:a16="http://schemas.microsoft.com/office/drawing/2014/main" id="{FA4BDE12-41E6-DC38-40C6-5F246271A063}"/>
              </a:ext>
            </a:extLst>
          </p:cNvPr>
          <p:cNvSpPr>
            <a:spLocks noGrp="1"/>
          </p:cNvSpPr>
          <p:nvPr>
            <p:ph idx="1"/>
          </p:nvPr>
        </p:nvSpPr>
        <p:spPr>
          <a:xfrm>
            <a:off x="443345" y="748145"/>
            <a:ext cx="11249891" cy="5943599"/>
          </a:xfrm>
        </p:spPr>
        <p:txBody>
          <a:bodyPr>
            <a:normAutofit fontScale="70000" lnSpcReduction="20000"/>
          </a:bodyPr>
          <a:lstStyle/>
          <a:p>
            <a:pPr algn="just"/>
            <a:r>
              <a:rPr lang="en-US" b="0" i="0" dirty="0">
                <a:effectLst/>
              </a:rPr>
              <a:t>CAP theorem states that is impossible for a distributed data store to offer more than two out of three guarantees.</a:t>
            </a:r>
          </a:p>
          <a:p>
            <a:pPr algn="just">
              <a:buFont typeface="+mj-lt"/>
              <a:buAutoNum type="arabicPeriod"/>
            </a:pPr>
            <a:r>
              <a:rPr lang="en-US" b="0" i="0" dirty="0">
                <a:effectLst/>
              </a:rPr>
              <a:t>Consistency</a:t>
            </a:r>
          </a:p>
          <a:p>
            <a:pPr algn="just">
              <a:buFont typeface="+mj-lt"/>
              <a:buAutoNum type="arabicPeriod"/>
            </a:pPr>
            <a:r>
              <a:rPr lang="en-US" b="0" i="0" dirty="0">
                <a:effectLst/>
              </a:rPr>
              <a:t>Availability</a:t>
            </a:r>
          </a:p>
          <a:p>
            <a:pPr algn="just">
              <a:buFont typeface="+mj-lt"/>
              <a:buAutoNum type="arabicPeriod"/>
            </a:pPr>
            <a:r>
              <a:rPr lang="en-US" b="0" i="0" dirty="0">
                <a:effectLst/>
              </a:rPr>
              <a:t>Partition Tolerance</a:t>
            </a:r>
          </a:p>
          <a:p>
            <a:pPr algn="just"/>
            <a:r>
              <a:rPr lang="en-US" b="1" i="0" dirty="0">
                <a:effectLst/>
              </a:rPr>
              <a:t>Consistency:</a:t>
            </a:r>
            <a:endParaRPr lang="en-US" b="0" i="0" dirty="0">
              <a:effectLst/>
            </a:endParaRPr>
          </a:p>
          <a:p>
            <a:pPr algn="just"/>
            <a:r>
              <a:rPr lang="en-US" dirty="0"/>
              <a:t>Consistency means that the nodes will have the same copies of a replicated data item visible for various transactions. A guarantee that every node in a distributed cluster returns the same, most recent and a successful write. </a:t>
            </a:r>
            <a:r>
              <a:rPr lang="en-US" b="1" dirty="0">
                <a:solidFill>
                  <a:srgbClr val="7030A0"/>
                </a:solidFill>
              </a:rPr>
              <a:t>Consistency refers to every client having the same view of the data. </a:t>
            </a:r>
            <a:r>
              <a:rPr lang="en-US" dirty="0"/>
              <a:t>There are various types of consistency models. Consistency in CAP refers to sequential consistency, a very strong form of consistency. </a:t>
            </a:r>
            <a:r>
              <a:rPr lang="en-US" b="1" dirty="0">
                <a:solidFill>
                  <a:srgbClr val="FF0000"/>
                </a:solidFill>
              </a:rPr>
              <a:t>In CAP, the term consistency refers to the consistency of the values in different copies of the same data item in a replicated distributed system</a:t>
            </a:r>
            <a:r>
              <a:rPr lang="en-US" dirty="0">
                <a:solidFill>
                  <a:srgbClr val="FF0000"/>
                </a:solidFill>
              </a:rPr>
              <a:t>. </a:t>
            </a:r>
            <a:endParaRPr lang="en-US" dirty="0" smtClean="0">
              <a:solidFill>
                <a:srgbClr val="FF0000"/>
              </a:solidFill>
            </a:endParaRPr>
          </a:p>
          <a:p>
            <a:pPr algn="just"/>
            <a:r>
              <a:rPr lang="en-US" b="1" i="0" dirty="0" smtClean="0">
                <a:effectLst/>
              </a:rPr>
              <a:t>Availability</a:t>
            </a:r>
            <a:r>
              <a:rPr lang="en-US" b="1" i="0" dirty="0">
                <a:effectLst/>
              </a:rPr>
              <a:t>:</a:t>
            </a:r>
            <a:endParaRPr lang="en-US" b="0" i="0" dirty="0">
              <a:effectLst/>
            </a:endParaRPr>
          </a:p>
          <a:p>
            <a:pPr algn="just"/>
            <a:r>
              <a:rPr lang="en-US" b="0" i="0" dirty="0">
                <a:effectLst/>
              </a:rPr>
              <a:t>The </a:t>
            </a:r>
            <a:r>
              <a:rPr lang="en-US" b="1" i="0" dirty="0">
                <a:solidFill>
                  <a:srgbClr val="FF0000"/>
                </a:solidFill>
                <a:effectLst/>
              </a:rPr>
              <a:t>database should always be available and responsive. It should not have any downtime</a:t>
            </a:r>
            <a:r>
              <a:rPr lang="en-US" b="1" i="0" dirty="0" smtClean="0">
                <a:solidFill>
                  <a:srgbClr val="0000CC"/>
                </a:solidFill>
                <a:effectLst/>
              </a:rPr>
              <a:t>.</a:t>
            </a:r>
            <a:r>
              <a:rPr lang="en-US" dirty="0"/>
              <a:t> Availability means that each read or write request for a data item will either be processed successfully or will receive a message that the operation cannot be completed. </a:t>
            </a:r>
            <a:endParaRPr lang="en-US" b="1" i="0" dirty="0">
              <a:solidFill>
                <a:srgbClr val="0000CC"/>
              </a:solidFill>
              <a:effectLst/>
            </a:endParaRPr>
          </a:p>
          <a:p>
            <a:pPr algn="just"/>
            <a:r>
              <a:rPr lang="en-US" b="1" i="0" dirty="0">
                <a:effectLst/>
              </a:rPr>
              <a:t>Partition Tolerance:</a:t>
            </a:r>
            <a:endParaRPr lang="en-US" b="0" i="0" dirty="0">
              <a:effectLst/>
            </a:endParaRPr>
          </a:p>
          <a:p>
            <a:pPr algn="just"/>
            <a:r>
              <a:rPr lang="en-US" dirty="0"/>
              <a:t>Partition tolerance means that the system can continue operating even if the network connecting the nodes has a fault that results in two or more partitions, where the nodes in each partition can only communicate among each other. That means, </a:t>
            </a:r>
            <a:r>
              <a:rPr lang="en-US" b="1" dirty="0">
                <a:solidFill>
                  <a:srgbClr val="FF0000"/>
                </a:solidFill>
              </a:rPr>
              <a:t>the system continues to function and upholds its consistency guarantees in spite of network partitions</a:t>
            </a:r>
          </a:p>
        </p:txBody>
      </p:sp>
    </p:spTree>
    <p:extLst>
      <p:ext uri="{BB962C8B-B14F-4D97-AF65-F5344CB8AC3E}">
        <p14:creationId xmlns:p14="http://schemas.microsoft.com/office/powerpoint/2010/main" val="3771404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Features of </a:t>
            </a:r>
            <a:r>
              <a:rPr lang="en-US" b="1" dirty="0" err="1"/>
              <a:t>NoSQL</a:t>
            </a:r>
            <a:r>
              <a:rPr lang="en-US" b="1" dirty="0"/>
              <a:t> :</a:t>
            </a:r>
            <a:endParaRPr lang="en-US" dirty="0"/>
          </a:p>
        </p:txBody>
      </p:sp>
      <p:sp>
        <p:nvSpPr>
          <p:cNvPr id="3" name="Content Placeholder 2"/>
          <p:cNvSpPr>
            <a:spLocks noGrp="1"/>
          </p:cNvSpPr>
          <p:nvPr>
            <p:ph idx="1"/>
          </p:nvPr>
        </p:nvSpPr>
        <p:spPr>
          <a:xfrm>
            <a:off x="785611" y="1609859"/>
            <a:ext cx="10568189" cy="4567104"/>
          </a:xfrm>
        </p:spPr>
        <p:txBody>
          <a:bodyPr>
            <a:normAutofit fontScale="92500" lnSpcReduction="20000"/>
          </a:bodyPr>
          <a:lstStyle/>
          <a:p>
            <a:pPr algn="just" fontAlgn="base"/>
            <a:r>
              <a:rPr lang="en-US" b="1" dirty="0"/>
              <a:t>Dynamic schema:</a:t>
            </a:r>
            <a:r>
              <a:rPr lang="en-US" dirty="0"/>
              <a:t> </a:t>
            </a:r>
            <a:r>
              <a:rPr lang="en-US" dirty="0" err="1"/>
              <a:t>NoSQL</a:t>
            </a:r>
            <a:r>
              <a:rPr lang="en-US" dirty="0"/>
              <a:t> databases do not have a fixed schema and can accommodate changing data structures without the need for migrations or schema alterations.</a:t>
            </a:r>
          </a:p>
          <a:p>
            <a:pPr algn="just" fontAlgn="base"/>
            <a:r>
              <a:rPr lang="en-US" b="1" dirty="0"/>
              <a:t>Horizontal scalability:</a:t>
            </a:r>
            <a:r>
              <a:rPr lang="en-US" dirty="0"/>
              <a:t> </a:t>
            </a:r>
            <a:r>
              <a:rPr lang="en-US" dirty="0" err="1"/>
              <a:t>NoSQL</a:t>
            </a:r>
            <a:r>
              <a:rPr lang="en-US" dirty="0"/>
              <a:t> databases are designed to scale out by adding more nodes to a database cluster, making them well-suited for handling large amounts of data and high levels of traffic.</a:t>
            </a:r>
          </a:p>
          <a:p>
            <a:pPr algn="just" fontAlgn="base"/>
            <a:r>
              <a:rPr lang="en-US" b="1" dirty="0"/>
              <a:t>Document-based: </a:t>
            </a:r>
            <a:r>
              <a:rPr lang="en-US" dirty="0"/>
              <a:t>Some </a:t>
            </a:r>
            <a:r>
              <a:rPr lang="en-US" dirty="0" err="1"/>
              <a:t>NoSQL</a:t>
            </a:r>
            <a:r>
              <a:rPr lang="en-US" dirty="0"/>
              <a:t> databases, such as </a:t>
            </a:r>
            <a:r>
              <a:rPr lang="en-US" dirty="0" err="1"/>
              <a:t>MongoDB</a:t>
            </a:r>
            <a:r>
              <a:rPr lang="en-US" dirty="0"/>
              <a:t>, use a document-based data model, where data is stored in semi-structured format, such as JSON or BSON.</a:t>
            </a:r>
          </a:p>
          <a:p>
            <a:pPr algn="just" fontAlgn="base"/>
            <a:r>
              <a:rPr lang="en-US" b="1" dirty="0"/>
              <a:t>Key-value-based:</a:t>
            </a:r>
            <a:r>
              <a:rPr lang="en-US" dirty="0"/>
              <a:t> Other </a:t>
            </a:r>
            <a:r>
              <a:rPr lang="en-US" dirty="0" err="1"/>
              <a:t>NoSQL</a:t>
            </a:r>
            <a:r>
              <a:rPr lang="en-US" dirty="0"/>
              <a:t> databases, such as </a:t>
            </a:r>
            <a:r>
              <a:rPr lang="en-US" dirty="0" err="1"/>
              <a:t>Redis</a:t>
            </a:r>
            <a:r>
              <a:rPr lang="en-US" dirty="0"/>
              <a:t>, use a key-value data model, where data is stored as a collection of key-value pairs.</a:t>
            </a:r>
          </a:p>
          <a:p>
            <a:pPr algn="just" fontAlgn="base"/>
            <a:r>
              <a:rPr lang="en-US" b="1" dirty="0"/>
              <a:t>Column-based: </a:t>
            </a:r>
            <a:r>
              <a:rPr lang="en-US" dirty="0"/>
              <a:t>Some </a:t>
            </a:r>
            <a:r>
              <a:rPr lang="en-US" dirty="0" err="1"/>
              <a:t>NoSQL</a:t>
            </a:r>
            <a:r>
              <a:rPr lang="en-US" dirty="0"/>
              <a:t> databases, such as Cassandra, use a column-based data model, where data is organized into columns instead of rows.</a:t>
            </a:r>
          </a:p>
          <a:p>
            <a:endParaRPr lang="en-US" dirty="0"/>
          </a:p>
        </p:txBody>
      </p:sp>
    </p:spTree>
    <p:extLst>
      <p:ext uri="{BB962C8B-B14F-4D97-AF65-F5344CB8AC3E}">
        <p14:creationId xmlns:p14="http://schemas.microsoft.com/office/powerpoint/2010/main" val="1726477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Features of </a:t>
            </a:r>
            <a:r>
              <a:rPr lang="en-US" b="1" dirty="0" err="1"/>
              <a:t>NoSQL</a:t>
            </a:r>
            <a:r>
              <a:rPr lang="en-US" b="1" dirty="0"/>
              <a:t> :</a:t>
            </a:r>
            <a:endParaRPr lang="en-US" dirty="0"/>
          </a:p>
        </p:txBody>
      </p:sp>
      <p:sp>
        <p:nvSpPr>
          <p:cNvPr id="3" name="Content Placeholder 2"/>
          <p:cNvSpPr>
            <a:spLocks noGrp="1"/>
          </p:cNvSpPr>
          <p:nvPr>
            <p:ph idx="1"/>
          </p:nvPr>
        </p:nvSpPr>
        <p:spPr/>
        <p:txBody>
          <a:bodyPr>
            <a:normAutofit/>
          </a:bodyPr>
          <a:lstStyle/>
          <a:p>
            <a:pPr algn="just" fontAlgn="base"/>
            <a:r>
              <a:rPr lang="en-US" b="1" dirty="0"/>
              <a:t>Distributed and high availability:</a:t>
            </a:r>
            <a:r>
              <a:rPr lang="en-US" dirty="0"/>
              <a:t> </a:t>
            </a:r>
            <a:r>
              <a:rPr lang="en-US" dirty="0" err="1"/>
              <a:t>NoSQL</a:t>
            </a:r>
            <a:r>
              <a:rPr lang="en-US" dirty="0"/>
              <a:t> databases are often designed to be highly available and to automatically handle node failures and data replication across multiple nodes in a database cluster.</a:t>
            </a:r>
          </a:p>
          <a:p>
            <a:pPr algn="just" fontAlgn="base"/>
            <a:r>
              <a:rPr lang="en-US" b="1" dirty="0" smtClean="0"/>
              <a:t>Flexibility</a:t>
            </a:r>
            <a:r>
              <a:rPr lang="en-US" b="1" dirty="0"/>
              <a:t>:</a:t>
            </a:r>
            <a:r>
              <a:rPr lang="en-US" dirty="0"/>
              <a:t> </a:t>
            </a:r>
            <a:r>
              <a:rPr lang="en-US" dirty="0" err="1"/>
              <a:t>NoSQL</a:t>
            </a:r>
            <a:r>
              <a:rPr lang="en-US" dirty="0"/>
              <a:t> databases allow developers to store and retrieve data in a flexible and dynamic manner, with support for multiple data types and changing data structures.</a:t>
            </a:r>
          </a:p>
          <a:p>
            <a:pPr algn="just" fontAlgn="base"/>
            <a:r>
              <a:rPr lang="en-US" b="1" dirty="0"/>
              <a:t>Performance: </a:t>
            </a:r>
            <a:r>
              <a:rPr lang="en-US" dirty="0" err="1"/>
              <a:t>NoSQL</a:t>
            </a:r>
            <a:r>
              <a:rPr lang="en-US" dirty="0"/>
              <a:t> databases are optimized for high performance and can handle a high volume of reads and writes, making them suitable for big data and real-time applications.</a:t>
            </a:r>
          </a:p>
          <a:p>
            <a:endParaRPr lang="en-US" dirty="0"/>
          </a:p>
        </p:txBody>
      </p:sp>
    </p:spTree>
    <p:extLst>
      <p:ext uri="{BB962C8B-B14F-4D97-AF65-F5344CB8AC3E}">
        <p14:creationId xmlns:p14="http://schemas.microsoft.com/office/powerpoint/2010/main" val="174961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should </a:t>
            </a:r>
            <a:r>
              <a:rPr lang="en-US" b="1" dirty="0" err="1"/>
              <a:t>NoSQL</a:t>
            </a:r>
            <a:r>
              <a:rPr lang="en-US" b="1" dirty="0"/>
              <a:t> be used</a:t>
            </a:r>
            <a:endParaRPr lang="en-US" dirty="0"/>
          </a:p>
        </p:txBody>
      </p:sp>
      <p:sp>
        <p:nvSpPr>
          <p:cNvPr id="3" name="Content Placeholder 2"/>
          <p:cNvSpPr>
            <a:spLocks noGrp="1"/>
          </p:cNvSpPr>
          <p:nvPr>
            <p:ph idx="1"/>
          </p:nvPr>
        </p:nvSpPr>
        <p:spPr/>
        <p:txBody>
          <a:bodyPr/>
          <a:lstStyle/>
          <a:p>
            <a:pPr fontAlgn="base"/>
            <a:r>
              <a:rPr lang="en-US" dirty="0"/>
              <a:t>When a huge amount of data needs to be stored and retrieved.</a:t>
            </a:r>
          </a:p>
          <a:p>
            <a:pPr fontAlgn="base"/>
            <a:r>
              <a:rPr lang="en-US" dirty="0"/>
              <a:t>The relationship between the data you store is not that important</a:t>
            </a:r>
          </a:p>
          <a:p>
            <a:pPr fontAlgn="base"/>
            <a:r>
              <a:rPr lang="en-US" dirty="0"/>
              <a:t>The data changes over time and is not structured.</a:t>
            </a:r>
          </a:p>
          <a:p>
            <a:pPr fontAlgn="base"/>
            <a:r>
              <a:rPr lang="en-US" dirty="0"/>
              <a:t>Support of Constraints and Joins is not required at the database level</a:t>
            </a:r>
          </a:p>
          <a:p>
            <a:pPr fontAlgn="base"/>
            <a:r>
              <a:rPr lang="en-US" dirty="0"/>
              <a:t>The data is growing continuously and you need to scale the database regularly to handle the data.</a:t>
            </a:r>
          </a:p>
          <a:p>
            <a:endParaRPr lang="en-US" dirty="0"/>
          </a:p>
        </p:txBody>
      </p:sp>
    </p:spTree>
    <p:extLst>
      <p:ext uri="{BB962C8B-B14F-4D97-AF65-F5344CB8AC3E}">
        <p14:creationId xmlns:p14="http://schemas.microsoft.com/office/powerpoint/2010/main" val="322776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B3FD5A-A1B7-40A9-A79A-6A99479A92A1}"/>
              </a:ext>
            </a:extLst>
          </p:cNvPr>
          <p:cNvSpPr>
            <a:spLocks noGrp="1"/>
          </p:cNvSpPr>
          <p:nvPr>
            <p:ph type="title"/>
          </p:nvPr>
        </p:nvSpPr>
        <p:spPr>
          <a:xfrm>
            <a:off x="187036" y="157307"/>
            <a:ext cx="10515600" cy="660111"/>
          </a:xfrm>
        </p:spPr>
        <p:txBody>
          <a:bodyPr>
            <a:normAutofit/>
          </a:bodyPr>
          <a:lstStyle/>
          <a:p>
            <a:r>
              <a:rPr lang="en-US" sz="4000" b="1" i="0" u="none" strike="noStrike" baseline="0" dirty="0">
                <a:latin typeface="+mn-lt"/>
              </a:rPr>
              <a:t>Data Warehousing</a:t>
            </a:r>
            <a:endParaRPr lang="en-US" sz="4000" dirty="0">
              <a:latin typeface="+mn-lt"/>
            </a:endParaRPr>
          </a:p>
        </p:txBody>
      </p:sp>
      <p:sp>
        <p:nvSpPr>
          <p:cNvPr id="3" name="Content Placeholder 2">
            <a:extLst>
              <a:ext uri="{FF2B5EF4-FFF2-40B4-BE49-F238E27FC236}">
                <a16:creationId xmlns="" xmlns:a16="http://schemas.microsoft.com/office/drawing/2014/main" id="{3D5D615F-A952-696A-A69C-71CF210F05C1}"/>
              </a:ext>
            </a:extLst>
          </p:cNvPr>
          <p:cNvSpPr>
            <a:spLocks noGrp="1"/>
          </p:cNvSpPr>
          <p:nvPr>
            <p:ph idx="1"/>
          </p:nvPr>
        </p:nvSpPr>
        <p:spPr>
          <a:xfrm>
            <a:off x="187035" y="3796144"/>
            <a:ext cx="11457708" cy="2743201"/>
          </a:xfrm>
        </p:spPr>
        <p:txBody>
          <a:bodyPr>
            <a:normAutofit lnSpcReduction="10000"/>
          </a:bodyPr>
          <a:lstStyle/>
          <a:p>
            <a:pPr algn="just"/>
            <a:r>
              <a:rPr lang="en-US" b="0" i="0" dirty="0">
                <a:solidFill>
                  <a:srgbClr val="222222"/>
                </a:solidFill>
                <a:effectLst/>
              </a:rPr>
              <a:t> A data warehouse is mainly a data management system that’s designed to enable and support business intelligence (BI) activities, particularly analytics. Data warehouses are alleged </a:t>
            </a:r>
            <a:r>
              <a:rPr lang="en-US" b="1" i="0" dirty="0">
                <a:solidFill>
                  <a:srgbClr val="0000CC"/>
                </a:solidFill>
                <a:effectLst/>
              </a:rPr>
              <a:t>to perform queries, cleaning, manipulating, transforming and analyzing the data.</a:t>
            </a:r>
            <a:endParaRPr lang="en-US" b="0" i="0" dirty="0">
              <a:solidFill>
                <a:srgbClr val="222222"/>
              </a:solidFill>
              <a:effectLst/>
            </a:endParaRPr>
          </a:p>
          <a:p>
            <a:pPr algn="just"/>
            <a:r>
              <a:rPr lang="en-US" b="0" i="0" dirty="0">
                <a:solidFill>
                  <a:srgbClr val="222222"/>
                </a:solidFill>
                <a:effectLst/>
              </a:rPr>
              <a:t>A large amount of data in data warehouses comes from numerous sources such that </a:t>
            </a:r>
            <a:r>
              <a:rPr lang="en-US" b="1" i="0" dirty="0">
                <a:solidFill>
                  <a:srgbClr val="0000CC"/>
                </a:solidFill>
                <a:effectLst/>
              </a:rPr>
              <a:t>internal applications like marketing, sales, and finance</a:t>
            </a:r>
            <a:r>
              <a:rPr lang="en-US" b="0" i="0" dirty="0">
                <a:solidFill>
                  <a:srgbClr val="222222"/>
                </a:solidFill>
                <a:effectLst/>
              </a:rPr>
              <a:t>; customer-facing apps</a:t>
            </a:r>
          </a:p>
          <a:p>
            <a:endParaRPr lang="en-US" dirty="0"/>
          </a:p>
        </p:txBody>
      </p:sp>
      <p:pic>
        <p:nvPicPr>
          <p:cNvPr id="5" name="Picture 4">
            <a:extLst>
              <a:ext uri="{FF2B5EF4-FFF2-40B4-BE49-F238E27FC236}">
                <a16:creationId xmlns="" xmlns:a16="http://schemas.microsoft.com/office/drawing/2014/main" id="{6F3A4A54-5423-B648-A7C6-E672350F8372}"/>
              </a:ext>
            </a:extLst>
          </p:cNvPr>
          <p:cNvPicPr>
            <a:picLocks noChangeAspect="1"/>
          </p:cNvPicPr>
          <p:nvPr/>
        </p:nvPicPr>
        <p:blipFill>
          <a:blip r:embed="rId3"/>
          <a:stretch>
            <a:fillRect/>
          </a:stretch>
        </p:blipFill>
        <p:spPr>
          <a:xfrm>
            <a:off x="6096000" y="157307"/>
            <a:ext cx="5908964" cy="2849129"/>
          </a:xfrm>
          <a:prstGeom prst="rect">
            <a:avLst/>
          </a:prstGeom>
        </p:spPr>
      </p:pic>
      <p:sp>
        <p:nvSpPr>
          <p:cNvPr id="6" name="Content Placeholder 2">
            <a:extLst>
              <a:ext uri="{FF2B5EF4-FFF2-40B4-BE49-F238E27FC236}">
                <a16:creationId xmlns="" xmlns:a16="http://schemas.microsoft.com/office/drawing/2014/main" id="{C3D04009-7AA2-EB7C-11F9-0EDC2E4BED64}"/>
              </a:ext>
            </a:extLst>
          </p:cNvPr>
          <p:cNvSpPr txBox="1">
            <a:spLocks/>
          </p:cNvSpPr>
          <p:nvPr/>
        </p:nvSpPr>
        <p:spPr>
          <a:xfrm>
            <a:off x="187036" y="817417"/>
            <a:ext cx="5908963" cy="297872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222222"/>
                </a:solidFill>
              </a:rPr>
              <a:t>A </a:t>
            </a:r>
            <a:r>
              <a:rPr lang="en-US" b="1" dirty="0">
                <a:solidFill>
                  <a:srgbClr val="222222"/>
                </a:solidFill>
              </a:rPr>
              <a:t>Data Warehousing</a:t>
            </a:r>
            <a:r>
              <a:rPr lang="en-US" dirty="0">
                <a:solidFill>
                  <a:srgbClr val="222222"/>
                </a:solidFill>
              </a:rPr>
              <a:t> (DW) is </a:t>
            </a:r>
            <a:r>
              <a:rPr lang="en-US" b="1" dirty="0">
                <a:solidFill>
                  <a:srgbClr val="0000CC"/>
                </a:solidFill>
              </a:rPr>
              <a:t>process for collecting and managing data from varied sources to provide meaningful business insights.</a:t>
            </a:r>
            <a:r>
              <a:rPr lang="en-US" dirty="0">
                <a:solidFill>
                  <a:srgbClr val="222222"/>
                </a:solidFill>
              </a:rPr>
              <a:t> </a:t>
            </a:r>
          </a:p>
          <a:p>
            <a:pPr algn="just"/>
            <a:r>
              <a:rPr lang="en-US" b="0" i="0" dirty="0">
                <a:solidFill>
                  <a:srgbClr val="222222"/>
                </a:solidFill>
                <a:effectLst/>
              </a:rPr>
              <a:t>A Data Warehouse is a </a:t>
            </a:r>
            <a:r>
              <a:rPr lang="en-US" b="1" i="0" dirty="0">
                <a:solidFill>
                  <a:srgbClr val="0000CC"/>
                </a:solidFill>
                <a:effectLst/>
              </a:rPr>
              <a:t>collection of software tools that facilitates analysis of a large set of business data used to help an organization make decisions.</a:t>
            </a:r>
          </a:p>
          <a:p>
            <a:pPr algn="just"/>
            <a:endParaRPr lang="en-US" dirty="0"/>
          </a:p>
        </p:txBody>
      </p:sp>
    </p:spTree>
    <p:extLst>
      <p:ext uri="{BB962C8B-B14F-4D97-AF65-F5344CB8AC3E}">
        <p14:creationId xmlns:p14="http://schemas.microsoft.com/office/powerpoint/2010/main" val="1528832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47A11E-A3CF-FCEC-B8DA-011E6BFBEC56}"/>
              </a:ext>
            </a:extLst>
          </p:cNvPr>
          <p:cNvSpPr>
            <a:spLocks noGrp="1"/>
          </p:cNvSpPr>
          <p:nvPr>
            <p:ph type="title"/>
          </p:nvPr>
        </p:nvSpPr>
        <p:spPr>
          <a:xfrm>
            <a:off x="200891" y="192954"/>
            <a:ext cx="10515600" cy="923348"/>
          </a:xfrm>
        </p:spPr>
        <p:txBody>
          <a:bodyPr>
            <a:normAutofit fontScale="90000"/>
          </a:bodyPr>
          <a:lstStyle/>
          <a:p>
            <a:r>
              <a:rPr lang="en-US" sz="4000" b="1" i="0" dirty="0">
                <a:effectLst/>
                <a:latin typeface="+mn-lt"/>
              </a:rPr>
              <a:t>Why You Need a Data Warehouse?</a:t>
            </a:r>
            <a:br>
              <a:rPr lang="en-US" sz="4000" b="1" i="0" dirty="0">
                <a:effectLst/>
                <a:latin typeface="+mn-lt"/>
              </a:rPr>
            </a:br>
            <a:endParaRPr lang="en-US" sz="4000" dirty="0">
              <a:latin typeface="+mn-lt"/>
            </a:endParaRPr>
          </a:p>
        </p:txBody>
      </p:sp>
      <p:sp>
        <p:nvSpPr>
          <p:cNvPr id="3" name="Content Placeholder 2">
            <a:extLst>
              <a:ext uri="{FF2B5EF4-FFF2-40B4-BE49-F238E27FC236}">
                <a16:creationId xmlns="" xmlns:a16="http://schemas.microsoft.com/office/drawing/2014/main" id="{A2D82963-29BA-FECE-FB10-7FB888C980A3}"/>
              </a:ext>
            </a:extLst>
          </p:cNvPr>
          <p:cNvSpPr>
            <a:spLocks noGrp="1"/>
          </p:cNvSpPr>
          <p:nvPr>
            <p:ph idx="1"/>
          </p:nvPr>
        </p:nvSpPr>
        <p:spPr>
          <a:xfrm>
            <a:off x="200891" y="734292"/>
            <a:ext cx="7239000" cy="5930754"/>
          </a:xfrm>
        </p:spPr>
        <p:txBody>
          <a:bodyPr>
            <a:normAutofit fontScale="92500" lnSpcReduction="10000"/>
          </a:bodyPr>
          <a:lstStyle/>
          <a:p>
            <a:pPr algn="just"/>
            <a:r>
              <a:rPr lang="en-US" b="0" i="0" dirty="0">
                <a:effectLst/>
              </a:rPr>
              <a:t>During the early days, you may be using your regular database to run SQL queries for analytics. But, </a:t>
            </a:r>
            <a:r>
              <a:rPr lang="en-US" b="1" i="0" dirty="0">
                <a:solidFill>
                  <a:srgbClr val="0000CC"/>
                </a:solidFill>
                <a:effectLst/>
              </a:rPr>
              <a:t>with the increase in the size of the data and individuals using the data to perform various analysis, </a:t>
            </a:r>
            <a:r>
              <a:rPr lang="en-US" b="1" i="0" dirty="0">
                <a:solidFill>
                  <a:srgbClr val="FF0000"/>
                </a:solidFill>
                <a:effectLst/>
              </a:rPr>
              <a:t>your regular database becomes extremely slow in query processing.</a:t>
            </a:r>
          </a:p>
          <a:p>
            <a:pPr algn="just"/>
            <a:r>
              <a:rPr lang="en-US" b="0" i="0" dirty="0">
                <a:effectLst/>
              </a:rPr>
              <a:t>This is where companies understood the need for Data Warehouse that on the other hand, is </a:t>
            </a:r>
            <a:r>
              <a:rPr lang="en-US" b="1" i="0" dirty="0">
                <a:solidFill>
                  <a:srgbClr val="0000CC"/>
                </a:solidFill>
                <a:effectLst/>
              </a:rPr>
              <a:t>designed to handle huge volumes of data. It allows you to swiftly Filter, Sort, Aggregate, and Analyze the data.</a:t>
            </a:r>
          </a:p>
          <a:p>
            <a:pPr algn="just"/>
            <a:r>
              <a:rPr lang="en-US" b="0" i="0" dirty="0">
                <a:effectLst/>
              </a:rPr>
              <a:t>It allows </a:t>
            </a:r>
            <a:r>
              <a:rPr lang="en-US" b="1" i="0" dirty="0">
                <a:solidFill>
                  <a:srgbClr val="0000CC"/>
                </a:solidFill>
                <a:effectLst/>
              </a:rPr>
              <a:t>organizations to make quality business decisions.</a:t>
            </a:r>
            <a:r>
              <a:rPr lang="en-US" b="0" i="0" dirty="0">
                <a:effectLst/>
              </a:rPr>
              <a:t> The data warehouse benefits by improving data analytics, </a:t>
            </a:r>
            <a:r>
              <a:rPr lang="en-US" b="1" i="0" dirty="0">
                <a:solidFill>
                  <a:srgbClr val="0000CC"/>
                </a:solidFill>
                <a:effectLst/>
              </a:rPr>
              <a:t>it also helps to gain considerable revenue and the strength to compete more strategically in the market.</a:t>
            </a:r>
          </a:p>
          <a:p>
            <a:endParaRPr lang="en-US" dirty="0"/>
          </a:p>
        </p:txBody>
      </p:sp>
      <p:pic>
        <p:nvPicPr>
          <p:cNvPr id="5" name="Picture 4">
            <a:extLst>
              <a:ext uri="{FF2B5EF4-FFF2-40B4-BE49-F238E27FC236}">
                <a16:creationId xmlns="" xmlns:a16="http://schemas.microsoft.com/office/drawing/2014/main" id="{F269CB20-EFF1-7005-BB09-449D19B78D2F}"/>
              </a:ext>
            </a:extLst>
          </p:cNvPr>
          <p:cNvPicPr>
            <a:picLocks noChangeAspect="1"/>
          </p:cNvPicPr>
          <p:nvPr/>
        </p:nvPicPr>
        <p:blipFill>
          <a:blip r:embed="rId3"/>
          <a:stretch>
            <a:fillRect/>
          </a:stretch>
        </p:blipFill>
        <p:spPr>
          <a:xfrm>
            <a:off x="7786255" y="0"/>
            <a:ext cx="4031673" cy="3720090"/>
          </a:xfrm>
          <a:prstGeom prst="rect">
            <a:avLst/>
          </a:prstGeom>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8752" y="3863662"/>
            <a:ext cx="4286677" cy="258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555931" y="6243659"/>
            <a:ext cx="5636069" cy="1200329"/>
          </a:xfrm>
          <a:prstGeom prst="rect">
            <a:avLst/>
          </a:prstGeom>
          <a:noFill/>
        </p:spPr>
        <p:txBody>
          <a:bodyPr wrap="square" rtlCol="0">
            <a:spAutoFit/>
          </a:bodyPr>
          <a:lstStyle/>
          <a:p>
            <a:r>
              <a:rPr lang="en-US" b="1" dirty="0">
                <a:solidFill>
                  <a:srgbClr val="FF0000"/>
                </a:solidFill>
              </a:rPr>
              <a:t>A data warehouse can be stored on-premise, in the cloud, or a mixture of the two environments.</a:t>
            </a:r>
          </a:p>
          <a:p>
            <a:r>
              <a:rPr lang="en-US" dirty="0"/>
              <a:t/>
            </a:r>
            <a:br>
              <a:rPr lang="en-US" dirty="0"/>
            </a:br>
            <a:endParaRPr lang="en-US" dirty="0"/>
          </a:p>
        </p:txBody>
      </p:sp>
    </p:spTree>
    <p:extLst>
      <p:ext uri="{BB962C8B-B14F-4D97-AF65-F5344CB8AC3E}">
        <p14:creationId xmlns:p14="http://schemas.microsoft.com/office/powerpoint/2010/main" val="2175861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49846091"/>
              </p:ext>
            </p:extLst>
          </p:nvPr>
        </p:nvGraphicFramePr>
        <p:xfrm>
          <a:off x="915472" y="1165634"/>
          <a:ext cx="10855818" cy="4762567"/>
        </p:xfrm>
        <a:graphic>
          <a:graphicData uri="http://schemas.openxmlformats.org/drawingml/2006/table">
            <a:tbl>
              <a:tblPr>
                <a:tableStyleId>{616DA210-FB5B-4158-B5E0-FEB733F419BA}</a:tableStyleId>
              </a:tblPr>
              <a:tblGrid>
                <a:gridCol w="5427909"/>
                <a:gridCol w="5427909"/>
              </a:tblGrid>
              <a:tr h="537091">
                <a:tc>
                  <a:txBody>
                    <a:bodyPr/>
                    <a:lstStyle/>
                    <a:p>
                      <a:pPr algn="l" fontAlgn="base"/>
                      <a:r>
                        <a:rPr lang="en-US" sz="1800" b="1" dirty="0" smtClean="0">
                          <a:effectLst/>
                        </a:rPr>
                        <a:t>Database </a:t>
                      </a:r>
                      <a:r>
                        <a:rPr lang="en-US" sz="1800" b="1" dirty="0">
                          <a:effectLst/>
                        </a:rPr>
                        <a:t>System</a:t>
                      </a:r>
                    </a:p>
                  </a:txBody>
                  <a:tcPr marL="95250" marR="95250" marT="95250" marB="95250" anchor="ctr">
                    <a:solidFill>
                      <a:schemeClr val="accent1">
                        <a:lumMod val="40000"/>
                        <a:lumOff val="60000"/>
                      </a:schemeClr>
                    </a:solidFill>
                  </a:tcPr>
                </a:tc>
                <a:tc>
                  <a:txBody>
                    <a:bodyPr/>
                    <a:lstStyle/>
                    <a:p>
                      <a:pPr algn="l" fontAlgn="base"/>
                      <a:r>
                        <a:rPr lang="en-US" sz="1800" b="1" dirty="0">
                          <a:effectLst/>
                        </a:rPr>
                        <a:t>Data Warehouse</a:t>
                      </a:r>
                    </a:p>
                  </a:txBody>
                  <a:tcPr marL="95250" marR="95250" marT="95250" marB="95250" anchor="ctr">
                    <a:solidFill>
                      <a:schemeClr val="accent1">
                        <a:lumMod val="40000"/>
                        <a:lumOff val="60000"/>
                      </a:schemeClr>
                    </a:solidFill>
                  </a:tcPr>
                </a:tc>
              </a:tr>
              <a:tr h="660357">
                <a:tc>
                  <a:txBody>
                    <a:bodyPr/>
                    <a:lstStyle/>
                    <a:p>
                      <a:pPr algn="l" fontAlgn="base"/>
                      <a:r>
                        <a:rPr lang="en-US" sz="2000" b="1" dirty="0">
                          <a:effectLst/>
                        </a:rPr>
                        <a:t>It supports operational processes.</a:t>
                      </a:r>
                    </a:p>
                  </a:txBody>
                  <a:tcPr marL="95250" marR="95250" marT="133350" marB="133350" anchor="ctr"/>
                </a:tc>
                <a:tc>
                  <a:txBody>
                    <a:bodyPr/>
                    <a:lstStyle/>
                    <a:p>
                      <a:pPr algn="l" fontAlgn="base"/>
                      <a:r>
                        <a:rPr lang="en-US" sz="2000" b="1" dirty="0">
                          <a:effectLst/>
                        </a:rPr>
                        <a:t>It supports analysis and performance reporting.</a:t>
                      </a:r>
                    </a:p>
                  </a:txBody>
                  <a:tcPr marL="95250" marR="95250" marT="133350" marB="133350" anchor="ctr"/>
                </a:tc>
              </a:tr>
              <a:tr h="660357">
                <a:tc>
                  <a:txBody>
                    <a:bodyPr/>
                    <a:lstStyle/>
                    <a:p>
                      <a:pPr algn="l" fontAlgn="base"/>
                      <a:r>
                        <a:rPr lang="en-US" sz="2000" b="1" dirty="0">
                          <a:effectLst/>
                        </a:rPr>
                        <a:t>Capture and maintain the data.</a:t>
                      </a:r>
                    </a:p>
                  </a:txBody>
                  <a:tcPr marL="95250" marR="95250" marT="133350" marB="133350" anchor="ctr"/>
                </a:tc>
                <a:tc>
                  <a:txBody>
                    <a:bodyPr/>
                    <a:lstStyle/>
                    <a:p>
                      <a:pPr algn="l" fontAlgn="base"/>
                      <a:r>
                        <a:rPr lang="en-US" sz="2000" b="1">
                          <a:effectLst/>
                        </a:rPr>
                        <a:t>Explore the data.</a:t>
                      </a:r>
                    </a:p>
                  </a:txBody>
                  <a:tcPr marL="95250" marR="95250" marT="133350" marB="133350" anchor="ctr"/>
                </a:tc>
              </a:tr>
              <a:tr h="660357">
                <a:tc>
                  <a:txBody>
                    <a:bodyPr/>
                    <a:lstStyle/>
                    <a:p>
                      <a:pPr algn="l" fontAlgn="base"/>
                      <a:r>
                        <a:rPr lang="en-US" sz="2000" b="1" dirty="0">
                          <a:effectLst/>
                        </a:rPr>
                        <a:t>Current data.</a:t>
                      </a:r>
                    </a:p>
                  </a:txBody>
                  <a:tcPr marL="95250" marR="95250" marT="133350" marB="133350" anchor="ctr"/>
                </a:tc>
                <a:tc>
                  <a:txBody>
                    <a:bodyPr/>
                    <a:lstStyle/>
                    <a:p>
                      <a:pPr algn="l" fontAlgn="base"/>
                      <a:r>
                        <a:rPr lang="en-US" sz="2000" b="1" dirty="0">
                          <a:effectLst/>
                        </a:rPr>
                        <a:t>Multiple years of history.</a:t>
                      </a:r>
                    </a:p>
                  </a:txBody>
                  <a:tcPr marL="95250" marR="95250" marT="133350" marB="133350" anchor="ctr"/>
                </a:tc>
              </a:tr>
              <a:tr h="1012548">
                <a:tc>
                  <a:txBody>
                    <a:bodyPr/>
                    <a:lstStyle/>
                    <a:p>
                      <a:pPr algn="l" fontAlgn="base"/>
                      <a:r>
                        <a:rPr lang="en-US" sz="2000" b="1" dirty="0">
                          <a:effectLst/>
                        </a:rPr>
                        <a:t>Data is balanced within the scope of this one system.</a:t>
                      </a:r>
                    </a:p>
                  </a:txBody>
                  <a:tcPr marL="95250" marR="95250" marT="133350" marB="133350" anchor="ctr"/>
                </a:tc>
                <a:tc>
                  <a:txBody>
                    <a:bodyPr/>
                    <a:lstStyle/>
                    <a:p>
                      <a:pPr algn="l" fontAlgn="base"/>
                      <a:r>
                        <a:rPr lang="en-US" sz="2000" b="1">
                          <a:effectLst/>
                        </a:rPr>
                        <a:t>Data must be integrated and balanced from multiple system.</a:t>
                      </a:r>
                    </a:p>
                  </a:txBody>
                  <a:tcPr marL="95250" marR="95250" marT="133350" marB="133350" anchor="ctr"/>
                </a:tc>
              </a:tr>
              <a:tr h="660357">
                <a:tc>
                  <a:txBody>
                    <a:bodyPr/>
                    <a:lstStyle/>
                    <a:p>
                      <a:pPr algn="l" fontAlgn="base"/>
                      <a:r>
                        <a:rPr lang="en-US" sz="2000" b="1" dirty="0">
                          <a:effectLst/>
                        </a:rPr>
                        <a:t>Data is updated when transaction occurs.</a:t>
                      </a:r>
                    </a:p>
                  </a:txBody>
                  <a:tcPr marL="95250" marR="95250" marT="133350" marB="133350" anchor="ctr"/>
                </a:tc>
                <a:tc>
                  <a:txBody>
                    <a:bodyPr/>
                    <a:lstStyle/>
                    <a:p>
                      <a:pPr algn="l" fontAlgn="base"/>
                      <a:r>
                        <a:rPr lang="en-US" sz="2000" b="1" dirty="0">
                          <a:effectLst/>
                        </a:rPr>
                        <a:t>Data is updated on scheduled processes.</a:t>
                      </a:r>
                    </a:p>
                  </a:txBody>
                  <a:tcPr marL="95250" marR="95250" marT="133350" marB="133350" anchor="ctr"/>
                </a:tc>
              </a:tr>
              <a:tr h="554700">
                <a:tc>
                  <a:txBody>
                    <a:bodyPr/>
                    <a:lstStyle/>
                    <a:p>
                      <a:pPr marL="0" algn="l" defTabSz="914400" rtl="0" eaLnBrk="1" fontAlgn="base" latinLnBrk="0" hangingPunct="1"/>
                      <a:r>
                        <a:rPr lang="en-US" sz="2000" b="1" kern="1200" dirty="0" smtClean="0">
                          <a:solidFill>
                            <a:schemeClr val="tx1"/>
                          </a:solidFill>
                          <a:effectLst/>
                          <a:latin typeface="+mn-lt"/>
                          <a:ea typeface="+mn-ea"/>
                          <a:cs typeface="+mn-cs"/>
                        </a:rPr>
                        <a:t>100 </a:t>
                      </a:r>
                      <a:r>
                        <a:rPr lang="en-US" sz="2000" b="1" kern="1200" dirty="0">
                          <a:solidFill>
                            <a:schemeClr val="tx1"/>
                          </a:solidFill>
                          <a:effectLst/>
                          <a:latin typeface="+mn-lt"/>
                          <a:ea typeface="+mn-ea"/>
                          <a:cs typeface="+mn-cs"/>
                        </a:rPr>
                        <a:t>MB to GB.</a:t>
                      </a:r>
                    </a:p>
                  </a:txBody>
                  <a:tcPr marL="95250" marR="95250" marT="133350" marB="133350" anchor="ctr"/>
                </a:tc>
                <a:tc>
                  <a:txBody>
                    <a:bodyPr/>
                    <a:lstStyle/>
                    <a:p>
                      <a:pPr marL="0" algn="l" defTabSz="914400" rtl="0" eaLnBrk="1" fontAlgn="base" latinLnBrk="0" hangingPunct="1"/>
                      <a:r>
                        <a:rPr lang="en-US" sz="2000" b="1" kern="1200" dirty="0">
                          <a:solidFill>
                            <a:schemeClr val="tx1"/>
                          </a:solidFill>
                          <a:effectLst/>
                          <a:latin typeface="+mn-lt"/>
                          <a:ea typeface="+mn-ea"/>
                          <a:cs typeface="+mn-cs"/>
                        </a:rPr>
                        <a:t>100 GB to TB.</a:t>
                      </a:r>
                    </a:p>
                  </a:txBody>
                  <a:tcPr marL="95250" marR="95250" marT="133350" marB="133350" anchor="ctr"/>
                </a:tc>
              </a:tr>
            </a:tbl>
          </a:graphicData>
        </a:graphic>
      </p:graphicFrame>
    </p:spTree>
    <p:extLst>
      <p:ext uri="{BB962C8B-B14F-4D97-AF65-F5344CB8AC3E}">
        <p14:creationId xmlns:p14="http://schemas.microsoft.com/office/powerpoint/2010/main" val="1212550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10736F-6059-5DED-88E9-E1D2C0DA5400}"/>
              </a:ext>
            </a:extLst>
          </p:cNvPr>
          <p:cNvSpPr>
            <a:spLocks noGrp="1"/>
          </p:cNvSpPr>
          <p:nvPr>
            <p:ph type="title"/>
          </p:nvPr>
        </p:nvSpPr>
        <p:spPr/>
        <p:txBody>
          <a:bodyPr/>
          <a:lstStyle/>
          <a:p>
            <a:r>
              <a:rPr lang="en-US" sz="4000" b="1" i="0" dirty="0">
                <a:effectLst/>
                <a:latin typeface="+mn-lt"/>
              </a:rPr>
              <a:t>Characteristics of data warehousing</a:t>
            </a:r>
            <a:r>
              <a:rPr lang="en-US" b="1" i="0" dirty="0">
                <a:solidFill>
                  <a:srgbClr val="000C66"/>
                </a:solidFill>
                <a:effectLst/>
                <a:latin typeface="Poppins" panose="00000500000000000000" pitchFamily="2" charset="0"/>
              </a:rPr>
              <a:t/>
            </a:r>
            <a:br>
              <a:rPr lang="en-US" b="1" i="0" dirty="0">
                <a:solidFill>
                  <a:srgbClr val="000C66"/>
                </a:solidFill>
                <a:effectLst/>
                <a:latin typeface="Poppins" panose="00000500000000000000" pitchFamily="2" charset="0"/>
              </a:rPr>
            </a:br>
            <a:endParaRPr lang="en-US" dirty="0"/>
          </a:p>
        </p:txBody>
      </p:sp>
      <p:sp>
        <p:nvSpPr>
          <p:cNvPr id="3" name="Content Placeholder 2">
            <a:extLst>
              <a:ext uri="{FF2B5EF4-FFF2-40B4-BE49-F238E27FC236}">
                <a16:creationId xmlns="" xmlns:a16="http://schemas.microsoft.com/office/drawing/2014/main" id="{E2B30EEB-7027-97F4-DAB0-A65A5010E3B5}"/>
              </a:ext>
            </a:extLst>
          </p:cNvPr>
          <p:cNvSpPr>
            <a:spLocks noGrp="1"/>
          </p:cNvSpPr>
          <p:nvPr>
            <p:ph idx="1"/>
          </p:nvPr>
        </p:nvSpPr>
        <p:spPr>
          <a:xfrm>
            <a:off x="471055" y="1125030"/>
            <a:ext cx="6913418" cy="5367845"/>
          </a:xfrm>
        </p:spPr>
        <p:txBody>
          <a:bodyPr>
            <a:normAutofit fontScale="55000" lnSpcReduction="20000"/>
          </a:bodyPr>
          <a:lstStyle/>
          <a:p>
            <a:pPr algn="just"/>
            <a:r>
              <a:rPr lang="en-US" sz="3800" b="1" i="0" dirty="0">
                <a:effectLst/>
              </a:rPr>
              <a:t>Subject-Oriented</a:t>
            </a:r>
          </a:p>
          <a:p>
            <a:pPr algn="just"/>
            <a:r>
              <a:rPr lang="en-US" sz="3800" b="0" i="0" dirty="0">
                <a:effectLst/>
              </a:rPr>
              <a:t>A data warehouse target on the modeling and analysis of data for decision-makers. Therefore, </a:t>
            </a:r>
            <a:r>
              <a:rPr lang="en-US" sz="3800" b="0" i="0" dirty="0">
                <a:solidFill>
                  <a:srgbClr val="FF0000"/>
                </a:solidFill>
                <a:effectLst/>
              </a:rPr>
              <a:t>data warehouses typically provide a concise and straightforward view around a particular subject, such as customer, product, or sales, instead of the global organization's ongoing operations.</a:t>
            </a:r>
          </a:p>
          <a:p>
            <a:pPr algn="just"/>
            <a:r>
              <a:rPr lang="en-US" sz="3800" b="1" i="0" dirty="0">
                <a:effectLst/>
              </a:rPr>
              <a:t>Integrated</a:t>
            </a:r>
          </a:p>
          <a:p>
            <a:pPr algn="just"/>
            <a:r>
              <a:rPr lang="en-US" sz="3800" b="0" i="0" dirty="0">
                <a:effectLst/>
              </a:rPr>
              <a:t>In Data Warehouse, </a:t>
            </a:r>
            <a:r>
              <a:rPr lang="en-US" sz="3800" b="0" i="0" dirty="0">
                <a:solidFill>
                  <a:srgbClr val="FF0000"/>
                </a:solidFill>
                <a:effectLst/>
              </a:rPr>
              <a:t>integration means the establishment of a common unit of measure for all similar data </a:t>
            </a:r>
            <a:r>
              <a:rPr lang="en-US" sz="3800" b="0" i="0" dirty="0">
                <a:effectLst/>
              </a:rPr>
              <a:t>from the dissimilar database</a:t>
            </a:r>
          </a:p>
          <a:p>
            <a:pPr algn="just"/>
            <a:r>
              <a:rPr lang="en-US" sz="3800" b="1" i="0" dirty="0">
                <a:effectLst/>
              </a:rPr>
              <a:t>Time-Variant</a:t>
            </a:r>
          </a:p>
          <a:p>
            <a:pPr algn="just"/>
            <a:r>
              <a:rPr lang="en-US" sz="3800" b="0" i="0" dirty="0">
                <a:effectLst/>
              </a:rPr>
              <a:t>It </a:t>
            </a:r>
            <a:r>
              <a:rPr lang="en-US" sz="3800" b="0" i="0" dirty="0">
                <a:solidFill>
                  <a:srgbClr val="FF0000"/>
                </a:solidFill>
                <a:effectLst/>
              </a:rPr>
              <a:t>contains an element of time</a:t>
            </a:r>
            <a:r>
              <a:rPr lang="en-US" sz="3800" b="0" i="0" dirty="0">
                <a:effectLst/>
              </a:rPr>
              <a:t>, explicitly or implicitly.</a:t>
            </a:r>
          </a:p>
          <a:p>
            <a:pPr algn="just"/>
            <a:r>
              <a:rPr lang="en-US" sz="3800" b="1" i="0" dirty="0">
                <a:effectLst/>
              </a:rPr>
              <a:t>Non-volatile</a:t>
            </a:r>
          </a:p>
          <a:p>
            <a:pPr algn="just"/>
            <a:r>
              <a:rPr lang="en-US" sz="3800" b="0" i="0" dirty="0">
                <a:effectLst/>
              </a:rPr>
              <a:t>Also, the data warehouse is non-volatile, meaning that prior </a:t>
            </a:r>
            <a:r>
              <a:rPr lang="en-US" sz="3800" b="0" i="0" dirty="0">
                <a:solidFill>
                  <a:srgbClr val="FF0000"/>
                </a:solidFill>
                <a:effectLst/>
              </a:rPr>
              <a:t>data will not be erased </a:t>
            </a:r>
            <a:r>
              <a:rPr lang="en-US" sz="3800" b="0" i="0" dirty="0">
                <a:effectLst/>
              </a:rPr>
              <a:t>when new data are entered into it</a:t>
            </a:r>
          </a:p>
          <a:p>
            <a:endParaRPr lang="en-US" dirty="0"/>
          </a:p>
        </p:txBody>
      </p:sp>
      <p:pic>
        <p:nvPicPr>
          <p:cNvPr id="11266" name="Picture 2" descr="Characteristics of Data Warehouse">
            <a:extLst>
              <a:ext uri="{FF2B5EF4-FFF2-40B4-BE49-F238E27FC236}">
                <a16:creationId xmlns="" xmlns:a16="http://schemas.microsoft.com/office/drawing/2014/main" id="{27AF43AD-CBAE-0F00-7D40-48196532F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3074" y="1125029"/>
            <a:ext cx="4454236" cy="3724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954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820" y="0"/>
            <a:ext cx="11134859" cy="1325563"/>
          </a:xfrm>
        </p:spPr>
        <p:txBody>
          <a:bodyPr/>
          <a:lstStyle/>
          <a:p>
            <a:r>
              <a:rPr lang="en-US" b="1" dirty="0" smtClean="0"/>
              <a:t>Data Integration</a:t>
            </a:r>
            <a:endParaRPr lang="en-US" b="1" dirty="0"/>
          </a:p>
        </p:txBody>
      </p:sp>
      <p:sp>
        <p:nvSpPr>
          <p:cNvPr id="3" name="Content Placeholder 2"/>
          <p:cNvSpPr>
            <a:spLocks noGrp="1"/>
          </p:cNvSpPr>
          <p:nvPr>
            <p:ph idx="1"/>
          </p:nvPr>
        </p:nvSpPr>
        <p:spPr>
          <a:xfrm>
            <a:off x="-1" y="1043189"/>
            <a:ext cx="11925837" cy="5718219"/>
          </a:xfrm>
        </p:spPr>
        <p:txBody>
          <a:bodyPr>
            <a:normAutofit fontScale="62500" lnSpcReduction="20000"/>
          </a:bodyPr>
          <a:lstStyle/>
          <a:p>
            <a:r>
              <a:rPr lang="en-US" dirty="0"/>
              <a:t>To integrate heterogeneous databases, we have two approaches </a:t>
            </a:r>
            <a:r>
              <a:rPr lang="en-US" dirty="0" smtClean="0"/>
              <a:t>−  Query-driven Approach and Update-driven </a:t>
            </a:r>
            <a:r>
              <a:rPr lang="en-US" dirty="0"/>
              <a:t>Approach</a:t>
            </a:r>
          </a:p>
          <a:p>
            <a:r>
              <a:rPr lang="en-US" b="1" dirty="0"/>
              <a:t>Query-Driven Approach</a:t>
            </a:r>
          </a:p>
          <a:p>
            <a:r>
              <a:rPr lang="en-US" dirty="0"/>
              <a:t>This is the traditional approach to integrate heterogeneous databases. This approach was used to build wrappers and integrators on top of multiple heterogeneous databases. These integrators are also known as mediators.</a:t>
            </a:r>
          </a:p>
          <a:p>
            <a:r>
              <a:rPr lang="en-US" b="1" dirty="0"/>
              <a:t>Process of Query-Driven Approach</a:t>
            </a:r>
          </a:p>
          <a:p>
            <a:pPr lvl="0"/>
            <a:r>
              <a:rPr lang="en-US" dirty="0"/>
              <a:t>When a query is issued to a client side, a metadata dictionary translates the query into an appropriate form for individual heterogeneous sites involved.</a:t>
            </a:r>
          </a:p>
          <a:p>
            <a:pPr lvl="0"/>
            <a:r>
              <a:rPr lang="en-US" dirty="0"/>
              <a:t>Now these queries are mapped and sent to the local query processor.</a:t>
            </a:r>
          </a:p>
          <a:p>
            <a:pPr lvl="0"/>
            <a:r>
              <a:rPr lang="en-US" dirty="0"/>
              <a:t>The results from heterogeneous sites are integrated into a global answer set.</a:t>
            </a:r>
          </a:p>
          <a:p>
            <a:r>
              <a:rPr lang="en-US" b="1" dirty="0"/>
              <a:t>Disadvantages</a:t>
            </a:r>
          </a:p>
          <a:p>
            <a:pPr lvl="0"/>
            <a:r>
              <a:rPr lang="en-US" dirty="0"/>
              <a:t>Query-driven approach needs complex integration and filtering processes.</a:t>
            </a:r>
          </a:p>
          <a:p>
            <a:pPr lvl="0"/>
            <a:r>
              <a:rPr lang="en-US" dirty="0"/>
              <a:t>This approach is very inefficient.</a:t>
            </a:r>
          </a:p>
          <a:p>
            <a:pPr lvl="0"/>
            <a:r>
              <a:rPr lang="en-US" dirty="0"/>
              <a:t>It is very expensive for frequent queries.</a:t>
            </a:r>
          </a:p>
          <a:p>
            <a:pPr lvl="0"/>
            <a:r>
              <a:rPr lang="en-US" dirty="0"/>
              <a:t>This approach is also very expensive for queries that require aggregations.</a:t>
            </a:r>
          </a:p>
          <a:p>
            <a:r>
              <a:rPr lang="en-US" b="1" dirty="0"/>
              <a:t>Update-Driven Approach</a:t>
            </a:r>
          </a:p>
          <a:p>
            <a:r>
              <a:rPr lang="en-US" dirty="0"/>
              <a:t>This is an alternative to the traditional approach. Today's data warehouse systems follow update-driven approach rather than the traditional approach discussed earlier. In update-driven approach, the information from multiple heterogeneous sources are integrated in advance and are stored in a warehouse. This information is available for direct querying and analysis.</a:t>
            </a:r>
          </a:p>
          <a:p>
            <a:endParaRPr lang="en-US" dirty="0"/>
          </a:p>
        </p:txBody>
      </p:sp>
    </p:spTree>
    <p:extLst>
      <p:ext uri="{BB962C8B-B14F-4D97-AF65-F5344CB8AC3E}">
        <p14:creationId xmlns:p14="http://schemas.microsoft.com/office/powerpoint/2010/main" val="754047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10736F-6059-5DED-88E9-E1D2C0DA5400}"/>
              </a:ext>
            </a:extLst>
          </p:cNvPr>
          <p:cNvSpPr>
            <a:spLocks noGrp="1"/>
          </p:cNvSpPr>
          <p:nvPr>
            <p:ph type="title"/>
          </p:nvPr>
        </p:nvSpPr>
        <p:spPr/>
        <p:txBody>
          <a:bodyPr/>
          <a:lstStyle/>
          <a:p>
            <a:r>
              <a:rPr lang="en-US" sz="4000" b="1" i="0" dirty="0">
                <a:effectLst/>
                <a:latin typeface="+mn-lt"/>
              </a:rPr>
              <a:t>Characteristics of data warehousing</a:t>
            </a:r>
            <a:r>
              <a:rPr lang="en-US" b="1" i="0" dirty="0">
                <a:solidFill>
                  <a:srgbClr val="000C66"/>
                </a:solidFill>
                <a:effectLst/>
                <a:latin typeface="Poppins" panose="00000500000000000000" pitchFamily="2" charset="0"/>
              </a:rPr>
              <a:t/>
            </a:r>
            <a:br>
              <a:rPr lang="en-US" b="1" i="0" dirty="0">
                <a:solidFill>
                  <a:srgbClr val="000C66"/>
                </a:solidFill>
                <a:effectLst/>
                <a:latin typeface="Poppins" panose="00000500000000000000" pitchFamily="2" charset="0"/>
              </a:rPr>
            </a:br>
            <a:endParaRPr lang="en-US" dirty="0"/>
          </a:p>
        </p:txBody>
      </p:sp>
      <p:sp>
        <p:nvSpPr>
          <p:cNvPr id="3" name="Content Placeholder 2">
            <a:extLst>
              <a:ext uri="{FF2B5EF4-FFF2-40B4-BE49-F238E27FC236}">
                <a16:creationId xmlns="" xmlns:a16="http://schemas.microsoft.com/office/drawing/2014/main" id="{E2B30EEB-7027-97F4-DAB0-A65A5010E3B5}"/>
              </a:ext>
            </a:extLst>
          </p:cNvPr>
          <p:cNvSpPr>
            <a:spLocks noGrp="1"/>
          </p:cNvSpPr>
          <p:nvPr>
            <p:ph idx="1"/>
          </p:nvPr>
        </p:nvSpPr>
        <p:spPr>
          <a:xfrm>
            <a:off x="471055" y="1125030"/>
            <a:ext cx="6913418" cy="5367845"/>
          </a:xfrm>
        </p:spPr>
        <p:txBody>
          <a:bodyPr>
            <a:normAutofit/>
          </a:bodyPr>
          <a:lstStyle/>
          <a:p>
            <a:endParaRPr lang="en-US" dirty="0"/>
          </a:p>
        </p:txBody>
      </p:sp>
      <p:pic>
        <p:nvPicPr>
          <p:cNvPr id="12290" name="Picture 2" descr="Data Warehouse">
            <a:extLst>
              <a:ext uri="{FF2B5EF4-FFF2-40B4-BE49-F238E27FC236}">
                <a16:creationId xmlns="" xmlns:a16="http://schemas.microsoft.com/office/drawing/2014/main" id="{BC1A5BD9-95B9-5D5C-4792-D2DB111C0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61" y="1027906"/>
            <a:ext cx="6231948" cy="276441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Data Warehouse">
            <a:extLst>
              <a:ext uri="{FF2B5EF4-FFF2-40B4-BE49-F238E27FC236}">
                <a16:creationId xmlns="" xmlns:a16="http://schemas.microsoft.com/office/drawing/2014/main" id="{77F3CA69-6B24-EA42-BA0C-3EDF07412A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9521" y="996047"/>
            <a:ext cx="4444279" cy="2828131"/>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ata Warehouse">
            <a:extLst>
              <a:ext uri="{FF2B5EF4-FFF2-40B4-BE49-F238E27FC236}">
                <a16:creationId xmlns="" xmlns:a16="http://schemas.microsoft.com/office/drawing/2014/main" id="{E389329E-F0CC-B399-7404-5BC6CA8088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055" y="3889444"/>
            <a:ext cx="4762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Data Warehouse">
            <a:extLst>
              <a:ext uri="{FF2B5EF4-FFF2-40B4-BE49-F238E27FC236}">
                <a16:creationId xmlns="" xmlns:a16="http://schemas.microsoft.com/office/drawing/2014/main" id="{201E3E71-C957-6D26-DF11-1F9894E2C0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7455" y="4114800"/>
            <a:ext cx="5396345" cy="2475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344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Applications of Data Warehousing</a:t>
            </a:r>
            <a:r>
              <a:rPr lang="en-US" dirty="0"/>
              <a:t> </a:t>
            </a:r>
          </a:p>
        </p:txBody>
      </p:sp>
      <p:sp>
        <p:nvSpPr>
          <p:cNvPr id="3" name="Content Placeholder 2"/>
          <p:cNvSpPr>
            <a:spLocks noGrp="1"/>
          </p:cNvSpPr>
          <p:nvPr>
            <p:ph idx="1"/>
          </p:nvPr>
        </p:nvSpPr>
        <p:spPr/>
        <p:txBody>
          <a:bodyPr>
            <a:normAutofit fontScale="92500" lnSpcReduction="20000"/>
          </a:bodyPr>
          <a:lstStyle/>
          <a:p>
            <a:pPr fontAlgn="base"/>
            <a:r>
              <a:rPr lang="en-US" dirty="0" smtClean="0"/>
              <a:t>Data </a:t>
            </a:r>
            <a:r>
              <a:rPr lang="en-US" dirty="0"/>
              <a:t>Warehousing can be applied anywhere where we have a huge amount of data and we want to see statistical results that help in decision making. </a:t>
            </a:r>
            <a:br>
              <a:rPr lang="en-US" dirty="0"/>
            </a:br>
            <a:r>
              <a:rPr lang="en-US" dirty="0"/>
              <a:t> </a:t>
            </a:r>
          </a:p>
          <a:p>
            <a:pPr fontAlgn="base"/>
            <a:r>
              <a:rPr lang="en-US" b="1" dirty="0"/>
              <a:t>Social Media Websites:</a:t>
            </a:r>
            <a:r>
              <a:rPr lang="en-US" dirty="0"/>
              <a:t> The social networking websites like Facebook, Twitter, </a:t>
            </a:r>
            <a:r>
              <a:rPr lang="en-US" dirty="0" err="1"/>
              <a:t>Linkedin</a:t>
            </a:r>
            <a:r>
              <a:rPr lang="en-US" dirty="0"/>
              <a:t>, etc. are based on analyzing large data sets. These sites gather data related to members, groups, locations, etc., and store it in a single central repository. Being a large amount of data, Data Warehouse is needed for implementing the same.</a:t>
            </a:r>
          </a:p>
          <a:p>
            <a:pPr fontAlgn="base"/>
            <a:r>
              <a:rPr lang="en-US" b="1" dirty="0"/>
              <a:t>Banking: </a:t>
            </a:r>
            <a:r>
              <a:rPr lang="en-US" dirty="0"/>
              <a:t>Most of the banks these days use warehouses to see the spending patterns of account/cardholders. They use this to provide them with special offers, deals, etc.</a:t>
            </a:r>
          </a:p>
          <a:p>
            <a:pPr fontAlgn="base"/>
            <a:r>
              <a:rPr lang="en-US" b="1" dirty="0"/>
              <a:t>Government:</a:t>
            </a:r>
            <a:r>
              <a:rPr lang="en-US" dirty="0"/>
              <a:t> Government uses a data warehouse to store and analyze tax payments which are used to detect tax thefts.</a:t>
            </a:r>
          </a:p>
          <a:p>
            <a:endParaRPr lang="en-US" dirty="0"/>
          </a:p>
        </p:txBody>
      </p:sp>
    </p:spTree>
    <p:extLst>
      <p:ext uri="{BB962C8B-B14F-4D97-AF65-F5344CB8AC3E}">
        <p14:creationId xmlns:p14="http://schemas.microsoft.com/office/powerpoint/2010/main" val="3232586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a:t>
            </a:r>
            <a:r>
              <a:rPr lang="en-US" dirty="0" err="1" smtClean="0"/>
              <a:t>Datawarehouse</a:t>
            </a:r>
            <a:endParaRPr lang="en-US" dirty="0"/>
          </a:p>
        </p:txBody>
      </p:sp>
      <p:sp>
        <p:nvSpPr>
          <p:cNvPr id="3" name="Content Placeholder 2"/>
          <p:cNvSpPr>
            <a:spLocks noGrp="1"/>
          </p:cNvSpPr>
          <p:nvPr>
            <p:ph idx="1"/>
          </p:nvPr>
        </p:nvSpPr>
        <p:spPr/>
        <p:txBody>
          <a:bodyPr>
            <a:normAutofit fontScale="85000" lnSpcReduction="20000"/>
          </a:bodyPr>
          <a:lstStyle/>
          <a:p>
            <a:pPr lvl="0"/>
            <a:r>
              <a:rPr lang="en-US" b="1" dirty="0"/>
              <a:t>Improved business intelligence: </a:t>
            </a:r>
            <a:r>
              <a:rPr lang="en-US" dirty="0"/>
              <a:t>When you integrate multiple sources, you make decisions based on ALL your data.</a:t>
            </a:r>
          </a:p>
          <a:p>
            <a:pPr lvl="0"/>
            <a:r>
              <a:rPr lang="en-US" b="1" dirty="0"/>
              <a:t>Timely access to data: </a:t>
            </a:r>
            <a:r>
              <a:rPr lang="en-US" dirty="0"/>
              <a:t>Quickly access critical data in one centralized location.</a:t>
            </a:r>
          </a:p>
          <a:p>
            <a:pPr lvl="0"/>
            <a:r>
              <a:rPr lang="en-US" b="1" dirty="0"/>
              <a:t>Enhanced data quality and consistency</a:t>
            </a:r>
            <a:r>
              <a:rPr lang="en-US" dirty="0"/>
              <a:t>: Data throughout the organization is standardized and stored in the same format so all departments are making decisions based on uniform data.</a:t>
            </a:r>
          </a:p>
          <a:p>
            <a:pPr lvl="0"/>
            <a:r>
              <a:rPr lang="en-US" b="1" dirty="0"/>
              <a:t>Historical intelligence: </a:t>
            </a:r>
            <a:r>
              <a:rPr lang="en-US" dirty="0"/>
              <a:t>Because a data warehouse stores large amounts of historical data, you can identify trends through year-over-year and month-over-month analysis.</a:t>
            </a:r>
          </a:p>
          <a:p>
            <a:pPr lvl="0"/>
            <a:r>
              <a:rPr lang="en-US" b="1" dirty="0"/>
              <a:t>Quick query response times: </a:t>
            </a:r>
            <a:r>
              <a:rPr lang="en-US" dirty="0"/>
              <a:t>Most data warehouses are modeled, built, and optimized for read access, and that means fast report generation.</a:t>
            </a:r>
          </a:p>
          <a:p>
            <a:pPr lvl="0"/>
            <a:r>
              <a:rPr lang="en-US" b="1" dirty="0"/>
              <a:t>Centralized business logic</a:t>
            </a:r>
            <a:r>
              <a:rPr lang="en-US" dirty="0"/>
              <a:t>: Storing business logic in the data warehouse minimizes the chances of having multiple versions of the truth.</a:t>
            </a:r>
          </a:p>
          <a:p>
            <a:endParaRPr lang="en-US" dirty="0"/>
          </a:p>
        </p:txBody>
      </p:sp>
    </p:spTree>
    <p:extLst>
      <p:ext uri="{BB962C8B-B14F-4D97-AF65-F5344CB8AC3E}">
        <p14:creationId xmlns:p14="http://schemas.microsoft.com/office/powerpoint/2010/main" val="1925653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422564" y="650407"/>
            <a:ext cx="10515600" cy="1489869"/>
          </a:xfrm>
        </p:spPr>
        <p:txBody>
          <a:bodyPr>
            <a:normAutofit fontScale="85000" lnSpcReduction="20000"/>
          </a:bodyPr>
          <a:lstStyle/>
          <a:p>
            <a:pPr algn="just"/>
            <a:r>
              <a:rPr lang="en-US" b="1" i="0" dirty="0">
                <a:solidFill>
                  <a:srgbClr val="0000CC"/>
                </a:solidFill>
                <a:effectLst/>
              </a:rPr>
              <a:t>The architecture of the data warehouse mainly consists of the proper arrangement of its elements, to build an efficient data warehouse with software and hardware components. </a:t>
            </a:r>
            <a:r>
              <a:rPr lang="en-US" b="0" i="0" dirty="0">
                <a:solidFill>
                  <a:srgbClr val="222222"/>
                </a:solidFill>
                <a:effectLst/>
              </a:rPr>
              <a:t>The elements and components may vary based on the requirement of organizations. All of these depend on the organization’s circumstances.</a:t>
            </a:r>
            <a:endParaRPr lang="en-US" dirty="0"/>
          </a:p>
        </p:txBody>
      </p:sp>
      <p:pic>
        <p:nvPicPr>
          <p:cNvPr id="3074" name="Picture 2" descr="Data warehouse architecture">
            <a:extLst>
              <a:ext uri="{FF2B5EF4-FFF2-40B4-BE49-F238E27FC236}">
                <a16:creationId xmlns="" xmlns:a16="http://schemas.microsoft.com/office/drawing/2014/main" id="{DA3E6A36-FC12-A2D2-F89E-D82DB569B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82" y="2098458"/>
            <a:ext cx="10099964" cy="455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727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3768437"/>
            <a:ext cx="11725275" cy="2632364"/>
          </a:xfrm>
        </p:spPr>
        <p:txBody>
          <a:bodyPr>
            <a:normAutofit fontScale="92500" lnSpcReduction="20000"/>
          </a:bodyPr>
          <a:lstStyle/>
          <a:p>
            <a:pPr algn="just">
              <a:buFont typeface="Arial" panose="020B0604020202020204" pitchFamily="34" charset="0"/>
              <a:buChar char="•"/>
            </a:pPr>
            <a:r>
              <a:rPr lang="en-US" b="1" i="0" dirty="0">
                <a:solidFill>
                  <a:srgbClr val="222222"/>
                </a:solidFill>
                <a:effectLst/>
              </a:rPr>
              <a:t>Internal Data:</a:t>
            </a:r>
            <a:r>
              <a:rPr lang="en-US" b="0" i="0" dirty="0">
                <a:solidFill>
                  <a:srgbClr val="222222"/>
                </a:solidFill>
                <a:effectLst/>
              </a:rPr>
              <a:t> In every organization, the consumer keeps their “private” </a:t>
            </a:r>
            <a:r>
              <a:rPr lang="en-US" b="1" i="0" dirty="0">
                <a:solidFill>
                  <a:srgbClr val="0000CC"/>
                </a:solidFill>
                <a:effectLst/>
              </a:rPr>
              <a:t>spreadsheets, reports, client profiles, and generally even department databases. </a:t>
            </a:r>
          </a:p>
          <a:p>
            <a:pPr algn="just">
              <a:buFont typeface="Arial" panose="020B0604020202020204" pitchFamily="34" charset="0"/>
              <a:buChar char="•"/>
            </a:pPr>
            <a:r>
              <a:rPr lang="en-US" b="1" i="0" dirty="0">
                <a:solidFill>
                  <a:srgbClr val="222222"/>
                </a:solidFill>
                <a:effectLst/>
              </a:rPr>
              <a:t>Operational System data:</a:t>
            </a:r>
            <a:r>
              <a:rPr lang="en-US" b="0" i="0" dirty="0">
                <a:solidFill>
                  <a:srgbClr val="222222"/>
                </a:solidFill>
                <a:effectLst/>
              </a:rPr>
              <a:t> Operational systems are principally meant to run the business. In each operation system, we </a:t>
            </a:r>
            <a:r>
              <a:rPr lang="en-US" b="1" i="0" dirty="0">
                <a:solidFill>
                  <a:srgbClr val="0000CC"/>
                </a:solidFill>
                <a:effectLst/>
              </a:rPr>
              <a:t>periodically take the old data and store it in achieved files.</a:t>
            </a:r>
          </a:p>
          <a:p>
            <a:pPr algn="just">
              <a:buFont typeface="Arial" panose="020B0604020202020204" pitchFamily="34" charset="0"/>
              <a:buChar char="•"/>
            </a:pPr>
            <a:r>
              <a:rPr lang="en-US" b="1" i="0" dirty="0">
                <a:solidFill>
                  <a:srgbClr val="222222"/>
                </a:solidFill>
                <a:effectLst/>
              </a:rPr>
              <a:t>Flat files:</a:t>
            </a:r>
            <a:r>
              <a:rPr lang="en-US" b="0" i="0" dirty="0">
                <a:solidFill>
                  <a:srgbClr val="222222"/>
                </a:solidFill>
                <a:effectLst/>
              </a:rPr>
              <a:t> A flat file is nothing but a </a:t>
            </a:r>
            <a:r>
              <a:rPr lang="en-US" b="1" i="0" dirty="0">
                <a:solidFill>
                  <a:srgbClr val="0000CC"/>
                </a:solidFill>
                <a:effectLst/>
              </a:rPr>
              <a:t>text database that stores data in a plain text format. </a:t>
            </a:r>
            <a:r>
              <a:rPr lang="en-US" b="0" i="0" dirty="0">
                <a:solidFill>
                  <a:srgbClr val="222222"/>
                </a:solidFill>
                <a:effectLst/>
              </a:rPr>
              <a:t>Flat files generally are text files that have all data processing and structure markup removed. A flat file contains a table with a single record per line.</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2" y="650407"/>
            <a:ext cx="9258299" cy="2883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i="0" dirty="0">
                <a:solidFill>
                  <a:srgbClr val="222222"/>
                </a:solidFill>
                <a:effectLst/>
              </a:rPr>
              <a:t>1. </a:t>
            </a:r>
            <a:r>
              <a:rPr lang="en-US" sz="2400" b="1" i="0" dirty="0">
                <a:solidFill>
                  <a:srgbClr val="FF0000"/>
                </a:solidFill>
                <a:effectLst/>
              </a:rPr>
              <a:t>Source Data Component:</a:t>
            </a:r>
            <a:endParaRPr lang="en-US" sz="2400" b="0" i="0" dirty="0">
              <a:solidFill>
                <a:srgbClr val="FF0000"/>
              </a:solidFill>
              <a:effectLst/>
            </a:endParaRPr>
          </a:p>
          <a:p>
            <a:pPr algn="just"/>
            <a:r>
              <a:rPr lang="en-US" sz="2400" b="0" i="0" dirty="0">
                <a:solidFill>
                  <a:srgbClr val="222222"/>
                </a:solidFill>
                <a:effectLst/>
              </a:rPr>
              <a:t>In the Data Warehouse, the source data comes from different places. They are group into four categories:</a:t>
            </a:r>
          </a:p>
          <a:p>
            <a:pPr algn="just">
              <a:buFont typeface="Arial" panose="020B0604020202020204" pitchFamily="34" charset="0"/>
              <a:buChar char="•"/>
            </a:pPr>
            <a:r>
              <a:rPr lang="en-US" sz="2400" b="1" i="0" dirty="0">
                <a:solidFill>
                  <a:srgbClr val="222222"/>
                </a:solidFill>
                <a:effectLst/>
              </a:rPr>
              <a:t>External Data:</a:t>
            </a:r>
            <a:r>
              <a:rPr lang="en-US" sz="2400" b="0" i="0" dirty="0">
                <a:solidFill>
                  <a:srgbClr val="222222"/>
                </a:solidFill>
                <a:effectLst/>
              </a:rPr>
              <a:t> For data gathering, </a:t>
            </a:r>
            <a:r>
              <a:rPr lang="en-US" sz="2400" b="1" i="0" dirty="0">
                <a:solidFill>
                  <a:srgbClr val="0000CC"/>
                </a:solidFill>
                <a:effectLst/>
              </a:rPr>
              <a:t>most of the executives and data analysts rely on information coming from external sources </a:t>
            </a:r>
            <a:r>
              <a:rPr lang="en-US" sz="2400" b="0" i="0" dirty="0">
                <a:solidFill>
                  <a:srgbClr val="222222"/>
                </a:solidFill>
                <a:effectLst/>
              </a:rPr>
              <a:t>for a numerous amount of the information they use. They use statistical features associated with their organization that is brought out by some external sources and department.</a:t>
            </a:r>
          </a:p>
        </p:txBody>
      </p:sp>
      <p:pic>
        <p:nvPicPr>
          <p:cNvPr id="8" name="Picture 7">
            <a:extLst>
              <a:ext uri="{FF2B5EF4-FFF2-40B4-BE49-F238E27FC236}">
                <a16:creationId xmlns="" xmlns:a16="http://schemas.microsoft.com/office/drawing/2014/main" id="{693E8BBD-25E6-9B41-B61C-7A2460214CAD}"/>
              </a:ext>
            </a:extLst>
          </p:cNvPr>
          <p:cNvPicPr>
            <a:picLocks noChangeAspect="1"/>
          </p:cNvPicPr>
          <p:nvPr/>
        </p:nvPicPr>
        <p:blipFill>
          <a:blip r:embed="rId3"/>
          <a:stretch>
            <a:fillRect/>
          </a:stretch>
        </p:blipFill>
        <p:spPr>
          <a:xfrm>
            <a:off x="9491662" y="759835"/>
            <a:ext cx="2466975" cy="1415329"/>
          </a:xfrm>
          <a:prstGeom prst="rect">
            <a:avLst/>
          </a:prstGeom>
        </p:spPr>
      </p:pic>
    </p:spTree>
    <p:extLst>
      <p:ext uri="{BB962C8B-B14F-4D97-AF65-F5344CB8AC3E}">
        <p14:creationId xmlns:p14="http://schemas.microsoft.com/office/powerpoint/2010/main" val="2689971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4125406"/>
            <a:ext cx="11725275" cy="2526289"/>
          </a:xfrm>
        </p:spPr>
        <p:txBody>
          <a:bodyPr>
            <a:normAutofit fontScale="85000" lnSpcReduction="20000"/>
          </a:bodyPr>
          <a:lstStyle/>
          <a:p>
            <a:pPr algn="just">
              <a:buFont typeface="Arial" panose="020B0604020202020204" pitchFamily="34" charset="0"/>
              <a:buChar char="•"/>
            </a:pPr>
            <a:r>
              <a:rPr lang="en-US" b="1" i="0" dirty="0">
                <a:solidFill>
                  <a:srgbClr val="222222"/>
                </a:solidFill>
                <a:effectLst/>
              </a:rPr>
              <a:t>Data Extraction:</a:t>
            </a:r>
            <a:r>
              <a:rPr lang="en-US" b="0" i="0" dirty="0">
                <a:solidFill>
                  <a:srgbClr val="222222"/>
                </a:solidFill>
                <a:effectLst/>
              </a:rPr>
              <a:t> This stage </a:t>
            </a:r>
            <a:r>
              <a:rPr lang="en-US" b="1" i="0" dirty="0">
                <a:solidFill>
                  <a:srgbClr val="0000CC"/>
                </a:solidFill>
                <a:effectLst/>
              </a:rPr>
              <a:t>handles various data sources</a:t>
            </a:r>
            <a:r>
              <a:rPr lang="en-US" b="0" i="0" dirty="0">
                <a:solidFill>
                  <a:srgbClr val="222222"/>
                </a:solidFill>
                <a:effectLst/>
              </a:rPr>
              <a:t>. Data analysts should employ suitable techniques for every data source.</a:t>
            </a:r>
          </a:p>
          <a:p>
            <a:pPr algn="just">
              <a:buFont typeface="Arial" panose="020B0604020202020204" pitchFamily="34" charset="0"/>
              <a:buChar char="•"/>
            </a:pPr>
            <a:r>
              <a:rPr lang="en-US" b="1" i="0" dirty="0">
                <a:solidFill>
                  <a:srgbClr val="222222"/>
                </a:solidFill>
                <a:effectLst/>
              </a:rPr>
              <a:t>Data Transformation:</a:t>
            </a:r>
            <a:r>
              <a:rPr lang="en-US" b="0" i="0" dirty="0">
                <a:solidFill>
                  <a:srgbClr val="222222"/>
                </a:solidFill>
                <a:effectLst/>
              </a:rPr>
              <a:t> We tend to perform many individual tasks as a part of information transformation. First, we tend to </a:t>
            </a:r>
            <a:r>
              <a:rPr lang="en-US" b="1" i="0" dirty="0">
                <a:solidFill>
                  <a:srgbClr val="0000CC"/>
                </a:solidFill>
                <a:effectLst/>
              </a:rPr>
              <a:t>clean the info extracted from every source of data. </a:t>
            </a:r>
            <a:r>
              <a:rPr lang="en-US" b="0" i="0" dirty="0">
                <a:solidFill>
                  <a:srgbClr val="222222"/>
                </a:solidFill>
                <a:effectLst/>
              </a:rPr>
              <a:t>Once the data transformation performs ends, we’ve got a set of integrated information that’s </a:t>
            </a:r>
            <a:r>
              <a:rPr lang="en-US" b="1" i="0" dirty="0">
                <a:solidFill>
                  <a:srgbClr val="0000CC"/>
                </a:solidFill>
                <a:effectLst/>
              </a:rPr>
              <a:t>clean, standardized, and summarized.</a:t>
            </a:r>
          </a:p>
          <a:p>
            <a:pPr algn="just">
              <a:buFont typeface="Arial" panose="020B0604020202020204" pitchFamily="34" charset="0"/>
              <a:buChar char="•"/>
            </a:pPr>
            <a:r>
              <a:rPr lang="en-US" b="1" i="0" dirty="0">
                <a:solidFill>
                  <a:srgbClr val="222222"/>
                </a:solidFill>
                <a:effectLst/>
              </a:rPr>
              <a:t>Data Loading:</a:t>
            </a:r>
            <a:r>
              <a:rPr lang="en-US" b="0" i="0" dirty="0">
                <a:solidFill>
                  <a:srgbClr val="222222"/>
                </a:solidFill>
                <a:effectLst/>
              </a:rPr>
              <a:t> When we complete the structure and construction of the data warehouse we do the </a:t>
            </a:r>
            <a:r>
              <a:rPr lang="en-US" b="1" i="0" dirty="0">
                <a:solidFill>
                  <a:srgbClr val="0000CC"/>
                </a:solidFill>
                <a:effectLst/>
              </a:rPr>
              <a:t>initial loading of the data into the data warehouse storage. </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2" y="650408"/>
            <a:ext cx="11626129" cy="21205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i="0" dirty="0">
                <a:solidFill>
                  <a:srgbClr val="222222"/>
                </a:solidFill>
                <a:effectLst/>
              </a:rPr>
              <a:t>2. </a:t>
            </a:r>
            <a:r>
              <a:rPr lang="en-US" sz="2400" b="1" i="0" dirty="0">
                <a:solidFill>
                  <a:srgbClr val="FF0000"/>
                </a:solidFill>
                <a:effectLst/>
              </a:rPr>
              <a:t>Data Staging:</a:t>
            </a:r>
            <a:r>
              <a:rPr lang="en-US" sz="2400" dirty="0">
                <a:solidFill>
                  <a:srgbClr val="FF0000"/>
                </a:solidFill>
              </a:rPr>
              <a:t> </a:t>
            </a:r>
            <a:r>
              <a:rPr lang="en-US" sz="2400" b="0" i="0" dirty="0">
                <a:solidFill>
                  <a:srgbClr val="222222"/>
                </a:solidFill>
                <a:effectLst/>
              </a:rPr>
              <a:t>After the data is extracted from various sources, now it’s time to prepare the data files for storing in the data warehouse. The extracted data collected from various sources must be transformed and made ready in a format that is suitable to be saved in the data warehouse for querying and analysis. </a:t>
            </a:r>
          </a:p>
        </p:txBody>
      </p:sp>
      <p:pic>
        <p:nvPicPr>
          <p:cNvPr id="9" name="Picture 8">
            <a:extLst>
              <a:ext uri="{FF2B5EF4-FFF2-40B4-BE49-F238E27FC236}">
                <a16:creationId xmlns="" xmlns:a16="http://schemas.microsoft.com/office/drawing/2014/main" id="{635A7297-F33A-C967-587E-83542D644E1E}"/>
              </a:ext>
            </a:extLst>
          </p:cNvPr>
          <p:cNvPicPr>
            <a:picLocks noChangeAspect="1"/>
          </p:cNvPicPr>
          <p:nvPr/>
        </p:nvPicPr>
        <p:blipFill>
          <a:blip r:embed="rId3"/>
          <a:stretch>
            <a:fillRect/>
          </a:stretch>
        </p:blipFill>
        <p:spPr>
          <a:xfrm>
            <a:off x="1421823" y="2119745"/>
            <a:ext cx="8470322" cy="1828799"/>
          </a:xfrm>
          <a:prstGeom prst="rect">
            <a:avLst/>
          </a:prstGeom>
        </p:spPr>
      </p:pic>
    </p:spTree>
    <p:extLst>
      <p:ext uri="{BB962C8B-B14F-4D97-AF65-F5344CB8AC3E}">
        <p14:creationId xmlns:p14="http://schemas.microsoft.com/office/powerpoint/2010/main" val="2675385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1" y="2714732"/>
            <a:ext cx="11725275" cy="3492860"/>
          </a:xfrm>
        </p:spPr>
        <p:txBody>
          <a:bodyPr>
            <a:normAutofit lnSpcReduction="10000"/>
          </a:bodyPr>
          <a:lstStyle/>
          <a:p>
            <a:pPr algn="just">
              <a:buFont typeface="Arial" panose="020B0604020202020204" pitchFamily="34" charset="0"/>
              <a:buChar char="•"/>
            </a:pPr>
            <a:r>
              <a:rPr lang="en-US" b="1" i="0" dirty="0">
                <a:solidFill>
                  <a:srgbClr val="222222"/>
                </a:solidFill>
                <a:effectLst/>
              </a:rPr>
              <a:t>Metadata:</a:t>
            </a:r>
            <a:r>
              <a:rPr lang="en-US" b="0" i="0" dirty="0">
                <a:solidFill>
                  <a:srgbClr val="222222"/>
                </a:solidFill>
                <a:effectLst/>
              </a:rPr>
              <a:t> </a:t>
            </a:r>
            <a:r>
              <a:rPr lang="en-US" b="1" i="0" dirty="0">
                <a:solidFill>
                  <a:srgbClr val="0000CC"/>
                </a:solidFill>
                <a:effectLst/>
              </a:rPr>
              <a:t>Metadata means data about data</a:t>
            </a:r>
            <a:r>
              <a:rPr lang="en-US" b="0" i="0" dirty="0">
                <a:solidFill>
                  <a:srgbClr val="222222"/>
                </a:solidFill>
                <a:effectLst/>
              </a:rPr>
              <a:t> i.e. it summarizes basic details regarding data, creating findings &amp; operating with explicit instances of data.</a:t>
            </a:r>
          </a:p>
          <a:p>
            <a:pPr algn="just">
              <a:buFont typeface="Arial" panose="020B0604020202020204" pitchFamily="34" charset="0"/>
              <a:buChar char="•"/>
            </a:pPr>
            <a:r>
              <a:rPr lang="en-US" b="1" i="0" dirty="0">
                <a:solidFill>
                  <a:srgbClr val="222222"/>
                </a:solidFill>
                <a:effectLst/>
              </a:rPr>
              <a:t>Raw Data:</a:t>
            </a:r>
            <a:r>
              <a:rPr lang="en-US" b="0" i="0" dirty="0">
                <a:solidFill>
                  <a:srgbClr val="222222"/>
                </a:solidFill>
                <a:effectLst/>
              </a:rPr>
              <a:t> Raw data is a set of data and information </a:t>
            </a:r>
            <a:r>
              <a:rPr lang="en-US" b="1" i="0" dirty="0">
                <a:solidFill>
                  <a:srgbClr val="0000CC"/>
                </a:solidFill>
                <a:effectLst/>
              </a:rPr>
              <a:t>that has not yet been processed and was delivered from a particular data entity to the data supplier and hasn’t been processed by machine or human. </a:t>
            </a:r>
          </a:p>
          <a:p>
            <a:pPr algn="just">
              <a:buFont typeface="Arial" panose="020B0604020202020204" pitchFamily="34" charset="0"/>
              <a:buChar char="•"/>
            </a:pPr>
            <a:r>
              <a:rPr lang="en-US" b="1" i="0" dirty="0">
                <a:solidFill>
                  <a:srgbClr val="222222"/>
                </a:solidFill>
                <a:effectLst/>
              </a:rPr>
              <a:t>Summary Data or Data summary:</a:t>
            </a:r>
            <a:r>
              <a:rPr lang="en-US" b="0" i="0" dirty="0">
                <a:solidFill>
                  <a:srgbClr val="222222"/>
                </a:solidFill>
                <a:effectLst/>
              </a:rPr>
              <a:t> Data summary is an easy term for a brief conclusion of an enormous theory or a paragraph. </a:t>
            </a:r>
            <a:r>
              <a:rPr lang="en-US" b="1" i="0" dirty="0">
                <a:solidFill>
                  <a:srgbClr val="0000CC"/>
                </a:solidFill>
                <a:effectLst/>
              </a:rPr>
              <a:t>This is often one thing where analysts write the code and in the end, they declare the ultimate end in the form of summarizing data.</a:t>
            </a:r>
            <a:r>
              <a:rPr lang="en-US" b="0" i="0" dirty="0">
                <a:solidFill>
                  <a:srgbClr val="222222"/>
                </a:solidFill>
                <a:effectLst/>
              </a:rPr>
              <a:t> </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3" y="650408"/>
            <a:ext cx="9658782" cy="21660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222222"/>
                </a:solidFill>
                <a:effectLst/>
              </a:rPr>
              <a:t>3. </a:t>
            </a:r>
            <a:r>
              <a:rPr lang="en-US" b="1" i="0" dirty="0">
                <a:solidFill>
                  <a:srgbClr val="FF0000"/>
                </a:solidFill>
                <a:effectLst/>
              </a:rPr>
              <a:t>Data Storage in Warehouse</a:t>
            </a:r>
            <a:r>
              <a:rPr lang="en-US" b="1" i="0" dirty="0">
                <a:solidFill>
                  <a:srgbClr val="222222"/>
                </a:solidFill>
                <a:effectLst/>
              </a:rPr>
              <a:t>:</a:t>
            </a:r>
            <a:r>
              <a:rPr lang="en-US" dirty="0">
                <a:solidFill>
                  <a:srgbClr val="222222"/>
                </a:solidFill>
              </a:rPr>
              <a:t> </a:t>
            </a:r>
            <a:r>
              <a:rPr lang="en-US" b="0" i="0" dirty="0">
                <a:solidFill>
                  <a:srgbClr val="222222"/>
                </a:solidFill>
                <a:effectLst/>
              </a:rPr>
              <a:t>Data storage for data warehousing is split into multiple repositories.</a:t>
            </a:r>
          </a:p>
          <a:p>
            <a:pPr algn="just"/>
            <a:r>
              <a:rPr lang="en-US" b="0" i="0" dirty="0">
                <a:solidFill>
                  <a:srgbClr val="222222"/>
                </a:solidFill>
                <a:effectLst/>
              </a:rPr>
              <a:t> These data repositories contain structured data in a very highly </a:t>
            </a:r>
            <a:br>
              <a:rPr lang="en-US" b="0" i="0" dirty="0">
                <a:solidFill>
                  <a:srgbClr val="222222"/>
                </a:solidFill>
                <a:effectLst/>
              </a:rPr>
            </a:br>
            <a:r>
              <a:rPr lang="en-US" b="0" i="0" dirty="0">
                <a:solidFill>
                  <a:srgbClr val="222222"/>
                </a:solidFill>
                <a:effectLst/>
              </a:rPr>
              <a:t>normalized form for fast and efficient processing. </a:t>
            </a:r>
          </a:p>
        </p:txBody>
      </p:sp>
      <p:pic>
        <p:nvPicPr>
          <p:cNvPr id="5" name="Picture 4">
            <a:extLst>
              <a:ext uri="{FF2B5EF4-FFF2-40B4-BE49-F238E27FC236}">
                <a16:creationId xmlns="" xmlns:a16="http://schemas.microsoft.com/office/drawing/2014/main" id="{2FA65CE3-7EA6-4669-7844-19D61F443768}"/>
              </a:ext>
            </a:extLst>
          </p:cNvPr>
          <p:cNvPicPr>
            <a:picLocks noChangeAspect="1"/>
          </p:cNvPicPr>
          <p:nvPr/>
        </p:nvPicPr>
        <p:blipFill>
          <a:blip r:embed="rId2"/>
          <a:stretch>
            <a:fillRect/>
          </a:stretch>
        </p:blipFill>
        <p:spPr>
          <a:xfrm>
            <a:off x="9989127" y="470298"/>
            <a:ext cx="1969509" cy="1843412"/>
          </a:xfrm>
          <a:prstGeom prst="rect">
            <a:avLst/>
          </a:prstGeom>
        </p:spPr>
      </p:pic>
    </p:spTree>
    <p:extLst>
      <p:ext uri="{BB962C8B-B14F-4D97-AF65-F5344CB8AC3E}">
        <p14:creationId xmlns:p14="http://schemas.microsoft.com/office/powerpoint/2010/main" val="489954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5030638"/>
            <a:ext cx="11725275" cy="1305573"/>
          </a:xfrm>
        </p:spPr>
        <p:txBody>
          <a:bodyPr>
            <a:normAutofit fontScale="92500"/>
          </a:bodyPr>
          <a:lstStyle/>
          <a:p>
            <a:pPr algn="just">
              <a:buFont typeface="Arial" panose="020B0604020202020204" pitchFamily="34" charset="0"/>
              <a:buChar char="•"/>
            </a:pPr>
            <a:r>
              <a:rPr lang="en-US" b="1" i="0" dirty="0">
                <a:solidFill>
                  <a:srgbClr val="FF0000"/>
                </a:solidFill>
                <a:effectLst/>
              </a:rPr>
              <a:t>5. Users/Analysts</a:t>
            </a:r>
          </a:p>
          <a:p>
            <a:pPr algn="just">
              <a:buFont typeface="Arial" panose="020B0604020202020204" pitchFamily="34" charset="0"/>
              <a:buChar char="•"/>
            </a:pPr>
            <a:r>
              <a:rPr lang="en-US" b="0" i="0" dirty="0">
                <a:effectLst/>
              </a:rPr>
              <a:t>Now, the users and analysts can use data for various applications like </a:t>
            </a:r>
            <a:r>
              <a:rPr lang="en-US" b="1" i="0" dirty="0">
                <a:solidFill>
                  <a:srgbClr val="0000CC"/>
                </a:solidFill>
                <a:effectLst/>
              </a:rPr>
              <a:t>reporting, analyzing, mining, etc. </a:t>
            </a:r>
            <a:r>
              <a:rPr lang="en-US" b="0" i="0" dirty="0">
                <a:effectLst/>
              </a:rPr>
              <a:t>The data is made available to them whenever required.</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3" y="650407"/>
            <a:ext cx="8772092" cy="361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FF0000"/>
                </a:solidFill>
                <a:effectLst/>
              </a:rPr>
              <a:t>4. Data Marts:</a:t>
            </a:r>
            <a:endParaRPr lang="en-US" b="0" i="0" dirty="0">
              <a:solidFill>
                <a:srgbClr val="FF0000"/>
              </a:solidFill>
              <a:effectLst/>
            </a:endParaRPr>
          </a:p>
          <a:p>
            <a:pPr algn="just"/>
            <a:r>
              <a:rPr lang="en-US" b="0" i="0" dirty="0">
                <a:effectLst/>
              </a:rPr>
              <a:t>It can store the information of a specific function of an organization that is handled by a</a:t>
            </a:r>
            <a:br>
              <a:rPr lang="en-US" b="0" i="0" dirty="0">
                <a:effectLst/>
              </a:rPr>
            </a:br>
            <a:r>
              <a:rPr lang="en-US" b="0" i="0" dirty="0">
                <a:effectLst/>
              </a:rPr>
              <a:t>single authority. </a:t>
            </a:r>
            <a:endParaRPr lang="en-US" b="0" i="0" dirty="0" smtClean="0">
              <a:effectLst/>
            </a:endParaRPr>
          </a:p>
          <a:p>
            <a:pPr algn="just"/>
            <a:r>
              <a:rPr lang="en-US" dirty="0"/>
              <a:t>We can also say that data mart contains subset of the data stored in </a:t>
            </a:r>
            <a:r>
              <a:rPr lang="en-US" dirty="0" smtClean="0"/>
              <a:t>data warehouse</a:t>
            </a:r>
            <a:r>
              <a:rPr lang="en-US" dirty="0"/>
              <a:t>. </a:t>
            </a:r>
            <a:endParaRPr lang="en-US" b="0" i="0" dirty="0">
              <a:effectLst/>
            </a:endParaRPr>
          </a:p>
          <a:p>
            <a:pPr algn="just"/>
            <a:r>
              <a:rPr lang="en-US" b="0" i="0" dirty="0">
                <a:effectLst/>
              </a:rPr>
              <a:t>There may be any number of data marts in a particular organization depending upon the functions. In short, data marts contain subsets of the data stored in data warehouses.</a:t>
            </a:r>
          </a:p>
        </p:txBody>
      </p:sp>
      <p:pic>
        <p:nvPicPr>
          <p:cNvPr id="7" name="Picture 6">
            <a:extLst>
              <a:ext uri="{FF2B5EF4-FFF2-40B4-BE49-F238E27FC236}">
                <a16:creationId xmlns="" xmlns:a16="http://schemas.microsoft.com/office/drawing/2014/main" id="{53149FEA-6820-F560-2A15-C3BC9B37DDA5}"/>
              </a:ext>
            </a:extLst>
          </p:cNvPr>
          <p:cNvPicPr>
            <a:picLocks noChangeAspect="1"/>
          </p:cNvPicPr>
          <p:nvPr/>
        </p:nvPicPr>
        <p:blipFill>
          <a:blip r:embed="rId2"/>
          <a:stretch>
            <a:fillRect/>
          </a:stretch>
        </p:blipFill>
        <p:spPr>
          <a:xfrm>
            <a:off x="9243578" y="698789"/>
            <a:ext cx="2352675" cy="3562350"/>
          </a:xfrm>
          <a:prstGeom prst="rect">
            <a:avLst/>
          </a:prstGeom>
        </p:spPr>
      </p:pic>
    </p:spTree>
    <p:extLst>
      <p:ext uri="{BB962C8B-B14F-4D97-AF65-F5344CB8AC3E}">
        <p14:creationId xmlns:p14="http://schemas.microsoft.com/office/powerpoint/2010/main" val="36159041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097490" cy="5694217"/>
          </a:xfrm>
        </p:spPr>
        <p:txBody>
          <a:bodyPr>
            <a:normAutofit/>
          </a:bodyPr>
          <a:lstStyle/>
          <a:p>
            <a:pPr algn="just"/>
            <a:r>
              <a:rPr lang="en-US" b="1" i="0" dirty="0">
                <a:effectLst/>
              </a:rPr>
              <a:t>OLAP</a:t>
            </a:r>
            <a:r>
              <a:rPr lang="en-US" b="0" i="0" dirty="0">
                <a:effectLst/>
              </a:rPr>
              <a:t> stands for </a:t>
            </a:r>
            <a:r>
              <a:rPr lang="en-US" b="1" i="0" dirty="0">
                <a:effectLst/>
              </a:rPr>
              <a:t>On-Line Analytical Processing</a:t>
            </a:r>
            <a:r>
              <a:rPr lang="en-US" b="0" i="0" dirty="0">
                <a:effectLst/>
              </a:rPr>
              <a:t>. OLAP is a classification of </a:t>
            </a:r>
            <a:r>
              <a:rPr lang="en-US" b="1" i="0" dirty="0">
                <a:solidFill>
                  <a:srgbClr val="0000CC"/>
                </a:solidFill>
                <a:effectLst/>
              </a:rPr>
              <a:t>software technology which authorizes analysts, managers, and executives to gain insight into information through fast, consistent, interactive access in a wide variety of possible views of data </a:t>
            </a:r>
            <a:r>
              <a:rPr lang="en-US" b="0" i="0" dirty="0">
                <a:effectLst/>
              </a:rPr>
              <a:t>that has been transformed from raw information to reflect the real dimensionality of the enterprise as understood by the clients.</a:t>
            </a:r>
          </a:p>
          <a:p>
            <a:pPr algn="just"/>
            <a:r>
              <a:rPr lang="en-US" b="1" i="0" dirty="0">
                <a:effectLst/>
              </a:rPr>
              <a:t>OLAP</a:t>
            </a:r>
            <a:r>
              <a:rPr lang="en-US" b="0" i="0" dirty="0">
                <a:effectLst/>
              </a:rPr>
              <a:t> </a:t>
            </a:r>
            <a:r>
              <a:rPr lang="en-US" b="1" i="0" dirty="0">
                <a:solidFill>
                  <a:srgbClr val="0000CC"/>
                </a:solidFill>
                <a:effectLst/>
              </a:rPr>
              <a:t>implement the multidimensional analysis of business information and support the capability for complex estimations, trend analysis, and sophisticated data modeling.</a:t>
            </a:r>
          </a:p>
          <a:p>
            <a:pPr algn="just"/>
            <a:r>
              <a:rPr lang="en-US" b="0" i="0" dirty="0">
                <a:effectLst/>
              </a:rPr>
              <a:t>It is rapidly enhancing the </a:t>
            </a:r>
            <a:r>
              <a:rPr lang="en-US" b="1" i="0" dirty="0">
                <a:solidFill>
                  <a:srgbClr val="0000CC"/>
                </a:solidFill>
                <a:effectLst/>
              </a:rPr>
              <a:t>essential foundation for Intelligent Solutions containing Business Performance Management, Planning, Budgeting, Forecasting, Financial Documenting, Analysis, Simulation-Models, Knowledge Discovery, and Data Warehouses Reporting</a:t>
            </a:r>
            <a:r>
              <a:rPr lang="en-US" b="0" i="0" dirty="0">
                <a:effectLst/>
              </a:rPr>
              <a:t>.</a:t>
            </a:r>
            <a:endParaRPr lang="en-US" dirty="0"/>
          </a:p>
        </p:txBody>
      </p:sp>
    </p:spTree>
    <p:extLst>
      <p:ext uri="{BB962C8B-B14F-4D97-AF65-F5344CB8AC3E}">
        <p14:creationId xmlns:p14="http://schemas.microsoft.com/office/powerpoint/2010/main" val="2152251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6241471" cy="5800146"/>
          </a:xfrm>
        </p:spPr>
        <p:txBody>
          <a:bodyPr>
            <a:normAutofit fontScale="85000" lnSpcReduction="20000"/>
          </a:bodyPr>
          <a:lstStyle/>
          <a:p>
            <a:pPr algn="just"/>
            <a:r>
              <a:rPr lang="en-US" b="1" i="0" dirty="0">
                <a:effectLst/>
              </a:rPr>
              <a:t>How OLAP systems work</a:t>
            </a:r>
          </a:p>
          <a:p>
            <a:pPr algn="just"/>
            <a:r>
              <a:rPr lang="en-US" i="0" dirty="0">
                <a:effectLst/>
              </a:rPr>
              <a:t>To facilitate this kind of analysis, </a:t>
            </a:r>
            <a:r>
              <a:rPr lang="en-US" b="1" i="0" dirty="0">
                <a:solidFill>
                  <a:srgbClr val="0000CC"/>
                </a:solidFill>
                <a:effectLst/>
              </a:rPr>
              <a:t>data is collected from multiple data sources and stored in data warehouses then cleansed and organized into data cubes. </a:t>
            </a:r>
          </a:p>
          <a:p>
            <a:pPr algn="just"/>
            <a:r>
              <a:rPr lang="en-US" i="0" dirty="0">
                <a:effectLst/>
              </a:rPr>
              <a:t>Each </a:t>
            </a:r>
            <a:r>
              <a:rPr lang="en-US" b="1" i="0" dirty="0">
                <a:solidFill>
                  <a:srgbClr val="0000CC"/>
                </a:solidFill>
                <a:effectLst/>
              </a:rPr>
              <a:t>OLAP cube contains data categorized by dimensions (such as customers, geographic sales region and time period) </a:t>
            </a:r>
            <a:r>
              <a:rPr lang="en-US" i="0" dirty="0">
                <a:effectLst/>
              </a:rPr>
              <a:t>derived by dimensional tables in the data warehouses. </a:t>
            </a:r>
          </a:p>
          <a:p>
            <a:pPr algn="just"/>
            <a:r>
              <a:rPr lang="en-US" i="0" dirty="0">
                <a:effectLst/>
              </a:rPr>
              <a:t>Dimensions are then populated by members (such as customer names, countries and months) that are organized hierarchically. </a:t>
            </a:r>
          </a:p>
          <a:p>
            <a:pPr algn="just"/>
            <a:r>
              <a:rPr lang="en-US" b="1" i="0" dirty="0">
                <a:effectLst/>
              </a:rPr>
              <a:t>OLAP cubes are often pre-summarized across dimensions </a:t>
            </a:r>
            <a:r>
              <a:rPr lang="en-US" i="0" dirty="0">
                <a:effectLst/>
              </a:rPr>
              <a:t>to drastically improve query time over relational databases.</a:t>
            </a:r>
          </a:p>
          <a:p>
            <a:pPr algn="just"/>
            <a:r>
              <a:rPr lang="en-US" b="0" i="0" dirty="0">
                <a:effectLst/>
              </a:rPr>
              <a:t>A data cube is </a:t>
            </a:r>
            <a:r>
              <a:rPr lang="en-US" b="1" i="0" dirty="0">
                <a:effectLst/>
              </a:rPr>
              <a:t>a multi-dimensional array of values used to bring together data to be organized and modeled for analysis</a:t>
            </a:r>
            <a:r>
              <a:rPr lang="en-US" b="0" i="0" dirty="0">
                <a:effectLst/>
              </a:rPr>
              <a:t>.</a:t>
            </a:r>
            <a:endParaRPr lang="en-US" i="0" dirty="0">
              <a:effectLst/>
            </a:endParaRPr>
          </a:p>
        </p:txBody>
      </p:sp>
      <p:pic>
        <p:nvPicPr>
          <p:cNvPr id="5" name="Picture 4">
            <a:extLst>
              <a:ext uri="{FF2B5EF4-FFF2-40B4-BE49-F238E27FC236}">
                <a16:creationId xmlns="" xmlns:a16="http://schemas.microsoft.com/office/drawing/2014/main" id="{51AA77F6-1B1C-E09A-384B-1DE6A0ABB870}"/>
              </a:ext>
            </a:extLst>
          </p:cNvPr>
          <p:cNvPicPr>
            <a:picLocks noChangeAspect="1"/>
          </p:cNvPicPr>
          <p:nvPr/>
        </p:nvPicPr>
        <p:blipFill>
          <a:blip r:embed="rId2"/>
          <a:stretch>
            <a:fillRect/>
          </a:stretch>
        </p:blipFill>
        <p:spPr>
          <a:xfrm>
            <a:off x="6497781" y="1200150"/>
            <a:ext cx="5437908" cy="5048250"/>
          </a:xfrm>
          <a:prstGeom prst="rect">
            <a:avLst/>
          </a:prstGeom>
        </p:spPr>
      </p:pic>
    </p:spTree>
    <p:extLst>
      <p:ext uri="{BB962C8B-B14F-4D97-AF65-F5344CB8AC3E}">
        <p14:creationId xmlns:p14="http://schemas.microsoft.com/office/powerpoint/2010/main" val="3652555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lnSpcReduction="10000"/>
          </a:bodyPr>
          <a:lstStyle/>
          <a:p>
            <a:pPr algn="just"/>
            <a:r>
              <a:rPr lang="en-US" i="0" dirty="0">
                <a:effectLst/>
              </a:rPr>
              <a:t>Analysts can then perform five types of OLAP analytical operations against multidimensional databases:</a:t>
            </a:r>
          </a:p>
          <a:p>
            <a:pPr algn="just"/>
            <a:r>
              <a:rPr lang="en-US" b="1" i="0" dirty="0">
                <a:effectLst/>
              </a:rPr>
              <a:t>Roll-up.</a:t>
            </a:r>
            <a:r>
              <a:rPr lang="en-US" i="0" dirty="0">
                <a:effectLst/>
              </a:rPr>
              <a:t> Also known as </a:t>
            </a:r>
            <a:r>
              <a:rPr lang="en-US" i="0" dirty="0" smtClean="0">
                <a:effectLst/>
              </a:rPr>
              <a:t>consolidation, </a:t>
            </a:r>
            <a:r>
              <a:rPr lang="en-US" b="1" i="0" dirty="0" smtClean="0">
                <a:solidFill>
                  <a:srgbClr val="0000CC"/>
                </a:solidFill>
                <a:effectLst/>
              </a:rPr>
              <a:t>this </a:t>
            </a:r>
            <a:r>
              <a:rPr lang="en-US" b="1" i="0" dirty="0">
                <a:solidFill>
                  <a:srgbClr val="0000CC"/>
                </a:solidFill>
                <a:effectLst/>
              </a:rPr>
              <a:t>operation summarizes the data along the dimension.</a:t>
            </a:r>
          </a:p>
          <a:p>
            <a:pPr algn="just"/>
            <a:r>
              <a:rPr lang="en-US" b="1" i="0" dirty="0">
                <a:effectLst/>
              </a:rPr>
              <a:t>Drill-down.</a:t>
            </a:r>
            <a:r>
              <a:rPr lang="en-US" i="0" dirty="0">
                <a:effectLst/>
              </a:rPr>
              <a:t> </a:t>
            </a:r>
            <a:r>
              <a:rPr lang="en-US" b="1" i="0" dirty="0">
                <a:solidFill>
                  <a:srgbClr val="0000CC"/>
                </a:solidFill>
                <a:effectLst/>
              </a:rPr>
              <a:t>This allows analysts to navigate deeper among the dimensions of data, </a:t>
            </a:r>
            <a:r>
              <a:rPr lang="en-US" i="0" dirty="0">
                <a:effectLst/>
              </a:rPr>
              <a:t>for example drilling down from "time period" to "years" and "months" to chart sales growth for a product.</a:t>
            </a:r>
          </a:p>
          <a:p>
            <a:pPr algn="just"/>
            <a:r>
              <a:rPr lang="en-US" b="1" i="0" dirty="0">
                <a:effectLst/>
              </a:rPr>
              <a:t>Slice.</a:t>
            </a:r>
            <a:r>
              <a:rPr lang="en-US" i="0" dirty="0">
                <a:effectLst/>
              </a:rPr>
              <a:t> </a:t>
            </a:r>
            <a:r>
              <a:rPr lang="en-US" b="1" i="0" dirty="0">
                <a:solidFill>
                  <a:srgbClr val="0000CC"/>
                </a:solidFill>
                <a:effectLst/>
              </a:rPr>
              <a:t>This enables an analyst to take one level of information for display, such as "sales in 2017."</a:t>
            </a:r>
          </a:p>
          <a:p>
            <a:pPr algn="just"/>
            <a:r>
              <a:rPr lang="en-US" b="1" i="0" dirty="0">
                <a:effectLst/>
              </a:rPr>
              <a:t>Dice.</a:t>
            </a:r>
            <a:r>
              <a:rPr lang="en-US" i="0" dirty="0">
                <a:effectLst/>
              </a:rPr>
              <a:t> </a:t>
            </a:r>
            <a:r>
              <a:rPr lang="en-US" b="1" i="0" dirty="0">
                <a:solidFill>
                  <a:srgbClr val="0000CC"/>
                </a:solidFill>
                <a:effectLst/>
              </a:rPr>
              <a:t>This allows an analyst to select data from multiple dimensions to analyze, such as "sales of blue beach balls in Iowa in 2017."</a:t>
            </a:r>
          </a:p>
          <a:p>
            <a:pPr algn="just"/>
            <a:r>
              <a:rPr lang="en-US" b="1" i="0" dirty="0">
                <a:effectLst/>
              </a:rPr>
              <a:t>Pivot.</a:t>
            </a:r>
            <a:r>
              <a:rPr lang="en-US" i="0" dirty="0">
                <a:effectLst/>
              </a:rPr>
              <a:t> </a:t>
            </a:r>
            <a:r>
              <a:rPr lang="en-US" b="1" i="0" dirty="0">
                <a:solidFill>
                  <a:srgbClr val="0000CC"/>
                </a:solidFill>
                <a:effectLst/>
              </a:rPr>
              <a:t>Analysts can gain a new view of data by rotating the data axes of the cube.</a:t>
            </a:r>
            <a:endParaRPr lang="en-US" b="1" dirty="0">
              <a:solidFill>
                <a:srgbClr val="0000CC"/>
              </a:solidFill>
            </a:endParaRPr>
          </a:p>
        </p:txBody>
      </p:sp>
    </p:spTree>
    <p:extLst>
      <p:ext uri="{BB962C8B-B14F-4D97-AF65-F5344CB8AC3E}">
        <p14:creationId xmlns:p14="http://schemas.microsoft.com/office/powerpoint/2010/main" val="3849995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a:bodyPr>
          <a:lstStyle/>
          <a:p>
            <a:pPr algn="just"/>
            <a:r>
              <a:rPr lang="en-US" i="0" dirty="0">
                <a:effectLst/>
              </a:rPr>
              <a:t>Analysts can then perform five types of OLAP analytical operations against multidimensional databases:</a:t>
            </a:r>
          </a:p>
          <a:p>
            <a:pPr algn="just"/>
            <a:r>
              <a:rPr lang="en-US" b="1" i="0" dirty="0">
                <a:effectLst/>
              </a:rPr>
              <a:t>Roll-up.</a:t>
            </a:r>
            <a:r>
              <a:rPr lang="en-US" i="0" dirty="0">
                <a:effectLst/>
              </a:rPr>
              <a:t> Also known as </a:t>
            </a:r>
            <a:r>
              <a:rPr lang="en-US" b="1" i="0" dirty="0">
                <a:solidFill>
                  <a:srgbClr val="333333"/>
                </a:solidFill>
                <a:effectLst/>
                <a:latin typeface="inter-bold"/>
              </a:rPr>
              <a:t>aggregation operation </a:t>
            </a:r>
            <a:r>
              <a:rPr lang="en-US" i="0" dirty="0">
                <a:effectLst/>
              </a:rPr>
              <a:t>or drill-up, </a:t>
            </a:r>
            <a:r>
              <a:rPr lang="en-US" b="1" i="0" dirty="0">
                <a:solidFill>
                  <a:srgbClr val="0000CC"/>
                </a:solidFill>
                <a:effectLst/>
              </a:rPr>
              <a:t>this operation summarizes the data along the dimension.</a:t>
            </a:r>
          </a:p>
        </p:txBody>
      </p:sp>
      <p:graphicFrame>
        <p:nvGraphicFramePr>
          <p:cNvPr id="4" name="Table 3">
            <a:extLst>
              <a:ext uri="{FF2B5EF4-FFF2-40B4-BE49-F238E27FC236}">
                <a16:creationId xmlns="" xmlns:a16="http://schemas.microsoft.com/office/drawing/2014/main" id="{4EB22BEC-151C-58E5-5290-B8BF6685CA08}"/>
              </a:ext>
            </a:extLst>
          </p:cNvPr>
          <p:cNvGraphicFramePr>
            <a:graphicFrameLocks noGrp="1"/>
          </p:cNvGraphicFramePr>
          <p:nvPr>
            <p:extLst>
              <p:ext uri="{D42A27DB-BD31-4B8C-83A1-F6EECF244321}">
                <p14:modId xmlns:p14="http://schemas.microsoft.com/office/powerpoint/2010/main" val="131980587"/>
              </p:ext>
            </p:extLst>
          </p:nvPr>
        </p:nvGraphicFramePr>
        <p:xfrm>
          <a:off x="374072" y="2855524"/>
          <a:ext cx="6040582" cy="1188720"/>
        </p:xfrm>
        <a:graphic>
          <a:graphicData uri="http://schemas.openxmlformats.org/drawingml/2006/table">
            <a:tbl>
              <a:tblPr/>
              <a:tblGrid>
                <a:gridCol w="1318491">
                  <a:extLst>
                    <a:ext uri="{9D8B030D-6E8A-4147-A177-3AD203B41FA5}">
                      <a16:colId xmlns="" xmlns:a16="http://schemas.microsoft.com/office/drawing/2014/main" val="1680560074"/>
                    </a:ext>
                  </a:extLst>
                </a:gridCol>
                <a:gridCol w="371764">
                  <a:extLst>
                    <a:ext uri="{9D8B030D-6E8A-4147-A177-3AD203B41FA5}">
                      <a16:colId xmlns="" xmlns:a16="http://schemas.microsoft.com/office/drawing/2014/main" val="2733114896"/>
                    </a:ext>
                  </a:extLst>
                </a:gridCol>
                <a:gridCol w="374073">
                  <a:extLst>
                    <a:ext uri="{9D8B030D-6E8A-4147-A177-3AD203B41FA5}">
                      <a16:colId xmlns="" xmlns:a16="http://schemas.microsoft.com/office/drawing/2014/main" val="1752935421"/>
                    </a:ext>
                  </a:extLst>
                </a:gridCol>
                <a:gridCol w="374073">
                  <a:extLst>
                    <a:ext uri="{9D8B030D-6E8A-4147-A177-3AD203B41FA5}">
                      <a16:colId xmlns="" xmlns:a16="http://schemas.microsoft.com/office/drawing/2014/main" val="902600457"/>
                    </a:ext>
                  </a:extLst>
                </a:gridCol>
                <a:gridCol w="401782">
                  <a:extLst>
                    <a:ext uri="{9D8B030D-6E8A-4147-A177-3AD203B41FA5}">
                      <a16:colId xmlns="" xmlns:a16="http://schemas.microsoft.com/office/drawing/2014/main" val="1136254105"/>
                    </a:ext>
                  </a:extLst>
                </a:gridCol>
                <a:gridCol w="374072">
                  <a:extLst>
                    <a:ext uri="{9D8B030D-6E8A-4147-A177-3AD203B41FA5}">
                      <a16:colId xmlns="" xmlns:a16="http://schemas.microsoft.com/office/drawing/2014/main" val="2865990727"/>
                    </a:ext>
                  </a:extLst>
                </a:gridCol>
                <a:gridCol w="360218">
                  <a:extLst>
                    <a:ext uri="{9D8B030D-6E8A-4147-A177-3AD203B41FA5}">
                      <a16:colId xmlns="" xmlns:a16="http://schemas.microsoft.com/office/drawing/2014/main" val="2404142149"/>
                    </a:ext>
                  </a:extLst>
                </a:gridCol>
                <a:gridCol w="429491">
                  <a:extLst>
                    <a:ext uri="{9D8B030D-6E8A-4147-A177-3AD203B41FA5}">
                      <a16:colId xmlns="" xmlns:a16="http://schemas.microsoft.com/office/drawing/2014/main" val="4005046266"/>
                    </a:ext>
                  </a:extLst>
                </a:gridCol>
                <a:gridCol w="415636">
                  <a:extLst>
                    <a:ext uri="{9D8B030D-6E8A-4147-A177-3AD203B41FA5}">
                      <a16:colId xmlns="" xmlns:a16="http://schemas.microsoft.com/office/drawing/2014/main" val="1664534936"/>
                    </a:ext>
                  </a:extLst>
                </a:gridCol>
                <a:gridCol w="415637">
                  <a:extLst>
                    <a:ext uri="{9D8B030D-6E8A-4147-A177-3AD203B41FA5}">
                      <a16:colId xmlns="" xmlns:a16="http://schemas.microsoft.com/office/drawing/2014/main" val="3571637611"/>
                    </a:ext>
                  </a:extLst>
                </a:gridCol>
                <a:gridCol w="401781">
                  <a:extLst>
                    <a:ext uri="{9D8B030D-6E8A-4147-A177-3AD203B41FA5}">
                      <a16:colId xmlns="" xmlns:a16="http://schemas.microsoft.com/office/drawing/2014/main" val="1111704504"/>
                    </a:ext>
                  </a:extLst>
                </a:gridCol>
                <a:gridCol w="415637">
                  <a:extLst>
                    <a:ext uri="{9D8B030D-6E8A-4147-A177-3AD203B41FA5}">
                      <a16:colId xmlns="" xmlns:a16="http://schemas.microsoft.com/office/drawing/2014/main" val="3799094018"/>
                    </a:ext>
                  </a:extLst>
                </a:gridCol>
                <a:gridCol w="387927">
                  <a:extLst>
                    <a:ext uri="{9D8B030D-6E8A-4147-A177-3AD203B41FA5}">
                      <a16:colId xmlns="" xmlns:a16="http://schemas.microsoft.com/office/drawing/2014/main" val="264953775"/>
                    </a:ext>
                  </a:extLst>
                </a:gridCol>
              </a:tblGrid>
              <a:tr h="0">
                <a:tc>
                  <a:txBody>
                    <a:bodyPr/>
                    <a:lstStyle/>
                    <a:p>
                      <a:pPr algn="just" fontAlgn="t"/>
                      <a:r>
                        <a:rPr lang="en-US" sz="1600" b="1" dirty="0">
                          <a:solidFill>
                            <a:schemeClr val="tx1"/>
                          </a:solidFill>
                          <a:effectLst/>
                          <a:latin typeface="+mn-lt"/>
                        </a:rPr>
                        <a:t>Temperature</a:t>
                      </a:r>
                      <a:endParaRPr lang="en-US" sz="1600" dirty="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69</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71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53647152"/>
                  </a:ext>
                </a:extLst>
              </a:tr>
              <a:tr h="0">
                <a:tc>
                  <a:txBody>
                    <a:bodyPr/>
                    <a:lstStyle/>
                    <a:p>
                      <a:pPr algn="just" fontAlgn="t"/>
                      <a:r>
                        <a:rPr lang="en-US" sz="1600" b="1" dirty="0">
                          <a:solidFill>
                            <a:schemeClr val="tx1"/>
                          </a:solidFill>
                          <a:effectLst/>
                          <a:latin typeface="+mn-lt"/>
                        </a:rPr>
                        <a:t>Week1</a:t>
                      </a:r>
                      <a:endParaRPr lang="en-US" sz="1600" dirty="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938420063"/>
                  </a:ext>
                </a:extLst>
              </a:tr>
              <a:tr h="0">
                <a:tc>
                  <a:txBody>
                    <a:bodyPr/>
                    <a:lstStyle/>
                    <a:p>
                      <a:pPr algn="just" fontAlgn="t"/>
                      <a:r>
                        <a:rPr lang="en-US" sz="1600" b="1">
                          <a:solidFill>
                            <a:schemeClr val="tx1"/>
                          </a:solidFill>
                          <a:effectLst/>
                          <a:latin typeface="+mn-lt"/>
                        </a:rPr>
                        <a:t>Week2</a:t>
                      </a:r>
                      <a:endParaRPr lang="en-US" sz="160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598890129"/>
                  </a:ext>
                </a:extLst>
              </a:tr>
            </a:tbl>
          </a:graphicData>
        </a:graphic>
      </p:graphicFrame>
      <p:graphicFrame>
        <p:nvGraphicFramePr>
          <p:cNvPr id="5" name="Table 4">
            <a:extLst>
              <a:ext uri="{FF2B5EF4-FFF2-40B4-BE49-F238E27FC236}">
                <a16:creationId xmlns="" xmlns:a16="http://schemas.microsoft.com/office/drawing/2014/main" id="{B0751619-B595-9E54-4478-68E66210E4E2}"/>
              </a:ext>
            </a:extLst>
          </p:cNvPr>
          <p:cNvGraphicFramePr>
            <a:graphicFrameLocks noGrp="1"/>
          </p:cNvGraphicFramePr>
          <p:nvPr>
            <p:extLst>
              <p:ext uri="{D42A27DB-BD31-4B8C-83A1-F6EECF244321}">
                <p14:modId xmlns:p14="http://schemas.microsoft.com/office/powerpoint/2010/main" val="2368934828"/>
              </p:ext>
            </p:extLst>
          </p:nvPr>
        </p:nvGraphicFramePr>
        <p:xfrm>
          <a:off x="7587392" y="2771704"/>
          <a:ext cx="3537809" cy="1356360"/>
        </p:xfrm>
        <a:graphic>
          <a:graphicData uri="http://schemas.openxmlformats.org/drawingml/2006/table">
            <a:tbl>
              <a:tblPr/>
              <a:tblGrid>
                <a:gridCol w="1445772">
                  <a:extLst>
                    <a:ext uri="{9D8B030D-6E8A-4147-A177-3AD203B41FA5}">
                      <a16:colId xmlns="" xmlns:a16="http://schemas.microsoft.com/office/drawing/2014/main" val="2166529608"/>
                    </a:ext>
                  </a:extLst>
                </a:gridCol>
                <a:gridCol w="734291">
                  <a:extLst>
                    <a:ext uri="{9D8B030D-6E8A-4147-A177-3AD203B41FA5}">
                      <a16:colId xmlns="" xmlns:a16="http://schemas.microsoft.com/office/drawing/2014/main" val="2932384588"/>
                    </a:ext>
                  </a:extLst>
                </a:gridCol>
                <a:gridCol w="720436">
                  <a:extLst>
                    <a:ext uri="{9D8B030D-6E8A-4147-A177-3AD203B41FA5}">
                      <a16:colId xmlns="" xmlns:a16="http://schemas.microsoft.com/office/drawing/2014/main" val="494711700"/>
                    </a:ext>
                  </a:extLst>
                </a:gridCol>
                <a:gridCol w="637310">
                  <a:extLst>
                    <a:ext uri="{9D8B030D-6E8A-4147-A177-3AD203B41FA5}">
                      <a16:colId xmlns="" xmlns:a16="http://schemas.microsoft.com/office/drawing/2014/main" val="1667021993"/>
                    </a:ext>
                  </a:extLst>
                </a:gridCol>
              </a:tblGrid>
              <a:tr h="0">
                <a:tc>
                  <a:txBody>
                    <a:bodyPr/>
                    <a:lstStyle/>
                    <a:p>
                      <a:pPr algn="l" fontAlgn="t"/>
                      <a:r>
                        <a:rPr lang="en-US" b="1" dirty="0">
                          <a:solidFill>
                            <a:schemeClr val="tx1"/>
                          </a:solidFill>
                          <a:effectLst/>
                          <a:latin typeface="+mn-lt"/>
                        </a:rPr>
                        <a:t>Temperature</a:t>
                      </a:r>
                      <a:endParaRPr lang="en-US" dirty="0">
                        <a:solidFill>
                          <a:schemeClr val="tx1"/>
                        </a:solidFill>
                        <a:effectLst/>
                        <a:latin typeface="+mn-lt"/>
                      </a:endParaRP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chemeClr val="tx1"/>
                          </a:solidFill>
                          <a:effectLst/>
                          <a:latin typeface="+mn-lt"/>
                        </a:rPr>
                        <a:t>cool</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chemeClr val="tx1"/>
                          </a:solidFill>
                          <a:effectLst/>
                          <a:latin typeface="+mn-lt"/>
                        </a:rPr>
                        <a:t>mild</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dirty="0">
                          <a:solidFill>
                            <a:schemeClr val="tx1"/>
                          </a:solidFill>
                          <a:effectLst/>
                          <a:latin typeface="+mn-lt"/>
                        </a:rPr>
                        <a:t>hot</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3393847967"/>
                  </a:ext>
                </a:extLst>
              </a:tr>
              <a:tr h="0">
                <a:tc>
                  <a:txBody>
                    <a:bodyPr/>
                    <a:lstStyle/>
                    <a:p>
                      <a:pPr algn="just" fontAlgn="t"/>
                      <a:r>
                        <a:rPr lang="en-US" b="1">
                          <a:solidFill>
                            <a:schemeClr val="tx1"/>
                          </a:solidFill>
                          <a:effectLst/>
                          <a:latin typeface="+mn-lt"/>
                        </a:rPr>
                        <a:t>Week1</a:t>
                      </a:r>
                      <a:endParaRPr lang="en-US">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980378699"/>
                  </a:ext>
                </a:extLst>
              </a:tr>
              <a:tr h="0">
                <a:tc>
                  <a:txBody>
                    <a:bodyPr/>
                    <a:lstStyle/>
                    <a:p>
                      <a:pPr algn="just" fontAlgn="t"/>
                      <a:r>
                        <a:rPr lang="en-US" b="1">
                          <a:solidFill>
                            <a:schemeClr val="tx1"/>
                          </a:solidFill>
                          <a:effectLst/>
                          <a:latin typeface="+mn-lt"/>
                        </a:rPr>
                        <a:t>Week2</a:t>
                      </a:r>
                      <a:endParaRPr lang="en-US">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726933313"/>
                  </a:ext>
                </a:extLst>
              </a:tr>
            </a:tbl>
          </a:graphicData>
        </a:graphic>
      </p:graphicFrame>
      <p:sp>
        <p:nvSpPr>
          <p:cNvPr id="6" name="Content Placeholder 2">
            <a:extLst>
              <a:ext uri="{FF2B5EF4-FFF2-40B4-BE49-F238E27FC236}">
                <a16:creationId xmlns="" xmlns:a16="http://schemas.microsoft.com/office/drawing/2014/main" id="{D8F0B564-5C28-9577-0226-3E1CF9C195E9}"/>
              </a:ext>
            </a:extLst>
          </p:cNvPr>
          <p:cNvSpPr txBox="1">
            <a:spLocks/>
          </p:cNvSpPr>
          <p:nvPr/>
        </p:nvSpPr>
        <p:spPr>
          <a:xfrm>
            <a:off x="233363" y="4360936"/>
            <a:ext cx="11725275" cy="20952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effectLst/>
              </a:rPr>
              <a:t>Consider that we want to </a:t>
            </a:r>
            <a:r>
              <a:rPr lang="en-US" b="1" i="0" dirty="0">
                <a:solidFill>
                  <a:srgbClr val="0000CC"/>
                </a:solidFill>
                <a:effectLst/>
              </a:rPr>
              <a:t>set up levels (hot (80-85), mild (70-75), cool (64-69)) </a:t>
            </a:r>
            <a:r>
              <a:rPr lang="en-US" b="0" i="0" dirty="0">
                <a:effectLst/>
              </a:rPr>
              <a:t>in temperature from the above cubes.</a:t>
            </a:r>
          </a:p>
          <a:p>
            <a:pPr algn="just"/>
            <a:r>
              <a:rPr lang="en-US" b="0" i="0" dirty="0">
                <a:effectLst/>
              </a:rPr>
              <a:t>To do this, </a:t>
            </a:r>
            <a:r>
              <a:rPr lang="en-US" b="1" i="0" dirty="0">
                <a:solidFill>
                  <a:srgbClr val="0000CC"/>
                </a:solidFill>
                <a:effectLst/>
              </a:rPr>
              <a:t>we have to group column and add up the value according to the concept hierarchies. </a:t>
            </a:r>
          </a:p>
          <a:p>
            <a:pPr algn="just"/>
            <a:r>
              <a:rPr lang="en-US" b="0" i="0" dirty="0">
                <a:effectLst/>
              </a:rPr>
              <a:t>This </a:t>
            </a:r>
            <a:r>
              <a:rPr lang="en-US" b="1" i="0" dirty="0">
                <a:solidFill>
                  <a:srgbClr val="0000CC"/>
                </a:solidFill>
                <a:effectLst/>
              </a:rPr>
              <a:t>operation is known as a roll-up.</a:t>
            </a:r>
          </a:p>
        </p:txBody>
      </p:sp>
    </p:spTree>
    <p:extLst>
      <p:ext uri="{BB962C8B-B14F-4D97-AF65-F5344CB8AC3E}">
        <p14:creationId xmlns:p14="http://schemas.microsoft.com/office/powerpoint/2010/main" val="218033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5022271" cy="5694217"/>
          </a:xfrm>
        </p:spPr>
        <p:txBody>
          <a:bodyPr>
            <a:normAutofit/>
          </a:bodyPr>
          <a:lstStyle/>
          <a:p>
            <a:pPr algn="just"/>
            <a:r>
              <a:rPr lang="en-US" b="1" i="0" dirty="0">
                <a:effectLst/>
              </a:rPr>
              <a:t>Drill-down.</a:t>
            </a:r>
            <a:r>
              <a:rPr lang="en-US" i="0" dirty="0">
                <a:effectLst/>
              </a:rPr>
              <a:t> </a:t>
            </a:r>
            <a:r>
              <a:rPr lang="en-US" b="1" i="0" dirty="0">
                <a:solidFill>
                  <a:srgbClr val="0000CC"/>
                </a:solidFill>
                <a:effectLst/>
              </a:rPr>
              <a:t>This allows analysts to navigate deeper among the dimensions of data, </a:t>
            </a:r>
            <a:r>
              <a:rPr lang="en-US" i="0" dirty="0">
                <a:effectLst/>
              </a:rPr>
              <a:t>for example drilling down from "time period" to "years" and "months" to chart sales growth for a product.</a:t>
            </a:r>
          </a:p>
          <a:p>
            <a:pPr algn="just"/>
            <a:endParaRPr lang="en-US" i="0" dirty="0">
              <a:effectLst/>
            </a:endParaRPr>
          </a:p>
        </p:txBody>
      </p:sp>
      <p:graphicFrame>
        <p:nvGraphicFramePr>
          <p:cNvPr id="4" name="Table 3">
            <a:extLst>
              <a:ext uri="{FF2B5EF4-FFF2-40B4-BE49-F238E27FC236}">
                <a16:creationId xmlns="" xmlns:a16="http://schemas.microsoft.com/office/drawing/2014/main" id="{B5FD535E-9597-D7F3-A44C-00F99F57F0CE}"/>
              </a:ext>
            </a:extLst>
          </p:cNvPr>
          <p:cNvGraphicFramePr>
            <a:graphicFrameLocks noGrp="1"/>
          </p:cNvGraphicFramePr>
          <p:nvPr>
            <p:extLst>
              <p:ext uri="{D42A27DB-BD31-4B8C-83A1-F6EECF244321}">
                <p14:modId xmlns:p14="http://schemas.microsoft.com/office/powerpoint/2010/main" val="2326137415"/>
              </p:ext>
            </p:extLst>
          </p:nvPr>
        </p:nvGraphicFramePr>
        <p:xfrm>
          <a:off x="8111834" y="115744"/>
          <a:ext cx="3823855" cy="6128472"/>
        </p:xfrm>
        <a:graphic>
          <a:graphicData uri="http://schemas.openxmlformats.org/drawingml/2006/table">
            <a:tbl>
              <a:tblPr/>
              <a:tblGrid>
                <a:gridCol w="1454728">
                  <a:extLst>
                    <a:ext uri="{9D8B030D-6E8A-4147-A177-3AD203B41FA5}">
                      <a16:colId xmlns="" xmlns:a16="http://schemas.microsoft.com/office/drawing/2014/main" val="2587098191"/>
                    </a:ext>
                  </a:extLst>
                </a:gridCol>
                <a:gridCol w="789709">
                  <a:extLst>
                    <a:ext uri="{9D8B030D-6E8A-4147-A177-3AD203B41FA5}">
                      <a16:colId xmlns="" xmlns:a16="http://schemas.microsoft.com/office/drawing/2014/main" val="2393400864"/>
                    </a:ext>
                  </a:extLst>
                </a:gridCol>
                <a:gridCol w="665018">
                  <a:extLst>
                    <a:ext uri="{9D8B030D-6E8A-4147-A177-3AD203B41FA5}">
                      <a16:colId xmlns="" xmlns:a16="http://schemas.microsoft.com/office/drawing/2014/main" val="3466683062"/>
                    </a:ext>
                  </a:extLst>
                </a:gridCol>
                <a:gridCol w="914400">
                  <a:extLst>
                    <a:ext uri="{9D8B030D-6E8A-4147-A177-3AD203B41FA5}">
                      <a16:colId xmlns="" xmlns:a16="http://schemas.microsoft.com/office/drawing/2014/main" val="604348713"/>
                    </a:ext>
                  </a:extLst>
                </a:gridCol>
              </a:tblGrid>
              <a:tr h="420871">
                <a:tc>
                  <a:txBody>
                    <a:bodyPr/>
                    <a:lstStyle/>
                    <a:p>
                      <a:pPr algn="l" fontAlgn="t"/>
                      <a:r>
                        <a:rPr lang="en-US" sz="1800" b="1" dirty="0">
                          <a:solidFill>
                            <a:schemeClr val="tx1"/>
                          </a:solidFill>
                          <a:effectLst/>
                          <a:latin typeface="+mn-lt"/>
                        </a:rPr>
                        <a:t>Temperature</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cool</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mild</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hot</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2898286930"/>
                  </a:ext>
                </a:extLst>
              </a:tr>
              <a:tr h="357102">
                <a:tc>
                  <a:txBody>
                    <a:bodyPr/>
                    <a:lstStyle/>
                    <a:p>
                      <a:pPr algn="just" fontAlgn="t"/>
                      <a:r>
                        <a:rPr lang="en-US" sz="2000" dirty="0">
                          <a:solidFill>
                            <a:schemeClr val="tx1"/>
                          </a:solidFill>
                          <a:effectLst/>
                          <a:latin typeface="+mn-lt"/>
                        </a:rPr>
                        <a:t>Day 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558925901"/>
                  </a:ext>
                </a:extLst>
              </a:tr>
              <a:tr h="357102">
                <a:tc>
                  <a:txBody>
                    <a:bodyPr/>
                    <a:lstStyle/>
                    <a:p>
                      <a:pPr algn="just" fontAlgn="t"/>
                      <a:r>
                        <a:rPr lang="en-US" sz="2000" dirty="0">
                          <a:solidFill>
                            <a:schemeClr val="tx1"/>
                          </a:solidFill>
                          <a:effectLst/>
                          <a:latin typeface="+mn-lt"/>
                        </a:rPr>
                        <a:t>Day 2</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606429679"/>
                  </a:ext>
                </a:extLst>
              </a:tr>
              <a:tr h="357102">
                <a:tc>
                  <a:txBody>
                    <a:bodyPr/>
                    <a:lstStyle/>
                    <a:p>
                      <a:pPr algn="just" fontAlgn="t"/>
                      <a:r>
                        <a:rPr lang="en-US" sz="2000" dirty="0">
                          <a:solidFill>
                            <a:schemeClr val="tx1"/>
                          </a:solidFill>
                          <a:effectLst/>
                          <a:latin typeface="+mn-lt"/>
                        </a:rPr>
                        <a:t>Day 3</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645911916"/>
                  </a:ext>
                </a:extLst>
              </a:tr>
              <a:tr h="357102">
                <a:tc>
                  <a:txBody>
                    <a:bodyPr/>
                    <a:lstStyle/>
                    <a:p>
                      <a:pPr algn="just" fontAlgn="t"/>
                      <a:r>
                        <a:rPr lang="en-US" sz="2000">
                          <a:solidFill>
                            <a:schemeClr val="tx1"/>
                          </a:solidFill>
                          <a:effectLst/>
                          <a:latin typeface="+mn-lt"/>
                        </a:rPr>
                        <a:t>Day 4</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070755179"/>
                  </a:ext>
                </a:extLst>
              </a:tr>
              <a:tr h="357102">
                <a:tc>
                  <a:txBody>
                    <a:bodyPr/>
                    <a:lstStyle/>
                    <a:p>
                      <a:pPr algn="just" fontAlgn="t"/>
                      <a:r>
                        <a:rPr lang="en-US" sz="2000">
                          <a:solidFill>
                            <a:schemeClr val="tx1"/>
                          </a:solidFill>
                          <a:effectLst/>
                          <a:latin typeface="+mn-lt"/>
                        </a:rPr>
                        <a:t>Day 5</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047525530"/>
                  </a:ext>
                </a:extLst>
              </a:tr>
              <a:tr h="357102">
                <a:tc>
                  <a:txBody>
                    <a:bodyPr/>
                    <a:lstStyle/>
                    <a:p>
                      <a:pPr algn="just" fontAlgn="t"/>
                      <a:r>
                        <a:rPr lang="en-US" sz="2000">
                          <a:solidFill>
                            <a:schemeClr val="tx1"/>
                          </a:solidFill>
                          <a:effectLst/>
                          <a:latin typeface="+mn-lt"/>
                        </a:rPr>
                        <a:t>Day 6</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83349321"/>
                  </a:ext>
                </a:extLst>
              </a:tr>
              <a:tr h="357102">
                <a:tc>
                  <a:txBody>
                    <a:bodyPr/>
                    <a:lstStyle/>
                    <a:p>
                      <a:pPr algn="just" fontAlgn="t"/>
                      <a:r>
                        <a:rPr lang="en-US" sz="2000">
                          <a:solidFill>
                            <a:schemeClr val="tx1"/>
                          </a:solidFill>
                          <a:effectLst/>
                          <a:latin typeface="+mn-lt"/>
                        </a:rPr>
                        <a:t>Day 7</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738757320"/>
                  </a:ext>
                </a:extLst>
              </a:tr>
              <a:tr h="357102">
                <a:tc>
                  <a:txBody>
                    <a:bodyPr/>
                    <a:lstStyle/>
                    <a:p>
                      <a:pPr algn="just" fontAlgn="t"/>
                      <a:r>
                        <a:rPr lang="en-US" sz="2000">
                          <a:solidFill>
                            <a:schemeClr val="tx1"/>
                          </a:solidFill>
                          <a:effectLst/>
                          <a:latin typeface="+mn-lt"/>
                        </a:rPr>
                        <a:t>Day 8</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4308631"/>
                  </a:ext>
                </a:extLst>
              </a:tr>
              <a:tr h="357102">
                <a:tc>
                  <a:txBody>
                    <a:bodyPr/>
                    <a:lstStyle/>
                    <a:p>
                      <a:pPr algn="just" fontAlgn="t"/>
                      <a:r>
                        <a:rPr lang="en-US" sz="2000">
                          <a:solidFill>
                            <a:schemeClr val="tx1"/>
                          </a:solidFill>
                          <a:effectLst/>
                          <a:latin typeface="+mn-lt"/>
                        </a:rPr>
                        <a:t>Day 9</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732649097"/>
                  </a:ext>
                </a:extLst>
              </a:tr>
              <a:tr h="357102">
                <a:tc>
                  <a:txBody>
                    <a:bodyPr/>
                    <a:lstStyle/>
                    <a:p>
                      <a:pPr algn="just" fontAlgn="t"/>
                      <a:r>
                        <a:rPr lang="en-US" sz="2000">
                          <a:solidFill>
                            <a:schemeClr val="tx1"/>
                          </a:solidFill>
                          <a:effectLst/>
                          <a:latin typeface="+mn-lt"/>
                        </a:rPr>
                        <a:t>Day 10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69746781"/>
                  </a:ext>
                </a:extLst>
              </a:tr>
              <a:tr h="357102">
                <a:tc>
                  <a:txBody>
                    <a:bodyPr/>
                    <a:lstStyle/>
                    <a:p>
                      <a:pPr algn="just" fontAlgn="t"/>
                      <a:r>
                        <a:rPr lang="en-US" sz="2000">
                          <a:solidFill>
                            <a:schemeClr val="tx1"/>
                          </a:solidFill>
                          <a:effectLst/>
                          <a:latin typeface="+mn-lt"/>
                        </a:rPr>
                        <a:t>Day 11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318484015"/>
                  </a:ext>
                </a:extLst>
              </a:tr>
              <a:tr h="357102">
                <a:tc>
                  <a:txBody>
                    <a:bodyPr/>
                    <a:lstStyle/>
                    <a:p>
                      <a:pPr algn="just" fontAlgn="t"/>
                      <a:r>
                        <a:rPr lang="en-US" sz="2000">
                          <a:solidFill>
                            <a:schemeClr val="tx1"/>
                          </a:solidFill>
                          <a:effectLst/>
                          <a:latin typeface="+mn-lt"/>
                        </a:rPr>
                        <a:t>Day 12</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708764942"/>
                  </a:ext>
                </a:extLst>
              </a:tr>
              <a:tr h="357102">
                <a:tc>
                  <a:txBody>
                    <a:bodyPr/>
                    <a:lstStyle/>
                    <a:p>
                      <a:pPr algn="just" fontAlgn="t"/>
                      <a:r>
                        <a:rPr lang="en-US" sz="2000">
                          <a:solidFill>
                            <a:schemeClr val="tx1"/>
                          </a:solidFill>
                          <a:effectLst/>
                          <a:latin typeface="+mn-lt"/>
                        </a:rPr>
                        <a:t>Day 13</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546733241"/>
                  </a:ext>
                </a:extLst>
              </a:tr>
              <a:tr h="357102">
                <a:tc>
                  <a:txBody>
                    <a:bodyPr/>
                    <a:lstStyle/>
                    <a:p>
                      <a:pPr algn="just" fontAlgn="t"/>
                      <a:r>
                        <a:rPr lang="en-US" sz="2000">
                          <a:solidFill>
                            <a:schemeClr val="tx1"/>
                          </a:solidFill>
                          <a:effectLst/>
                          <a:latin typeface="+mn-lt"/>
                        </a:rPr>
                        <a:t>Day 14</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353674701"/>
                  </a:ext>
                </a:extLst>
              </a:tr>
            </a:tbl>
          </a:graphicData>
        </a:graphic>
      </p:graphicFrame>
    </p:spTree>
    <p:extLst>
      <p:ext uri="{BB962C8B-B14F-4D97-AF65-F5344CB8AC3E}">
        <p14:creationId xmlns:p14="http://schemas.microsoft.com/office/powerpoint/2010/main" val="1661712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3900053" cy="5555671"/>
          </a:xfrm>
        </p:spPr>
        <p:txBody>
          <a:bodyPr>
            <a:normAutofit/>
          </a:bodyPr>
          <a:lstStyle/>
          <a:p>
            <a:pPr algn="just"/>
            <a:r>
              <a:rPr lang="en-US" b="1" i="0" dirty="0">
                <a:effectLst/>
              </a:rPr>
              <a:t>Slice.</a:t>
            </a:r>
            <a:r>
              <a:rPr lang="en-US" i="0" dirty="0">
                <a:effectLst/>
              </a:rPr>
              <a:t> </a:t>
            </a:r>
            <a:r>
              <a:rPr lang="en-US" b="1" i="0" dirty="0">
                <a:solidFill>
                  <a:srgbClr val="0000CC"/>
                </a:solidFill>
                <a:effectLst/>
              </a:rPr>
              <a:t>This enables an analyst to take one level of information for display, such as "sales in 2017.“</a:t>
            </a:r>
          </a:p>
          <a:p>
            <a:pPr algn="just"/>
            <a:r>
              <a:rPr lang="en-US" b="0" i="0" dirty="0">
                <a:effectLst/>
              </a:rPr>
              <a:t>For example, if we make the selection, temperature=cool we will obtain the following cube:</a:t>
            </a:r>
            <a:endParaRPr lang="en-US" b="1" i="0" dirty="0">
              <a:effectLst/>
            </a:endParaRPr>
          </a:p>
        </p:txBody>
      </p:sp>
      <p:graphicFrame>
        <p:nvGraphicFramePr>
          <p:cNvPr id="4" name="Table 3">
            <a:extLst>
              <a:ext uri="{FF2B5EF4-FFF2-40B4-BE49-F238E27FC236}">
                <a16:creationId xmlns="" xmlns:a16="http://schemas.microsoft.com/office/drawing/2014/main" id="{05A503AC-4F18-6256-2F18-AD41B9C9905C}"/>
              </a:ext>
            </a:extLst>
          </p:cNvPr>
          <p:cNvGraphicFramePr>
            <a:graphicFrameLocks noGrp="1"/>
          </p:cNvGraphicFramePr>
          <p:nvPr>
            <p:extLst>
              <p:ext uri="{D42A27DB-BD31-4B8C-83A1-F6EECF244321}">
                <p14:modId xmlns:p14="http://schemas.microsoft.com/office/powerpoint/2010/main" val="1173783146"/>
              </p:ext>
            </p:extLst>
          </p:nvPr>
        </p:nvGraphicFramePr>
        <p:xfrm>
          <a:off x="4232565" y="985524"/>
          <a:ext cx="2195944" cy="5826006"/>
        </p:xfrm>
        <a:graphic>
          <a:graphicData uri="http://schemas.openxmlformats.org/drawingml/2006/table">
            <a:tbl>
              <a:tblPr/>
              <a:tblGrid>
                <a:gridCol w="1565563">
                  <a:extLst>
                    <a:ext uri="{9D8B030D-6E8A-4147-A177-3AD203B41FA5}">
                      <a16:colId xmlns="" xmlns:a16="http://schemas.microsoft.com/office/drawing/2014/main" val="626055158"/>
                    </a:ext>
                  </a:extLst>
                </a:gridCol>
                <a:gridCol w="630381">
                  <a:extLst>
                    <a:ext uri="{9D8B030D-6E8A-4147-A177-3AD203B41FA5}">
                      <a16:colId xmlns="" xmlns:a16="http://schemas.microsoft.com/office/drawing/2014/main" val="2694872870"/>
                    </a:ext>
                  </a:extLst>
                </a:gridCol>
              </a:tblGrid>
              <a:tr h="361698">
                <a:tc>
                  <a:txBody>
                    <a:bodyPr/>
                    <a:lstStyle/>
                    <a:p>
                      <a:pPr algn="l" fontAlgn="t"/>
                      <a:r>
                        <a:rPr lang="en-US" sz="1800" b="1" dirty="0">
                          <a:solidFill>
                            <a:schemeClr val="tx1"/>
                          </a:solidFill>
                          <a:effectLst/>
                          <a:latin typeface="+mn-lt"/>
                        </a:rPr>
                        <a:t>Temperature</a:t>
                      </a:r>
                    </a:p>
                  </a:txBody>
                  <a:tcPr marL="82204" marR="82204" marT="82204" marB="82204">
                    <a:lnL w="9525" cap="flat" cmpd="sng" algn="ctr">
                      <a:solidFill>
                        <a:srgbClr val="B00BEB"/>
                      </a:solidFill>
                      <a:prstDash val="solid"/>
                      <a:round/>
                      <a:headEnd type="none" w="med" len="med"/>
                      <a:tailEnd type="none" w="med" len="med"/>
                    </a:lnL>
                    <a:lnR w="9525" cap="flat" cmpd="sng" algn="ctr">
                      <a:solidFill>
                        <a:srgbClr val="B00BEB"/>
                      </a:solidFill>
                      <a:prstDash val="solid"/>
                      <a:round/>
                      <a:headEnd type="none" w="med" len="med"/>
                      <a:tailEnd type="none" w="med" len="med"/>
                    </a:lnR>
                    <a:lnT w="9525" cap="flat" cmpd="sng" algn="ctr">
                      <a:solidFill>
                        <a:srgbClr val="B00B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cool</a:t>
                      </a:r>
                    </a:p>
                  </a:txBody>
                  <a:tcPr marL="82204" marR="82204" marT="82204" marB="82204">
                    <a:lnL w="9525" cap="flat" cmpd="sng" algn="ctr">
                      <a:solidFill>
                        <a:srgbClr val="B00BEB"/>
                      </a:solidFill>
                      <a:prstDash val="solid"/>
                      <a:round/>
                      <a:headEnd type="none" w="med" len="med"/>
                      <a:tailEnd type="none" w="med" len="med"/>
                    </a:lnL>
                    <a:lnR w="9525" cap="flat" cmpd="sng" algn="ctr">
                      <a:solidFill>
                        <a:srgbClr val="B00BEB"/>
                      </a:solidFill>
                      <a:prstDash val="solid"/>
                      <a:round/>
                      <a:headEnd type="none" w="med" len="med"/>
                      <a:tailEnd type="none" w="med" len="med"/>
                    </a:lnR>
                    <a:lnT w="9525" cap="flat" cmpd="sng" algn="ctr">
                      <a:solidFill>
                        <a:srgbClr val="B00B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578083947"/>
                  </a:ext>
                </a:extLst>
              </a:tr>
              <a:tr h="306895">
                <a:tc>
                  <a:txBody>
                    <a:bodyPr/>
                    <a:lstStyle/>
                    <a:p>
                      <a:pPr algn="just" fontAlgn="t"/>
                      <a:r>
                        <a:rPr lang="en-US" sz="2000" dirty="0">
                          <a:solidFill>
                            <a:schemeClr val="tx1"/>
                          </a:solidFill>
                          <a:effectLst/>
                          <a:latin typeface="+mn-lt"/>
                        </a:rPr>
                        <a:t>Day 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545944153"/>
                  </a:ext>
                </a:extLst>
              </a:tr>
              <a:tr h="306895">
                <a:tc>
                  <a:txBody>
                    <a:bodyPr/>
                    <a:lstStyle/>
                    <a:p>
                      <a:pPr algn="just" fontAlgn="t"/>
                      <a:r>
                        <a:rPr lang="en-US" sz="2000">
                          <a:solidFill>
                            <a:schemeClr val="tx1"/>
                          </a:solidFill>
                          <a:effectLst/>
                          <a:latin typeface="+mn-lt"/>
                        </a:rPr>
                        <a:t>Day 2</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853199678"/>
                  </a:ext>
                </a:extLst>
              </a:tr>
              <a:tr h="306895">
                <a:tc>
                  <a:txBody>
                    <a:bodyPr/>
                    <a:lstStyle/>
                    <a:p>
                      <a:pPr algn="just" fontAlgn="t"/>
                      <a:r>
                        <a:rPr lang="en-US" sz="2000" dirty="0">
                          <a:solidFill>
                            <a:schemeClr val="tx1"/>
                          </a:solidFill>
                          <a:effectLst/>
                          <a:latin typeface="+mn-lt"/>
                        </a:rPr>
                        <a:t>Day 3</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030375650"/>
                  </a:ext>
                </a:extLst>
              </a:tr>
              <a:tr h="306895">
                <a:tc>
                  <a:txBody>
                    <a:bodyPr/>
                    <a:lstStyle/>
                    <a:p>
                      <a:pPr algn="just" fontAlgn="t"/>
                      <a:r>
                        <a:rPr lang="en-US" sz="2000" dirty="0">
                          <a:solidFill>
                            <a:schemeClr val="tx1"/>
                          </a:solidFill>
                          <a:effectLst/>
                          <a:latin typeface="+mn-lt"/>
                        </a:rPr>
                        <a:t>Day 4</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198489634"/>
                  </a:ext>
                </a:extLst>
              </a:tr>
              <a:tr h="306895">
                <a:tc>
                  <a:txBody>
                    <a:bodyPr/>
                    <a:lstStyle/>
                    <a:p>
                      <a:pPr algn="just" fontAlgn="t"/>
                      <a:r>
                        <a:rPr lang="en-US" sz="2000" dirty="0">
                          <a:solidFill>
                            <a:schemeClr val="tx1"/>
                          </a:solidFill>
                          <a:effectLst/>
                          <a:latin typeface="+mn-lt"/>
                        </a:rPr>
                        <a:t>Day 5</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327693937"/>
                  </a:ext>
                </a:extLst>
              </a:tr>
              <a:tr h="306895">
                <a:tc>
                  <a:txBody>
                    <a:bodyPr/>
                    <a:lstStyle/>
                    <a:p>
                      <a:pPr algn="just" fontAlgn="t"/>
                      <a:r>
                        <a:rPr lang="en-US" sz="2000" dirty="0">
                          <a:solidFill>
                            <a:schemeClr val="tx1"/>
                          </a:solidFill>
                          <a:effectLst/>
                          <a:latin typeface="+mn-lt"/>
                        </a:rPr>
                        <a:t>Day 6</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99936012"/>
                  </a:ext>
                </a:extLst>
              </a:tr>
              <a:tr h="306895">
                <a:tc>
                  <a:txBody>
                    <a:bodyPr/>
                    <a:lstStyle/>
                    <a:p>
                      <a:pPr algn="just" fontAlgn="t"/>
                      <a:r>
                        <a:rPr lang="en-US" sz="2000" dirty="0">
                          <a:solidFill>
                            <a:schemeClr val="tx1"/>
                          </a:solidFill>
                          <a:effectLst/>
                          <a:latin typeface="+mn-lt"/>
                        </a:rPr>
                        <a:t>Day 7</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132796984"/>
                  </a:ext>
                </a:extLst>
              </a:tr>
              <a:tr h="306895">
                <a:tc>
                  <a:txBody>
                    <a:bodyPr/>
                    <a:lstStyle/>
                    <a:p>
                      <a:pPr algn="just" fontAlgn="t"/>
                      <a:r>
                        <a:rPr lang="en-US" sz="2000">
                          <a:solidFill>
                            <a:schemeClr val="tx1"/>
                          </a:solidFill>
                          <a:effectLst/>
                          <a:latin typeface="+mn-lt"/>
                        </a:rPr>
                        <a:t>Day 8</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071255571"/>
                  </a:ext>
                </a:extLst>
              </a:tr>
              <a:tr h="306895">
                <a:tc>
                  <a:txBody>
                    <a:bodyPr/>
                    <a:lstStyle/>
                    <a:p>
                      <a:pPr algn="just" fontAlgn="t"/>
                      <a:r>
                        <a:rPr lang="en-US" sz="2000">
                          <a:solidFill>
                            <a:schemeClr val="tx1"/>
                          </a:solidFill>
                          <a:effectLst/>
                          <a:latin typeface="+mn-lt"/>
                        </a:rPr>
                        <a:t>Day 9</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825394118"/>
                  </a:ext>
                </a:extLst>
              </a:tr>
              <a:tr h="306895">
                <a:tc>
                  <a:txBody>
                    <a:bodyPr/>
                    <a:lstStyle/>
                    <a:p>
                      <a:pPr algn="just" fontAlgn="t"/>
                      <a:r>
                        <a:rPr lang="en-US" sz="2000">
                          <a:solidFill>
                            <a:schemeClr val="tx1"/>
                          </a:solidFill>
                          <a:effectLst/>
                          <a:latin typeface="+mn-lt"/>
                        </a:rPr>
                        <a:t>Day 11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685728000"/>
                  </a:ext>
                </a:extLst>
              </a:tr>
              <a:tr h="306895">
                <a:tc>
                  <a:txBody>
                    <a:bodyPr/>
                    <a:lstStyle/>
                    <a:p>
                      <a:pPr algn="just" fontAlgn="t"/>
                      <a:r>
                        <a:rPr lang="en-US" sz="2000">
                          <a:solidFill>
                            <a:schemeClr val="tx1"/>
                          </a:solidFill>
                          <a:effectLst/>
                          <a:latin typeface="+mn-lt"/>
                        </a:rPr>
                        <a:t>Day 12</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003295832"/>
                  </a:ext>
                </a:extLst>
              </a:tr>
              <a:tr h="306895">
                <a:tc>
                  <a:txBody>
                    <a:bodyPr/>
                    <a:lstStyle/>
                    <a:p>
                      <a:pPr algn="just" fontAlgn="t"/>
                      <a:r>
                        <a:rPr lang="en-US" sz="2000">
                          <a:solidFill>
                            <a:schemeClr val="tx1"/>
                          </a:solidFill>
                          <a:effectLst/>
                          <a:latin typeface="+mn-lt"/>
                        </a:rPr>
                        <a:t>Day 13</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663527374"/>
                  </a:ext>
                </a:extLst>
              </a:tr>
              <a:tr h="306895">
                <a:tc>
                  <a:txBody>
                    <a:bodyPr/>
                    <a:lstStyle/>
                    <a:p>
                      <a:pPr algn="just" fontAlgn="t"/>
                      <a:r>
                        <a:rPr lang="en-US" sz="2000">
                          <a:solidFill>
                            <a:schemeClr val="tx1"/>
                          </a:solidFill>
                          <a:effectLst/>
                          <a:latin typeface="+mn-lt"/>
                        </a:rPr>
                        <a:t>Day 14</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849135616"/>
                  </a:ext>
                </a:extLst>
              </a:tr>
            </a:tbl>
          </a:graphicData>
        </a:graphic>
      </p:graphicFrame>
      <p:sp>
        <p:nvSpPr>
          <p:cNvPr id="5" name="Content Placeholder 2">
            <a:extLst>
              <a:ext uri="{FF2B5EF4-FFF2-40B4-BE49-F238E27FC236}">
                <a16:creationId xmlns="" xmlns:a16="http://schemas.microsoft.com/office/drawing/2014/main" id="{9636C0F2-EC03-C38E-EF59-B9E4908C1F72}"/>
              </a:ext>
            </a:extLst>
          </p:cNvPr>
          <p:cNvSpPr txBox="1">
            <a:spLocks/>
          </p:cNvSpPr>
          <p:nvPr/>
        </p:nvSpPr>
        <p:spPr>
          <a:xfrm>
            <a:off x="6871855" y="775856"/>
            <a:ext cx="5063835" cy="347749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effectLst/>
              </a:rPr>
              <a:t>Dice.</a:t>
            </a:r>
            <a:r>
              <a:rPr lang="en-US" i="0" dirty="0">
                <a:effectLst/>
              </a:rPr>
              <a:t> </a:t>
            </a:r>
            <a:r>
              <a:rPr lang="en-US" b="1" i="0" dirty="0">
                <a:solidFill>
                  <a:srgbClr val="0000CC"/>
                </a:solidFill>
                <a:effectLst/>
              </a:rPr>
              <a:t>This allows an analyst to select data from multiple dimensions to analyze.</a:t>
            </a:r>
          </a:p>
          <a:p>
            <a:pPr algn="just"/>
            <a:r>
              <a:rPr lang="en-US" b="0" i="0" dirty="0">
                <a:effectLst/>
              </a:rPr>
              <a:t>The dice operation </a:t>
            </a:r>
            <a:r>
              <a:rPr lang="en-US" b="1" i="0" dirty="0">
                <a:solidFill>
                  <a:srgbClr val="0000CC"/>
                </a:solidFill>
                <a:effectLst/>
              </a:rPr>
              <a:t>describes a </a:t>
            </a:r>
            <a:r>
              <a:rPr lang="en-US" b="1" i="0" dirty="0" err="1">
                <a:solidFill>
                  <a:srgbClr val="0000CC"/>
                </a:solidFill>
                <a:effectLst/>
              </a:rPr>
              <a:t>subcube</a:t>
            </a:r>
            <a:r>
              <a:rPr lang="en-US" b="1" i="0" dirty="0">
                <a:solidFill>
                  <a:srgbClr val="0000CC"/>
                </a:solidFill>
                <a:effectLst/>
              </a:rPr>
              <a:t> by operating a selection on two or more dimension.</a:t>
            </a:r>
          </a:p>
          <a:p>
            <a:pPr algn="just"/>
            <a:r>
              <a:rPr lang="en-US" b="1" i="0" dirty="0">
                <a:effectLst/>
              </a:rPr>
              <a:t>For example</a:t>
            </a:r>
            <a:r>
              <a:rPr lang="en-US" b="0" i="0" dirty="0">
                <a:effectLst/>
              </a:rPr>
              <a:t>, Implement the selection (time = day 3 OR time = day 4) AND (temperature = cool OR temperature = hot) to the original cubes we get the following </a:t>
            </a:r>
            <a:r>
              <a:rPr lang="en-US" b="0" i="0" dirty="0" err="1">
                <a:effectLst/>
              </a:rPr>
              <a:t>subcube</a:t>
            </a:r>
            <a:r>
              <a:rPr lang="en-US" b="0" i="0" dirty="0">
                <a:effectLst/>
              </a:rPr>
              <a:t> (still two-dimensional)</a:t>
            </a:r>
          </a:p>
          <a:p>
            <a:pPr algn="just"/>
            <a:endParaRPr lang="en-US" b="1" i="0" dirty="0">
              <a:solidFill>
                <a:srgbClr val="0000CC"/>
              </a:solidFill>
              <a:effectLst/>
            </a:endParaRPr>
          </a:p>
        </p:txBody>
      </p:sp>
      <p:graphicFrame>
        <p:nvGraphicFramePr>
          <p:cNvPr id="6" name="Table 5">
            <a:extLst>
              <a:ext uri="{FF2B5EF4-FFF2-40B4-BE49-F238E27FC236}">
                <a16:creationId xmlns="" xmlns:a16="http://schemas.microsoft.com/office/drawing/2014/main" id="{EB4E2612-E244-DE92-37B9-B696CB19AAA7}"/>
              </a:ext>
            </a:extLst>
          </p:cNvPr>
          <p:cNvGraphicFramePr>
            <a:graphicFrameLocks noGrp="1"/>
          </p:cNvGraphicFramePr>
          <p:nvPr>
            <p:extLst>
              <p:ext uri="{D42A27DB-BD31-4B8C-83A1-F6EECF244321}">
                <p14:modId xmlns:p14="http://schemas.microsoft.com/office/powerpoint/2010/main" val="701718438"/>
              </p:ext>
            </p:extLst>
          </p:nvPr>
        </p:nvGraphicFramePr>
        <p:xfrm>
          <a:off x="7712081" y="4253346"/>
          <a:ext cx="2955919" cy="1417320"/>
        </p:xfrm>
        <a:graphic>
          <a:graphicData uri="http://schemas.openxmlformats.org/drawingml/2006/table">
            <a:tbl>
              <a:tblPr/>
              <a:tblGrid>
                <a:gridCol w="1501191">
                  <a:extLst>
                    <a:ext uri="{9D8B030D-6E8A-4147-A177-3AD203B41FA5}">
                      <a16:colId xmlns="" xmlns:a16="http://schemas.microsoft.com/office/drawing/2014/main" val="3799346679"/>
                    </a:ext>
                  </a:extLst>
                </a:gridCol>
                <a:gridCol w="748146">
                  <a:extLst>
                    <a:ext uri="{9D8B030D-6E8A-4147-A177-3AD203B41FA5}">
                      <a16:colId xmlns="" xmlns:a16="http://schemas.microsoft.com/office/drawing/2014/main" val="2539725301"/>
                    </a:ext>
                  </a:extLst>
                </a:gridCol>
                <a:gridCol w="706582">
                  <a:extLst>
                    <a:ext uri="{9D8B030D-6E8A-4147-A177-3AD203B41FA5}">
                      <a16:colId xmlns="" xmlns:a16="http://schemas.microsoft.com/office/drawing/2014/main" val="2128258205"/>
                    </a:ext>
                  </a:extLst>
                </a:gridCol>
              </a:tblGrid>
              <a:tr h="0">
                <a:tc>
                  <a:txBody>
                    <a:bodyPr/>
                    <a:lstStyle/>
                    <a:p>
                      <a:pPr algn="l" fontAlgn="t"/>
                      <a:r>
                        <a:rPr lang="en-US" b="1" dirty="0">
                          <a:solidFill>
                            <a:schemeClr val="tx1"/>
                          </a:solidFill>
                          <a:effectLst/>
                          <a:latin typeface="+mn-lt"/>
                        </a:rPr>
                        <a:t>Temperature</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cool</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hot</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1370281451"/>
                  </a:ext>
                </a:extLst>
              </a:tr>
              <a:tr h="0">
                <a:tc>
                  <a:txBody>
                    <a:bodyPr/>
                    <a:lstStyle/>
                    <a:p>
                      <a:pPr algn="just" fontAlgn="t"/>
                      <a:r>
                        <a:rPr lang="en-US" sz="2000" dirty="0">
                          <a:solidFill>
                            <a:schemeClr val="tx1"/>
                          </a:solidFill>
                          <a:effectLst/>
                          <a:latin typeface="+mn-lt"/>
                        </a:rPr>
                        <a:t>Day 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837985933"/>
                  </a:ext>
                </a:extLst>
              </a:tr>
              <a:tr h="0">
                <a:tc>
                  <a:txBody>
                    <a:bodyPr/>
                    <a:lstStyle/>
                    <a:p>
                      <a:pPr algn="just" fontAlgn="t"/>
                      <a:r>
                        <a:rPr lang="en-US" sz="2000" dirty="0">
                          <a:solidFill>
                            <a:schemeClr val="tx1"/>
                          </a:solidFill>
                          <a:effectLst/>
                          <a:latin typeface="+mn-lt"/>
                        </a:rPr>
                        <a:t>Day 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778871104"/>
                  </a:ext>
                </a:extLst>
              </a:tr>
            </a:tbl>
          </a:graphicData>
        </a:graphic>
      </p:graphicFrame>
    </p:spTree>
    <p:extLst>
      <p:ext uri="{BB962C8B-B14F-4D97-AF65-F5344CB8AC3E}">
        <p14:creationId xmlns:p14="http://schemas.microsoft.com/office/powerpoint/2010/main" val="2529776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a:bodyPr>
          <a:lstStyle/>
          <a:p>
            <a:pPr algn="just"/>
            <a:r>
              <a:rPr lang="en-US" b="1" i="0" dirty="0">
                <a:effectLst/>
              </a:rPr>
              <a:t>Pivot.</a:t>
            </a:r>
            <a:r>
              <a:rPr lang="en-US" i="0" dirty="0">
                <a:effectLst/>
              </a:rPr>
              <a:t> </a:t>
            </a:r>
            <a:r>
              <a:rPr lang="en-US" b="1" i="0" dirty="0">
                <a:solidFill>
                  <a:srgbClr val="0000CC"/>
                </a:solidFill>
                <a:effectLst/>
              </a:rPr>
              <a:t>Analysts can gain a new view of data by rotating the data axes of the cube.</a:t>
            </a:r>
          </a:p>
          <a:p>
            <a:pPr algn="just"/>
            <a:r>
              <a:rPr lang="en-US" b="0" i="0" dirty="0">
                <a:effectLst/>
              </a:rPr>
              <a:t>It may contain swapping the rows and columns or moving one of the row-dimensions into the column dimensions.</a:t>
            </a:r>
          </a:p>
          <a:p>
            <a:pPr algn="just"/>
            <a:endParaRPr lang="en-US" b="1" dirty="0"/>
          </a:p>
        </p:txBody>
      </p:sp>
      <p:pic>
        <p:nvPicPr>
          <p:cNvPr id="5" name="Picture 4">
            <a:extLst>
              <a:ext uri="{FF2B5EF4-FFF2-40B4-BE49-F238E27FC236}">
                <a16:creationId xmlns="" xmlns:a16="http://schemas.microsoft.com/office/drawing/2014/main" id="{504506AA-864A-30A4-D726-5AA1092C2082}"/>
              </a:ext>
            </a:extLst>
          </p:cNvPr>
          <p:cNvPicPr>
            <a:picLocks noChangeAspect="1"/>
          </p:cNvPicPr>
          <p:nvPr/>
        </p:nvPicPr>
        <p:blipFill>
          <a:blip r:embed="rId2"/>
          <a:stretch>
            <a:fillRect/>
          </a:stretch>
        </p:blipFill>
        <p:spPr>
          <a:xfrm>
            <a:off x="6142759" y="3619932"/>
            <a:ext cx="5467350" cy="2638425"/>
          </a:xfrm>
          <a:prstGeom prst="rect">
            <a:avLst/>
          </a:prstGeom>
        </p:spPr>
      </p:pic>
      <p:pic>
        <p:nvPicPr>
          <p:cNvPr id="7" name="Picture 6">
            <a:extLst>
              <a:ext uri="{FF2B5EF4-FFF2-40B4-BE49-F238E27FC236}">
                <a16:creationId xmlns="" xmlns:a16="http://schemas.microsoft.com/office/drawing/2014/main" id="{56F961CA-F981-E750-CC70-9A62A9916ECA}"/>
              </a:ext>
            </a:extLst>
          </p:cNvPr>
          <p:cNvPicPr>
            <a:picLocks noChangeAspect="1"/>
          </p:cNvPicPr>
          <p:nvPr/>
        </p:nvPicPr>
        <p:blipFill>
          <a:blip r:embed="rId3"/>
          <a:stretch>
            <a:fillRect/>
          </a:stretch>
        </p:blipFill>
        <p:spPr>
          <a:xfrm>
            <a:off x="1518373" y="2778702"/>
            <a:ext cx="3362325" cy="3857625"/>
          </a:xfrm>
          <a:prstGeom prst="rect">
            <a:avLst/>
          </a:prstGeom>
        </p:spPr>
      </p:pic>
    </p:spTree>
    <p:extLst>
      <p:ext uri="{BB962C8B-B14F-4D97-AF65-F5344CB8AC3E}">
        <p14:creationId xmlns:p14="http://schemas.microsoft.com/office/powerpoint/2010/main" val="358736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1F845F-B95D-CADF-0347-BA7FD10CF0CB}"/>
              </a:ext>
            </a:extLst>
          </p:cNvPr>
          <p:cNvSpPr>
            <a:spLocks noGrp="1"/>
          </p:cNvSpPr>
          <p:nvPr>
            <p:ph type="title"/>
          </p:nvPr>
        </p:nvSpPr>
        <p:spPr/>
        <p:txBody>
          <a:bodyPr>
            <a:normAutofit/>
          </a:bodyPr>
          <a:lstStyle/>
          <a:p>
            <a:r>
              <a:rPr lang="en-US" sz="4000" b="1" i="0" dirty="0">
                <a:effectLst/>
                <a:latin typeface="+mn-lt"/>
              </a:rPr>
              <a:t>Types of OLAP</a:t>
            </a:r>
            <a:br>
              <a:rPr lang="en-US" sz="4000" b="1" i="0" dirty="0">
                <a:effectLst/>
                <a:latin typeface="+mn-lt"/>
              </a:rPr>
            </a:br>
            <a:endParaRPr lang="en-US" sz="4000" b="1" dirty="0">
              <a:latin typeface="+mn-lt"/>
            </a:endParaRPr>
          </a:p>
        </p:txBody>
      </p:sp>
      <p:sp>
        <p:nvSpPr>
          <p:cNvPr id="3" name="Content Placeholder 2">
            <a:extLst>
              <a:ext uri="{FF2B5EF4-FFF2-40B4-BE49-F238E27FC236}">
                <a16:creationId xmlns="" xmlns:a16="http://schemas.microsoft.com/office/drawing/2014/main" id="{10DBA05E-1EAE-BF05-6D75-BCEFB38600EF}"/>
              </a:ext>
            </a:extLst>
          </p:cNvPr>
          <p:cNvSpPr>
            <a:spLocks noGrp="1"/>
          </p:cNvSpPr>
          <p:nvPr>
            <p:ph idx="1"/>
          </p:nvPr>
        </p:nvSpPr>
        <p:spPr>
          <a:xfrm>
            <a:off x="512617" y="1177636"/>
            <a:ext cx="11194473" cy="4999327"/>
          </a:xfrm>
        </p:spPr>
        <p:txBody>
          <a:bodyPr/>
          <a:lstStyle/>
          <a:p>
            <a:pPr algn="just"/>
            <a:r>
              <a:rPr lang="en-US" b="0" i="0" dirty="0">
                <a:effectLst/>
              </a:rPr>
              <a:t>There are three main types of OLAP servers are as following:</a:t>
            </a:r>
          </a:p>
          <a:p>
            <a:pPr algn="just"/>
            <a:r>
              <a:rPr lang="en-US" b="1" i="0" dirty="0">
                <a:effectLst/>
              </a:rPr>
              <a:t>ROLAP</a:t>
            </a:r>
            <a:r>
              <a:rPr lang="en-US" b="0" i="0" dirty="0">
                <a:effectLst/>
              </a:rPr>
              <a:t> stands for Relational OLAP, an application based on relational DBMSs.</a:t>
            </a:r>
          </a:p>
          <a:p>
            <a:pPr algn="just"/>
            <a:r>
              <a:rPr lang="en-US" b="1" i="0" dirty="0">
                <a:effectLst/>
              </a:rPr>
              <a:t>MOLAP</a:t>
            </a:r>
            <a:r>
              <a:rPr lang="en-US" b="0" i="0" dirty="0">
                <a:effectLst/>
              </a:rPr>
              <a:t> stands for Multidimensional OLAP, an application based on multidimensional DBMSs.</a:t>
            </a:r>
          </a:p>
          <a:p>
            <a:pPr algn="just"/>
            <a:r>
              <a:rPr lang="en-US" b="1" i="0" dirty="0">
                <a:effectLst/>
              </a:rPr>
              <a:t>HOLAP</a:t>
            </a:r>
            <a:r>
              <a:rPr lang="en-US" b="0" i="0" dirty="0">
                <a:effectLst/>
              </a:rPr>
              <a:t> stands for Hybrid OLAP, an application using both relational and multidimensional techniques.</a:t>
            </a:r>
          </a:p>
          <a:p>
            <a:endParaRPr lang="en-US" dirty="0"/>
          </a:p>
        </p:txBody>
      </p:sp>
    </p:spTree>
    <p:extLst>
      <p:ext uri="{BB962C8B-B14F-4D97-AF65-F5344CB8AC3E}">
        <p14:creationId xmlns:p14="http://schemas.microsoft.com/office/powerpoint/2010/main" val="2854903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2007</TotalTime>
  <Words>2570</Words>
  <Application>Microsoft Office PowerPoint</Application>
  <PresentationFormat>Custom</PresentationFormat>
  <Paragraphs>440</Paragraphs>
  <Slides>44</Slides>
  <Notes>15</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Unit 6 NOSQL Databases</vt:lpstr>
      <vt:lpstr>Contents</vt:lpstr>
      <vt:lpstr>NoSQL databases "not only SQL"</vt:lpstr>
      <vt:lpstr>SQL VS NOSQL</vt:lpstr>
      <vt:lpstr>Example</vt:lpstr>
      <vt:lpstr>Types of NoSQL databases</vt:lpstr>
      <vt:lpstr>Types of NoSQL databases</vt:lpstr>
      <vt:lpstr>PowerPoint Presentation</vt:lpstr>
      <vt:lpstr>Types of NoSQL databases</vt:lpstr>
      <vt:lpstr>How column-oriented databases work </vt:lpstr>
      <vt:lpstr>Types of NoSQL databases</vt:lpstr>
      <vt:lpstr>PowerPoint Presentation</vt:lpstr>
      <vt:lpstr>PowerPoint Presentation</vt:lpstr>
      <vt:lpstr>Types of NoSQL databases</vt:lpstr>
      <vt:lpstr>PowerPoint Presentation</vt:lpstr>
      <vt:lpstr>Types of NoSQL databases</vt:lpstr>
      <vt:lpstr>Benefits of graph databases </vt:lpstr>
      <vt:lpstr>PowerPoint Presentation</vt:lpstr>
      <vt:lpstr>PowerPoint Presentation</vt:lpstr>
      <vt:lpstr>What is the CAP Theorem? </vt:lpstr>
      <vt:lpstr>Key Features of NoSQL :</vt:lpstr>
      <vt:lpstr>Key Features of NoSQL :</vt:lpstr>
      <vt:lpstr>When should NoSQL be used</vt:lpstr>
      <vt:lpstr>Data Warehousing</vt:lpstr>
      <vt:lpstr>Why You Need a Data Warehouse? </vt:lpstr>
      <vt:lpstr>PowerPoint Presentation</vt:lpstr>
      <vt:lpstr>Characteristics of data warehousing </vt:lpstr>
      <vt:lpstr>Data Integration</vt:lpstr>
      <vt:lpstr>Characteristics of data warehousing </vt:lpstr>
      <vt:lpstr>Example Applications of Data Warehousing </vt:lpstr>
      <vt:lpstr>Benefits of Datawarehouse</vt:lpstr>
      <vt:lpstr>Architecture &amp; Components of Data Warehouse </vt:lpstr>
      <vt:lpstr>Architecture &amp; Components of Data Warehouse </vt:lpstr>
      <vt:lpstr>Architecture &amp; Components of Data Warehouse </vt:lpstr>
      <vt:lpstr>Architecture &amp; Components of Data Warehouse </vt:lpstr>
      <vt:lpstr>Architecture &amp; Components of Data Warehouse </vt:lpstr>
      <vt:lpstr>Online Analytical Processing (OLAP)</vt:lpstr>
      <vt:lpstr>Online Analytical Processing (OLAP)</vt:lpstr>
      <vt:lpstr>Online Analytical Processing (OLAP)</vt:lpstr>
      <vt:lpstr>Online Analytical Processing (OLAP)</vt:lpstr>
      <vt:lpstr>Online Analytical Processing (OLAP)</vt:lpstr>
      <vt:lpstr>Online Analytical Processing (OLAP)</vt:lpstr>
      <vt:lpstr>Online Analytical Processing (OLAP)</vt:lpstr>
      <vt:lpstr>Types of OLAP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NOSQL Databases</dc:title>
  <dc:creator>Ranjeetsingh Suryawanshi</dc:creator>
  <cp:lastModifiedBy>DELL-PC</cp:lastModifiedBy>
  <cp:revision>111</cp:revision>
  <dcterms:created xsi:type="dcterms:W3CDTF">2022-11-17T16:35:50Z</dcterms:created>
  <dcterms:modified xsi:type="dcterms:W3CDTF">2025-10-09T06:40:05Z</dcterms:modified>
</cp:coreProperties>
</file>