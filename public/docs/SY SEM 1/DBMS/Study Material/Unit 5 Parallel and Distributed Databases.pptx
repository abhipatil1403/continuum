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57" r:id="rId3"/>
    <p:sldId id="284" r:id="rId4"/>
    <p:sldId id="285" r:id="rId5"/>
    <p:sldId id="279" r:id="rId6"/>
    <p:sldId id="289" r:id="rId7"/>
    <p:sldId id="290" r:id="rId8"/>
    <p:sldId id="270" r:id="rId9"/>
    <p:sldId id="271" r:id="rId10"/>
    <p:sldId id="272" r:id="rId11"/>
    <p:sldId id="273" r:id="rId12"/>
    <p:sldId id="280" r:id="rId13"/>
    <p:sldId id="274" r:id="rId14"/>
    <p:sldId id="281" r:id="rId15"/>
    <p:sldId id="278" r:id="rId16"/>
    <p:sldId id="282" r:id="rId17"/>
    <p:sldId id="283" r:id="rId18"/>
    <p:sldId id="275" r:id="rId19"/>
    <p:sldId id="276" r:id="rId20"/>
    <p:sldId id="277" r:id="rId21"/>
    <p:sldId id="258" r:id="rId22"/>
    <p:sldId id="259" r:id="rId23"/>
    <p:sldId id="260" r:id="rId24"/>
    <p:sldId id="261" r:id="rId25"/>
    <p:sldId id="262" r:id="rId26"/>
    <p:sldId id="263" r:id="rId27"/>
    <p:sldId id="264" r:id="rId28"/>
    <p:sldId id="266" r:id="rId29"/>
    <p:sldId id="267" r:id="rId30"/>
    <p:sldId id="268" r:id="rId31"/>
    <p:sldId id="265" r:id="rId32"/>
    <p:sldId id="269" r:id="rId33"/>
    <p:sldId id="286" r:id="rId34"/>
    <p:sldId id="287" r:id="rId35"/>
    <p:sldId id="288"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0112" autoAdjust="0"/>
  </p:normalViewPr>
  <p:slideViewPr>
    <p:cSldViewPr snapToGrid="0">
      <p:cViewPr>
        <p:scale>
          <a:sx n="74" d="100"/>
          <a:sy n="74" d="100"/>
        </p:scale>
        <p:origin x="-498" y="21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E92BF0-51EF-4B85-8031-BFABB23B0EF7}" type="datetimeFigureOut">
              <a:rPr lang="en-US" smtClean="0"/>
              <a:t>09/10/2023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FAB19CE-2603-4A4B-A00C-78AC14F586C3}" type="slidenum">
              <a:rPr lang="en-US" smtClean="0"/>
              <a:t>‹#›</a:t>
            </a:fld>
            <a:endParaRPr lang="en-US"/>
          </a:p>
        </p:txBody>
      </p:sp>
    </p:spTree>
    <p:extLst>
      <p:ext uri="{BB962C8B-B14F-4D97-AF65-F5344CB8AC3E}">
        <p14:creationId xmlns:p14="http://schemas.microsoft.com/office/powerpoint/2010/main" val="12039564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exploredatabase.com/2014/02/parallel-database-architectures.html"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 parallel database, for example, allows a large online retailer to have thousands of requests of users accessing information at the same time. </a:t>
            </a:r>
            <a:r>
              <a:rPr lang="en-US" sz="1200" b="0" i="0" kern="1200" smtClean="0">
                <a:solidFill>
                  <a:schemeClr val="tx1"/>
                </a:solidFill>
                <a:effectLst/>
                <a:latin typeface="+mn-lt"/>
                <a:ea typeface="+mn-ea"/>
                <a:cs typeface="+mn-cs"/>
              </a:rPr>
              <a:t>This level of processing performance is not possible with single server systems.</a:t>
            </a:r>
            <a:endParaRPr lang="en-US"/>
          </a:p>
        </p:txBody>
      </p:sp>
      <p:sp>
        <p:nvSpPr>
          <p:cNvPr id="4" name="Slide Number Placeholder 3"/>
          <p:cNvSpPr>
            <a:spLocks noGrp="1"/>
          </p:cNvSpPr>
          <p:nvPr>
            <p:ph type="sldNum" sz="quarter" idx="10"/>
          </p:nvPr>
        </p:nvSpPr>
        <p:spPr/>
        <p:txBody>
          <a:bodyPr/>
          <a:lstStyle/>
          <a:p>
            <a:fld id="{0FAB19CE-2603-4A4B-A00C-78AC14F586C3}" type="slidenum">
              <a:rPr lang="en-US" smtClean="0"/>
              <a:t>3</a:t>
            </a:fld>
            <a:endParaRPr lang="en-US"/>
          </a:p>
        </p:txBody>
      </p:sp>
    </p:spTree>
    <p:extLst>
      <p:ext uri="{BB962C8B-B14F-4D97-AF65-F5344CB8AC3E}">
        <p14:creationId xmlns:p14="http://schemas.microsoft.com/office/powerpoint/2010/main" val="3578173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Speedup –</a:t>
            </a:r>
            <a:r>
              <a:rPr lang="en-US" dirty="0" smtClean="0"/>
              <a:t/>
            </a:r>
            <a:br>
              <a:rPr lang="en-US" dirty="0" smtClean="0"/>
            </a:br>
            <a:r>
              <a:rPr lang="en-US" sz="1200" b="0" i="0" kern="1200" dirty="0" smtClean="0">
                <a:solidFill>
                  <a:schemeClr val="tx1"/>
                </a:solidFill>
                <a:effectLst/>
                <a:latin typeface="+mn-lt"/>
                <a:ea typeface="+mn-ea"/>
                <a:cs typeface="+mn-cs"/>
              </a:rPr>
              <a:t>The ability to execute the tasks in less time by increasing the number of resources is called Speedup.</a:t>
            </a:r>
          </a:p>
          <a:p>
            <a:r>
              <a:rPr lang="en-US" b="1" dirty="0" smtClean="0">
                <a:effectLst/>
              </a:rPr>
              <a:t>Speedup=time original/time parallel</a:t>
            </a:r>
            <a:r>
              <a:rPr lang="en-US" dirty="0" smtClean="0"/>
              <a:t> Where , time original = time required to execute the task using 1 processor time parallel = time required to execute the task using 'n' processors</a:t>
            </a:r>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Scale-up –</a:t>
            </a:r>
            <a:r>
              <a:rPr lang="en-US" dirty="0" smtClean="0"/>
              <a:t/>
            </a:r>
            <a:br>
              <a:rPr lang="en-US" dirty="0" smtClean="0"/>
            </a:br>
            <a:r>
              <a:rPr lang="en-US" sz="1200" b="0" i="0" kern="1200" dirty="0" smtClean="0">
                <a:solidFill>
                  <a:schemeClr val="tx1"/>
                </a:solidFill>
                <a:effectLst/>
                <a:latin typeface="+mn-lt"/>
                <a:ea typeface="+mn-ea"/>
                <a:cs typeface="+mn-cs"/>
              </a:rPr>
              <a:t>The ability to maintain the performance of the system when both workload and resources increase proportionally.</a:t>
            </a:r>
          </a:p>
          <a:p>
            <a:r>
              <a:rPr lang="en-US" b="1" dirty="0" err="1" smtClean="0">
                <a:effectLst/>
              </a:rPr>
              <a:t>Scaleup</a:t>
            </a:r>
            <a:r>
              <a:rPr lang="en-US" b="1" dirty="0" smtClean="0">
                <a:effectLst/>
              </a:rPr>
              <a:t> = Volume Parallel/Volume Original</a:t>
            </a:r>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Example –</a:t>
            </a:r>
            <a:r>
              <a:rPr lang="en-US" dirty="0" smtClean="0"/>
              <a:t/>
            </a:r>
            <a:br>
              <a:rPr lang="en-US" dirty="0" smtClean="0"/>
            </a:br>
            <a:r>
              <a:rPr lang="en-US" sz="1200" b="0" i="0" kern="1200" dirty="0" smtClean="0">
                <a:solidFill>
                  <a:schemeClr val="tx1"/>
                </a:solidFill>
                <a:effectLst/>
                <a:latin typeface="+mn-lt"/>
                <a:ea typeface="+mn-ea"/>
                <a:cs typeface="+mn-cs"/>
              </a:rPr>
              <a:t>20 users are using a CPU at 100% efficiency. If we try to add more users, then it’s not possible for a single processor to handle additional users. A new processor can be added to serve the users parallel. And will provide 200% efficiency.</a:t>
            </a:r>
            <a:endParaRPr lang="en-US" dirty="0"/>
          </a:p>
        </p:txBody>
      </p:sp>
      <p:sp>
        <p:nvSpPr>
          <p:cNvPr id="4" name="Slide Number Placeholder 3"/>
          <p:cNvSpPr>
            <a:spLocks noGrp="1"/>
          </p:cNvSpPr>
          <p:nvPr>
            <p:ph type="sldNum" sz="quarter" idx="10"/>
          </p:nvPr>
        </p:nvSpPr>
        <p:spPr/>
        <p:txBody>
          <a:bodyPr/>
          <a:lstStyle/>
          <a:p>
            <a:fld id="{0FAB19CE-2603-4A4B-A00C-78AC14F586C3}" type="slidenum">
              <a:rPr lang="en-US" smtClean="0"/>
              <a:t>5</a:t>
            </a:fld>
            <a:endParaRPr lang="en-US"/>
          </a:p>
        </p:txBody>
      </p:sp>
    </p:spTree>
    <p:extLst>
      <p:ext uri="{BB962C8B-B14F-4D97-AF65-F5344CB8AC3E}">
        <p14:creationId xmlns:p14="http://schemas.microsoft.com/office/powerpoint/2010/main" val="426580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Large scale parallel database systems are increasingly used for:</a:t>
            </a:r>
          </a:p>
          <a:p>
            <a:r>
              <a:rPr lang="en-US" dirty="0" smtClean="0"/>
              <a:t>  -</a:t>
            </a:r>
            <a:r>
              <a:rPr lang="en-US" baseline="0" dirty="0" smtClean="0"/>
              <a:t> for storing large volumes of data</a:t>
            </a:r>
          </a:p>
          <a:p>
            <a:r>
              <a:rPr lang="en-US" baseline="0" dirty="0" smtClean="0"/>
              <a:t>  -processing time consuming decision support queries</a:t>
            </a:r>
          </a:p>
          <a:p>
            <a:r>
              <a:rPr lang="en-US" baseline="0" dirty="0" smtClean="0"/>
              <a:t>  -providing high throughout for transaction processing </a:t>
            </a:r>
          </a:p>
          <a:p>
            <a:r>
              <a:rPr lang="en-US" sz="1200" b="0" i="0" kern="1200" dirty="0" smtClean="0">
                <a:solidFill>
                  <a:schemeClr val="tx1"/>
                </a:solidFill>
                <a:effectLst/>
                <a:latin typeface="+mn-lt"/>
                <a:ea typeface="+mn-ea"/>
                <a:cs typeface="+mn-cs"/>
              </a:rPr>
              <a:t>Parallelism in a query allows us to parallel execution of multiple queries by decomposing them into the parts that work in parallel.</a:t>
            </a:r>
            <a:endParaRPr lang="en-US" dirty="0"/>
          </a:p>
        </p:txBody>
      </p:sp>
      <p:sp>
        <p:nvSpPr>
          <p:cNvPr id="4" name="Slide Number Placeholder 3"/>
          <p:cNvSpPr>
            <a:spLocks noGrp="1"/>
          </p:cNvSpPr>
          <p:nvPr>
            <p:ph type="sldNum" sz="quarter" idx="10"/>
          </p:nvPr>
        </p:nvSpPr>
        <p:spPr/>
        <p:txBody>
          <a:bodyPr/>
          <a:lstStyle/>
          <a:p>
            <a:fld id="{0FAB19CE-2603-4A4B-A00C-78AC14F586C3}" type="slidenum">
              <a:rPr lang="en-US" smtClean="0"/>
              <a:t>8</a:t>
            </a:fld>
            <a:endParaRPr lang="en-US"/>
          </a:p>
        </p:txBody>
      </p:sp>
    </p:spTree>
    <p:extLst>
      <p:ext uri="{BB962C8B-B14F-4D97-AF65-F5344CB8AC3E}">
        <p14:creationId xmlns:p14="http://schemas.microsoft.com/office/powerpoint/2010/main" val="20509800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smtClean="0">
                <a:solidFill>
                  <a:schemeClr val="tx1"/>
                </a:solidFill>
                <a:effectLst/>
                <a:latin typeface="+mn-lt"/>
                <a:ea typeface="+mn-ea"/>
                <a:cs typeface="+mn-cs"/>
              </a:rPr>
              <a:t>Advantages of Shared Memory:</a:t>
            </a:r>
          </a:p>
          <a:p>
            <a:pPr fontAlgn="base"/>
            <a:r>
              <a:rPr lang="en-US" sz="1200" b="1" i="0" kern="1200" dirty="0" smtClean="0">
                <a:solidFill>
                  <a:schemeClr val="tx1"/>
                </a:solidFill>
                <a:effectLst/>
                <a:latin typeface="+mn-lt"/>
                <a:ea typeface="+mn-ea"/>
                <a:cs typeface="+mn-cs"/>
              </a:rPr>
              <a:t>Data is easily accessed from various processors.</a:t>
            </a:r>
          </a:p>
          <a:p>
            <a:pPr fontAlgn="base"/>
            <a:r>
              <a:rPr lang="en-US" sz="1200" b="1" i="0" kern="1200" dirty="0" smtClean="0">
                <a:solidFill>
                  <a:schemeClr val="tx1"/>
                </a:solidFill>
                <a:effectLst/>
                <a:latin typeface="+mn-lt"/>
                <a:ea typeface="+mn-ea"/>
                <a:cs typeface="+mn-cs"/>
              </a:rPr>
              <a:t>A single processor can send messages to other processors efficiently.</a:t>
            </a:r>
          </a:p>
          <a:p>
            <a:pPr fontAlgn="base"/>
            <a:r>
              <a:rPr lang="en-US" sz="1200" b="0" i="0" kern="1200" dirty="0" smtClean="0">
                <a:solidFill>
                  <a:schemeClr val="tx1"/>
                </a:solidFill>
                <a:effectLst/>
                <a:latin typeface="+mn-lt"/>
                <a:ea typeface="+mn-ea"/>
                <a:cs typeface="+mn-cs"/>
              </a:rPr>
              <a:t>Disadvantage of Shared Memory:</a:t>
            </a:r>
          </a:p>
          <a:p>
            <a:pPr fontAlgn="base"/>
            <a:r>
              <a:rPr lang="en-US" sz="1200" b="0" i="0" kern="1200" dirty="0" smtClean="0">
                <a:solidFill>
                  <a:schemeClr val="tx1"/>
                </a:solidFill>
                <a:effectLst/>
                <a:latin typeface="+mn-lt"/>
                <a:ea typeface="+mn-ea"/>
                <a:cs typeface="+mn-cs"/>
              </a:rPr>
              <a:t>Waiting time for every single processor increases when all of them are uses.</a:t>
            </a:r>
          </a:p>
          <a:p>
            <a:pPr fontAlgn="base"/>
            <a:r>
              <a:rPr lang="en-US" sz="1200" b="0" i="0" kern="1200" dirty="0" smtClean="0">
                <a:solidFill>
                  <a:schemeClr val="tx1"/>
                </a:solidFill>
                <a:effectLst/>
                <a:latin typeface="+mn-lt"/>
                <a:ea typeface="+mn-ea"/>
                <a:cs typeface="+mn-cs"/>
              </a:rPr>
              <a:t>Bandwidth is also a problem</a:t>
            </a:r>
          </a:p>
          <a:p>
            <a:endParaRPr lang="en-US" dirty="0" smtClean="0"/>
          </a:p>
          <a:p>
            <a:r>
              <a:rPr lang="en-US" dirty="0" smtClean="0"/>
              <a:t>------------------------------------------------------------------------------------------------------------------------------------------</a:t>
            </a:r>
          </a:p>
          <a:p>
            <a:pPr fontAlgn="base"/>
            <a:r>
              <a:rPr lang="en-US" sz="1200" b="0" i="0" kern="1200" dirty="0" smtClean="0">
                <a:solidFill>
                  <a:schemeClr val="tx1"/>
                </a:solidFill>
                <a:effectLst/>
                <a:latin typeface="+mn-lt"/>
                <a:ea typeface="+mn-ea"/>
                <a:cs typeface="+mn-cs"/>
              </a:rPr>
              <a:t>Advantages of Shared Disk System:</a:t>
            </a:r>
          </a:p>
          <a:p>
            <a:pPr fontAlgn="base"/>
            <a:r>
              <a:rPr lang="en-US" sz="1200" b="1" i="0" kern="1200" dirty="0" smtClean="0">
                <a:solidFill>
                  <a:schemeClr val="tx1"/>
                </a:solidFill>
                <a:effectLst/>
                <a:latin typeface="+mn-lt"/>
                <a:ea typeface="+mn-ea"/>
                <a:cs typeface="+mn-cs"/>
              </a:rPr>
              <a:t>The fault tolerance can be achieved using this system</a:t>
            </a:r>
            <a:r>
              <a:rPr lang="en-US" sz="1200" b="1" i="0" kern="1200" dirty="0" smtClean="0">
                <a:solidFill>
                  <a:schemeClr val="tx1"/>
                </a:solidFill>
                <a:effectLst/>
                <a:latin typeface="+mn-lt"/>
                <a:ea typeface="+mn-ea"/>
                <a:cs typeface="+mn-cs"/>
              </a:rPr>
              <a:t>. Eliminates Single Points of Failure</a:t>
            </a:r>
            <a:endParaRPr lang="en-US" sz="1200" b="1" i="0" kern="1200" dirty="0" smtClean="0">
              <a:solidFill>
                <a:schemeClr val="tx1"/>
              </a:solidFill>
              <a:effectLst/>
              <a:latin typeface="+mn-lt"/>
              <a:ea typeface="+mn-ea"/>
              <a:cs typeface="+mn-cs"/>
            </a:endParaRPr>
          </a:p>
          <a:p>
            <a:pPr fontAlgn="base"/>
            <a:r>
              <a:rPr lang="en-US" sz="1200" b="0" i="0" kern="1200" dirty="0" smtClean="0">
                <a:solidFill>
                  <a:schemeClr val="tx1"/>
                </a:solidFill>
                <a:effectLst/>
                <a:latin typeface="+mn-lt"/>
                <a:ea typeface="+mn-ea"/>
                <a:cs typeface="+mn-cs"/>
              </a:rPr>
              <a:t>Disadvantages of Shared Disk System:</a:t>
            </a:r>
          </a:p>
          <a:p>
            <a:pPr fontAlgn="base"/>
            <a:r>
              <a:rPr lang="en-US" sz="1200" b="0" i="0" kern="1200" dirty="0" smtClean="0">
                <a:solidFill>
                  <a:srgbClr val="FF0000"/>
                </a:solidFill>
                <a:effectLst/>
                <a:latin typeface="+mn-lt"/>
                <a:ea typeface="+mn-ea"/>
                <a:cs typeface="+mn-cs"/>
              </a:rPr>
              <a:t>The addition of processors can slow down existing processors.</a:t>
            </a:r>
          </a:p>
          <a:p>
            <a:pPr fontAlgn="base"/>
            <a:r>
              <a:rPr lang="en-US" sz="1200" b="0" i="0" kern="1200" dirty="0" smtClean="0">
                <a:solidFill>
                  <a:schemeClr val="tx1"/>
                </a:solidFill>
                <a:effectLst/>
                <a:latin typeface="+mn-lt"/>
                <a:ea typeface="+mn-ea"/>
                <a:cs typeface="+mn-cs"/>
              </a:rPr>
              <a:t>Shared Disk System have a limited scalability meaning it is sometimes fixed.</a:t>
            </a:r>
          </a:p>
          <a:p>
            <a:endParaRPr lang="en-US" dirty="0"/>
          </a:p>
        </p:txBody>
      </p:sp>
      <p:sp>
        <p:nvSpPr>
          <p:cNvPr id="4" name="Slide Number Placeholder 3"/>
          <p:cNvSpPr>
            <a:spLocks noGrp="1"/>
          </p:cNvSpPr>
          <p:nvPr>
            <p:ph type="sldNum" sz="quarter" idx="10"/>
          </p:nvPr>
        </p:nvSpPr>
        <p:spPr/>
        <p:txBody>
          <a:bodyPr/>
          <a:lstStyle/>
          <a:p>
            <a:fld id="{0FAB19CE-2603-4A4B-A00C-78AC14F586C3}" type="slidenum">
              <a:rPr lang="en-US" smtClean="0"/>
              <a:t>9</a:t>
            </a:fld>
            <a:endParaRPr lang="en-US"/>
          </a:p>
        </p:txBody>
      </p:sp>
    </p:spTree>
    <p:extLst>
      <p:ext uri="{BB962C8B-B14F-4D97-AF65-F5344CB8AC3E}">
        <p14:creationId xmlns:p14="http://schemas.microsoft.com/office/powerpoint/2010/main" val="7932316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endParaRPr lang="en-US" sz="1200" b="0" i="0" kern="1200" dirty="0" smtClean="0">
              <a:solidFill>
                <a:schemeClr val="tx1"/>
              </a:solidFill>
              <a:effectLst/>
              <a:latin typeface="+mn-lt"/>
              <a:ea typeface="+mn-ea"/>
              <a:cs typeface="+mn-cs"/>
            </a:endParaRPr>
          </a:p>
          <a:p>
            <a:pPr fontAlgn="base"/>
            <a:r>
              <a:rPr lang="en-US" sz="1200" b="0" i="0" kern="1200" dirty="0" smtClean="0">
                <a:solidFill>
                  <a:schemeClr val="tx1"/>
                </a:solidFill>
                <a:effectLst/>
                <a:latin typeface="+mn-lt"/>
                <a:ea typeface="+mn-ea"/>
                <a:cs typeface="+mn-cs"/>
              </a:rPr>
              <a:t>he nodes are independent and self-sufficient as they have their own disk space and memory.</a:t>
            </a:r>
          </a:p>
          <a:p>
            <a:pPr fontAlgn="base"/>
            <a:endParaRPr lang="en-US" sz="1200" b="0" i="0" kern="1200" dirty="0" smtClean="0">
              <a:solidFill>
                <a:schemeClr val="tx1"/>
              </a:solidFill>
              <a:effectLst/>
              <a:latin typeface="+mn-lt"/>
              <a:ea typeface="+mn-ea"/>
              <a:cs typeface="+mn-cs"/>
            </a:endParaRPr>
          </a:p>
          <a:p>
            <a:pPr fontAlgn="base"/>
            <a:r>
              <a:rPr lang="en-US" sz="1200" b="0" i="0" kern="1200" dirty="0" smtClean="0">
                <a:solidFill>
                  <a:schemeClr val="tx1"/>
                </a:solidFill>
                <a:effectLst/>
                <a:latin typeface="+mn-lt"/>
                <a:ea typeface="+mn-ea"/>
                <a:cs typeface="+mn-cs"/>
              </a:rPr>
              <a:t>Advantage </a:t>
            </a:r>
            <a:r>
              <a:rPr lang="en-US" sz="1200" b="0" i="0" kern="1200" dirty="0" smtClean="0">
                <a:solidFill>
                  <a:schemeClr val="tx1"/>
                </a:solidFill>
                <a:effectLst/>
                <a:latin typeface="+mn-lt"/>
                <a:ea typeface="+mn-ea"/>
                <a:cs typeface="+mn-cs"/>
              </a:rPr>
              <a:t>of Shared Nothing System</a:t>
            </a:r>
          </a:p>
          <a:p>
            <a:pPr fontAlgn="base"/>
            <a:r>
              <a:rPr lang="en-US" sz="1200" b="1" i="0" kern="1200" dirty="0" smtClean="0">
                <a:solidFill>
                  <a:schemeClr val="tx1"/>
                </a:solidFill>
                <a:effectLst/>
                <a:latin typeface="+mn-lt"/>
                <a:ea typeface="+mn-ea"/>
                <a:cs typeface="+mn-cs"/>
              </a:rPr>
              <a:t>This system has more scalability.</a:t>
            </a:r>
          </a:p>
          <a:p>
            <a:pPr fontAlgn="base"/>
            <a:r>
              <a:rPr lang="en-US" sz="1200" b="0" i="0" kern="1200" dirty="0" smtClean="0">
                <a:solidFill>
                  <a:schemeClr val="tx1"/>
                </a:solidFill>
                <a:effectLst/>
                <a:latin typeface="+mn-lt"/>
                <a:ea typeface="+mn-ea"/>
                <a:cs typeface="+mn-cs"/>
              </a:rPr>
              <a:t>Number of processors and disk can be connected as per the requirement in share nothing disk system.</a:t>
            </a:r>
          </a:p>
          <a:p>
            <a:pPr fontAlgn="base"/>
            <a:r>
              <a:rPr lang="en-US" sz="1200" b="0" i="0" kern="1200" dirty="0" smtClean="0">
                <a:solidFill>
                  <a:schemeClr val="tx1"/>
                </a:solidFill>
                <a:effectLst/>
                <a:latin typeface="+mn-lt"/>
                <a:ea typeface="+mn-ea"/>
                <a:cs typeface="+mn-cs"/>
              </a:rPr>
              <a:t>Disadvantage of Shared Nothing system</a:t>
            </a:r>
          </a:p>
          <a:p>
            <a:pPr fontAlgn="base"/>
            <a:r>
              <a:rPr lang="en-US" sz="1200" b="0" i="0" kern="1200" dirty="0" smtClean="0">
                <a:solidFill>
                  <a:schemeClr val="tx1"/>
                </a:solidFill>
                <a:effectLst/>
                <a:latin typeface="+mn-lt"/>
                <a:ea typeface="+mn-ea"/>
                <a:cs typeface="+mn-cs"/>
              </a:rPr>
              <a:t>Must require the partitioning of data.</a:t>
            </a:r>
          </a:p>
          <a:p>
            <a:pPr fontAlgn="base"/>
            <a:r>
              <a:rPr lang="en-US" sz="1200" b="0" i="0" kern="1200" dirty="0" smtClean="0">
                <a:solidFill>
                  <a:schemeClr val="tx1"/>
                </a:solidFill>
                <a:effectLst/>
                <a:latin typeface="+mn-lt"/>
                <a:ea typeface="+mn-ea"/>
                <a:cs typeface="+mn-cs"/>
              </a:rPr>
              <a:t>Cost that need for this system is higher.</a:t>
            </a:r>
          </a:p>
          <a:p>
            <a:endParaRPr lang="en-US" dirty="0"/>
          </a:p>
        </p:txBody>
      </p:sp>
      <p:sp>
        <p:nvSpPr>
          <p:cNvPr id="4" name="Slide Number Placeholder 3"/>
          <p:cNvSpPr>
            <a:spLocks noGrp="1"/>
          </p:cNvSpPr>
          <p:nvPr>
            <p:ph type="sldNum" sz="quarter" idx="10"/>
          </p:nvPr>
        </p:nvSpPr>
        <p:spPr/>
        <p:txBody>
          <a:bodyPr/>
          <a:lstStyle/>
          <a:p>
            <a:fld id="{0FAB19CE-2603-4A4B-A00C-78AC14F586C3}" type="slidenum">
              <a:rPr lang="en-US" smtClean="0"/>
              <a:t>10</a:t>
            </a:fld>
            <a:endParaRPr lang="en-US"/>
          </a:p>
        </p:txBody>
      </p:sp>
    </p:spTree>
    <p:extLst>
      <p:ext uri="{BB962C8B-B14F-4D97-AF65-F5344CB8AC3E}">
        <p14:creationId xmlns:p14="http://schemas.microsoft.com/office/powerpoint/2010/main" val="11444066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It is a form of parallelism in which the relations are partitioned on multiple disks a motive to reduce the retrieval time of relations from the disk. Within, the data inputted is partitioned and then processing is done in parallel with each partition. The results are merged after processing all the partitioned data. It is also known as </a:t>
            </a:r>
            <a:r>
              <a:rPr lang="en-US" sz="1200" b="1" i="0" kern="1200" dirty="0" smtClean="0">
                <a:solidFill>
                  <a:schemeClr val="tx1"/>
                </a:solidFill>
                <a:effectLst/>
                <a:latin typeface="+mn-lt"/>
                <a:ea typeface="+mn-ea"/>
                <a:cs typeface="+mn-cs"/>
              </a:rPr>
              <a:t>data-partitioning</a:t>
            </a:r>
            <a:r>
              <a:rPr lang="en-US" sz="1200" b="0" i="0" kern="1200" dirty="0" smtClean="0">
                <a:solidFill>
                  <a:schemeClr val="tx1"/>
                </a:solidFill>
                <a:effectLst/>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0FAB19CE-2603-4A4B-A00C-78AC14F586C3}" type="slidenum">
              <a:rPr lang="en-US" smtClean="0"/>
              <a:t>11</a:t>
            </a:fld>
            <a:endParaRPr lang="en-US"/>
          </a:p>
        </p:txBody>
      </p:sp>
    </p:spTree>
    <p:extLst>
      <p:ext uri="{BB962C8B-B14F-4D97-AF65-F5344CB8AC3E}">
        <p14:creationId xmlns:p14="http://schemas.microsoft.com/office/powerpoint/2010/main" val="17070278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Provides data clustering by partitioning attribute value. </a:t>
            </a:r>
            <a:endParaRPr lang="en-US" dirty="0"/>
          </a:p>
        </p:txBody>
      </p:sp>
      <p:sp>
        <p:nvSpPr>
          <p:cNvPr id="4" name="Slide Number Placeholder 3"/>
          <p:cNvSpPr>
            <a:spLocks noGrp="1"/>
          </p:cNvSpPr>
          <p:nvPr>
            <p:ph type="sldNum" sz="quarter" idx="10"/>
          </p:nvPr>
        </p:nvSpPr>
        <p:spPr/>
        <p:txBody>
          <a:bodyPr/>
          <a:lstStyle/>
          <a:p>
            <a:fld id="{0FAB19CE-2603-4A4B-A00C-78AC14F586C3}" type="slidenum">
              <a:rPr lang="en-US" smtClean="0"/>
              <a:t>15</a:t>
            </a:fld>
            <a:endParaRPr lang="en-US"/>
          </a:p>
        </p:txBody>
      </p:sp>
    </p:spTree>
    <p:extLst>
      <p:ext uri="{BB962C8B-B14F-4D97-AF65-F5344CB8AC3E}">
        <p14:creationId xmlns:p14="http://schemas.microsoft.com/office/powerpoint/2010/main" val="13148063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1" kern="1200" dirty="0" smtClean="0">
                <a:solidFill>
                  <a:schemeClr val="tx1"/>
                </a:solidFill>
                <a:effectLst/>
                <a:latin typeface="+mn-lt"/>
                <a:ea typeface="+mn-ea"/>
                <a:cs typeface="+mn-cs"/>
              </a:rPr>
              <a:t>Advantages</a:t>
            </a:r>
            <a:endParaRPr lang="en-US" sz="1200" b="1"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It increases Transaction Throughput. That is, number of transactions executed in a given time can be increased.</a:t>
            </a:r>
          </a:p>
          <a:p>
            <a:r>
              <a:rPr lang="en-US" sz="1200" b="1" i="0" kern="1200" dirty="0" smtClean="0">
                <a:solidFill>
                  <a:schemeClr val="tx1"/>
                </a:solidFill>
                <a:effectLst/>
                <a:latin typeface="+mn-lt"/>
                <a:ea typeface="+mn-ea"/>
                <a:cs typeface="+mn-cs"/>
              </a:rPr>
              <a:t>It scales up the Transaction processing system. </a:t>
            </a:r>
            <a:r>
              <a:rPr lang="en-US" sz="1200" b="0" i="0" kern="1200" dirty="0" smtClean="0">
                <a:solidFill>
                  <a:schemeClr val="tx1"/>
                </a:solidFill>
                <a:effectLst/>
                <a:latin typeface="+mn-lt"/>
                <a:ea typeface="+mn-ea"/>
                <a:cs typeface="+mn-cs"/>
              </a:rPr>
              <a:t>Hence, best suited for On-Line Transaction Processing (OLTP) systems.</a:t>
            </a:r>
          </a:p>
          <a:p>
            <a:r>
              <a:rPr lang="en-US" sz="1200" b="1" i="1" kern="1200" dirty="0" smtClean="0">
                <a:solidFill>
                  <a:schemeClr val="tx1"/>
                </a:solidFill>
                <a:effectLst/>
                <a:latin typeface="+mn-lt"/>
                <a:ea typeface="+mn-ea"/>
                <a:cs typeface="+mn-cs"/>
              </a:rPr>
              <a:t>Supported Parallel Database Architectures</a:t>
            </a:r>
            <a:endParaRPr lang="en-US" sz="1200" b="1"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It is easy to implement in </a:t>
            </a:r>
            <a:r>
              <a:rPr lang="en-US" sz="1200" b="0" i="0" u="sng" kern="1200" dirty="0" smtClean="0">
                <a:solidFill>
                  <a:schemeClr val="tx1"/>
                </a:solidFill>
                <a:effectLst/>
                <a:latin typeface="+mn-lt"/>
                <a:ea typeface="+mn-ea"/>
                <a:cs typeface="+mn-cs"/>
                <a:hlinkClick r:id="rId3"/>
              </a:rPr>
              <a:t>Shared Memory</a:t>
            </a:r>
            <a:r>
              <a:rPr lang="en-US" sz="1200" b="0" i="0" kern="1200" dirty="0" smtClean="0">
                <a:solidFill>
                  <a:schemeClr val="tx1"/>
                </a:solidFill>
                <a:effectLst/>
                <a:latin typeface="+mn-lt"/>
                <a:ea typeface="+mn-ea"/>
                <a:cs typeface="+mn-cs"/>
              </a:rPr>
              <a:t> Parallel System. Lock tables and Log information are maintained in the same memory. Hence, it is easy to handle those transactions which shares locks with other transactions. Locking and logging can be done efficiently.</a:t>
            </a:r>
          </a:p>
          <a:p>
            <a:endParaRPr lang="en-US" dirty="0"/>
          </a:p>
        </p:txBody>
      </p:sp>
      <p:sp>
        <p:nvSpPr>
          <p:cNvPr id="4" name="Slide Number Placeholder 3"/>
          <p:cNvSpPr>
            <a:spLocks noGrp="1"/>
          </p:cNvSpPr>
          <p:nvPr>
            <p:ph type="sldNum" sz="quarter" idx="10"/>
          </p:nvPr>
        </p:nvSpPr>
        <p:spPr/>
        <p:txBody>
          <a:bodyPr/>
          <a:lstStyle/>
          <a:p>
            <a:fld id="{0FAB19CE-2603-4A4B-A00C-78AC14F586C3}" type="slidenum">
              <a:rPr lang="en-US" smtClean="0"/>
              <a:t>18</a:t>
            </a:fld>
            <a:endParaRPr lang="en-US"/>
          </a:p>
        </p:txBody>
      </p:sp>
    </p:spTree>
    <p:extLst>
      <p:ext uri="{BB962C8B-B14F-4D97-AF65-F5344CB8AC3E}">
        <p14:creationId xmlns:p14="http://schemas.microsoft.com/office/powerpoint/2010/main" val="37934958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1" kern="1200" dirty="0" smtClean="0">
                <a:solidFill>
                  <a:schemeClr val="tx1"/>
                </a:solidFill>
                <a:effectLst/>
                <a:latin typeface="+mn-lt"/>
                <a:ea typeface="+mn-ea"/>
                <a:cs typeface="+mn-cs"/>
              </a:rPr>
              <a:t>Advantages</a:t>
            </a:r>
            <a:endParaRPr lang="en-US" sz="1200" b="1"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To speed up a single complex long running queries.</a:t>
            </a:r>
          </a:p>
          <a:p>
            <a:r>
              <a:rPr lang="en-US" sz="1200" b="0" i="0" kern="1200" dirty="0" smtClean="0">
                <a:solidFill>
                  <a:schemeClr val="tx1"/>
                </a:solidFill>
                <a:effectLst/>
                <a:latin typeface="+mn-lt"/>
                <a:ea typeface="+mn-ea"/>
                <a:cs typeface="+mn-cs"/>
              </a:rPr>
              <a:t>Best suited for complex scientific calculations (queries).</a:t>
            </a:r>
          </a:p>
          <a:p>
            <a:endParaRPr lang="en-US" dirty="0" smtClean="0"/>
          </a:p>
          <a:p>
            <a:r>
              <a:rPr lang="en-US" sz="1200" b="1" i="1" kern="1200" dirty="0" smtClean="0">
                <a:solidFill>
                  <a:schemeClr val="tx1"/>
                </a:solidFill>
                <a:effectLst/>
                <a:latin typeface="+mn-lt"/>
                <a:ea typeface="+mn-ea"/>
                <a:cs typeface="+mn-cs"/>
              </a:rPr>
              <a:t>Example Database systems which support Intra-query Parallelism</a:t>
            </a:r>
            <a:endParaRPr lang="en-US" sz="1200" b="1"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Informix, </a:t>
            </a:r>
            <a:r>
              <a:rPr lang="en-US" sz="1200" b="0" i="0" kern="1200" dirty="0" err="1" smtClean="0">
                <a:solidFill>
                  <a:schemeClr val="tx1"/>
                </a:solidFill>
                <a:effectLst/>
                <a:latin typeface="+mn-lt"/>
                <a:ea typeface="+mn-ea"/>
                <a:cs typeface="+mn-cs"/>
              </a:rPr>
              <a:t>Terradata</a:t>
            </a:r>
            <a:endParaRPr lang="en-US" sz="1200" b="0" i="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0FAB19CE-2603-4A4B-A00C-78AC14F586C3}" type="slidenum">
              <a:rPr lang="en-US" smtClean="0"/>
              <a:t>19</a:t>
            </a:fld>
            <a:endParaRPr lang="en-US"/>
          </a:p>
        </p:txBody>
      </p:sp>
    </p:spTree>
    <p:extLst>
      <p:ext uri="{BB962C8B-B14F-4D97-AF65-F5344CB8AC3E}">
        <p14:creationId xmlns:p14="http://schemas.microsoft.com/office/powerpoint/2010/main" val="12485328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A155B3C-E4AB-13C3-3CB7-D371E82B6F8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7CB2357B-0011-BF3F-1018-50A8889440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 xmlns:a16="http://schemas.microsoft.com/office/drawing/2014/main" id="{38AC0E7E-6A0C-3A83-7E61-575CBD84740B}"/>
              </a:ext>
            </a:extLst>
          </p:cNvPr>
          <p:cNvSpPr>
            <a:spLocks noGrp="1"/>
          </p:cNvSpPr>
          <p:nvPr>
            <p:ph type="dt" sz="half" idx="10"/>
          </p:nvPr>
        </p:nvSpPr>
        <p:spPr/>
        <p:txBody>
          <a:bodyPr/>
          <a:lstStyle/>
          <a:p>
            <a:fld id="{5C4C2B58-E1F9-4B13-AAEF-798EB2961D1B}" type="datetimeFigureOut">
              <a:rPr lang="en-US" smtClean="0"/>
              <a:t>09/10/2023</a:t>
            </a:fld>
            <a:endParaRPr lang="en-US"/>
          </a:p>
        </p:txBody>
      </p:sp>
      <p:sp>
        <p:nvSpPr>
          <p:cNvPr id="5" name="Footer Placeholder 4">
            <a:extLst>
              <a:ext uri="{FF2B5EF4-FFF2-40B4-BE49-F238E27FC236}">
                <a16:creationId xmlns="" xmlns:a16="http://schemas.microsoft.com/office/drawing/2014/main" id="{17E9DA13-32DC-B5AE-C4D6-08BC471295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3CE02472-11AB-9902-F2C7-8E222887A717}"/>
              </a:ext>
            </a:extLst>
          </p:cNvPr>
          <p:cNvSpPr>
            <a:spLocks noGrp="1"/>
          </p:cNvSpPr>
          <p:nvPr>
            <p:ph type="sldNum" sz="quarter" idx="12"/>
          </p:nvPr>
        </p:nvSpPr>
        <p:spPr/>
        <p:txBody>
          <a:bodyPr/>
          <a:lstStyle/>
          <a:p>
            <a:fld id="{D1D76D45-878D-483C-911A-6D2DEC46A901}" type="slidenum">
              <a:rPr lang="en-US" smtClean="0"/>
              <a:t>‹#›</a:t>
            </a:fld>
            <a:endParaRPr lang="en-US"/>
          </a:p>
        </p:txBody>
      </p:sp>
    </p:spTree>
    <p:extLst>
      <p:ext uri="{BB962C8B-B14F-4D97-AF65-F5344CB8AC3E}">
        <p14:creationId xmlns:p14="http://schemas.microsoft.com/office/powerpoint/2010/main" val="2719017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86E40D4-EF4D-36C4-69F3-4592ED99C5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B6870D53-7BB8-D8C3-F975-64E219D75A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5ADEA894-FCFE-F4B1-8CF8-B89CD9A06FA0}"/>
              </a:ext>
            </a:extLst>
          </p:cNvPr>
          <p:cNvSpPr>
            <a:spLocks noGrp="1"/>
          </p:cNvSpPr>
          <p:nvPr>
            <p:ph type="dt" sz="half" idx="10"/>
          </p:nvPr>
        </p:nvSpPr>
        <p:spPr/>
        <p:txBody>
          <a:bodyPr/>
          <a:lstStyle/>
          <a:p>
            <a:fld id="{5C4C2B58-E1F9-4B13-AAEF-798EB2961D1B}" type="datetimeFigureOut">
              <a:rPr lang="en-US" smtClean="0"/>
              <a:t>09/10/2023</a:t>
            </a:fld>
            <a:endParaRPr lang="en-US"/>
          </a:p>
        </p:txBody>
      </p:sp>
      <p:sp>
        <p:nvSpPr>
          <p:cNvPr id="5" name="Footer Placeholder 4">
            <a:extLst>
              <a:ext uri="{FF2B5EF4-FFF2-40B4-BE49-F238E27FC236}">
                <a16:creationId xmlns="" xmlns:a16="http://schemas.microsoft.com/office/drawing/2014/main" id="{9A3B3E48-96EC-E4A2-92D8-649B530A33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799662B5-9B65-1B87-97A1-9CD66E1CA938}"/>
              </a:ext>
            </a:extLst>
          </p:cNvPr>
          <p:cNvSpPr>
            <a:spLocks noGrp="1"/>
          </p:cNvSpPr>
          <p:nvPr>
            <p:ph type="sldNum" sz="quarter" idx="12"/>
          </p:nvPr>
        </p:nvSpPr>
        <p:spPr/>
        <p:txBody>
          <a:bodyPr/>
          <a:lstStyle/>
          <a:p>
            <a:fld id="{D1D76D45-878D-483C-911A-6D2DEC46A901}" type="slidenum">
              <a:rPr lang="en-US" smtClean="0"/>
              <a:t>‹#›</a:t>
            </a:fld>
            <a:endParaRPr lang="en-US"/>
          </a:p>
        </p:txBody>
      </p:sp>
    </p:spTree>
    <p:extLst>
      <p:ext uri="{BB962C8B-B14F-4D97-AF65-F5344CB8AC3E}">
        <p14:creationId xmlns:p14="http://schemas.microsoft.com/office/powerpoint/2010/main" val="18704719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ABEBEA2-6BE1-1EB1-4AE7-A4A531F2970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 xmlns:a16="http://schemas.microsoft.com/office/drawing/2014/main" id="{2F52900E-D2A0-B65F-6849-9CEB3B9D911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6F3E5F9C-46BD-BC39-FFFC-E38F8A2F0085}"/>
              </a:ext>
            </a:extLst>
          </p:cNvPr>
          <p:cNvSpPr>
            <a:spLocks noGrp="1"/>
          </p:cNvSpPr>
          <p:nvPr>
            <p:ph type="dt" sz="half" idx="10"/>
          </p:nvPr>
        </p:nvSpPr>
        <p:spPr/>
        <p:txBody>
          <a:bodyPr/>
          <a:lstStyle/>
          <a:p>
            <a:fld id="{5C4C2B58-E1F9-4B13-AAEF-798EB2961D1B}" type="datetimeFigureOut">
              <a:rPr lang="en-US" smtClean="0"/>
              <a:t>09/10/2023</a:t>
            </a:fld>
            <a:endParaRPr lang="en-US"/>
          </a:p>
        </p:txBody>
      </p:sp>
      <p:sp>
        <p:nvSpPr>
          <p:cNvPr id="5" name="Footer Placeholder 4">
            <a:extLst>
              <a:ext uri="{FF2B5EF4-FFF2-40B4-BE49-F238E27FC236}">
                <a16:creationId xmlns="" xmlns:a16="http://schemas.microsoft.com/office/drawing/2014/main" id="{57034B36-F9FD-9BD5-B801-B2651EB457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DDD5BD97-D426-1972-E15E-9308EE9BB64C}"/>
              </a:ext>
            </a:extLst>
          </p:cNvPr>
          <p:cNvSpPr>
            <a:spLocks noGrp="1"/>
          </p:cNvSpPr>
          <p:nvPr>
            <p:ph type="sldNum" sz="quarter" idx="12"/>
          </p:nvPr>
        </p:nvSpPr>
        <p:spPr/>
        <p:txBody>
          <a:bodyPr/>
          <a:lstStyle/>
          <a:p>
            <a:fld id="{D1D76D45-878D-483C-911A-6D2DEC46A901}" type="slidenum">
              <a:rPr lang="en-US" smtClean="0"/>
              <a:t>‹#›</a:t>
            </a:fld>
            <a:endParaRPr lang="en-US"/>
          </a:p>
        </p:txBody>
      </p:sp>
    </p:spTree>
    <p:extLst>
      <p:ext uri="{BB962C8B-B14F-4D97-AF65-F5344CB8AC3E}">
        <p14:creationId xmlns:p14="http://schemas.microsoft.com/office/powerpoint/2010/main" val="18698378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A72AD60-4511-1A1F-7CC9-1AF70B19DA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FE291372-F69E-359D-083E-21126ADC64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56B15E4B-395F-E051-346D-4EE77AD914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FFD12B79-3B68-4315-9713-CE2517773B52}"/>
              </a:ext>
            </a:extLst>
          </p:cNvPr>
          <p:cNvSpPr>
            <a:spLocks noGrp="1"/>
          </p:cNvSpPr>
          <p:nvPr>
            <p:ph type="dt" sz="half" idx="10"/>
          </p:nvPr>
        </p:nvSpPr>
        <p:spPr/>
        <p:txBody>
          <a:bodyPr/>
          <a:lstStyle/>
          <a:p>
            <a:fld id="{5C4C2B58-E1F9-4B13-AAEF-798EB2961D1B}" type="datetimeFigureOut">
              <a:rPr lang="en-US" smtClean="0"/>
              <a:t>09/10/2023</a:t>
            </a:fld>
            <a:endParaRPr lang="en-US"/>
          </a:p>
        </p:txBody>
      </p:sp>
      <p:sp>
        <p:nvSpPr>
          <p:cNvPr id="6" name="Footer Placeholder 5">
            <a:extLst>
              <a:ext uri="{FF2B5EF4-FFF2-40B4-BE49-F238E27FC236}">
                <a16:creationId xmlns="" xmlns:a16="http://schemas.microsoft.com/office/drawing/2014/main" id="{0E4B1F52-9A57-3BE0-8A8C-D63BC1C086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683FFA10-4933-21D4-88BD-92DCFC81C606}"/>
              </a:ext>
            </a:extLst>
          </p:cNvPr>
          <p:cNvSpPr>
            <a:spLocks noGrp="1"/>
          </p:cNvSpPr>
          <p:nvPr>
            <p:ph type="sldNum" sz="quarter" idx="12"/>
          </p:nvPr>
        </p:nvSpPr>
        <p:spPr/>
        <p:txBody>
          <a:bodyPr/>
          <a:lstStyle/>
          <a:p>
            <a:fld id="{D1D76D45-878D-483C-911A-6D2DEC46A901}" type="slidenum">
              <a:rPr lang="en-US" smtClean="0"/>
              <a:t>‹#›</a:t>
            </a:fld>
            <a:endParaRPr lang="en-US"/>
          </a:p>
        </p:txBody>
      </p:sp>
    </p:spTree>
    <p:extLst>
      <p:ext uri="{BB962C8B-B14F-4D97-AF65-F5344CB8AC3E}">
        <p14:creationId xmlns:p14="http://schemas.microsoft.com/office/powerpoint/2010/main" val="3356406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8224F0F-2B87-30F7-6E66-ADA91B42C40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 xmlns:a16="http://schemas.microsoft.com/office/drawing/2014/main" id="{29783DEB-43C0-EEFD-5BBF-24C66FECC2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312377C1-FE67-0A61-8DEB-E8CB721556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78DA6CAE-186A-F234-2E8F-2C3CE9CDBA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CE55F8FF-11FC-EA2D-1E5A-B23F8D216A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94157065-AAFC-6879-124E-D7167DBFDDF6}"/>
              </a:ext>
            </a:extLst>
          </p:cNvPr>
          <p:cNvSpPr>
            <a:spLocks noGrp="1"/>
          </p:cNvSpPr>
          <p:nvPr>
            <p:ph type="dt" sz="half" idx="10"/>
          </p:nvPr>
        </p:nvSpPr>
        <p:spPr/>
        <p:txBody>
          <a:bodyPr/>
          <a:lstStyle/>
          <a:p>
            <a:fld id="{5C4C2B58-E1F9-4B13-AAEF-798EB2961D1B}" type="datetimeFigureOut">
              <a:rPr lang="en-US" smtClean="0"/>
              <a:t>09/10/2023</a:t>
            </a:fld>
            <a:endParaRPr lang="en-US"/>
          </a:p>
        </p:txBody>
      </p:sp>
      <p:sp>
        <p:nvSpPr>
          <p:cNvPr id="8" name="Footer Placeholder 7">
            <a:extLst>
              <a:ext uri="{FF2B5EF4-FFF2-40B4-BE49-F238E27FC236}">
                <a16:creationId xmlns="" xmlns:a16="http://schemas.microsoft.com/office/drawing/2014/main" id="{D3FB3939-74F3-C22A-226E-9163399755B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 xmlns:a16="http://schemas.microsoft.com/office/drawing/2014/main" id="{DCE5CBDF-DB06-439F-A6EF-F294BC4ED001}"/>
              </a:ext>
            </a:extLst>
          </p:cNvPr>
          <p:cNvSpPr>
            <a:spLocks noGrp="1"/>
          </p:cNvSpPr>
          <p:nvPr>
            <p:ph type="sldNum" sz="quarter" idx="12"/>
          </p:nvPr>
        </p:nvSpPr>
        <p:spPr/>
        <p:txBody>
          <a:bodyPr/>
          <a:lstStyle/>
          <a:p>
            <a:fld id="{D1D76D45-878D-483C-911A-6D2DEC46A901}" type="slidenum">
              <a:rPr lang="en-US" smtClean="0"/>
              <a:t>‹#›</a:t>
            </a:fld>
            <a:endParaRPr lang="en-US"/>
          </a:p>
        </p:txBody>
      </p:sp>
    </p:spTree>
    <p:extLst>
      <p:ext uri="{BB962C8B-B14F-4D97-AF65-F5344CB8AC3E}">
        <p14:creationId xmlns:p14="http://schemas.microsoft.com/office/powerpoint/2010/main" val="28819048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2CD05A5-AB2A-BB36-11AC-B13EB1F9E07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BE460522-FF84-CC54-D42D-8823FE20F9D2}"/>
              </a:ext>
            </a:extLst>
          </p:cNvPr>
          <p:cNvSpPr>
            <a:spLocks noGrp="1"/>
          </p:cNvSpPr>
          <p:nvPr>
            <p:ph type="dt" sz="half" idx="10"/>
          </p:nvPr>
        </p:nvSpPr>
        <p:spPr/>
        <p:txBody>
          <a:bodyPr/>
          <a:lstStyle/>
          <a:p>
            <a:fld id="{5C4C2B58-E1F9-4B13-AAEF-798EB2961D1B}" type="datetimeFigureOut">
              <a:rPr lang="en-US" smtClean="0"/>
              <a:t>09/10/2023</a:t>
            </a:fld>
            <a:endParaRPr lang="en-US"/>
          </a:p>
        </p:txBody>
      </p:sp>
      <p:sp>
        <p:nvSpPr>
          <p:cNvPr id="4" name="Footer Placeholder 3">
            <a:extLst>
              <a:ext uri="{FF2B5EF4-FFF2-40B4-BE49-F238E27FC236}">
                <a16:creationId xmlns="" xmlns:a16="http://schemas.microsoft.com/office/drawing/2014/main" id="{D95AE425-C43F-2448-0D0D-411A1CD4170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 xmlns:a16="http://schemas.microsoft.com/office/drawing/2014/main" id="{5B129955-C03A-5270-9490-4E389E9739F5}"/>
              </a:ext>
            </a:extLst>
          </p:cNvPr>
          <p:cNvSpPr>
            <a:spLocks noGrp="1"/>
          </p:cNvSpPr>
          <p:nvPr>
            <p:ph type="sldNum" sz="quarter" idx="12"/>
          </p:nvPr>
        </p:nvSpPr>
        <p:spPr/>
        <p:txBody>
          <a:bodyPr/>
          <a:lstStyle/>
          <a:p>
            <a:fld id="{D1D76D45-878D-483C-911A-6D2DEC46A901}" type="slidenum">
              <a:rPr lang="en-US" smtClean="0"/>
              <a:t>‹#›</a:t>
            </a:fld>
            <a:endParaRPr lang="en-US"/>
          </a:p>
        </p:txBody>
      </p:sp>
    </p:spTree>
    <p:extLst>
      <p:ext uri="{BB962C8B-B14F-4D97-AF65-F5344CB8AC3E}">
        <p14:creationId xmlns:p14="http://schemas.microsoft.com/office/powerpoint/2010/main" val="4274604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5047D56E-63A7-12A4-71FC-79D852EE2CB6}"/>
              </a:ext>
            </a:extLst>
          </p:cNvPr>
          <p:cNvSpPr>
            <a:spLocks noGrp="1"/>
          </p:cNvSpPr>
          <p:nvPr>
            <p:ph type="dt" sz="half" idx="10"/>
          </p:nvPr>
        </p:nvSpPr>
        <p:spPr/>
        <p:txBody>
          <a:bodyPr/>
          <a:lstStyle/>
          <a:p>
            <a:fld id="{5C4C2B58-E1F9-4B13-AAEF-798EB2961D1B}" type="datetimeFigureOut">
              <a:rPr lang="en-US" smtClean="0"/>
              <a:t>09/10/2023</a:t>
            </a:fld>
            <a:endParaRPr lang="en-US"/>
          </a:p>
        </p:txBody>
      </p:sp>
      <p:sp>
        <p:nvSpPr>
          <p:cNvPr id="3" name="Footer Placeholder 2">
            <a:extLst>
              <a:ext uri="{FF2B5EF4-FFF2-40B4-BE49-F238E27FC236}">
                <a16:creationId xmlns="" xmlns:a16="http://schemas.microsoft.com/office/drawing/2014/main" id="{B49EDD95-6713-FDBA-B323-E57CF564D8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 xmlns:a16="http://schemas.microsoft.com/office/drawing/2014/main" id="{E8608EAE-4CE4-52A9-0B4B-D19B538A0F75}"/>
              </a:ext>
            </a:extLst>
          </p:cNvPr>
          <p:cNvSpPr>
            <a:spLocks noGrp="1"/>
          </p:cNvSpPr>
          <p:nvPr>
            <p:ph type="sldNum" sz="quarter" idx="12"/>
          </p:nvPr>
        </p:nvSpPr>
        <p:spPr/>
        <p:txBody>
          <a:bodyPr/>
          <a:lstStyle/>
          <a:p>
            <a:fld id="{D1D76D45-878D-483C-911A-6D2DEC46A901}" type="slidenum">
              <a:rPr lang="en-US" smtClean="0"/>
              <a:t>‹#›</a:t>
            </a:fld>
            <a:endParaRPr lang="en-US"/>
          </a:p>
        </p:txBody>
      </p:sp>
    </p:spTree>
    <p:extLst>
      <p:ext uri="{BB962C8B-B14F-4D97-AF65-F5344CB8AC3E}">
        <p14:creationId xmlns:p14="http://schemas.microsoft.com/office/powerpoint/2010/main" val="2524211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7B17B84-6CDC-9AD2-2A15-ED5802FE73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1BA92AD2-07FC-9D89-7490-B3746326AF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6B71556D-DBCB-4D53-4450-FBDEF23DD7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D483A44F-1FB5-2E48-40FA-2EC863931EE6}"/>
              </a:ext>
            </a:extLst>
          </p:cNvPr>
          <p:cNvSpPr>
            <a:spLocks noGrp="1"/>
          </p:cNvSpPr>
          <p:nvPr>
            <p:ph type="dt" sz="half" idx="10"/>
          </p:nvPr>
        </p:nvSpPr>
        <p:spPr/>
        <p:txBody>
          <a:bodyPr/>
          <a:lstStyle/>
          <a:p>
            <a:fld id="{5C4C2B58-E1F9-4B13-AAEF-798EB2961D1B}" type="datetimeFigureOut">
              <a:rPr lang="en-US" smtClean="0"/>
              <a:t>09/10/2023</a:t>
            </a:fld>
            <a:endParaRPr lang="en-US"/>
          </a:p>
        </p:txBody>
      </p:sp>
      <p:sp>
        <p:nvSpPr>
          <p:cNvPr id="6" name="Footer Placeholder 5">
            <a:extLst>
              <a:ext uri="{FF2B5EF4-FFF2-40B4-BE49-F238E27FC236}">
                <a16:creationId xmlns="" xmlns:a16="http://schemas.microsoft.com/office/drawing/2014/main" id="{88A293FB-7700-1DDE-1833-61399B30B9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56B062C0-6585-76A1-09F2-7EC8DCCE5A0E}"/>
              </a:ext>
            </a:extLst>
          </p:cNvPr>
          <p:cNvSpPr>
            <a:spLocks noGrp="1"/>
          </p:cNvSpPr>
          <p:nvPr>
            <p:ph type="sldNum" sz="quarter" idx="12"/>
          </p:nvPr>
        </p:nvSpPr>
        <p:spPr/>
        <p:txBody>
          <a:bodyPr/>
          <a:lstStyle/>
          <a:p>
            <a:fld id="{D1D76D45-878D-483C-911A-6D2DEC46A901}" type="slidenum">
              <a:rPr lang="en-US" smtClean="0"/>
              <a:t>‹#›</a:t>
            </a:fld>
            <a:endParaRPr lang="en-US"/>
          </a:p>
        </p:txBody>
      </p:sp>
    </p:spTree>
    <p:extLst>
      <p:ext uri="{BB962C8B-B14F-4D97-AF65-F5344CB8AC3E}">
        <p14:creationId xmlns:p14="http://schemas.microsoft.com/office/powerpoint/2010/main" val="3390637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B3BF474-9B08-E165-A956-DBAF4D0E38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ACFAD7B0-0205-AC6F-1C8A-D4231B126B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72AFB810-4E92-FF55-B864-1AC66B190F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7BF63B49-2113-F6E3-A2E4-058C046B8305}"/>
              </a:ext>
            </a:extLst>
          </p:cNvPr>
          <p:cNvSpPr>
            <a:spLocks noGrp="1"/>
          </p:cNvSpPr>
          <p:nvPr>
            <p:ph type="dt" sz="half" idx="10"/>
          </p:nvPr>
        </p:nvSpPr>
        <p:spPr/>
        <p:txBody>
          <a:bodyPr/>
          <a:lstStyle/>
          <a:p>
            <a:fld id="{5C4C2B58-E1F9-4B13-AAEF-798EB2961D1B}" type="datetimeFigureOut">
              <a:rPr lang="en-US" smtClean="0"/>
              <a:t>09/10/2023</a:t>
            </a:fld>
            <a:endParaRPr lang="en-US"/>
          </a:p>
        </p:txBody>
      </p:sp>
      <p:sp>
        <p:nvSpPr>
          <p:cNvPr id="6" name="Footer Placeholder 5">
            <a:extLst>
              <a:ext uri="{FF2B5EF4-FFF2-40B4-BE49-F238E27FC236}">
                <a16:creationId xmlns="" xmlns:a16="http://schemas.microsoft.com/office/drawing/2014/main" id="{E436574D-8D92-785A-07AC-6C0C7DE1D4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4165495E-DFD9-8A26-3848-F6E9016EA63F}"/>
              </a:ext>
            </a:extLst>
          </p:cNvPr>
          <p:cNvSpPr>
            <a:spLocks noGrp="1"/>
          </p:cNvSpPr>
          <p:nvPr>
            <p:ph type="sldNum" sz="quarter" idx="12"/>
          </p:nvPr>
        </p:nvSpPr>
        <p:spPr/>
        <p:txBody>
          <a:bodyPr/>
          <a:lstStyle/>
          <a:p>
            <a:fld id="{D1D76D45-878D-483C-911A-6D2DEC46A901}" type="slidenum">
              <a:rPr lang="en-US" smtClean="0"/>
              <a:t>‹#›</a:t>
            </a:fld>
            <a:endParaRPr lang="en-US"/>
          </a:p>
        </p:txBody>
      </p:sp>
    </p:spTree>
    <p:extLst>
      <p:ext uri="{BB962C8B-B14F-4D97-AF65-F5344CB8AC3E}">
        <p14:creationId xmlns:p14="http://schemas.microsoft.com/office/powerpoint/2010/main" val="27463476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66FD5C3-E0C8-AD6C-0DD7-CD26EF1030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B15384B4-F6FE-670D-852A-EF65F7466D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A455D347-61D1-1ECE-266F-9EEE52BD649B}"/>
              </a:ext>
            </a:extLst>
          </p:cNvPr>
          <p:cNvSpPr>
            <a:spLocks noGrp="1"/>
          </p:cNvSpPr>
          <p:nvPr>
            <p:ph type="dt" sz="half" idx="10"/>
          </p:nvPr>
        </p:nvSpPr>
        <p:spPr/>
        <p:txBody>
          <a:bodyPr/>
          <a:lstStyle/>
          <a:p>
            <a:fld id="{5C4C2B58-E1F9-4B13-AAEF-798EB2961D1B}" type="datetimeFigureOut">
              <a:rPr lang="en-US" smtClean="0"/>
              <a:t>09/10/2023</a:t>
            </a:fld>
            <a:endParaRPr lang="en-US"/>
          </a:p>
        </p:txBody>
      </p:sp>
      <p:sp>
        <p:nvSpPr>
          <p:cNvPr id="5" name="Footer Placeholder 4">
            <a:extLst>
              <a:ext uri="{FF2B5EF4-FFF2-40B4-BE49-F238E27FC236}">
                <a16:creationId xmlns="" xmlns:a16="http://schemas.microsoft.com/office/drawing/2014/main" id="{E496AE9B-D53D-4B8D-6969-FE56BCB6DC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3DA221FB-EF4F-1811-4F8F-CCFBA6DE00CF}"/>
              </a:ext>
            </a:extLst>
          </p:cNvPr>
          <p:cNvSpPr>
            <a:spLocks noGrp="1"/>
          </p:cNvSpPr>
          <p:nvPr>
            <p:ph type="sldNum" sz="quarter" idx="12"/>
          </p:nvPr>
        </p:nvSpPr>
        <p:spPr/>
        <p:txBody>
          <a:bodyPr/>
          <a:lstStyle/>
          <a:p>
            <a:fld id="{D1D76D45-878D-483C-911A-6D2DEC46A901}" type="slidenum">
              <a:rPr lang="en-US" smtClean="0"/>
              <a:t>‹#›</a:t>
            </a:fld>
            <a:endParaRPr lang="en-US"/>
          </a:p>
        </p:txBody>
      </p:sp>
    </p:spTree>
    <p:extLst>
      <p:ext uri="{BB962C8B-B14F-4D97-AF65-F5344CB8AC3E}">
        <p14:creationId xmlns:p14="http://schemas.microsoft.com/office/powerpoint/2010/main" val="799679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23035EEB-600E-DE4B-9563-C3B66DEDF2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0E60BB90-397A-8AB4-F3BB-8274BECCA1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61E5D4E2-3A70-F1BB-8669-9EA737522033}"/>
              </a:ext>
            </a:extLst>
          </p:cNvPr>
          <p:cNvSpPr>
            <a:spLocks noGrp="1"/>
          </p:cNvSpPr>
          <p:nvPr>
            <p:ph type="dt" sz="half" idx="10"/>
          </p:nvPr>
        </p:nvSpPr>
        <p:spPr/>
        <p:txBody>
          <a:bodyPr/>
          <a:lstStyle/>
          <a:p>
            <a:fld id="{5C4C2B58-E1F9-4B13-AAEF-798EB2961D1B}" type="datetimeFigureOut">
              <a:rPr lang="en-US" smtClean="0"/>
              <a:t>09/10/2023</a:t>
            </a:fld>
            <a:endParaRPr lang="en-US"/>
          </a:p>
        </p:txBody>
      </p:sp>
      <p:sp>
        <p:nvSpPr>
          <p:cNvPr id="5" name="Footer Placeholder 4">
            <a:extLst>
              <a:ext uri="{FF2B5EF4-FFF2-40B4-BE49-F238E27FC236}">
                <a16:creationId xmlns="" xmlns:a16="http://schemas.microsoft.com/office/drawing/2014/main" id="{A57A7F77-50B3-6453-1955-61B7F7564E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4D873262-5547-BC1E-8F6A-7ADE3338A95A}"/>
              </a:ext>
            </a:extLst>
          </p:cNvPr>
          <p:cNvSpPr>
            <a:spLocks noGrp="1"/>
          </p:cNvSpPr>
          <p:nvPr>
            <p:ph type="sldNum" sz="quarter" idx="12"/>
          </p:nvPr>
        </p:nvSpPr>
        <p:spPr/>
        <p:txBody>
          <a:bodyPr/>
          <a:lstStyle/>
          <a:p>
            <a:fld id="{D1D76D45-878D-483C-911A-6D2DEC46A901}" type="slidenum">
              <a:rPr lang="en-US" smtClean="0"/>
              <a:t>‹#›</a:t>
            </a:fld>
            <a:endParaRPr lang="en-US"/>
          </a:p>
        </p:txBody>
      </p:sp>
    </p:spTree>
    <p:extLst>
      <p:ext uri="{BB962C8B-B14F-4D97-AF65-F5344CB8AC3E}">
        <p14:creationId xmlns:p14="http://schemas.microsoft.com/office/powerpoint/2010/main" val="5343808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76528811-D140-2545-1288-6518CDE07F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4212ABCA-9B92-80E8-F538-F3E04A6089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0F39A99F-0D36-3B83-6193-ED5EFDF954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4C2B58-E1F9-4B13-AAEF-798EB2961D1B}" type="datetimeFigureOut">
              <a:rPr lang="en-US" smtClean="0"/>
              <a:t>09/10/2023</a:t>
            </a:fld>
            <a:endParaRPr lang="en-US"/>
          </a:p>
        </p:txBody>
      </p:sp>
      <p:sp>
        <p:nvSpPr>
          <p:cNvPr id="5" name="Footer Placeholder 4">
            <a:extLst>
              <a:ext uri="{FF2B5EF4-FFF2-40B4-BE49-F238E27FC236}">
                <a16:creationId xmlns="" xmlns:a16="http://schemas.microsoft.com/office/drawing/2014/main" id="{E70250A9-E192-128B-96DD-A6ACF1BA29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 xmlns:a16="http://schemas.microsoft.com/office/drawing/2014/main" id="{BE153048-4AAE-66AB-37E4-8701F835AC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D76D45-878D-483C-911A-6D2DEC46A901}" type="slidenum">
              <a:rPr lang="en-US" smtClean="0"/>
              <a:t>‹#›</a:t>
            </a:fld>
            <a:endParaRPr lang="en-US"/>
          </a:p>
        </p:txBody>
      </p:sp>
    </p:spTree>
    <p:extLst>
      <p:ext uri="{BB962C8B-B14F-4D97-AF65-F5344CB8AC3E}">
        <p14:creationId xmlns:p14="http://schemas.microsoft.com/office/powerpoint/2010/main" val="29747486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328D8D6-D1B9-DB33-BDAE-B24EF8849C9D}"/>
              </a:ext>
            </a:extLst>
          </p:cNvPr>
          <p:cNvSpPr>
            <a:spLocks noGrp="1"/>
          </p:cNvSpPr>
          <p:nvPr>
            <p:ph type="ctrTitle"/>
          </p:nvPr>
        </p:nvSpPr>
        <p:spPr>
          <a:xfrm>
            <a:off x="471055" y="1122363"/>
            <a:ext cx="11263745" cy="2387600"/>
          </a:xfrm>
        </p:spPr>
        <p:txBody>
          <a:bodyPr>
            <a:normAutofit/>
          </a:bodyPr>
          <a:lstStyle/>
          <a:p>
            <a:r>
              <a:rPr lang="en-US" b="1" i="0" u="none" strike="noStrike" baseline="0" dirty="0">
                <a:latin typeface="+mn-lt"/>
              </a:rPr>
              <a:t>Parallel and Distributed Databases</a:t>
            </a:r>
            <a:endParaRPr lang="en-US" dirty="0">
              <a:latin typeface="+mn-lt"/>
            </a:endParaRPr>
          </a:p>
        </p:txBody>
      </p:sp>
    </p:spTree>
    <p:extLst>
      <p:ext uri="{BB962C8B-B14F-4D97-AF65-F5344CB8AC3E}">
        <p14:creationId xmlns:p14="http://schemas.microsoft.com/office/powerpoint/2010/main" val="609514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19E1275-D028-AC82-4C60-B3A31FC29938}"/>
              </a:ext>
            </a:extLst>
          </p:cNvPr>
          <p:cNvSpPr>
            <a:spLocks noGrp="1"/>
          </p:cNvSpPr>
          <p:nvPr>
            <p:ph type="title"/>
          </p:nvPr>
        </p:nvSpPr>
        <p:spPr/>
        <p:txBody>
          <a:bodyPr>
            <a:normAutofit/>
          </a:bodyPr>
          <a:lstStyle/>
          <a:p>
            <a:r>
              <a:rPr lang="en-US" sz="4000" b="1" dirty="0">
                <a:latin typeface="+mn-lt"/>
              </a:rPr>
              <a:t>Syllabus Content</a:t>
            </a:r>
          </a:p>
        </p:txBody>
      </p:sp>
      <p:sp>
        <p:nvSpPr>
          <p:cNvPr id="3" name="Content Placeholder 2">
            <a:extLst>
              <a:ext uri="{FF2B5EF4-FFF2-40B4-BE49-F238E27FC236}">
                <a16:creationId xmlns="" xmlns:a16="http://schemas.microsoft.com/office/drawing/2014/main" id="{83AFB6FA-37EC-5669-D401-E724993413A9}"/>
              </a:ext>
            </a:extLst>
          </p:cNvPr>
          <p:cNvSpPr>
            <a:spLocks noGrp="1"/>
          </p:cNvSpPr>
          <p:nvPr>
            <p:ph idx="1"/>
          </p:nvPr>
        </p:nvSpPr>
        <p:spPr/>
        <p:txBody>
          <a:bodyPr>
            <a:normAutofit/>
          </a:bodyPr>
          <a:lstStyle/>
          <a:p>
            <a:pPr algn="just"/>
            <a:r>
              <a:rPr lang="en-US" b="1" i="0" u="none" strike="noStrike" baseline="0" dirty="0"/>
              <a:t>Parallel Database:</a:t>
            </a:r>
          </a:p>
          <a:p>
            <a:pPr algn="just"/>
            <a:r>
              <a:rPr lang="en-US" b="0" i="0" u="none" strike="noStrike" baseline="0" dirty="0"/>
              <a:t>Architecture, I/O Parallelism, Interquery, Intraquery</a:t>
            </a:r>
          </a:p>
          <a:p>
            <a:pPr algn="just"/>
            <a:r>
              <a:rPr lang="en-US" b="0" i="0" u="none" strike="noStrike" baseline="0" dirty="0"/>
              <a:t>Intraoperation and Interoperation Parallelism </a:t>
            </a:r>
          </a:p>
          <a:p>
            <a:pPr algn="just"/>
            <a:r>
              <a:rPr lang="en-US" b="1" i="0" u="none" strike="noStrike" baseline="0" dirty="0"/>
              <a:t>Distributed Databases</a:t>
            </a:r>
            <a:endParaRPr lang="en-US" b="0" i="0" u="none" strike="noStrike" baseline="0" dirty="0"/>
          </a:p>
          <a:p>
            <a:pPr algn="just"/>
            <a:r>
              <a:rPr lang="en-US" b="0" i="0" u="none" strike="noStrike" baseline="0" dirty="0"/>
              <a:t>Types of </a:t>
            </a:r>
            <a:r>
              <a:rPr lang="en-US" i="0" u="none" strike="noStrike" baseline="0" dirty="0"/>
              <a:t>Distributed</a:t>
            </a:r>
            <a:r>
              <a:rPr lang="en-US" b="1" i="0" u="none" strike="noStrike" baseline="0" dirty="0"/>
              <a:t> </a:t>
            </a:r>
            <a:r>
              <a:rPr lang="en-US" b="0" i="0" u="none" strike="noStrike" baseline="0" dirty="0"/>
              <a:t>Database Systems,</a:t>
            </a:r>
          </a:p>
          <a:p>
            <a:pPr algn="just"/>
            <a:r>
              <a:rPr lang="en-US" b="0" i="0" u="none" strike="noStrike" baseline="0" dirty="0"/>
              <a:t>Distributed Data Storage, Distributed Query Processing</a:t>
            </a:r>
            <a:endParaRPr lang="en-US" dirty="0"/>
          </a:p>
        </p:txBody>
      </p:sp>
    </p:spTree>
    <p:extLst>
      <p:ext uri="{BB962C8B-B14F-4D97-AF65-F5344CB8AC3E}">
        <p14:creationId xmlns:p14="http://schemas.microsoft.com/office/powerpoint/2010/main" val="327147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Parallel DBMS</a:t>
            </a:r>
          </a:p>
        </p:txBody>
      </p:sp>
      <p:sp>
        <p:nvSpPr>
          <p:cNvPr id="3" name="Content Placeholder 2"/>
          <p:cNvSpPr>
            <a:spLocks noGrp="1"/>
          </p:cNvSpPr>
          <p:nvPr>
            <p:ph idx="1"/>
          </p:nvPr>
        </p:nvSpPr>
        <p:spPr/>
        <p:txBody>
          <a:bodyPr/>
          <a:lstStyle/>
          <a:p>
            <a:pPr algn="just"/>
            <a:r>
              <a:rPr lang="en-US" dirty="0"/>
              <a:t>Parallel DBMS is a Database Management System </a:t>
            </a:r>
            <a:r>
              <a:rPr lang="en-US" b="1" dirty="0">
                <a:solidFill>
                  <a:srgbClr val="0000CC"/>
                </a:solidFill>
              </a:rPr>
              <a:t>that runs through multiple processors and disks. </a:t>
            </a:r>
          </a:p>
          <a:p>
            <a:pPr algn="just"/>
            <a:r>
              <a:rPr lang="en-US" b="1" dirty="0">
                <a:solidFill>
                  <a:srgbClr val="0000CC"/>
                </a:solidFill>
              </a:rPr>
              <a:t>They combine two or more processors also disk storage</a:t>
            </a:r>
            <a:r>
              <a:rPr lang="en-US" dirty="0"/>
              <a:t> that helps make operations and executions easier and faster. </a:t>
            </a:r>
          </a:p>
          <a:p>
            <a:pPr algn="just"/>
            <a:r>
              <a:rPr lang="en-US" dirty="0"/>
              <a:t>A parallel server can allow access to a single database by users on multiple machines. It also performs many parallelization operations like data loading, query processing, building indexes, and evaluating queries.</a:t>
            </a:r>
          </a:p>
          <a:p>
            <a:endParaRPr lang="en-US" dirty="0"/>
          </a:p>
        </p:txBody>
      </p:sp>
    </p:spTree>
    <p:extLst>
      <p:ext uri="{BB962C8B-B14F-4D97-AF65-F5344CB8AC3E}">
        <p14:creationId xmlns:p14="http://schemas.microsoft.com/office/powerpoint/2010/main" val="14781909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06852"/>
          </a:xfrm>
        </p:spPr>
        <p:txBody>
          <a:bodyPr>
            <a:normAutofit fontScale="90000"/>
          </a:bodyPr>
          <a:lstStyle/>
          <a:p>
            <a:pPr lvl="0"/>
            <a:r>
              <a:rPr lang="en-US" b="1" dirty="0"/>
              <a:t>Working of parallel database</a:t>
            </a:r>
            <a:r>
              <a:rPr lang="en-US" dirty="0"/>
              <a:t/>
            </a:r>
            <a:br>
              <a:rPr lang="en-US" dirty="0"/>
            </a:br>
            <a:endParaRPr lang="en-US" dirty="0"/>
          </a:p>
        </p:txBody>
      </p:sp>
      <p:sp>
        <p:nvSpPr>
          <p:cNvPr id="3" name="Content Placeholder 2"/>
          <p:cNvSpPr>
            <a:spLocks noGrp="1"/>
          </p:cNvSpPr>
          <p:nvPr>
            <p:ph idx="1"/>
          </p:nvPr>
        </p:nvSpPr>
        <p:spPr>
          <a:xfrm>
            <a:off x="838200" y="1056068"/>
            <a:ext cx="10515600" cy="5120895"/>
          </a:xfrm>
        </p:spPr>
        <p:txBody>
          <a:bodyPr/>
          <a:lstStyle/>
          <a:p>
            <a:pPr lvl="0" algn="just"/>
            <a:r>
              <a:rPr lang="en-US" dirty="0" smtClean="0"/>
              <a:t>Parallel </a:t>
            </a:r>
            <a:r>
              <a:rPr lang="en-US" dirty="0"/>
              <a:t>processing divides a large task into many smaller tasks and executes the smaller tasks concurrently on several CPU’s and completes it more quickly.</a:t>
            </a:r>
          </a:p>
          <a:p>
            <a:pPr lvl="0" algn="just"/>
            <a:r>
              <a:rPr lang="en-US" dirty="0" smtClean="0"/>
              <a:t>The </a:t>
            </a:r>
            <a:r>
              <a:rPr lang="en-US" dirty="0"/>
              <a:t>driving force behind parallel database systems is the demand of applications that have to query extremely large databases of the order of terabytes or that have to process a large number of transactions per second.</a:t>
            </a:r>
          </a:p>
          <a:p>
            <a:pPr algn="just"/>
            <a:r>
              <a:rPr lang="en-US" dirty="0" smtClean="0"/>
              <a:t>In </a:t>
            </a:r>
            <a:r>
              <a:rPr lang="en-US" dirty="0"/>
              <a:t>parallel processing, many operations are performed simultaneously as opposed to serial processing, in which the computational steps are performed sequentially.</a:t>
            </a:r>
          </a:p>
        </p:txBody>
      </p:sp>
    </p:spTree>
    <p:extLst>
      <p:ext uri="{BB962C8B-B14F-4D97-AF65-F5344CB8AC3E}">
        <p14:creationId xmlns:p14="http://schemas.microsoft.com/office/powerpoint/2010/main" val="622009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953037"/>
          </a:xfrm>
        </p:spPr>
        <p:txBody>
          <a:bodyPr/>
          <a:lstStyle/>
          <a:p>
            <a:r>
              <a:rPr lang="en-US" b="1" dirty="0" smtClean="0"/>
              <a:t>Advantages of </a:t>
            </a:r>
            <a:r>
              <a:rPr lang="en-US" b="1" dirty="0"/>
              <a:t>Parallel Databases</a:t>
            </a:r>
            <a:endParaRPr lang="en-US" dirty="0"/>
          </a:p>
        </p:txBody>
      </p:sp>
      <p:sp>
        <p:nvSpPr>
          <p:cNvPr id="3" name="Content Placeholder 2"/>
          <p:cNvSpPr>
            <a:spLocks noGrp="1"/>
          </p:cNvSpPr>
          <p:nvPr>
            <p:ph idx="1"/>
          </p:nvPr>
        </p:nvSpPr>
        <p:spPr>
          <a:xfrm>
            <a:off x="489397" y="991673"/>
            <a:ext cx="10864403" cy="5185290"/>
          </a:xfrm>
        </p:spPr>
        <p:txBody>
          <a:bodyPr>
            <a:normAutofit fontScale="92500" lnSpcReduction="20000"/>
          </a:bodyPr>
          <a:lstStyle/>
          <a:p>
            <a:pPr fontAlgn="base"/>
            <a:r>
              <a:rPr lang="en-US" b="1" dirty="0"/>
              <a:t>Performance Improvement – </a:t>
            </a:r>
            <a:r>
              <a:rPr lang="en-US" dirty="0"/>
              <a:t/>
            </a:r>
            <a:br>
              <a:rPr lang="en-US" dirty="0"/>
            </a:br>
            <a:r>
              <a:rPr lang="en-US" dirty="0"/>
              <a:t>By connecting multiple resources like CPU and disks in parallel we can significantly increase the performance of the system.</a:t>
            </a:r>
            <a:br>
              <a:rPr lang="en-US" dirty="0"/>
            </a:br>
            <a:r>
              <a:rPr lang="en-US" dirty="0"/>
              <a:t> </a:t>
            </a:r>
          </a:p>
          <a:p>
            <a:pPr fontAlgn="base"/>
            <a:r>
              <a:rPr lang="en-US" b="1" dirty="0"/>
              <a:t>High availability – </a:t>
            </a:r>
            <a:r>
              <a:rPr lang="en-US" dirty="0"/>
              <a:t/>
            </a:r>
            <a:br>
              <a:rPr lang="en-US" dirty="0"/>
            </a:br>
            <a:r>
              <a:rPr lang="en-US" dirty="0"/>
              <a:t>In the parallel database, nodes have less contact with each other, so the failure of one node doesn’t cause for failure of the entire system. This amounts to significantly higher database availability.</a:t>
            </a:r>
            <a:br>
              <a:rPr lang="en-US" dirty="0"/>
            </a:br>
            <a:r>
              <a:rPr lang="en-US" dirty="0"/>
              <a:t> </a:t>
            </a:r>
          </a:p>
          <a:p>
            <a:pPr fontAlgn="base"/>
            <a:r>
              <a:rPr lang="en-US" b="1" dirty="0"/>
              <a:t>Proper resource utilization – </a:t>
            </a:r>
            <a:r>
              <a:rPr lang="en-US" dirty="0"/>
              <a:t/>
            </a:r>
            <a:br>
              <a:rPr lang="en-US" dirty="0"/>
            </a:br>
            <a:r>
              <a:rPr lang="en-US" dirty="0"/>
              <a:t>Due to parallel execution, the CPU will never be ideal. Thus, proper utilization of resources is there.</a:t>
            </a:r>
            <a:br>
              <a:rPr lang="en-US" dirty="0"/>
            </a:br>
            <a:r>
              <a:rPr lang="en-US" dirty="0"/>
              <a:t> </a:t>
            </a:r>
          </a:p>
          <a:p>
            <a:pPr fontAlgn="base"/>
            <a:r>
              <a:rPr lang="en-US" b="1" dirty="0"/>
              <a:t>Increase Reliability – </a:t>
            </a:r>
            <a:r>
              <a:rPr lang="en-US" dirty="0"/>
              <a:t/>
            </a:r>
            <a:br>
              <a:rPr lang="en-US" dirty="0"/>
            </a:br>
            <a:r>
              <a:rPr lang="en-US" dirty="0"/>
              <a:t>When one site fails, the execution can continue with another available site which is having a copy of data. Making the system more reliable.</a:t>
            </a:r>
          </a:p>
          <a:p>
            <a:endParaRPr lang="en-US" dirty="0"/>
          </a:p>
        </p:txBody>
      </p:sp>
    </p:spTree>
    <p:extLst>
      <p:ext uri="{BB962C8B-B14F-4D97-AF65-F5344CB8AC3E}">
        <p14:creationId xmlns:p14="http://schemas.microsoft.com/office/powerpoint/2010/main" val="362876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Speed up and Scale up</a:t>
            </a:r>
            <a:endParaRPr lang="en-US" dirty="0"/>
          </a:p>
        </p:txBody>
      </p:sp>
      <p:sp>
        <p:nvSpPr>
          <p:cNvPr id="3" name="Content Placeholder 2"/>
          <p:cNvSpPr>
            <a:spLocks noGrp="1"/>
          </p:cNvSpPr>
          <p:nvPr>
            <p:ph idx="1"/>
          </p:nvPr>
        </p:nvSpPr>
        <p:spPr>
          <a:xfrm>
            <a:off x="838200" y="1825625"/>
            <a:ext cx="7455794" cy="4175930"/>
          </a:xfrm>
        </p:spPr>
        <p:txBody>
          <a:bodyPr>
            <a:normAutofit/>
          </a:bodyPr>
          <a:lstStyle/>
          <a:p>
            <a:pPr lvl="0" fontAlgn="base"/>
            <a:r>
              <a:rPr lang="en-US" dirty="0"/>
              <a:t>The ability to execute the tasks in less time by increasing the number of resources is called </a:t>
            </a:r>
            <a:r>
              <a:rPr lang="en-US" b="1" dirty="0">
                <a:solidFill>
                  <a:srgbClr val="FF0000"/>
                </a:solidFill>
              </a:rPr>
              <a:t>Speedup</a:t>
            </a:r>
            <a:r>
              <a:rPr lang="en-US" dirty="0"/>
              <a:t>.</a:t>
            </a:r>
          </a:p>
          <a:p>
            <a:pPr lvl="0" fontAlgn="base"/>
            <a:r>
              <a:rPr lang="en-US" b="1" dirty="0"/>
              <a:t>Speedup =time original/time parallel</a:t>
            </a:r>
            <a:endParaRPr lang="en-US" dirty="0"/>
          </a:p>
          <a:p>
            <a:pPr lvl="0" fontAlgn="base"/>
            <a:r>
              <a:rPr lang="en-US" dirty="0"/>
              <a:t>Where ,</a:t>
            </a:r>
          </a:p>
          <a:p>
            <a:pPr lvl="0" fontAlgn="base"/>
            <a:r>
              <a:rPr lang="en-US" dirty="0"/>
              <a:t>time original = time required to execute the task using 1 processor</a:t>
            </a:r>
          </a:p>
          <a:p>
            <a:pPr lvl="0" fontAlgn="base"/>
            <a:r>
              <a:rPr lang="en-US" dirty="0"/>
              <a:t>time parallel = time required to execute the task using 'n' processors</a:t>
            </a:r>
          </a:p>
          <a:p>
            <a:endParaRPr lang="en-US" dirty="0"/>
          </a:p>
        </p:txBody>
      </p:sp>
      <p:pic>
        <p:nvPicPr>
          <p:cNvPr id="4" name="Picture 3" descr="Lightbox"/>
          <p:cNvPicPr/>
          <p:nvPr/>
        </p:nvPicPr>
        <p:blipFill>
          <a:blip r:embed="rId2">
            <a:extLst>
              <a:ext uri="{28A0092B-C50C-407E-A947-70E740481C1C}">
                <a14:useLocalDpi xmlns:a14="http://schemas.microsoft.com/office/drawing/2010/main" val="0"/>
              </a:ext>
            </a:extLst>
          </a:blip>
          <a:srcRect/>
          <a:stretch>
            <a:fillRect/>
          </a:stretch>
        </p:blipFill>
        <p:spPr bwMode="auto">
          <a:xfrm>
            <a:off x="8332630" y="2255546"/>
            <a:ext cx="3412901" cy="3140701"/>
          </a:xfrm>
          <a:prstGeom prst="rect">
            <a:avLst/>
          </a:prstGeom>
          <a:noFill/>
          <a:ln>
            <a:noFill/>
          </a:ln>
        </p:spPr>
      </p:pic>
      <p:sp>
        <p:nvSpPr>
          <p:cNvPr id="5" name="TextBox 4"/>
          <p:cNvSpPr txBox="1"/>
          <p:nvPr/>
        </p:nvSpPr>
        <p:spPr>
          <a:xfrm>
            <a:off x="9015211" y="5396247"/>
            <a:ext cx="2472744" cy="646331"/>
          </a:xfrm>
          <a:prstGeom prst="rect">
            <a:avLst/>
          </a:prstGeom>
          <a:noFill/>
        </p:spPr>
        <p:txBody>
          <a:bodyPr wrap="square" rtlCol="0">
            <a:spAutoFit/>
          </a:bodyPr>
          <a:lstStyle/>
          <a:p>
            <a:pPr lvl="0"/>
            <a:r>
              <a:rPr lang="en-US" i="1" dirty="0"/>
              <a:t>fig. Ideal Speedup curve</a:t>
            </a:r>
            <a:endParaRPr lang="en-US" dirty="0"/>
          </a:p>
          <a:p>
            <a:endParaRPr lang="en-US" dirty="0"/>
          </a:p>
        </p:txBody>
      </p:sp>
    </p:spTree>
    <p:extLst>
      <p:ext uri="{BB962C8B-B14F-4D97-AF65-F5344CB8AC3E}">
        <p14:creationId xmlns:p14="http://schemas.microsoft.com/office/powerpoint/2010/main" val="3255265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Speed up and Scale up</a:t>
            </a:r>
          </a:p>
        </p:txBody>
      </p:sp>
      <p:sp>
        <p:nvSpPr>
          <p:cNvPr id="3" name="Content Placeholder 2"/>
          <p:cNvSpPr>
            <a:spLocks noGrp="1"/>
          </p:cNvSpPr>
          <p:nvPr>
            <p:ph idx="1"/>
          </p:nvPr>
        </p:nvSpPr>
        <p:spPr>
          <a:xfrm>
            <a:off x="838200" y="1825625"/>
            <a:ext cx="6219423" cy="4351338"/>
          </a:xfrm>
        </p:spPr>
        <p:txBody>
          <a:bodyPr>
            <a:normAutofit fontScale="92500" lnSpcReduction="10000"/>
          </a:bodyPr>
          <a:lstStyle/>
          <a:p>
            <a:pPr lvl="0" fontAlgn="base"/>
            <a:r>
              <a:rPr lang="en-US" b="1" dirty="0" err="1" smtClean="0">
                <a:solidFill>
                  <a:srgbClr val="FF0000"/>
                </a:solidFill>
              </a:rPr>
              <a:t>Scaleup</a:t>
            </a:r>
            <a:r>
              <a:rPr lang="en-US" dirty="0" smtClean="0"/>
              <a:t> means the </a:t>
            </a:r>
            <a:r>
              <a:rPr lang="en-US" dirty="0"/>
              <a:t>ability to maintain the performance of the system when both workload and resources increase proportionally.</a:t>
            </a:r>
          </a:p>
          <a:p>
            <a:pPr lvl="0" fontAlgn="base"/>
            <a:r>
              <a:rPr lang="en-US" b="1" dirty="0" err="1"/>
              <a:t>Scaleup</a:t>
            </a:r>
            <a:r>
              <a:rPr lang="en-US" b="1" dirty="0"/>
              <a:t> = Volume Parallel/Volume Original</a:t>
            </a:r>
            <a:endParaRPr lang="en-US" dirty="0"/>
          </a:p>
          <a:p>
            <a:pPr lvl="0" fontAlgn="base"/>
            <a:r>
              <a:rPr lang="en-US" dirty="0"/>
              <a:t>Where ,</a:t>
            </a:r>
          </a:p>
          <a:p>
            <a:pPr lvl="0" fontAlgn="base"/>
            <a:r>
              <a:rPr lang="en-US" dirty="0"/>
              <a:t>Volume Parallel = volume executed in a given amount of time using 'n' processor</a:t>
            </a:r>
          </a:p>
          <a:p>
            <a:pPr lvl="0" fontAlgn="base"/>
            <a:r>
              <a:rPr lang="en-US" dirty="0"/>
              <a:t>Volume Original = volume executed in a given amount of time using 1 processor</a:t>
            </a:r>
          </a:p>
          <a:p>
            <a:endParaRPr lang="en-US" dirty="0"/>
          </a:p>
        </p:txBody>
      </p:sp>
      <p:pic>
        <p:nvPicPr>
          <p:cNvPr id="4" name="Picture 3" descr="https://media.geeksforgeeks.org/wp-content/uploads/20210314122057/p4.PNG"/>
          <p:cNvPicPr/>
          <p:nvPr/>
        </p:nvPicPr>
        <p:blipFill>
          <a:blip r:embed="rId2">
            <a:extLst>
              <a:ext uri="{28A0092B-C50C-407E-A947-70E740481C1C}">
                <a14:useLocalDpi xmlns:a14="http://schemas.microsoft.com/office/drawing/2010/main" val="0"/>
              </a:ext>
            </a:extLst>
          </a:blip>
          <a:srcRect/>
          <a:stretch>
            <a:fillRect/>
          </a:stretch>
        </p:blipFill>
        <p:spPr bwMode="auto">
          <a:xfrm>
            <a:off x="8176340" y="1544592"/>
            <a:ext cx="3257550" cy="3305175"/>
          </a:xfrm>
          <a:prstGeom prst="rect">
            <a:avLst/>
          </a:prstGeom>
          <a:noFill/>
          <a:ln>
            <a:noFill/>
          </a:ln>
        </p:spPr>
      </p:pic>
      <p:sp>
        <p:nvSpPr>
          <p:cNvPr id="5" name="TextBox 4"/>
          <p:cNvSpPr txBox="1"/>
          <p:nvPr/>
        </p:nvSpPr>
        <p:spPr>
          <a:xfrm>
            <a:off x="8500056" y="4943100"/>
            <a:ext cx="2328523" cy="646331"/>
          </a:xfrm>
          <a:prstGeom prst="rect">
            <a:avLst/>
          </a:prstGeom>
          <a:noFill/>
        </p:spPr>
        <p:txBody>
          <a:bodyPr wrap="none" rtlCol="0">
            <a:spAutoFit/>
          </a:bodyPr>
          <a:lstStyle/>
          <a:p>
            <a:pPr lvl="0"/>
            <a:r>
              <a:rPr lang="en-US" i="1" dirty="0"/>
              <a:t>fig. Ideal </a:t>
            </a:r>
            <a:r>
              <a:rPr lang="en-US" i="1" dirty="0" err="1"/>
              <a:t>Scaleup</a:t>
            </a:r>
            <a:r>
              <a:rPr lang="en-US" i="1" dirty="0"/>
              <a:t> curve</a:t>
            </a:r>
            <a:endParaRPr lang="en-US" dirty="0"/>
          </a:p>
          <a:p>
            <a:endParaRPr lang="en-US" dirty="0"/>
          </a:p>
        </p:txBody>
      </p:sp>
    </p:spTree>
    <p:extLst>
      <p:ext uri="{BB962C8B-B14F-4D97-AF65-F5344CB8AC3E}">
        <p14:creationId xmlns:p14="http://schemas.microsoft.com/office/powerpoint/2010/main" val="2103273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C01178A-FE02-4C59-A685-C5173038BB54}"/>
              </a:ext>
            </a:extLst>
          </p:cNvPr>
          <p:cNvSpPr>
            <a:spLocks noGrp="1"/>
          </p:cNvSpPr>
          <p:nvPr>
            <p:ph type="title"/>
          </p:nvPr>
        </p:nvSpPr>
        <p:spPr>
          <a:xfrm>
            <a:off x="297873" y="110836"/>
            <a:ext cx="10515600" cy="812511"/>
          </a:xfrm>
        </p:spPr>
        <p:txBody>
          <a:bodyPr>
            <a:normAutofit fontScale="90000"/>
          </a:bodyPr>
          <a:lstStyle/>
          <a:p>
            <a:r>
              <a:rPr lang="en-US" sz="4000" b="1" i="0" u="none" strike="noStrike" baseline="0" dirty="0">
                <a:latin typeface="+mn-lt"/>
              </a:rPr>
              <a:t>Parallel </a:t>
            </a:r>
            <a:r>
              <a:rPr lang="en-US" sz="4000" b="1" i="0" u="none" strike="noStrike" baseline="0" dirty="0" smtClean="0">
                <a:latin typeface="+mn-lt"/>
              </a:rPr>
              <a:t>Database-</a:t>
            </a:r>
            <a:r>
              <a:rPr lang="en-US" sz="4000" b="1" dirty="0">
                <a:cs typeface="Heebo" pitchFamily="2" charset="-79"/>
              </a:rPr>
              <a:t>Architectural Models</a:t>
            </a:r>
            <a:br>
              <a:rPr lang="en-US" sz="4000" b="1" dirty="0">
                <a:cs typeface="Heebo" pitchFamily="2" charset="-79"/>
              </a:rPr>
            </a:br>
            <a:endParaRPr lang="en-US" sz="4000" dirty="0">
              <a:latin typeface="+mn-lt"/>
            </a:endParaRPr>
          </a:p>
        </p:txBody>
      </p:sp>
      <p:sp>
        <p:nvSpPr>
          <p:cNvPr id="3" name="Content Placeholder 2">
            <a:extLst>
              <a:ext uri="{FF2B5EF4-FFF2-40B4-BE49-F238E27FC236}">
                <a16:creationId xmlns="" xmlns:a16="http://schemas.microsoft.com/office/drawing/2014/main" id="{7ABD909A-900B-E8ED-25B7-255982DC2670}"/>
              </a:ext>
            </a:extLst>
          </p:cNvPr>
          <p:cNvSpPr>
            <a:spLocks noGrp="1"/>
          </p:cNvSpPr>
          <p:nvPr>
            <p:ph idx="1"/>
          </p:nvPr>
        </p:nvSpPr>
        <p:spPr>
          <a:xfrm>
            <a:off x="595745" y="1316182"/>
            <a:ext cx="11194473" cy="5430982"/>
          </a:xfrm>
        </p:spPr>
        <p:txBody>
          <a:bodyPr>
            <a:normAutofit/>
          </a:bodyPr>
          <a:lstStyle/>
          <a:p>
            <a:pPr algn="just"/>
            <a:r>
              <a:rPr lang="en-US" b="1" i="0" dirty="0" smtClean="0">
                <a:effectLst/>
                <a:cs typeface="Heebo" pitchFamily="2" charset="-79"/>
              </a:rPr>
              <a:t>Architectural </a:t>
            </a:r>
            <a:r>
              <a:rPr lang="en-US" b="1" i="0" dirty="0">
                <a:effectLst/>
                <a:cs typeface="Heebo" pitchFamily="2" charset="-79"/>
              </a:rPr>
              <a:t>Models</a:t>
            </a:r>
          </a:p>
          <a:p>
            <a:pPr algn="just"/>
            <a:r>
              <a:rPr lang="en-US" b="0" i="0" dirty="0">
                <a:effectLst/>
              </a:rPr>
              <a:t>There are several architectural models for parallel Database, which are given below −</a:t>
            </a:r>
          </a:p>
          <a:p>
            <a:pPr algn="just">
              <a:buFont typeface="Arial" panose="020B0604020202020204" pitchFamily="34" charset="0"/>
              <a:buChar char="•"/>
            </a:pPr>
            <a:r>
              <a:rPr lang="en-US" b="1" i="0" dirty="0">
                <a:solidFill>
                  <a:srgbClr val="0000CC"/>
                </a:solidFill>
                <a:effectLst/>
              </a:rPr>
              <a:t>Shared memory architecture.</a:t>
            </a:r>
          </a:p>
          <a:p>
            <a:pPr algn="just">
              <a:buFont typeface="Arial" panose="020B0604020202020204" pitchFamily="34" charset="0"/>
              <a:buChar char="•"/>
            </a:pPr>
            <a:r>
              <a:rPr lang="en-US" b="1" i="0" dirty="0">
                <a:solidFill>
                  <a:srgbClr val="0000CC"/>
                </a:solidFill>
                <a:effectLst/>
              </a:rPr>
              <a:t>Shared disk architecture.</a:t>
            </a:r>
          </a:p>
          <a:p>
            <a:pPr algn="just">
              <a:buFont typeface="Arial" panose="020B0604020202020204" pitchFamily="34" charset="0"/>
              <a:buChar char="•"/>
            </a:pPr>
            <a:r>
              <a:rPr lang="en-US" b="1" i="0" dirty="0">
                <a:solidFill>
                  <a:srgbClr val="0000CC"/>
                </a:solidFill>
                <a:effectLst/>
              </a:rPr>
              <a:t>Shared nothing architecture.</a:t>
            </a:r>
          </a:p>
          <a:p>
            <a:pPr algn="just"/>
            <a:endParaRPr lang="en-US" dirty="0"/>
          </a:p>
        </p:txBody>
      </p:sp>
    </p:spTree>
    <p:extLst>
      <p:ext uri="{BB962C8B-B14F-4D97-AF65-F5344CB8AC3E}">
        <p14:creationId xmlns:p14="http://schemas.microsoft.com/office/powerpoint/2010/main" val="36581946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C01178A-FE02-4C59-A685-C5173038BB54}"/>
              </a:ext>
            </a:extLst>
          </p:cNvPr>
          <p:cNvSpPr>
            <a:spLocks noGrp="1"/>
          </p:cNvSpPr>
          <p:nvPr>
            <p:ph type="title"/>
          </p:nvPr>
        </p:nvSpPr>
        <p:spPr>
          <a:xfrm>
            <a:off x="297873" y="110836"/>
            <a:ext cx="10515600" cy="812511"/>
          </a:xfrm>
        </p:spPr>
        <p:txBody>
          <a:bodyPr>
            <a:normAutofit/>
          </a:bodyPr>
          <a:lstStyle/>
          <a:p>
            <a:r>
              <a:rPr lang="en-US" sz="4000" b="1" i="0" u="none" strike="noStrike" baseline="0" dirty="0">
                <a:latin typeface="+mn-lt"/>
              </a:rPr>
              <a:t>Parallel Database</a:t>
            </a:r>
            <a:endParaRPr lang="en-US" sz="4000" dirty="0">
              <a:latin typeface="+mn-lt"/>
            </a:endParaRPr>
          </a:p>
        </p:txBody>
      </p:sp>
      <p:sp>
        <p:nvSpPr>
          <p:cNvPr id="3" name="Content Placeholder 2">
            <a:extLst>
              <a:ext uri="{FF2B5EF4-FFF2-40B4-BE49-F238E27FC236}">
                <a16:creationId xmlns="" xmlns:a16="http://schemas.microsoft.com/office/drawing/2014/main" id="{7ABD909A-900B-E8ED-25B7-255982DC2670}"/>
              </a:ext>
            </a:extLst>
          </p:cNvPr>
          <p:cNvSpPr>
            <a:spLocks noGrp="1"/>
          </p:cNvSpPr>
          <p:nvPr>
            <p:ph idx="1"/>
          </p:nvPr>
        </p:nvSpPr>
        <p:spPr>
          <a:xfrm>
            <a:off x="193963" y="923346"/>
            <a:ext cx="7675419" cy="5823817"/>
          </a:xfrm>
        </p:spPr>
        <p:txBody>
          <a:bodyPr>
            <a:normAutofit/>
          </a:bodyPr>
          <a:lstStyle/>
          <a:p>
            <a:pPr algn="just" fontAlgn="base"/>
            <a:r>
              <a:rPr lang="en-US" b="1" i="0" dirty="0">
                <a:effectLst/>
              </a:rPr>
              <a:t>Shared Memory System</a:t>
            </a:r>
          </a:p>
          <a:p>
            <a:pPr algn="just" fontAlgn="base"/>
            <a:r>
              <a:rPr lang="en-US" b="0" i="0" dirty="0">
                <a:effectLst/>
              </a:rPr>
              <a:t>Every </a:t>
            </a:r>
            <a:r>
              <a:rPr lang="en-US" b="1" i="0" dirty="0">
                <a:solidFill>
                  <a:srgbClr val="0000CC"/>
                </a:solidFill>
                <a:effectLst/>
              </a:rPr>
              <a:t>computer processor is able to access and process data from </a:t>
            </a:r>
            <a:r>
              <a:rPr lang="en-US" b="1" i="0" dirty="0" smtClean="0">
                <a:solidFill>
                  <a:srgbClr val="0000CC"/>
                </a:solidFill>
                <a:effectLst/>
              </a:rPr>
              <a:t>common </a:t>
            </a:r>
            <a:r>
              <a:rPr lang="en-US" b="1" i="0" dirty="0">
                <a:solidFill>
                  <a:srgbClr val="0000CC"/>
                </a:solidFill>
                <a:effectLst/>
              </a:rPr>
              <a:t>memory modules </a:t>
            </a:r>
            <a:r>
              <a:rPr lang="en-US" b="0" i="0" dirty="0">
                <a:effectLst/>
              </a:rPr>
              <a:t>or unit through intercommunication channel. </a:t>
            </a:r>
          </a:p>
          <a:p>
            <a:pPr algn="just" fontAlgn="base"/>
            <a:r>
              <a:rPr lang="en-US" b="0" i="0" dirty="0">
                <a:effectLst/>
              </a:rPr>
              <a:t>This architecture is also commonly known as SMP or </a:t>
            </a:r>
            <a:r>
              <a:rPr lang="en-US" b="0" i="0" dirty="0">
                <a:solidFill>
                  <a:srgbClr val="FF0000"/>
                </a:solidFill>
                <a:effectLst/>
              </a:rPr>
              <a:t>Symmetric Multi-processing</a:t>
            </a:r>
          </a:p>
          <a:p>
            <a:pPr algn="just" fontAlgn="base"/>
            <a:r>
              <a:rPr lang="en-US" b="1" i="0" dirty="0">
                <a:effectLst/>
              </a:rPr>
              <a:t>Shared Disk System</a:t>
            </a:r>
          </a:p>
          <a:p>
            <a:pPr algn="just" fontAlgn="base"/>
            <a:r>
              <a:rPr lang="en-US" b="0" i="0" dirty="0">
                <a:effectLst/>
              </a:rPr>
              <a:t>A Shared Disk System is an architecture of Database Management System where </a:t>
            </a:r>
            <a:r>
              <a:rPr lang="en-US" b="1" i="0" dirty="0">
                <a:solidFill>
                  <a:srgbClr val="0000CC"/>
                </a:solidFill>
                <a:effectLst/>
              </a:rPr>
              <a:t>every computer processors can access multiple disk through intercommunication network.</a:t>
            </a:r>
            <a:r>
              <a:rPr lang="en-US" b="0" i="0" dirty="0">
                <a:effectLst/>
              </a:rPr>
              <a:t> </a:t>
            </a:r>
          </a:p>
          <a:p>
            <a:pPr algn="just" fontAlgn="base"/>
            <a:r>
              <a:rPr lang="en-US" b="0" i="0" dirty="0">
                <a:effectLst/>
              </a:rPr>
              <a:t>It can also access and utilize every local memory. </a:t>
            </a:r>
          </a:p>
          <a:p>
            <a:pPr algn="just" fontAlgn="base"/>
            <a:endParaRPr lang="en-US" b="0" i="0" dirty="0">
              <a:effectLst/>
            </a:endParaRPr>
          </a:p>
          <a:p>
            <a:pPr algn="just"/>
            <a:endParaRPr lang="en-US" dirty="0"/>
          </a:p>
        </p:txBody>
      </p:sp>
      <p:pic>
        <p:nvPicPr>
          <p:cNvPr id="1026" name="Picture 2" descr="shared memory system">
            <a:extLst>
              <a:ext uri="{FF2B5EF4-FFF2-40B4-BE49-F238E27FC236}">
                <a16:creationId xmlns="" xmlns:a16="http://schemas.microsoft.com/office/drawing/2014/main" id="{0CE6815C-A67D-FF83-87E8-C686064129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1525" y="293977"/>
            <a:ext cx="3800475" cy="26955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hared disk memory">
            <a:extLst>
              <a:ext uri="{FF2B5EF4-FFF2-40B4-BE49-F238E27FC236}">
                <a16:creationId xmlns="" xmlns:a16="http://schemas.microsoft.com/office/drawing/2014/main" id="{A77685D6-764D-0DD3-3AD2-7654DACECA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83287" y="3550803"/>
            <a:ext cx="3648075"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7428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C01178A-FE02-4C59-A685-C5173038BB54}"/>
              </a:ext>
            </a:extLst>
          </p:cNvPr>
          <p:cNvSpPr>
            <a:spLocks noGrp="1"/>
          </p:cNvSpPr>
          <p:nvPr>
            <p:ph type="title"/>
          </p:nvPr>
        </p:nvSpPr>
        <p:spPr>
          <a:xfrm>
            <a:off x="297873" y="110836"/>
            <a:ext cx="10515600" cy="812511"/>
          </a:xfrm>
        </p:spPr>
        <p:txBody>
          <a:bodyPr>
            <a:normAutofit/>
          </a:bodyPr>
          <a:lstStyle/>
          <a:p>
            <a:r>
              <a:rPr lang="en-US" sz="4000" b="1" i="0" u="none" strike="noStrike" baseline="0" dirty="0">
                <a:latin typeface="+mn-lt"/>
              </a:rPr>
              <a:t>Parallel Database</a:t>
            </a:r>
            <a:endParaRPr lang="en-US" sz="4000" dirty="0">
              <a:latin typeface="+mn-lt"/>
            </a:endParaRPr>
          </a:p>
        </p:txBody>
      </p:sp>
      <p:sp>
        <p:nvSpPr>
          <p:cNvPr id="3" name="Content Placeholder 2">
            <a:extLst>
              <a:ext uri="{FF2B5EF4-FFF2-40B4-BE49-F238E27FC236}">
                <a16:creationId xmlns="" xmlns:a16="http://schemas.microsoft.com/office/drawing/2014/main" id="{7ABD909A-900B-E8ED-25B7-255982DC2670}"/>
              </a:ext>
            </a:extLst>
          </p:cNvPr>
          <p:cNvSpPr>
            <a:spLocks noGrp="1"/>
          </p:cNvSpPr>
          <p:nvPr>
            <p:ph idx="1"/>
          </p:nvPr>
        </p:nvSpPr>
        <p:spPr>
          <a:xfrm>
            <a:off x="193963" y="923346"/>
            <a:ext cx="7675419" cy="5823817"/>
          </a:xfrm>
        </p:spPr>
        <p:txBody>
          <a:bodyPr>
            <a:normAutofit/>
          </a:bodyPr>
          <a:lstStyle/>
          <a:p>
            <a:pPr algn="just" fontAlgn="base"/>
            <a:r>
              <a:rPr lang="en-US" b="1" i="0" dirty="0">
                <a:effectLst/>
              </a:rPr>
              <a:t>Shared Nothing System</a:t>
            </a:r>
          </a:p>
          <a:p>
            <a:pPr algn="just" fontAlgn="base"/>
            <a:r>
              <a:rPr lang="en-US" b="0" i="0" dirty="0">
                <a:effectLst/>
              </a:rPr>
              <a:t>A Shared Nothing System is an architecture of Database Management System where </a:t>
            </a:r>
            <a:r>
              <a:rPr lang="en-US" b="1" i="0" dirty="0">
                <a:solidFill>
                  <a:srgbClr val="0000CC"/>
                </a:solidFill>
                <a:effectLst/>
              </a:rPr>
              <a:t>every processor has their own disk and memory for the objective of efficient workflows.</a:t>
            </a:r>
          </a:p>
          <a:p>
            <a:pPr algn="just" fontAlgn="base"/>
            <a:r>
              <a:rPr lang="en-US" b="0" i="0" dirty="0">
                <a:effectLst/>
              </a:rPr>
              <a:t>The processors can communicate with other processors using intercommunication network.</a:t>
            </a:r>
          </a:p>
          <a:p>
            <a:pPr algn="just" fontAlgn="base"/>
            <a:r>
              <a:rPr lang="en-US" b="0" i="0" dirty="0">
                <a:effectLst/>
              </a:rPr>
              <a:t>Each of the processors act like servers to store data on the disk. </a:t>
            </a:r>
          </a:p>
          <a:p>
            <a:pPr algn="just"/>
            <a:endParaRPr lang="en-US" dirty="0"/>
          </a:p>
        </p:txBody>
      </p:sp>
      <p:pic>
        <p:nvPicPr>
          <p:cNvPr id="2050" name="Picture 2" descr="shared nothing disk system">
            <a:extLst>
              <a:ext uri="{FF2B5EF4-FFF2-40B4-BE49-F238E27FC236}">
                <a16:creationId xmlns="" xmlns:a16="http://schemas.microsoft.com/office/drawing/2014/main" id="{0459A6B9-D30B-808A-3078-5D5A9F98E6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3292" y="758970"/>
            <a:ext cx="3800475" cy="37437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70358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06C1EC8-D1D1-C7E8-C1D4-B5AAE78884E3}"/>
              </a:ext>
            </a:extLst>
          </p:cNvPr>
          <p:cNvSpPr>
            <a:spLocks noGrp="1"/>
          </p:cNvSpPr>
          <p:nvPr>
            <p:ph type="title"/>
          </p:nvPr>
        </p:nvSpPr>
        <p:spPr>
          <a:xfrm>
            <a:off x="838200" y="365126"/>
            <a:ext cx="10515600" cy="840220"/>
          </a:xfrm>
        </p:spPr>
        <p:txBody>
          <a:bodyPr>
            <a:normAutofit/>
          </a:bodyPr>
          <a:lstStyle/>
          <a:p>
            <a:r>
              <a:rPr lang="it-IT" sz="4000" b="1" dirty="0">
                <a:latin typeface="+mn-lt"/>
              </a:rPr>
              <a:t>I/O parallelism in parallel </a:t>
            </a:r>
            <a:r>
              <a:rPr lang="it-IT" sz="4000" b="1" dirty="0" smtClean="0">
                <a:latin typeface="+mn-lt"/>
              </a:rPr>
              <a:t>database- Partitioning</a:t>
            </a:r>
            <a:endParaRPr lang="en-US" sz="4000" b="1" dirty="0">
              <a:latin typeface="+mn-lt"/>
            </a:endParaRPr>
          </a:p>
        </p:txBody>
      </p:sp>
      <p:sp>
        <p:nvSpPr>
          <p:cNvPr id="3" name="Content Placeholder 2">
            <a:extLst>
              <a:ext uri="{FF2B5EF4-FFF2-40B4-BE49-F238E27FC236}">
                <a16:creationId xmlns="" xmlns:a16="http://schemas.microsoft.com/office/drawing/2014/main" id="{4A135AB1-EFFA-55C2-DD77-27549AA93F24}"/>
              </a:ext>
            </a:extLst>
          </p:cNvPr>
          <p:cNvSpPr>
            <a:spLocks noGrp="1"/>
          </p:cNvSpPr>
          <p:nvPr>
            <p:ph idx="1"/>
          </p:nvPr>
        </p:nvSpPr>
        <p:spPr>
          <a:xfrm>
            <a:off x="429491" y="1205346"/>
            <a:ext cx="11762509" cy="5652654"/>
          </a:xfrm>
        </p:spPr>
        <p:txBody>
          <a:bodyPr>
            <a:normAutofit fontScale="92500" lnSpcReduction="20000"/>
          </a:bodyPr>
          <a:lstStyle/>
          <a:p>
            <a:pPr algn="just"/>
            <a:r>
              <a:rPr lang="en-US" dirty="0"/>
              <a:t>Parallel I/O refers to the process of writing to, or reading from, two or more I/O devices simultaneously; it can result in significant improvements in throughput. </a:t>
            </a:r>
            <a:r>
              <a:rPr lang="en-US" dirty="0" smtClean="0"/>
              <a:t>This can be achieved through partitioning</a:t>
            </a:r>
            <a:r>
              <a:rPr lang="en-US" dirty="0"/>
              <a:t>.</a:t>
            </a:r>
          </a:p>
          <a:p>
            <a:r>
              <a:rPr lang="en-US" b="1" dirty="0" smtClean="0">
                <a:solidFill>
                  <a:srgbClr val="FF0000"/>
                </a:solidFill>
              </a:rPr>
              <a:t>Horizontal </a:t>
            </a:r>
            <a:r>
              <a:rPr lang="en-US" b="1" dirty="0">
                <a:solidFill>
                  <a:srgbClr val="FF0000"/>
                </a:solidFill>
              </a:rPr>
              <a:t>Fragmentation</a:t>
            </a:r>
            <a:r>
              <a:rPr lang="en-US" dirty="0"/>
              <a:t> </a:t>
            </a:r>
            <a:r>
              <a:rPr lang="en-US" dirty="0" smtClean="0"/>
              <a:t>–</a:t>
            </a:r>
            <a:r>
              <a:rPr lang="en-US" dirty="0"/>
              <a:t>In horizontal partitioning, the tuples of a relation are divided (or </a:t>
            </a:r>
            <a:r>
              <a:rPr lang="en-US" dirty="0" err="1"/>
              <a:t>declustered</a:t>
            </a:r>
            <a:r>
              <a:rPr lang="en-US" dirty="0"/>
              <a:t>) among many disks, so that each tuple resides on one disk.</a:t>
            </a:r>
          </a:p>
          <a:p>
            <a:r>
              <a:rPr lang="en-US" dirty="0" smtClean="0"/>
              <a:t> </a:t>
            </a:r>
            <a:r>
              <a:rPr lang="en-US" dirty="0"/>
              <a:t>Partitioning the tables using the conditions  specified through WHERE clause of SQL query to distribute bunch of tuples (records). For example, consider the following schema;</a:t>
            </a:r>
          </a:p>
          <a:p>
            <a:r>
              <a:rPr lang="en-US" dirty="0"/>
              <a:t>STUDENT (</a:t>
            </a:r>
            <a:r>
              <a:rPr lang="en-US" dirty="0" err="1"/>
              <a:t>Regno</a:t>
            </a:r>
            <a:r>
              <a:rPr lang="en-US" dirty="0"/>
              <a:t>, </a:t>
            </a:r>
            <a:r>
              <a:rPr lang="en-US" dirty="0" err="1"/>
              <a:t>SName</a:t>
            </a:r>
            <a:r>
              <a:rPr lang="en-US" dirty="0"/>
              <a:t>, Address, Branch, Phone)</a:t>
            </a:r>
          </a:p>
          <a:p>
            <a:r>
              <a:rPr lang="en-US" dirty="0"/>
              <a:t>In this table, Branch column is used to store the academic branch in which the student admitted in. suppose, there are various branches like ‘</a:t>
            </a:r>
            <a:r>
              <a:rPr lang="en-US" dirty="0" err="1"/>
              <a:t>BTech</a:t>
            </a:r>
            <a:r>
              <a:rPr lang="en-US" dirty="0"/>
              <a:t> CIVIL’, ‘</a:t>
            </a:r>
            <a:r>
              <a:rPr lang="en-US" dirty="0" err="1"/>
              <a:t>BTech</a:t>
            </a:r>
            <a:r>
              <a:rPr lang="en-US" dirty="0"/>
              <a:t> MECH’, ‘</a:t>
            </a:r>
            <a:r>
              <a:rPr lang="en-US" dirty="0" err="1"/>
              <a:t>BTech</a:t>
            </a:r>
            <a:r>
              <a:rPr lang="en-US" dirty="0"/>
              <a:t> CSE’, and so on, then the following query would be used to partition the table using horizontal partitioning.</a:t>
            </a:r>
          </a:p>
          <a:p>
            <a:r>
              <a:rPr lang="en-US" dirty="0"/>
              <a:t>SELECT * FROM student WHERE Branch = branch name;</a:t>
            </a:r>
          </a:p>
          <a:p>
            <a:r>
              <a:rPr lang="en-US" dirty="0"/>
              <a:t>In the result, there won’t be any changes in the schema of the table; </a:t>
            </a:r>
            <a:r>
              <a:rPr lang="en-US" dirty="0" err="1"/>
              <a:t>i.e</a:t>
            </a:r>
            <a:r>
              <a:rPr lang="en-US" dirty="0"/>
              <a:t> the structure of the table is unaltered. Only, ‘</a:t>
            </a:r>
            <a:r>
              <a:rPr lang="en-US" dirty="0" err="1"/>
              <a:t>BTech</a:t>
            </a:r>
            <a:r>
              <a:rPr lang="en-US" dirty="0"/>
              <a:t> CIVIL’ students fragmented into one partition, ‘</a:t>
            </a:r>
            <a:r>
              <a:rPr lang="en-US" dirty="0" err="1"/>
              <a:t>BTech</a:t>
            </a:r>
            <a:r>
              <a:rPr lang="en-US" dirty="0"/>
              <a:t> CSE’ students fragmented into one partition and so on.</a:t>
            </a:r>
          </a:p>
          <a:p>
            <a:pPr algn="just"/>
            <a:endParaRPr lang="en-US" dirty="0"/>
          </a:p>
          <a:p>
            <a:pPr algn="just"/>
            <a:endParaRPr lang="en-US" dirty="0"/>
          </a:p>
        </p:txBody>
      </p:sp>
    </p:spTree>
    <p:extLst>
      <p:ext uri="{BB962C8B-B14F-4D97-AF65-F5344CB8AC3E}">
        <p14:creationId xmlns:p14="http://schemas.microsoft.com/office/powerpoint/2010/main" val="32855525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b="1" dirty="0"/>
              <a:t>I/O parallelism in parallel </a:t>
            </a:r>
            <a:r>
              <a:rPr lang="it-IT" b="1" dirty="0" smtClean="0"/>
              <a:t>database -Partitioning</a:t>
            </a:r>
            <a:endParaRPr lang="en-US" dirty="0"/>
          </a:p>
        </p:txBody>
      </p:sp>
      <p:sp>
        <p:nvSpPr>
          <p:cNvPr id="3" name="Content Placeholder 2"/>
          <p:cNvSpPr>
            <a:spLocks noGrp="1"/>
          </p:cNvSpPr>
          <p:nvPr>
            <p:ph idx="1"/>
          </p:nvPr>
        </p:nvSpPr>
        <p:spPr/>
        <p:txBody>
          <a:bodyPr/>
          <a:lstStyle/>
          <a:p>
            <a:r>
              <a:rPr lang="en-US" sz="2400" b="1" dirty="0">
                <a:solidFill>
                  <a:srgbClr val="FF0000"/>
                </a:solidFill>
              </a:rPr>
              <a:t>Vertical Fragmentation</a:t>
            </a:r>
            <a:r>
              <a:rPr lang="en-US" b="1" dirty="0"/>
              <a:t> </a:t>
            </a:r>
            <a:r>
              <a:rPr lang="en-US" dirty="0"/>
              <a:t>– Partitioning tables using the decomposition rules to break and distribute the tables into multiple partitions vertically (different schemas) is called Vertical fragmentation.</a:t>
            </a:r>
          </a:p>
          <a:p>
            <a:r>
              <a:rPr lang="en-US" dirty="0"/>
              <a:t>For example, if we would like to break STUDENT into different tables like STUDENT(</a:t>
            </a:r>
            <a:r>
              <a:rPr lang="en-US" dirty="0" err="1"/>
              <a:t>Regno</a:t>
            </a:r>
            <a:r>
              <a:rPr lang="en-US" dirty="0"/>
              <a:t>, </a:t>
            </a:r>
            <a:r>
              <a:rPr lang="en-US" dirty="0" err="1"/>
              <a:t>SName</a:t>
            </a:r>
            <a:r>
              <a:rPr lang="en-US" dirty="0"/>
              <a:t>, Address, Branch) and STU_PHONE(</a:t>
            </a:r>
            <a:r>
              <a:rPr lang="en-US" dirty="0" err="1"/>
              <a:t>Regno</a:t>
            </a:r>
            <a:r>
              <a:rPr lang="en-US" dirty="0"/>
              <a:t>, Phone), </a:t>
            </a:r>
            <a:r>
              <a:rPr lang="en-US" dirty="0" err="1"/>
              <a:t>i.e</a:t>
            </a:r>
            <a:r>
              <a:rPr lang="en-US" dirty="0"/>
              <a:t> into two different schema on columns is Vertical partitioning.</a:t>
            </a:r>
          </a:p>
          <a:p>
            <a:pPr marL="0" indent="0">
              <a:buNone/>
            </a:pPr>
            <a:r>
              <a:rPr lang="en-US" dirty="0"/>
              <a:t/>
            </a:r>
            <a:br>
              <a:rPr lang="en-US" dirty="0"/>
            </a:br>
            <a:endParaRPr lang="en-US" dirty="0"/>
          </a:p>
        </p:txBody>
      </p:sp>
    </p:spTree>
    <p:extLst>
      <p:ext uri="{BB962C8B-B14F-4D97-AF65-F5344CB8AC3E}">
        <p14:creationId xmlns:p14="http://schemas.microsoft.com/office/powerpoint/2010/main" val="6161798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06C1EC8-D1D1-C7E8-C1D4-B5AAE78884E3}"/>
              </a:ext>
            </a:extLst>
          </p:cNvPr>
          <p:cNvSpPr>
            <a:spLocks noGrp="1"/>
          </p:cNvSpPr>
          <p:nvPr>
            <p:ph type="title"/>
          </p:nvPr>
        </p:nvSpPr>
        <p:spPr>
          <a:xfrm>
            <a:off x="838200" y="365126"/>
            <a:ext cx="10515600" cy="840220"/>
          </a:xfrm>
        </p:spPr>
        <p:txBody>
          <a:bodyPr>
            <a:normAutofit/>
          </a:bodyPr>
          <a:lstStyle/>
          <a:p>
            <a:pPr marL="0" marR="0">
              <a:lnSpc>
                <a:spcPct val="107000"/>
              </a:lnSpc>
              <a:spcBef>
                <a:spcPts val="0"/>
              </a:spcBef>
              <a:spcAft>
                <a:spcPts val="0"/>
              </a:spcAft>
            </a:pPr>
            <a:r>
              <a:rPr lang="en-US" sz="4000" b="1" dirty="0">
                <a:ea typeface="Calibri" panose="020F0502020204030204" pitchFamily="34" charset="0"/>
                <a:cs typeface="Advert-Bold"/>
              </a:rPr>
              <a:t>Partitioning Techniques</a:t>
            </a:r>
            <a:endParaRPr lang="en-US" sz="4000" b="1" dirty="0">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4A135AB1-EFFA-55C2-DD77-27549AA93F24}"/>
              </a:ext>
            </a:extLst>
          </p:cNvPr>
          <p:cNvSpPr>
            <a:spLocks noGrp="1"/>
          </p:cNvSpPr>
          <p:nvPr>
            <p:ph idx="1"/>
          </p:nvPr>
        </p:nvSpPr>
        <p:spPr>
          <a:xfrm>
            <a:off x="571158" y="991673"/>
            <a:ext cx="11374581" cy="5866327"/>
          </a:xfrm>
        </p:spPr>
        <p:txBody>
          <a:bodyPr>
            <a:normAutofit lnSpcReduction="10000"/>
          </a:bodyPr>
          <a:lstStyle/>
          <a:p>
            <a:pPr marL="0" algn="just">
              <a:lnSpc>
                <a:spcPct val="117000"/>
              </a:lnSpc>
              <a:spcBef>
                <a:spcPts val="0"/>
              </a:spcBef>
            </a:pPr>
            <a:r>
              <a:rPr lang="en-US" dirty="0"/>
              <a:t>There are various partitioning strategies proposed to manage the data distribution into multiple processors evenly.</a:t>
            </a:r>
            <a:endParaRPr lang="en-US" b="1" dirty="0" smtClean="0">
              <a:ea typeface="Calibri" panose="020F0502020204030204" pitchFamily="34" charset="0"/>
              <a:cs typeface="Palatino-Bold"/>
            </a:endParaRPr>
          </a:p>
          <a:p>
            <a:pPr marL="0" algn="just">
              <a:lnSpc>
                <a:spcPct val="117000"/>
              </a:lnSpc>
              <a:spcBef>
                <a:spcPts val="0"/>
              </a:spcBef>
            </a:pPr>
            <a:r>
              <a:rPr lang="en-US" b="1" dirty="0" smtClean="0">
                <a:ea typeface="Calibri" panose="020F0502020204030204" pitchFamily="34" charset="0"/>
                <a:cs typeface="Palatino-Bold"/>
              </a:rPr>
              <a:t>Round-robin</a:t>
            </a:r>
            <a:r>
              <a:rPr lang="en-US" b="1" dirty="0">
                <a:ea typeface="Calibri" panose="020F0502020204030204" pitchFamily="34" charset="0"/>
                <a:cs typeface="Palatino-Bold"/>
              </a:rPr>
              <a:t>. </a:t>
            </a:r>
          </a:p>
          <a:p>
            <a:pPr marL="0" marR="0" algn="just">
              <a:lnSpc>
                <a:spcPct val="107000"/>
              </a:lnSpc>
              <a:spcBef>
                <a:spcPts val="0"/>
              </a:spcBef>
              <a:spcAft>
                <a:spcPts val="0"/>
              </a:spcAft>
            </a:pPr>
            <a:r>
              <a:rPr lang="en-US" dirty="0">
                <a:ea typeface="Calibri" panose="020F0502020204030204" pitchFamily="34" charset="0"/>
                <a:cs typeface="Palatino-Roman"/>
              </a:rPr>
              <a:t>This strategy scans the relation in any order and sends the </a:t>
            </a:r>
            <a:r>
              <a:rPr lang="en-US" i="1" dirty="0" err="1">
                <a:ea typeface="Calibri" panose="020F0502020204030204" pitchFamily="34" charset="0"/>
                <a:cs typeface="CMMI10"/>
              </a:rPr>
              <a:t>i</a:t>
            </a:r>
            <a:r>
              <a:rPr lang="en-US" dirty="0" err="1">
                <a:ea typeface="Calibri" panose="020F0502020204030204" pitchFamily="34" charset="0"/>
                <a:cs typeface="Palatino-Roman"/>
              </a:rPr>
              <a:t>th</a:t>
            </a:r>
            <a:r>
              <a:rPr lang="en-US" dirty="0">
                <a:ea typeface="Calibri" panose="020F0502020204030204" pitchFamily="34" charset="0"/>
                <a:cs typeface="Times New Roman" panose="02020603050405020304" pitchFamily="18" charset="0"/>
              </a:rPr>
              <a:t> </a:t>
            </a:r>
            <a:r>
              <a:rPr lang="en-US" dirty="0">
                <a:ea typeface="Calibri" panose="020F0502020204030204" pitchFamily="34" charset="0"/>
                <a:cs typeface="Palatino-Roman"/>
              </a:rPr>
              <a:t>tuple to disk number </a:t>
            </a:r>
            <a:r>
              <a:rPr lang="en-US" i="1" dirty="0" err="1">
                <a:ea typeface="Calibri" panose="020F0502020204030204" pitchFamily="34" charset="0"/>
                <a:cs typeface="CMMI7"/>
              </a:rPr>
              <a:t>i</a:t>
            </a:r>
            <a:r>
              <a:rPr lang="en-US" i="1" dirty="0">
                <a:ea typeface="Calibri" panose="020F0502020204030204" pitchFamily="34" charset="0"/>
                <a:cs typeface="CMMI7"/>
              </a:rPr>
              <a:t> mod n</a:t>
            </a:r>
            <a:r>
              <a:rPr lang="en-US" dirty="0">
                <a:ea typeface="Calibri" panose="020F0502020204030204" pitchFamily="34" charset="0"/>
                <a:cs typeface="Palatino-Roman"/>
              </a:rPr>
              <a:t>.</a:t>
            </a:r>
          </a:p>
          <a:p>
            <a:pPr marL="0" marR="0" algn="just">
              <a:lnSpc>
                <a:spcPct val="107000"/>
              </a:lnSpc>
              <a:spcBef>
                <a:spcPts val="0"/>
              </a:spcBef>
              <a:spcAft>
                <a:spcPts val="0"/>
              </a:spcAft>
            </a:pPr>
            <a:r>
              <a:rPr lang="en-US" dirty="0">
                <a:ea typeface="Calibri" panose="020F0502020204030204" pitchFamily="34" charset="0"/>
                <a:cs typeface="Palatino-Roman"/>
              </a:rPr>
              <a:t>The </a:t>
            </a:r>
            <a:r>
              <a:rPr lang="en-US" b="1" dirty="0">
                <a:solidFill>
                  <a:srgbClr val="0000CC"/>
                </a:solidFill>
                <a:ea typeface="Calibri" panose="020F0502020204030204" pitchFamily="34" charset="0"/>
                <a:cs typeface="Palatino-Roman"/>
              </a:rPr>
              <a:t>round-robin scheme ensures an even distribution of tuples across disks;</a:t>
            </a:r>
            <a:r>
              <a:rPr lang="en-US" dirty="0">
                <a:ea typeface="Calibri" panose="020F0502020204030204" pitchFamily="34" charset="0"/>
                <a:cs typeface="Palatino-Roman"/>
              </a:rPr>
              <a:t> that is, each disk has approximately the same</a:t>
            </a:r>
            <a:r>
              <a:rPr lang="en-US" dirty="0">
                <a:ea typeface="Calibri" panose="020F0502020204030204" pitchFamily="34" charset="0"/>
                <a:cs typeface="Times New Roman" panose="02020603050405020304" pitchFamily="18" charset="0"/>
              </a:rPr>
              <a:t> </a:t>
            </a:r>
            <a:r>
              <a:rPr lang="en-US" dirty="0">
                <a:ea typeface="Calibri" panose="020F0502020204030204" pitchFamily="34" charset="0"/>
                <a:cs typeface="Palatino-Roman"/>
              </a:rPr>
              <a:t>number of tuples as the others</a:t>
            </a:r>
            <a:r>
              <a:rPr lang="en-US" dirty="0" smtClean="0">
                <a:ea typeface="Calibri" panose="020F0502020204030204" pitchFamily="34" charset="0"/>
                <a:cs typeface="Palatino-Roman"/>
              </a:rPr>
              <a:t>.</a:t>
            </a:r>
          </a:p>
          <a:p>
            <a:pPr marL="0" marR="0" algn="just">
              <a:lnSpc>
                <a:spcPct val="107000"/>
              </a:lnSpc>
              <a:spcBef>
                <a:spcPts val="0"/>
              </a:spcBef>
              <a:spcAft>
                <a:spcPts val="0"/>
              </a:spcAft>
            </a:pPr>
            <a:r>
              <a:rPr lang="en-US" dirty="0" smtClean="0">
                <a:ea typeface="Calibri" panose="020F0502020204030204" pitchFamily="34" charset="0"/>
                <a:cs typeface="Palatino-Roman"/>
              </a:rPr>
              <a:t>For example:</a:t>
            </a:r>
          </a:p>
          <a:p>
            <a:pPr marL="0" marR="0" algn="just">
              <a:lnSpc>
                <a:spcPct val="107000"/>
              </a:lnSpc>
              <a:spcBef>
                <a:spcPts val="0"/>
              </a:spcBef>
              <a:spcAft>
                <a:spcPts val="0"/>
              </a:spcAft>
            </a:pPr>
            <a:r>
              <a:rPr lang="en-US" dirty="0"/>
              <a:t>If the number of available disks n is 10, then first record goes to D1 (1 mod 10 = 1), second record goes to D2 (2 mod 10 =2), and so on and 10</a:t>
            </a:r>
            <a:r>
              <a:rPr lang="en-US" baseline="30000" dirty="0"/>
              <a:t>th</a:t>
            </a:r>
            <a:r>
              <a:rPr lang="en-US" dirty="0"/>
              <a:t> record goes to D0 (10 mod 10 = 0), 11</a:t>
            </a:r>
            <a:r>
              <a:rPr lang="en-US" baseline="30000" dirty="0"/>
              <a:t>th</a:t>
            </a:r>
            <a:r>
              <a:rPr lang="en-US" dirty="0"/>
              <a:t> record goes to D1 (11 mod 10 = 1). This scheme distributes data evenly in all the disks</a:t>
            </a:r>
            <a:r>
              <a:rPr lang="en-US" dirty="0" smtClean="0"/>
              <a:t>.</a:t>
            </a:r>
            <a:endParaRPr lang="en-US"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722090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a typeface="Calibri" panose="020F0502020204030204" pitchFamily="34" charset="0"/>
                <a:cs typeface="Advert-Bold"/>
              </a:rPr>
              <a:t>Partitioning Techniques</a:t>
            </a:r>
            <a:endParaRPr lang="en-US" dirty="0"/>
          </a:p>
        </p:txBody>
      </p:sp>
      <p:sp>
        <p:nvSpPr>
          <p:cNvPr id="3" name="Content Placeholder 2"/>
          <p:cNvSpPr>
            <a:spLocks noGrp="1"/>
          </p:cNvSpPr>
          <p:nvPr>
            <p:ph idx="1"/>
          </p:nvPr>
        </p:nvSpPr>
        <p:spPr>
          <a:xfrm>
            <a:off x="1" y="1416675"/>
            <a:ext cx="12028868" cy="5640947"/>
          </a:xfrm>
        </p:spPr>
        <p:txBody>
          <a:bodyPr>
            <a:normAutofit fontScale="77500" lnSpcReduction="20000"/>
          </a:bodyPr>
          <a:lstStyle/>
          <a:p>
            <a:pPr marL="0" marR="0" algn="just">
              <a:lnSpc>
                <a:spcPct val="107000"/>
              </a:lnSpc>
              <a:spcBef>
                <a:spcPts val="0"/>
              </a:spcBef>
              <a:spcAft>
                <a:spcPts val="0"/>
              </a:spcAft>
            </a:pPr>
            <a:r>
              <a:rPr lang="en-US" b="1" dirty="0">
                <a:ea typeface="Calibri" panose="020F0502020204030204" pitchFamily="34" charset="0"/>
                <a:cs typeface="Palatino-Bold"/>
              </a:rPr>
              <a:t>Hash partitioning</a:t>
            </a:r>
            <a:r>
              <a:rPr lang="en-US" dirty="0">
                <a:ea typeface="Calibri" panose="020F0502020204030204" pitchFamily="34" charset="0"/>
                <a:cs typeface="Palatino-Roman"/>
              </a:rPr>
              <a:t>. </a:t>
            </a:r>
          </a:p>
          <a:p>
            <a:pPr marL="0" marR="0" algn="just">
              <a:lnSpc>
                <a:spcPct val="107000"/>
              </a:lnSpc>
              <a:spcBef>
                <a:spcPts val="0"/>
              </a:spcBef>
              <a:spcAft>
                <a:spcPts val="0"/>
              </a:spcAft>
            </a:pPr>
            <a:r>
              <a:rPr lang="en-US" dirty="0">
                <a:ea typeface="Calibri" panose="020F0502020204030204" pitchFamily="34" charset="0"/>
                <a:cs typeface="Palatino-Roman"/>
              </a:rPr>
              <a:t>This </a:t>
            </a:r>
            <a:r>
              <a:rPr lang="en-US" dirty="0" err="1">
                <a:ea typeface="Calibri" panose="020F0502020204030204" pitchFamily="34" charset="0"/>
                <a:cs typeface="Palatino-Roman"/>
              </a:rPr>
              <a:t>declustering</a:t>
            </a:r>
            <a:r>
              <a:rPr lang="en-US" dirty="0">
                <a:ea typeface="Calibri" panose="020F0502020204030204" pitchFamily="34" charset="0"/>
                <a:cs typeface="Palatino-Roman"/>
              </a:rPr>
              <a:t> strategy designates one or more attributes</a:t>
            </a:r>
            <a:r>
              <a:rPr lang="en-US" dirty="0">
                <a:ea typeface="Calibri" panose="020F0502020204030204" pitchFamily="34" charset="0"/>
                <a:cs typeface="Times New Roman" panose="02020603050405020304" pitchFamily="18" charset="0"/>
              </a:rPr>
              <a:t> </a:t>
            </a:r>
            <a:r>
              <a:rPr lang="en-US" dirty="0">
                <a:ea typeface="Calibri" panose="020F0502020204030204" pitchFamily="34" charset="0"/>
                <a:cs typeface="Palatino-Roman"/>
              </a:rPr>
              <a:t>from the given relation’s schema as the partitioning attributes. </a:t>
            </a:r>
          </a:p>
          <a:p>
            <a:pPr marL="0" marR="0" algn="just">
              <a:lnSpc>
                <a:spcPct val="107000"/>
              </a:lnSpc>
              <a:spcBef>
                <a:spcPts val="0"/>
              </a:spcBef>
              <a:spcAft>
                <a:spcPts val="0"/>
              </a:spcAft>
            </a:pPr>
            <a:r>
              <a:rPr lang="en-US" b="1" dirty="0">
                <a:solidFill>
                  <a:srgbClr val="0000CC"/>
                </a:solidFill>
                <a:ea typeface="Calibri" panose="020F0502020204030204" pitchFamily="34" charset="0"/>
                <a:cs typeface="Palatino-Roman"/>
              </a:rPr>
              <a:t>A hash</a:t>
            </a:r>
            <a:r>
              <a:rPr lang="en-US" b="1" dirty="0">
                <a:solidFill>
                  <a:srgbClr val="0000CC"/>
                </a:solidFill>
                <a:ea typeface="Calibri" panose="020F0502020204030204" pitchFamily="34" charset="0"/>
                <a:cs typeface="Times New Roman" panose="02020603050405020304" pitchFamily="18" charset="0"/>
              </a:rPr>
              <a:t> </a:t>
            </a:r>
            <a:r>
              <a:rPr lang="en-US" b="1" dirty="0">
                <a:solidFill>
                  <a:srgbClr val="0000CC"/>
                </a:solidFill>
                <a:ea typeface="Calibri" panose="020F0502020204030204" pitchFamily="34" charset="0"/>
                <a:cs typeface="Palatino-Roman"/>
              </a:rPr>
              <a:t>function is chosen whose range is </a:t>
            </a:r>
            <a:r>
              <a:rPr lang="en-US" b="1" i="1" dirty="0">
                <a:solidFill>
                  <a:srgbClr val="0000CC"/>
                </a:solidFill>
                <a:ea typeface="Calibri" panose="020F0502020204030204" pitchFamily="34" charset="0"/>
                <a:cs typeface="CMSY10"/>
              </a:rPr>
              <a:t>{</a:t>
            </a:r>
            <a:r>
              <a:rPr lang="en-US" b="1" dirty="0">
                <a:solidFill>
                  <a:srgbClr val="0000CC"/>
                </a:solidFill>
                <a:ea typeface="Calibri" panose="020F0502020204030204" pitchFamily="34" charset="0"/>
                <a:cs typeface="CMR10"/>
              </a:rPr>
              <a:t>0</a:t>
            </a:r>
            <a:r>
              <a:rPr lang="en-US" b="1" i="1" dirty="0">
                <a:solidFill>
                  <a:srgbClr val="0000CC"/>
                </a:solidFill>
                <a:ea typeface="Calibri" panose="020F0502020204030204" pitchFamily="34" charset="0"/>
                <a:cs typeface="CMMI10"/>
              </a:rPr>
              <a:t>, </a:t>
            </a:r>
            <a:r>
              <a:rPr lang="en-US" b="1" dirty="0">
                <a:solidFill>
                  <a:srgbClr val="0000CC"/>
                </a:solidFill>
                <a:ea typeface="Calibri" panose="020F0502020204030204" pitchFamily="34" charset="0"/>
                <a:cs typeface="CMR10"/>
              </a:rPr>
              <a:t>1</a:t>
            </a:r>
            <a:r>
              <a:rPr lang="en-US" b="1" i="1" dirty="0">
                <a:solidFill>
                  <a:srgbClr val="0000CC"/>
                </a:solidFill>
                <a:ea typeface="Calibri" panose="020F0502020204030204" pitchFamily="34" charset="0"/>
                <a:cs typeface="CMMI10"/>
              </a:rPr>
              <a:t>, . . . , n </a:t>
            </a:r>
            <a:r>
              <a:rPr lang="en-US" b="1" i="1" dirty="0">
                <a:solidFill>
                  <a:srgbClr val="0000CC"/>
                </a:solidFill>
                <a:ea typeface="CMSY10"/>
                <a:cs typeface="Times New Roman" panose="02020603050405020304" pitchFamily="18" charset="0"/>
              </a:rPr>
              <a:t>−</a:t>
            </a:r>
            <a:r>
              <a:rPr lang="en-US" b="1" i="1" dirty="0">
                <a:solidFill>
                  <a:srgbClr val="0000CC"/>
                </a:solidFill>
                <a:ea typeface="Calibri" panose="020F0502020204030204" pitchFamily="34" charset="0"/>
                <a:cs typeface="CMSY10"/>
              </a:rPr>
              <a:t> </a:t>
            </a:r>
            <a:r>
              <a:rPr lang="en-US" b="1" dirty="0">
                <a:solidFill>
                  <a:srgbClr val="0000CC"/>
                </a:solidFill>
                <a:ea typeface="Calibri" panose="020F0502020204030204" pitchFamily="34" charset="0"/>
                <a:cs typeface="CMR10"/>
              </a:rPr>
              <a:t>1</a:t>
            </a:r>
            <a:r>
              <a:rPr lang="en-US" b="1" i="1" dirty="0">
                <a:solidFill>
                  <a:srgbClr val="0000CC"/>
                </a:solidFill>
                <a:ea typeface="Calibri" panose="020F0502020204030204" pitchFamily="34" charset="0"/>
                <a:cs typeface="CMSY10"/>
              </a:rPr>
              <a:t>}</a:t>
            </a:r>
            <a:r>
              <a:rPr lang="en-US" b="1" dirty="0">
                <a:solidFill>
                  <a:srgbClr val="0000CC"/>
                </a:solidFill>
                <a:ea typeface="Calibri" panose="020F0502020204030204" pitchFamily="34" charset="0"/>
                <a:cs typeface="Palatino-Roman"/>
              </a:rPr>
              <a:t>. Each tuple of the original</a:t>
            </a:r>
            <a:r>
              <a:rPr lang="en-US" b="1" dirty="0">
                <a:solidFill>
                  <a:srgbClr val="0000CC"/>
                </a:solidFill>
                <a:ea typeface="Calibri" panose="020F0502020204030204" pitchFamily="34" charset="0"/>
                <a:cs typeface="Times New Roman" panose="02020603050405020304" pitchFamily="18" charset="0"/>
              </a:rPr>
              <a:t> </a:t>
            </a:r>
            <a:r>
              <a:rPr lang="en-US" b="1" dirty="0">
                <a:solidFill>
                  <a:srgbClr val="0000CC"/>
                </a:solidFill>
                <a:ea typeface="Calibri" panose="020F0502020204030204" pitchFamily="34" charset="0"/>
                <a:cs typeface="Palatino-Roman"/>
              </a:rPr>
              <a:t>relation is hashed on the partitioning attributes.</a:t>
            </a:r>
            <a:r>
              <a:rPr lang="en-US" dirty="0">
                <a:ea typeface="Calibri" panose="020F0502020204030204" pitchFamily="34" charset="0"/>
                <a:cs typeface="Palatino-Roman"/>
              </a:rPr>
              <a:t> If the hash function returns </a:t>
            </a:r>
            <a:r>
              <a:rPr lang="en-US" i="1" dirty="0" err="1">
                <a:ea typeface="Calibri" panose="020F0502020204030204" pitchFamily="34" charset="0"/>
                <a:cs typeface="CMMI10"/>
              </a:rPr>
              <a:t>i</a:t>
            </a:r>
            <a:r>
              <a:rPr lang="en-US" dirty="0">
                <a:ea typeface="Calibri" panose="020F0502020204030204" pitchFamily="34" charset="0"/>
                <a:cs typeface="Palatino-Roman"/>
              </a:rPr>
              <a:t>,</a:t>
            </a:r>
            <a:r>
              <a:rPr lang="en-US" dirty="0">
                <a:ea typeface="Calibri" panose="020F0502020204030204" pitchFamily="34" charset="0"/>
                <a:cs typeface="Times New Roman" panose="02020603050405020304" pitchFamily="18" charset="0"/>
              </a:rPr>
              <a:t> </a:t>
            </a:r>
            <a:r>
              <a:rPr lang="en-US" dirty="0">
                <a:ea typeface="Calibri" panose="020F0502020204030204" pitchFamily="34" charset="0"/>
                <a:cs typeface="Palatino-Roman"/>
              </a:rPr>
              <a:t>then the tuple is placed on disk </a:t>
            </a:r>
            <a:r>
              <a:rPr lang="en-US" i="1" dirty="0">
                <a:ea typeface="Calibri" panose="020F0502020204030204" pitchFamily="34" charset="0"/>
                <a:cs typeface="CMMI10"/>
              </a:rPr>
              <a:t>D</a:t>
            </a:r>
            <a:r>
              <a:rPr lang="en-US" i="1" dirty="0">
                <a:ea typeface="Calibri" panose="020F0502020204030204" pitchFamily="34" charset="0"/>
                <a:cs typeface="CMMI7"/>
              </a:rPr>
              <a:t>i</a:t>
            </a:r>
            <a:r>
              <a:rPr lang="en-US" dirty="0" smtClean="0">
                <a:ea typeface="Calibri" panose="020F0502020204030204" pitchFamily="34" charset="0"/>
                <a:cs typeface="Palatino-Roman"/>
              </a:rPr>
              <a:t>.</a:t>
            </a:r>
          </a:p>
          <a:p>
            <a:r>
              <a:rPr lang="en-US" dirty="0"/>
              <a:t>For example, consider the following table;</a:t>
            </a:r>
          </a:p>
          <a:p>
            <a:r>
              <a:rPr lang="en-US" b="1" dirty="0"/>
              <a:t>EMPLOYEE(</a:t>
            </a:r>
            <a:r>
              <a:rPr lang="en-US" b="1" dirty="0" err="1"/>
              <a:t>ENo</a:t>
            </a:r>
            <a:r>
              <a:rPr lang="en-US" b="1" dirty="0"/>
              <a:t>, </a:t>
            </a:r>
            <a:r>
              <a:rPr lang="en-US" b="1" dirty="0" err="1"/>
              <a:t>EName</a:t>
            </a:r>
            <a:r>
              <a:rPr lang="en-US" b="1" dirty="0"/>
              <a:t>, </a:t>
            </a:r>
            <a:r>
              <a:rPr lang="en-US" b="1" dirty="0" err="1"/>
              <a:t>DeptNo</a:t>
            </a:r>
            <a:r>
              <a:rPr lang="en-US" b="1" dirty="0"/>
              <a:t>, Salary, Age)</a:t>
            </a:r>
            <a:endParaRPr lang="en-US" dirty="0"/>
          </a:p>
          <a:p>
            <a:r>
              <a:rPr lang="en-US" dirty="0"/>
              <a:t>If we choose </a:t>
            </a:r>
            <a:r>
              <a:rPr lang="en-US" i="1" dirty="0" err="1"/>
              <a:t>DeptNo</a:t>
            </a:r>
            <a:r>
              <a:rPr lang="en-US" dirty="0"/>
              <a:t> attribute as the partitioning attribute and if we have 10 disks to distribute the data, then the following would be a hash function;</a:t>
            </a:r>
          </a:p>
          <a:p>
            <a:r>
              <a:rPr lang="en-US" b="1" dirty="0"/>
              <a:t>h(</a:t>
            </a:r>
            <a:r>
              <a:rPr lang="en-US" b="1" dirty="0" err="1"/>
              <a:t>DeptNo</a:t>
            </a:r>
            <a:r>
              <a:rPr lang="en-US" b="1" dirty="0"/>
              <a:t>) = </a:t>
            </a:r>
            <a:r>
              <a:rPr lang="en-US" b="1" dirty="0" err="1"/>
              <a:t>DeptNo</a:t>
            </a:r>
            <a:r>
              <a:rPr lang="en-US" b="1" dirty="0"/>
              <a:t> mod 10</a:t>
            </a:r>
            <a:endParaRPr lang="en-US" dirty="0"/>
          </a:p>
          <a:p>
            <a:r>
              <a:rPr lang="en-US" dirty="0"/>
              <a:t>If we have 10 departments, then according to the hash function, all the employees of department 1 will go into disk 1, department 2 to disk 2 and so on.</a:t>
            </a:r>
          </a:p>
          <a:p>
            <a:r>
              <a:rPr lang="en-US" dirty="0" smtClean="0"/>
              <a:t>As </a:t>
            </a:r>
            <a:r>
              <a:rPr lang="en-US" dirty="0"/>
              <a:t>another example, if we choose the </a:t>
            </a:r>
            <a:r>
              <a:rPr lang="en-US" i="1" dirty="0" err="1"/>
              <a:t>EName</a:t>
            </a:r>
            <a:r>
              <a:rPr lang="en-US" dirty="0"/>
              <a:t> of the employees as partitioning attribute, then we could have the following hash function;</a:t>
            </a:r>
          </a:p>
          <a:p>
            <a:r>
              <a:rPr lang="en-US" b="1" dirty="0"/>
              <a:t>h(</a:t>
            </a:r>
            <a:r>
              <a:rPr lang="en-US" b="1" dirty="0" err="1"/>
              <a:t>EName</a:t>
            </a:r>
            <a:r>
              <a:rPr lang="en-US" b="1" dirty="0"/>
              <a:t>) = (Sum of ASCII value of every character in the name) mod n</a:t>
            </a:r>
            <a:r>
              <a:rPr lang="en-US" dirty="0"/>
              <a:t>,</a:t>
            </a:r>
          </a:p>
          <a:p>
            <a:r>
              <a:rPr lang="en-US" dirty="0"/>
              <a:t>where n is the number of disks/partitions needed.</a:t>
            </a:r>
          </a:p>
          <a:p>
            <a:pPr marL="0" marR="0" algn="just">
              <a:lnSpc>
                <a:spcPct val="107000"/>
              </a:lnSpc>
              <a:spcBef>
                <a:spcPts val="0"/>
              </a:spcBef>
              <a:spcAft>
                <a:spcPts val="0"/>
              </a:spcAft>
            </a:pPr>
            <a:endParaRPr lang="en-US" dirty="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9731659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42675" y="412125"/>
            <a:ext cx="9543759" cy="4771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521642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Range Partitioning</a:t>
            </a:r>
            <a:endParaRPr lang="en-US" b="1" dirty="0"/>
          </a:p>
        </p:txBody>
      </p:sp>
      <p:sp>
        <p:nvSpPr>
          <p:cNvPr id="3" name="Content Placeholder 2"/>
          <p:cNvSpPr>
            <a:spLocks noGrp="1"/>
          </p:cNvSpPr>
          <p:nvPr>
            <p:ph idx="1"/>
          </p:nvPr>
        </p:nvSpPr>
        <p:spPr>
          <a:xfrm>
            <a:off x="566670" y="1455313"/>
            <a:ext cx="10787130" cy="4721650"/>
          </a:xfrm>
        </p:spPr>
        <p:txBody>
          <a:bodyPr>
            <a:normAutofit fontScale="92500" lnSpcReduction="20000"/>
          </a:bodyPr>
          <a:lstStyle/>
          <a:p>
            <a:r>
              <a:rPr lang="en-US" dirty="0"/>
              <a:t>For example, for the EMPLOYEE relation given above, if the partitioning attribute is </a:t>
            </a:r>
            <a:r>
              <a:rPr lang="en-US" i="1" dirty="0"/>
              <a:t>Salary</a:t>
            </a:r>
            <a:r>
              <a:rPr lang="en-US" dirty="0"/>
              <a:t>, then the vector would be one as follows;</a:t>
            </a:r>
          </a:p>
          <a:p>
            <a:r>
              <a:rPr lang="en-US" dirty="0"/>
              <a:t>[5000, 15000, 30000],</a:t>
            </a:r>
          </a:p>
          <a:p>
            <a:r>
              <a:rPr lang="en-US" dirty="0"/>
              <a:t>where every value means the individual range of salaries. That is, 5000 represents the first range (0 – 5000), 15000 represents the range (5001 – 15000), 30000 represents the third range (15001 – 30000), and it includes the final range which is (30001 – rest). Hence, the vector with 3 values represents 4 disks/partitions.</a:t>
            </a:r>
          </a:p>
          <a:p>
            <a:r>
              <a:rPr lang="en-US" dirty="0"/>
              <a:t/>
            </a:r>
            <a:br>
              <a:rPr lang="en-US" dirty="0"/>
            </a:br>
            <a:r>
              <a:rPr lang="en-US" dirty="0" smtClean="0"/>
              <a:t>The </a:t>
            </a:r>
            <a:r>
              <a:rPr lang="en-US" dirty="0"/>
              <a:t>above discussed partition strategies must be chosen carefully according to the workload of your parallel database system. The workload may involve many components like, which attribute is frequently used in any queries as filtering condition, the number of records in a table, the size of the database, approximate number of incoming queries in a day, etc.</a:t>
            </a:r>
          </a:p>
          <a:p>
            <a:endParaRPr lang="en-US" dirty="0"/>
          </a:p>
        </p:txBody>
      </p:sp>
    </p:spTree>
    <p:extLst>
      <p:ext uri="{BB962C8B-B14F-4D97-AF65-F5344CB8AC3E}">
        <p14:creationId xmlns:p14="http://schemas.microsoft.com/office/powerpoint/2010/main" val="42503646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Partitioning example</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smtClean="0"/>
              <a:t>                                      Perform following partitioning techniques.</a:t>
            </a:r>
          </a:p>
          <a:p>
            <a:r>
              <a:rPr lang="en-US" dirty="0"/>
              <a:t> </a:t>
            </a:r>
            <a:r>
              <a:rPr lang="en-US" dirty="0" smtClean="0"/>
              <a:t>                                          </a:t>
            </a:r>
            <a:r>
              <a:rPr lang="en-US" b="1" dirty="0"/>
              <a:t>A. Round-Robin </a:t>
            </a:r>
            <a:r>
              <a:rPr lang="en-US" b="1" dirty="0" smtClean="0"/>
              <a:t>Partitioning</a:t>
            </a:r>
          </a:p>
          <a:p>
            <a:r>
              <a:rPr lang="en-US" b="1" dirty="0"/>
              <a:t> </a:t>
            </a:r>
            <a:r>
              <a:rPr lang="en-US" b="1" dirty="0" smtClean="0"/>
              <a:t>                                          </a:t>
            </a:r>
            <a:r>
              <a:rPr lang="en-US" b="1" dirty="0"/>
              <a:t>B. Hash </a:t>
            </a:r>
            <a:r>
              <a:rPr lang="en-US" b="1" dirty="0" smtClean="0"/>
              <a:t>Partitioning</a:t>
            </a:r>
          </a:p>
          <a:p>
            <a:r>
              <a:rPr lang="en-US" b="1" dirty="0"/>
              <a:t> </a:t>
            </a:r>
            <a:r>
              <a:rPr lang="en-US" b="1" dirty="0" smtClean="0"/>
              <a:t>                                          </a:t>
            </a:r>
            <a:r>
              <a:rPr lang="en-US" b="1" dirty="0"/>
              <a:t>C. Range Partitioning</a:t>
            </a:r>
          </a:p>
          <a:p>
            <a:endParaRPr lang="en-US" b="1" dirty="0"/>
          </a:p>
          <a:p>
            <a:endParaRPr lang="en-US"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9002" t="20246" r="46648" b="15669"/>
          <a:stretch/>
        </p:blipFill>
        <p:spPr bwMode="auto">
          <a:xfrm>
            <a:off x="420404" y="1197734"/>
            <a:ext cx="3842503" cy="5685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60464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A61B295-5C12-508F-9023-F51A1F2DB3E2}"/>
              </a:ext>
            </a:extLst>
          </p:cNvPr>
          <p:cNvSpPr>
            <a:spLocks noGrp="1"/>
          </p:cNvSpPr>
          <p:nvPr>
            <p:ph type="title"/>
          </p:nvPr>
        </p:nvSpPr>
        <p:spPr>
          <a:xfrm>
            <a:off x="200891" y="207818"/>
            <a:ext cx="10515600" cy="673966"/>
          </a:xfrm>
        </p:spPr>
        <p:txBody>
          <a:bodyPr>
            <a:normAutofit/>
          </a:bodyPr>
          <a:lstStyle/>
          <a:p>
            <a:r>
              <a:rPr lang="en-US" sz="4000" b="1" i="0" u="none" strike="noStrike" baseline="0" dirty="0">
                <a:latin typeface="+mn-lt"/>
              </a:rPr>
              <a:t>Interquery and Intraquery parallelism</a:t>
            </a:r>
            <a:endParaRPr lang="en-US" sz="4000" b="1" dirty="0">
              <a:latin typeface="+mn-lt"/>
            </a:endParaRPr>
          </a:p>
        </p:txBody>
      </p:sp>
      <p:sp>
        <p:nvSpPr>
          <p:cNvPr id="3" name="Content Placeholder 2">
            <a:extLst>
              <a:ext uri="{FF2B5EF4-FFF2-40B4-BE49-F238E27FC236}">
                <a16:creationId xmlns="" xmlns:a16="http://schemas.microsoft.com/office/drawing/2014/main" id="{BA99F6CB-3D7F-39B0-A229-58F3EED27238}"/>
              </a:ext>
            </a:extLst>
          </p:cNvPr>
          <p:cNvSpPr>
            <a:spLocks noGrp="1"/>
          </p:cNvSpPr>
          <p:nvPr>
            <p:ph idx="1"/>
          </p:nvPr>
        </p:nvSpPr>
        <p:spPr>
          <a:xfrm>
            <a:off x="200891" y="1039091"/>
            <a:ext cx="11797145" cy="5611091"/>
          </a:xfrm>
        </p:spPr>
        <p:txBody>
          <a:bodyPr>
            <a:normAutofit/>
          </a:bodyPr>
          <a:lstStyle/>
          <a:p>
            <a:pPr algn="just"/>
            <a:r>
              <a:rPr lang="en-US" b="1" i="0" dirty="0">
                <a:solidFill>
                  <a:srgbClr val="610B38"/>
                </a:solidFill>
                <a:effectLst/>
              </a:rPr>
              <a:t>Interquery Parallelism</a:t>
            </a:r>
          </a:p>
          <a:p>
            <a:pPr algn="just"/>
            <a:r>
              <a:rPr lang="en-US" b="0" i="0" dirty="0">
                <a:solidFill>
                  <a:srgbClr val="333333"/>
                </a:solidFill>
                <a:effectLst/>
              </a:rPr>
              <a:t>In interquery parallelism, </a:t>
            </a:r>
            <a:r>
              <a:rPr lang="en-US" b="1" i="0" dirty="0">
                <a:solidFill>
                  <a:srgbClr val="0000CC"/>
                </a:solidFill>
                <a:effectLst/>
              </a:rPr>
              <a:t>different queries or transaction execute in parallel with one another.</a:t>
            </a:r>
          </a:p>
          <a:p>
            <a:pPr algn="just"/>
            <a:r>
              <a:rPr lang="en-US" b="0" i="0" dirty="0">
                <a:solidFill>
                  <a:srgbClr val="333333"/>
                </a:solidFill>
                <a:effectLst/>
              </a:rPr>
              <a:t>This form of </a:t>
            </a:r>
            <a:r>
              <a:rPr lang="en-US" b="1" i="0" dirty="0">
                <a:solidFill>
                  <a:srgbClr val="0000CC"/>
                </a:solidFill>
                <a:effectLst/>
              </a:rPr>
              <a:t>parallelism can increase transactions throughput</a:t>
            </a:r>
            <a:r>
              <a:rPr lang="en-US" b="0" i="0" dirty="0">
                <a:solidFill>
                  <a:srgbClr val="333333"/>
                </a:solidFill>
                <a:effectLst/>
              </a:rPr>
              <a:t>. The response times of individual transactions are not faster than they would be if the transactions were run in isolation.</a:t>
            </a:r>
          </a:p>
          <a:p>
            <a:pPr algn="just"/>
            <a:r>
              <a:rPr lang="en-US" b="0" i="0" dirty="0">
                <a:solidFill>
                  <a:srgbClr val="333333"/>
                </a:solidFill>
                <a:effectLst/>
              </a:rPr>
              <a:t>Thus, the </a:t>
            </a:r>
            <a:r>
              <a:rPr lang="en-US" b="1" i="0" dirty="0">
                <a:solidFill>
                  <a:srgbClr val="0000CC"/>
                </a:solidFill>
                <a:effectLst/>
              </a:rPr>
              <a:t>primary use of </a:t>
            </a:r>
            <a:r>
              <a:rPr lang="en-US" b="1" i="0" dirty="0">
                <a:solidFill>
                  <a:srgbClr val="FF0000"/>
                </a:solidFill>
                <a:effectLst/>
              </a:rPr>
              <a:t>interquery parallelism is to scale up a transaction </a:t>
            </a:r>
            <a:r>
              <a:rPr lang="en-US" b="1" i="0" dirty="0">
                <a:solidFill>
                  <a:srgbClr val="0000CC"/>
                </a:solidFill>
                <a:effectLst/>
              </a:rPr>
              <a:t>processing system to support a more significant number of transactions per second.</a:t>
            </a:r>
          </a:p>
          <a:p>
            <a:r>
              <a:rPr lang="en-US" dirty="0"/>
              <a:t>Interquery parallelism is the </a:t>
            </a:r>
            <a:r>
              <a:rPr lang="en-US" b="1" dirty="0">
                <a:solidFill>
                  <a:srgbClr val="0000CC"/>
                </a:solidFill>
              </a:rPr>
              <a:t>easiest form of parallelism to support in a database system—particularly in a shared-memory parallel system.</a:t>
            </a:r>
          </a:p>
          <a:p>
            <a:pPr marL="0" indent="0">
              <a:buNone/>
            </a:pPr>
            <a:endParaRPr lang="en-US" dirty="0"/>
          </a:p>
        </p:txBody>
      </p:sp>
    </p:spTree>
    <p:extLst>
      <p:ext uri="{BB962C8B-B14F-4D97-AF65-F5344CB8AC3E}">
        <p14:creationId xmlns:p14="http://schemas.microsoft.com/office/powerpoint/2010/main" val="1115563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A61B295-5C12-508F-9023-F51A1F2DB3E2}"/>
              </a:ext>
            </a:extLst>
          </p:cNvPr>
          <p:cNvSpPr>
            <a:spLocks noGrp="1"/>
          </p:cNvSpPr>
          <p:nvPr>
            <p:ph type="title"/>
          </p:nvPr>
        </p:nvSpPr>
        <p:spPr>
          <a:xfrm>
            <a:off x="200891" y="207818"/>
            <a:ext cx="10515600" cy="673966"/>
          </a:xfrm>
        </p:spPr>
        <p:txBody>
          <a:bodyPr>
            <a:normAutofit/>
          </a:bodyPr>
          <a:lstStyle/>
          <a:p>
            <a:r>
              <a:rPr lang="en-US" sz="4000" b="1" i="0" u="none" strike="noStrike" baseline="0" dirty="0">
                <a:latin typeface="+mn-lt"/>
              </a:rPr>
              <a:t>Interquery and Intraquery parallelism</a:t>
            </a:r>
            <a:endParaRPr lang="en-US" sz="4000" b="1" dirty="0">
              <a:latin typeface="+mn-lt"/>
            </a:endParaRPr>
          </a:p>
        </p:txBody>
      </p:sp>
      <p:sp>
        <p:nvSpPr>
          <p:cNvPr id="3" name="Content Placeholder 2">
            <a:extLst>
              <a:ext uri="{FF2B5EF4-FFF2-40B4-BE49-F238E27FC236}">
                <a16:creationId xmlns="" xmlns:a16="http://schemas.microsoft.com/office/drawing/2014/main" id="{BA99F6CB-3D7F-39B0-A229-58F3EED27238}"/>
              </a:ext>
            </a:extLst>
          </p:cNvPr>
          <p:cNvSpPr>
            <a:spLocks noGrp="1"/>
          </p:cNvSpPr>
          <p:nvPr>
            <p:ph idx="1"/>
          </p:nvPr>
        </p:nvSpPr>
        <p:spPr>
          <a:xfrm>
            <a:off x="200891" y="1039091"/>
            <a:ext cx="11797145" cy="5611091"/>
          </a:xfrm>
        </p:spPr>
        <p:txBody>
          <a:bodyPr>
            <a:normAutofit/>
          </a:bodyPr>
          <a:lstStyle/>
          <a:p>
            <a:pPr algn="just"/>
            <a:r>
              <a:rPr lang="en-US" b="1" i="0" dirty="0">
                <a:effectLst/>
              </a:rPr>
              <a:t>Intraquery Parallelism</a:t>
            </a:r>
          </a:p>
          <a:p>
            <a:pPr algn="just"/>
            <a:r>
              <a:rPr lang="en-US" b="0" i="0" dirty="0">
                <a:effectLst/>
              </a:rPr>
              <a:t>Intraquery parallelism </a:t>
            </a:r>
            <a:r>
              <a:rPr lang="en-US" b="1" i="0" dirty="0">
                <a:solidFill>
                  <a:srgbClr val="0000CC"/>
                </a:solidFill>
                <a:effectLst/>
              </a:rPr>
              <a:t>defines the execution of a single query in parallel on multiple processors and disks.</a:t>
            </a:r>
          </a:p>
          <a:p>
            <a:pPr algn="just"/>
            <a:r>
              <a:rPr lang="en-US" b="0" i="0" dirty="0">
                <a:effectLst/>
              </a:rPr>
              <a:t>Using </a:t>
            </a:r>
            <a:r>
              <a:rPr lang="en-US" b="0" i="0" dirty="0">
                <a:solidFill>
                  <a:srgbClr val="FF0000"/>
                </a:solidFill>
                <a:effectLst/>
              </a:rPr>
              <a:t>intraquery parallelism </a:t>
            </a:r>
            <a:r>
              <a:rPr lang="en-US" b="1" i="0" dirty="0">
                <a:solidFill>
                  <a:srgbClr val="FF0000"/>
                </a:solidFill>
                <a:effectLst/>
              </a:rPr>
              <a:t>is essential for speeding up</a:t>
            </a:r>
            <a:r>
              <a:rPr lang="en-US" b="1" i="0" dirty="0">
                <a:solidFill>
                  <a:srgbClr val="0000CC"/>
                </a:solidFill>
                <a:effectLst/>
              </a:rPr>
              <a:t> long-running queries.</a:t>
            </a:r>
          </a:p>
          <a:p>
            <a:pPr algn="just"/>
            <a:r>
              <a:rPr lang="en-US" b="0" i="0" dirty="0">
                <a:effectLst/>
              </a:rPr>
              <a:t>This application of parallelism decomposes the serial SQL, query into lower-level operations such as scan, join, sort, and aggregation.</a:t>
            </a:r>
          </a:p>
          <a:p>
            <a:pPr algn="just"/>
            <a:r>
              <a:rPr lang="en-US" dirty="0"/>
              <a:t>To illustrate the parallel evaluation of a query, </a:t>
            </a:r>
            <a:r>
              <a:rPr lang="en-US" b="1" dirty="0">
                <a:solidFill>
                  <a:srgbClr val="0000CC"/>
                </a:solidFill>
              </a:rPr>
              <a:t>consider a query that requires a relation to be sorted.</a:t>
            </a:r>
            <a:r>
              <a:rPr lang="en-US" dirty="0"/>
              <a:t> Suppose that the relation has been partitioned across multiple disks by range partitioning on some attribute, and the sort is requested on the partitioning attribute. </a:t>
            </a:r>
            <a:r>
              <a:rPr lang="en-US" b="1" dirty="0">
                <a:solidFill>
                  <a:srgbClr val="0000CC"/>
                </a:solidFill>
              </a:rPr>
              <a:t>The sort operation can be implemented by sorting each partition in parallel, then concatenating the sorted partitions to get the final sorted relation.</a:t>
            </a:r>
          </a:p>
        </p:txBody>
      </p:sp>
    </p:spTree>
    <p:extLst>
      <p:ext uri="{BB962C8B-B14F-4D97-AF65-F5344CB8AC3E}">
        <p14:creationId xmlns:p14="http://schemas.microsoft.com/office/powerpoint/2010/main" val="41656398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A61B295-5C12-508F-9023-F51A1F2DB3E2}"/>
              </a:ext>
            </a:extLst>
          </p:cNvPr>
          <p:cNvSpPr>
            <a:spLocks noGrp="1"/>
          </p:cNvSpPr>
          <p:nvPr>
            <p:ph type="title"/>
          </p:nvPr>
        </p:nvSpPr>
        <p:spPr>
          <a:xfrm>
            <a:off x="200891" y="207818"/>
            <a:ext cx="11409218" cy="673966"/>
          </a:xfrm>
        </p:spPr>
        <p:txBody>
          <a:bodyPr>
            <a:normAutofit/>
          </a:bodyPr>
          <a:lstStyle/>
          <a:p>
            <a:r>
              <a:rPr lang="en-US" sz="4000" b="1" i="0" u="none" strike="noStrike" baseline="0" dirty="0">
                <a:latin typeface="+mn-lt"/>
              </a:rPr>
              <a:t>Intraoperation and Interoperation Parallelism</a:t>
            </a:r>
            <a:endParaRPr lang="en-US" sz="4000" b="1" dirty="0">
              <a:latin typeface="+mn-lt"/>
            </a:endParaRPr>
          </a:p>
        </p:txBody>
      </p:sp>
      <p:sp>
        <p:nvSpPr>
          <p:cNvPr id="3" name="Content Placeholder 2">
            <a:extLst>
              <a:ext uri="{FF2B5EF4-FFF2-40B4-BE49-F238E27FC236}">
                <a16:creationId xmlns="" xmlns:a16="http://schemas.microsoft.com/office/drawing/2014/main" id="{BA99F6CB-3D7F-39B0-A229-58F3EED27238}"/>
              </a:ext>
            </a:extLst>
          </p:cNvPr>
          <p:cNvSpPr>
            <a:spLocks noGrp="1"/>
          </p:cNvSpPr>
          <p:nvPr>
            <p:ph idx="1"/>
          </p:nvPr>
        </p:nvSpPr>
        <p:spPr>
          <a:xfrm>
            <a:off x="200891" y="1039091"/>
            <a:ext cx="11797145" cy="5611091"/>
          </a:xfrm>
        </p:spPr>
        <p:txBody>
          <a:bodyPr>
            <a:normAutofit/>
          </a:bodyPr>
          <a:lstStyle/>
          <a:p>
            <a:pPr algn="just"/>
            <a:r>
              <a:rPr lang="en-US" i="0" dirty="0">
                <a:effectLst/>
              </a:rPr>
              <a:t>we may be able to pipeline the output of one operation to another operation. The two operations can be executed in parallel on separate processors,</a:t>
            </a:r>
          </a:p>
          <a:p>
            <a:pPr algn="just"/>
            <a:r>
              <a:rPr lang="en-US" i="0" dirty="0">
                <a:effectLst/>
              </a:rPr>
              <a:t>one generating output that is consumed by the other, even as it is generated.</a:t>
            </a:r>
          </a:p>
          <a:p>
            <a:pPr algn="just"/>
            <a:r>
              <a:rPr lang="en-US" i="0" dirty="0">
                <a:effectLst/>
              </a:rPr>
              <a:t>In summary, the </a:t>
            </a:r>
            <a:r>
              <a:rPr lang="en-US" b="1" i="0" dirty="0">
                <a:solidFill>
                  <a:srgbClr val="0000CC"/>
                </a:solidFill>
                <a:effectLst/>
              </a:rPr>
              <a:t>execution of a single query can be parallelized in two ways:</a:t>
            </a:r>
          </a:p>
          <a:p>
            <a:pPr algn="just"/>
            <a:r>
              <a:rPr lang="en-US" b="1" i="0" dirty="0">
                <a:effectLst/>
              </a:rPr>
              <a:t>Intraoperation parallelism. </a:t>
            </a:r>
          </a:p>
          <a:p>
            <a:pPr algn="just"/>
            <a:r>
              <a:rPr lang="en-US" i="0" dirty="0">
                <a:effectLst/>
              </a:rPr>
              <a:t>We can speed up processing of a query by parallelizing the execution of each individual operation, such as sort, select, project, and join. </a:t>
            </a:r>
          </a:p>
          <a:p>
            <a:pPr algn="just"/>
            <a:r>
              <a:rPr lang="en-US" b="1" i="0" dirty="0">
                <a:effectLst/>
              </a:rPr>
              <a:t>Interoperation parallelism.</a:t>
            </a:r>
          </a:p>
          <a:p>
            <a:pPr algn="just"/>
            <a:r>
              <a:rPr lang="en-US" i="0" dirty="0">
                <a:effectLst/>
              </a:rPr>
              <a:t>We can speed up processing of a query by executing in parallel the different operations in a query expression.</a:t>
            </a:r>
            <a:endParaRPr lang="en-US" dirty="0">
              <a:solidFill>
                <a:srgbClr val="0000CC"/>
              </a:solidFill>
            </a:endParaRPr>
          </a:p>
        </p:txBody>
      </p:sp>
    </p:spTree>
    <p:extLst>
      <p:ext uri="{BB962C8B-B14F-4D97-AF65-F5344CB8AC3E}">
        <p14:creationId xmlns:p14="http://schemas.microsoft.com/office/powerpoint/2010/main" val="41726237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4195C77-A9BB-99E2-88F9-D5B96C14CB87}"/>
              </a:ext>
            </a:extLst>
          </p:cNvPr>
          <p:cNvSpPr>
            <a:spLocks noGrp="1"/>
          </p:cNvSpPr>
          <p:nvPr>
            <p:ph type="title"/>
          </p:nvPr>
        </p:nvSpPr>
        <p:spPr>
          <a:xfrm>
            <a:off x="256309" y="189922"/>
            <a:ext cx="10515600" cy="867930"/>
          </a:xfrm>
        </p:spPr>
        <p:txBody>
          <a:bodyPr>
            <a:normAutofit fontScale="90000"/>
          </a:bodyPr>
          <a:lstStyle/>
          <a:p>
            <a:r>
              <a:rPr lang="en-US" sz="4000" b="1" i="0" u="none" strike="noStrike" baseline="0" dirty="0">
                <a:latin typeface="+mn-lt"/>
              </a:rPr>
              <a:t>Distributed Databases</a:t>
            </a:r>
            <a:r>
              <a:rPr lang="en-US" b="0" i="0" u="none" strike="noStrike" baseline="0" dirty="0"/>
              <a:t/>
            </a:r>
            <a:br>
              <a:rPr lang="en-US" b="0" i="0" u="none" strike="noStrike" baseline="0" dirty="0"/>
            </a:br>
            <a:endParaRPr lang="en-US" dirty="0"/>
          </a:p>
        </p:txBody>
      </p:sp>
      <p:sp>
        <p:nvSpPr>
          <p:cNvPr id="3" name="Content Placeholder 2">
            <a:extLst>
              <a:ext uri="{FF2B5EF4-FFF2-40B4-BE49-F238E27FC236}">
                <a16:creationId xmlns="" xmlns:a16="http://schemas.microsoft.com/office/drawing/2014/main" id="{BA3B23A5-DA38-2DD3-B45C-9562A77DF8FC}"/>
              </a:ext>
            </a:extLst>
          </p:cNvPr>
          <p:cNvSpPr>
            <a:spLocks noGrp="1"/>
          </p:cNvSpPr>
          <p:nvPr>
            <p:ph idx="1"/>
          </p:nvPr>
        </p:nvSpPr>
        <p:spPr>
          <a:xfrm>
            <a:off x="256310" y="803564"/>
            <a:ext cx="6954982" cy="5689311"/>
          </a:xfrm>
        </p:spPr>
        <p:txBody>
          <a:bodyPr>
            <a:normAutofit fontScale="92500" lnSpcReduction="10000"/>
          </a:bodyPr>
          <a:lstStyle/>
          <a:p>
            <a:pPr algn="just"/>
            <a:r>
              <a:rPr lang="en-US" b="1" i="0" dirty="0">
                <a:effectLst/>
              </a:rPr>
              <a:t>What is a distributed database?</a:t>
            </a:r>
          </a:p>
          <a:p>
            <a:pPr algn="just"/>
            <a:r>
              <a:rPr lang="en-US" b="0" i="1" dirty="0">
                <a:effectLst/>
              </a:rPr>
              <a:t>Distributed database system is one in which the </a:t>
            </a:r>
            <a:r>
              <a:rPr lang="en-US" b="1" i="1" dirty="0">
                <a:solidFill>
                  <a:srgbClr val="0000CC"/>
                </a:solidFill>
                <a:effectLst/>
              </a:rPr>
              <a:t>data belonging to a single logical database is distributed to two or more physical databases to ensure reliability and availability</a:t>
            </a:r>
          </a:p>
          <a:p>
            <a:pPr algn="just"/>
            <a:r>
              <a:rPr lang="en-US" b="0" i="0" dirty="0">
                <a:effectLst/>
              </a:rPr>
              <a:t>A distributed database is a database in which all storage devices are not attached to a common CPU. </a:t>
            </a:r>
            <a:r>
              <a:rPr lang="en-US" b="1" i="0" dirty="0">
                <a:solidFill>
                  <a:srgbClr val="0000CC"/>
                </a:solidFill>
                <a:effectLst/>
              </a:rPr>
              <a:t>Data may be stored in multiple sites separate from each other.</a:t>
            </a:r>
            <a:endParaRPr lang="en-US" b="1" i="1" dirty="0">
              <a:solidFill>
                <a:srgbClr val="0000CC"/>
              </a:solidFill>
            </a:endParaRPr>
          </a:p>
          <a:p>
            <a:pPr algn="just"/>
            <a:r>
              <a:rPr lang="en-US" b="0" i="0" dirty="0">
                <a:effectLst/>
              </a:rPr>
              <a:t>In a distributed database, the data is spread or replicated among several databases which are physically separate from each other. </a:t>
            </a:r>
            <a:r>
              <a:rPr lang="en-US" b="1" i="0" dirty="0">
                <a:solidFill>
                  <a:srgbClr val="0000CC"/>
                </a:solidFill>
                <a:effectLst/>
              </a:rPr>
              <a:t>These databases are connected through a network so that they appear as a single database to the user.</a:t>
            </a:r>
            <a:endParaRPr lang="en-US" b="1" dirty="0">
              <a:solidFill>
                <a:srgbClr val="0000CC"/>
              </a:solidFill>
            </a:endParaRPr>
          </a:p>
        </p:txBody>
      </p:sp>
      <p:pic>
        <p:nvPicPr>
          <p:cNvPr id="5" name="Picture 4">
            <a:extLst>
              <a:ext uri="{FF2B5EF4-FFF2-40B4-BE49-F238E27FC236}">
                <a16:creationId xmlns="" xmlns:a16="http://schemas.microsoft.com/office/drawing/2014/main" id="{B4187FFC-13A0-A86D-7BEB-C8514B0C384E}"/>
              </a:ext>
            </a:extLst>
          </p:cNvPr>
          <p:cNvPicPr>
            <a:picLocks noChangeAspect="1"/>
          </p:cNvPicPr>
          <p:nvPr/>
        </p:nvPicPr>
        <p:blipFill>
          <a:blip r:embed="rId2"/>
          <a:stretch>
            <a:fillRect/>
          </a:stretch>
        </p:blipFill>
        <p:spPr>
          <a:xfrm>
            <a:off x="7516090" y="644668"/>
            <a:ext cx="4419600" cy="5146531"/>
          </a:xfrm>
          <a:prstGeom prst="rect">
            <a:avLst/>
          </a:prstGeom>
        </p:spPr>
      </p:pic>
    </p:spTree>
    <p:extLst>
      <p:ext uri="{BB962C8B-B14F-4D97-AF65-F5344CB8AC3E}">
        <p14:creationId xmlns:p14="http://schemas.microsoft.com/office/powerpoint/2010/main" val="8255507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472BA72-15D2-9805-ADB6-5138F18F4388}"/>
              </a:ext>
            </a:extLst>
          </p:cNvPr>
          <p:cNvSpPr>
            <a:spLocks noGrp="1"/>
          </p:cNvSpPr>
          <p:nvPr>
            <p:ph type="title"/>
          </p:nvPr>
        </p:nvSpPr>
        <p:spPr>
          <a:xfrm>
            <a:off x="148937" y="365124"/>
            <a:ext cx="10515600" cy="1325563"/>
          </a:xfrm>
        </p:spPr>
        <p:txBody>
          <a:bodyPr/>
          <a:lstStyle/>
          <a:p>
            <a:r>
              <a:rPr lang="en-US" sz="4000" b="1" i="0" dirty="0">
                <a:solidFill>
                  <a:srgbClr val="000000"/>
                </a:solidFill>
                <a:effectLst/>
                <a:latin typeface="+mn-lt"/>
                <a:cs typeface="Heebo" pitchFamily="2" charset="-79"/>
              </a:rPr>
              <a:t>Types of Distributed Databases</a:t>
            </a:r>
            <a:r>
              <a:rPr lang="en-US" b="0" i="0" dirty="0">
                <a:solidFill>
                  <a:srgbClr val="000000"/>
                </a:solidFill>
                <a:effectLst/>
                <a:latin typeface="Heebo" pitchFamily="2" charset="-79"/>
                <a:cs typeface="Heebo" pitchFamily="2" charset="-79"/>
              </a:rPr>
              <a:t/>
            </a:r>
            <a:br>
              <a:rPr lang="en-US" b="0" i="0" dirty="0">
                <a:solidFill>
                  <a:srgbClr val="000000"/>
                </a:solidFill>
                <a:effectLst/>
                <a:latin typeface="Heebo" pitchFamily="2" charset="-79"/>
                <a:cs typeface="Heebo" pitchFamily="2" charset="-79"/>
              </a:rPr>
            </a:br>
            <a:endParaRPr lang="en-US" dirty="0"/>
          </a:p>
        </p:txBody>
      </p:sp>
      <p:sp>
        <p:nvSpPr>
          <p:cNvPr id="3" name="Content Placeholder 2">
            <a:extLst>
              <a:ext uri="{FF2B5EF4-FFF2-40B4-BE49-F238E27FC236}">
                <a16:creationId xmlns="" xmlns:a16="http://schemas.microsoft.com/office/drawing/2014/main" id="{BD7B40CD-1547-A1D8-C3E8-6FFF45ED86EA}"/>
              </a:ext>
            </a:extLst>
          </p:cNvPr>
          <p:cNvSpPr>
            <a:spLocks noGrp="1"/>
          </p:cNvSpPr>
          <p:nvPr>
            <p:ph idx="1"/>
          </p:nvPr>
        </p:nvSpPr>
        <p:spPr>
          <a:xfrm>
            <a:off x="443346" y="1027904"/>
            <a:ext cx="6047509" cy="5677695"/>
          </a:xfrm>
        </p:spPr>
        <p:txBody>
          <a:bodyPr>
            <a:normAutofit fontScale="92500" lnSpcReduction="20000"/>
          </a:bodyPr>
          <a:lstStyle/>
          <a:p>
            <a:pPr algn="just"/>
            <a:r>
              <a:rPr lang="en-US" b="0" i="0" dirty="0">
                <a:effectLst/>
              </a:rPr>
              <a:t>Distributed databases can be broadly classified into </a:t>
            </a:r>
            <a:r>
              <a:rPr lang="en-US" b="1" i="0" dirty="0">
                <a:solidFill>
                  <a:srgbClr val="0000CC"/>
                </a:solidFill>
                <a:effectLst/>
              </a:rPr>
              <a:t>homogeneous and heterogeneous distributed database </a:t>
            </a:r>
            <a:r>
              <a:rPr lang="en-US" b="0" i="0" dirty="0">
                <a:effectLst/>
              </a:rPr>
              <a:t>environments</a:t>
            </a:r>
          </a:p>
          <a:p>
            <a:pPr algn="just"/>
            <a:r>
              <a:rPr lang="en-US" b="1" i="0" dirty="0">
                <a:effectLst/>
              </a:rPr>
              <a:t>Homogeneous Distributed Databases</a:t>
            </a:r>
          </a:p>
          <a:p>
            <a:pPr algn="just"/>
            <a:r>
              <a:rPr lang="en-US" b="0" i="0" dirty="0">
                <a:effectLst/>
              </a:rPr>
              <a:t>In a homogeneous distributed database, </a:t>
            </a:r>
            <a:r>
              <a:rPr lang="en-US" b="1" i="0" dirty="0">
                <a:solidFill>
                  <a:srgbClr val="0000CC"/>
                </a:solidFill>
                <a:effectLst/>
              </a:rPr>
              <a:t>all the sites use identical DBMS and operating systems</a:t>
            </a:r>
            <a:r>
              <a:rPr lang="en-US" b="0" i="0" dirty="0">
                <a:effectLst/>
              </a:rPr>
              <a:t>. Its properties are</a:t>
            </a:r>
          </a:p>
          <a:p>
            <a:pPr algn="just">
              <a:buFont typeface="Arial" panose="020B0604020202020204" pitchFamily="34" charset="0"/>
              <a:buChar char="•"/>
            </a:pPr>
            <a:r>
              <a:rPr lang="en-US" b="0" i="0" dirty="0">
                <a:effectLst/>
              </a:rPr>
              <a:t>The </a:t>
            </a:r>
            <a:r>
              <a:rPr lang="en-US" b="1" i="0" dirty="0">
                <a:solidFill>
                  <a:srgbClr val="0000CC"/>
                </a:solidFill>
                <a:effectLst/>
              </a:rPr>
              <a:t>sites use very similar software</a:t>
            </a:r>
            <a:r>
              <a:rPr lang="en-US" b="0" i="0" dirty="0">
                <a:effectLst/>
              </a:rPr>
              <a:t>.</a:t>
            </a:r>
          </a:p>
          <a:p>
            <a:pPr algn="just">
              <a:buFont typeface="Arial" panose="020B0604020202020204" pitchFamily="34" charset="0"/>
              <a:buChar char="•"/>
            </a:pPr>
            <a:r>
              <a:rPr lang="en-US" b="0" i="0" dirty="0">
                <a:effectLst/>
              </a:rPr>
              <a:t>The </a:t>
            </a:r>
            <a:r>
              <a:rPr lang="en-US" b="1" i="0" dirty="0">
                <a:solidFill>
                  <a:srgbClr val="0000CC"/>
                </a:solidFill>
                <a:effectLst/>
              </a:rPr>
              <a:t>sites use identical DBMS or DBMS from the same vendor.</a:t>
            </a:r>
          </a:p>
          <a:p>
            <a:pPr algn="just">
              <a:buFont typeface="Arial" panose="020B0604020202020204" pitchFamily="34" charset="0"/>
              <a:buChar char="•"/>
            </a:pPr>
            <a:r>
              <a:rPr lang="en-US" b="0" i="0" dirty="0">
                <a:effectLst/>
              </a:rPr>
              <a:t>Each site is </a:t>
            </a:r>
            <a:r>
              <a:rPr lang="en-US" b="1" i="0" dirty="0">
                <a:solidFill>
                  <a:srgbClr val="0000CC"/>
                </a:solidFill>
                <a:effectLst/>
              </a:rPr>
              <a:t>aware of all other sites and cooperates with other sites to process user requests.</a:t>
            </a:r>
          </a:p>
          <a:p>
            <a:pPr algn="just">
              <a:buFont typeface="Arial" panose="020B0604020202020204" pitchFamily="34" charset="0"/>
              <a:buChar char="•"/>
            </a:pPr>
            <a:r>
              <a:rPr lang="en-US" b="0" i="0" dirty="0">
                <a:effectLst/>
              </a:rPr>
              <a:t>The database is </a:t>
            </a:r>
            <a:r>
              <a:rPr lang="en-US" b="1" i="0" dirty="0">
                <a:solidFill>
                  <a:srgbClr val="0000CC"/>
                </a:solidFill>
                <a:effectLst/>
              </a:rPr>
              <a:t>accessed through a single interface as if it is a single database.</a:t>
            </a:r>
          </a:p>
          <a:p>
            <a:endParaRPr lang="en-US" dirty="0"/>
          </a:p>
        </p:txBody>
      </p:sp>
      <p:pic>
        <p:nvPicPr>
          <p:cNvPr id="2050" name="Picture 2" descr="Distributed Database Environments">
            <a:extLst>
              <a:ext uri="{FF2B5EF4-FFF2-40B4-BE49-F238E27FC236}">
                <a16:creationId xmlns="" xmlns:a16="http://schemas.microsoft.com/office/drawing/2014/main" id="{AF13DFFF-CF20-6B60-D2E6-4268F5C225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5264" y="1537204"/>
            <a:ext cx="5257799" cy="2619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41132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472BA72-15D2-9805-ADB6-5138F18F4388}"/>
              </a:ext>
            </a:extLst>
          </p:cNvPr>
          <p:cNvSpPr>
            <a:spLocks noGrp="1"/>
          </p:cNvSpPr>
          <p:nvPr>
            <p:ph type="title"/>
          </p:nvPr>
        </p:nvSpPr>
        <p:spPr>
          <a:xfrm>
            <a:off x="148937" y="365124"/>
            <a:ext cx="10515600" cy="1325563"/>
          </a:xfrm>
        </p:spPr>
        <p:txBody>
          <a:bodyPr/>
          <a:lstStyle/>
          <a:p>
            <a:r>
              <a:rPr lang="en-US" sz="4000" b="1" i="0" dirty="0">
                <a:solidFill>
                  <a:srgbClr val="000000"/>
                </a:solidFill>
                <a:effectLst/>
                <a:latin typeface="+mn-lt"/>
                <a:cs typeface="Heebo" pitchFamily="2" charset="-79"/>
              </a:rPr>
              <a:t>Types of Distributed Databases</a:t>
            </a:r>
            <a:r>
              <a:rPr lang="en-US" b="0" i="0" dirty="0">
                <a:solidFill>
                  <a:srgbClr val="000000"/>
                </a:solidFill>
                <a:effectLst/>
                <a:latin typeface="Heebo" pitchFamily="2" charset="-79"/>
                <a:cs typeface="Heebo" pitchFamily="2" charset="-79"/>
              </a:rPr>
              <a:t/>
            </a:r>
            <a:br>
              <a:rPr lang="en-US" b="0" i="0" dirty="0">
                <a:solidFill>
                  <a:srgbClr val="000000"/>
                </a:solidFill>
                <a:effectLst/>
                <a:latin typeface="Heebo" pitchFamily="2" charset="-79"/>
                <a:cs typeface="Heebo" pitchFamily="2" charset="-79"/>
              </a:rPr>
            </a:br>
            <a:endParaRPr lang="en-US" dirty="0"/>
          </a:p>
        </p:txBody>
      </p:sp>
      <p:sp>
        <p:nvSpPr>
          <p:cNvPr id="3" name="Content Placeholder 2">
            <a:extLst>
              <a:ext uri="{FF2B5EF4-FFF2-40B4-BE49-F238E27FC236}">
                <a16:creationId xmlns="" xmlns:a16="http://schemas.microsoft.com/office/drawing/2014/main" id="{BD7B40CD-1547-A1D8-C3E8-6FFF45ED86EA}"/>
              </a:ext>
            </a:extLst>
          </p:cNvPr>
          <p:cNvSpPr>
            <a:spLocks noGrp="1"/>
          </p:cNvSpPr>
          <p:nvPr>
            <p:ph idx="1"/>
          </p:nvPr>
        </p:nvSpPr>
        <p:spPr>
          <a:xfrm>
            <a:off x="443346" y="1027904"/>
            <a:ext cx="6047509" cy="5677695"/>
          </a:xfrm>
        </p:spPr>
        <p:txBody>
          <a:bodyPr>
            <a:normAutofit/>
          </a:bodyPr>
          <a:lstStyle/>
          <a:p>
            <a:pPr algn="just"/>
            <a:r>
              <a:rPr lang="en-US" b="0" i="0" dirty="0">
                <a:effectLst/>
              </a:rPr>
              <a:t>There are two types of homogeneous distributed database are:</a:t>
            </a:r>
          </a:p>
          <a:p>
            <a:pPr algn="just">
              <a:buFont typeface="+mj-lt"/>
              <a:buAutoNum type="arabicPeriod"/>
            </a:pPr>
            <a:r>
              <a:rPr lang="en-US" b="1" i="0" dirty="0">
                <a:effectLst/>
              </a:rPr>
              <a:t>Autonomous</a:t>
            </a:r>
            <a:r>
              <a:rPr lang="en-US" b="0" i="0" dirty="0">
                <a:effectLst/>
              </a:rPr>
              <a:t> − </a:t>
            </a:r>
            <a:r>
              <a:rPr lang="en-US" b="1" i="0" dirty="0">
                <a:solidFill>
                  <a:srgbClr val="0000CC"/>
                </a:solidFill>
                <a:effectLst/>
              </a:rPr>
              <a:t>Each database is independent that functions on its own. </a:t>
            </a:r>
            <a:r>
              <a:rPr lang="en-US" b="0" i="0" dirty="0">
                <a:effectLst/>
              </a:rPr>
              <a:t>They are integrated by a controlling application and use message passing to share data updates.</a:t>
            </a:r>
          </a:p>
          <a:p>
            <a:pPr algn="just">
              <a:buFont typeface="+mj-lt"/>
              <a:buAutoNum type="arabicPeriod"/>
            </a:pPr>
            <a:r>
              <a:rPr lang="en-US" b="1" i="0" dirty="0">
                <a:effectLst/>
              </a:rPr>
              <a:t>Non-autonomous</a:t>
            </a:r>
            <a:r>
              <a:rPr lang="en-US" b="0" i="0" dirty="0">
                <a:effectLst/>
              </a:rPr>
              <a:t> − Data is distributed across the homogeneous nodes and a </a:t>
            </a:r>
            <a:r>
              <a:rPr lang="en-US" b="1" i="0" dirty="0">
                <a:solidFill>
                  <a:srgbClr val="0000CC"/>
                </a:solidFill>
                <a:effectLst/>
              </a:rPr>
              <a:t>central or master DBMS co-ordinates data updates across the sites.</a:t>
            </a:r>
          </a:p>
          <a:p>
            <a:endParaRPr lang="en-US" dirty="0"/>
          </a:p>
        </p:txBody>
      </p:sp>
      <p:pic>
        <p:nvPicPr>
          <p:cNvPr id="2050" name="Picture 2" descr="Distributed Database Environments">
            <a:extLst>
              <a:ext uri="{FF2B5EF4-FFF2-40B4-BE49-F238E27FC236}">
                <a16:creationId xmlns="" xmlns:a16="http://schemas.microsoft.com/office/drawing/2014/main" id="{AF13DFFF-CF20-6B60-D2E6-4268F5C225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5264" y="1537204"/>
            <a:ext cx="5257799" cy="2619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55074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472BA72-15D2-9805-ADB6-5138F18F4388}"/>
              </a:ext>
            </a:extLst>
          </p:cNvPr>
          <p:cNvSpPr>
            <a:spLocks noGrp="1"/>
          </p:cNvSpPr>
          <p:nvPr>
            <p:ph type="title"/>
          </p:nvPr>
        </p:nvSpPr>
        <p:spPr>
          <a:xfrm>
            <a:off x="148937" y="365124"/>
            <a:ext cx="10515600" cy="1325563"/>
          </a:xfrm>
        </p:spPr>
        <p:txBody>
          <a:bodyPr/>
          <a:lstStyle/>
          <a:p>
            <a:r>
              <a:rPr lang="en-US" sz="4000" b="1" i="0" dirty="0">
                <a:solidFill>
                  <a:srgbClr val="000000"/>
                </a:solidFill>
                <a:effectLst/>
                <a:latin typeface="+mn-lt"/>
                <a:cs typeface="Heebo" pitchFamily="2" charset="-79"/>
              </a:rPr>
              <a:t>Types of Distributed Databases</a:t>
            </a:r>
            <a:r>
              <a:rPr lang="en-US" b="0" i="0" dirty="0">
                <a:solidFill>
                  <a:srgbClr val="000000"/>
                </a:solidFill>
                <a:effectLst/>
                <a:latin typeface="Heebo" pitchFamily="2" charset="-79"/>
                <a:cs typeface="Heebo" pitchFamily="2" charset="-79"/>
              </a:rPr>
              <a:t/>
            </a:r>
            <a:br>
              <a:rPr lang="en-US" b="0" i="0" dirty="0">
                <a:solidFill>
                  <a:srgbClr val="000000"/>
                </a:solidFill>
                <a:effectLst/>
                <a:latin typeface="Heebo" pitchFamily="2" charset="-79"/>
                <a:cs typeface="Heebo" pitchFamily="2" charset="-79"/>
              </a:rPr>
            </a:br>
            <a:endParaRPr lang="en-US" dirty="0"/>
          </a:p>
        </p:txBody>
      </p:sp>
      <p:sp>
        <p:nvSpPr>
          <p:cNvPr id="3" name="Content Placeholder 2">
            <a:extLst>
              <a:ext uri="{FF2B5EF4-FFF2-40B4-BE49-F238E27FC236}">
                <a16:creationId xmlns="" xmlns:a16="http://schemas.microsoft.com/office/drawing/2014/main" id="{BD7B40CD-1547-A1D8-C3E8-6FFF45ED86EA}"/>
              </a:ext>
            </a:extLst>
          </p:cNvPr>
          <p:cNvSpPr>
            <a:spLocks noGrp="1"/>
          </p:cNvSpPr>
          <p:nvPr>
            <p:ph idx="1"/>
          </p:nvPr>
        </p:nvSpPr>
        <p:spPr>
          <a:xfrm>
            <a:off x="443346" y="1027904"/>
            <a:ext cx="6047509" cy="5677695"/>
          </a:xfrm>
        </p:spPr>
        <p:txBody>
          <a:bodyPr>
            <a:normAutofit fontScale="92500" lnSpcReduction="20000"/>
          </a:bodyPr>
          <a:lstStyle/>
          <a:p>
            <a:pPr algn="just"/>
            <a:r>
              <a:rPr lang="en-US" b="1" i="0" dirty="0">
                <a:effectLst/>
              </a:rPr>
              <a:t>Heterogeneous Distributed Databases</a:t>
            </a:r>
          </a:p>
          <a:p>
            <a:pPr algn="just"/>
            <a:r>
              <a:rPr lang="en-US" b="0" i="0" dirty="0">
                <a:effectLst/>
              </a:rPr>
              <a:t>In a heterogeneous distributed database, </a:t>
            </a:r>
            <a:r>
              <a:rPr lang="en-US" b="1" i="0" dirty="0">
                <a:solidFill>
                  <a:srgbClr val="0000CC"/>
                </a:solidFill>
                <a:effectLst/>
              </a:rPr>
              <a:t>different sites have different operating systems, DBMS products and data models. </a:t>
            </a:r>
            <a:r>
              <a:rPr lang="en-US" b="0" i="0" dirty="0">
                <a:effectLst/>
              </a:rPr>
              <a:t>Its properties are −</a:t>
            </a:r>
          </a:p>
          <a:p>
            <a:pPr algn="just">
              <a:buFont typeface="Arial" panose="020B0604020202020204" pitchFamily="34" charset="0"/>
              <a:buChar char="•"/>
            </a:pPr>
            <a:r>
              <a:rPr lang="en-US" b="0" i="0" dirty="0">
                <a:effectLst/>
              </a:rPr>
              <a:t>Different </a:t>
            </a:r>
            <a:r>
              <a:rPr lang="en-US" b="1" i="0" dirty="0">
                <a:solidFill>
                  <a:srgbClr val="0000CC"/>
                </a:solidFill>
                <a:effectLst/>
              </a:rPr>
              <a:t>sites use dissimilar schemas and software.</a:t>
            </a:r>
          </a:p>
          <a:p>
            <a:pPr algn="just">
              <a:buFont typeface="Arial" panose="020B0604020202020204" pitchFamily="34" charset="0"/>
              <a:buChar char="•"/>
            </a:pPr>
            <a:r>
              <a:rPr lang="en-US" b="0" i="0" dirty="0">
                <a:effectLst/>
              </a:rPr>
              <a:t>The system may be composed of a </a:t>
            </a:r>
            <a:r>
              <a:rPr lang="en-US" b="1" i="0" dirty="0">
                <a:solidFill>
                  <a:srgbClr val="0000CC"/>
                </a:solidFill>
                <a:effectLst/>
              </a:rPr>
              <a:t>variety of DBMSs like relational, network, hierarchical or object oriented.</a:t>
            </a:r>
          </a:p>
          <a:p>
            <a:pPr algn="just">
              <a:buFont typeface="Arial" panose="020B0604020202020204" pitchFamily="34" charset="0"/>
              <a:buChar char="•"/>
            </a:pPr>
            <a:r>
              <a:rPr lang="en-US" b="1" i="0" dirty="0">
                <a:solidFill>
                  <a:srgbClr val="C00000"/>
                </a:solidFill>
                <a:effectLst/>
              </a:rPr>
              <a:t>Query processing is complex due to dissimilar schemas.</a:t>
            </a:r>
          </a:p>
          <a:p>
            <a:pPr algn="just">
              <a:buFont typeface="Arial" panose="020B0604020202020204" pitchFamily="34" charset="0"/>
              <a:buChar char="•"/>
            </a:pPr>
            <a:r>
              <a:rPr lang="en-US" b="1" i="0" dirty="0">
                <a:solidFill>
                  <a:srgbClr val="C00000"/>
                </a:solidFill>
                <a:effectLst/>
              </a:rPr>
              <a:t>Transaction processing is complex due to dissimilar software.</a:t>
            </a:r>
          </a:p>
          <a:p>
            <a:pPr algn="just"/>
            <a:r>
              <a:rPr lang="en-US" b="1" dirty="0">
                <a:solidFill>
                  <a:srgbClr val="C00000"/>
                </a:solidFill>
              </a:rPr>
              <a:t>A site may not be aware of other sites and so there is limited co-operation in processing user requests.</a:t>
            </a:r>
          </a:p>
          <a:p>
            <a:endParaRPr lang="en-US" dirty="0"/>
          </a:p>
        </p:txBody>
      </p:sp>
      <p:pic>
        <p:nvPicPr>
          <p:cNvPr id="2050" name="Picture 2" descr="Distributed Database Environments">
            <a:extLst>
              <a:ext uri="{FF2B5EF4-FFF2-40B4-BE49-F238E27FC236}">
                <a16:creationId xmlns="" xmlns:a16="http://schemas.microsoft.com/office/drawing/2014/main" id="{AF13DFFF-CF20-6B60-D2E6-4268F5C225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5264" y="1537204"/>
            <a:ext cx="5257799" cy="2619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00670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472BA72-15D2-9805-ADB6-5138F18F4388}"/>
              </a:ext>
            </a:extLst>
          </p:cNvPr>
          <p:cNvSpPr>
            <a:spLocks noGrp="1"/>
          </p:cNvSpPr>
          <p:nvPr>
            <p:ph type="title"/>
          </p:nvPr>
        </p:nvSpPr>
        <p:spPr>
          <a:xfrm>
            <a:off x="148937" y="365124"/>
            <a:ext cx="10515600" cy="1325563"/>
          </a:xfrm>
        </p:spPr>
        <p:txBody>
          <a:bodyPr/>
          <a:lstStyle/>
          <a:p>
            <a:r>
              <a:rPr lang="en-US" sz="4000" b="1" i="0" dirty="0">
                <a:solidFill>
                  <a:srgbClr val="000000"/>
                </a:solidFill>
                <a:effectLst/>
                <a:latin typeface="+mn-lt"/>
                <a:cs typeface="Heebo" pitchFamily="2" charset="-79"/>
              </a:rPr>
              <a:t>Types of Distributed Databases</a:t>
            </a:r>
            <a:r>
              <a:rPr lang="en-US" b="0" i="0" dirty="0">
                <a:solidFill>
                  <a:srgbClr val="000000"/>
                </a:solidFill>
                <a:effectLst/>
                <a:latin typeface="Heebo" pitchFamily="2" charset="-79"/>
                <a:cs typeface="Heebo" pitchFamily="2" charset="-79"/>
              </a:rPr>
              <a:t/>
            </a:r>
            <a:br>
              <a:rPr lang="en-US" b="0" i="0" dirty="0">
                <a:solidFill>
                  <a:srgbClr val="000000"/>
                </a:solidFill>
                <a:effectLst/>
                <a:latin typeface="Heebo" pitchFamily="2" charset="-79"/>
                <a:cs typeface="Heebo" pitchFamily="2" charset="-79"/>
              </a:rPr>
            </a:br>
            <a:endParaRPr lang="en-US" dirty="0"/>
          </a:p>
        </p:txBody>
      </p:sp>
      <p:sp>
        <p:nvSpPr>
          <p:cNvPr id="3" name="Content Placeholder 2">
            <a:extLst>
              <a:ext uri="{FF2B5EF4-FFF2-40B4-BE49-F238E27FC236}">
                <a16:creationId xmlns="" xmlns:a16="http://schemas.microsoft.com/office/drawing/2014/main" id="{BD7B40CD-1547-A1D8-C3E8-6FFF45ED86EA}"/>
              </a:ext>
            </a:extLst>
          </p:cNvPr>
          <p:cNvSpPr>
            <a:spLocks noGrp="1"/>
          </p:cNvSpPr>
          <p:nvPr>
            <p:ph idx="1"/>
          </p:nvPr>
        </p:nvSpPr>
        <p:spPr>
          <a:xfrm>
            <a:off x="443346" y="1027904"/>
            <a:ext cx="6047509" cy="5677695"/>
          </a:xfrm>
        </p:spPr>
        <p:txBody>
          <a:bodyPr>
            <a:normAutofit/>
          </a:bodyPr>
          <a:lstStyle/>
          <a:p>
            <a:pPr algn="just"/>
            <a:r>
              <a:rPr lang="en-US" b="1" i="0" dirty="0">
                <a:effectLst/>
              </a:rPr>
              <a:t>Types of Heterogeneous Distributed Databases</a:t>
            </a:r>
          </a:p>
          <a:p>
            <a:pPr algn="just">
              <a:buFont typeface="+mj-lt"/>
              <a:buAutoNum type="arabicPeriod"/>
            </a:pPr>
            <a:r>
              <a:rPr lang="en-US" b="1" i="0" dirty="0">
                <a:effectLst/>
              </a:rPr>
              <a:t>Federated</a:t>
            </a:r>
            <a:r>
              <a:rPr lang="en-US" b="0" i="0" dirty="0">
                <a:effectLst/>
              </a:rPr>
              <a:t> − The heterogeneous database </a:t>
            </a:r>
            <a:r>
              <a:rPr lang="en-US" b="1" i="0" dirty="0">
                <a:solidFill>
                  <a:srgbClr val="0000CC"/>
                </a:solidFill>
                <a:effectLst/>
              </a:rPr>
              <a:t>systems are independent in nature and integrated together so that they function as a single database system.</a:t>
            </a:r>
          </a:p>
          <a:p>
            <a:pPr algn="just">
              <a:buFont typeface="+mj-lt"/>
              <a:buAutoNum type="arabicPeriod"/>
            </a:pPr>
            <a:r>
              <a:rPr lang="en-US" b="1" i="0" dirty="0">
                <a:effectLst/>
              </a:rPr>
              <a:t>Un-federated</a:t>
            </a:r>
            <a:r>
              <a:rPr lang="en-US" b="0" i="0" dirty="0">
                <a:effectLst/>
              </a:rPr>
              <a:t> − The database systems employ a </a:t>
            </a:r>
            <a:r>
              <a:rPr lang="en-US" b="1" i="0" dirty="0">
                <a:solidFill>
                  <a:srgbClr val="0000CC"/>
                </a:solidFill>
                <a:effectLst/>
              </a:rPr>
              <a:t>central coordinating module through which the databases are accessed.</a:t>
            </a:r>
          </a:p>
          <a:p>
            <a:endParaRPr lang="en-US" dirty="0"/>
          </a:p>
        </p:txBody>
      </p:sp>
      <p:pic>
        <p:nvPicPr>
          <p:cNvPr id="2050" name="Picture 2" descr="Distributed Database Environments">
            <a:extLst>
              <a:ext uri="{FF2B5EF4-FFF2-40B4-BE49-F238E27FC236}">
                <a16:creationId xmlns="" xmlns:a16="http://schemas.microsoft.com/office/drawing/2014/main" id="{AF13DFFF-CF20-6B60-D2E6-4268F5C225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5264" y="1537204"/>
            <a:ext cx="5257799" cy="2619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81194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6294587-14F6-C4A9-4616-DEEF2A7C8CD2}"/>
              </a:ext>
            </a:extLst>
          </p:cNvPr>
          <p:cNvSpPr>
            <a:spLocks noGrp="1"/>
          </p:cNvSpPr>
          <p:nvPr>
            <p:ph type="title"/>
          </p:nvPr>
        </p:nvSpPr>
        <p:spPr>
          <a:xfrm>
            <a:off x="450273" y="205508"/>
            <a:ext cx="10515600" cy="951057"/>
          </a:xfrm>
        </p:spPr>
        <p:txBody>
          <a:bodyPr>
            <a:normAutofit/>
          </a:bodyPr>
          <a:lstStyle/>
          <a:p>
            <a:r>
              <a:rPr lang="en-US" sz="4000" b="1" i="0" u="none" strike="noStrike" baseline="0" dirty="0">
                <a:latin typeface="+mn-lt"/>
              </a:rPr>
              <a:t>Distributed Data Storage</a:t>
            </a:r>
            <a:endParaRPr lang="en-US" sz="4000" b="1" dirty="0">
              <a:latin typeface="+mn-lt"/>
            </a:endParaRPr>
          </a:p>
        </p:txBody>
      </p:sp>
      <p:sp>
        <p:nvSpPr>
          <p:cNvPr id="3" name="Content Placeholder 2">
            <a:extLst>
              <a:ext uri="{FF2B5EF4-FFF2-40B4-BE49-F238E27FC236}">
                <a16:creationId xmlns="" xmlns:a16="http://schemas.microsoft.com/office/drawing/2014/main" id="{5F94BEA2-9801-E460-C209-706F64BD8FE8}"/>
              </a:ext>
            </a:extLst>
          </p:cNvPr>
          <p:cNvSpPr>
            <a:spLocks noGrp="1"/>
          </p:cNvSpPr>
          <p:nvPr>
            <p:ph idx="1"/>
          </p:nvPr>
        </p:nvSpPr>
        <p:spPr>
          <a:xfrm>
            <a:off x="609600" y="1524000"/>
            <a:ext cx="11083636" cy="4652963"/>
          </a:xfrm>
        </p:spPr>
        <p:txBody>
          <a:bodyPr/>
          <a:lstStyle/>
          <a:p>
            <a:pPr algn="just"/>
            <a:r>
              <a:rPr lang="en-US" b="0" i="0" dirty="0">
                <a:effectLst/>
              </a:rPr>
              <a:t>Distributed Data storage is an intelligent </a:t>
            </a:r>
            <a:r>
              <a:rPr lang="en-US" b="1" i="0" dirty="0">
                <a:solidFill>
                  <a:srgbClr val="0000CC"/>
                </a:solidFill>
                <a:effectLst/>
              </a:rPr>
              <a:t>distribution of your data pieces, (called data fragments)</a:t>
            </a:r>
            <a:r>
              <a:rPr lang="en-US" b="0" i="0" dirty="0">
                <a:effectLst/>
              </a:rPr>
              <a:t> to improve database performance and Data Availability for end-users. </a:t>
            </a:r>
          </a:p>
          <a:p>
            <a:pPr algn="just"/>
            <a:r>
              <a:rPr lang="en-US" b="0" i="0" dirty="0">
                <a:effectLst/>
              </a:rPr>
              <a:t>It </a:t>
            </a:r>
            <a:r>
              <a:rPr lang="en-US" b="1" i="0" dirty="0">
                <a:solidFill>
                  <a:srgbClr val="0000CC"/>
                </a:solidFill>
                <a:effectLst/>
              </a:rPr>
              <a:t>aims to reduce overall costs of transaction processing </a:t>
            </a:r>
            <a:r>
              <a:rPr lang="en-US" b="0" i="0" dirty="0">
                <a:effectLst/>
              </a:rPr>
              <a:t>while also providing accurate data rapidly in your DDBMS systems.</a:t>
            </a:r>
          </a:p>
          <a:p>
            <a:pPr algn="just"/>
            <a:r>
              <a:rPr lang="en-US" b="1" i="0" dirty="0">
                <a:solidFill>
                  <a:srgbClr val="0000CC"/>
                </a:solidFill>
                <a:effectLst/>
              </a:rPr>
              <a:t>Distributed Data storage is one of the key steps </a:t>
            </a:r>
            <a:r>
              <a:rPr lang="en-US" b="0" i="0" dirty="0">
                <a:effectLst/>
              </a:rPr>
              <a:t>in building your Distributed Database Systems.</a:t>
            </a:r>
          </a:p>
          <a:p>
            <a:pPr algn="just"/>
            <a:r>
              <a:rPr lang="en-US" b="0" i="0" dirty="0">
                <a:effectLst/>
              </a:rPr>
              <a:t>There are two common strategies used in optimal Data Allocation: </a:t>
            </a:r>
            <a:r>
              <a:rPr lang="en-US" b="1" i="0" dirty="0">
                <a:solidFill>
                  <a:srgbClr val="0000CC"/>
                </a:solidFill>
                <a:effectLst/>
              </a:rPr>
              <a:t>Data Fragmentation and Data Replication. </a:t>
            </a:r>
          </a:p>
          <a:p>
            <a:endParaRPr lang="en-US" dirty="0"/>
          </a:p>
        </p:txBody>
      </p:sp>
    </p:spTree>
    <p:extLst>
      <p:ext uri="{BB962C8B-B14F-4D97-AF65-F5344CB8AC3E}">
        <p14:creationId xmlns:p14="http://schemas.microsoft.com/office/powerpoint/2010/main" val="17575502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82BE612-8389-DE1F-B261-3CC5680592FD}"/>
              </a:ext>
            </a:extLst>
          </p:cNvPr>
          <p:cNvSpPr>
            <a:spLocks noGrp="1"/>
          </p:cNvSpPr>
          <p:nvPr>
            <p:ph type="title"/>
          </p:nvPr>
        </p:nvSpPr>
        <p:spPr>
          <a:xfrm>
            <a:off x="256309" y="247072"/>
            <a:ext cx="10515600" cy="528783"/>
          </a:xfrm>
        </p:spPr>
        <p:txBody>
          <a:bodyPr>
            <a:normAutofit fontScale="90000"/>
          </a:bodyPr>
          <a:lstStyle/>
          <a:p>
            <a:r>
              <a:rPr lang="en-US" sz="4000" b="1" i="0" u="none" strike="noStrike" baseline="0" dirty="0">
                <a:latin typeface="+mn-lt"/>
              </a:rPr>
              <a:t>Distributed Data Storage</a:t>
            </a:r>
            <a:endParaRPr lang="en-US" sz="4000" dirty="0"/>
          </a:p>
        </p:txBody>
      </p:sp>
      <p:sp>
        <p:nvSpPr>
          <p:cNvPr id="3" name="Content Placeholder 2">
            <a:extLst>
              <a:ext uri="{FF2B5EF4-FFF2-40B4-BE49-F238E27FC236}">
                <a16:creationId xmlns="" xmlns:a16="http://schemas.microsoft.com/office/drawing/2014/main" id="{44A0CFF1-CD17-993A-68EC-320CBBFD6570}"/>
              </a:ext>
            </a:extLst>
          </p:cNvPr>
          <p:cNvSpPr>
            <a:spLocks noGrp="1"/>
          </p:cNvSpPr>
          <p:nvPr>
            <p:ph idx="1"/>
          </p:nvPr>
        </p:nvSpPr>
        <p:spPr>
          <a:xfrm>
            <a:off x="138545" y="775855"/>
            <a:ext cx="11797146" cy="5749636"/>
          </a:xfrm>
        </p:spPr>
        <p:txBody>
          <a:bodyPr>
            <a:noAutofit/>
          </a:bodyPr>
          <a:lstStyle/>
          <a:p>
            <a:pPr marL="166688" marR="0" lvl="0" indent="-166688" algn="just">
              <a:lnSpc>
                <a:spcPct val="107000"/>
              </a:lnSpc>
              <a:spcBef>
                <a:spcPts val="0"/>
              </a:spcBef>
              <a:spcAft>
                <a:spcPts val="0"/>
              </a:spcAft>
              <a:buFont typeface="Arial" panose="020B0604020202020204" pitchFamily="34" charset="0"/>
              <a:buChar char="•"/>
              <a:tabLst>
                <a:tab pos="457200" algn="l"/>
              </a:tabLst>
            </a:pPr>
            <a:r>
              <a:rPr lang="en-US" sz="2400" b="1" dirty="0">
                <a:effectLst/>
                <a:ea typeface="Calibri" panose="020F0502020204030204" pitchFamily="34" charset="0"/>
                <a:cs typeface="Times New Roman" panose="02020603050405020304" pitchFamily="18" charset="0"/>
              </a:rPr>
              <a:t>Fragmentation –</a:t>
            </a:r>
            <a:r>
              <a:rPr lang="en-US" sz="2400" dirty="0">
                <a:effectLst/>
                <a:ea typeface="Calibri" panose="020F0502020204030204" pitchFamily="34" charset="0"/>
                <a:cs typeface="Times New Roman" panose="02020603050405020304" pitchFamily="18" charset="0"/>
              </a:rPr>
              <a:t/>
            </a:r>
            <a:br>
              <a:rPr lang="en-US" sz="2400" dirty="0">
                <a:effectLst/>
                <a:ea typeface="Calibri" panose="020F0502020204030204" pitchFamily="34" charset="0"/>
                <a:cs typeface="Times New Roman" panose="02020603050405020304" pitchFamily="18" charset="0"/>
              </a:rPr>
            </a:br>
            <a:r>
              <a:rPr lang="en-US" sz="2400" dirty="0">
                <a:effectLst/>
                <a:ea typeface="Calibri" panose="020F0502020204030204" pitchFamily="34" charset="0"/>
                <a:cs typeface="Times New Roman" panose="02020603050405020304" pitchFamily="18" charset="0"/>
              </a:rPr>
              <a:t>In this approach, the relations are </a:t>
            </a:r>
            <a:r>
              <a:rPr lang="en-US" sz="2400" b="1" dirty="0">
                <a:solidFill>
                  <a:srgbClr val="0000CC"/>
                </a:solidFill>
                <a:effectLst/>
                <a:ea typeface="Calibri" panose="020F0502020204030204" pitchFamily="34" charset="0"/>
                <a:cs typeface="Times New Roman" panose="02020603050405020304" pitchFamily="18" charset="0"/>
              </a:rPr>
              <a:t>fragmented (i.e., they’re divided into smaller parts) </a:t>
            </a:r>
            <a:r>
              <a:rPr lang="en-US" sz="2400" dirty="0">
                <a:effectLst/>
                <a:ea typeface="Calibri" panose="020F0502020204030204" pitchFamily="34" charset="0"/>
                <a:cs typeface="Times New Roman" panose="02020603050405020304" pitchFamily="18" charset="0"/>
              </a:rPr>
              <a:t>and each of the fragments is stored in different sites where they’re required. </a:t>
            </a:r>
          </a:p>
          <a:p>
            <a:pPr marL="166688" marR="0" lvl="0" indent="-166688" algn="just">
              <a:lnSpc>
                <a:spcPct val="107000"/>
              </a:lnSpc>
              <a:spcBef>
                <a:spcPts val="0"/>
              </a:spcBef>
              <a:spcAft>
                <a:spcPts val="0"/>
              </a:spcAft>
              <a:buFont typeface="Arial" panose="020B0604020202020204" pitchFamily="34" charset="0"/>
              <a:buChar char="•"/>
              <a:tabLst>
                <a:tab pos="457200" algn="l"/>
              </a:tabLst>
            </a:pPr>
            <a:r>
              <a:rPr lang="en-US" sz="2400" dirty="0">
                <a:effectLst/>
                <a:ea typeface="Calibri" panose="020F0502020204030204" pitchFamily="34" charset="0"/>
                <a:cs typeface="Times New Roman" panose="02020603050405020304" pitchFamily="18" charset="0"/>
              </a:rPr>
              <a:t>Fragmentation is a process of </a:t>
            </a:r>
            <a:r>
              <a:rPr lang="en-US" sz="2400" b="1" dirty="0">
                <a:solidFill>
                  <a:srgbClr val="0000CC"/>
                </a:solidFill>
                <a:effectLst/>
                <a:ea typeface="Calibri" panose="020F0502020204030204" pitchFamily="34" charset="0"/>
                <a:cs typeface="Times New Roman" panose="02020603050405020304" pitchFamily="18" charset="0"/>
              </a:rPr>
              <a:t>disintegrating relations or tables into several partitions in multiple sites.</a:t>
            </a:r>
            <a:r>
              <a:rPr lang="en-US" sz="2400" dirty="0">
                <a:effectLst/>
                <a:ea typeface="Calibri" panose="020F0502020204030204" pitchFamily="34" charset="0"/>
                <a:cs typeface="Times New Roman" panose="02020603050405020304" pitchFamily="18" charset="0"/>
              </a:rPr>
              <a:t> It divides a database into various </a:t>
            </a:r>
            <a:r>
              <a:rPr lang="en-US" sz="2400" dirty="0" err="1">
                <a:effectLst/>
                <a:ea typeface="Calibri" panose="020F0502020204030204" pitchFamily="34" charset="0"/>
                <a:cs typeface="Times New Roman" panose="02020603050405020304" pitchFamily="18" charset="0"/>
              </a:rPr>
              <a:t>subtables</a:t>
            </a:r>
            <a:r>
              <a:rPr lang="en-US" sz="2400" dirty="0">
                <a:effectLst/>
                <a:ea typeface="Calibri" panose="020F0502020204030204" pitchFamily="34" charset="0"/>
                <a:cs typeface="Times New Roman" panose="02020603050405020304" pitchFamily="18" charset="0"/>
              </a:rPr>
              <a:t> and sub relations so that data can be distributed and stored efficiently. Fragmentation of relations can be done in two ways: </a:t>
            </a:r>
          </a:p>
          <a:p>
            <a:pPr marL="0" marR="0" algn="just">
              <a:lnSpc>
                <a:spcPct val="107000"/>
              </a:lnSpc>
              <a:spcBef>
                <a:spcPts val="0"/>
              </a:spcBef>
              <a:spcAft>
                <a:spcPts val="0"/>
              </a:spcAft>
            </a:pPr>
            <a:r>
              <a:rPr lang="en-US" sz="2400" b="1" dirty="0">
                <a:effectLst/>
                <a:ea typeface="Calibri" panose="020F0502020204030204" pitchFamily="34" charset="0"/>
                <a:cs typeface="Times New Roman" panose="02020603050405020304" pitchFamily="18" charset="0"/>
              </a:rPr>
              <a:t>Horizontal fragmentation– Splitting by rows – </a:t>
            </a:r>
            <a:r>
              <a:rPr lang="en-US" sz="2400" dirty="0">
                <a:effectLst/>
                <a:ea typeface="Calibri" panose="020F0502020204030204" pitchFamily="34" charset="0"/>
                <a:cs typeface="Times New Roman" panose="02020603050405020304" pitchFamily="18" charset="0"/>
              </a:rPr>
              <a:t>The relation is fragmented into groups of tuples so that each tuple is assigned to at least one fragment.</a:t>
            </a:r>
          </a:p>
          <a:p>
            <a:r>
              <a:rPr lang="en-US" sz="2400" dirty="0"/>
              <a:t>For example, in the student schema, if the details of all students of Computer Science Course needs to be maintained at the School of Computer Science, then the designer will horizontally fragment the database as follows −</a:t>
            </a:r>
          </a:p>
          <a:p>
            <a:r>
              <a:rPr lang="en-US" sz="2400" dirty="0">
                <a:solidFill>
                  <a:srgbClr val="0000CC"/>
                </a:solidFill>
              </a:rPr>
              <a:t>CREATE COMP_STD AS </a:t>
            </a:r>
          </a:p>
          <a:p>
            <a:r>
              <a:rPr lang="en-US" sz="2400" dirty="0">
                <a:solidFill>
                  <a:srgbClr val="0000CC"/>
                </a:solidFill>
              </a:rPr>
              <a:t>   SELECT * FROM STUDENT  </a:t>
            </a:r>
          </a:p>
          <a:p>
            <a:r>
              <a:rPr lang="en-US" sz="2400" dirty="0">
                <a:solidFill>
                  <a:srgbClr val="0000CC"/>
                </a:solidFill>
              </a:rPr>
              <a:t>   WHERE COURSE = "Computer Science";</a:t>
            </a:r>
          </a:p>
        </p:txBody>
      </p:sp>
    </p:spTree>
    <p:extLst>
      <p:ext uri="{BB962C8B-B14F-4D97-AF65-F5344CB8AC3E}">
        <p14:creationId xmlns:p14="http://schemas.microsoft.com/office/powerpoint/2010/main" val="1197014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82BE612-8389-DE1F-B261-3CC5680592FD}"/>
              </a:ext>
            </a:extLst>
          </p:cNvPr>
          <p:cNvSpPr>
            <a:spLocks noGrp="1"/>
          </p:cNvSpPr>
          <p:nvPr>
            <p:ph type="title"/>
          </p:nvPr>
        </p:nvSpPr>
        <p:spPr>
          <a:xfrm>
            <a:off x="256309" y="247072"/>
            <a:ext cx="10515600" cy="867930"/>
          </a:xfrm>
        </p:spPr>
        <p:txBody>
          <a:bodyPr>
            <a:normAutofit/>
          </a:bodyPr>
          <a:lstStyle/>
          <a:p>
            <a:r>
              <a:rPr lang="en-US" sz="4000" b="1" i="0" u="none" strike="noStrike" baseline="0" dirty="0">
                <a:latin typeface="+mn-lt"/>
              </a:rPr>
              <a:t>Distributed Data Storage</a:t>
            </a:r>
            <a:endParaRPr lang="en-US" sz="4000" dirty="0"/>
          </a:p>
        </p:txBody>
      </p:sp>
      <p:sp>
        <p:nvSpPr>
          <p:cNvPr id="3" name="Content Placeholder 2">
            <a:extLst>
              <a:ext uri="{FF2B5EF4-FFF2-40B4-BE49-F238E27FC236}">
                <a16:creationId xmlns="" xmlns:a16="http://schemas.microsoft.com/office/drawing/2014/main" id="{44A0CFF1-CD17-993A-68EC-320CBBFD6570}"/>
              </a:ext>
            </a:extLst>
          </p:cNvPr>
          <p:cNvSpPr>
            <a:spLocks noGrp="1"/>
          </p:cNvSpPr>
          <p:nvPr>
            <p:ph idx="1"/>
          </p:nvPr>
        </p:nvSpPr>
        <p:spPr>
          <a:xfrm>
            <a:off x="360218" y="1011382"/>
            <a:ext cx="11430000" cy="5749636"/>
          </a:xfrm>
        </p:spPr>
        <p:txBody>
          <a:bodyPr>
            <a:normAutofit lnSpcReduction="10000"/>
          </a:bodyPr>
          <a:lstStyle/>
          <a:p>
            <a:pPr marL="0" marR="0" algn="just">
              <a:lnSpc>
                <a:spcPct val="107000"/>
              </a:lnSpc>
              <a:spcBef>
                <a:spcPts val="0"/>
              </a:spcBef>
              <a:spcAft>
                <a:spcPts val="0"/>
              </a:spcAft>
            </a:pPr>
            <a:r>
              <a:rPr lang="en-US" sz="2400" b="1" dirty="0">
                <a:effectLst/>
                <a:ea typeface="Calibri" panose="020F0502020204030204" pitchFamily="34" charset="0"/>
                <a:cs typeface="Times New Roman" panose="02020603050405020304" pitchFamily="18" charset="0"/>
              </a:rPr>
              <a:t>Vertical fragmentation – Splitting by columns – </a:t>
            </a:r>
            <a:endParaRPr lang="en-US" sz="2400" dirty="0">
              <a:effectLst/>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2400" dirty="0">
                <a:effectLst/>
                <a:ea typeface="Calibri" panose="020F0502020204030204" pitchFamily="34" charset="0"/>
                <a:cs typeface="Times New Roman" panose="02020603050405020304" pitchFamily="18" charset="0"/>
              </a:rPr>
              <a:t>The schema of the relation is divided into smaller schemas. </a:t>
            </a:r>
            <a:r>
              <a:rPr lang="en-US" sz="2400" b="1" dirty="0">
                <a:solidFill>
                  <a:srgbClr val="0000CC"/>
                </a:solidFill>
                <a:effectLst/>
                <a:ea typeface="Calibri" panose="020F0502020204030204" pitchFamily="34" charset="0"/>
                <a:cs typeface="Times New Roman" panose="02020603050405020304" pitchFamily="18" charset="0"/>
              </a:rPr>
              <a:t>Each fragment must contain a common candidate key so as to ensure a lossless join.</a:t>
            </a:r>
          </a:p>
          <a:p>
            <a:pPr marL="0" marR="0" algn="just">
              <a:lnSpc>
                <a:spcPct val="107000"/>
              </a:lnSpc>
              <a:spcBef>
                <a:spcPts val="0"/>
              </a:spcBef>
              <a:spcAft>
                <a:spcPts val="0"/>
              </a:spcAft>
            </a:pPr>
            <a:r>
              <a:rPr lang="en-US" sz="2400" dirty="0">
                <a:effectLst/>
                <a:ea typeface="Calibri" panose="020F0502020204030204" pitchFamily="34" charset="0"/>
                <a:cs typeface="Times New Roman" panose="02020603050405020304" pitchFamily="18" charset="0"/>
              </a:rPr>
              <a:t>In certain cases, an approach that is hybrid of fragmentation and replication is used.</a:t>
            </a:r>
          </a:p>
          <a:p>
            <a:pPr marL="0" marR="0" algn="just">
              <a:lnSpc>
                <a:spcPct val="107000"/>
              </a:lnSpc>
              <a:spcBef>
                <a:spcPts val="600"/>
              </a:spcBef>
              <a:spcAft>
                <a:spcPts val="720"/>
              </a:spcAft>
            </a:pPr>
            <a:r>
              <a:rPr lang="en-US" sz="2400" dirty="0">
                <a:solidFill>
                  <a:srgbClr val="000000"/>
                </a:solidFill>
                <a:effectLst/>
                <a:ea typeface="Times New Roman" panose="02020603050405020304" pitchFamily="18" charset="0"/>
                <a:cs typeface="Times New Roman" panose="02020603050405020304" pitchFamily="18" charset="0"/>
              </a:rPr>
              <a:t>For example, let us consider that a University database keeps records of all registered students in a Student table having the following schema.</a:t>
            </a:r>
            <a:endParaRPr lang="en-US" sz="2400" dirty="0">
              <a:effectLst/>
              <a:ea typeface="Calibri" panose="020F0502020204030204" pitchFamily="34" charset="0"/>
              <a:cs typeface="Times New Roman" panose="02020603050405020304" pitchFamily="18" charset="0"/>
            </a:endParaRPr>
          </a:p>
          <a:p>
            <a:r>
              <a:rPr lang="en-US" sz="2400" dirty="0">
                <a:solidFill>
                  <a:srgbClr val="000000"/>
                </a:solidFill>
                <a:effectLst/>
                <a:ea typeface="Times New Roman" panose="02020603050405020304" pitchFamily="18" charset="0"/>
                <a:cs typeface="Times New Roman" panose="02020603050405020304" pitchFamily="18" charset="0"/>
              </a:rPr>
              <a:t>STUDENT</a:t>
            </a:r>
          </a:p>
          <a:p>
            <a:endParaRPr lang="en-US" sz="2400" dirty="0"/>
          </a:p>
          <a:p>
            <a:endParaRPr lang="en-US" sz="2400" dirty="0"/>
          </a:p>
          <a:p>
            <a:r>
              <a:rPr lang="en-US" sz="2400" dirty="0"/>
              <a:t>Now, the fees details are maintained in the accounts section. In this case, the designer will fragment the database as follows −</a:t>
            </a:r>
          </a:p>
          <a:p>
            <a:r>
              <a:rPr lang="en-US" sz="2400" b="1" dirty="0">
                <a:solidFill>
                  <a:srgbClr val="0000CC"/>
                </a:solidFill>
              </a:rPr>
              <a:t>CREATE TABLE STD_FEES AS </a:t>
            </a:r>
          </a:p>
          <a:p>
            <a:r>
              <a:rPr lang="en-US" sz="2400" b="1" dirty="0">
                <a:solidFill>
                  <a:srgbClr val="0000CC"/>
                </a:solidFill>
              </a:rPr>
              <a:t>   SELECT </a:t>
            </a:r>
            <a:r>
              <a:rPr lang="en-US" sz="2400" b="1" dirty="0" err="1">
                <a:solidFill>
                  <a:srgbClr val="0000CC"/>
                </a:solidFill>
              </a:rPr>
              <a:t>Regd_No</a:t>
            </a:r>
            <a:r>
              <a:rPr lang="en-US" sz="2400" b="1" dirty="0">
                <a:solidFill>
                  <a:srgbClr val="0000CC"/>
                </a:solidFill>
              </a:rPr>
              <a:t>, Fees </a:t>
            </a:r>
          </a:p>
          <a:p>
            <a:r>
              <a:rPr lang="en-US" sz="2400" b="1" dirty="0">
                <a:solidFill>
                  <a:srgbClr val="0000CC"/>
                </a:solidFill>
              </a:rPr>
              <a:t>   FROM STUDENT;</a:t>
            </a:r>
          </a:p>
          <a:p>
            <a:endParaRPr lang="en-US" dirty="0"/>
          </a:p>
        </p:txBody>
      </p:sp>
      <p:graphicFrame>
        <p:nvGraphicFramePr>
          <p:cNvPr id="8" name="Table 7">
            <a:extLst>
              <a:ext uri="{FF2B5EF4-FFF2-40B4-BE49-F238E27FC236}">
                <a16:creationId xmlns="" xmlns:a16="http://schemas.microsoft.com/office/drawing/2014/main" id="{A44562CF-C3F6-606E-5A6B-6FAA6A5155B0}"/>
              </a:ext>
            </a:extLst>
          </p:cNvPr>
          <p:cNvGraphicFramePr>
            <a:graphicFrameLocks noGrp="1"/>
          </p:cNvGraphicFramePr>
          <p:nvPr/>
        </p:nvGraphicFramePr>
        <p:xfrm>
          <a:off x="3045459" y="3832955"/>
          <a:ext cx="6101081" cy="339916"/>
        </p:xfrm>
        <a:graphic>
          <a:graphicData uri="http://schemas.openxmlformats.org/drawingml/2006/table">
            <a:tbl>
              <a:tblPr firstRow="1" firstCol="1" bandRow="1">
                <a:tableStyleId>{5C22544A-7EE6-4342-B048-85BDC9FD1C3A}</a:tableStyleId>
              </a:tblPr>
              <a:tblGrid>
                <a:gridCol w="871583">
                  <a:extLst>
                    <a:ext uri="{9D8B030D-6E8A-4147-A177-3AD203B41FA5}">
                      <a16:colId xmlns="" xmlns:a16="http://schemas.microsoft.com/office/drawing/2014/main" val="1102144029"/>
                    </a:ext>
                  </a:extLst>
                </a:gridCol>
                <a:gridCol w="871583">
                  <a:extLst>
                    <a:ext uri="{9D8B030D-6E8A-4147-A177-3AD203B41FA5}">
                      <a16:colId xmlns="" xmlns:a16="http://schemas.microsoft.com/office/drawing/2014/main" val="2024378128"/>
                    </a:ext>
                  </a:extLst>
                </a:gridCol>
                <a:gridCol w="871583">
                  <a:extLst>
                    <a:ext uri="{9D8B030D-6E8A-4147-A177-3AD203B41FA5}">
                      <a16:colId xmlns="" xmlns:a16="http://schemas.microsoft.com/office/drawing/2014/main" val="756229718"/>
                    </a:ext>
                  </a:extLst>
                </a:gridCol>
                <a:gridCol w="871583">
                  <a:extLst>
                    <a:ext uri="{9D8B030D-6E8A-4147-A177-3AD203B41FA5}">
                      <a16:colId xmlns="" xmlns:a16="http://schemas.microsoft.com/office/drawing/2014/main" val="3587128111"/>
                    </a:ext>
                  </a:extLst>
                </a:gridCol>
                <a:gridCol w="871583">
                  <a:extLst>
                    <a:ext uri="{9D8B030D-6E8A-4147-A177-3AD203B41FA5}">
                      <a16:colId xmlns="" xmlns:a16="http://schemas.microsoft.com/office/drawing/2014/main" val="2481495475"/>
                    </a:ext>
                  </a:extLst>
                </a:gridCol>
                <a:gridCol w="871583">
                  <a:extLst>
                    <a:ext uri="{9D8B030D-6E8A-4147-A177-3AD203B41FA5}">
                      <a16:colId xmlns="" xmlns:a16="http://schemas.microsoft.com/office/drawing/2014/main" val="1501643807"/>
                    </a:ext>
                  </a:extLst>
                </a:gridCol>
                <a:gridCol w="871583">
                  <a:extLst>
                    <a:ext uri="{9D8B030D-6E8A-4147-A177-3AD203B41FA5}">
                      <a16:colId xmlns="" xmlns:a16="http://schemas.microsoft.com/office/drawing/2014/main" val="1530885563"/>
                    </a:ext>
                  </a:extLst>
                </a:gridCol>
              </a:tblGrid>
              <a:tr h="0">
                <a:tc>
                  <a:txBody>
                    <a:bodyPr/>
                    <a:lstStyle/>
                    <a:p>
                      <a:pPr marL="0" marR="0">
                        <a:lnSpc>
                          <a:spcPct val="107000"/>
                        </a:lnSpc>
                        <a:spcBef>
                          <a:spcPts val="0"/>
                        </a:spcBef>
                        <a:spcAft>
                          <a:spcPts val="0"/>
                        </a:spcAft>
                      </a:pPr>
                      <a:r>
                        <a:rPr lang="en-US" sz="1150">
                          <a:effectLst/>
                        </a:rPr>
                        <a:t>Regd_No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nSpc>
                          <a:spcPct val="107000"/>
                        </a:lnSpc>
                        <a:spcBef>
                          <a:spcPts val="0"/>
                        </a:spcBef>
                        <a:spcAft>
                          <a:spcPts val="0"/>
                        </a:spcAft>
                      </a:pPr>
                      <a:r>
                        <a:rPr lang="en-US" sz="1150">
                          <a:effectLst/>
                        </a:rPr>
                        <a:t>Name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nSpc>
                          <a:spcPct val="107000"/>
                        </a:lnSpc>
                        <a:spcBef>
                          <a:spcPts val="0"/>
                        </a:spcBef>
                        <a:spcAft>
                          <a:spcPts val="0"/>
                        </a:spcAft>
                      </a:pPr>
                      <a:r>
                        <a:rPr lang="en-US" sz="1150">
                          <a:effectLst/>
                        </a:rPr>
                        <a:t>Course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nSpc>
                          <a:spcPct val="107000"/>
                        </a:lnSpc>
                        <a:spcBef>
                          <a:spcPts val="0"/>
                        </a:spcBef>
                        <a:spcAft>
                          <a:spcPts val="0"/>
                        </a:spcAft>
                      </a:pPr>
                      <a:r>
                        <a:rPr lang="en-US" sz="1150">
                          <a:effectLst/>
                        </a:rPr>
                        <a:t>Address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nSpc>
                          <a:spcPct val="107000"/>
                        </a:lnSpc>
                        <a:spcBef>
                          <a:spcPts val="0"/>
                        </a:spcBef>
                        <a:spcAft>
                          <a:spcPts val="0"/>
                        </a:spcAft>
                      </a:pPr>
                      <a:r>
                        <a:rPr lang="en-US" sz="1150">
                          <a:effectLst/>
                        </a:rPr>
                        <a:t>Semester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nSpc>
                          <a:spcPct val="107000"/>
                        </a:lnSpc>
                        <a:spcBef>
                          <a:spcPts val="0"/>
                        </a:spcBef>
                        <a:spcAft>
                          <a:spcPts val="0"/>
                        </a:spcAft>
                      </a:pPr>
                      <a:r>
                        <a:rPr lang="en-US" sz="1150">
                          <a:effectLst/>
                        </a:rPr>
                        <a:t>Fees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marL="0" marR="0">
                        <a:lnSpc>
                          <a:spcPct val="107000"/>
                        </a:lnSpc>
                        <a:spcBef>
                          <a:spcPts val="0"/>
                        </a:spcBef>
                        <a:spcAft>
                          <a:spcPts val="0"/>
                        </a:spcAft>
                      </a:pPr>
                      <a:r>
                        <a:rPr lang="en-US" sz="1150" dirty="0">
                          <a:effectLst/>
                        </a:rPr>
                        <a:t>Marks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 xmlns:a16="http://schemas.microsoft.com/office/drawing/2014/main" val="3155694990"/>
                  </a:ext>
                </a:extLst>
              </a:tr>
            </a:tbl>
          </a:graphicData>
        </a:graphic>
      </p:graphicFrame>
    </p:spTree>
    <p:extLst>
      <p:ext uri="{BB962C8B-B14F-4D97-AF65-F5344CB8AC3E}">
        <p14:creationId xmlns:p14="http://schemas.microsoft.com/office/powerpoint/2010/main" val="10269833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82BE612-8389-DE1F-B261-3CC5680592FD}"/>
              </a:ext>
            </a:extLst>
          </p:cNvPr>
          <p:cNvSpPr>
            <a:spLocks noGrp="1"/>
          </p:cNvSpPr>
          <p:nvPr>
            <p:ph type="title"/>
          </p:nvPr>
        </p:nvSpPr>
        <p:spPr>
          <a:xfrm>
            <a:off x="256309" y="247072"/>
            <a:ext cx="10515600" cy="867930"/>
          </a:xfrm>
        </p:spPr>
        <p:txBody>
          <a:bodyPr>
            <a:normAutofit/>
          </a:bodyPr>
          <a:lstStyle/>
          <a:p>
            <a:r>
              <a:rPr lang="en-US" sz="4000" b="1" i="0" u="none" strike="noStrike" baseline="0" dirty="0">
                <a:latin typeface="+mn-lt"/>
              </a:rPr>
              <a:t>Distributed Data Storage</a:t>
            </a:r>
            <a:endParaRPr lang="en-US" sz="4000" dirty="0"/>
          </a:p>
        </p:txBody>
      </p:sp>
      <p:sp>
        <p:nvSpPr>
          <p:cNvPr id="3" name="Content Placeholder 2">
            <a:extLst>
              <a:ext uri="{FF2B5EF4-FFF2-40B4-BE49-F238E27FC236}">
                <a16:creationId xmlns="" xmlns:a16="http://schemas.microsoft.com/office/drawing/2014/main" id="{44A0CFF1-CD17-993A-68EC-320CBBFD6570}"/>
              </a:ext>
            </a:extLst>
          </p:cNvPr>
          <p:cNvSpPr>
            <a:spLocks noGrp="1"/>
          </p:cNvSpPr>
          <p:nvPr>
            <p:ph idx="1"/>
          </p:nvPr>
        </p:nvSpPr>
        <p:spPr>
          <a:xfrm>
            <a:off x="360218" y="1011382"/>
            <a:ext cx="11430000" cy="5749636"/>
          </a:xfrm>
        </p:spPr>
        <p:txBody>
          <a:bodyPr>
            <a:normAutofit/>
          </a:bodyPr>
          <a:lstStyle/>
          <a:p>
            <a:pPr marL="0" marR="0" algn="just">
              <a:lnSpc>
                <a:spcPct val="107000"/>
              </a:lnSpc>
              <a:spcBef>
                <a:spcPts val="0"/>
              </a:spcBef>
              <a:spcAft>
                <a:spcPts val="0"/>
              </a:spcAft>
            </a:pPr>
            <a:r>
              <a:rPr lang="en-US" b="1" dirty="0">
                <a:effectLst/>
                <a:ea typeface="Calibri" panose="020F0502020204030204" pitchFamily="34" charset="0"/>
                <a:cs typeface="Times New Roman" panose="02020603050405020304" pitchFamily="18" charset="0"/>
              </a:rPr>
              <a:t>Hybrid Fragmentation</a:t>
            </a:r>
          </a:p>
          <a:p>
            <a:pPr marL="0" marR="0" algn="just">
              <a:lnSpc>
                <a:spcPct val="107000"/>
              </a:lnSpc>
              <a:spcBef>
                <a:spcPts val="0"/>
              </a:spcBef>
              <a:spcAft>
                <a:spcPts val="0"/>
              </a:spcAft>
            </a:pPr>
            <a:r>
              <a:rPr lang="en-US" dirty="0">
                <a:effectLst/>
                <a:ea typeface="Calibri" panose="020F0502020204030204" pitchFamily="34" charset="0"/>
                <a:cs typeface="Times New Roman" panose="02020603050405020304" pitchFamily="18" charset="0"/>
              </a:rPr>
              <a:t>In hybrid fragmentation, a combination of horizontal and vertical fragmentation techniques are used. </a:t>
            </a:r>
          </a:p>
          <a:p>
            <a:pPr marL="0" marR="0" algn="just">
              <a:lnSpc>
                <a:spcPct val="107000"/>
              </a:lnSpc>
              <a:spcBef>
                <a:spcPts val="0"/>
              </a:spcBef>
              <a:spcAft>
                <a:spcPts val="0"/>
              </a:spcAft>
            </a:pPr>
            <a:r>
              <a:rPr lang="en-US" b="1" dirty="0">
                <a:effectLst/>
                <a:ea typeface="Calibri" panose="020F0502020204030204" pitchFamily="34" charset="0"/>
                <a:cs typeface="Times New Roman" panose="02020603050405020304" pitchFamily="18" charset="0"/>
              </a:rPr>
              <a:t>Hybrid fragmentation can be done in two alternative ways −</a:t>
            </a:r>
          </a:p>
          <a:p>
            <a:pPr marL="0" marR="0" algn="just">
              <a:lnSpc>
                <a:spcPct val="107000"/>
              </a:lnSpc>
              <a:spcBef>
                <a:spcPts val="0"/>
              </a:spcBef>
              <a:spcAft>
                <a:spcPts val="0"/>
              </a:spcAft>
            </a:pPr>
            <a:r>
              <a:rPr lang="en-US" dirty="0">
                <a:solidFill>
                  <a:srgbClr val="0000CC"/>
                </a:solidFill>
                <a:effectLst/>
                <a:ea typeface="Calibri" panose="020F0502020204030204" pitchFamily="34" charset="0"/>
                <a:cs typeface="Times New Roman" panose="02020603050405020304" pitchFamily="18" charset="0"/>
              </a:rPr>
              <a:t>At first, generate a set of horizontal fragments; then generate vertical fragments from one or more of the horizontal fragments.</a:t>
            </a:r>
          </a:p>
          <a:p>
            <a:pPr marL="0" marR="0" algn="just">
              <a:lnSpc>
                <a:spcPct val="107000"/>
              </a:lnSpc>
              <a:spcBef>
                <a:spcPts val="0"/>
              </a:spcBef>
              <a:spcAft>
                <a:spcPts val="0"/>
              </a:spcAft>
            </a:pPr>
            <a:r>
              <a:rPr lang="en-US" dirty="0">
                <a:solidFill>
                  <a:srgbClr val="C00000"/>
                </a:solidFill>
                <a:effectLst/>
                <a:ea typeface="Calibri" panose="020F0502020204030204" pitchFamily="34" charset="0"/>
                <a:cs typeface="Times New Roman" panose="02020603050405020304" pitchFamily="18" charset="0"/>
              </a:rPr>
              <a:t>At first, generate a set of vertical fragments; then generate horizontal fragments from one or more of the vertical fragments.</a:t>
            </a:r>
            <a:endParaRPr lang="en-US" dirty="0">
              <a:solidFill>
                <a:srgbClr val="C00000"/>
              </a:solidFill>
            </a:endParaRPr>
          </a:p>
        </p:txBody>
      </p:sp>
    </p:spTree>
    <p:extLst>
      <p:ext uri="{BB962C8B-B14F-4D97-AF65-F5344CB8AC3E}">
        <p14:creationId xmlns:p14="http://schemas.microsoft.com/office/powerpoint/2010/main" val="41122896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82BE612-8389-DE1F-B261-3CC5680592FD}"/>
              </a:ext>
            </a:extLst>
          </p:cNvPr>
          <p:cNvSpPr>
            <a:spLocks noGrp="1"/>
          </p:cNvSpPr>
          <p:nvPr>
            <p:ph type="title"/>
          </p:nvPr>
        </p:nvSpPr>
        <p:spPr>
          <a:xfrm>
            <a:off x="256309" y="247072"/>
            <a:ext cx="10515600" cy="867930"/>
          </a:xfrm>
        </p:spPr>
        <p:txBody>
          <a:bodyPr>
            <a:normAutofit/>
          </a:bodyPr>
          <a:lstStyle/>
          <a:p>
            <a:r>
              <a:rPr lang="en-US" sz="4000" b="1" i="0" u="none" strike="noStrike" baseline="0" dirty="0">
                <a:latin typeface="+mn-lt"/>
              </a:rPr>
              <a:t>Distributed Data Storage</a:t>
            </a:r>
            <a:endParaRPr lang="en-US" sz="4000" dirty="0"/>
          </a:p>
        </p:txBody>
      </p:sp>
      <p:sp>
        <p:nvSpPr>
          <p:cNvPr id="3" name="Content Placeholder 2">
            <a:extLst>
              <a:ext uri="{FF2B5EF4-FFF2-40B4-BE49-F238E27FC236}">
                <a16:creationId xmlns="" xmlns:a16="http://schemas.microsoft.com/office/drawing/2014/main" id="{44A0CFF1-CD17-993A-68EC-320CBBFD6570}"/>
              </a:ext>
            </a:extLst>
          </p:cNvPr>
          <p:cNvSpPr>
            <a:spLocks noGrp="1"/>
          </p:cNvSpPr>
          <p:nvPr>
            <p:ph idx="1"/>
          </p:nvPr>
        </p:nvSpPr>
        <p:spPr>
          <a:xfrm>
            <a:off x="360218" y="1011382"/>
            <a:ext cx="11430000" cy="5749636"/>
          </a:xfrm>
        </p:spPr>
        <p:txBody>
          <a:bodyPr>
            <a:normAutofit/>
          </a:bodyPr>
          <a:lstStyle/>
          <a:p>
            <a:pPr marL="0" marR="0" algn="just">
              <a:lnSpc>
                <a:spcPct val="107000"/>
              </a:lnSpc>
              <a:spcBef>
                <a:spcPts val="0"/>
              </a:spcBef>
              <a:spcAft>
                <a:spcPts val="0"/>
              </a:spcAft>
            </a:pPr>
            <a:r>
              <a:rPr lang="en-US" b="1" dirty="0">
                <a:effectLst/>
                <a:ea typeface="Calibri" panose="020F0502020204030204" pitchFamily="34" charset="0"/>
                <a:cs typeface="Times New Roman" panose="02020603050405020304" pitchFamily="18" charset="0"/>
              </a:rPr>
              <a:t>Fragmentation Example</a:t>
            </a:r>
          </a:p>
        </p:txBody>
      </p:sp>
      <p:pic>
        <p:nvPicPr>
          <p:cNvPr id="3074" name="Picture 2">
            <a:extLst>
              <a:ext uri="{FF2B5EF4-FFF2-40B4-BE49-F238E27FC236}">
                <a16:creationId xmlns="" xmlns:a16="http://schemas.microsoft.com/office/drawing/2014/main" id="{E792B3B9-27E2-959C-6D84-53A8C5E4CA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582" y="1654175"/>
            <a:ext cx="4398818" cy="345815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 xmlns:a16="http://schemas.microsoft.com/office/drawing/2014/main" id="{B9BBC32A-B20F-146C-7CEC-B7AD9FAF5CE1}"/>
              </a:ext>
            </a:extLst>
          </p:cNvPr>
          <p:cNvPicPr>
            <a:picLocks noChangeAspect="1"/>
          </p:cNvPicPr>
          <p:nvPr/>
        </p:nvPicPr>
        <p:blipFill>
          <a:blip r:embed="rId3"/>
          <a:stretch>
            <a:fillRect/>
          </a:stretch>
        </p:blipFill>
        <p:spPr>
          <a:xfrm>
            <a:off x="5446568" y="3980278"/>
            <a:ext cx="6286500" cy="2552700"/>
          </a:xfrm>
          <a:prstGeom prst="rect">
            <a:avLst/>
          </a:prstGeom>
        </p:spPr>
      </p:pic>
      <p:pic>
        <p:nvPicPr>
          <p:cNvPr id="7" name="Picture 6">
            <a:extLst>
              <a:ext uri="{FF2B5EF4-FFF2-40B4-BE49-F238E27FC236}">
                <a16:creationId xmlns="" xmlns:a16="http://schemas.microsoft.com/office/drawing/2014/main" id="{4B76EFCC-0AA1-4B0D-F091-BD11B4E2B8A3}"/>
              </a:ext>
            </a:extLst>
          </p:cNvPr>
          <p:cNvPicPr>
            <a:picLocks noChangeAspect="1"/>
          </p:cNvPicPr>
          <p:nvPr/>
        </p:nvPicPr>
        <p:blipFill>
          <a:blip r:embed="rId4"/>
          <a:stretch>
            <a:fillRect/>
          </a:stretch>
        </p:blipFill>
        <p:spPr>
          <a:xfrm>
            <a:off x="5313218" y="1115003"/>
            <a:ext cx="6553200" cy="2516656"/>
          </a:xfrm>
          <a:prstGeom prst="rect">
            <a:avLst/>
          </a:prstGeom>
        </p:spPr>
      </p:pic>
    </p:spTree>
    <p:extLst>
      <p:ext uri="{BB962C8B-B14F-4D97-AF65-F5344CB8AC3E}">
        <p14:creationId xmlns:p14="http://schemas.microsoft.com/office/powerpoint/2010/main" val="2427060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6294587-14F6-C4A9-4616-DEEF2A7C8CD2}"/>
              </a:ext>
            </a:extLst>
          </p:cNvPr>
          <p:cNvSpPr>
            <a:spLocks noGrp="1"/>
          </p:cNvSpPr>
          <p:nvPr>
            <p:ph type="title"/>
          </p:nvPr>
        </p:nvSpPr>
        <p:spPr>
          <a:xfrm>
            <a:off x="450273" y="205508"/>
            <a:ext cx="10515600" cy="951057"/>
          </a:xfrm>
        </p:spPr>
        <p:txBody>
          <a:bodyPr>
            <a:normAutofit/>
          </a:bodyPr>
          <a:lstStyle/>
          <a:p>
            <a:r>
              <a:rPr lang="en-US" sz="4000" b="1" i="0" u="none" strike="noStrike" baseline="0" dirty="0">
                <a:latin typeface="+mn-lt"/>
              </a:rPr>
              <a:t>Distributed Data Storage</a:t>
            </a:r>
            <a:endParaRPr lang="en-US" sz="4000" b="1" dirty="0">
              <a:latin typeface="+mn-lt"/>
            </a:endParaRPr>
          </a:p>
        </p:txBody>
      </p:sp>
      <p:sp>
        <p:nvSpPr>
          <p:cNvPr id="3" name="Content Placeholder 2">
            <a:extLst>
              <a:ext uri="{FF2B5EF4-FFF2-40B4-BE49-F238E27FC236}">
                <a16:creationId xmlns="" xmlns:a16="http://schemas.microsoft.com/office/drawing/2014/main" id="{5F94BEA2-9801-E460-C209-706F64BD8FE8}"/>
              </a:ext>
            </a:extLst>
          </p:cNvPr>
          <p:cNvSpPr>
            <a:spLocks noGrp="1"/>
          </p:cNvSpPr>
          <p:nvPr>
            <p:ph idx="1"/>
          </p:nvPr>
        </p:nvSpPr>
        <p:spPr>
          <a:xfrm>
            <a:off x="235527" y="1052945"/>
            <a:ext cx="11720945" cy="5599548"/>
          </a:xfrm>
        </p:spPr>
        <p:txBody>
          <a:bodyPr>
            <a:normAutofit fontScale="77500" lnSpcReduction="20000"/>
          </a:bodyPr>
          <a:lstStyle/>
          <a:p>
            <a:pPr marL="342900" marR="0" lvl="0" indent="-342900" algn="just">
              <a:lnSpc>
                <a:spcPct val="107000"/>
              </a:lnSpc>
              <a:spcBef>
                <a:spcPts val="0"/>
              </a:spcBef>
              <a:spcAft>
                <a:spcPts val="800"/>
              </a:spcAft>
              <a:buFont typeface="Arial" panose="020B0604020202020204" pitchFamily="34" charset="0"/>
              <a:buChar char="•"/>
              <a:tabLst>
                <a:tab pos="457200" algn="l"/>
              </a:tabLst>
            </a:pPr>
            <a:r>
              <a:rPr lang="en-US" sz="2600" b="1" dirty="0">
                <a:effectLst/>
                <a:ea typeface="Calibri" panose="020F0502020204030204" pitchFamily="34" charset="0"/>
                <a:cs typeface="Times New Roman" panose="02020603050405020304" pitchFamily="18" charset="0"/>
              </a:rPr>
              <a:t>Replication –</a:t>
            </a:r>
            <a:r>
              <a:rPr lang="en-US" sz="2600" dirty="0">
                <a:effectLst/>
                <a:ea typeface="Calibri" panose="020F0502020204030204" pitchFamily="34" charset="0"/>
                <a:cs typeface="Times New Roman" panose="02020603050405020304" pitchFamily="18" charset="0"/>
              </a:rPr>
              <a:t/>
            </a:r>
            <a:br>
              <a:rPr lang="en-US" sz="2600" dirty="0">
                <a:effectLst/>
                <a:ea typeface="Calibri" panose="020F0502020204030204" pitchFamily="34" charset="0"/>
                <a:cs typeface="Times New Roman" panose="02020603050405020304" pitchFamily="18" charset="0"/>
              </a:rPr>
            </a:br>
            <a:r>
              <a:rPr lang="en-US" sz="2600" dirty="0">
                <a:effectLst/>
                <a:ea typeface="Calibri" panose="020F0502020204030204" pitchFamily="34" charset="0"/>
                <a:cs typeface="Times New Roman" panose="02020603050405020304" pitchFamily="18" charset="0"/>
              </a:rPr>
              <a:t>In this approach, </a:t>
            </a:r>
            <a:r>
              <a:rPr lang="en-US" sz="2600" b="1" dirty="0">
                <a:solidFill>
                  <a:srgbClr val="0000CC"/>
                </a:solidFill>
                <a:effectLst/>
                <a:ea typeface="Calibri" panose="020F0502020204030204" pitchFamily="34" charset="0"/>
                <a:cs typeface="Times New Roman" panose="02020603050405020304" pitchFamily="18" charset="0"/>
              </a:rPr>
              <a:t>the entire relationship is stored redundantly at 2 or more sites. </a:t>
            </a:r>
            <a:r>
              <a:rPr lang="en-US" sz="2600" dirty="0">
                <a:effectLst/>
                <a:ea typeface="Calibri" panose="020F0502020204030204" pitchFamily="34" charset="0"/>
                <a:cs typeface="Times New Roman" panose="02020603050405020304" pitchFamily="18" charset="0"/>
              </a:rPr>
              <a:t>If the entire database is available at all sites, it is a fully redundant database. </a:t>
            </a:r>
            <a:r>
              <a:rPr lang="en-US" sz="2600" b="1" dirty="0">
                <a:solidFill>
                  <a:srgbClr val="0000CC"/>
                </a:solidFill>
                <a:effectLst/>
                <a:ea typeface="Calibri" panose="020F0502020204030204" pitchFamily="34" charset="0"/>
                <a:cs typeface="Times New Roman" panose="02020603050405020304" pitchFamily="18" charset="0"/>
              </a:rPr>
              <a:t>Hence, in replication, systems maintain copies of data. </a:t>
            </a:r>
          </a:p>
          <a:p>
            <a:pPr marL="342900" marR="0" lvl="0" indent="-342900" algn="just">
              <a:lnSpc>
                <a:spcPct val="107000"/>
              </a:lnSpc>
              <a:spcBef>
                <a:spcPts val="0"/>
              </a:spcBef>
              <a:spcAft>
                <a:spcPts val="800"/>
              </a:spcAft>
              <a:buFont typeface="Arial" panose="020B0604020202020204" pitchFamily="34" charset="0"/>
              <a:buChar char="•"/>
              <a:tabLst>
                <a:tab pos="457200" algn="l"/>
              </a:tabLst>
            </a:pPr>
            <a:r>
              <a:rPr lang="en-US" sz="2600" dirty="0">
                <a:effectLst/>
                <a:ea typeface="Calibri" panose="020F0502020204030204" pitchFamily="34" charset="0"/>
                <a:cs typeface="Times New Roman" panose="02020603050405020304" pitchFamily="18" charset="0"/>
              </a:rPr>
              <a:t>This is advantageous as it increases the availability of data at different sites. </a:t>
            </a:r>
          </a:p>
          <a:p>
            <a:pPr marL="342900" marR="0" lvl="0" indent="-342900" algn="just">
              <a:lnSpc>
                <a:spcPct val="107000"/>
              </a:lnSpc>
              <a:spcBef>
                <a:spcPts val="0"/>
              </a:spcBef>
              <a:spcAft>
                <a:spcPts val="800"/>
              </a:spcAft>
              <a:buFont typeface="Arial" panose="020B0604020202020204" pitchFamily="34" charset="0"/>
              <a:buChar char="•"/>
              <a:tabLst>
                <a:tab pos="457200" algn="l"/>
              </a:tabLst>
            </a:pPr>
            <a:r>
              <a:rPr lang="en-US" sz="2600" dirty="0">
                <a:effectLst/>
                <a:ea typeface="Calibri" panose="020F0502020204030204" pitchFamily="34" charset="0"/>
                <a:cs typeface="Times New Roman" panose="02020603050405020304" pitchFamily="18" charset="0"/>
              </a:rPr>
              <a:t>However, it has certain </a:t>
            </a:r>
            <a:r>
              <a:rPr lang="en-US" sz="2600" b="1" dirty="0">
                <a:solidFill>
                  <a:srgbClr val="FF0000"/>
                </a:solidFill>
                <a:effectLst/>
                <a:ea typeface="Calibri" panose="020F0502020204030204" pitchFamily="34" charset="0"/>
                <a:cs typeface="Times New Roman" panose="02020603050405020304" pitchFamily="18" charset="0"/>
              </a:rPr>
              <a:t>disadvantages</a:t>
            </a:r>
            <a:r>
              <a:rPr lang="en-US" sz="2600" dirty="0">
                <a:effectLst/>
                <a:ea typeface="Calibri" panose="020F0502020204030204" pitchFamily="34" charset="0"/>
                <a:cs typeface="Times New Roman" panose="02020603050405020304" pitchFamily="18" charset="0"/>
              </a:rPr>
              <a:t> as well. </a:t>
            </a:r>
            <a:r>
              <a:rPr lang="en-US" sz="2600" b="1" dirty="0">
                <a:solidFill>
                  <a:srgbClr val="FF0000"/>
                </a:solidFill>
                <a:effectLst/>
                <a:ea typeface="Calibri" panose="020F0502020204030204" pitchFamily="34" charset="0"/>
                <a:cs typeface="Times New Roman" panose="02020603050405020304" pitchFamily="18" charset="0"/>
              </a:rPr>
              <a:t>Data needs to be constantly updated. </a:t>
            </a:r>
            <a:r>
              <a:rPr lang="en-US" sz="2600" dirty="0">
                <a:solidFill>
                  <a:srgbClr val="FF0000"/>
                </a:solidFill>
                <a:effectLst/>
                <a:ea typeface="Calibri" panose="020F0502020204030204" pitchFamily="34" charset="0"/>
                <a:cs typeface="Times New Roman" panose="02020603050405020304" pitchFamily="18" charset="0"/>
              </a:rPr>
              <a:t>Any change made at one site needs to be recorded at every site that relation is stored or else it may lead to inconsistency. This is a lot of overhead. Also, </a:t>
            </a:r>
            <a:r>
              <a:rPr lang="en-US" sz="2600" b="1" dirty="0">
                <a:solidFill>
                  <a:srgbClr val="FF0000"/>
                </a:solidFill>
                <a:effectLst/>
                <a:ea typeface="Calibri" panose="020F0502020204030204" pitchFamily="34" charset="0"/>
                <a:cs typeface="Times New Roman" panose="02020603050405020304" pitchFamily="18" charset="0"/>
              </a:rPr>
              <a:t>concurrency control becomes way more complex </a:t>
            </a:r>
            <a:r>
              <a:rPr lang="en-US" sz="2600" dirty="0">
                <a:solidFill>
                  <a:srgbClr val="FF0000"/>
                </a:solidFill>
                <a:effectLst/>
                <a:ea typeface="Calibri" panose="020F0502020204030204" pitchFamily="34" charset="0"/>
                <a:cs typeface="Times New Roman" panose="02020603050405020304" pitchFamily="18" charset="0"/>
              </a:rPr>
              <a:t>as concurrent access now needs to be checked over a number of sites. </a:t>
            </a:r>
          </a:p>
          <a:p>
            <a:pPr algn="l"/>
            <a:r>
              <a:rPr lang="en-US" sz="2600" b="1" i="0" dirty="0">
                <a:effectLst/>
                <a:cs typeface="Heebo" pitchFamily="2" charset="-79"/>
              </a:rPr>
              <a:t>Advantages of Data Replication</a:t>
            </a:r>
          </a:p>
          <a:p>
            <a:pPr algn="just">
              <a:buFont typeface="Arial" panose="020B0604020202020204" pitchFamily="34" charset="0"/>
              <a:buChar char="•"/>
            </a:pPr>
            <a:r>
              <a:rPr lang="en-US" sz="2600" b="1" i="0" dirty="0">
                <a:solidFill>
                  <a:srgbClr val="000000"/>
                </a:solidFill>
                <a:effectLst/>
              </a:rPr>
              <a:t>Reliability</a:t>
            </a:r>
            <a:r>
              <a:rPr lang="en-US" sz="2600" b="0" i="0" dirty="0">
                <a:solidFill>
                  <a:srgbClr val="000000"/>
                </a:solidFill>
                <a:effectLst/>
              </a:rPr>
              <a:t> − In case of failure of any site, the database system continues to work since a copy is available at another site(s).</a:t>
            </a:r>
          </a:p>
          <a:p>
            <a:pPr algn="just">
              <a:buFont typeface="Arial" panose="020B0604020202020204" pitchFamily="34" charset="0"/>
              <a:buChar char="•"/>
            </a:pPr>
            <a:r>
              <a:rPr lang="en-US" sz="2600" b="1" i="0" dirty="0">
                <a:solidFill>
                  <a:srgbClr val="000000"/>
                </a:solidFill>
                <a:effectLst/>
              </a:rPr>
              <a:t>Reduction in Network Load</a:t>
            </a:r>
            <a:r>
              <a:rPr lang="en-US" sz="2600" b="0" i="0" dirty="0">
                <a:solidFill>
                  <a:srgbClr val="000000"/>
                </a:solidFill>
                <a:effectLst/>
              </a:rPr>
              <a:t> − Since local copies of data are available, query processing can be done with reduced network usage, particularly during prime hours. Data updating can be done at non-prime hours.</a:t>
            </a:r>
          </a:p>
          <a:p>
            <a:pPr algn="just">
              <a:buFont typeface="Arial" panose="020B0604020202020204" pitchFamily="34" charset="0"/>
              <a:buChar char="•"/>
            </a:pPr>
            <a:r>
              <a:rPr lang="en-US" sz="2600" b="1" i="0" dirty="0">
                <a:solidFill>
                  <a:srgbClr val="000000"/>
                </a:solidFill>
                <a:effectLst/>
              </a:rPr>
              <a:t>Quicker Response</a:t>
            </a:r>
            <a:r>
              <a:rPr lang="en-US" sz="2600" b="0" i="0" dirty="0">
                <a:solidFill>
                  <a:srgbClr val="000000"/>
                </a:solidFill>
                <a:effectLst/>
              </a:rPr>
              <a:t> − Availability of local copies of data ensures quick query processing and consequently quick response time.</a:t>
            </a:r>
          </a:p>
          <a:p>
            <a:pPr algn="just">
              <a:buFont typeface="Arial" panose="020B0604020202020204" pitchFamily="34" charset="0"/>
              <a:buChar char="•"/>
            </a:pPr>
            <a:r>
              <a:rPr lang="en-US" sz="2600" b="1" i="0" dirty="0">
                <a:solidFill>
                  <a:srgbClr val="000000"/>
                </a:solidFill>
                <a:effectLst/>
              </a:rPr>
              <a:t>Simpler Transactions</a:t>
            </a:r>
            <a:r>
              <a:rPr lang="en-US" sz="2600" b="0" i="0" dirty="0">
                <a:solidFill>
                  <a:srgbClr val="000000"/>
                </a:solidFill>
                <a:effectLst/>
              </a:rPr>
              <a:t> − Transactions require less number of joins of tables located at different sites and minimal coordination across the network. Thus, they become simpler in nature.</a:t>
            </a:r>
          </a:p>
          <a:p>
            <a:endParaRPr lang="en-US" dirty="0"/>
          </a:p>
        </p:txBody>
      </p:sp>
    </p:spTree>
    <p:extLst>
      <p:ext uri="{BB962C8B-B14F-4D97-AF65-F5344CB8AC3E}">
        <p14:creationId xmlns:p14="http://schemas.microsoft.com/office/powerpoint/2010/main" val="6230879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6294587-14F6-C4A9-4616-DEEF2A7C8CD2}"/>
              </a:ext>
            </a:extLst>
          </p:cNvPr>
          <p:cNvSpPr>
            <a:spLocks noGrp="1"/>
          </p:cNvSpPr>
          <p:nvPr>
            <p:ph type="title"/>
          </p:nvPr>
        </p:nvSpPr>
        <p:spPr>
          <a:xfrm>
            <a:off x="450273" y="205508"/>
            <a:ext cx="10515600" cy="951057"/>
          </a:xfrm>
        </p:spPr>
        <p:txBody>
          <a:bodyPr>
            <a:normAutofit/>
          </a:bodyPr>
          <a:lstStyle/>
          <a:p>
            <a:r>
              <a:rPr lang="en-US" sz="4000" b="1" i="0" u="none" strike="noStrike" baseline="0" dirty="0">
                <a:latin typeface="+mn-lt"/>
              </a:rPr>
              <a:t>Distributed Data Storage</a:t>
            </a:r>
            <a:endParaRPr lang="en-US" sz="4000" b="1" dirty="0">
              <a:latin typeface="+mn-lt"/>
            </a:endParaRPr>
          </a:p>
        </p:txBody>
      </p:sp>
      <p:sp>
        <p:nvSpPr>
          <p:cNvPr id="3" name="Content Placeholder 2">
            <a:extLst>
              <a:ext uri="{FF2B5EF4-FFF2-40B4-BE49-F238E27FC236}">
                <a16:creationId xmlns="" xmlns:a16="http://schemas.microsoft.com/office/drawing/2014/main" id="{5F94BEA2-9801-E460-C209-706F64BD8FE8}"/>
              </a:ext>
            </a:extLst>
          </p:cNvPr>
          <p:cNvSpPr>
            <a:spLocks noGrp="1"/>
          </p:cNvSpPr>
          <p:nvPr>
            <p:ph idx="1"/>
          </p:nvPr>
        </p:nvSpPr>
        <p:spPr>
          <a:xfrm>
            <a:off x="235527" y="1052945"/>
            <a:ext cx="11720945" cy="5599548"/>
          </a:xfrm>
        </p:spPr>
        <p:txBody>
          <a:bodyPr>
            <a:normAutofit/>
          </a:bodyPr>
          <a:lstStyle/>
          <a:p>
            <a:pPr marL="0" marR="0" algn="just">
              <a:lnSpc>
                <a:spcPct val="107000"/>
              </a:lnSpc>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Types of Data Replication In DBMS</a:t>
            </a:r>
          </a:p>
          <a:p>
            <a:pPr marL="0" marR="0" algn="just">
              <a:lnSpc>
                <a:spcPct val="107000"/>
              </a:lnSpc>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Transactional Replication</a:t>
            </a:r>
          </a:p>
          <a:p>
            <a:pPr marL="0" marR="0" algn="just">
              <a:lnSpc>
                <a:spcPct val="107000"/>
              </a:lnSpc>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Snapshot Replication</a:t>
            </a:r>
          </a:p>
          <a:p>
            <a:pPr marL="0" marR="0" algn="just">
              <a:lnSpc>
                <a:spcPct val="107000"/>
              </a:lnSpc>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Merge Replication</a:t>
            </a:r>
          </a:p>
          <a:p>
            <a:pPr marL="0" marR="0" algn="just">
              <a:lnSpc>
                <a:spcPct val="107000"/>
              </a:lnSpc>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Transactional Replication</a:t>
            </a:r>
          </a:p>
          <a:p>
            <a:pPr marL="0" marR="0" algn="just">
              <a:lnSpc>
                <a:spcPct val="107000"/>
              </a:lnSpc>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Transactional Replication makes a complete copy of your database, as well as copies of new data changes. In this type of Data Replication, </a:t>
            </a:r>
            <a:r>
              <a:rPr lang="en-US" sz="1800" b="1" dirty="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changes to your database are synced in real-time and in the same order as they occur. </a:t>
            </a:r>
            <a:r>
              <a:rPr lang="en-US" sz="1800" dirty="0">
                <a:effectLst/>
                <a:latin typeface="Calibri" panose="020F0502020204030204" pitchFamily="34" charset="0"/>
                <a:ea typeface="Calibri" panose="020F0502020204030204" pitchFamily="34" charset="0"/>
                <a:cs typeface="Times New Roman" panose="02020603050405020304" pitchFamily="18" charset="0"/>
              </a:rPr>
              <a:t>This guarantees transactional consistency. </a:t>
            </a:r>
          </a:p>
          <a:p>
            <a:pPr marL="0" marR="0" algn="just">
              <a:lnSpc>
                <a:spcPct val="107000"/>
              </a:lnSpc>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Snapshot Replication</a:t>
            </a:r>
          </a:p>
          <a:p>
            <a:pPr marL="0" marR="0" algn="just">
              <a:lnSpc>
                <a:spcPct val="107000"/>
              </a:lnSpc>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Snapshot Replication is perhaps the simplest type of Data Replication that copies “snapshots” of your database. </a:t>
            </a:r>
            <a:r>
              <a:rPr lang="en-US" sz="1800" b="1" dirty="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It replicates the current state of your database as is, at a specific point in time, without including any changes/updates to your data. </a:t>
            </a:r>
            <a:r>
              <a:rPr lang="en-US" sz="1800" dirty="0">
                <a:effectLst/>
                <a:latin typeface="Calibri" panose="020F0502020204030204" pitchFamily="34" charset="0"/>
                <a:ea typeface="Calibri" panose="020F0502020204030204" pitchFamily="34" charset="0"/>
                <a:cs typeface="Times New Roman" panose="02020603050405020304" pitchFamily="18" charset="0"/>
              </a:rPr>
              <a:t>This kind of replication is helpful when changes made to your databases are infrequent. </a:t>
            </a:r>
          </a:p>
          <a:p>
            <a:pPr marL="0" marR="0" algn="just">
              <a:lnSpc>
                <a:spcPct val="107000"/>
              </a:lnSpc>
              <a:spcBef>
                <a:spcPts val="0"/>
              </a:spcBef>
              <a:spcAft>
                <a:spcPts val="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Merge Replication</a:t>
            </a:r>
          </a:p>
          <a:p>
            <a:pPr marL="0" marR="0" algn="just">
              <a:lnSpc>
                <a:spcPct val="107000"/>
              </a:lnSpc>
              <a:spcBef>
                <a:spcPts val="0"/>
              </a:spcBef>
              <a:spcAft>
                <a:spcPts val="0"/>
              </a:spcAft>
            </a:pPr>
            <a:r>
              <a:rPr lang="en-US" sz="1800" b="1" dirty="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Merge Replication combines data from several databases into a single database. </a:t>
            </a:r>
            <a:r>
              <a:rPr lang="en-US" sz="1800" dirty="0">
                <a:effectLst/>
                <a:latin typeface="Calibri" panose="020F0502020204030204" pitchFamily="34" charset="0"/>
                <a:ea typeface="Calibri" panose="020F0502020204030204" pitchFamily="34" charset="0"/>
                <a:cs typeface="Times New Roman" panose="02020603050405020304" pitchFamily="18" charset="0"/>
              </a:rPr>
              <a:t>This type of Data Replication tracks subsequent data changes and schema modifications made at publishers and subscribers and synchronizes the same to your database using merge agents. A great advantage of using Merge Replication is that it allows publishers and subscribers to independently modify the database.</a:t>
            </a:r>
          </a:p>
          <a:p>
            <a:endParaRPr lang="en-US" dirty="0"/>
          </a:p>
        </p:txBody>
      </p:sp>
    </p:spTree>
    <p:extLst>
      <p:ext uri="{BB962C8B-B14F-4D97-AF65-F5344CB8AC3E}">
        <p14:creationId xmlns:p14="http://schemas.microsoft.com/office/powerpoint/2010/main" val="39592588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6700"/>
          </a:xfrm>
        </p:spPr>
        <p:txBody>
          <a:bodyPr>
            <a:normAutofit fontScale="90000"/>
          </a:bodyPr>
          <a:lstStyle/>
          <a:p>
            <a:r>
              <a:rPr lang="en-US" b="1" dirty="0"/>
              <a:t>Query Processing in Distributed DBMS</a:t>
            </a:r>
            <a:br>
              <a:rPr lang="en-US" b="1" dirty="0"/>
            </a:br>
            <a:endParaRPr lang="en-US" dirty="0"/>
          </a:p>
        </p:txBody>
      </p:sp>
      <p:sp>
        <p:nvSpPr>
          <p:cNvPr id="3" name="Content Placeholder 2"/>
          <p:cNvSpPr>
            <a:spLocks noGrp="1"/>
          </p:cNvSpPr>
          <p:nvPr>
            <p:ph idx="1"/>
          </p:nvPr>
        </p:nvSpPr>
        <p:spPr>
          <a:xfrm>
            <a:off x="838200" y="965915"/>
            <a:ext cx="10515600" cy="5211048"/>
          </a:xfrm>
        </p:spPr>
        <p:txBody>
          <a:bodyPr/>
          <a:lstStyle/>
          <a:p>
            <a:r>
              <a:rPr lang="en-US" dirty="0"/>
              <a:t>Query processing in a distributed database management system </a:t>
            </a:r>
            <a:r>
              <a:rPr lang="en-US" dirty="0">
                <a:solidFill>
                  <a:srgbClr val="FF0000"/>
                </a:solidFill>
              </a:rPr>
              <a:t>requires the transmission of data between the computers </a:t>
            </a:r>
            <a:r>
              <a:rPr lang="en-US" dirty="0"/>
              <a:t>in a network</a:t>
            </a:r>
            <a:r>
              <a:rPr lang="en-US" dirty="0" smtClean="0"/>
              <a:t>.</a:t>
            </a:r>
          </a:p>
          <a:p>
            <a:r>
              <a:rPr lang="en-US" dirty="0">
                <a:solidFill>
                  <a:srgbClr val="FF0000"/>
                </a:solidFill>
              </a:rPr>
              <a:t>Query processing in DBMS </a:t>
            </a:r>
            <a:r>
              <a:rPr lang="en-US" dirty="0"/>
              <a:t>is </a:t>
            </a:r>
            <a:r>
              <a:rPr lang="en-US" dirty="0">
                <a:solidFill>
                  <a:srgbClr val="FF0000"/>
                </a:solidFill>
              </a:rPr>
              <a:t>different</a:t>
            </a:r>
            <a:r>
              <a:rPr lang="en-US" dirty="0"/>
              <a:t> from query processing in </a:t>
            </a:r>
            <a:r>
              <a:rPr lang="en-US" dirty="0">
                <a:solidFill>
                  <a:srgbClr val="FF0000"/>
                </a:solidFill>
              </a:rPr>
              <a:t>centralized DBMS </a:t>
            </a:r>
            <a:r>
              <a:rPr lang="en-US" dirty="0"/>
              <a:t>due to the </a:t>
            </a:r>
            <a:r>
              <a:rPr lang="en-US" dirty="0">
                <a:solidFill>
                  <a:srgbClr val="FF0000"/>
                </a:solidFill>
              </a:rPr>
              <a:t>communication cost of data transfer </a:t>
            </a:r>
            <a:r>
              <a:rPr lang="en-US" dirty="0"/>
              <a:t>over the network</a:t>
            </a:r>
            <a:r>
              <a:rPr lang="en-US" dirty="0" smtClean="0"/>
              <a:t>.</a:t>
            </a:r>
          </a:p>
          <a:p>
            <a:r>
              <a:rPr lang="en-US" dirty="0"/>
              <a:t>The transmission cost is low when sites are connected through high-speed Networks and is quite significant in other networks. </a:t>
            </a:r>
          </a:p>
        </p:txBody>
      </p:sp>
    </p:spTree>
    <p:extLst>
      <p:ext uri="{BB962C8B-B14F-4D97-AF65-F5344CB8AC3E}">
        <p14:creationId xmlns:p14="http://schemas.microsoft.com/office/powerpoint/2010/main" val="38461138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0318" y="241524"/>
            <a:ext cx="11461124" cy="5631242"/>
          </a:xfrm>
        </p:spPr>
        <p:txBody>
          <a:bodyPr>
            <a:normAutofit lnSpcReduction="10000"/>
          </a:bodyPr>
          <a:lstStyle/>
          <a:p>
            <a:r>
              <a:rPr lang="en-US" b="1" dirty="0"/>
              <a:t>1. Costs (Transfer of data) of Distributed Query processing </a:t>
            </a:r>
            <a:r>
              <a:rPr lang="en-US" b="1" dirty="0" smtClean="0"/>
              <a:t>:</a:t>
            </a:r>
          </a:p>
          <a:p>
            <a:pPr fontAlgn="base"/>
            <a:r>
              <a:rPr lang="en-US" dirty="0"/>
              <a:t>In Distributed Query processing, the data transfer cost of distributed query processing means the cost of transferring intermediate files to other sites for processing and therefore the cost of transferring the ultimate result files to the location where that result’s required. </a:t>
            </a:r>
            <a:endParaRPr lang="en-US" dirty="0" smtClean="0"/>
          </a:p>
          <a:p>
            <a:pPr fontAlgn="base"/>
            <a:r>
              <a:rPr lang="en-US" dirty="0" smtClean="0"/>
              <a:t>Let’s </a:t>
            </a:r>
            <a:r>
              <a:rPr lang="en-US" dirty="0"/>
              <a:t>say that a user sends a query to site S1, which requires data from its own and also from another site S2. Now, there are three strategies to process this query which are given below:</a:t>
            </a:r>
          </a:p>
          <a:p>
            <a:pPr fontAlgn="base"/>
            <a:r>
              <a:rPr lang="en-US" dirty="0"/>
              <a:t>We can transfer the data from S2 to S1 and then process the query</a:t>
            </a:r>
          </a:p>
          <a:p>
            <a:pPr fontAlgn="base"/>
            <a:r>
              <a:rPr lang="en-US" dirty="0"/>
              <a:t>We can transfer the data from S1 to S2 and then process the query</a:t>
            </a:r>
          </a:p>
          <a:p>
            <a:pPr fontAlgn="base"/>
            <a:r>
              <a:rPr lang="en-US" dirty="0"/>
              <a:t>We can transfer the data from S1 and S2 to S3 and then process the query. So the choice depends on various factors like, the size of relations and the results, the communication cost between different sites, and at which the site result will be utilized.</a:t>
            </a:r>
          </a:p>
          <a:p>
            <a:endParaRPr lang="en-US" dirty="0"/>
          </a:p>
        </p:txBody>
      </p:sp>
    </p:spTree>
    <p:extLst>
      <p:ext uri="{BB962C8B-B14F-4D97-AF65-F5344CB8AC3E}">
        <p14:creationId xmlns:p14="http://schemas.microsoft.com/office/powerpoint/2010/main" val="13576655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6366"/>
            <a:ext cx="10515600" cy="5790597"/>
          </a:xfrm>
        </p:spPr>
        <p:txBody>
          <a:bodyPr/>
          <a:lstStyle/>
          <a:p>
            <a:pPr fontAlgn="base"/>
            <a:r>
              <a:rPr lang="en-US" dirty="0"/>
              <a:t>Commonly, the data transfer cost is calculated in terms of the size of the messages. By using the below formula, we can calculate the data transfer cost:</a:t>
            </a:r>
          </a:p>
          <a:p>
            <a:pPr fontAlgn="base"/>
            <a:r>
              <a:rPr lang="en-US" b="1" dirty="0"/>
              <a:t>Data transfer cost = C * </a:t>
            </a:r>
            <a:r>
              <a:rPr lang="en-US" b="1" dirty="0" smtClean="0"/>
              <a:t>Size </a:t>
            </a:r>
            <a:r>
              <a:rPr lang="en-US" sz="2400" dirty="0"/>
              <a:t>Where C refers to the cost per byte of data transferring and Size is the no. of bytes transmitted.</a:t>
            </a:r>
            <a:endParaRPr lang="en-US" sz="2400" b="1" dirty="0" smtClean="0"/>
          </a:p>
          <a:p>
            <a:pPr fontAlgn="base"/>
            <a:endParaRPr lang="en-US" b="1" dirty="0"/>
          </a:p>
          <a:p>
            <a:pPr fontAlgn="base"/>
            <a:r>
              <a:rPr lang="en-US" b="1" dirty="0"/>
              <a:t>2. Using Semi join in Distributed Query processing :</a:t>
            </a:r>
            <a:endParaRPr lang="en-US" dirty="0"/>
          </a:p>
          <a:p>
            <a:pPr fontAlgn="base"/>
            <a:r>
              <a:rPr lang="en-US" dirty="0"/>
              <a:t>The semi-join operation is used in distributed query processing to reduce the number of tuples in a table before transmitting it to another site. This reduction in the number of tuples reduces the number and the total size of the transmission ultimately reducing the total cost of data transfer.</a:t>
            </a:r>
          </a:p>
          <a:p>
            <a:pPr fontAlgn="base"/>
            <a:endParaRPr lang="en-US" dirty="0"/>
          </a:p>
          <a:p>
            <a:endParaRPr lang="en-US" dirty="0"/>
          </a:p>
        </p:txBody>
      </p:sp>
    </p:spTree>
    <p:extLst>
      <p:ext uri="{BB962C8B-B14F-4D97-AF65-F5344CB8AC3E}">
        <p14:creationId xmlns:p14="http://schemas.microsoft.com/office/powerpoint/2010/main" val="1648908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1440</TotalTime>
  <Words>2601</Words>
  <Application>Microsoft Office PowerPoint</Application>
  <PresentationFormat>Custom</PresentationFormat>
  <Paragraphs>273</Paragraphs>
  <Slides>35</Slides>
  <Notes>9</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Office Theme</vt:lpstr>
      <vt:lpstr>Parallel and Distributed Databases</vt:lpstr>
      <vt:lpstr>Syllabus Content</vt:lpstr>
      <vt:lpstr>Parallel DBMS</vt:lpstr>
      <vt:lpstr>Working of parallel database </vt:lpstr>
      <vt:lpstr>Advantages of Parallel Databases</vt:lpstr>
      <vt:lpstr>Speed up and Scale up</vt:lpstr>
      <vt:lpstr>Speed up and Scale up</vt:lpstr>
      <vt:lpstr>Parallel Database-Architectural Models </vt:lpstr>
      <vt:lpstr>Parallel Database</vt:lpstr>
      <vt:lpstr>Parallel Database</vt:lpstr>
      <vt:lpstr>I/O parallelism in parallel database- Partitioning</vt:lpstr>
      <vt:lpstr>I/O parallelism in parallel database -Partitioning</vt:lpstr>
      <vt:lpstr>Partitioning Techniques</vt:lpstr>
      <vt:lpstr>Partitioning Techniques</vt:lpstr>
      <vt:lpstr>PowerPoint Presentation</vt:lpstr>
      <vt:lpstr>Range Partitioning</vt:lpstr>
      <vt:lpstr>Partitioning example </vt:lpstr>
      <vt:lpstr>Interquery and Intraquery parallelism</vt:lpstr>
      <vt:lpstr>Interquery and Intraquery parallelism</vt:lpstr>
      <vt:lpstr>Intraoperation and Interoperation Parallelism</vt:lpstr>
      <vt:lpstr>Distributed Databases </vt:lpstr>
      <vt:lpstr>Types of Distributed Databases </vt:lpstr>
      <vt:lpstr>Types of Distributed Databases </vt:lpstr>
      <vt:lpstr>Types of Distributed Databases </vt:lpstr>
      <vt:lpstr>Types of Distributed Databases </vt:lpstr>
      <vt:lpstr>Distributed Data Storage</vt:lpstr>
      <vt:lpstr>Distributed Data Storage</vt:lpstr>
      <vt:lpstr>Distributed Data Storage</vt:lpstr>
      <vt:lpstr>Distributed Data Storage</vt:lpstr>
      <vt:lpstr>Distributed Data Storage</vt:lpstr>
      <vt:lpstr>Distributed Data Storage</vt:lpstr>
      <vt:lpstr>Distributed Data Storage</vt:lpstr>
      <vt:lpstr>Query Processing in Distributed DBMS </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 and Distributed Databases</dc:title>
  <dc:creator>Ranjeetsingh Suryawanshi</dc:creator>
  <cp:lastModifiedBy>DELL-PC</cp:lastModifiedBy>
  <cp:revision>85</cp:revision>
  <dcterms:created xsi:type="dcterms:W3CDTF">2022-11-09T08:37:20Z</dcterms:created>
  <dcterms:modified xsi:type="dcterms:W3CDTF">2023-10-09T06:02:32Z</dcterms:modified>
</cp:coreProperties>
</file>