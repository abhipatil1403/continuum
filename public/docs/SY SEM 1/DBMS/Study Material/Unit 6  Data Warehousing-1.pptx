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67" r:id="rId3"/>
    <p:sldId id="269" r:id="rId4"/>
    <p:sldId id="288" r:id="rId5"/>
    <p:sldId id="287" r:id="rId6"/>
    <p:sldId id="285" r:id="rId7"/>
    <p:sldId id="286" r:id="rId8"/>
    <p:sldId id="289" r:id="rId9"/>
    <p:sldId id="270" r:id="rId10"/>
    <p:sldId id="271" r:id="rId11"/>
    <p:sldId id="272" r:id="rId12"/>
    <p:sldId id="300" r:id="rId13"/>
    <p:sldId id="301" r:id="rId14"/>
    <p:sldId id="273" r:id="rId15"/>
    <p:sldId id="274" r:id="rId16"/>
    <p:sldId id="276" r:id="rId17"/>
    <p:sldId id="277" r:id="rId18"/>
    <p:sldId id="278" r:id="rId19"/>
    <p:sldId id="305" r:id="rId20"/>
    <p:sldId id="306" r:id="rId21"/>
    <p:sldId id="307" r:id="rId22"/>
    <p:sldId id="308" r:id="rId23"/>
    <p:sldId id="279" r:id="rId24"/>
    <p:sldId id="280" r:id="rId25"/>
    <p:sldId id="281" r:id="rId26"/>
    <p:sldId id="282" r:id="rId27"/>
    <p:sldId id="284" r:id="rId28"/>
    <p:sldId id="290" r:id="rId29"/>
    <p:sldId id="291" r:id="rId30"/>
    <p:sldId id="309" r:id="rId31"/>
    <p:sldId id="297" r:id="rId32"/>
    <p:sldId id="298" r:id="rId33"/>
    <p:sldId id="299" r:id="rId34"/>
    <p:sldId id="292" r:id="rId35"/>
    <p:sldId id="293" r:id="rId36"/>
    <p:sldId id="294" r:id="rId37"/>
    <p:sldId id="295" r:id="rId38"/>
    <p:sldId id="296" r:id="rId39"/>
    <p:sldId id="302" r:id="rId40"/>
    <p:sldId id="303" r:id="rId41"/>
    <p:sldId id="30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7052" autoAdjust="0"/>
  </p:normalViewPr>
  <p:slideViewPr>
    <p:cSldViewPr snapToGrid="0">
      <p:cViewPr>
        <p:scale>
          <a:sx n="74" d="100"/>
          <a:sy n="74" d="100"/>
        </p:scale>
        <p:origin x="-46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2D5684-AFF7-4F62-A565-480FB274B192}" type="datetimeFigureOut">
              <a:rPr lang="en-US" smtClean="0"/>
              <a:t>13/10/2025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D51F0E-0037-493F-9441-4C98D06800DF}" type="slidenum">
              <a:rPr lang="en-US" smtClean="0"/>
              <a:t>‹#›</a:t>
            </a:fld>
            <a:endParaRPr lang="en-US"/>
          </a:p>
        </p:txBody>
      </p:sp>
    </p:spTree>
    <p:extLst>
      <p:ext uri="{BB962C8B-B14F-4D97-AF65-F5344CB8AC3E}">
        <p14:creationId xmlns:p14="http://schemas.microsoft.com/office/powerpoint/2010/main" val="2766767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analytics8.com/services/cloud-migration/"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www.analytics8.com/technologies/gcp-partners/" TargetMode="External"/><Relationship Id="rId4" Type="http://schemas.openxmlformats.org/officeDocument/2006/relationships/hyperlink" Target="https://www.analytics8.com/technologies/azure-partners/"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geeksforgeeks.org/olap-application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data-warehouse</a:t>
            </a:r>
            <a:r>
              <a:rPr lang="en-US" sz="1200" b="0" i="0" kern="1200" dirty="0" smtClean="0">
                <a:solidFill>
                  <a:schemeClr val="tx1"/>
                </a:solidFill>
                <a:effectLst/>
                <a:latin typeface="+mn-lt"/>
                <a:ea typeface="+mn-ea"/>
                <a:cs typeface="+mn-cs"/>
              </a:rPr>
              <a:t> is a heterogeneous collection of different data sources </a:t>
            </a:r>
            <a:r>
              <a:rPr lang="en-US" sz="1200" b="0" i="0" kern="1200" dirty="0" err="1" smtClean="0">
                <a:solidFill>
                  <a:schemeClr val="tx1"/>
                </a:solidFill>
                <a:effectLst/>
                <a:latin typeface="+mn-lt"/>
                <a:ea typeface="+mn-ea"/>
                <a:cs typeface="+mn-cs"/>
              </a:rPr>
              <a:t>organised</a:t>
            </a:r>
            <a:r>
              <a:rPr lang="en-US" sz="1200" b="0" i="0" kern="1200" dirty="0" smtClean="0">
                <a:solidFill>
                  <a:schemeClr val="tx1"/>
                </a:solidFill>
                <a:effectLst/>
                <a:latin typeface="+mn-lt"/>
                <a:ea typeface="+mn-ea"/>
                <a:cs typeface="+mn-cs"/>
              </a:rPr>
              <a:t> under a unified schema. It can be loosely described as any centralized data repository which can be queried for business benefits. It is a database that stores information oriented to satisfy decision-making requests. </a:t>
            </a:r>
          </a:p>
          <a:p>
            <a:r>
              <a:rPr lang="en-US" sz="1200" b="1" i="0" kern="1200" dirty="0" smtClean="0">
                <a:solidFill>
                  <a:schemeClr val="tx1"/>
                </a:solidFill>
                <a:effectLst/>
                <a:latin typeface="+mn-lt"/>
                <a:ea typeface="+mn-ea"/>
                <a:cs typeface="+mn-cs"/>
              </a:rPr>
              <a:t>It is a blend of technologies and components which aids the strategic use of data.</a:t>
            </a:r>
            <a:endParaRPr lang="en-US" b="1" dirty="0"/>
          </a:p>
        </p:txBody>
      </p:sp>
      <p:sp>
        <p:nvSpPr>
          <p:cNvPr id="4" name="Slide Number Placeholder 3"/>
          <p:cNvSpPr>
            <a:spLocks noGrp="1"/>
          </p:cNvSpPr>
          <p:nvPr>
            <p:ph type="sldNum" sz="quarter" idx="10"/>
          </p:nvPr>
        </p:nvSpPr>
        <p:spPr/>
        <p:txBody>
          <a:bodyPr/>
          <a:lstStyle/>
          <a:p>
            <a:fld id="{36D51F0E-0037-493F-9441-4C98D06800DF}" type="slidenum">
              <a:rPr lang="en-US" smtClean="0"/>
              <a:t>2</a:t>
            </a:fld>
            <a:endParaRPr lang="en-US"/>
          </a:p>
        </p:txBody>
      </p:sp>
    </p:spTree>
    <p:extLst>
      <p:ext uri="{BB962C8B-B14F-4D97-AF65-F5344CB8AC3E}">
        <p14:creationId xmlns:p14="http://schemas.microsoft.com/office/powerpoint/2010/main" val="1050182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kern="1200" dirty="0" smtClean="0">
                <a:solidFill>
                  <a:schemeClr val="tx1"/>
                </a:solidFill>
                <a:effectLst/>
                <a:latin typeface="+mn-lt"/>
                <a:ea typeface="+mn-ea"/>
                <a:cs typeface="+mn-cs"/>
              </a:rPr>
              <a:t>Data warehouses can be stored on-premise, in the cloud, or a mixture of the two environments. Your decision may depend on requirements to keep organization-mission critical applications on-premise. If you are looking into </a:t>
            </a:r>
            <a:r>
              <a:rPr lang="en-US" sz="1200" u="sng" kern="1200" dirty="0" smtClean="0">
                <a:solidFill>
                  <a:schemeClr val="tx1"/>
                </a:solidFill>
                <a:effectLst/>
                <a:latin typeface="+mn-lt"/>
                <a:ea typeface="+mn-ea"/>
                <a:cs typeface="+mn-cs"/>
                <a:hlinkClick r:id="rId3"/>
              </a:rPr>
              <a:t>cloud solutions</a:t>
            </a:r>
            <a:r>
              <a:rPr lang="en-US" sz="1200" kern="1200" dirty="0" smtClean="0">
                <a:solidFill>
                  <a:schemeClr val="tx1"/>
                </a:solidFill>
                <a:effectLst/>
                <a:latin typeface="+mn-lt"/>
                <a:ea typeface="+mn-ea"/>
                <a:cs typeface="+mn-cs"/>
              </a:rPr>
              <a:t>, take into consideration industrial regulations, security, visibility, accessibility, latency, and trustworthiness of the cloud providers. (Some top cloud providers </a:t>
            </a:r>
            <a:r>
              <a:rPr lang="en-US" sz="1200" b="1" kern="1200" dirty="0" smtClean="0">
                <a:solidFill>
                  <a:schemeClr val="tx1"/>
                </a:solidFill>
                <a:effectLst/>
                <a:latin typeface="+mn-lt"/>
                <a:ea typeface="+mn-ea"/>
                <a:cs typeface="+mn-cs"/>
              </a:rPr>
              <a:t>include </a:t>
            </a:r>
            <a:r>
              <a:rPr lang="en-US" sz="1200" b="1" u="sng" kern="1200" dirty="0" smtClean="0">
                <a:solidFill>
                  <a:schemeClr val="tx1"/>
                </a:solidFill>
                <a:effectLst/>
                <a:latin typeface="+mn-lt"/>
                <a:ea typeface="+mn-ea"/>
                <a:cs typeface="+mn-cs"/>
                <a:hlinkClick r:id="rId4"/>
              </a:rPr>
              <a:t>Amazon Web Services (AWS)</a:t>
            </a:r>
            <a:r>
              <a:rPr lang="en-US" sz="1200" b="1" kern="1200" dirty="0" smtClean="0">
                <a:solidFill>
                  <a:schemeClr val="tx1"/>
                </a:solidFill>
                <a:effectLst/>
                <a:latin typeface="+mn-lt"/>
                <a:ea typeface="+mn-ea"/>
                <a:cs typeface="+mn-cs"/>
              </a:rPr>
              <a:t>, </a:t>
            </a:r>
            <a:r>
              <a:rPr lang="en-US" sz="1200" b="1" u="sng" kern="1200" dirty="0" smtClean="0">
                <a:solidFill>
                  <a:schemeClr val="tx1"/>
                </a:solidFill>
                <a:effectLst/>
                <a:latin typeface="+mn-lt"/>
                <a:ea typeface="+mn-ea"/>
                <a:cs typeface="+mn-cs"/>
                <a:hlinkClick r:id="rId5"/>
              </a:rPr>
              <a:t>Google Cloud Platform (GCP)</a:t>
            </a:r>
            <a:r>
              <a:rPr lang="en-US" sz="1200" b="1" kern="1200" dirty="0" smtClean="0">
                <a:solidFill>
                  <a:schemeClr val="tx1"/>
                </a:solidFill>
                <a:effectLst/>
                <a:latin typeface="+mn-lt"/>
                <a:ea typeface="+mn-ea"/>
                <a:cs typeface="+mn-cs"/>
              </a:rPr>
              <a:t>, and </a:t>
            </a:r>
            <a:r>
              <a:rPr lang="en-US" sz="1200" b="1" u="sng" kern="1200" dirty="0" smtClean="0">
                <a:solidFill>
                  <a:schemeClr val="tx1"/>
                </a:solidFill>
                <a:effectLst/>
                <a:latin typeface="+mn-lt"/>
                <a:ea typeface="+mn-ea"/>
                <a:cs typeface="+mn-cs"/>
                <a:hlinkClick r:id="rId4"/>
              </a:rPr>
              <a:t>Microsoft Azure</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6D51F0E-0037-493F-9441-4C98D06800DF}" type="slidenum">
              <a:rPr lang="en-US" smtClean="0"/>
              <a:t>3</a:t>
            </a:fld>
            <a:endParaRPr lang="en-US"/>
          </a:p>
        </p:txBody>
      </p:sp>
    </p:spTree>
    <p:extLst>
      <p:ext uri="{BB962C8B-B14F-4D97-AF65-F5344CB8AC3E}">
        <p14:creationId xmlns:p14="http://schemas.microsoft.com/office/powerpoint/2010/main" val="4131739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Examples:</a:t>
            </a:r>
            <a:r>
              <a:rPr lang="en-US" sz="1200" b="0" i="0" kern="1200" dirty="0" err="1" smtClean="0">
                <a:solidFill>
                  <a:schemeClr val="tx1"/>
                </a:solidFill>
                <a:effectLst/>
                <a:latin typeface="+mn-lt"/>
                <a:ea typeface="+mn-ea"/>
                <a:cs typeface="+mn-cs"/>
              </a:rPr>
              <a:t>Snowflake</a:t>
            </a:r>
            <a:r>
              <a:rPr lang="en-US" sz="1200" b="0" i="0" kern="1200" dirty="0" smtClean="0">
                <a:solidFill>
                  <a:schemeClr val="tx1"/>
                </a:solidFill>
                <a:effectLst/>
                <a:latin typeface="+mn-lt"/>
                <a:ea typeface="+mn-ea"/>
                <a:cs typeface="+mn-cs"/>
              </a:rPr>
              <a:t>. Snowflake is one of the most popular and easy-to-use data warehouses out there. ...</a:t>
            </a:r>
          </a:p>
          <a:p>
            <a:r>
              <a:rPr lang="en-US" sz="1200" b="0" i="0" kern="1200" dirty="0" smtClean="0">
                <a:solidFill>
                  <a:schemeClr val="tx1"/>
                </a:solidFill>
                <a:effectLst/>
                <a:latin typeface="+mn-lt"/>
                <a:ea typeface="+mn-ea"/>
                <a:cs typeface="+mn-cs"/>
              </a:rPr>
              <a:t>Google </a:t>
            </a:r>
            <a:r>
              <a:rPr lang="en-US" sz="1200" b="0" i="0" kern="1200" dirty="0" err="1" smtClean="0">
                <a:solidFill>
                  <a:schemeClr val="tx1"/>
                </a:solidFill>
                <a:effectLst/>
                <a:latin typeface="+mn-lt"/>
                <a:ea typeface="+mn-ea"/>
                <a:cs typeface="+mn-cs"/>
              </a:rPr>
              <a:t>BigQuery</a:t>
            </a:r>
            <a:r>
              <a:rPr lang="en-US" sz="1200" b="0" i="0" kern="1200" dirty="0" smtClean="0">
                <a:solidFill>
                  <a:schemeClr val="tx1"/>
                </a:solidFill>
                <a:effectLst/>
                <a:latin typeface="+mn-lt"/>
                <a:ea typeface="+mn-ea"/>
                <a:cs typeface="+mn-cs"/>
              </a:rPr>
              <a:t>. ...</a:t>
            </a:r>
          </a:p>
          <a:p>
            <a:r>
              <a:rPr lang="en-US" sz="1200" b="0" i="0" kern="1200" dirty="0" smtClean="0">
                <a:solidFill>
                  <a:schemeClr val="tx1"/>
                </a:solidFill>
                <a:effectLst/>
                <a:latin typeface="+mn-lt"/>
                <a:ea typeface="+mn-ea"/>
                <a:cs typeface="+mn-cs"/>
              </a:rPr>
              <a:t>Amazon Redshift. ...</a:t>
            </a:r>
          </a:p>
          <a:p>
            <a:r>
              <a:rPr lang="en-US" sz="1200" b="0" i="0" kern="1200" dirty="0" smtClean="0">
                <a:solidFill>
                  <a:schemeClr val="tx1"/>
                </a:solidFill>
                <a:effectLst/>
                <a:latin typeface="+mn-lt"/>
                <a:ea typeface="+mn-ea"/>
                <a:cs typeface="+mn-cs"/>
              </a:rPr>
              <a:t>Azure Synapse Analytics. ...</a:t>
            </a:r>
          </a:p>
          <a:p>
            <a:r>
              <a:rPr lang="en-US" sz="1200" b="0" i="0" kern="1200" dirty="0" smtClean="0">
                <a:solidFill>
                  <a:schemeClr val="tx1"/>
                </a:solidFill>
                <a:effectLst/>
                <a:latin typeface="+mn-lt"/>
                <a:ea typeface="+mn-ea"/>
                <a:cs typeface="+mn-cs"/>
              </a:rPr>
              <a:t>IBM Db2 Warehouse. ...</a:t>
            </a:r>
          </a:p>
          <a:p>
            <a:r>
              <a:rPr lang="en-US" sz="1200" b="0" i="0" kern="1200" dirty="0" err="1" smtClean="0">
                <a:solidFill>
                  <a:schemeClr val="tx1"/>
                </a:solidFill>
                <a:effectLst/>
                <a:latin typeface="+mn-lt"/>
                <a:ea typeface="+mn-ea"/>
                <a:cs typeface="+mn-cs"/>
              </a:rPr>
              <a:t>Firebolt</a:t>
            </a:r>
            <a:r>
              <a:rPr lang="en-US" sz="1200" b="0" i="0" kern="1200" dirty="0" smtClean="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8</a:t>
            </a:fld>
            <a:endParaRPr lang="en-US"/>
          </a:p>
        </p:txBody>
      </p:sp>
    </p:spTree>
    <p:extLst>
      <p:ext uri="{BB962C8B-B14F-4D97-AF65-F5344CB8AC3E}">
        <p14:creationId xmlns:p14="http://schemas.microsoft.com/office/powerpoint/2010/main" val="306161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smtClean="0">
                <a:solidFill>
                  <a:schemeClr val="tx1"/>
                </a:solidFill>
                <a:effectLst/>
                <a:latin typeface="+mn-lt"/>
                <a:ea typeface="+mn-ea"/>
                <a:cs typeface="+mn-cs"/>
              </a:rPr>
              <a:t>ETL</a:t>
            </a:r>
            <a:r>
              <a:rPr lang="en-US" sz="1200" b="0" i="0" kern="1200" dirty="0" smtClean="0">
                <a:solidFill>
                  <a:schemeClr val="tx1"/>
                </a:solidFill>
                <a:effectLst/>
                <a:latin typeface="+mn-lt"/>
                <a:ea typeface="+mn-ea"/>
                <a:cs typeface="+mn-cs"/>
              </a:rPr>
              <a:t> tool. </a:t>
            </a:r>
            <a:r>
              <a:rPr lang="en-US" sz="1200" b="1" i="0" kern="1200" dirty="0" smtClean="0">
                <a:solidFill>
                  <a:schemeClr val="tx1"/>
                </a:solidFill>
                <a:effectLst/>
                <a:latin typeface="+mn-lt"/>
                <a:ea typeface="+mn-ea"/>
                <a:cs typeface="+mn-cs"/>
              </a:rPr>
              <a:t>E(Extracted):</a:t>
            </a:r>
            <a:r>
              <a:rPr lang="en-US" sz="1200" b="0" i="0" kern="1200" dirty="0" smtClean="0">
                <a:solidFill>
                  <a:schemeClr val="tx1"/>
                </a:solidFill>
                <a:effectLst/>
                <a:latin typeface="+mn-lt"/>
                <a:ea typeface="+mn-ea"/>
                <a:cs typeface="+mn-cs"/>
              </a:rPr>
              <a:t> Data is extracted from External data source.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t>
            </a:r>
          </a:p>
          <a:p>
            <a:pPr fontAlgn="base"/>
            <a:r>
              <a:rPr lang="en-US" sz="1200" b="1" i="0" kern="1200" dirty="0" smtClean="0">
                <a:solidFill>
                  <a:schemeClr val="tx1"/>
                </a:solidFill>
                <a:effectLst/>
                <a:latin typeface="+mn-lt"/>
                <a:ea typeface="+mn-ea"/>
                <a:cs typeface="+mn-cs"/>
              </a:rPr>
              <a:t>T(Transform):</a:t>
            </a:r>
            <a:r>
              <a:rPr lang="en-US" sz="1200" b="0" i="0" kern="1200" dirty="0" smtClean="0">
                <a:solidFill>
                  <a:schemeClr val="tx1"/>
                </a:solidFill>
                <a:effectLst/>
                <a:latin typeface="+mn-lt"/>
                <a:ea typeface="+mn-ea"/>
                <a:cs typeface="+mn-cs"/>
              </a:rPr>
              <a:t> Data is transformed into the standard format.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t>
            </a:r>
          </a:p>
          <a:p>
            <a:pPr fontAlgn="base"/>
            <a:r>
              <a:rPr lang="en-US" sz="1200" b="1" i="0" kern="1200" dirty="0" smtClean="0">
                <a:solidFill>
                  <a:schemeClr val="tx1"/>
                </a:solidFill>
                <a:effectLst/>
                <a:latin typeface="+mn-lt"/>
                <a:ea typeface="+mn-ea"/>
                <a:cs typeface="+mn-cs"/>
              </a:rPr>
              <a:t>L(Load):</a:t>
            </a:r>
            <a:r>
              <a:rPr lang="en-US" sz="1200" b="0" i="0" kern="1200" dirty="0" smtClean="0">
                <a:solidFill>
                  <a:schemeClr val="tx1"/>
                </a:solidFill>
                <a:effectLst/>
                <a:latin typeface="+mn-lt"/>
                <a:ea typeface="+mn-ea"/>
                <a:cs typeface="+mn-cs"/>
              </a:rPr>
              <a:t> Data is loaded into </a:t>
            </a:r>
            <a:r>
              <a:rPr lang="en-US" sz="1200" b="0" i="0" kern="1200" dirty="0" err="1" smtClean="0">
                <a:solidFill>
                  <a:schemeClr val="tx1"/>
                </a:solidFill>
                <a:effectLst/>
                <a:latin typeface="+mn-lt"/>
                <a:ea typeface="+mn-ea"/>
                <a:cs typeface="+mn-cs"/>
              </a:rPr>
              <a:t>datawarehouse</a:t>
            </a:r>
            <a:r>
              <a:rPr lang="en-US" sz="1200" b="0" i="0" kern="1200" dirty="0" smtClean="0">
                <a:solidFill>
                  <a:schemeClr val="tx1"/>
                </a:solidFill>
                <a:effectLst/>
                <a:latin typeface="+mn-lt"/>
                <a:ea typeface="+mn-ea"/>
                <a:cs typeface="+mn-cs"/>
              </a:rPr>
              <a:t> after transforming it into the standard format. </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11</a:t>
            </a:fld>
            <a:endParaRPr lang="en-US"/>
          </a:p>
        </p:txBody>
      </p:sp>
    </p:spTree>
    <p:extLst>
      <p:ext uri="{BB962C8B-B14F-4D97-AF65-F5344CB8AC3E}">
        <p14:creationId xmlns:p14="http://schemas.microsoft.com/office/powerpoint/2010/main" val="758325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14</a:t>
            </a:fld>
            <a:endParaRPr lang="en-US"/>
          </a:p>
        </p:txBody>
      </p:sp>
    </p:spTree>
    <p:extLst>
      <p:ext uri="{BB962C8B-B14F-4D97-AF65-F5344CB8AC3E}">
        <p14:creationId xmlns:p14="http://schemas.microsoft.com/office/powerpoint/2010/main" val="885010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Data marts contain a subset of organization-wide data that is valuable to specific groups of people in an organization. </a:t>
            </a:r>
            <a:r>
              <a:rPr lang="en-US" sz="1200" b="0" i="0" kern="1200" dirty="0" smtClean="0">
                <a:solidFill>
                  <a:schemeClr val="tx1"/>
                </a:solidFill>
                <a:effectLst/>
                <a:latin typeface="+mn-lt"/>
                <a:ea typeface="+mn-ea"/>
                <a:cs typeface="+mn-cs"/>
              </a:rPr>
              <a:t>In other words, a data mart contains only those data that is specific to a particular group. For example, the marketing data mart may contain only data related to items, customers, and sales. Data marts are confined to subjects.</a:t>
            </a:r>
            <a:endParaRPr lang="en-US" dirty="0" smtClean="0"/>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15</a:t>
            </a:fld>
            <a:endParaRPr lang="en-US"/>
          </a:p>
        </p:txBody>
      </p:sp>
    </p:spTree>
    <p:extLst>
      <p:ext uri="{BB962C8B-B14F-4D97-AF65-F5344CB8AC3E}">
        <p14:creationId xmlns:p14="http://schemas.microsoft.com/office/powerpoint/2010/main" val="2998038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smtClean="0"/>
              <a:t>OLAP was introduced by </a:t>
            </a:r>
            <a:r>
              <a:rPr lang="en-US" dirty="0" err="1" smtClean="0"/>
              <a:t>E.F.Codd</a:t>
            </a:r>
            <a:r>
              <a:rPr lang="en-US" baseline="0" dirty="0" smtClean="0"/>
              <a:t>  and it is a category of software technology that enables analysts, manager to analyze the complex data derived from the </a:t>
            </a:r>
            <a:r>
              <a:rPr lang="en-US" baseline="0" dirty="0" err="1" smtClean="0"/>
              <a:t>datawarehouse</a:t>
            </a:r>
            <a:r>
              <a:rPr lang="en-US" baseline="0" dirty="0" smtClean="0"/>
              <a:t> and get meaningful insight from that data by representing it in multidimensional facets.</a:t>
            </a:r>
            <a:r>
              <a:rPr lang="en-US" sz="1200" b="1" i="0" kern="1200" dirty="0" smtClean="0">
                <a:solidFill>
                  <a:schemeClr val="tx1"/>
                </a:solidFill>
                <a:effectLst/>
                <a:latin typeface="+mn-lt"/>
                <a:ea typeface="+mn-ea"/>
                <a:cs typeface="+mn-cs"/>
              </a:rPr>
              <a:t> Examples –</a:t>
            </a:r>
            <a:r>
              <a:rPr lang="en-US" sz="1200" b="0" i="0" kern="1200" dirty="0" smtClean="0">
                <a:solidFill>
                  <a:schemeClr val="tx1"/>
                </a:solidFill>
                <a:effectLst/>
                <a:latin typeface="+mn-lt"/>
                <a:ea typeface="+mn-ea"/>
                <a:cs typeface="+mn-cs"/>
              </a:rPr>
              <a:t> Any type of Data warehouse system is an OLAP system. The </a:t>
            </a:r>
            <a:r>
              <a:rPr lang="en-US" sz="1200" b="0" i="0" u="sng" kern="1200" dirty="0" smtClean="0">
                <a:solidFill>
                  <a:schemeClr val="tx1"/>
                </a:solidFill>
                <a:effectLst/>
                <a:latin typeface="+mn-lt"/>
                <a:ea typeface="+mn-ea"/>
                <a:cs typeface="+mn-cs"/>
                <a:hlinkClick r:id="rId3"/>
              </a:rPr>
              <a:t>uses of OLAP</a:t>
            </a:r>
            <a:r>
              <a:rPr lang="en-US" sz="1200" b="0" i="0" kern="1200" dirty="0" smtClean="0">
                <a:solidFill>
                  <a:schemeClr val="tx1"/>
                </a:solidFill>
                <a:effectLst/>
                <a:latin typeface="+mn-lt"/>
                <a:ea typeface="+mn-ea"/>
                <a:cs typeface="+mn-cs"/>
              </a:rPr>
              <a:t> are as follows:</a:t>
            </a:r>
          </a:p>
          <a:p>
            <a:pPr fontAlgn="base"/>
            <a:r>
              <a:rPr lang="en-US" sz="1200" b="0" i="0" kern="1200" dirty="0" err="1" smtClean="0">
                <a:solidFill>
                  <a:schemeClr val="tx1"/>
                </a:solidFill>
                <a:effectLst/>
                <a:latin typeface="+mn-lt"/>
                <a:ea typeface="+mn-ea"/>
                <a:cs typeface="+mn-cs"/>
              </a:rPr>
              <a:t>Spotify</a:t>
            </a:r>
            <a:r>
              <a:rPr lang="en-US" sz="1200" b="0" i="0" kern="1200" dirty="0" smtClean="0">
                <a:solidFill>
                  <a:schemeClr val="tx1"/>
                </a:solidFill>
                <a:effectLst/>
                <a:latin typeface="+mn-lt"/>
                <a:ea typeface="+mn-ea"/>
                <a:cs typeface="+mn-cs"/>
              </a:rPr>
              <a:t> analyzed songs by users to come up with a personalized homepage of their songs and playlist.</a:t>
            </a:r>
          </a:p>
          <a:p>
            <a:pPr fontAlgn="base"/>
            <a:r>
              <a:rPr lang="en-US" sz="1200" b="0" i="0" kern="1200" dirty="0" smtClean="0">
                <a:solidFill>
                  <a:schemeClr val="tx1"/>
                </a:solidFill>
                <a:effectLst/>
                <a:latin typeface="+mn-lt"/>
                <a:ea typeface="+mn-ea"/>
                <a:cs typeface="+mn-cs"/>
              </a:rPr>
              <a:t>Netflix movie recommendation system.</a:t>
            </a: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16</a:t>
            </a:fld>
            <a:endParaRPr lang="en-US"/>
          </a:p>
        </p:txBody>
      </p:sp>
    </p:spTree>
    <p:extLst>
      <p:ext uri="{BB962C8B-B14F-4D97-AF65-F5344CB8AC3E}">
        <p14:creationId xmlns:p14="http://schemas.microsoft.com/office/powerpoint/2010/main" val="1024387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Can handle large amounts of information:</a:t>
            </a:r>
            <a:r>
              <a:rPr lang="en-US" sz="1200" b="0" i="0" kern="1200" dirty="0" smtClean="0">
                <a:solidFill>
                  <a:schemeClr val="tx1"/>
                </a:solidFill>
                <a:effectLst/>
                <a:latin typeface="+mn-lt"/>
                <a:ea typeface="+mn-ea"/>
                <a:cs typeface="+mn-cs"/>
              </a:rPr>
              <a:t> The data size limitation of ROLAP technology is depends on the data size of the underlying RDBMS. So, ROLAP itself does not restrict the data amount.</a:t>
            </a:r>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27</a:t>
            </a:fld>
            <a:endParaRPr lang="en-US"/>
          </a:p>
        </p:txBody>
      </p:sp>
    </p:spTree>
    <p:extLst>
      <p:ext uri="{BB962C8B-B14F-4D97-AF65-F5344CB8AC3E}">
        <p14:creationId xmlns:p14="http://schemas.microsoft.com/office/powerpoint/2010/main" val="1066304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Excellent Performance:</a:t>
            </a:r>
            <a:r>
              <a:rPr lang="en-US" sz="1200" b="0" i="0" kern="1200" dirty="0" smtClean="0">
                <a:solidFill>
                  <a:schemeClr val="tx1"/>
                </a:solidFill>
                <a:effectLst/>
                <a:latin typeface="+mn-lt"/>
                <a:ea typeface="+mn-ea"/>
                <a:cs typeface="+mn-cs"/>
              </a:rPr>
              <a:t> A MOLAP cube is built for fast information retrieval, and is optimal for slicing and dicing operations.</a:t>
            </a:r>
          </a:p>
          <a:p>
            <a:r>
              <a:rPr lang="en-US" sz="1200" b="1" i="0" kern="1200" dirty="0" smtClean="0">
                <a:solidFill>
                  <a:schemeClr val="tx1"/>
                </a:solidFill>
                <a:effectLst/>
                <a:latin typeface="+mn-lt"/>
                <a:ea typeface="+mn-ea"/>
                <a:cs typeface="+mn-cs"/>
              </a:rPr>
              <a:t>Can perform complex calculations:</a:t>
            </a:r>
            <a:r>
              <a:rPr lang="en-US" sz="1200" b="0" i="0" kern="1200" dirty="0" smtClean="0">
                <a:solidFill>
                  <a:schemeClr val="tx1"/>
                </a:solidFill>
                <a:effectLst/>
                <a:latin typeface="+mn-lt"/>
                <a:ea typeface="+mn-ea"/>
                <a:cs typeface="+mn-cs"/>
              </a:rPr>
              <a:t> All evaluation have been pre-generated when the cube is created. Hence, complex calculations are not only possible, but they return quickly.</a:t>
            </a:r>
          </a:p>
          <a:p>
            <a:r>
              <a:rPr lang="en-US" sz="1200" b="0" i="0" kern="1200" dirty="0" smtClean="0">
                <a:solidFill>
                  <a:schemeClr val="tx1"/>
                </a:solidFill>
                <a:effectLst/>
                <a:latin typeface="+mn-lt"/>
                <a:ea typeface="+mn-ea"/>
                <a:cs typeface="+mn-cs"/>
              </a:rPr>
              <a:t>Disadvantages</a:t>
            </a:r>
          </a:p>
          <a:p>
            <a:r>
              <a:rPr lang="en-US" sz="1200" b="1" i="0" kern="1200" dirty="0" smtClean="0">
                <a:solidFill>
                  <a:schemeClr val="tx1"/>
                </a:solidFill>
                <a:effectLst/>
                <a:latin typeface="+mn-lt"/>
                <a:ea typeface="+mn-ea"/>
                <a:cs typeface="+mn-cs"/>
              </a:rPr>
              <a:t>Limited in the amount of information it can handle:</a:t>
            </a:r>
            <a:r>
              <a:rPr lang="en-US" sz="1200" b="0" i="0" kern="1200" dirty="0" smtClean="0">
                <a:solidFill>
                  <a:schemeClr val="tx1"/>
                </a:solidFill>
                <a:effectLst/>
                <a:latin typeface="+mn-lt"/>
                <a:ea typeface="+mn-ea"/>
                <a:cs typeface="+mn-cs"/>
              </a:rPr>
              <a:t> Because all calculations are performed when the cube is built, it is not possible to contain a large amount of data in the cube itself.</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6D51F0E-0037-493F-9441-4C98D06800DF}" type="slidenum">
              <a:rPr lang="en-US" smtClean="0"/>
              <a:t>28</a:t>
            </a:fld>
            <a:endParaRPr lang="en-US"/>
          </a:p>
        </p:txBody>
      </p:sp>
    </p:spTree>
    <p:extLst>
      <p:ext uri="{BB962C8B-B14F-4D97-AF65-F5344CB8AC3E}">
        <p14:creationId xmlns:p14="http://schemas.microsoft.com/office/powerpoint/2010/main" val="3480245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86360C-4C4D-9F6D-A4A9-550381A557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25E6B2BA-914F-ABD9-5086-8A20FF39C9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FB7C1B9-849D-0B70-E7F9-2353052283DD}"/>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5" name="Footer Placeholder 4">
            <a:extLst>
              <a:ext uri="{FF2B5EF4-FFF2-40B4-BE49-F238E27FC236}">
                <a16:creationId xmlns="" xmlns:a16="http://schemas.microsoft.com/office/drawing/2014/main" id="{421E7DF4-0C00-90FF-B9D9-113BFC4CFD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C5AB4F1-B4DF-C88D-251D-5FE1A3AC753A}"/>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42687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2835BF-AC3E-BE38-8A72-EA49A4BBFF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5EE74B03-488C-A32E-FFAF-B477ED042D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8F6C8B2-1CB5-67A6-94CD-26F40BBFABE3}"/>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5" name="Footer Placeholder 4">
            <a:extLst>
              <a:ext uri="{FF2B5EF4-FFF2-40B4-BE49-F238E27FC236}">
                <a16:creationId xmlns="" xmlns:a16="http://schemas.microsoft.com/office/drawing/2014/main" id="{11443C6B-349B-2CE0-2B1B-B11571E62D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156A8AB-440D-70B8-4750-169B1FE16067}"/>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4261555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2A8436-9D6D-F93C-D0A6-D7091E5B69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75B70DA7-6A4B-ECEA-6B87-A11117DAC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AFD4CE3C-BF06-0330-F1F8-0BF9C7BB81FA}"/>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5" name="Footer Placeholder 4">
            <a:extLst>
              <a:ext uri="{FF2B5EF4-FFF2-40B4-BE49-F238E27FC236}">
                <a16:creationId xmlns="" xmlns:a16="http://schemas.microsoft.com/office/drawing/2014/main" id="{C96DA91F-EC90-D2C0-A7A6-A152E8A55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9461BE1-E6F7-CFB2-2930-A5D253D99907}"/>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772873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4504A1-AEB1-B8A3-9E09-8B6E3FD16C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B5BB4E7D-C818-B0CE-7458-CD52D06225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CE6AAC86-8F45-63DF-A26F-4656EFC266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C7690D92-EF93-97E7-5F27-774390286058}"/>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6" name="Footer Placeholder 5">
            <a:extLst>
              <a:ext uri="{FF2B5EF4-FFF2-40B4-BE49-F238E27FC236}">
                <a16:creationId xmlns="" xmlns:a16="http://schemas.microsoft.com/office/drawing/2014/main" id="{CB41D24A-7C73-5966-3CAA-ED51895A0C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E98535C3-408E-FF1B-BB3B-9386E242E7FC}"/>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1881145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206BE1-5CC1-2655-B684-9A3FB20FFE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3056E73C-AA50-2CE3-E3C7-DFE58BCDE8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16C402F-8009-CE32-636B-D28CA95F11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9D80E78A-92A2-3BD2-626D-FE42FED67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0EAB8AD5-C845-D1E7-FBB0-77D2219F10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CCDFDE7A-976F-FE09-FB27-CF79ECD82257}"/>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8" name="Footer Placeholder 7">
            <a:extLst>
              <a:ext uri="{FF2B5EF4-FFF2-40B4-BE49-F238E27FC236}">
                <a16:creationId xmlns="" xmlns:a16="http://schemas.microsoft.com/office/drawing/2014/main" id="{7468475E-08B0-42A9-6D8C-2D541B367E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E3BFE568-CF0E-0F0A-07B3-6C548D4CAD1E}"/>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655682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2D3936-F2B0-364A-E381-27416E7BCE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C49914BD-6085-D132-F46F-AF4D914F38FB}"/>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4" name="Footer Placeholder 3">
            <a:extLst>
              <a:ext uri="{FF2B5EF4-FFF2-40B4-BE49-F238E27FC236}">
                <a16:creationId xmlns="" xmlns:a16="http://schemas.microsoft.com/office/drawing/2014/main" id="{8A2CFFE3-1E49-FC74-97E0-346A969397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D98D669F-0F70-87F1-9015-868D40124D85}"/>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02614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3EFFE53-BAD4-47F1-DD22-C906E6930145}"/>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3" name="Footer Placeholder 2">
            <a:extLst>
              <a:ext uri="{FF2B5EF4-FFF2-40B4-BE49-F238E27FC236}">
                <a16:creationId xmlns="" xmlns:a16="http://schemas.microsoft.com/office/drawing/2014/main" id="{04D21521-0125-6E56-DD9A-7AD5F8E384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16192850-45CF-C6A4-A752-0AE8CA461508}"/>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851123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C7E7E4-1575-86EF-B1A6-9C46F72756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857B9EA1-DCE8-B7E6-D743-47081ABA01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B514E33-7086-AE16-E462-DEC2D92698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957D61B-0573-D355-1E75-4C0DDDC51BF6}"/>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6" name="Footer Placeholder 5">
            <a:extLst>
              <a:ext uri="{FF2B5EF4-FFF2-40B4-BE49-F238E27FC236}">
                <a16:creationId xmlns="" xmlns:a16="http://schemas.microsoft.com/office/drawing/2014/main" id="{05C9B4E3-A3CA-5158-79F0-6FDD3F3C80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2920007-ECBA-CBFC-E53B-492AF2BD58A1}"/>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26051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0C4CBE-BDC6-00E6-3750-A88A81729B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C1A4C763-FE29-5367-91A3-1CC546F69E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8B6842C9-8704-9E39-98C6-F1202A895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0F52AD7-D8FF-2894-4448-A89D7E197D5D}"/>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6" name="Footer Placeholder 5">
            <a:extLst>
              <a:ext uri="{FF2B5EF4-FFF2-40B4-BE49-F238E27FC236}">
                <a16:creationId xmlns="" xmlns:a16="http://schemas.microsoft.com/office/drawing/2014/main" id="{97F22035-ABF6-3628-999F-8F8EB346BF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EAB07084-23DA-41A5-6B9A-3D8EE251ACE9}"/>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3788169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AAF410-C516-4A9B-DD80-C19E680B1E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8414D45F-8890-2698-FFA0-F3D13D11FB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6D2C1036-A50E-81E3-01D6-D97820D8E459}"/>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5" name="Footer Placeholder 4">
            <a:extLst>
              <a:ext uri="{FF2B5EF4-FFF2-40B4-BE49-F238E27FC236}">
                <a16:creationId xmlns="" xmlns:a16="http://schemas.microsoft.com/office/drawing/2014/main" id="{9466C982-26D2-D1D2-9820-E14716530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0E85878-8679-2EEB-F6E5-565D0DD38D89}"/>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3997307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6FB227F-7B1B-EDAE-426A-687C5C98FD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9D10D5D0-1D38-8379-2907-C4A3FAF555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AEC8923-1456-0134-3927-2E212D9F3A53}"/>
              </a:ext>
            </a:extLst>
          </p:cNvPr>
          <p:cNvSpPr>
            <a:spLocks noGrp="1"/>
          </p:cNvSpPr>
          <p:nvPr>
            <p:ph type="dt" sz="half" idx="10"/>
          </p:nvPr>
        </p:nvSpPr>
        <p:spPr/>
        <p:txBody>
          <a:bodyPr/>
          <a:lstStyle/>
          <a:p>
            <a:fld id="{37FEBA7B-CF0C-4804-A8B9-8875FBE30F21}" type="datetimeFigureOut">
              <a:rPr lang="en-US" smtClean="0"/>
              <a:t>13/10/2025</a:t>
            </a:fld>
            <a:endParaRPr lang="en-US"/>
          </a:p>
        </p:txBody>
      </p:sp>
      <p:sp>
        <p:nvSpPr>
          <p:cNvPr id="5" name="Footer Placeholder 4">
            <a:extLst>
              <a:ext uri="{FF2B5EF4-FFF2-40B4-BE49-F238E27FC236}">
                <a16:creationId xmlns="" xmlns:a16="http://schemas.microsoft.com/office/drawing/2014/main" id="{F6876495-1889-8A31-A2F8-7211E2E4B8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60FD00E-DAF1-628E-3E80-2F425950C47C}"/>
              </a:ext>
            </a:extLst>
          </p:cNvPr>
          <p:cNvSpPr>
            <a:spLocks noGrp="1"/>
          </p:cNvSpPr>
          <p:nvPr>
            <p:ph type="sldNum" sz="quarter" idx="12"/>
          </p:nvPr>
        </p:nvSpPr>
        <p:spPr/>
        <p:txBody>
          <a:bodyPr/>
          <a:lstStyle/>
          <a:p>
            <a:fld id="{A1FB7BE8-4919-4A86-B7E0-A6C414CC2A88}" type="slidenum">
              <a:rPr lang="en-US" smtClean="0"/>
              <a:t>‹#›</a:t>
            </a:fld>
            <a:endParaRPr lang="en-US"/>
          </a:p>
        </p:txBody>
      </p:sp>
    </p:spTree>
    <p:extLst>
      <p:ext uri="{BB962C8B-B14F-4D97-AF65-F5344CB8AC3E}">
        <p14:creationId xmlns:p14="http://schemas.microsoft.com/office/powerpoint/2010/main" val="4145095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42D053D5-1F57-FE8B-C300-AE279124D0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CB9798A6-F937-2A19-1F87-08CC882153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15AA7A5-C44B-761B-3C1F-B0D3C26B79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FEBA7B-CF0C-4804-A8B9-8875FBE30F21}" type="datetimeFigureOut">
              <a:rPr lang="en-US" smtClean="0"/>
              <a:t>13/10/2025</a:t>
            </a:fld>
            <a:endParaRPr lang="en-US"/>
          </a:p>
        </p:txBody>
      </p:sp>
      <p:sp>
        <p:nvSpPr>
          <p:cNvPr id="5" name="Footer Placeholder 4">
            <a:extLst>
              <a:ext uri="{FF2B5EF4-FFF2-40B4-BE49-F238E27FC236}">
                <a16:creationId xmlns="" xmlns:a16="http://schemas.microsoft.com/office/drawing/2014/main" id="{7F86FCDA-8810-B6F0-41B3-B056E0CEA4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69586E68-8383-1018-E484-698B5E15FF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B7BE8-4919-4A86-B7E0-A6C414CC2A88}" type="slidenum">
              <a:rPr lang="en-US" smtClean="0"/>
              <a:t>‹#›</a:t>
            </a:fld>
            <a:endParaRPr lang="en-US"/>
          </a:p>
        </p:txBody>
      </p:sp>
    </p:spTree>
    <p:extLst>
      <p:ext uri="{BB962C8B-B14F-4D97-AF65-F5344CB8AC3E}">
        <p14:creationId xmlns:p14="http://schemas.microsoft.com/office/powerpoint/2010/main" val="303488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7A16E7-1120-D792-BA3C-59FA083D1588}"/>
              </a:ext>
            </a:extLst>
          </p:cNvPr>
          <p:cNvSpPr>
            <a:spLocks noGrp="1"/>
          </p:cNvSpPr>
          <p:nvPr>
            <p:ph type="ctrTitle"/>
          </p:nvPr>
        </p:nvSpPr>
        <p:spPr>
          <a:xfrm>
            <a:off x="955965" y="1122363"/>
            <a:ext cx="10446326" cy="2387600"/>
          </a:xfrm>
        </p:spPr>
        <p:txBody>
          <a:bodyPr>
            <a:normAutofit/>
          </a:bodyPr>
          <a:lstStyle/>
          <a:p>
            <a:r>
              <a:rPr lang="en-US" sz="7200" b="1" dirty="0"/>
              <a:t>Unit </a:t>
            </a:r>
            <a:r>
              <a:rPr lang="en-US" sz="7200" b="1"/>
              <a:t>6 </a:t>
            </a:r>
            <a:r>
              <a:rPr lang="en-US" sz="7200" b="1" i="0" u="none" strike="noStrike" baseline="0" smtClean="0"/>
              <a:t>Data </a:t>
            </a:r>
            <a:r>
              <a:rPr lang="en-US" sz="7200" b="1" i="0" u="none" strike="noStrike" baseline="0" dirty="0"/>
              <a:t>Warehousing</a:t>
            </a:r>
            <a:endParaRPr lang="en-US" sz="7200" b="1" dirty="0"/>
          </a:p>
        </p:txBody>
      </p:sp>
      <p:sp>
        <p:nvSpPr>
          <p:cNvPr id="3" name="Subtitle 2">
            <a:extLst>
              <a:ext uri="{FF2B5EF4-FFF2-40B4-BE49-F238E27FC236}">
                <a16:creationId xmlns="" xmlns:a16="http://schemas.microsoft.com/office/drawing/2014/main" id="{07FF3ED6-40ED-0F8E-C0D8-5DB0D2107CD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025750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B3FD5A-A1B7-40A9-A79A-6A99479A92A1}"/>
              </a:ext>
            </a:extLst>
          </p:cNvPr>
          <p:cNvSpPr>
            <a:spLocks noGrp="1"/>
          </p:cNvSpPr>
          <p:nvPr>
            <p:ph type="title"/>
          </p:nvPr>
        </p:nvSpPr>
        <p:spPr>
          <a:xfrm>
            <a:off x="187036" y="157307"/>
            <a:ext cx="10515600" cy="660111"/>
          </a:xfrm>
        </p:spPr>
        <p:txBody>
          <a:bodyPr>
            <a:normAutofit/>
          </a:bodyPr>
          <a:lstStyle/>
          <a:p>
            <a:r>
              <a:rPr lang="en-US" sz="4000" b="1" i="0" u="none" strike="noStrike" baseline="0" dirty="0">
                <a:latin typeface="+mn-lt"/>
              </a:rPr>
              <a:t>Data Warehousing</a:t>
            </a:r>
            <a:endParaRPr lang="en-US" sz="4000" dirty="0">
              <a:latin typeface="+mn-lt"/>
            </a:endParaRPr>
          </a:p>
        </p:txBody>
      </p:sp>
      <p:sp>
        <p:nvSpPr>
          <p:cNvPr id="3" name="Content Placeholder 2">
            <a:extLst>
              <a:ext uri="{FF2B5EF4-FFF2-40B4-BE49-F238E27FC236}">
                <a16:creationId xmlns="" xmlns:a16="http://schemas.microsoft.com/office/drawing/2014/main" id="{3D5D615F-A952-696A-A69C-71CF210F05C1}"/>
              </a:ext>
            </a:extLst>
          </p:cNvPr>
          <p:cNvSpPr>
            <a:spLocks noGrp="1"/>
          </p:cNvSpPr>
          <p:nvPr>
            <p:ph idx="1"/>
          </p:nvPr>
        </p:nvSpPr>
        <p:spPr>
          <a:xfrm>
            <a:off x="187035" y="3796144"/>
            <a:ext cx="11457708" cy="2743201"/>
          </a:xfrm>
        </p:spPr>
        <p:txBody>
          <a:bodyPr>
            <a:normAutofit lnSpcReduction="10000"/>
          </a:bodyPr>
          <a:lstStyle/>
          <a:p>
            <a:pPr algn="just"/>
            <a:r>
              <a:rPr lang="en-US" b="0" i="0" dirty="0">
                <a:solidFill>
                  <a:srgbClr val="222222"/>
                </a:solidFill>
                <a:effectLst/>
              </a:rPr>
              <a:t> A data warehouse is mainly a data management system that’s designed to enable and support business intelligence (BI) activities, particularly analytics. Data warehouses are alleged </a:t>
            </a:r>
            <a:r>
              <a:rPr lang="en-US" b="1" i="0" dirty="0">
                <a:solidFill>
                  <a:srgbClr val="0000CC"/>
                </a:solidFill>
                <a:effectLst/>
              </a:rPr>
              <a:t>to perform queries, cleaning, manipulating, transforming and analyzing the data.</a:t>
            </a:r>
            <a:endParaRPr lang="en-US" b="0" i="0" dirty="0">
              <a:solidFill>
                <a:srgbClr val="222222"/>
              </a:solidFill>
              <a:effectLst/>
            </a:endParaRPr>
          </a:p>
          <a:p>
            <a:pPr algn="just"/>
            <a:r>
              <a:rPr lang="en-US" b="0" i="0" dirty="0">
                <a:solidFill>
                  <a:srgbClr val="222222"/>
                </a:solidFill>
                <a:effectLst/>
              </a:rPr>
              <a:t>A large amount of data in data warehouses comes from numerous sources such that </a:t>
            </a:r>
            <a:r>
              <a:rPr lang="en-US" b="1" i="0" dirty="0">
                <a:solidFill>
                  <a:srgbClr val="0000CC"/>
                </a:solidFill>
                <a:effectLst/>
              </a:rPr>
              <a:t>internal applications like marketing, sales, and finance</a:t>
            </a:r>
            <a:r>
              <a:rPr lang="en-US" b="0" i="0" dirty="0">
                <a:solidFill>
                  <a:srgbClr val="222222"/>
                </a:solidFill>
                <a:effectLst/>
              </a:rPr>
              <a:t>; customer-facing apps</a:t>
            </a:r>
          </a:p>
          <a:p>
            <a:endParaRPr lang="en-US" dirty="0"/>
          </a:p>
        </p:txBody>
      </p:sp>
      <p:sp>
        <p:nvSpPr>
          <p:cNvPr id="6" name="Content Placeholder 2">
            <a:extLst>
              <a:ext uri="{FF2B5EF4-FFF2-40B4-BE49-F238E27FC236}">
                <a16:creationId xmlns="" xmlns:a16="http://schemas.microsoft.com/office/drawing/2014/main" id="{C3D04009-7AA2-EB7C-11F9-0EDC2E4BED64}"/>
              </a:ext>
            </a:extLst>
          </p:cNvPr>
          <p:cNvSpPr txBox="1">
            <a:spLocks/>
          </p:cNvSpPr>
          <p:nvPr/>
        </p:nvSpPr>
        <p:spPr>
          <a:xfrm>
            <a:off x="187036" y="817417"/>
            <a:ext cx="5908963" cy="297872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solidFill>
                  <a:srgbClr val="222222"/>
                </a:solidFill>
              </a:rPr>
              <a:t>A </a:t>
            </a:r>
            <a:r>
              <a:rPr lang="en-US" b="1" dirty="0">
                <a:solidFill>
                  <a:srgbClr val="222222"/>
                </a:solidFill>
              </a:rPr>
              <a:t>Data Warehousing</a:t>
            </a:r>
            <a:r>
              <a:rPr lang="en-US" dirty="0">
                <a:solidFill>
                  <a:srgbClr val="222222"/>
                </a:solidFill>
              </a:rPr>
              <a:t> (DW) is </a:t>
            </a:r>
            <a:r>
              <a:rPr lang="en-US" b="1" dirty="0">
                <a:solidFill>
                  <a:srgbClr val="0000CC"/>
                </a:solidFill>
              </a:rPr>
              <a:t>process for collecting and managing data from varied sources to provide meaningful business insights.</a:t>
            </a:r>
            <a:r>
              <a:rPr lang="en-US" dirty="0">
                <a:solidFill>
                  <a:srgbClr val="222222"/>
                </a:solidFill>
              </a:rPr>
              <a:t> </a:t>
            </a:r>
          </a:p>
          <a:p>
            <a:pPr algn="just"/>
            <a:r>
              <a:rPr lang="en-US" b="0" i="0" dirty="0">
                <a:solidFill>
                  <a:srgbClr val="222222"/>
                </a:solidFill>
                <a:effectLst/>
              </a:rPr>
              <a:t>A Data Warehouse is a </a:t>
            </a:r>
            <a:r>
              <a:rPr lang="en-US" b="1" i="0" dirty="0">
                <a:solidFill>
                  <a:srgbClr val="0000CC"/>
                </a:solidFill>
                <a:effectLst/>
              </a:rPr>
              <a:t>collection of software tools that facilitates analysis of a large set of business data used to help an organization make decisions.</a:t>
            </a:r>
          </a:p>
          <a:p>
            <a:pPr algn="just"/>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8453" y="0"/>
            <a:ext cx="6143547" cy="3438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88321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47A11E-A3CF-FCEC-B8DA-011E6BFBEC56}"/>
              </a:ext>
            </a:extLst>
          </p:cNvPr>
          <p:cNvSpPr>
            <a:spLocks noGrp="1"/>
          </p:cNvSpPr>
          <p:nvPr>
            <p:ph type="title"/>
          </p:nvPr>
        </p:nvSpPr>
        <p:spPr>
          <a:xfrm>
            <a:off x="200891" y="192954"/>
            <a:ext cx="10515600" cy="923348"/>
          </a:xfrm>
        </p:spPr>
        <p:txBody>
          <a:bodyPr>
            <a:normAutofit fontScale="90000"/>
          </a:bodyPr>
          <a:lstStyle/>
          <a:p>
            <a:r>
              <a:rPr lang="en-US" sz="4000" b="1" i="0" dirty="0">
                <a:effectLst/>
                <a:latin typeface="+mn-lt"/>
              </a:rPr>
              <a:t>Why You Need a Data Warehouse?</a:t>
            </a:r>
            <a:br>
              <a:rPr lang="en-US" sz="4000" b="1" i="0" dirty="0">
                <a:effectLst/>
                <a:latin typeface="+mn-lt"/>
              </a:rPr>
            </a:br>
            <a:endParaRPr lang="en-US" sz="4000" dirty="0">
              <a:latin typeface="+mn-lt"/>
            </a:endParaRPr>
          </a:p>
        </p:txBody>
      </p:sp>
      <p:sp>
        <p:nvSpPr>
          <p:cNvPr id="3" name="Content Placeholder 2">
            <a:extLst>
              <a:ext uri="{FF2B5EF4-FFF2-40B4-BE49-F238E27FC236}">
                <a16:creationId xmlns="" xmlns:a16="http://schemas.microsoft.com/office/drawing/2014/main" id="{A2D82963-29BA-FECE-FB10-7FB888C980A3}"/>
              </a:ext>
            </a:extLst>
          </p:cNvPr>
          <p:cNvSpPr>
            <a:spLocks noGrp="1"/>
          </p:cNvSpPr>
          <p:nvPr>
            <p:ph idx="1"/>
          </p:nvPr>
        </p:nvSpPr>
        <p:spPr>
          <a:xfrm>
            <a:off x="200891" y="734292"/>
            <a:ext cx="7239000" cy="5930754"/>
          </a:xfrm>
        </p:spPr>
        <p:txBody>
          <a:bodyPr>
            <a:normAutofit fontScale="92500" lnSpcReduction="10000"/>
          </a:bodyPr>
          <a:lstStyle/>
          <a:p>
            <a:pPr algn="just"/>
            <a:r>
              <a:rPr lang="en-US" b="0" i="0" dirty="0">
                <a:effectLst/>
              </a:rPr>
              <a:t>During the early days, you may be using your regular database to run SQL queries for analytics. But, </a:t>
            </a:r>
            <a:r>
              <a:rPr lang="en-US" b="1" i="0" dirty="0">
                <a:solidFill>
                  <a:srgbClr val="0000CC"/>
                </a:solidFill>
                <a:effectLst/>
              </a:rPr>
              <a:t>with the increase in the size of the data and individuals using the data to perform various analysis, </a:t>
            </a:r>
            <a:r>
              <a:rPr lang="en-US" b="1" i="0" dirty="0">
                <a:solidFill>
                  <a:srgbClr val="FF0000"/>
                </a:solidFill>
                <a:effectLst/>
              </a:rPr>
              <a:t>your regular database becomes extremely slow in query processing.</a:t>
            </a:r>
          </a:p>
          <a:p>
            <a:pPr algn="just"/>
            <a:r>
              <a:rPr lang="en-US" b="0" i="0" dirty="0">
                <a:effectLst/>
              </a:rPr>
              <a:t>This is where companies understood the need for Data Warehouse that on the other hand, is </a:t>
            </a:r>
            <a:r>
              <a:rPr lang="en-US" b="1" i="0" dirty="0">
                <a:solidFill>
                  <a:srgbClr val="0000CC"/>
                </a:solidFill>
                <a:effectLst/>
              </a:rPr>
              <a:t>designed to handle huge volumes of data. It allows you to swiftly Filter, Sort, Aggregate, and Analyze the data.</a:t>
            </a:r>
          </a:p>
          <a:p>
            <a:pPr algn="just"/>
            <a:r>
              <a:rPr lang="en-US" b="0" i="0" dirty="0">
                <a:effectLst/>
              </a:rPr>
              <a:t>It allows </a:t>
            </a:r>
            <a:r>
              <a:rPr lang="en-US" b="1" i="0" dirty="0">
                <a:solidFill>
                  <a:srgbClr val="0000CC"/>
                </a:solidFill>
                <a:effectLst/>
              </a:rPr>
              <a:t>organizations to make quality business decisions.</a:t>
            </a:r>
            <a:r>
              <a:rPr lang="en-US" b="0" i="0" dirty="0">
                <a:effectLst/>
              </a:rPr>
              <a:t> The data warehouse benefits by improving data analytics, </a:t>
            </a:r>
            <a:r>
              <a:rPr lang="en-US" b="1" i="0" dirty="0">
                <a:solidFill>
                  <a:srgbClr val="0000CC"/>
                </a:solidFill>
                <a:effectLst/>
              </a:rPr>
              <a:t>it also helps to gain considerable revenue and the strength to compete more strategically in the market.</a:t>
            </a:r>
          </a:p>
          <a:p>
            <a:endParaRPr lang="en-US" dirty="0"/>
          </a:p>
        </p:txBody>
      </p:sp>
      <p:pic>
        <p:nvPicPr>
          <p:cNvPr id="5" name="Picture 4">
            <a:extLst>
              <a:ext uri="{FF2B5EF4-FFF2-40B4-BE49-F238E27FC236}">
                <a16:creationId xmlns="" xmlns:a16="http://schemas.microsoft.com/office/drawing/2014/main" id="{F269CB20-EFF1-7005-BB09-449D19B78D2F}"/>
              </a:ext>
            </a:extLst>
          </p:cNvPr>
          <p:cNvPicPr>
            <a:picLocks noChangeAspect="1"/>
          </p:cNvPicPr>
          <p:nvPr/>
        </p:nvPicPr>
        <p:blipFill>
          <a:blip r:embed="rId3"/>
          <a:stretch>
            <a:fillRect/>
          </a:stretch>
        </p:blipFill>
        <p:spPr>
          <a:xfrm>
            <a:off x="7786255" y="0"/>
            <a:ext cx="4031673" cy="3720090"/>
          </a:xfrm>
          <a:prstGeom prst="rect">
            <a:avLst/>
          </a:prstGeom>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8752" y="3863662"/>
            <a:ext cx="4286677" cy="2583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555931" y="6243659"/>
            <a:ext cx="5636069" cy="1200329"/>
          </a:xfrm>
          <a:prstGeom prst="rect">
            <a:avLst/>
          </a:prstGeom>
          <a:noFill/>
        </p:spPr>
        <p:txBody>
          <a:bodyPr wrap="square" rtlCol="0">
            <a:spAutoFit/>
          </a:bodyPr>
          <a:lstStyle/>
          <a:p>
            <a:r>
              <a:rPr lang="en-US" b="1" dirty="0">
                <a:solidFill>
                  <a:srgbClr val="FF0000"/>
                </a:solidFill>
              </a:rPr>
              <a:t>A data warehouse can be stored on-premise, in the cloud, or a mixture of the two environments.</a:t>
            </a:r>
          </a:p>
          <a:p>
            <a:r>
              <a:rPr lang="en-US" dirty="0"/>
              <a:t/>
            </a:r>
            <a:br>
              <a:rPr lang="en-US" dirty="0"/>
            </a:br>
            <a:endParaRPr lang="en-US" dirty="0"/>
          </a:p>
        </p:txBody>
      </p:sp>
    </p:spTree>
    <p:extLst>
      <p:ext uri="{BB962C8B-B14F-4D97-AF65-F5344CB8AC3E}">
        <p14:creationId xmlns:p14="http://schemas.microsoft.com/office/powerpoint/2010/main" val="21758616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2031552370"/>
              </p:ext>
            </p:extLst>
          </p:nvPr>
        </p:nvGraphicFramePr>
        <p:xfrm>
          <a:off x="915472" y="1165634"/>
          <a:ext cx="10855818" cy="4762567"/>
        </p:xfrm>
        <a:graphic>
          <a:graphicData uri="http://schemas.openxmlformats.org/drawingml/2006/table">
            <a:tbl>
              <a:tblPr>
                <a:tableStyleId>{616DA210-FB5B-4158-B5E0-FEB733F419BA}</a:tableStyleId>
              </a:tblPr>
              <a:tblGrid>
                <a:gridCol w="5427909"/>
                <a:gridCol w="5427909"/>
              </a:tblGrid>
              <a:tr h="537091">
                <a:tc>
                  <a:txBody>
                    <a:bodyPr/>
                    <a:lstStyle/>
                    <a:p>
                      <a:pPr algn="l" fontAlgn="base"/>
                      <a:r>
                        <a:rPr lang="en-US" sz="1800" b="1" dirty="0" smtClean="0">
                          <a:effectLst/>
                        </a:rPr>
                        <a:t>Database </a:t>
                      </a:r>
                      <a:r>
                        <a:rPr lang="en-US" sz="1800" b="1" dirty="0">
                          <a:effectLst/>
                        </a:rPr>
                        <a:t>System</a:t>
                      </a:r>
                    </a:p>
                  </a:txBody>
                  <a:tcPr marL="95250" marR="95250" marT="95250" marB="95250" anchor="ctr">
                    <a:solidFill>
                      <a:schemeClr val="accent1">
                        <a:lumMod val="40000"/>
                        <a:lumOff val="60000"/>
                      </a:schemeClr>
                    </a:solidFill>
                  </a:tcPr>
                </a:tc>
                <a:tc>
                  <a:txBody>
                    <a:bodyPr/>
                    <a:lstStyle/>
                    <a:p>
                      <a:pPr algn="l" fontAlgn="base"/>
                      <a:r>
                        <a:rPr lang="en-US" sz="1800" b="1" dirty="0">
                          <a:effectLst/>
                        </a:rPr>
                        <a:t>Data Warehouse</a:t>
                      </a:r>
                    </a:p>
                  </a:txBody>
                  <a:tcPr marL="95250" marR="95250" marT="95250" marB="95250" anchor="ctr">
                    <a:solidFill>
                      <a:schemeClr val="accent1">
                        <a:lumMod val="40000"/>
                        <a:lumOff val="60000"/>
                      </a:schemeClr>
                    </a:solidFill>
                  </a:tcPr>
                </a:tc>
              </a:tr>
              <a:tr h="660357">
                <a:tc>
                  <a:txBody>
                    <a:bodyPr/>
                    <a:lstStyle/>
                    <a:p>
                      <a:pPr algn="l" fontAlgn="base"/>
                      <a:r>
                        <a:rPr lang="en-US" sz="2000" b="1" dirty="0">
                          <a:effectLst/>
                        </a:rPr>
                        <a:t>It supports operational processes.</a:t>
                      </a:r>
                    </a:p>
                  </a:txBody>
                  <a:tcPr marL="95250" marR="95250" marT="133350" marB="133350" anchor="ctr"/>
                </a:tc>
                <a:tc>
                  <a:txBody>
                    <a:bodyPr/>
                    <a:lstStyle/>
                    <a:p>
                      <a:pPr algn="l" fontAlgn="base"/>
                      <a:r>
                        <a:rPr lang="en-US" sz="2000" b="1" dirty="0">
                          <a:effectLst/>
                        </a:rPr>
                        <a:t>It supports analysis and performance reporting.</a:t>
                      </a:r>
                    </a:p>
                  </a:txBody>
                  <a:tcPr marL="95250" marR="95250" marT="133350" marB="133350" anchor="ctr"/>
                </a:tc>
              </a:tr>
              <a:tr h="660357">
                <a:tc>
                  <a:txBody>
                    <a:bodyPr/>
                    <a:lstStyle/>
                    <a:p>
                      <a:pPr algn="l" fontAlgn="base"/>
                      <a:r>
                        <a:rPr lang="en-US" sz="2000" b="1" dirty="0">
                          <a:effectLst/>
                        </a:rPr>
                        <a:t>Capture and maintain the data.</a:t>
                      </a:r>
                    </a:p>
                  </a:txBody>
                  <a:tcPr marL="95250" marR="95250" marT="133350" marB="133350" anchor="ctr"/>
                </a:tc>
                <a:tc>
                  <a:txBody>
                    <a:bodyPr/>
                    <a:lstStyle/>
                    <a:p>
                      <a:pPr algn="l" fontAlgn="base"/>
                      <a:r>
                        <a:rPr lang="en-US" sz="2000" b="1">
                          <a:effectLst/>
                        </a:rPr>
                        <a:t>Explore the data.</a:t>
                      </a:r>
                    </a:p>
                  </a:txBody>
                  <a:tcPr marL="95250" marR="95250" marT="133350" marB="133350" anchor="ctr"/>
                </a:tc>
              </a:tr>
              <a:tr h="660357">
                <a:tc>
                  <a:txBody>
                    <a:bodyPr/>
                    <a:lstStyle/>
                    <a:p>
                      <a:pPr algn="l" fontAlgn="base"/>
                      <a:r>
                        <a:rPr lang="en-US" sz="2000" b="1" dirty="0">
                          <a:effectLst/>
                        </a:rPr>
                        <a:t>Current data.</a:t>
                      </a:r>
                    </a:p>
                  </a:txBody>
                  <a:tcPr marL="95250" marR="95250" marT="133350" marB="133350" anchor="ctr"/>
                </a:tc>
                <a:tc>
                  <a:txBody>
                    <a:bodyPr/>
                    <a:lstStyle/>
                    <a:p>
                      <a:pPr algn="l" fontAlgn="base"/>
                      <a:r>
                        <a:rPr lang="en-US" sz="2000" b="1" dirty="0">
                          <a:effectLst/>
                        </a:rPr>
                        <a:t>Multiple years of history.</a:t>
                      </a:r>
                    </a:p>
                  </a:txBody>
                  <a:tcPr marL="95250" marR="95250" marT="133350" marB="133350" anchor="ctr"/>
                </a:tc>
              </a:tr>
              <a:tr h="1012548">
                <a:tc>
                  <a:txBody>
                    <a:bodyPr/>
                    <a:lstStyle/>
                    <a:p>
                      <a:pPr algn="l" fontAlgn="base"/>
                      <a:r>
                        <a:rPr lang="en-US" sz="2000" b="1" dirty="0">
                          <a:effectLst/>
                        </a:rPr>
                        <a:t>Data is balanced within the scope of this one system.</a:t>
                      </a:r>
                    </a:p>
                  </a:txBody>
                  <a:tcPr marL="95250" marR="95250" marT="133350" marB="133350" anchor="ctr"/>
                </a:tc>
                <a:tc>
                  <a:txBody>
                    <a:bodyPr/>
                    <a:lstStyle/>
                    <a:p>
                      <a:pPr algn="l" fontAlgn="base"/>
                      <a:r>
                        <a:rPr lang="en-US" sz="2000" b="1">
                          <a:effectLst/>
                        </a:rPr>
                        <a:t>Data must be integrated and balanced from multiple system.</a:t>
                      </a:r>
                    </a:p>
                  </a:txBody>
                  <a:tcPr marL="95250" marR="95250" marT="133350" marB="133350" anchor="ctr"/>
                </a:tc>
              </a:tr>
              <a:tr h="660357">
                <a:tc>
                  <a:txBody>
                    <a:bodyPr/>
                    <a:lstStyle/>
                    <a:p>
                      <a:pPr algn="l" fontAlgn="base"/>
                      <a:r>
                        <a:rPr lang="en-US" sz="2000" b="1" dirty="0">
                          <a:effectLst/>
                        </a:rPr>
                        <a:t>Data is updated when transaction occurs.</a:t>
                      </a:r>
                    </a:p>
                  </a:txBody>
                  <a:tcPr marL="95250" marR="95250" marT="133350" marB="133350" anchor="ctr"/>
                </a:tc>
                <a:tc>
                  <a:txBody>
                    <a:bodyPr/>
                    <a:lstStyle/>
                    <a:p>
                      <a:pPr algn="l" fontAlgn="base"/>
                      <a:r>
                        <a:rPr lang="en-US" sz="2000" b="1" dirty="0">
                          <a:effectLst/>
                        </a:rPr>
                        <a:t>Data is updated on scheduled processes.</a:t>
                      </a:r>
                    </a:p>
                  </a:txBody>
                  <a:tcPr marL="95250" marR="95250" marT="133350" marB="133350" anchor="ctr"/>
                </a:tc>
              </a:tr>
              <a:tr h="554700">
                <a:tc>
                  <a:txBody>
                    <a:bodyPr/>
                    <a:lstStyle/>
                    <a:p>
                      <a:pPr marL="0" algn="l" defTabSz="914400" rtl="0" eaLnBrk="1" fontAlgn="base" latinLnBrk="0" hangingPunct="1"/>
                      <a:r>
                        <a:rPr lang="en-US" sz="2000" b="1" kern="1200" dirty="0" smtClean="0">
                          <a:solidFill>
                            <a:schemeClr val="tx1"/>
                          </a:solidFill>
                          <a:effectLst/>
                          <a:latin typeface="+mn-lt"/>
                          <a:ea typeface="+mn-ea"/>
                          <a:cs typeface="+mn-cs"/>
                        </a:rPr>
                        <a:t>Varies from about 100 </a:t>
                      </a:r>
                      <a:r>
                        <a:rPr lang="en-US" sz="2000" b="1" kern="1200" dirty="0">
                          <a:solidFill>
                            <a:schemeClr val="tx1"/>
                          </a:solidFill>
                          <a:effectLst/>
                          <a:latin typeface="+mn-lt"/>
                          <a:ea typeface="+mn-ea"/>
                          <a:cs typeface="+mn-cs"/>
                        </a:rPr>
                        <a:t>MB to GB.</a:t>
                      </a:r>
                    </a:p>
                  </a:txBody>
                  <a:tcPr marL="95250" marR="95250" marT="133350" marB="133350" anchor="ctr"/>
                </a:tc>
                <a:tc>
                  <a:txBody>
                    <a:bodyPr/>
                    <a:lstStyle/>
                    <a:p>
                      <a:pPr marL="0" algn="l" defTabSz="914400" rtl="0" eaLnBrk="1" fontAlgn="base" latinLnBrk="0" hangingPunct="1"/>
                      <a:r>
                        <a:rPr lang="en-US" sz="2000" b="1" kern="1200" dirty="0" smtClean="0">
                          <a:solidFill>
                            <a:schemeClr val="tx1"/>
                          </a:solidFill>
                          <a:effectLst/>
                          <a:latin typeface="+mn-lt"/>
                          <a:ea typeface="+mn-ea"/>
                          <a:cs typeface="+mn-cs"/>
                        </a:rPr>
                        <a:t>Varies from about 100 </a:t>
                      </a:r>
                      <a:r>
                        <a:rPr lang="en-US" sz="2000" b="1" kern="1200" dirty="0">
                          <a:solidFill>
                            <a:schemeClr val="tx1"/>
                          </a:solidFill>
                          <a:effectLst/>
                          <a:latin typeface="+mn-lt"/>
                          <a:ea typeface="+mn-ea"/>
                          <a:cs typeface="+mn-cs"/>
                        </a:rPr>
                        <a:t>GB to TB.</a:t>
                      </a:r>
                    </a:p>
                  </a:txBody>
                  <a:tcPr marL="95250" marR="95250" marT="133350" marB="133350" anchor="ctr"/>
                </a:tc>
              </a:tr>
            </a:tbl>
          </a:graphicData>
        </a:graphic>
      </p:graphicFrame>
    </p:spTree>
    <p:extLst>
      <p:ext uri="{BB962C8B-B14F-4D97-AF65-F5344CB8AC3E}">
        <p14:creationId xmlns:p14="http://schemas.microsoft.com/office/powerpoint/2010/main" val="1212550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806" y="-98515"/>
            <a:ext cx="10515600" cy="1325563"/>
          </a:xfrm>
        </p:spPr>
        <p:txBody>
          <a:bodyPr/>
          <a:lstStyle/>
          <a:p>
            <a:r>
              <a:rPr lang="en-US" dirty="0"/>
              <a:t>Benefits of a Data Warehouse</a:t>
            </a:r>
          </a:p>
        </p:txBody>
      </p:sp>
      <p:sp>
        <p:nvSpPr>
          <p:cNvPr id="3" name="Content Placeholder 2"/>
          <p:cNvSpPr>
            <a:spLocks noGrp="1"/>
          </p:cNvSpPr>
          <p:nvPr>
            <p:ph idx="1"/>
          </p:nvPr>
        </p:nvSpPr>
        <p:spPr>
          <a:xfrm>
            <a:off x="631065" y="1094704"/>
            <a:ext cx="10722735" cy="5082259"/>
          </a:xfrm>
        </p:spPr>
        <p:txBody>
          <a:bodyPr>
            <a:normAutofit fontScale="92500" lnSpcReduction="20000"/>
          </a:bodyPr>
          <a:lstStyle/>
          <a:p>
            <a:pPr lvl="0"/>
            <a:r>
              <a:rPr lang="en-US" b="1" dirty="0"/>
              <a:t>Improved business intelligence: </a:t>
            </a:r>
            <a:r>
              <a:rPr lang="en-US" dirty="0"/>
              <a:t>When you integrate multiple sources, you make decisions based on ALL your data.</a:t>
            </a:r>
          </a:p>
          <a:p>
            <a:pPr lvl="0"/>
            <a:r>
              <a:rPr lang="en-US" b="1" dirty="0"/>
              <a:t>Timely access to data: </a:t>
            </a:r>
            <a:r>
              <a:rPr lang="en-US" dirty="0"/>
              <a:t>Quickly access critical data in one centralized location.</a:t>
            </a:r>
          </a:p>
          <a:p>
            <a:pPr lvl="0"/>
            <a:r>
              <a:rPr lang="en-US" b="1" dirty="0"/>
              <a:t>Enhanced data quality and consistency</a:t>
            </a:r>
            <a:r>
              <a:rPr lang="en-US" dirty="0"/>
              <a:t>: Data throughout the organization is standardized and stored in the same format so all departments are making decisions based on uniform data.</a:t>
            </a:r>
          </a:p>
          <a:p>
            <a:pPr lvl="0"/>
            <a:r>
              <a:rPr lang="en-US" b="1" dirty="0"/>
              <a:t>Historical intelligence: </a:t>
            </a:r>
            <a:r>
              <a:rPr lang="en-US" dirty="0"/>
              <a:t>Because a data warehouse stores large amounts of historical data, you can identify trends through year-over-year and month-over-month analysis.</a:t>
            </a:r>
          </a:p>
          <a:p>
            <a:pPr lvl="0"/>
            <a:r>
              <a:rPr lang="en-US" b="1" dirty="0"/>
              <a:t>Quick query response times: </a:t>
            </a:r>
            <a:r>
              <a:rPr lang="en-US" dirty="0"/>
              <a:t>Most data warehouses are modeled, built, and optimized for read access, and that means fast report generation.</a:t>
            </a:r>
          </a:p>
          <a:p>
            <a:pPr lvl="0"/>
            <a:r>
              <a:rPr lang="en-US" b="1" dirty="0"/>
              <a:t>Data mining</a:t>
            </a:r>
            <a:r>
              <a:rPr lang="en-US" dirty="0"/>
              <a:t>: Explore “Big Data” to predict future trends.</a:t>
            </a:r>
          </a:p>
          <a:p>
            <a:pPr lvl="0"/>
            <a:r>
              <a:rPr lang="en-US" b="1" dirty="0"/>
              <a:t>Centralized business logic</a:t>
            </a:r>
            <a:r>
              <a:rPr lang="en-US" dirty="0"/>
              <a:t>: Storing business logic in the data warehouse minimizes the chances of having multiple versions of the truth.</a:t>
            </a:r>
          </a:p>
          <a:p>
            <a:endParaRPr lang="en-US" dirty="0"/>
          </a:p>
        </p:txBody>
      </p:sp>
    </p:spTree>
    <p:extLst>
      <p:ext uri="{BB962C8B-B14F-4D97-AF65-F5344CB8AC3E}">
        <p14:creationId xmlns:p14="http://schemas.microsoft.com/office/powerpoint/2010/main" val="27072315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10736F-6059-5DED-88E9-E1D2C0DA5400}"/>
              </a:ext>
            </a:extLst>
          </p:cNvPr>
          <p:cNvSpPr>
            <a:spLocks noGrp="1"/>
          </p:cNvSpPr>
          <p:nvPr>
            <p:ph type="title"/>
          </p:nvPr>
        </p:nvSpPr>
        <p:spPr/>
        <p:txBody>
          <a:bodyPr/>
          <a:lstStyle/>
          <a:p>
            <a:r>
              <a:rPr lang="en-US" sz="4000" b="1" i="0" dirty="0">
                <a:effectLst/>
                <a:latin typeface="+mn-lt"/>
              </a:rPr>
              <a:t>Characteristics of data warehousing</a:t>
            </a:r>
            <a:r>
              <a:rPr lang="en-US" b="1" i="0" dirty="0">
                <a:solidFill>
                  <a:srgbClr val="000C66"/>
                </a:solidFill>
                <a:effectLst/>
                <a:latin typeface="Poppins" panose="00000500000000000000" pitchFamily="2" charset="0"/>
              </a:rPr>
              <a:t/>
            </a:r>
            <a:br>
              <a:rPr lang="en-US" b="1" i="0" dirty="0">
                <a:solidFill>
                  <a:srgbClr val="000C66"/>
                </a:solidFill>
                <a:effectLst/>
                <a:latin typeface="Poppins" panose="00000500000000000000" pitchFamily="2" charset="0"/>
              </a:rPr>
            </a:br>
            <a:endParaRPr lang="en-US" dirty="0"/>
          </a:p>
        </p:txBody>
      </p:sp>
      <p:sp>
        <p:nvSpPr>
          <p:cNvPr id="3" name="Content Placeholder 2">
            <a:extLst>
              <a:ext uri="{FF2B5EF4-FFF2-40B4-BE49-F238E27FC236}">
                <a16:creationId xmlns="" xmlns:a16="http://schemas.microsoft.com/office/drawing/2014/main" id="{E2B30EEB-7027-97F4-DAB0-A65A5010E3B5}"/>
              </a:ext>
            </a:extLst>
          </p:cNvPr>
          <p:cNvSpPr>
            <a:spLocks noGrp="1"/>
          </p:cNvSpPr>
          <p:nvPr>
            <p:ph idx="1"/>
          </p:nvPr>
        </p:nvSpPr>
        <p:spPr>
          <a:xfrm>
            <a:off x="471055" y="1125030"/>
            <a:ext cx="6913418" cy="5367845"/>
          </a:xfrm>
        </p:spPr>
        <p:txBody>
          <a:bodyPr>
            <a:normAutofit fontScale="55000" lnSpcReduction="20000"/>
          </a:bodyPr>
          <a:lstStyle/>
          <a:p>
            <a:pPr algn="just"/>
            <a:r>
              <a:rPr lang="en-US" sz="3800" b="1" i="0" dirty="0">
                <a:effectLst/>
              </a:rPr>
              <a:t>Subject-Oriented</a:t>
            </a:r>
          </a:p>
          <a:p>
            <a:pPr algn="just"/>
            <a:r>
              <a:rPr lang="en-US" sz="3800" b="0" i="0" dirty="0">
                <a:effectLst/>
              </a:rPr>
              <a:t>A data warehouse target on the modeling and analysis of data for decision-makers. Therefore, data warehouses typically provide a </a:t>
            </a:r>
            <a:r>
              <a:rPr lang="en-US" sz="3800" b="0" i="0" dirty="0">
                <a:solidFill>
                  <a:srgbClr val="FF0000"/>
                </a:solidFill>
                <a:effectLst/>
              </a:rPr>
              <a:t>concise and straightforward view around a particular subject</a:t>
            </a:r>
            <a:r>
              <a:rPr lang="en-US" sz="3800" b="0" i="0" dirty="0">
                <a:effectLst/>
              </a:rPr>
              <a:t>, such as customer, product, or sales, instead of the global organization's ongoing operations.</a:t>
            </a:r>
          </a:p>
          <a:p>
            <a:pPr algn="just"/>
            <a:r>
              <a:rPr lang="en-US" sz="3800" b="1" i="0" dirty="0">
                <a:effectLst/>
              </a:rPr>
              <a:t>Integrated</a:t>
            </a:r>
          </a:p>
          <a:p>
            <a:pPr algn="just"/>
            <a:r>
              <a:rPr lang="en-US" sz="3800" b="0" i="0" dirty="0">
                <a:effectLst/>
              </a:rPr>
              <a:t>In Data Warehouse, integration means the establishment of a common unit of measure for </a:t>
            </a:r>
            <a:r>
              <a:rPr lang="en-US" sz="3800" b="0" i="0" dirty="0">
                <a:solidFill>
                  <a:srgbClr val="FF0000"/>
                </a:solidFill>
                <a:effectLst/>
              </a:rPr>
              <a:t>all similar data from the dissimilar database</a:t>
            </a:r>
          </a:p>
          <a:p>
            <a:pPr algn="just"/>
            <a:r>
              <a:rPr lang="en-US" sz="3800" b="1" i="0" dirty="0">
                <a:effectLst/>
              </a:rPr>
              <a:t>Time-Variant</a:t>
            </a:r>
          </a:p>
          <a:p>
            <a:pPr algn="just"/>
            <a:r>
              <a:rPr lang="en-US" sz="3800" b="0" i="0" dirty="0">
                <a:effectLst/>
              </a:rPr>
              <a:t>It contains an </a:t>
            </a:r>
            <a:r>
              <a:rPr lang="en-US" sz="3800" b="0" i="0" dirty="0">
                <a:solidFill>
                  <a:srgbClr val="FF0000"/>
                </a:solidFill>
                <a:effectLst/>
              </a:rPr>
              <a:t>element of time</a:t>
            </a:r>
            <a:r>
              <a:rPr lang="en-US" sz="3800" b="0" i="0" dirty="0">
                <a:effectLst/>
              </a:rPr>
              <a:t>, explicitly or implicitly.</a:t>
            </a:r>
          </a:p>
          <a:p>
            <a:pPr algn="just"/>
            <a:r>
              <a:rPr lang="en-US" sz="3800" b="1" i="0" dirty="0">
                <a:effectLst/>
              </a:rPr>
              <a:t>Non-volatile</a:t>
            </a:r>
          </a:p>
          <a:p>
            <a:pPr algn="just"/>
            <a:r>
              <a:rPr lang="en-US" sz="3800" b="0" i="0" dirty="0">
                <a:effectLst/>
              </a:rPr>
              <a:t>Also, the data warehouse is non-volatile, meaning that </a:t>
            </a:r>
            <a:r>
              <a:rPr lang="en-US" sz="3800" b="0" i="0" dirty="0">
                <a:solidFill>
                  <a:srgbClr val="FF0000"/>
                </a:solidFill>
                <a:effectLst/>
              </a:rPr>
              <a:t>prior data will not be erased </a:t>
            </a:r>
            <a:r>
              <a:rPr lang="en-US" sz="3800" b="0" i="0" dirty="0">
                <a:effectLst/>
              </a:rPr>
              <a:t>when new data are entered into it</a:t>
            </a:r>
          </a:p>
          <a:p>
            <a:endParaRPr lang="en-US" dirty="0"/>
          </a:p>
        </p:txBody>
      </p:sp>
      <p:pic>
        <p:nvPicPr>
          <p:cNvPr id="11266" name="Picture 2" descr="Characteristics of Data Warehouse">
            <a:extLst>
              <a:ext uri="{FF2B5EF4-FFF2-40B4-BE49-F238E27FC236}">
                <a16:creationId xmlns="" xmlns:a16="http://schemas.microsoft.com/office/drawing/2014/main" id="{27AF43AD-CBAE-0F00-7D40-48196532F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3074" y="1125029"/>
            <a:ext cx="4454236" cy="3724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954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10736F-6059-5DED-88E9-E1D2C0DA5400}"/>
              </a:ext>
            </a:extLst>
          </p:cNvPr>
          <p:cNvSpPr>
            <a:spLocks noGrp="1"/>
          </p:cNvSpPr>
          <p:nvPr>
            <p:ph type="title"/>
          </p:nvPr>
        </p:nvSpPr>
        <p:spPr/>
        <p:txBody>
          <a:bodyPr/>
          <a:lstStyle/>
          <a:p>
            <a:r>
              <a:rPr lang="en-US" sz="4000" b="1" i="0" dirty="0">
                <a:effectLst/>
                <a:latin typeface="+mn-lt"/>
              </a:rPr>
              <a:t>Characteristics of data warehousing</a:t>
            </a:r>
            <a:r>
              <a:rPr lang="en-US" b="1" i="0" dirty="0">
                <a:solidFill>
                  <a:srgbClr val="000C66"/>
                </a:solidFill>
                <a:effectLst/>
                <a:latin typeface="Poppins" panose="00000500000000000000" pitchFamily="2" charset="0"/>
              </a:rPr>
              <a:t/>
            </a:r>
            <a:br>
              <a:rPr lang="en-US" b="1" i="0" dirty="0">
                <a:solidFill>
                  <a:srgbClr val="000C66"/>
                </a:solidFill>
                <a:effectLst/>
                <a:latin typeface="Poppins" panose="00000500000000000000" pitchFamily="2" charset="0"/>
              </a:rPr>
            </a:br>
            <a:endParaRPr lang="en-US" dirty="0"/>
          </a:p>
        </p:txBody>
      </p:sp>
      <p:sp>
        <p:nvSpPr>
          <p:cNvPr id="3" name="Content Placeholder 2">
            <a:extLst>
              <a:ext uri="{FF2B5EF4-FFF2-40B4-BE49-F238E27FC236}">
                <a16:creationId xmlns="" xmlns:a16="http://schemas.microsoft.com/office/drawing/2014/main" id="{E2B30EEB-7027-97F4-DAB0-A65A5010E3B5}"/>
              </a:ext>
            </a:extLst>
          </p:cNvPr>
          <p:cNvSpPr>
            <a:spLocks noGrp="1"/>
          </p:cNvSpPr>
          <p:nvPr>
            <p:ph idx="1"/>
          </p:nvPr>
        </p:nvSpPr>
        <p:spPr>
          <a:xfrm>
            <a:off x="471055" y="1125030"/>
            <a:ext cx="6913418" cy="5367845"/>
          </a:xfrm>
        </p:spPr>
        <p:txBody>
          <a:bodyPr>
            <a:normAutofit/>
          </a:bodyPr>
          <a:lstStyle/>
          <a:p>
            <a:endParaRPr lang="en-US" dirty="0"/>
          </a:p>
        </p:txBody>
      </p:sp>
      <p:pic>
        <p:nvPicPr>
          <p:cNvPr id="12290" name="Picture 2" descr="Data Warehouse">
            <a:extLst>
              <a:ext uri="{FF2B5EF4-FFF2-40B4-BE49-F238E27FC236}">
                <a16:creationId xmlns="" xmlns:a16="http://schemas.microsoft.com/office/drawing/2014/main" id="{BC1A5BD9-95B9-5D5C-4792-D2DB111C0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961" y="1027906"/>
            <a:ext cx="6231948" cy="2764414"/>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Data Warehouse">
            <a:extLst>
              <a:ext uri="{FF2B5EF4-FFF2-40B4-BE49-F238E27FC236}">
                <a16:creationId xmlns="" xmlns:a16="http://schemas.microsoft.com/office/drawing/2014/main" id="{77F3CA69-6B24-EA42-BA0C-3EDF07412A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9521" y="996047"/>
            <a:ext cx="4444279" cy="2828131"/>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Data Warehouse">
            <a:extLst>
              <a:ext uri="{FF2B5EF4-FFF2-40B4-BE49-F238E27FC236}">
                <a16:creationId xmlns="" xmlns:a16="http://schemas.microsoft.com/office/drawing/2014/main" id="{E389329E-F0CC-B399-7404-5BC6CA8088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055" y="3889444"/>
            <a:ext cx="4762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Data Warehouse">
            <a:extLst>
              <a:ext uri="{FF2B5EF4-FFF2-40B4-BE49-F238E27FC236}">
                <a16:creationId xmlns="" xmlns:a16="http://schemas.microsoft.com/office/drawing/2014/main" id="{201E3E71-C957-6D26-DF11-1F9894E2C0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7455" y="4114800"/>
            <a:ext cx="5396345" cy="2475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344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Applications of Data Warehousing</a:t>
            </a:r>
            <a:r>
              <a:rPr lang="en-US" dirty="0"/>
              <a:t> </a:t>
            </a:r>
          </a:p>
        </p:txBody>
      </p:sp>
      <p:sp>
        <p:nvSpPr>
          <p:cNvPr id="3" name="Content Placeholder 2"/>
          <p:cNvSpPr>
            <a:spLocks noGrp="1"/>
          </p:cNvSpPr>
          <p:nvPr>
            <p:ph idx="1"/>
          </p:nvPr>
        </p:nvSpPr>
        <p:spPr/>
        <p:txBody>
          <a:bodyPr>
            <a:normAutofit fontScale="92500" lnSpcReduction="20000"/>
          </a:bodyPr>
          <a:lstStyle/>
          <a:p>
            <a:pPr fontAlgn="base"/>
            <a:r>
              <a:rPr lang="en-US" dirty="0" smtClean="0"/>
              <a:t>Data </a:t>
            </a:r>
            <a:r>
              <a:rPr lang="en-US" dirty="0"/>
              <a:t>Warehousing can be applied anywhere where we have a huge amount of data and we want to see statistical results that help in decision making. </a:t>
            </a:r>
            <a:br>
              <a:rPr lang="en-US" dirty="0"/>
            </a:br>
            <a:r>
              <a:rPr lang="en-US" dirty="0"/>
              <a:t> </a:t>
            </a:r>
          </a:p>
          <a:p>
            <a:pPr fontAlgn="base"/>
            <a:r>
              <a:rPr lang="en-US" b="1" dirty="0"/>
              <a:t>Social Media Websites:</a:t>
            </a:r>
            <a:r>
              <a:rPr lang="en-US" dirty="0"/>
              <a:t> The social networking websites like Facebook, Twitter, </a:t>
            </a:r>
            <a:r>
              <a:rPr lang="en-US" dirty="0" err="1"/>
              <a:t>Linkedin</a:t>
            </a:r>
            <a:r>
              <a:rPr lang="en-US" dirty="0"/>
              <a:t>, etc. are based on analyzing large data sets. These sites gather data related to members, groups, locations, etc., and store it in a single central repository. Being a large amount of data, Data Warehouse is needed for implementing the same.</a:t>
            </a:r>
          </a:p>
          <a:p>
            <a:pPr fontAlgn="base"/>
            <a:r>
              <a:rPr lang="en-US" b="1" dirty="0"/>
              <a:t>Banking: </a:t>
            </a:r>
            <a:r>
              <a:rPr lang="en-US" dirty="0"/>
              <a:t>Most of the banks these days use warehouses to see the spending patterns of account/cardholders. They use this to provide them with special offers, deals, etc.</a:t>
            </a:r>
          </a:p>
          <a:p>
            <a:pPr fontAlgn="base"/>
            <a:r>
              <a:rPr lang="en-US" b="1" dirty="0"/>
              <a:t>Government:</a:t>
            </a:r>
            <a:r>
              <a:rPr lang="en-US" dirty="0"/>
              <a:t> Government uses a data warehouse to store and analyze tax payments which are used to detect tax thefts.</a:t>
            </a:r>
          </a:p>
          <a:p>
            <a:endParaRPr lang="en-US" dirty="0"/>
          </a:p>
        </p:txBody>
      </p:sp>
    </p:spTree>
    <p:extLst>
      <p:ext uri="{BB962C8B-B14F-4D97-AF65-F5344CB8AC3E}">
        <p14:creationId xmlns:p14="http://schemas.microsoft.com/office/powerpoint/2010/main" val="32325865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422564" y="650407"/>
            <a:ext cx="10515600" cy="1489869"/>
          </a:xfrm>
        </p:spPr>
        <p:txBody>
          <a:bodyPr>
            <a:normAutofit fontScale="85000" lnSpcReduction="20000"/>
          </a:bodyPr>
          <a:lstStyle/>
          <a:p>
            <a:pPr algn="just"/>
            <a:r>
              <a:rPr lang="en-US" b="1" i="0" dirty="0">
                <a:solidFill>
                  <a:srgbClr val="0000CC"/>
                </a:solidFill>
                <a:effectLst/>
              </a:rPr>
              <a:t>The architecture of the data warehouse mainly consists of the proper arrangement of its elements, to build an efficient data warehouse with software and hardware components. </a:t>
            </a:r>
            <a:r>
              <a:rPr lang="en-US" b="0" i="0" dirty="0">
                <a:solidFill>
                  <a:srgbClr val="222222"/>
                </a:solidFill>
                <a:effectLst/>
              </a:rPr>
              <a:t>The elements and components may vary based on the requirement of organizations. All of these depend on the organization’s circumstances.</a:t>
            </a:r>
            <a:endParaRPr lang="en-US" dirty="0"/>
          </a:p>
        </p:txBody>
      </p:sp>
      <p:pic>
        <p:nvPicPr>
          <p:cNvPr id="3074" name="Picture 2" descr="Data warehouse architecture">
            <a:extLst>
              <a:ext uri="{FF2B5EF4-FFF2-40B4-BE49-F238E27FC236}">
                <a16:creationId xmlns="" xmlns:a16="http://schemas.microsoft.com/office/drawing/2014/main" id="{DA3E6A36-FC12-A2D2-F89E-D82DB569B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382" y="2098458"/>
            <a:ext cx="10099964" cy="4553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727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3" y="3768437"/>
            <a:ext cx="11725275" cy="2632364"/>
          </a:xfrm>
        </p:spPr>
        <p:txBody>
          <a:bodyPr>
            <a:normAutofit fontScale="92500" lnSpcReduction="20000"/>
          </a:bodyPr>
          <a:lstStyle/>
          <a:p>
            <a:pPr algn="just">
              <a:buFont typeface="Arial" panose="020B0604020202020204" pitchFamily="34" charset="0"/>
              <a:buChar char="•"/>
            </a:pPr>
            <a:r>
              <a:rPr lang="en-US" b="1" i="0" dirty="0">
                <a:solidFill>
                  <a:srgbClr val="222222"/>
                </a:solidFill>
                <a:effectLst/>
              </a:rPr>
              <a:t>Internal Data:</a:t>
            </a:r>
            <a:r>
              <a:rPr lang="en-US" b="0" i="0" dirty="0">
                <a:solidFill>
                  <a:srgbClr val="222222"/>
                </a:solidFill>
                <a:effectLst/>
              </a:rPr>
              <a:t> In every organization, the consumer keeps their “private” </a:t>
            </a:r>
            <a:r>
              <a:rPr lang="en-US" b="1" i="0" dirty="0">
                <a:solidFill>
                  <a:srgbClr val="0000CC"/>
                </a:solidFill>
                <a:effectLst/>
              </a:rPr>
              <a:t>spreadsheets, reports, client profiles, and generally even department databases. </a:t>
            </a:r>
          </a:p>
          <a:p>
            <a:pPr algn="just">
              <a:buFont typeface="Arial" panose="020B0604020202020204" pitchFamily="34" charset="0"/>
              <a:buChar char="•"/>
            </a:pPr>
            <a:r>
              <a:rPr lang="en-US" b="1" i="0" dirty="0">
                <a:solidFill>
                  <a:srgbClr val="222222"/>
                </a:solidFill>
                <a:effectLst/>
              </a:rPr>
              <a:t>Operational System data:</a:t>
            </a:r>
            <a:r>
              <a:rPr lang="en-US" b="0" i="0" dirty="0">
                <a:solidFill>
                  <a:srgbClr val="222222"/>
                </a:solidFill>
                <a:effectLst/>
              </a:rPr>
              <a:t> Operational systems are principally meant to run the business. In each operation system, we </a:t>
            </a:r>
            <a:r>
              <a:rPr lang="en-US" b="1" i="0" dirty="0">
                <a:solidFill>
                  <a:srgbClr val="0000CC"/>
                </a:solidFill>
                <a:effectLst/>
              </a:rPr>
              <a:t>periodically take the old data and store it in achieved files.</a:t>
            </a:r>
          </a:p>
          <a:p>
            <a:pPr algn="just">
              <a:buFont typeface="Arial" panose="020B0604020202020204" pitchFamily="34" charset="0"/>
              <a:buChar char="•"/>
            </a:pPr>
            <a:r>
              <a:rPr lang="en-US" b="1" i="0" dirty="0">
                <a:solidFill>
                  <a:srgbClr val="222222"/>
                </a:solidFill>
                <a:effectLst/>
              </a:rPr>
              <a:t>Flat files:</a:t>
            </a:r>
            <a:r>
              <a:rPr lang="en-US" b="0" i="0" dirty="0">
                <a:solidFill>
                  <a:srgbClr val="222222"/>
                </a:solidFill>
                <a:effectLst/>
              </a:rPr>
              <a:t> A flat file is nothing but a </a:t>
            </a:r>
            <a:r>
              <a:rPr lang="en-US" b="1" i="0" dirty="0">
                <a:solidFill>
                  <a:srgbClr val="0000CC"/>
                </a:solidFill>
                <a:effectLst/>
              </a:rPr>
              <a:t>text database that stores data in a plain text format. </a:t>
            </a:r>
            <a:r>
              <a:rPr lang="en-US" b="0" i="0" dirty="0">
                <a:solidFill>
                  <a:srgbClr val="222222"/>
                </a:solidFill>
                <a:effectLst/>
              </a:rPr>
              <a:t>Flat files generally are text files that have all data processing and structure markup removed. A flat file contains a table with a single record per line.</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2" y="650407"/>
            <a:ext cx="9258299" cy="28832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1" i="0" dirty="0">
                <a:solidFill>
                  <a:srgbClr val="222222"/>
                </a:solidFill>
                <a:effectLst/>
              </a:rPr>
              <a:t>1. </a:t>
            </a:r>
            <a:r>
              <a:rPr lang="en-US" sz="2400" b="1" i="0" dirty="0">
                <a:solidFill>
                  <a:srgbClr val="FF0000"/>
                </a:solidFill>
                <a:effectLst/>
              </a:rPr>
              <a:t>Source Data Component:</a:t>
            </a:r>
            <a:endParaRPr lang="en-US" sz="2400" b="0" i="0" dirty="0">
              <a:solidFill>
                <a:srgbClr val="FF0000"/>
              </a:solidFill>
              <a:effectLst/>
            </a:endParaRPr>
          </a:p>
          <a:p>
            <a:pPr algn="just"/>
            <a:r>
              <a:rPr lang="en-US" sz="2400" b="0" i="0" dirty="0">
                <a:solidFill>
                  <a:srgbClr val="222222"/>
                </a:solidFill>
                <a:effectLst/>
              </a:rPr>
              <a:t>In the Data Warehouse, the source data comes from different places. They are group into four categories:</a:t>
            </a:r>
          </a:p>
          <a:p>
            <a:pPr algn="just">
              <a:buFont typeface="Arial" panose="020B0604020202020204" pitchFamily="34" charset="0"/>
              <a:buChar char="•"/>
            </a:pPr>
            <a:r>
              <a:rPr lang="en-US" sz="2400" b="1" i="0" dirty="0">
                <a:solidFill>
                  <a:srgbClr val="222222"/>
                </a:solidFill>
                <a:effectLst/>
              </a:rPr>
              <a:t>External Data:</a:t>
            </a:r>
            <a:r>
              <a:rPr lang="en-US" sz="2400" b="0" i="0" dirty="0">
                <a:solidFill>
                  <a:srgbClr val="222222"/>
                </a:solidFill>
                <a:effectLst/>
              </a:rPr>
              <a:t> For data gathering, </a:t>
            </a:r>
            <a:r>
              <a:rPr lang="en-US" sz="2400" b="1" i="0" dirty="0">
                <a:solidFill>
                  <a:srgbClr val="0000CC"/>
                </a:solidFill>
                <a:effectLst/>
              </a:rPr>
              <a:t>most of the executives and data analysts rely on information coming from external sources </a:t>
            </a:r>
            <a:r>
              <a:rPr lang="en-US" sz="2400" b="0" i="0" dirty="0">
                <a:solidFill>
                  <a:srgbClr val="222222"/>
                </a:solidFill>
                <a:effectLst/>
              </a:rPr>
              <a:t>for a numerous amount of the information they use. They use statistical features associated with their organization that is brought out by some external sources and department.</a:t>
            </a:r>
          </a:p>
        </p:txBody>
      </p:sp>
      <p:pic>
        <p:nvPicPr>
          <p:cNvPr id="8" name="Picture 7">
            <a:extLst>
              <a:ext uri="{FF2B5EF4-FFF2-40B4-BE49-F238E27FC236}">
                <a16:creationId xmlns="" xmlns:a16="http://schemas.microsoft.com/office/drawing/2014/main" id="{693E8BBD-25E6-9B41-B61C-7A2460214CAD}"/>
              </a:ext>
            </a:extLst>
          </p:cNvPr>
          <p:cNvPicPr>
            <a:picLocks noChangeAspect="1"/>
          </p:cNvPicPr>
          <p:nvPr/>
        </p:nvPicPr>
        <p:blipFill>
          <a:blip r:embed="rId2"/>
          <a:stretch>
            <a:fillRect/>
          </a:stretch>
        </p:blipFill>
        <p:spPr>
          <a:xfrm>
            <a:off x="9491662" y="759835"/>
            <a:ext cx="2466975" cy="1415329"/>
          </a:xfrm>
          <a:prstGeom prst="rect">
            <a:avLst/>
          </a:prstGeom>
        </p:spPr>
      </p:pic>
    </p:spTree>
    <p:extLst>
      <p:ext uri="{BB962C8B-B14F-4D97-AF65-F5344CB8AC3E}">
        <p14:creationId xmlns:p14="http://schemas.microsoft.com/office/powerpoint/2010/main" val="2689971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3" y="4125406"/>
            <a:ext cx="11725275" cy="2526289"/>
          </a:xfrm>
        </p:spPr>
        <p:txBody>
          <a:bodyPr>
            <a:normAutofit fontScale="85000" lnSpcReduction="20000"/>
          </a:bodyPr>
          <a:lstStyle/>
          <a:p>
            <a:pPr algn="just">
              <a:buFont typeface="Arial" panose="020B0604020202020204" pitchFamily="34" charset="0"/>
              <a:buChar char="•"/>
            </a:pPr>
            <a:r>
              <a:rPr lang="en-US" b="1" i="0" dirty="0">
                <a:solidFill>
                  <a:srgbClr val="222222"/>
                </a:solidFill>
                <a:effectLst/>
              </a:rPr>
              <a:t>Data Extraction:</a:t>
            </a:r>
            <a:r>
              <a:rPr lang="en-US" b="0" i="0" dirty="0">
                <a:solidFill>
                  <a:srgbClr val="222222"/>
                </a:solidFill>
                <a:effectLst/>
              </a:rPr>
              <a:t> This stage </a:t>
            </a:r>
            <a:r>
              <a:rPr lang="en-US" b="1" i="0" dirty="0">
                <a:solidFill>
                  <a:srgbClr val="0000CC"/>
                </a:solidFill>
                <a:effectLst/>
              </a:rPr>
              <a:t>handles various data sources</a:t>
            </a:r>
            <a:r>
              <a:rPr lang="en-US" b="0" i="0" dirty="0">
                <a:solidFill>
                  <a:srgbClr val="222222"/>
                </a:solidFill>
                <a:effectLst/>
              </a:rPr>
              <a:t>. Data analysts should employ suitable techniques for every data source.</a:t>
            </a:r>
          </a:p>
          <a:p>
            <a:pPr algn="just">
              <a:buFont typeface="Arial" panose="020B0604020202020204" pitchFamily="34" charset="0"/>
              <a:buChar char="•"/>
            </a:pPr>
            <a:r>
              <a:rPr lang="en-US" b="1" i="0" dirty="0">
                <a:solidFill>
                  <a:srgbClr val="222222"/>
                </a:solidFill>
                <a:effectLst/>
              </a:rPr>
              <a:t>Data Transformation:</a:t>
            </a:r>
            <a:r>
              <a:rPr lang="en-US" b="0" i="0" dirty="0">
                <a:solidFill>
                  <a:srgbClr val="222222"/>
                </a:solidFill>
                <a:effectLst/>
              </a:rPr>
              <a:t> We tend to perform many individual tasks as a part of information transformation. First, we tend to </a:t>
            </a:r>
            <a:r>
              <a:rPr lang="en-US" b="1" i="0" dirty="0">
                <a:solidFill>
                  <a:srgbClr val="0000CC"/>
                </a:solidFill>
                <a:effectLst/>
              </a:rPr>
              <a:t>clean the info extracted from every source of data. </a:t>
            </a:r>
            <a:r>
              <a:rPr lang="en-US" b="0" i="0" dirty="0">
                <a:solidFill>
                  <a:srgbClr val="222222"/>
                </a:solidFill>
                <a:effectLst/>
              </a:rPr>
              <a:t>Once the data transformation performs ends, we’ve got a set of integrated information that’s </a:t>
            </a:r>
            <a:r>
              <a:rPr lang="en-US" b="1" i="0" dirty="0">
                <a:solidFill>
                  <a:srgbClr val="0000CC"/>
                </a:solidFill>
                <a:effectLst/>
              </a:rPr>
              <a:t>clean, standardized, and summarized.</a:t>
            </a:r>
          </a:p>
          <a:p>
            <a:pPr algn="just">
              <a:buFont typeface="Arial" panose="020B0604020202020204" pitchFamily="34" charset="0"/>
              <a:buChar char="•"/>
            </a:pPr>
            <a:r>
              <a:rPr lang="en-US" b="1" i="0" dirty="0">
                <a:solidFill>
                  <a:srgbClr val="222222"/>
                </a:solidFill>
                <a:effectLst/>
              </a:rPr>
              <a:t>Data Loading:</a:t>
            </a:r>
            <a:r>
              <a:rPr lang="en-US" b="0" i="0" dirty="0">
                <a:solidFill>
                  <a:srgbClr val="222222"/>
                </a:solidFill>
                <a:effectLst/>
              </a:rPr>
              <a:t> When we complete the structure and construction of the data warehouse we do the </a:t>
            </a:r>
            <a:r>
              <a:rPr lang="en-US" b="1" i="0" dirty="0">
                <a:solidFill>
                  <a:srgbClr val="0000CC"/>
                </a:solidFill>
                <a:effectLst/>
              </a:rPr>
              <a:t>initial loading of the data into the data warehouse storage. </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2" y="650408"/>
            <a:ext cx="11626129" cy="21205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1" i="0" dirty="0">
                <a:solidFill>
                  <a:srgbClr val="222222"/>
                </a:solidFill>
                <a:effectLst/>
              </a:rPr>
              <a:t>2. </a:t>
            </a:r>
            <a:r>
              <a:rPr lang="en-US" sz="2400" b="1" i="0" dirty="0">
                <a:solidFill>
                  <a:srgbClr val="FF0000"/>
                </a:solidFill>
                <a:effectLst/>
              </a:rPr>
              <a:t>Data Staging:</a:t>
            </a:r>
            <a:r>
              <a:rPr lang="en-US" sz="2400" dirty="0">
                <a:solidFill>
                  <a:srgbClr val="FF0000"/>
                </a:solidFill>
              </a:rPr>
              <a:t> </a:t>
            </a:r>
            <a:r>
              <a:rPr lang="en-US" sz="2400" b="0" i="0" dirty="0">
                <a:solidFill>
                  <a:srgbClr val="222222"/>
                </a:solidFill>
                <a:effectLst/>
              </a:rPr>
              <a:t>After the data is extracted from various sources, now it’s time to prepare the data files for storing in the data warehouse. The extracted data collected from various sources must be transformed and made ready in a format that is suitable to be saved in the data warehouse for querying and analysis. </a:t>
            </a:r>
          </a:p>
        </p:txBody>
      </p:sp>
      <p:pic>
        <p:nvPicPr>
          <p:cNvPr id="9" name="Picture 8">
            <a:extLst>
              <a:ext uri="{FF2B5EF4-FFF2-40B4-BE49-F238E27FC236}">
                <a16:creationId xmlns="" xmlns:a16="http://schemas.microsoft.com/office/drawing/2014/main" id="{635A7297-F33A-C967-587E-83542D644E1E}"/>
              </a:ext>
            </a:extLst>
          </p:cNvPr>
          <p:cNvPicPr>
            <a:picLocks noChangeAspect="1"/>
          </p:cNvPicPr>
          <p:nvPr/>
        </p:nvPicPr>
        <p:blipFill>
          <a:blip r:embed="rId3"/>
          <a:stretch>
            <a:fillRect/>
          </a:stretch>
        </p:blipFill>
        <p:spPr>
          <a:xfrm>
            <a:off x="1421823" y="2119745"/>
            <a:ext cx="8470322" cy="1828799"/>
          </a:xfrm>
          <a:prstGeom prst="rect">
            <a:avLst/>
          </a:prstGeom>
        </p:spPr>
      </p:pic>
    </p:spTree>
    <p:extLst>
      <p:ext uri="{BB962C8B-B14F-4D97-AF65-F5344CB8AC3E}">
        <p14:creationId xmlns:p14="http://schemas.microsoft.com/office/powerpoint/2010/main" val="2675385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
            <a:ext cx="6095998" cy="6465195"/>
          </a:xfrm>
        </p:spPr>
        <p:txBody>
          <a:bodyPr>
            <a:normAutofit lnSpcReduction="10000"/>
          </a:bodyPr>
          <a:lstStyle/>
          <a:p>
            <a:endParaRPr lang="en-US" dirty="0"/>
          </a:p>
          <a:p>
            <a:r>
              <a:rPr lang="en-US" dirty="0"/>
              <a:t>In </a:t>
            </a:r>
            <a:r>
              <a:rPr lang="en-US" dirty="0" smtClean="0"/>
              <a:t>this example</a:t>
            </a:r>
            <a:r>
              <a:rPr lang="en-US" dirty="0"/>
              <a:t>, there are three different application labeled A, B and C. Information stored in these applications are Gender, Date, and Balance. However, each application’s data is stored different way.</a:t>
            </a:r>
          </a:p>
          <a:p>
            <a:pPr lvl="0"/>
            <a:r>
              <a:rPr lang="en-US" dirty="0"/>
              <a:t>In Application A gender field store logical values like M or F</a:t>
            </a:r>
          </a:p>
          <a:p>
            <a:pPr lvl="0"/>
            <a:r>
              <a:rPr lang="en-US" dirty="0"/>
              <a:t>In Application B gender field is a numerical value,</a:t>
            </a:r>
          </a:p>
          <a:p>
            <a:pPr lvl="0"/>
            <a:r>
              <a:rPr lang="en-US" dirty="0"/>
              <a:t>In Application C application, gender field stored in the form of a character value.</a:t>
            </a:r>
          </a:p>
          <a:p>
            <a:pPr lvl="0"/>
            <a:r>
              <a:rPr lang="en-US" dirty="0"/>
              <a:t>Same is the case with Date and balance</a:t>
            </a:r>
          </a:p>
          <a:p>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347184"/>
            <a:ext cx="5934075" cy="3390900"/>
          </a:xfrm>
          <a:prstGeom prst="rect">
            <a:avLst/>
          </a:prstGeom>
          <a:noFill/>
          <a:ln>
            <a:noFill/>
          </a:ln>
        </p:spPr>
      </p:pic>
    </p:spTree>
    <p:extLst>
      <p:ext uri="{BB962C8B-B14F-4D97-AF65-F5344CB8AC3E}">
        <p14:creationId xmlns:p14="http://schemas.microsoft.com/office/powerpoint/2010/main" val="2054573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305" y="128790"/>
            <a:ext cx="11745532" cy="6729210"/>
          </a:xfrm>
        </p:spPr>
        <p:txBody>
          <a:bodyPr>
            <a:normAutofit fontScale="25000" lnSpcReduction="20000"/>
          </a:bodyPr>
          <a:lstStyle/>
          <a:p>
            <a:r>
              <a:rPr lang="en-US" sz="12800" b="1" dirty="0" smtClean="0"/>
              <a:t>To </a:t>
            </a:r>
            <a:r>
              <a:rPr lang="en-US" sz="12800" b="1" dirty="0"/>
              <a:t>integrate heterogeneous databases, we have two approaches −</a:t>
            </a:r>
          </a:p>
          <a:p>
            <a:pPr lvl="0" algn="just"/>
            <a:r>
              <a:rPr lang="en-US" sz="8000" b="1" dirty="0"/>
              <a:t>Query-driven Approach</a:t>
            </a:r>
          </a:p>
          <a:p>
            <a:pPr lvl="0" algn="just"/>
            <a:r>
              <a:rPr lang="en-US" sz="8000" b="1" dirty="0"/>
              <a:t>Update-driven Approach</a:t>
            </a:r>
          </a:p>
          <a:p>
            <a:r>
              <a:rPr lang="en-US" sz="8000" b="1" dirty="0">
                <a:solidFill>
                  <a:srgbClr val="FF0000"/>
                </a:solidFill>
              </a:rPr>
              <a:t>Query-Driven Approach</a:t>
            </a:r>
          </a:p>
          <a:p>
            <a:pPr algn="just"/>
            <a:r>
              <a:rPr lang="en-US" sz="8000" dirty="0"/>
              <a:t>This is the traditional approach to integrate heterogeneous databases. This approach was used to build wrappers and integrators on top of multiple heterogeneous databases. These integrators are also known as mediators.</a:t>
            </a:r>
          </a:p>
          <a:p>
            <a:pPr algn="just"/>
            <a:r>
              <a:rPr lang="en-US" sz="8000" b="1" dirty="0"/>
              <a:t>Process of Query-Driven Approach</a:t>
            </a:r>
          </a:p>
          <a:p>
            <a:pPr lvl="0" algn="just"/>
            <a:r>
              <a:rPr lang="en-US" sz="8000" dirty="0"/>
              <a:t>When a query is issued to a client side, a metadata dictionary translates the query into an appropriate form for individual heterogeneous sites involved.</a:t>
            </a:r>
          </a:p>
          <a:p>
            <a:pPr lvl="0" algn="just"/>
            <a:r>
              <a:rPr lang="en-US" sz="8000" dirty="0"/>
              <a:t>Now these queries are mapped and sent to the local query processor.</a:t>
            </a:r>
          </a:p>
          <a:p>
            <a:pPr lvl="0" algn="just"/>
            <a:r>
              <a:rPr lang="en-US" sz="8000" dirty="0"/>
              <a:t>The results from heterogeneous sites are integrated into a global answer set.</a:t>
            </a:r>
          </a:p>
          <a:p>
            <a:pPr algn="just"/>
            <a:r>
              <a:rPr lang="en-US" sz="8000" b="1" dirty="0"/>
              <a:t>Disadvantages</a:t>
            </a:r>
          </a:p>
          <a:p>
            <a:pPr lvl="0" algn="just"/>
            <a:r>
              <a:rPr lang="en-US" sz="8000" dirty="0"/>
              <a:t>Query-driven approach needs complex integration and filtering processes.</a:t>
            </a:r>
          </a:p>
          <a:p>
            <a:pPr lvl="0" algn="just"/>
            <a:r>
              <a:rPr lang="en-US" sz="8000" dirty="0"/>
              <a:t>This approach is very inefficient.</a:t>
            </a:r>
          </a:p>
          <a:p>
            <a:pPr lvl="0" algn="just"/>
            <a:r>
              <a:rPr lang="en-US" sz="8000" dirty="0"/>
              <a:t>It is very expensive for frequent </a:t>
            </a:r>
            <a:r>
              <a:rPr lang="en-US" sz="8000" dirty="0" smtClean="0"/>
              <a:t>queries and </a:t>
            </a:r>
            <a:r>
              <a:rPr lang="en-US" sz="8000" dirty="0"/>
              <a:t>for queries that require aggregations</a:t>
            </a:r>
          </a:p>
          <a:p>
            <a:r>
              <a:rPr lang="en-US" sz="8000" b="1" dirty="0" smtClean="0">
                <a:solidFill>
                  <a:srgbClr val="FF0000"/>
                </a:solidFill>
              </a:rPr>
              <a:t>Update-Driven </a:t>
            </a:r>
            <a:r>
              <a:rPr lang="en-US" sz="8000" b="1" dirty="0">
                <a:solidFill>
                  <a:srgbClr val="FF0000"/>
                </a:solidFill>
              </a:rPr>
              <a:t>Approach</a:t>
            </a:r>
          </a:p>
          <a:p>
            <a:pPr algn="just"/>
            <a:r>
              <a:rPr lang="en-US" sz="8000" dirty="0"/>
              <a:t>This is an alternative to the traditional approach. Today's data warehouse systems follow update-driven approach rather than the traditional approach discussed earlier. In update-driven approach, the information from multiple heterogeneous sources are integrated in advance and are stored in a warehouse. This information is available for direct querying and analysis.</a:t>
            </a:r>
          </a:p>
          <a:p>
            <a:r>
              <a:rPr lang="en-US" sz="5100" dirty="0"/>
              <a:t> </a:t>
            </a:r>
          </a:p>
          <a:p>
            <a:endParaRPr lang="en-US" dirty="0"/>
          </a:p>
        </p:txBody>
      </p:sp>
    </p:spTree>
    <p:extLst>
      <p:ext uri="{BB962C8B-B14F-4D97-AF65-F5344CB8AC3E}">
        <p14:creationId xmlns:p14="http://schemas.microsoft.com/office/powerpoint/2010/main" val="1100787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1" y="2714732"/>
            <a:ext cx="11725275" cy="3492860"/>
          </a:xfrm>
        </p:spPr>
        <p:txBody>
          <a:bodyPr>
            <a:normAutofit lnSpcReduction="10000"/>
          </a:bodyPr>
          <a:lstStyle/>
          <a:p>
            <a:pPr algn="just">
              <a:buFont typeface="Arial" panose="020B0604020202020204" pitchFamily="34" charset="0"/>
              <a:buChar char="•"/>
            </a:pPr>
            <a:r>
              <a:rPr lang="en-US" b="1" i="0" dirty="0">
                <a:solidFill>
                  <a:srgbClr val="222222"/>
                </a:solidFill>
                <a:effectLst/>
              </a:rPr>
              <a:t>Metadata:</a:t>
            </a:r>
            <a:r>
              <a:rPr lang="en-US" b="0" i="0" dirty="0">
                <a:solidFill>
                  <a:srgbClr val="222222"/>
                </a:solidFill>
                <a:effectLst/>
              </a:rPr>
              <a:t> </a:t>
            </a:r>
            <a:r>
              <a:rPr lang="en-US" b="1" i="0" dirty="0">
                <a:solidFill>
                  <a:srgbClr val="0000CC"/>
                </a:solidFill>
                <a:effectLst/>
              </a:rPr>
              <a:t>Metadata means data about data</a:t>
            </a:r>
            <a:r>
              <a:rPr lang="en-US" b="0" i="0" dirty="0">
                <a:solidFill>
                  <a:srgbClr val="222222"/>
                </a:solidFill>
                <a:effectLst/>
              </a:rPr>
              <a:t> i.e. it summarizes basic details regarding data, creating findings &amp; operating with explicit instances of data.</a:t>
            </a:r>
          </a:p>
          <a:p>
            <a:pPr algn="just">
              <a:buFont typeface="Arial" panose="020B0604020202020204" pitchFamily="34" charset="0"/>
              <a:buChar char="•"/>
            </a:pPr>
            <a:r>
              <a:rPr lang="en-US" b="1" i="0" dirty="0">
                <a:solidFill>
                  <a:srgbClr val="222222"/>
                </a:solidFill>
                <a:effectLst/>
              </a:rPr>
              <a:t>Raw Data:</a:t>
            </a:r>
            <a:r>
              <a:rPr lang="en-US" b="0" i="0" dirty="0">
                <a:solidFill>
                  <a:srgbClr val="222222"/>
                </a:solidFill>
                <a:effectLst/>
              </a:rPr>
              <a:t> Raw data is a set of data and information </a:t>
            </a:r>
            <a:r>
              <a:rPr lang="en-US" b="1" i="0" dirty="0">
                <a:solidFill>
                  <a:srgbClr val="0000CC"/>
                </a:solidFill>
                <a:effectLst/>
              </a:rPr>
              <a:t>that has not yet been processed and was delivered from a particular data entity to the data supplier and hasn’t been processed by machine or human. </a:t>
            </a:r>
          </a:p>
          <a:p>
            <a:pPr algn="just">
              <a:buFont typeface="Arial" panose="020B0604020202020204" pitchFamily="34" charset="0"/>
              <a:buChar char="•"/>
            </a:pPr>
            <a:r>
              <a:rPr lang="en-US" b="1" i="0" dirty="0">
                <a:solidFill>
                  <a:srgbClr val="222222"/>
                </a:solidFill>
                <a:effectLst/>
              </a:rPr>
              <a:t>Summary Data or Data summary:</a:t>
            </a:r>
            <a:r>
              <a:rPr lang="en-US" b="0" i="0" dirty="0">
                <a:solidFill>
                  <a:srgbClr val="222222"/>
                </a:solidFill>
                <a:effectLst/>
              </a:rPr>
              <a:t> Data summary is an easy term for a brief conclusion of an enormous theory or a paragraph. </a:t>
            </a:r>
            <a:r>
              <a:rPr lang="en-US" b="1" i="0" dirty="0">
                <a:solidFill>
                  <a:srgbClr val="0000CC"/>
                </a:solidFill>
                <a:effectLst/>
              </a:rPr>
              <a:t>This is often one thing where analysts write the code and in the end, they declare the ultimate end in the form of summarizing data.</a:t>
            </a:r>
            <a:r>
              <a:rPr lang="en-US" b="0" i="0" dirty="0">
                <a:solidFill>
                  <a:srgbClr val="222222"/>
                </a:solidFill>
                <a:effectLst/>
              </a:rPr>
              <a:t> </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3" y="650408"/>
            <a:ext cx="9658782" cy="216606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222222"/>
                </a:solidFill>
                <a:effectLst/>
              </a:rPr>
              <a:t>3. </a:t>
            </a:r>
            <a:r>
              <a:rPr lang="en-US" b="1" i="0" dirty="0">
                <a:solidFill>
                  <a:srgbClr val="FF0000"/>
                </a:solidFill>
                <a:effectLst/>
              </a:rPr>
              <a:t>Data Storage in Warehouse</a:t>
            </a:r>
            <a:r>
              <a:rPr lang="en-US" b="1" i="0" dirty="0">
                <a:solidFill>
                  <a:srgbClr val="222222"/>
                </a:solidFill>
                <a:effectLst/>
              </a:rPr>
              <a:t>:</a:t>
            </a:r>
            <a:r>
              <a:rPr lang="en-US" dirty="0">
                <a:solidFill>
                  <a:srgbClr val="222222"/>
                </a:solidFill>
              </a:rPr>
              <a:t> </a:t>
            </a:r>
            <a:r>
              <a:rPr lang="en-US" b="0" i="0" dirty="0">
                <a:solidFill>
                  <a:srgbClr val="222222"/>
                </a:solidFill>
                <a:effectLst/>
              </a:rPr>
              <a:t>Data storage for data warehousing is split into multiple repositories.</a:t>
            </a:r>
          </a:p>
          <a:p>
            <a:pPr algn="just"/>
            <a:r>
              <a:rPr lang="en-US" b="0" i="0" dirty="0">
                <a:solidFill>
                  <a:srgbClr val="222222"/>
                </a:solidFill>
                <a:effectLst/>
              </a:rPr>
              <a:t> These data repositories contain structured data in a very highly </a:t>
            </a:r>
            <a:br>
              <a:rPr lang="en-US" b="0" i="0" dirty="0">
                <a:solidFill>
                  <a:srgbClr val="222222"/>
                </a:solidFill>
                <a:effectLst/>
              </a:rPr>
            </a:br>
            <a:r>
              <a:rPr lang="en-US" b="0" i="0" dirty="0">
                <a:solidFill>
                  <a:srgbClr val="222222"/>
                </a:solidFill>
                <a:effectLst/>
              </a:rPr>
              <a:t>normalized form for fast and efficient processing. </a:t>
            </a:r>
          </a:p>
        </p:txBody>
      </p:sp>
      <p:pic>
        <p:nvPicPr>
          <p:cNvPr id="5" name="Picture 4">
            <a:extLst>
              <a:ext uri="{FF2B5EF4-FFF2-40B4-BE49-F238E27FC236}">
                <a16:creationId xmlns="" xmlns:a16="http://schemas.microsoft.com/office/drawing/2014/main" id="{2FA65CE3-7EA6-4669-7844-19D61F443768}"/>
              </a:ext>
            </a:extLst>
          </p:cNvPr>
          <p:cNvPicPr>
            <a:picLocks noChangeAspect="1"/>
          </p:cNvPicPr>
          <p:nvPr/>
        </p:nvPicPr>
        <p:blipFill>
          <a:blip r:embed="rId3"/>
          <a:stretch>
            <a:fillRect/>
          </a:stretch>
        </p:blipFill>
        <p:spPr>
          <a:xfrm>
            <a:off x="9989127" y="470298"/>
            <a:ext cx="1969509" cy="1843412"/>
          </a:xfrm>
          <a:prstGeom prst="rect">
            <a:avLst/>
          </a:prstGeom>
        </p:spPr>
      </p:pic>
    </p:spTree>
    <p:extLst>
      <p:ext uri="{BB962C8B-B14F-4D97-AF65-F5344CB8AC3E}">
        <p14:creationId xmlns:p14="http://schemas.microsoft.com/office/powerpoint/2010/main" val="489954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E43554-6B75-FE74-0FE1-CA0267EBB5E9}"/>
              </a:ext>
            </a:extLst>
          </p:cNvPr>
          <p:cNvSpPr>
            <a:spLocks noGrp="1"/>
          </p:cNvSpPr>
          <p:nvPr>
            <p:ph type="title"/>
          </p:nvPr>
        </p:nvSpPr>
        <p:spPr>
          <a:xfrm>
            <a:off x="117763" y="206304"/>
            <a:ext cx="10515600" cy="888206"/>
          </a:xfrm>
        </p:spPr>
        <p:txBody>
          <a:bodyPr>
            <a:normAutofit fontScale="90000"/>
          </a:bodyPr>
          <a:lstStyle/>
          <a:p>
            <a:r>
              <a:rPr lang="en-US" b="1" i="0" dirty="0">
                <a:effectLst/>
                <a:latin typeface="+mn-lt"/>
              </a:rPr>
              <a:t>Architecture &amp; Components of Data Warehouse</a:t>
            </a:r>
            <a:r>
              <a:rPr lang="en-US" b="0" i="0" dirty="0">
                <a:solidFill>
                  <a:srgbClr val="222222"/>
                </a:solidFill>
                <a:effectLst/>
                <a:latin typeface="Lato" panose="020F0502020204030203" pitchFamily="34" charset="0"/>
              </a:rPr>
              <a:t/>
            </a:r>
            <a:br>
              <a:rPr lang="en-US" b="0" i="0" dirty="0">
                <a:solidFill>
                  <a:srgbClr val="222222"/>
                </a:solidFill>
                <a:effectLst/>
                <a:latin typeface="Lato" panose="020F0502020204030203" pitchFamily="34" charset="0"/>
              </a:rPr>
            </a:br>
            <a:endParaRPr lang="en-US" dirty="0"/>
          </a:p>
        </p:txBody>
      </p:sp>
      <p:sp>
        <p:nvSpPr>
          <p:cNvPr id="3" name="Content Placeholder 2">
            <a:extLst>
              <a:ext uri="{FF2B5EF4-FFF2-40B4-BE49-F238E27FC236}">
                <a16:creationId xmlns="" xmlns:a16="http://schemas.microsoft.com/office/drawing/2014/main" id="{6ACAC26F-5407-273D-75AC-6EE2E9049787}"/>
              </a:ext>
            </a:extLst>
          </p:cNvPr>
          <p:cNvSpPr>
            <a:spLocks noGrp="1"/>
          </p:cNvSpPr>
          <p:nvPr>
            <p:ph idx="1"/>
          </p:nvPr>
        </p:nvSpPr>
        <p:spPr>
          <a:xfrm>
            <a:off x="233363" y="5030638"/>
            <a:ext cx="11725275" cy="1305573"/>
          </a:xfrm>
        </p:spPr>
        <p:txBody>
          <a:bodyPr>
            <a:normAutofit fontScale="92500"/>
          </a:bodyPr>
          <a:lstStyle/>
          <a:p>
            <a:pPr algn="just">
              <a:buFont typeface="Arial" panose="020B0604020202020204" pitchFamily="34" charset="0"/>
              <a:buChar char="•"/>
            </a:pPr>
            <a:r>
              <a:rPr lang="en-US" b="1" i="0" dirty="0">
                <a:solidFill>
                  <a:srgbClr val="FF0000"/>
                </a:solidFill>
                <a:effectLst/>
              </a:rPr>
              <a:t>5. Users/Analysts</a:t>
            </a:r>
          </a:p>
          <a:p>
            <a:pPr algn="just">
              <a:buFont typeface="Arial" panose="020B0604020202020204" pitchFamily="34" charset="0"/>
              <a:buChar char="•"/>
            </a:pPr>
            <a:r>
              <a:rPr lang="en-US" b="0" i="0" dirty="0">
                <a:effectLst/>
              </a:rPr>
              <a:t>Now, the users and analysts can use data for various applications like </a:t>
            </a:r>
            <a:r>
              <a:rPr lang="en-US" b="1" i="0" dirty="0">
                <a:solidFill>
                  <a:srgbClr val="0000CC"/>
                </a:solidFill>
                <a:effectLst/>
              </a:rPr>
              <a:t>reporting, analyzing, mining, etc. </a:t>
            </a:r>
            <a:r>
              <a:rPr lang="en-US" b="0" i="0" dirty="0">
                <a:effectLst/>
              </a:rPr>
              <a:t>The data is made available to them whenever required.</a:t>
            </a:r>
          </a:p>
        </p:txBody>
      </p:sp>
      <p:sp>
        <p:nvSpPr>
          <p:cNvPr id="6" name="Content Placeholder 2">
            <a:extLst>
              <a:ext uri="{FF2B5EF4-FFF2-40B4-BE49-F238E27FC236}">
                <a16:creationId xmlns="" xmlns:a16="http://schemas.microsoft.com/office/drawing/2014/main" id="{1D13355E-92EA-5782-BA99-5FB95D04FC86}"/>
              </a:ext>
            </a:extLst>
          </p:cNvPr>
          <p:cNvSpPr txBox="1">
            <a:spLocks/>
          </p:cNvSpPr>
          <p:nvPr/>
        </p:nvSpPr>
        <p:spPr>
          <a:xfrm>
            <a:off x="233363" y="650407"/>
            <a:ext cx="8772092" cy="36107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solidFill>
                  <a:srgbClr val="FF0000"/>
                </a:solidFill>
                <a:effectLst/>
              </a:rPr>
              <a:t>4. Data Marts:</a:t>
            </a:r>
            <a:endParaRPr lang="en-US" b="0" i="0" dirty="0">
              <a:solidFill>
                <a:srgbClr val="FF0000"/>
              </a:solidFill>
              <a:effectLst/>
            </a:endParaRPr>
          </a:p>
          <a:p>
            <a:pPr algn="just"/>
            <a:r>
              <a:rPr lang="en-US" b="0" i="0" dirty="0">
                <a:effectLst/>
              </a:rPr>
              <a:t>It can store the information of a specific function of an organization that is handled by a</a:t>
            </a:r>
            <a:br>
              <a:rPr lang="en-US" b="0" i="0" dirty="0">
                <a:effectLst/>
              </a:rPr>
            </a:br>
            <a:r>
              <a:rPr lang="en-US" b="0" i="0" dirty="0">
                <a:effectLst/>
              </a:rPr>
              <a:t>single authority. </a:t>
            </a:r>
            <a:endParaRPr lang="en-US" b="0" i="0" dirty="0" smtClean="0">
              <a:effectLst/>
            </a:endParaRPr>
          </a:p>
          <a:p>
            <a:pPr algn="just"/>
            <a:r>
              <a:rPr lang="en-US" dirty="0"/>
              <a:t>We can also say that data mart contains subset of the data stored in </a:t>
            </a:r>
            <a:r>
              <a:rPr lang="en-US" dirty="0" smtClean="0"/>
              <a:t>data warehouse</a:t>
            </a:r>
            <a:r>
              <a:rPr lang="en-US" dirty="0"/>
              <a:t>. </a:t>
            </a:r>
            <a:endParaRPr lang="en-US" b="0" i="0" dirty="0">
              <a:effectLst/>
            </a:endParaRPr>
          </a:p>
          <a:p>
            <a:pPr algn="just"/>
            <a:r>
              <a:rPr lang="en-US" b="0" i="0" dirty="0">
                <a:effectLst/>
              </a:rPr>
              <a:t>There may be any number of data marts in a particular organization depending upon the functions. In short, data marts contain subsets of the data stored in data warehouses.</a:t>
            </a:r>
          </a:p>
        </p:txBody>
      </p:sp>
      <p:pic>
        <p:nvPicPr>
          <p:cNvPr id="7" name="Picture 6">
            <a:extLst>
              <a:ext uri="{FF2B5EF4-FFF2-40B4-BE49-F238E27FC236}">
                <a16:creationId xmlns="" xmlns:a16="http://schemas.microsoft.com/office/drawing/2014/main" id="{53149FEA-6820-F560-2A15-C3BC9B37DDA5}"/>
              </a:ext>
            </a:extLst>
          </p:cNvPr>
          <p:cNvPicPr>
            <a:picLocks noChangeAspect="1"/>
          </p:cNvPicPr>
          <p:nvPr/>
        </p:nvPicPr>
        <p:blipFill>
          <a:blip r:embed="rId3"/>
          <a:stretch>
            <a:fillRect/>
          </a:stretch>
        </p:blipFill>
        <p:spPr>
          <a:xfrm>
            <a:off x="9243578" y="698789"/>
            <a:ext cx="2352675" cy="3562350"/>
          </a:xfrm>
          <a:prstGeom prst="rect">
            <a:avLst/>
          </a:prstGeom>
        </p:spPr>
      </p:pic>
    </p:spTree>
    <p:extLst>
      <p:ext uri="{BB962C8B-B14F-4D97-AF65-F5344CB8AC3E}">
        <p14:creationId xmlns:p14="http://schemas.microsoft.com/office/powerpoint/2010/main" val="3615904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097490" cy="5694217"/>
          </a:xfrm>
        </p:spPr>
        <p:txBody>
          <a:bodyPr>
            <a:normAutofit/>
          </a:bodyPr>
          <a:lstStyle/>
          <a:p>
            <a:pPr algn="just"/>
            <a:r>
              <a:rPr lang="en-US" b="1" i="0" dirty="0">
                <a:effectLst/>
              </a:rPr>
              <a:t>OLAP</a:t>
            </a:r>
            <a:r>
              <a:rPr lang="en-US" b="0" i="0" dirty="0">
                <a:effectLst/>
              </a:rPr>
              <a:t> stands for </a:t>
            </a:r>
            <a:r>
              <a:rPr lang="en-US" b="1" i="0" dirty="0">
                <a:effectLst/>
              </a:rPr>
              <a:t>On-Line Analytical Processing</a:t>
            </a:r>
            <a:r>
              <a:rPr lang="en-US" b="0" i="0" dirty="0">
                <a:effectLst/>
              </a:rPr>
              <a:t>. OLAP is a classification of </a:t>
            </a:r>
            <a:r>
              <a:rPr lang="en-US" b="1" i="0" dirty="0">
                <a:solidFill>
                  <a:srgbClr val="0000CC"/>
                </a:solidFill>
                <a:effectLst/>
              </a:rPr>
              <a:t>software technology which authorizes analysts, managers, and executives to gain insight into information through fast, consistent, interactive access in a wide variety of possible views of data </a:t>
            </a:r>
            <a:r>
              <a:rPr lang="en-US" b="0" i="0" dirty="0">
                <a:effectLst/>
              </a:rPr>
              <a:t>that has been transformed from raw information to reflect the real dimensionality of the enterprise as understood by the clients.</a:t>
            </a:r>
          </a:p>
          <a:p>
            <a:pPr algn="just"/>
            <a:r>
              <a:rPr lang="en-US" b="1" i="0" dirty="0">
                <a:effectLst/>
              </a:rPr>
              <a:t>OLAP</a:t>
            </a:r>
            <a:r>
              <a:rPr lang="en-US" b="0" i="0" dirty="0">
                <a:effectLst/>
              </a:rPr>
              <a:t> </a:t>
            </a:r>
            <a:r>
              <a:rPr lang="en-US" b="1" i="0" dirty="0">
                <a:solidFill>
                  <a:srgbClr val="0000CC"/>
                </a:solidFill>
                <a:effectLst/>
              </a:rPr>
              <a:t>implement the multidimensional analysis of business information and support the capability for complex estimations, trend analysis, and sophisticated data modeling.</a:t>
            </a:r>
          </a:p>
          <a:p>
            <a:pPr algn="just"/>
            <a:r>
              <a:rPr lang="en-US" b="0" i="0" dirty="0">
                <a:effectLst/>
              </a:rPr>
              <a:t>It is rapidly enhancing the </a:t>
            </a:r>
            <a:r>
              <a:rPr lang="en-US" b="1" i="0" dirty="0">
                <a:solidFill>
                  <a:srgbClr val="0000CC"/>
                </a:solidFill>
                <a:effectLst/>
              </a:rPr>
              <a:t>essential foundation for Intelligent Solutions containing Business Performance Management, Planning, Budgeting, Forecasting, Financial Documenting, Analysis, Simulation-Models, Knowledge Discovery, and Data Warehouses Reporting</a:t>
            </a:r>
            <a:r>
              <a:rPr lang="en-US" b="0" i="0" dirty="0">
                <a:effectLst/>
              </a:rPr>
              <a:t>.</a:t>
            </a:r>
            <a:endParaRPr lang="en-US" dirty="0"/>
          </a:p>
        </p:txBody>
      </p:sp>
    </p:spTree>
    <p:extLst>
      <p:ext uri="{BB962C8B-B14F-4D97-AF65-F5344CB8AC3E}">
        <p14:creationId xmlns:p14="http://schemas.microsoft.com/office/powerpoint/2010/main" val="2152251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6241471" cy="5800146"/>
          </a:xfrm>
        </p:spPr>
        <p:txBody>
          <a:bodyPr>
            <a:normAutofit fontScale="85000" lnSpcReduction="20000"/>
          </a:bodyPr>
          <a:lstStyle/>
          <a:p>
            <a:pPr algn="just"/>
            <a:r>
              <a:rPr lang="en-US" b="1" i="0" dirty="0">
                <a:effectLst/>
              </a:rPr>
              <a:t>How OLAP systems work</a:t>
            </a:r>
          </a:p>
          <a:p>
            <a:pPr algn="just"/>
            <a:r>
              <a:rPr lang="en-US" i="0" dirty="0">
                <a:effectLst/>
              </a:rPr>
              <a:t>To facilitate this kind of analysis, </a:t>
            </a:r>
            <a:r>
              <a:rPr lang="en-US" b="1" i="0" dirty="0">
                <a:solidFill>
                  <a:srgbClr val="0000CC"/>
                </a:solidFill>
                <a:effectLst/>
              </a:rPr>
              <a:t>data is collected from multiple data sources and stored in data warehouses then cleansed and organized into data cubes. </a:t>
            </a:r>
          </a:p>
          <a:p>
            <a:pPr algn="just"/>
            <a:r>
              <a:rPr lang="en-US" i="0" dirty="0">
                <a:effectLst/>
              </a:rPr>
              <a:t>Each </a:t>
            </a:r>
            <a:r>
              <a:rPr lang="en-US" b="1" i="0" dirty="0">
                <a:solidFill>
                  <a:srgbClr val="0000CC"/>
                </a:solidFill>
                <a:effectLst/>
              </a:rPr>
              <a:t>OLAP cube contains data categorized by dimensions (such as customers, geographic sales region and time period) </a:t>
            </a:r>
            <a:r>
              <a:rPr lang="en-US" i="0" dirty="0">
                <a:effectLst/>
              </a:rPr>
              <a:t>derived by dimensional tables in the data warehouses. </a:t>
            </a:r>
          </a:p>
          <a:p>
            <a:pPr algn="just"/>
            <a:r>
              <a:rPr lang="en-US" i="0" dirty="0">
                <a:effectLst/>
              </a:rPr>
              <a:t>Dimensions are then populated by members (such as customer names, countries and months) that are organized hierarchically. </a:t>
            </a:r>
          </a:p>
          <a:p>
            <a:pPr algn="just"/>
            <a:r>
              <a:rPr lang="en-US" b="1" i="0" dirty="0">
                <a:effectLst/>
              </a:rPr>
              <a:t>OLAP cubes are often pre-summarized across dimensions </a:t>
            </a:r>
            <a:r>
              <a:rPr lang="en-US" i="0" dirty="0">
                <a:effectLst/>
              </a:rPr>
              <a:t>to drastically improve query time over relational databases.</a:t>
            </a:r>
          </a:p>
          <a:p>
            <a:pPr algn="just"/>
            <a:r>
              <a:rPr lang="en-US" b="0" i="0" dirty="0">
                <a:effectLst/>
              </a:rPr>
              <a:t>A data cube is </a:t>
            </a:r>
            <a:r>
              <a:rPr lang="en-US" b="1" i="0" dirty="0">
                <a:effectLst/>
              </a:rPr>
              <a:t>a multi-dimensional array of values used to bring together data to be organized and modeled for analysis</a:t>
            </a:r>
            <a:r>
              <a:rPr lang="en-US" b="0" i="0" dirty="0">
                <a:effectLst/>
              </a:rPr>
              <a:t>.</a:t>
            </a:r>
            <a:endParaRPr lang="en-US" i="0" dirty="0">
              <a:effectLst/>
            </a:endParaRPr>
          </a:p>
        </p:txBody>
      </p:sp>
      <p:pic>
        <p:nvPicPr>
          <p:cNvPr id="5" name="Picture 4">
            <a:extLst>
              <a:ext uri="{FF2B5EF4-FFF2-40B4-BE49-F238E27FC236}">
                <a16:creationId xmlns="" xmlns:a16="http://schemas.microsoft.com/office/drawing/2014/main" id="{51AA77F6-1B1C-E09A-384B-1DE6A0ABB870}"/>
              </a:ext>
            </a:extLst>
          </p:cNvPr>
          <p:cNvPicPr>
            <a:picLocks noChangeAspect="1"/>
          </p:cNvPicPr>
          <p:nvPr/>
        </p:nvPicPr>
        <p:blipFill>
          <a:blip r:embed="rId2"/>
          <a:stretch>
            <a:fillRect/>
          </a:stretch>
        </p:blipFill>
        <p:spPr>
          <a:xfrm>
            <a:off x="6497781" y="1200150"/>
            <a:ext cx="5437908" cy="5048250"/>
          </a:xfrm>
          <a:prstGeom prst="rect">
            <a:avLst/>
          </a:prstGeom>
        </p:spPr>
      </p:pic>
    </p:spTree>
    <p:extLst>
      <p:ext uri="{BB962C8B-B14F-4D97-AF65-F5344CB8AC3E}">
        <p14:creationId xmlns:p14="http://schemas.microsoft.com/office/powerpoint/2010/main" val="3652555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r>
              <a:rPr lang="en-US" sz="4000" b="1" i="0" dirty="0" smtClean="0">
                <a:solidFill>
                  <a:srgbClr val="222222"/>
                </a:solidFill>
                <a:effectLst/>
                <a:latin typeface="+mn-lt"/>
              </a:rPr>
              <a:t>)-Operations</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353798" cy="5694217"/>
          </a:xfrm>
        </p:spPr>
        <p:txBody>
          <a:bodyPr>
            <a:normAutofit lnSpcReduction="10000"/>
          </a:bodyPr>
          <a:lstStyle/>
          <a:p>
            <a:pPr algn="just"/>
            <a:r>
              <a:rPr lang="en-US" i="0" dirty="0">
                <a:effectLst/>
              </a:rPr>
              <a:t>Analysts can then perform five types of OLAP analytical operations against multidimensional databases:</a:t>
            </a:r>
          </a:p>
          <a:p>
            <a:pPr algn="just"/>
            <a:r>
              <a:rPr lang="en-US" b="1" i="0" dirty="0">
                <a:effectLst/>
              </a:rPr>
              <a:t>Roll-up.</a:t>
            </a:r>
            <a:r>
              <a:rPr lang="en-US" i="0" dirty="0">
                <a:effectLst/>
              </a:rPr>
              <a:t> Also known as </a:t>
            </a:r>
            <a:r>
              <a:rPr lang="en-US" i="0" dirty="0" smtClean="0">
                <a:effectLst/>
              </a:rPr>
              <a:t>consolidation, </a:t>
            </a:r>
            <a:r>
              <a:rPr lang="en-US" b="1" i="0" dirty="0" smtClean="0">
                <a:solidFill>
                  <a:srgbClr val="0000CC"/>
                </a:solidFill>
                <a:effectLst/>
              </a:rPr>
              <a:t>this </a:t>
            </a:r>
            <a:r>
              <a:rPr lang="en-US" b="1" i="0" dirty="0">
                <a:solidFill>
                  <a:srgbClr val="0000CC"/>
                </a:solidFill>
                <a:effectLst/>
              </a:rPr>
              <a:t>operation summarizes the data along the dimension.</a:t>
            </a:r>
          </a:p>
          <a:p>
            <a:pPr algn="just"/>
            <a:r>
              <a:rPr lang="en-US" b="1" i="0" dirty="0">
                <a:effectLst/>
              </a:rPr>
              <a:t>Drill-down.</a:t>
            </a:r>
            <a:r>
              <a:rPr lang="en-US" i="0" dirty="0">
                <a:effectLst/>
              </a:rPr>
              <a:t> </a:t>
            </a:r>
            <a:r>
              <a:rPr lang="en-US" b="1" i="0" dirty="0">
                <a:solidFill>
                  <a:srgbClr val="0000CC"/>
                </a:solidFill>
                <a:effectLst/>
              </a:rPr>
              <a:t>This allows analysts to navigate deeper among the dimensions of data, </a:t>
            </a:r>
            <a:r>
              <a:rPr lang="en-US" i="0" dirty="0">
                <a:effectLst/>
              </a:rPr>
              <a:t>for example drilling down from "time period" to "years" and "months" to chart sales growth for a product.</a:t>
            </a:r>
          </a:p>
          <a:p>
            <a:pPr algn="just"/>
            <a:r>
              <a:rPr lang="en-US" b="1" i="0" dirty="0">
                <a:effectLst/>
              </a:rPr>
              <a:t>Slice.</a:t>
            </a:r>
            <a:r>
              <a:rPr lang="en-US" i="0" dirty="0">
                <a:effectLst/>
              </a:rPr>
              <a:t> </a:t>
            </a:r>
            <a:r>
              <a:rPr lang="en-US" b="1" i="0" dirty="0">
                <a:solidFill>
                  <a:srgbClr val="0000CC"/>
                </a:solidFill>
                <a:effectLst/>
              </a:rPr>
              <a:t>This enables an analyst to take one level of information for display, such as "sales in 2017."</a:t>
            </a:r>
          </a:p>
          <a:p>
            <a:pPr algn="just"/>
            <a:r>
              <a:rPr lang="en-US" b="1" i="0" dirty="0">
                <a:effectLst/>
              </a:rPr>
              <a:t>Dice.</a:t>
            </a:r>
            <a:r>
              <a:rPr lang="en-US" i="0" dirty="0">
                <a:effectLst/>
              </a:rPr>
              <a:t> </a:t>
            </a:r>
            <a:r>
              <a:rPr lang="en-US" b="1" i="0" dirty="0">
                <a:solidFill>
                  <a:srgbClr val="0000CC"/>
                </a:solidFill>
                <a:effectLst/>
              </a:rPr>
              <a:t>This allows an analyst to select data from multiple dimensions to analyze, such as "sales of blue beach balls in Iowa in 2017."</a:t>
            </a:r>
          </a:p>
          <a:p>
            <a:pPr algn="just"/>
            <a:r>
              <a:rPr lang="en-US" b="1" i="0" dirty="0">
                <a:effectLst/>
              </a:rPr>
              <a:t>Pivot.</a:t>
            </a:r>
            <a:r>
              <a:rPr lang="en-US" i="0" dirty="0">
                <a:effectLst/>
              </a:rPr>
              <a:t> </a:t>
            </a:r>
            <a:r>
              <a:rPr lang="en-US" b="1" i="0" dirty="0">
                <a:solidFill>
                  <a:srgbClr val="0000CC"/>
                </a:solidFill>
                <a:effectLst/>
              </a:rPr>
              <a:t>Analysts can gain a new view of data by rotating the data axes of the cube.</a:t>
            </a:r>
            <a:endParaRPr lang="en-US" b="1" dirty="0">
              <a:solidFill>
                <a:srgbClr val="0000CC"/>
              </a:solidFill>
            </a:endParaRPr>
          </a:p>
        </p:txBody>
      </p:sp>
    </p:spTree>
    <p:extLst>
      <p:ext uri="{BB962C8B-B14F-4D97-AF65-F5344CB8AC3E}">
        <p14:creationId xmlns:p14="http://schemas.microsoft.com/office/powerpoint/2010/main" val="3849995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78064"/>
          </a:xfrm>
        </p:spPr>
        <p:txBody>
          <a:bodyPr>
            <a:normAutofit fontScale="90000"/>
          </a:bodyPr>
          <a:lstStyle/>
          <a:p>
            <a:r>
              <a:rPr lang="en-US" dirty="0" smtClean="0"/>
              <a:t>OLAP Operations example</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262" y="567262"/>
            <a:ext cx="5904033" cy="5923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1576" y="445930"/>
            <a:ext cx="5140011" cy="5918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915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78064"/>
          </a:xfrm>
        </p:spPr>
        <p:txBody>
          <a:bodyPr>
            <a:normAutofit fontScale="90000"/>
          </a:bodyPr>
          <a:lstStyle/>
          <a:p>
            <a:r>
              <a:rPr lang="en-US" dirty="0" smtClean="0"/>
              <a:t>OLAP Operations example</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480" y="636995"/>
            <a:ext cx="5904033" cy="5923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4513" y="929627"/>
            <a:ext cx="4991166" cy="5338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0374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78064"/>
          </a:xfrm>
        </p:spPr>
        <p:txBody>
          <a:bodyPr>
            <a:normAutofit fontScale="90000"/>
          </a:bodyPr>
          <a:lstStyle/>
          <a:p>
            <a:r>
              <a:rPr lang="en-US" dirty="0" smtClean="0"/>
              <a:t>OLAP Operations example</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262" y="567262"/>
            <a:ext cx="5904033" cy="5923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5443" y="668426"/>
            <a:ext cx="5714332" cy="5629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34911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78064"/>
          </a:xfrm>
        </p:spPr>
        <p:txBody>
          <a:bodyPr>
            <a:normAutofit fontScale="90000"/>
          </a:bodyPr>
          <a:lstStyle/>
          <a:p>
            <a:r>
              <a:rPr lang="en-US" dirty="0" smtClean="0"/>
              <a:t>OLAP Operations example</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262" y="567262"/>
            <a:ext cx="5904033" cy="5923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0090" y="592428"/>
            <a:ext cx="6211910" cy="5911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7958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353798" cy="5694217"/>
          </a:xfrm>
        </p:spPr>
        <p:txBody>
          <a:bodyPr>
            <a:normAutofit/>
          </a:bodyPr>
          <a:lstStyle/>
          <a:p>
            <a:pPr algn="just"/>
            <a:r>
              <a:rPr lang="en-US" i="0" dirty="0">
                <a:effectLst/>
              </a:rPr>
              <a:t>Analysts can then perform five types of OLAP analytical operations against multidimensional databases:</a:t>
            </a:r>
          </a:p>
          <a:p>
            <a:pPr algn="just"/>
            <a:r>
              <a:rPr lang="en-US" b="1" i="0" dirty="0">
                <a:effectLst/>
              </a:rPr>
              <a:t>Roll-up.</a:t>
            </a:r>
            <a:r>
              <a:rPr lang="en-US" i="0" dirty="0">
                <a:effectLst/>
              </a:rPr>
              <a:t> Also known as </a:t>
            </a:r>
            <a:r>
              <a:rPr lang="en-US" b="1" i="0" dirty="0">
                <a:solidFill>
                  <a:srgbClr val="333333"/>
                </a:solidFill>
                <a:effectLst/>
                <a:latin typeface="inter-bold"/>
              </a:rPr>
              <a:t>aggregation operation </a:t>
            </a:r>
            <a:r>
              <a:rPr lang="en-US" i="0" dirty="0">
                <a:effectLst/>
              </a:rPr>
              <a:t>or drill-up, </a:t>
            </a:r>
            <a:r>
              <a:rPr lang="en-US" b="1" i="0" dirty="0">
                <a:solidFill>
                  <a:srgbClr val="0000CC"/>
                </a:solidFill>
                <a:effectLst/>
              </a:rPr>
              <a:t>this operation summarizes the data along the dimension.</a:t>
            </a:r>
          </a:p>
        </p:txBody>
      </p:sp>
      <p:graphicFrame>
        <p:nvGraphicFramePr>
          <p:cNvPr id="4" name="Table 3">
            <a:extLst>
              <a:ext uri="{FF2B5EF4-FFF2-40B4-BE49-F238E27FC236}">
                <a16:creationId xmlns="" xmlns:a16="http://schemas.microsoft.com/office/drawing/2014/main" id="{4EB22BEC-151C-58E5-5290-B8BF6685CA08}"/>
              </a:ext>
            </a:extLst>
          </p:cNvPr>
          <p:cNvGraphicFramePr>
            <a:graphicFrameLocks noGrp="1"/>
          </p:cNvGraphicFramePr>
          <p:nvPr>
            <p:extLst>
              <p:ext uri="{D42A27DB-BD31-4B8C-83A1-F6EECF244321}">
                <p14:modId xmlns:p14="http://schemas.microsoft.com/office/powerpoint/2010/main" val="131980587"/>
              </p:ext>
            </p:extLst>
          </p:nvPr>
        </p:nvGraphicFramePr>
        <p:xfrm>
          <a:off x="374072" y="2855524"/>
          <a:ext cx="6040582" cy="1188720"/>
        </p:xfrm>
        <a:graphic>
          <a:graphicData uri="http://schemas.openxmlformats.org/drawingml/2006/table">
            <a:tbl>
              <a:tblPr/>
              <a:tblGrid>
                <a:gridCol w="1318491">
                  <a:extLst>
                    <a:ext uri="{9D8B030D-6E8A-4147-A177-3AD203B41FA5}">
                      <a16:colId xmlns="" xmlns:a16="http://schemas.microsoft.com/office/drawing/2014/main" val="1680560074"/>
                    </a:ext>
                  </a:extLst>
                </a:gridCol>
                <a:gridCol w="371764">
                  <a:extLst>
                    <a:ext uri="{9D8B030D-6E8A-4147-A177-3AD203B41FA5}">
                      <a16:colId xmlns="" xmlns:a16="http://schemas.microsoft.com/office/drawing/2014/main" val="2733114896"/>
                    </a:ext>
                  </a:extLst>
                </a:gridCol>
                <a:gridCol w="374073">
                  <a:extLst>
                    <a:ext uri="{9D8B030D-6E8A-4147-A177-3AD203B41FA5}">
                      <a16:colId xmlns="" xmlns:a16="http://schemas.microsoft.com/office/drawing/2014/main" val="1752935421"/>
                    </a:ext>
                  </a:extLst>
                </a:gridCol>
                <a:gridCol w="374073">
                  <a:extLst>
                    <a:ext uri="{9D8B030D-6E8A-4147-A177-3AD203B41FA5}">
                      <a16:colId xmlns="" xmlns:a16="http://schemas.microsoft.com/office/drawing/2014/main" val="902600457"/>
                    </a:ext>
                  </a:extLst>
                </a:gridCol>
                <a:gridCol w="401782">
                  <a:extLst>
                    <a:ext uri="{9D8B030D-6E8A-4147-A177-3AD203B41FA5}">
                      <a16:colId xmlns="" xmlns:a16="http://schemas.microsoft.com/office/drawing/2014/main" val="1136254105"/>
                    </a:ext>
                  </a:extLst>
                </a:gridCol>
                <a:gridCol w="374072">
                  <a:extLst>
                    <a:ext uri="{9D8B030D-6E8A-4147-A177-3AD203B41FA5}">
                      <a16:colId xmlns="" xmlns:a16="http://schemas.microsoft.com/office/drawing/2014/main" val="2865990727"/>
                    </a:ext>
                  </a:extLst>
                </a:gridCol>
                <a:gridCol w="360218">
                  <a:extLst>
                    <a:ext uri="{9D8B030D-6E8A-4147-A177-3AD203B41FA5}">
                      <a16:colId xmlns="" xmlns:a16="http://schemas.microsoft.com/office/drawing/2014/main" val="2404142149"/>
                    </a:ext>
                  </a:extLst>
                </a:gridCol>
                <a:gridCol w="429491">
                  <a:extLst>
                    <a:ext uri="{9D8B030D-6E8A-4147-A177-3AD203B41FA5}">
                      <a16:colId xmlns="" xmlns:a16="http://schemas.microsoft.com/office/drawing/2014/main" val="4005046266"/>
                    </a:ext>
                  </a:extLst>
                </a:gridCol>
                <a:gridCol w="415636">
                  <a:extLst>
                    <a:ext uri="{9D8B030D-6E8A-4147-A177-3AD203B41FA5}">
                      <a16:colId xmlns="" xmlns:a16="http://schemas.microsoft.com/office/drawing/2014/main" val="1664534936"/>
                    </a:ext>
                  </a:extLst>
                </a:gridCol>
                <a:gridCol w="415637">
                  <a:extLst>
                    <a:ext uri="{9D8B030D-6E8A-4147-A177-3AD203B41FA5}">
                      <a16:colId xmlns="" xmlns:a16="http://schemas.microsoft.com/office/drawing/2014/main" val="3571637611"/>
                    </a:ext>
                  </a:extLst>
                </a:gridCol>
                <a:gridCol w="401781">
                  <a:extLst>
                    <a:ext uri="{9D8B030D-6E8A-4147-A177-3AD203B41FA5}">
                      <a16:colId xmlns="" xmlns:a16="http://schemas.microsoft.com/office/drawing/2014/main" val="1111704504"/>
                    </a:ext>
                  </a:extLst>
                </a:gridCol>
                <a:gridCol w="415637">
                  <a:extLst>
                    <a:ext uri="{9D8B030D-6E8A-4147-A177-3AD203B41FA5}">
                      <a16:colId xmlns="" xmlns:a16="http://schemas.microsoft.com/office/drawing/2014/main" val="3799094018"/>
                    </a:ext>
                  </a:extLst>
                </a:gridCol>
                <a:gridCol w="387927">
                  <a:extLst>
                    <a:ext uri="{9D8B030D-6E8A-4147-A177-3AD203B41FA5}">
                      <a16:colId xmlns="" xmlns:a16="http://schemas.microsoft.com/office/drawing/2014/main" val="264953775"/>
                    </a:ext>
                  </a:extLst>
                </a:gridCol>
              </a:tblGrid>
              <a:tr h="0">
                <a:tc>
                  <a:txBody>
                    <a:bodyPr/>
                    <a:lstStyle/>
                    <a:p>
                      <a:pPr algn="just" fontAlgn="t"/>
                      <a:r>
                        <a:rPr lang="en-US" sz="1600" b="1" dirty="0">
                          <a:solidFill>
                            <a:schemeClr val="tx1"/>
                          </a:solidFill>
                          <a:effectLst/>
                          <a:latin typeface="+mn-lt"/>
                        </a:rPr>
                        <a:t>Temperature</a:t>
                      </a:r>
                      <a:endParaRPr lang="en-US" sz="1600" dirty="0">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68</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69</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70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71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72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75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85</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53647152"/>
                  </a:ext>
                </a:extLst>
              </a:tr>
              <a:tr h="0">
                <a:tc>
                  <a:txBody>
                    <a:bodyPr/>
                    <a:lstStyle/>
                    <a:p>
                      <a:pPr algn="just" fontAlgn="t"/>
                      <a:r>
                        <a:rPr lang="en-US" sz="1600" b="1" dirty="0">
                          <a:solidFill>
                            <a:schemeClr val="tx1"/>
                          </a:solidFill>
                          <a:effectLst/>
                          <a:latin typeface="+mn-lt"/>
                        </a:rPr>
                        <a:t>Week1</a:t>
                      </a:r>
                      <a:endParaRPr lang="en-US" sz="1600" dirty="0">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938420063"/>
                  </a:ext>
                </a:extLst>
              </a:tr>
              <a:tr h="0">
                <a:tc>
                  <a:txBody>
                    <a:bodyPr/>
                    <a:lstStyle/>
                    <a:p>
                      <a:pPr algn="just" fontAlgn="t"/>
                      <a:r>
                        <a:rPr lang="en-US" sz="1600" b="1">
                          <a:solidFill>
                            <a:schemeClr val="tx1"/>
                          </a:solidFill>
                          <a:effectLst/>
                          <a:latin typeface="+mn-lt"/>
                        </a:rPr>
                        <a:t>Week2</a:t>
                      </a:r>
                      <a:endParaRPr lang="en-US" sz="1600">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a:solidFill>
                            <a:schemeClr val="tx1"/>
                          </a:solidFill>
                          <a:effectLst/>
                          <a:latin typeface="+mn-lt"/>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1598890129"/>
                  </a:ext>
                </a:extLst>
              </a:tr>
            </a:tbl>
          </a:graphicData>
        </a:graphic>
      </p:graphicFrame>
      <p:graphicFrame>
        <p:nvGraphicFramePr>
          <p:cNvPr id="5" name="Table 4">
            <a:extLst>
              <a:ext uri="{FF2B5EF4-FFF2-40B4-BE49-F238E27FC236}">
                <a16:creationId xmlns="" xmlns:a16="http://schemas.microsoft.com/office/drawing/2014/main" id="{B0751619-B595-9E54-4478-68E66210E4E2}"/>
              </a:ext>
            </a:extLst>
          </p:cNvPr>
          <p:cNvGraphicFramePr>
            <a:graphicFrameLocks noGrp="1"/>
          </p:cNvGraphicFramePr>
          <p:nvPr>
            <p:extLst>
              <p:ext uri="{D42A27DB-BD31-4B8C-83A1-F6EECF244321}">
                <p14:modId xmlns:p14="http://schemas.microsoft.com/office/powerpoint/2010/main" val="2368934828"/>
              </p:ext>
            </p:extLst>
          </p:nvPr>
        </p:nvGraphicFramePr>
        <p:xfrm>
          <a:off x="7587392" y="2771704"/>
          <a:ext cx="3537809" cy="1356360"/>
        </p:xfrm>
        <a:graphic>
          <a:graphicData uri="http://schemas.openxmlformats.org/drawingml/2006/table">
            <a:tbl>
              <a:tblPr/>
              <a:tblGrid>
                <a:gridCol w="1445772">
                  <a:extLst>
                    <a:ext uri="{9D8B030D-6E8A-4147-A177-3AD203B41FA5}">
                      <a16:colId xmlns="" xmlns:a16="http://schemas.microsoft.com/office/drawing/2014/main" val="2166529608"/>
                    </a:ext>
                  </a:extLst>
                </a:gridCol>
                <a:gridCol w="734291">
                  <a:extLst>
                    <a:ext uri="{9D8B030D-6E8A-4147-A177-3AD203B41FA5}">
                      <a16:colId xmlns="" xmlns:a16="http://schemas.microsoft.com/office/drawing/2014/main" val="2932384588"/>
                    </a:ext>
                  </a:extLst>
                </a:gridCol>
                <a:gridCol w="720436">
                  <a:extLst>
                    <a:ext uri="{9D8B030D-6E8A-4147-A177-3AD203B41FA5}">
                      <a16:colId xmlns="" xmlns:a16="http://schemas.microsoft.com/office/drawing/2014/main" val="494711700"/>
                    </a:ext>
                  </a:extLst>
                </a:gridCol>
                <a:gridCol w="637310">
                  <a:extLst>
                    <a:ext uri="{9D8B030D-6E8A-4147-A177-3AD203B41FA5}">
                      <a16:colId xmlns="" xmlns:a16="http://schemas.microsoft.com/office/drawing/2014/main" val="1667021993"/>
                    </a:ext>
                  </a:extLst>
                </a:gridCol>
              </a:tblGrid>
              <a:tr h="0">
                <a:tc>
                  <a:txBody>
                    <a:bodyPr/>
                    <a:lstStyle/>
                    <a:p>
                      <a:pPr algn="l" fontAlgn="t"/>
                      <a:r>
                        <a:rPr lang="en-US" b="1" dirty="0">
                          <a:solidFill>
                            <a:schemeClr val="tx1"/>
                          </a:solidFill>
                          <a:effectLst/>
                          <a:latin typeface="+mn-lt"/>
                        </a:rPr>
                        <a:t>Temperature</a:t>
                      </a:r>
                      <a:endParaRPr lang="en-US" dirty="0">
                        <a:solidFill>
                          <a:schemeClr val="tx1"/>
                        </a:solidFill>
                        <a:effectLst/>
                        <a:latin typeface="+mn-lt"/>
                      </a:endParaRP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a:solidFill>
                            <a:schemeClr val="tx1"/>
                          </a:solidFill>
                          <a:effectLst/>
                          <a:latin typeface="+mn-lt"/>
                        </a:rPr>
                        <a:t>cool</a:t>
                      </a: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a:solidFill>
                            <a:schemeClr val="tx1"/>
                          </a:solidFill>
                          <a:effectLst/>
                          <a:latin typeface="+mn-lt"/>
                        </a:rPr>
                        <a:t>mild</a:t>
                      </a: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dirty="0">
                          <a:solidFill>
                            <a:schemeClr val="tx1"/>
                          </a:solidFill>
                          <a:effectLst/>
                          <a:latin typeface="+mn-lt"/>
                        </a:rPr>
                        <a:t>hot</a:t>
                      </a:r>
                    </a:p>
                  </a:txBody>
                  <a:tcPr marL="114300" marR="114300" marT="114300" marB="114300">
                    <a:lnL w="9525" cap="flat" cmpd="sng" algn="ctr">
                      <a:solidFill>
                        <a:srgbClr val="E021AF"/>
                      </a:solidFill>
                      <a:prstDash val="solid"/>
                      <a:round/>
                      <a:headEnd type="none" w="med" len="med"/>
                      <a:tailEnd type="none" w="med" len="med"/>
                    </a:lnL>
                    <a:lnR w="9525" cap="flat" cmpd="sng" algn="ctr">
                      <a:solidFill>
                        <a:srgbClr val="E021AF"/>
                      </a:solidFill>
                      <a:prstDash val="solid"/>
                      <a:round/>
                      <a:headEnd type="none" w="med" len="med"/>
                      <a:tailEnd type="none" w="med" len="med"/>
                    </a:lnR>
                    <a:lnT w="9525" cap="flat" cmpd="sng" algn="ctr">
                      <a:solidFill>
                        <a:srgbClr val="E021A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3393847967"/>
                  </a:ext>
                </a:extLst>
              </a:tr>
              <a:tr h="0">
                <a:tc>
                  <a:txBody>
                    <a:bodyPr/>
                    <a:lstStyle/>
                    <a:p>
                      <a:pPr algn="just" fontAlgn="t"/>
                      <a:r>
                        <a:rPr lang="en-US" b="1">
                          <a:solidFill>
                            <a:schemeClr val="tx1"/>
                          </a:solidFill>
                          <a:effectLst/>
                          <a:latin typeface="+mn-lt"/>
                        </a:rPr>
                        <a:t>Week1</a:t>
                      </a:r>
                      <a:endParaRPr lang="en-US">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dirty="0">
                          <a:solidFill>
                            <a:schemeClr val="tx1"/>
                          </a:solidFill>
                          <a:effectLst/>
                          <a:latin typeface="+mn-lt"/>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980378699"/>
                  </a:ext>
                </a:extLst>
              </a:tr>
              <a:tr h="0">
                <a:tc>
                  <a:txBody>
                    <a:bodyPr/>
                    <a:lstStyle/>
                    <a:p>
                      <a:pPr algn="just" fontAlgn="t"/>
                      <a:r>
                        <a:rPr lang="en-US" b="1">
                          <a:solidFill>
                            <a:schemeClr val="tx1"/>
                          </a:solidFill>
                          <a:effectLst/>
                          <a:latin typeface="+mn-lt"/>
                        </a:rPr>
                        <a:t>Week2</a:t>
                      </a:r>
                      <a:endParaRPr lang="en-US">
                        <a:solidFill>
                          <a:schemeClr val="tx1"/>
                        </a:solidFill>
                        <a:effectLst/>
                        <a:latin typeface="+mn-lt"/>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dirty="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726933313"/>
                  </a:ext>
                </a:extLst>
              </a:tr>
            </a:tbl>
          </a:graphicData>
        </a:graphic>
      </p:graphicFrame>
      <p:sp>
        <p:nvSpPr>
          <p:cNvPr id="6" name="Content Placeholder 2">
            <a:extLst>
              <a:ext uri="{FF2B5EF4-FFF2-40B4-BE49-F238E27FC236}">
                <a16:creationId xmlns="" xmlns:a16="http://schemas.microsoft.com/office/drawing/2014/main" id="{D8F0B564-5C28-9577-0226-3E1CF9C195E9}"/>
              </a:ext>
            </a:extLst>
          </p:cNvPr>
          <p:cNvSpPr txBox="1">
            <a:spLocks/>
          </p:cNvSpPr>
          <p:nvPr/>
        </p:nvSpPr>
        <p:spPr>
          <a:xfrm>
            <a:off x="233363" y="4360936"/>
            <a:ext cx="11725275" cy="209528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0" i="0" dirty="0">
                <a:effectLst/>
              </a:rPr>
              <a:t>Consider that we want to </a:t>
            </a:r>
            <a:r>
              <a:rPr lang="en-US" b="1" i="0" dirty="0">
                <a:solidFill>
                  <a:srgbClr val="0000CC"/>
                </a:solidFill>
                <a:effectLst/>
              </a:rPr>
              <a:t>set up levels (hot (80-85), mild (70-75), cool (64-69)) </a:t>
            </a:r>
            <a:r>
              <a:rPr lang="en-US" b="0" i="0" dirty="0">
                <a:effectLst/>
              </a:rPr>
              <a:t>in temperature from the above cubes.</a:t>
            </a:r>
          </a:p>
          <a:p>
            <a:pPr algn="just"/>
            <a:r>
              <a:rPr lang="en-US" b="0" i="0" dirty="0">
                <a:effectLst/>
              </a:rPr>
              <a:t>To do this, </a:t>
            </a:r>
            <a:r>
              <a:rPr lang="en-US" b="1" i="0" dirty="0">
                <a:solidFill>
                  <a:srgbClr val="0000CC"/>
                </a:solidFill>
                <a:effectLst/>
              </a:rPr>
              <a:t>we have to group column and add up the value according to the concept hierarchies. </a:t>
            </a:r>
          </a:p>
          <a:p>
            <a:pPr algn="just"/>
            <a:r>
              <a:rPr lang="en-US" b="0" i="0" dirty="0">
                <a:effectLst/>
              </a:rPr>
              <a:t>This </a:t>
            </a:r>
            <a:r>
              <a:rPr lang="en-US" b="1" i="0" dirty="0">
                <a:solidFill>
                  <a:srgbClr val="0000CC"/>
                </a:solidFill>
                <a:effectLst/>
              </a:rPr>
              <a:t>operation is known as a roll-up.</a:t>
            </a:r>
          </a:p>
        </p:txBody>
      </p:sp>
    </p:spTree>
    <p:extLst>
      <p:ext uri="{BB962C8B-B14F-4D97-AF65-F5344CB8AC3E}">
        <p14:creationId xmlns:p14="http://schemas.microsoft.com/office/powerpoint/2010/main" val="218033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5022271" cy="5694217"/>
          </a:xfrm>
        </p:spPr>
        <p:txBody>
          <a:bodyPr>
            <a:normAutofit/>
          </a:bodyPr>
          <a:lstStyle/>
          <a:p>
            <a:pPr algn="just"/>
            <a:r>
              <a:rPr lang="en-US" b="1" i="0" dirty="0">
                <a:effectLst/>
              </a:rPr>
              <a:t>Drill-down.</a:t>
            </a:r>
            <a:r>
              <a:rPr lang="en-US" i="0" dirty="0">
                <a:effectLst/>
              </a:rPr>
              <a:t> </a:t>
            </a:r>
            <a:r>
              <a:rPr lang="en-US" b="1" i="0" dirty="0">
                <a:solidFill>
                  <a:srgbClr val="0000CC"/>
                </a:solidFill>
                <a:effectLst/>
              </a:rPr>
              <a:t>This allows analysts to navigate deeper among the dimensions of data, </a:t>
            </a:r>
            <a:r>
              <a:rPr lang="en-US" i="0" dirty="0">
                <a:effectLst/>
              </a:rPr>
              <a:t>for example drilling down from "time period" to "years" and "months" to chart sales growth for a product.</a:t>
            </a:r>
          </a:p>
          <a:p>
            <a:pPr algn="just"/>
            <a:endParaRPr lang="en-US" i="0" dirty="0">
              <a:effectLst/>
            </a:endParaRPr>
          </a:p>
        </p:txBody>
      </p:sp>
      <p:graphicFrame>
        <p:nvGraphicFramePr>
          <p:cNvPr id="4" name="Table 3">
            <a:extLst>
              <a:ext uri="{FF2B5EF4-FFF2-40B4-BE49-F238E27FC236}">
                <a16:creationId xmlns="" xmlns:a16="http://schemas.microsoft.com/office/drawing/2014/main" id="{B5FD535E-9597-D7F3-A44C-00F99F57F0CE}"/>
              </a:ext>
            </a:extLst>
          </p:cNvPr>
          <p:cNvGraphicFramePr>
            <a:graphicFrameLocks noGrp="1"/>
          </p:cNvGraphicFramePr>
          <p:nvPr>
            <p:extLst>
              <p:ext uri="{D42A27DB-BD31-4B8C-83A1-F6EECF244321}">
                <p14:modId xmlns:p14="http://schemas.microsoft.com/office/powerpoint/2010/main" val="2326137415"/>
              </p:ext>
            </p:extLst>
          </p:nvPr>
        </p:nvGraphicFramePr>
        <p:xfrm>
          <a:off x="8111834" y="115744"/>
          <a:ext cx="3823855" cy="6128472"/>
        </p:xfrm>
        <a:graphic>
          <a:graphicData uri="http://schemas.openxmlformats.org/drawingml/2006/table">
            <a:tbl>
              <a:tblPr/>
              <a:tblGrid>
                <a:gridCol w="1454728">
                  <a:extLst>
                    <a:ext uri="{9D8B030D-6E8A-4147-A177-3AD203B41FA5}">
                      <a16:colId xmlns="" xmlns:a16="http://schemas.microsoft.com/office/drawing/2014/main" val="2587098191"/>
                    </a:ext>
                  </a:extLst>
                </a:gridCol>
                <a:gridCol w="789709">
                  <a:extLst>
                    <a:ext uri="{9D8B030D-6E8A-4147-A177-3AD203B41FA5}">
                      <a16:colId xmlns="" xmlns:a16="http://schemas.microsoft.com/office/drawing/2014/main" val="2393400864"/>
                    </a:ext>
                  </a:extLst>
                </a:gridCol>
                <a:gridCol w="665018">
                  <a:extLst>
                    <a:ext uri="{9D8B030D-6E8A-4147-A177-3AD203B41FA5}">
                      <a16:colId xmlns="" xmlns:a16="http://schemas.microsoft.com/office/drawing/2014/main" val="3466683062"/>
                    </a:ext>
                  </a:extLst>
                </a:gridCol>
                <a:gridCol w="914400">
                  <a:extLst>
                    <a:ext uri="{9D8B030D-6E8A-4147-A177-3AD203B41FA5}">
                      <a16:colId xmlns="" xmlns:a16="http://schemas.microsoft.com/office/drawing/2014/main" val="604348713"/>
                    </a:ext>
                  </a:extLst>
                </a:gridCol>
              </a:tblGrid>
              <a:tr h="420871">
                <a:tc>
                  <a:txBody>
                    <a:bodyPr/>
                    <a:lstStyle/>
                    <a:p>
                      <a:pPr algn="l" fontAlgn="t"/>
                      <a:r>
                        <a:rPr lang="en-US" sz="1800" b="1" dirty="0">
                          <a:solidFill>
                            <a:schemeClr val="tx1"/>
                          </a:solidFill>
                          <a:effectLst/>
                          <a:latin typeface="+mn-lt"/>
                        </a:rPr>
                        <a:t>Temperature</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cool</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mild</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hot</a:t>
                      </a:r>
                    </a:p>
                  </a:txBody>
                  <a:tcPr marL="76788" marR="76788" marT="76788" marB="76788">
                    <a:lnL w="9525" cap="flat" cmpd="sng" algn="ctr">
                      <a:solidFill>
                        <a:srgbClr val="605915"/>
                      </a:solidFill>
                      <a:prstDash val="solid"/>
                      <a:round/>
                      <a:headEnd type="none" w="med" len="med"/>
                      <a:tailEnd type="none" w="med" len="med"/>
                    </a:lnL>
                    <a:lnR w="9525" cap="flat" cmpd="sng" algn="ctr">
                      <a:solidFill>
                        <a:srgbClr val="605915"/>
                      </a:solidFill>
                      <a:prstDash val="solid"/>
                      <a:round/>
                      <a:headEnd type="none" w="med" len="med"/>
                      <a:tailEnd type="none" w="med" len="med"/>
                    </a:lnR>
                    <a:lnT w="9525" cap="flat" cmpd="sng" algn="ctr">
                      <a:solidFill>
                        <a:srgbClr val="605915"/>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2898286930"/>
                  </a:ext>
                </a:extLst>
              </a:tr>
              <a:tr h="357102">
                <a:tc>
                  <a:txBody>
                    <a:bodyPr/>
                    <a:lstStyle/>
                    <a:p>
                      <a:pPr algn="just" fontAlgn="t"/>
                      <a:r>
                        <a:rPr lang="en-US" sz="2000" dirty="0">
                          <a:solidFill>
                            <a:schemeClr val="tx1"/>
                          </a:solidFill>
                          <a:effectLst/>
                          <a:latin typeface="+mn-lt"/>
                        </a:rPr>
                        <a:t>Day 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558925901"/>
                  </a:ext>
                </a:extLst>
              </a:tr>
              <a:tr h="357102">
                <a:tc>
                  <a:txBody>
                    <a:bodyPr/>
                    <a:lstStyle/>
                    <a:p>
                      <a:pPr algn="just" fontAlgn="t"/>
                      <a:r>
                        <a:rPr lang="en-US" sz="2000" dirty="0">
                          <a:solidFill>
                            <a:schemeClr val="tx1"/>
                          </a:solidFill>
                          <a:effectLst/>
                          <a:latin typeface="+mn-lt"/>
                        </a:rPr>
                        <a:t>Day 2</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606429679"/>
                  </a:ext>
                </a:extLst>
              </a:tr>
              <a:tr h="357102">
                <a:tc>
                  <a:txBody>
                    <a:bodyPr/>
                    <a:lstStyle/>
                    <a:p>
                      <a:pPr algn="just" fontAlgn="t"/>
                      <a:r>
                        <a:rPr lang="en-US" sz="2000" dirty="0">
                          <a:solidFill>
                            <a:schemeClr val="tx1"/>
                          </a:solidFill>
                          <a:effectLst/>
                          <a:latin typeface="+mn-lt"/>
                        </a:rPr>
                        <a:t>Day 3</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645911916"/>
                  </a:ext>
                </a:extLst>
              </a:tr>
              <a:tr h="357102">
                <a:tc>
                  <a:txBody>
                    <a:bodyPr/>
                    <a:lstStyle/>
                    <a:p>
                      <a:pPr algn="just" fontAlgn="t"/>
                      <a:r>
                        <a:rPr lang="en-US" sz="2000">
                          <a:solidFill>
                            <a:schemeClr val="tx1"/>
                          </a:solidFill>
                          <a:effectLst/>
                          <a:latin typeface="+mn-lt"/>
                        </a:rPr>
                        <a:t>Day 4</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1070755179"/>
                  </a:ext>
                </a:extLst>
              </a:tr>
              <a:tr h="357102">
                <a:tc>
                  <a:txBody>
                    <a:bodyPr/>
                    <a:lstStyle/>
                    <a:p>
                      <a:pPr algn="just" fontAlgn="t"/>
                      <a:r>
                        <a:rPr lang="en-US" sz="2000">
                          <a:solidFill>
                            <a:schemeClr val="tx1"/>
                          </a:solidFill>
                          <a:effectLst/>
                          <a:latin typeface="+mn-lt"/>
                        </a:rPr>
                        <a:t>Day 5</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047525530"/>
                  </a:ext>
                </a:extLst>
              </a:tr>
              <a:tr h="357102">
                <a:tc>
                  <a:txBody>
                    <a:bodyPr/>
                    <a:lstStyle/>
                    <a:p>
                      <a:pPr algn="just" fontAlgn="t"/>
                      <a:r>
                        <a:rPr lang="en-US" sz="2000">
                          <a:solidFill>
                            <a:schemeClr val="tx1"/>
                          </a:solidFill>
                          <a:effectLst/>
                          <a:latin typeface="+mn-lt"/>
                        </a:rPr>
                        <a:t>Day 6</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83349321"/>
                  </a:ext>
                </a:extLst>
              </a:tr>
              <a:tr h="357102">
                <a:tc>
                  <a:txBody>
                    <a:bodyPr/>
                    <a:lstStyle/>
                    <a:p>
                      <a:pPr algn="just" fontAlgn="t"/>
                      <a:r>
                        <a:rPr lang="en-US" sz="2000">
                          <a:solidFill>
                            <a:schemeClr val="tx1"/>
                          </a:solidFill>
                          <a:effectLst/>
                          <a:latin typeface="+mn-lt"/>
                        </a:rPr>
                        <a:t>Day 7</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738757320"/>
                  </a:ext>
                </a:extLst>
              </a:tr>
              <a:tr h="357102">
                <a:tc>
                  <a:txBody>
                    <a:bodyPr/>
                    <a:lstStyle/>
                    <a:p>
                      <a:pPr algn="just" fontAlgn="t"/>
                      <a:r>
                        <a:rPr lang="en-US" sz="2000">
                          <a:solidFill>
                            <a:schemeClr val="tx1"/>
                          </a:solidFill>
                          <a:effectLst/>
                          <a:latin typeface="+mn-lt"/>
                        </a:rPr>
                        <a:t>Day 8</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4308631"/>
                  </a:ext>
                </a:extLst>
              </a:tr>
              <a:tr h="357102">
                <a:tc>
                  <a:txBody>
                    <a:bodyPr/>
                    <a:lstStyle/>
                    <a:p>
                      <a:pPr algn="just" fontAlgn="t"/>
                      <a:r>
                        <a:rPr lang="en-US" sz="2000">
                          <a:solidFill>
                            <a:schemeClr val="tx1"/>
                          </a:solidFill>
                          <a:effectLst/>
                          <a:latin typeface="+mn-lt"/>
                        </a:rPr>
                        <a:t>Day 9</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732649097"/>
                  </a:ext>
                </a:extLst>
              </a:tr>
              <a:tr h="357102">
                <a:tc>
                  <a:txBody>
                    <a:bodyPr/>
                    <a:lstStyle/>
                    <a:p>
                      <a:pPr algn="just" fontAlgn="t"/>
                      <a:r>
                        <a:rPr lang="en-US" sz="2000">
                          <a:solidFill>
                            <a:schemeClr val="tx1"/>
                          </a:solidFill>
                          <a:effectLst/>
                          <a:latin typeface="+mn-lt"/>
                        </a:rPr>
                        <a:t>Day 10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69746781"/>
                  </a:ext>
                </a:extLst>
              </a:tr>
              <a:tr h="357102">
                <a:tc>
                  <a:txBody>
                    <a:bodyPr/>
                    <a:lstStyle/>
                    <a:p>
                      <a:pPr algn="just" fontAlgn="t"/>
                      <a:r>
                        <a:rPr lang="en-US" sz="2000">
                          <a:solidFill>
                            <a:schemeClr val="tx1"/>
                          </a:solidFill>
                          <a:effectLst/>
                          <a:latin typeface="+mn-lt"/>
                        </a:rPr>
                        <a:t>Day 11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318484015"/>
                  </a:ext>
                </a:extLst>
              </a:tr>
              <a:tr h="357102">
                <a:tc>
                  <a:txBody>
                    <a:bodyPr/>
                    <a:lstStyle/>
                    <a:p>
                      <a:pPr algn="just" fontAlgn="t"/>
                      <a:r>
                        <a:rPr lang="en-US" sz="2000">
                          <a:solidFill>
                            <a:schemeClr val="tx1"/>
                          </a:solidFill>
                          <a:effectLst/>
                          <a:latin typeface="+mn-lt"/>
                        </a:rPr>
                        <a:t>Day 12</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708764942"/>
                  </a:ext>
                </a:extLst>
              </a:tr>
              <a:tr h="357102">
                <a:tc>
                  <a:txBody>
                    <a:bodyPr/>
                    <a:lstStyle/>
                    <a:p>
                      <a:pPr algn="just" fontAlgn="t"/>
                      <a:r>
                        <a:rPr lang="en-US" sz="2000">
                          <a:solidFill>
                            <a:schemeClr val="tx1"/>
                          </a:solidFill>
                          <a:effectLst/>
                          <a:latin typeface="+mn-lt"/>
                        </a:rPr>
                        <a:t>Day 13</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546733241"/>
                  </a:ext>
                </a:extLst>
              </a:tr>
              <a:tr h="357102">
                <a:tc>
                  <a:txBody>
                    <a:bodyPr/>
                    <a:lstStyle/>
                    <a:p>
                      <a:pPr algn="just" fontAlgn="t"/>
                      <a:r>
                        <a:rPr lang="en-US" sz="2000">
                          <a:solidFill>
                            <a:schemeClr val="tx1"/>
                          </a:solidFill>
                          <a:effectLst/>
                          <a:latin typeface="+mn-lt"/>
                        </a:rPr>
                        <a:t>Day 14</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1192" marR="51192" marT="51192" marB="51192">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353674701"/>
                  </a:ext>
                </a:extLst>
              </a:tr>
            </a:tbl>
          </a:graphicData>
        </a:graphic>
      </p:graphicFrame>
    </p:spTree>
    <p:extLst>
      <p:ext uri="{BB962C8B-B14F-4D97-AF65-F5344CB8AC3E}">
        <p14:creationId xmlns:p14="http://schemas.microsoft.com/office/powerpoint/2010/main" val="1661712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3900053" cy="5555671"/>
          </a:xfrm>
        </p:spPr>
        <p:txBody>
          <a:bodyPr>
            <a:normAutofit/>
          </a:bodyPr>
          <a:lstStyle/>
          <a:p>
            <a:pPr algn="just"/>
            <a:r>
              <a:rPr lang="en-US" b="1" i="0" dirty="0">
                <a:effectLst/>
              </a:rPr>
              <a:t>Slice.</a:t>
            </a:r>
            <a:r>
              <a:rPr lang="en-US" i="0" dirty="0">
                <a:effectLst/>
              </a:rPr>
              <a:t> </a:t>
            </a:r>
            <a:r>
              <a:rPr lang="en-US" b="1" i="0" dirty="0">
                <a:solidFill>
                  <a:srgbClr val="0000CC"/>
                </a:solidFill>
                <a:effectLst/>
              </a:rPr>
              <a:t>This enables an analyst to take one level of information for display, such as "sales in 2017.“</a:t>
            </a:r>
          </a:p>
          <a:p>
            <a:pPr algn="just"/>
            <a:r>
              <a:rPr lang="en-US" b="0" i="0" dirty="0">
                <a:effectLst/>
              </a:rPr>
              <a:t>For example, if we make the selection, temperature=cool we will obtain the following cube:</a:t>
            </a:r>
            <a:endParaRPr lang="en-US" b="1" i="0" dirty="0">
              <a:effectLst/>
            </a:endParaRPr>
          </a:p>
        </p:txBody>
      </p:sp>
      <p:graphicFrame>
        <p:nvGraphicFramePr>
          <p:cNvPr id="4" name="Table 3">
            <a:extLst>
              <a:ext uri="{FF2B5EF4-FFF2-40B4-BE49-F238E27FC236}">
                <a16:creationId xmlns="" xmlns:a16="http://schemas.microsoft.com/office/drawing/2014/main" id="{05A503AC-4F18-6256-2F18-AD41B9C9905C}"/>
              </a:ext>
            </a:extLst>
          </p:cNvPr>
          <p:cNvGraphicFramePr>
            <a:graphicFrameLocks noGrp="1"/>
          </p:cNvGraphicFramePr>
          <p:nvPr>
            <p:extLst>
              <p:ext uri="{D42A27DB-BD31-4B8C-83A1-F6EECF244321}">
                <p14:modId xmlns:p14="http://schemas.microsoft.com/office/powerpoint/2010/main" val="1173783146"/>
              </p:ext>
            </p:extLst>
          </p:nvPr>
        </p:nvGraphicFramePr>
        <p:xfrm>
          <a:off x="4232565" y="985524"/>
          <a:ext cx="2195944" cy="5826006"/>
        </p:xfrm>
        <a:graphic>
          <a:graphicData uri="http://schemas.openxmlformats.org/drawingml/2006/table">
            <a:tbl>
              <a:tblPr/>
              <a:tblGrid>
                <a:gridCol w="1565563">
                  <a:extLst>
                    <a:ext uri="{9D8B030D-6E8A-4147-A177-3AD203B41FA5}">
                      <a16:colId xmlns="" xmlns:a16="http://schemas.microsoft.com/office/drawing/2014/main" val="626055158"/>
                    </a:ext>
                  </a:extLst>
                </a:gridCol>
                <a:gridCol w="630381">
                  <a:extLst>
                    <a:ext uri="{9D8B030D-6E8A-4147-A177-3AD203B41FA5}">
                      <a16:colId xmlns="" xmlns:a16="http://schemas.microsoft.com/office/drawing/2014/main" val="2694872870"/>
                    </a:ext>
                  </a:extLst>
                </a:gridCol>
              </a:tblGrid>
              <a:tr h="361698">
                <a:tc>
                  <a:txBody>
                    <a:bodyPr/>
                    <a:lstStyle/>
                    <a:p>
                      <a:pPr algn="l" fontAlgn="t"/>
                      <a:r>
                        <a:rPr lang="en-US" sz="1800" b="1" dirty="0">
                          <a:solidFill>
                            <a:schemeClr val="tx1"/>
                          </a:solidFill>
                          <a:effectLst/>
                          <a:latin typeface="+mn-lt"/>
                        </a:rPr>
                        <a:t>Temperature</a:t>
                      </a:r>
                    </a:p>
                  </a:txBody>
                  <a:tcPr marL="82204" marR="82204" marT="82204" marB="82204">
                    <a:lnL w="9525" cap="flat" cmpd="sng" algn="ctr">
                      <a:solidFill>
                        <a:srgbClr val="B00BEB"/>
                      </a:solidFill>
                      <a:prstDash val="solid"/>
                      <a:round/>
                      <a:headEnd type="none" w="med" len="med"/>
                      <a:tailEnd type="none" w="med" len="med"/>
                    </a:lnL>
                    <a:lnR w="9525" cap="flat" cmpd="sng" algn="ctr">
                      <a:solidFill>
                        <a:srgbClr val="B00BEB"/>
                      </a:solidFill>
                      <a:prstDash val="solid"/>
                      <a:round/>
                      <a:headEnd type="none" w="med" len="med"/>
                      <a:tailEnd type="none" w="med" len="med"/>
                    </a:lnR>
                    <a:lnT w="9525" cap="flat" cmpd="sng" algn="ctr">
                      <a:solidFill>
                        <a:srgbClr val="B00BE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800" b="1" dirty="0">
                          <a:solidFill>
                            <a:schemeClr val="tx1"/>
                          </a:solidFill>
                          <a:effectLst/>
                          <a:latin typeface="+mn-lt"/>
                        </a:rPr>
                        <a:t>cool</a:t>
                      </a:r>
                    </a:p>
                  </a:txBody>
                  <a:tcPr marL="82204" marR="82204" marT="82204" marB="82204">
                    <a:lnL w="9525" cap="flat" cmpd="sng" algn="ctr">
                      <a:solidFill>
                        <a:srgbClr val="B00BEB"/>
                      </a:solidFill>
                      <a:prstDash val="solid"/>
                      <a:round/>
                      <a:headEnd type="none" w="med" len="med"/>
                      <a:tailEnd type="none" w="med" len="med"/>
                    </a:lnL>
                    <a:lnR w="9525" cap="flat" cmpd="sng" algn="ctr">
                      <a:solidFill>
                        <a:srgbClr val="B00BEB"/>
                      </a:solidFill>
                      <a:prstDash val="solid"/>
                      <a:round/>
                      <a:headEnd type="none" w="med" len="med"/>
                      <a:tailEnd type="none" w="med" len="med"/>
                    </a:lnR>
                    <a:lnT w="9525" cap="flat" cmpd="sng" algn="ctr">
                      <a:solidFill>
                        <a:srgbClr val="B00BE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578083947"/>
                  </a:ext>
                </a:extLst>
              </a:tr>
              <a:tr h="306895">
                <a:tc>
                  <a:txBody>
                    <a:bodyPr/>
                    <a:lstStyle/>
                    <a:p>
                      <a:pPr algn="just" fontAlgn="t"/>
                      <a:r>
                        <a:rPr lang="en-US" sz="2000" dirty="0">
                          <a:solidFill>
                            <a:schemeClr val="tx1"/>
                          </a:solidFill>
                          <a:effectLst/>
                          <a:latin typeface="+mn-lt"/>
                        </a:rPr>
                        <a:t>Day 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545944153"/>
                  </a:ext>
                </a:extLst>
              </a:tr>
              <a:tr h="306895">
                <a:tc>
                  <a:txBody>
                    <a:bodyPr/>
                    <a:lstStyle/>
                    <a:p>
                      <a:pPr algn="just" fontAlgn="t"/>
                      <a:r>
                        <a:rPr lang="en-US" sz="2000">
                          <a:solidFill>
                            <a:schemeClr val="tx1"/>
                          </a:solidFill>
                          <a:effectLst/>
                          <a:latin typeface="+mn-lt"/>
                        </a:rPr>
                        <a:t>Day 2</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1853199678"/>
                  </a:ext>
                </a:extLst>
              </a:tr>
              <a:tr h="306895">
                <a:tc>
                  <a:txBody>
                    <a:bodyPr/>
                    <a:lstStyle/>
                    <a:p>
                      <a:pPr algn="just" fontAlgn="t"/>
                      <a:r>
                        <a:rPr lang="en-US" sz="2000" dirty="0">
                          <a:solidFill>
                            <a:schemeClr val="tx1"/>
                          </a:solidFill>
                          <a:effectLst/>
                          <a:latin typeface="+mn-lt"/>
                        </a:rPr>
                        <a:t>Day 3</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030375650"/>
                  </a:ext>
                </a:extLst>
              </a:tr>
              <a:tr h="306895">
                <a:tc>
                  <a:txBody>
                    <a:bodyPr/>
                    <a:lstStyle/>
                    <a:p>
                      <a:pPr algn="just" fontAlgn="t"/>
                      <a:r>
                        <a:rPr lang="en-US" sz="2000" dirty="0">
                          <a:solidFill>
                            <a:schemeClr val="tx1"/>
                          </a:solidFill>
                          <a:effectLst/>
                          <a:latin typeface="+mn-lt"/>
                        </a:rPr>
                        <a:t>Day 4</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198489634"/>
                  </a:ext>
                </a:extLst>
              </a:tr>
              <a:tr h="306895">
                <a:tc>
                  <a:txBody>
                    <a:bodyPr/>
                    <a:lstStyle/>
                    <a:p>
                      <a:pPr algn="just" fontAlgn="t"/>
                      <a:r>
                        <a:rPr lang="en-US" sz="2000" dirty="0">
                          <a:solidFill>
                            <a:schemeClr val="tx1"/>
                          </a:solidFill>
                          <a:effectLst/>
                          <a:latin typeface="+mn-lt"/>
                        </a:rPr>
                        <a:t>Day 5</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327693937"/>
                  </a:ext>
                </a:extLst>
              </a:tr>
              <a:tr h="306895">
                <a:tc>
                  <a:txBody>
                    <a:bodyPr/>
                    <a:lstStyle/>
                    <a:p>
                      <a:pPr algn="just" fontAlgn="t"/>
                      <a:r>
                        <a:rPr lang="en-US" sz="2000" dirty="0">
                          <a:solidFill>
                            <a:schemeClr val="tx1"/>
                          </a:solidFill>
                          <a:effectLst/>
                          <a:latin typeface="+mn-lt"/>
                        </a:rPr>
                        <a:t>Day 6</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999936012"/>
                  </a:ext>
                </a:extLst>
              </a:tr>
              <a:tr h="306895">
                <a:tc>
                  <a:txBody>
                    <a:bodyPr/>
                    <a:lstStyle/>
                    <a:p>
                      <a:pPr algn="just" fontAlgn="t"/>
                      <a:r>
                        <a:rPr lang="en-US" sz="2000" dirty="0">
                          <a:solidFill>
                            <a:schemeClr val="tx1"/>
                          </a:solidFill>
                          <a:effectLst/>
                          <a:latin typeface="+mn-lt"/>
                        </a:rPr>
                        <a:t>Day 7</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132796984"/>
                  </a:ext>
                </a:extLst>
              </a:tr>
              <a:tr h="306895">
                <a:tc>
                  <a:txBody>
                    <a:bodyPr/>
                    <a:lstStyle/>
                    <a:p>
                      <a:pPr algn="just" fontAlgn="t"/>
                      <a:r>
                        <a:rPr lang="en-US" sz="2000">
                          <a:solidFill>
                            <a:schemeClr val="tx1"/>
                          </a:solidFill>
                          <a:effectLst/>
                          <a:latin typeface="+mn-lt"/>
                        </a:rPr>
                        <a:t>Day 8</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071255571"/>
                  </a:ext>
                </a:extLst>
              </a:tr>
              <a:tr h="306895">
                <a:tc>
                  <a:txBody>
                    <a:bodyPr/>
                    <a:lstStyle/>
                    <a:p>
                      <a:pPr algn="just" fontAlgn="t"/>
                      <a:r>
                        <a:rPr lang="en-US" sz="2000">
                          <a:solidFill>
                            <a:schemeClr val="tx1"/>
                          </a:solidFill>
                          <a:effectLst/>
                          <a:latin typeface="+mn-lt"/>
                        </a:rPr>
                        <a:t>Day 9</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825394118"/>
                  </a:ext>
                </a:extLst>
              </a:tr>
              <a:tr h="306895">
                <a:tc>
                  <a:txBody>
                    <a:bodyPr/>
                    <a:lstStyle/>
                    <a:p>
                      <a:pPr algn="just" fontAlgn="t"/>
                      <a:r>
                        <a:rPr lang="en-US" sz="2000">
                          <a:solidFill>
                            <a:schemeClr val="tx1"/>
                          </a:solidFill>
                          <a:effectLst/>
                          <a:latin typeface="+mn-lt"/>
                        </a:rPr>
                        <a:t>Day 11</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685728000"/>
                  </a:ext>
                </a:extLst>
              </a:tr>
              <a:tr h="306895">
                <a:tc>
                  <a:txBody>
                    <a:bodyPr/>
                    <a:lstStyle/>
                    <a:p>
                      <a:pPr algn="just" fontAlgn="t"/>
                      <a:r>
                        <a:rPr lang="en-US" sz="2000">
                          <a:solidFill>
                            <a:schemeClr val="tx1"/>
                          </a:solidFill>
                          <a:effectLst/>
                          <a:latin typeface="+mn-lt"/>
                        </a:rPr>
                        <a:t>Day 12</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1003295832"/>
                  </a:ext>
                </a:extLst>
              </a:tr>
              <a:tr h="306895">
                <a:tc>
                  <a:txBody>
                    <a:bodyPr/>
                    <a:lstStyle/>
                    <a:p>
                      <a:pPr algn="just" fontAlgn="t"/>
                      <a:r>
                        <a:rPr lang="en-US" sz="2000">
                          <a:solidFill>
                            <a:schemeClr val="tx1"/>
                          </a:solidFill>
                          <a:effectLst/>
                          <a:latin typeface="+mn-lt"/>
                        </a:rPr>
                        <a:t>Day 13</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3663527374"/>
                  </a:ext>
                </a:extLst>
              </a:tr>
              <a:tr h="306895">
                <a:tc>
                  <a:txBody>
                    <a:bodyPr/>
                    <a:lstStyle/>
                    <a:p>
                      <a:pPr algn="just" fontAlgn="t"/>
                      <a:r>
                        <a:rPr lang="en-US" sz="2000">
                          <a:solidFill>
                            <a:schemeClr val="tx1"/>
                          </a:solidFill>
                          <a:effectLst/>
                          <a:latin typeface="+mn-lt"/>
                        </a:rPr>
                        <a:t>Day 14</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54803" marR="54803" marT="54803" marB="54803">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2849135616"/>
                  </a:ext>
                </a:extLst>
              </a:tr>
            </a:tbl>
          </a:graphicData>
        </a:graphic>
      </p:graphicFrame>
      <p:sp>
        <p:nvSpPr>
          <p:cNvPr id="5" name="Content Placeholder 2">
            <a:extLst>
              <a:ext uri="{FF2B5EF4-FFF2-40B4-BE49-F238E27FC236}">
                <a16:creationId xmlns="" xmlns:a16="http://schemas.microsoft.com/office/drawing/2014/main" id="{9636C0F2-EC03-C38E-EF59-B9E4908C1F72}"/>
              </a:ext>
            </a:extLst>
          </p:cNvPr>
          <p:cNvSpPr txBox="1">
            <a:spLocks/>
          </p:cNvSpPr>
          <p:nvPr/>
        </p:nvSpPr>
        <p:spPr>
          <a:xfrm>
            <a:off x="6871855" y="775856"/>
            <a:ext cx="5063835" cy="347749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b="1" i="0" dirty="0">
                <a:effectLst/>
              </a:rPr>
              <a:t>Dice.</a:t>
            </a:r>
            <a:r>
              <a:rPr lang="en-US" i="0" dirty="0">
                <a:effectLst/>
              </a:rPr>
              <a:t> </a:t>
            </a:r>
            <a:r>
              <a:rPr lang="en-US" b="1" i="0" dirty="0">
                <a:solidFill>
                  <a:srgbClr val="0000CC"/>
                </a:solidFill>
                <a:effectLst/>
              </a:rPr>
              <a:t>This allows an analyst to select data from multiple dimensions to analyze.</a:t>
            </a:r>
          </a:p>
          <a:p>
            <a:pPr algn="just"/>
            <a:r>
              <a:rPr lang="en-US" b="0" i="0" dirty="0">
                <a:effectLst/>
              </a:rPr>
              <a:t>The dice operation </a:t>
            </a:r>
            <a:r>
              <a:rPr lang="en-US" b="1" i="0" dirty="0">
                <a:solidFill>
                  <a:srgbClr val="0000CC"/>
                </a:solidFill>
                <a:effectLst/>
              </a:rPr>
              <a:t>describes a </a:t>
            </a:r>
            <a:r>
              <a:rPr lang="en-US" b="1" i="0" dirty="0" err="1">
                <a:solidFill>
                  <a:srgbClr val="0000CC"/>
                </a:solidFill>
                <a:effectLst/>
              </a:rPr>
              <a:t>subcube</a:t>
            </a:r>
            <a:r>
              <a:rPr lang="en-US" b="1" i="0" dirty="0">
                <a:solidFill>
                  <a:srgbClr val="0000CC"/>
                </a:solidFill>
                <a:effectLst/>
              </a:rPr>
              <a:t> by operating a selection on two or more dimension.</a:t>
            </a:r>
          </a:p>
          <a:p>
            <a:pPr algn="just"/>
            <a:r>
              <a:rPr lang="en-US" b="1" i="0" dirty="0">
                <a:effectLst/>
              </a:rPr>
              <a:t>For example</a:t>
            </a:r>
            <a:r>
              <a:rPr lang="en-US" b="0" i="0" dirty="0">
                <a:effectLst/>
              </a:rPr>
              <a:t>, Implement the selection (time = day 3 OR time = day 4) AND (temperature = cool OR temperature = hot) to the original cubes we get the following </a:t>
            </a:r>
            <a:r>
              <a:rPr lang="en-US" b="0" i="0" dirty="0" err="1">
                <a:effectLst/>
              </a:rPr>
              <a:t>subcube</a:t>
            </a:r>
            <a:r>
              <a:rPr lang="en-US" b="0" i="0" dirty="0">
                <a:effectLst/>
              </a:rPr>
              <a:t> (still two-dimensional)</a:t>
            </a:r>
          </a:p>
          <a:p>
            <a:pPr algn="just"/>
            <a:endParaRPr lang="en-US" b="1" i="0" dirty="0">
              <a:solidFill>
                <a:srgbClr val="0000CC"/>
              </a:solidFill>
              <a:effectLst/>
            </a:endParaRPr>
          </a:p>
        </p:txBody>
      </p:sp>
      <p:graphicFrame>
        <p:nvGraphicFramePr>
          <p:cNvPr id="6" name="Table 5">
            <a:extLst>
              <a:ext uri="{FF2B5EF4-FFF2-40B4-BE49-F238E27FC236}">
                <a16:creationId xmlns="" xmlns:a16="http://schemas.microsoft.com/office/drawing/2014/main" id="{EB4E2612-E244-DE92-37B9-B696CB19AAA7}"/>
              </a:ext>
            </a:extLst>
          </p:cNvPr>
          <p:cNvGraphicFramePr>
            <a:graphicFrameLocks noGrp="1"/>
          </p:cNvGraphicFramePr>
          <p:nvPr>
            <p:extLst>
              <p:ext uri="{D42A27DB-BD31-4B8C-83A1-F6EECF244321}">
                <p14:modId xmlns:p14="http://schemas.microsoft.com/office/powerpoint/2010/main" val="701718438"/>
              </p:ext>
            </p:extLst>
          </p:nvPr>
        </p:nvGraphicFramePr>
        <p:xfrm>
          <a:off x="7712081" y="4253346"/>
          <a:ext cx="2955919" cy="1417320"/>
        </p:xfrm>
        <a:graphic>
          <a:graphicData uri="http://schemas.openxmlformats.org/drawingml/2006/table">
            <a:tbl>
              <a:tblPr/>
              <a:tblGrid>
                <a:gridCol w="1501191">
                  <a:extLst>
                    <a:ext uri="{9D8B030D-6E8A-4147-A177-3AD203B41FA5}">
                      <a16:colId xmlns="" xmlns:a16="http://schemas.microsoft.com/office/drawing/2014/main" val="3799346679"/>
                    </a:ext>
                  </a:extLst>
                </a:gridCol>
                <a:gridCol w="748146">
                  <a:extLst>
                    <a:ext uri="{9D8B030D-6E8A-4147-A177-3AD203B41FA5}">
                      <a16:colId xmlns="" xmlns:a16="http://schemas.microsoft.com/office/drawing/2014/main" val="2539725301"/>
                    </a:ext>
                  </a:extLst>
                </a:gridCol>
                <a:gridCol w="706582">
                  <a:extLst>
                    <a:ext uri="{9D8B030D-6E8A-4147-A177-3AD203B41FA5}">
                      <a16:colId xmlns="" xmlns:a16="http://schemas.microsoft.com/office/drawing/2014/main" val="2128258205"/>
                    </a:ext>
                  </a:extLst>
                </a:gridCol>
              </a:tblGrid>
              <a:tr h="0">
                <a:tc>
                  <a:txBody>
                    <a:bodyPr/>
                    <a:lstStyle/>
                    <a:p>
                      <a:pPr algn="l" fontAlgn="t"/>
                      <a:r>
                        <a:rPr lang="en-US" b="1" dirty="0">
                          <a:solidFill>
                            <a:schemeClr val="tx1"/>
                          </a:solidFill>
                          <a:effectLst/>
                          <a:latin typeface="+mn-lt"/>
                        </a:rPr>
                        <a:t>Temperature</a:t>
                      </a:r>
                    </a:p>
                  </a:txBody>
                  <a:tcPr marL="114300" marR="114300" marT="114300" marB="114300">
                    <a:lnL w="9525" cap="flat" cmpd="sng" algn="ctr">
                      <a:solidFill>
                        <a:srgbClr val="201D63"/>
                      </a:solidFill>
                      <a:prstDash val="solid"/>
                      <a:round/>
                      <a:headEnd type="none" w="med" len="med"/>
                      <a:tailEnd type="none" w="med" len="med"/>
                    </a:lnL>
                    <a:lnR w="9525" cap="flat" cmpd="sng" algn="ctr">
                      <a:solidFill>
                        <a:srgbClr val="201D63"/>
                      </a:solidFill>
                      <a:prstDash val="solid"/>
                      <a:round/>
                      <a:headEnd type="none" w="med" len="med"/>
                      <a:tailEnd type="none" w="med" len="med"/>
                    </a:lnR>
                    <a:lnT w="9525" cap="flat" cmpd="sng" algn="ctr">
                      <a:solidFill>
                        <a:srgbClr val="201D6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cool</a:t>
                      </a:r>
                    </a:p>
                  </a:txBody>
                  <a:tcPr marL="114300" marR="114300" marT="114300" marB="114300">
                    <a:lnL w="9525" cap="flat" cmpd="sng" algn="ctr">
                      <a:solidFill>
                        <a:srgbClr val="201D63"/>
                      </a:solidFill>
                      <a:prstDash val="solid"/>
                      <a:round/>
                      <a:headEnd type="none" w="med" len="med"/>
                      <a:tailEnd type="none" w="med" len="med"/>
                    </a:lnL>
                    <a:lnR w="9525" cap="flat" cmpd="sng" algn="ctr">
                      <a:solidFill>
                        <a:srgbClr val="201D63"/>
                      </a:solidFill>
                      <a:prstDash val="solid"/>
                      <a:round/>
                      <a:headEnd type="none" w="med" len="med"/>
                      <a:tailEnd type="none" w="med" len="med"/>
                    </a:lnR>
                    <a:lnT w="9525" cap="flat" cmpd="sng" algn="ctr">
                      <a:solidFill>
                        <a:srgbClr val="201D6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b="1" dirty="0">
                          <a:solidFill>
                            <a:schemeClr val="tx1"/>
                          </a:solidFill>
                          <a:effectLst/>
                          <a:latin typeface="+mn-lt"/>
                        </a:rPr>
                        <a:t>hot</a:t>
                      </a:r>
                    </a:p>
                  </a:txBody>
                  <a:tcPr marL="114300" marR="114300" marT="114300" marB="114300">
                    <a:lnL w="9525" cap="flat" cmpd="sng" algn="ctr">
                      <a:solidFill>
                        <a:srgbClr val="201D63"/>
                      </a:solidFill>
                      <a:prstDash val="solid"/>
                      <a:round/>
                      <a:headEnd type="none" w="med" len="med"/>
                      <a:tailEnd type="none" w="med" len="med"/>
                    </a:lnL>
                    <a:lnR w="9525" cap="flat" cmpd="sng" algn="ctr">
                      <a:solidFill>
                        <a:srgbClr val="201D63"/>
                      </a:solidFill>
                      <a:prstDash val="solid"/>
                      <a:round/>
                      <a:headEnd type="none" w="med" len="med"/>
                      <a:tailEnd type="none" w="med" len="med"/>
                    </a:lnR>
                    <a:lnT w="9525" cap="flat" cmpd="sng" algn="ctr">
                      <a:solidFill>
                        <a:srgbClr val="201D63"/>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 xmlns:a16="http://schemas.microsoft.com/office/drawing/2014/main" val="1370281451"/>
                  </a:ext>
                </a:extLst>
              </a:tr>
              <a:tr h="0">
                <a:tc>
                  <a:txBody>
                    <a:bodyPr/>
                    <a:lstStyle/>
                    <a:p>
                      <a:pPr algn="just" fontAlgn="t"/>
                      <a:r>
                        <a:rPr lang="en-US" sz="2000" dirty="0">
                          <a:solidFill>
                            <a:schemeClr val="tx1"/>
                          </a:solidFill>
                          <a:effectLst/>
                          <a:latin typeface="+mn-lt"/>
                        </a:rPr>
                        <a:t>Day 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a:solidFill>
                            <a:schemeClr val="tx1"/>
                          </a:solidFill>
                          <a:effectLst/>
                          <a:latin typeface="+mn-lt"/>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 xmlns:a16="http://schemas.microsoft.com/office/drawing/2014/main" val="3837985933"/>
                  </a:ext>
                </a:extLst>
              </a:tr>
              <a:tr h="0">
                <a:tc>
                  <a:txBody>
                    <a:bodyPr/>
                    <a:lstStyle/>
                    <a:p>
                      <a:pPr algn="just" fontAlgn="t"/>
                      <a:r>
                        <a:rPr lang="en-US" sz="2000" dirty="0">
                          <a:solidFill>
                            <a:schemeClr val="tx1"/>
                          </a:solidFill>
                          <a:effectLst/>
                          <a:latin typeface="+mn-lt"/>
                        </a:rPr>
                        <a:t>Day 4</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dirty="0">
                          <a:solidFill>
                            <a:schemeClr val="tx1"/>
                          </a:solidFill>
                          <a:effectLst/>
                          <a:latin typeface="+mn-lt"/>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 xmlns:a16="http://schemas.microsoft.com/office/drawing/2014/main" val="2778871104"/>
                  </a:ext>
                </a:extLst>
              </a:tr>
            </a:tbl>
          </a:graphicData>
        </a:graphic>
      </p:graphicFrame>
    </p:spTree>
    <p:extLst>
      <p:ext uri="{BB962C8B-B14F-4D97-AF65-F5344CB8AC3E}">
        <p14:creationId xmlns:p14="http://schemas.microsoft.com/office/powerpoint/2010/main" val="25297764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470E17-BA0A-DE72-BF99-AB6C74AF245B}"/>
              </a:ext>
            </a:extLst>
          </p:cNvPr>
          <p:cNvSpPr>
            <a:spLocks noGrp="1"/>
          </p:cNvSpPr>
          <p:nvPr>
            <p:ph type="title"/>
          </p:nvPr>
        </p:nvSpPr>
        <p:spPr>
          <a:xfrm>
            <a:off x="256310" y="115744"/>
            <a:ext cx="10515600" cy="826366"/>
          </a:xfrm>
        </p:spPr>
        <p:txBody>
          <a:bodyPr>
            <a:normAutofit/>
          </a:bodyPr>
          <a:lstStyle/>
          <a:p>
            <a:r>
              <a:rPr lang="en-US" sz="4000" b="1" i="0" dirty="0">
                <a:solidFill>
                  <a:srgbClr val="222222"/>
                </a:solidFill>
                <a:effectLst/>
                <a:latin typeface="+mn-lt"/>
              </a:rPr>
              <a:t>Online Analytical Processing (OLAP)</a:t>
            </a:r>
            <a:endParaRPr lang="en-US" sz="4000" dirty="0">
              <a:latin typeface="+mn-lt"/>
            </a:endParaRPr>
          </a:p>
        </p:txBody>
      </p:sp>
      <p:sp>
        <p:nvSpPr>
          <p:cNvPr id="3" name="Content Placeholder 2">
            <a:extLst>
              <a:ext uri="{FF2B5EF4-FFF2-40B4-BE49-F238E27FC236}">
                <a16:creationId xmlns="" xmlns:a16="http://schemas.microsoft.com/office/drawing/2014/main" id="{11F406C0-3649-FCF3-73F9-1EFD6D07F0EF}"/>
              </a:ext>
            </a:extLst>
          </p:cNvPr>
          <p:cNvSpPr>
            <a:spLocks noGrp="1"/>
          </p:cNvSpPr>
          <p:nvPr>
            <p:ph idx="1"/>
          </p:nvPr>
        </p:nvSpPr>
        <p:spPr>
          <a:xfrm>
            <a:off x="256311" y="942110"/>
            <a:ext cx="11353798" cy="5694217"/>
          </a:xfrm>
        </p:spPr>
        <p:txBody>
          <a:bodyPr>
            <a:normAutofit/>
          </a:bodyPr>
          <a:lstStyle/>
          <a:p>
            <a:pPr algn="just"/>
            <a:r>
              <a:rPr lang="en-US" b="1" i="0" dirty="0">
                <a:effectLst/>
              </a:rPr>
              <a:t>Pivot.</a:t>
            </a:r>
            <a:r>
              <a:rPr lang="en-US" i="0" dirty="0">
                <a:effectLst/>
              </a:rPr>
              <a:t> </a:t>
            </a:r>
            <a:r>
              <a:rPr lang="en-US" b="1" i="0" dirty="0">
                <a:solidFill>
                  <a:srgbClr val="0000CC"/>
                </a:solidFill>
                <a:effectLst/>
              </a:rPr>
              <a:t>Analysts can gain a new view of data by rotating the data axes of the cube.</a:t>
            </a:r>
          </a:p>
          <a:p>
            <a:pPr algn="just"/>
            <a:r>
              <a:rPr lang="en-US" b="0" i="0" dirty="0">
                <a:effectLst/>
              </a:rPr>
              <a:t>It may contain swapping the rows and columns or moving one of the row-dimensions into the column dimensions.</a:t>
            </a:r>
          </a:p>
          <a:p>
            <a:pPr algn="just"/>
            <a:endParaRPr lang="en-US" b="1" dirty="0"/>
          </a:p>
        </p:txBody>
      </p:sp>
      <p:pic>
        <p:nvPicPr>
          <p:cNvPr id="5" name="Picture 4">
            <a:extLst>
              <a:ext uri="{FF2B5EF4-FFF2-40B4-BE49-F238E27FC236}">
                <a16:creationId xmlns="" xmlns:a16="http://schemas.microsoft.com/office/drawing/2014/main" id="{504506AA-864A-30A4-D726-5AA1092C2082}"/>
              </a:ext>
            </a:extLst>
          </p:cNvPr>
          <p:cNvPicPr>
            <a:picLocks noChangeAspect="1"/>
          </p:cNvPicPr>
          <p:nvPr/>
        </p:nvPicPr>
        <p:blipFill>
          <a:blip r:embed="rId2"/>
          <a:stretch>
            <a:fillRect/>
          </a:stretch>
        </p:blipFill>
        <p:spPr>
          <a:xfrm>
            <a:off x="6142759" y="3619932"/>
            <a:ext cx="5467350" cy="2638425"/>
          </a:xfrm>
          <a:prstGeom prst="rect">
            <a:avLst/>
          </a:prstGeom>
        </p:spPr>
      </p:pic>
      <p:pic>
        <p:nvPicPr>
          <p:cNvPr id="7" name="Picture 6">
            <a:extLst>
              <a:ext uri="{FF2B5EF4-FFF2-40B4-BE49-F238E27FC236}">
                <a16:creationId xmlns="" xmlns:a16="http://schemas.microsoft.com/office/drawing/2014/main" id="{56F961CA-F981-E750-CC70-9A62A9916ECA}"/>
              </a:ext>
            </a:extLst>
          </p:cNvPr>
          <p:cNvPicPr>
            <a:picLocks noChangeAspect="1"/>
          </p:cNvPicPr>
          <p:nvPr/>
        </p:nvPicPr>
        <p:blipFill>
          <a:blip r:embed="rId3"/>
          <a:stretch>
            <a:fillRect/>
          </a:stretch>
        </p:blipFill>
        <p:spPr>
          <a:xfrm>
            <a:off x="1518373" y="2778702"/>
            <a:ext cx="3362325" cy="3857625"/>
          </a:xfrm>
          <a:prstGeom prst="rect">
            <a:avLst/>
          </a:prstGeom>
        </p:spPr>
      </p:pic>
    </p:spTree>
    <p:extLst>
      <p:ext uri="{BB962C8B-B14F-4D97-AF65-F5344CB8AC3E}">
        <p14:creationId xmlns:p14="http://schemas.microsoft.com/office/powerpoint/2010/main" val="358736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1F845F-B95D-CADF-0347-BA7FD10CF0CB}"/>
              </a:ext>
            </a:extLst>
          </p:cNvPr>
          <p:cNvSpPr>
            <a:spLocks noGrp="1"/>
          </p:cNvSpPr>
          <p:nvPr>
            <p:ph type="title"/>
          </p:nvPr>
        </p:nvSpPr>
        <p:spPr/>
        <p:txBody>
          <a:bodyPr>
            <a:normAutofit/>
          </a:bodyPr>
          <a:lstStyle/>
          <a:p>
            <a:r>
              <a:rPr lang="en-US" sz="4000" b="1" i="0" dirty="0">
                <a:effectLst/>
                <a:latin typeface="+mn-lt"/>
              </a:rPr>
              <a:t>Types of </a:t>
            </a:r>
            <a:r>
              <a:rPr lang="en-US" sz="4000" b="1" i="0" dirty="0" smtClean="0">
                <a:effectLst/>
                <a:latin typeface="+mn-lt"/>
              </a:rPr>
              <a:t>OLAP-</a:t>
            </a:r>
            <a:r>
              <a:rPr lang="en-US" sz="4000" b="1" dirty="0"/>
              <a:t> ROLAP</a:t>
            </a:r>
            <a:r>
              <a:rPr lang="en-US" sz="4000" b="1" i="0" dirty="0">
                <a:effectLst/>
                <a:latin typeface="+mn-lt"/>
              </a:rPr>
              <a:t/>
            </a:r>
            <a:br>
              <a:rPr lang="en-US" sz="4000" b="1" i="0" dirty="0">
                <a:effectLst/>
                <a:latin typeface="+mn-lt"/>
              </a:rPr>
            </a:br>
            <a:endParaRPr lang="en-US" sz="4000" b="1" dirty="0">
              <a:latin typeface="+mn-lt"/>
            </a:endParaRPr>
          </a:p>
        </p:txBody>
      </p:sp>
      <p:sp>
        <p:nvSpPr>
          <p:cNvPr id="3" name="Content Placeholder 2">
            <a:extLst>
              <a:ext uri="{FF2B5EF4-FFF2-40B4-BE49-F238E27FC236}">
                <a16:creationId xmlns="" xmlns:a16="http://schemas.microsoft.com/office/drawing/2014/main" id="{10DBA05E-1EAE-BF05-6D75-BCEFB38600EF}"/>
              </a:ext>
            </a:extLst>
          </p:cNvPr>
          <p:cNvSpPr>
            <a:spLocks noGrp="1"/>
          </p:cNvSpPr>
          <p:nvPr>
            <p:ph idx="1"/>
          </p:nvPr>
        </p:nvSpPr>
        <p:spPr>
          <a:xfrm>
            <a:off x="512617" y="1177636"/>
            <a:ext cx="11194473" cy="4999327"/>
          </a:xfrm>
        </p:spPr>
        <p:txBody>
          <a:bodyPr/>
          <a:lstStyle/>
          <a:p>
            <a:pPr algn="just"/>
            <a:r>
              <a:rPr lang="en-US" b="0" i="0" dirty="0">
                <a:effectLst/>
              </a:rPr>
              <a:t>There are three main types of OLAP servers are as following:</a:t>
            </a:r>
          </a:p>
          <a:p>
            <a:pPr algn="just"/>
            <a:r>
              <a:rPr lang="en-US" b="1" i="0" dirty="0">
                <a:effectLst/>
              </a:rPr>
              <a:t>ROLAP</a:t>
            </a:r>
            <a:r>
              <a:rPr lang="en-US" b="0" i="0" dirty="0">
                <a:effectLst/>
              </a:rPr>
              <a:t> stands for Relational OLAP, an application based on relational DBMSs</a:t>
            </a:r>
            <a:r>
              <a:rPr lang="en-US" b="0" i="0" dirty="0" smtClean="0">
                <a:effectLst/>
              </a:rPr>
              <a:t>.</a:t>
            </a:r>
            <a:r>
              <a:rPr lang="en-US" dirty="0"/>
              <a:t> </a:t>
            </a:r>
            <a:endParaRPr lang="en-US" dirty="0" smtClean="0"/>
          </a:p>
          <a:p>
            <a:pPr algn="just"/>
            <a:r>
              <a:rPr lang="en-US" dirty="0" smtClean="0"/>
              <a:t>ROLAP </a:t>
            </a:r>
            <a:r>
              <a:rPr lang="en-US" dirty="0"/>
              <a:t>can handle large amounts of data</a:t>
            </a:r>
            <a:r>
              <a:rPr lang="en-US" dirty="0" smtClean="0"/>
              <a:t>.</a:t>
            </a:r>
            <a:endParaRPr lang="en-US" b="0" i="0" dirty="0" smtClean="0">
              <a:effectLst/>
            </a:endParaRPr>
          </a:p>
          <a:p>
            <a:pPr algn="just"/>
            <a:r>
              <a:rPr lang="en-US" dirty="0"/>
              <a:t>The ROLAP is based on the premise that data need not to be stored </a:t>
            </a:r>
            <a:r>
              <a:rPr lang="en-US" dirty="0" smtClean="0"/>
              <a:t>multidimensional </a:t>
            </a:r>
            <a:r>
              <a:rPr lang="en-US" dirty="0"/>
              <a:t>in order to viewed </a:t>
            </a:r>
            <a:r>
              <a:rPr lang="en-US" dirty="0" smtClean="0"/>
              <a:t>multidimensional.</a:t>
            </a:r>
            <a:r>
              <a:rPr lang="en-US" dirty="0"/>
              <a:t> In ROLAP data is stored in a relational database</a:t>
            </a:r>
            <a:r>
              <a:rPr lang="en-US" dirty="0" smtClean="0"/>
              <a:t>.</a:t>
            </a:r>
            <a:r>
              <a:rPr lang="en-US" dirty="0"/>
              <a:t> In essence, each action of slicing and dicing is equivalent to adding a “WHERE” clause in SQL statement</a:t>
            </a:r>
            <a:r>
              <a:rPr lang="en-US" dirty="0" smtClean="0"/>
              <a:t>. Thereby resulting in poor query performance.</a:t>
            </a:r>
          </a:p>
          <a:p>
            <a:pPr algn="just"/>
            <a:r>
              <a:rPr lang="en-US" dirty="0" smtClean="0"/>
              <a:t>Require experienced analyst.</a:t>
            </a:r>
          </a:p>
          <a:p>
            <a:endParaRPr lang="en-US" dirty="0"/>
          </a:p>
        </p:txBody>
      </p:sp>
    </p:spTree>
    <p:extLst>
      <p:ext uri="{BB962C8B-B14F-4D97-AF65-F5344CB8AC3E}">
        <p14:creationId xmlns:p14="http://schemas.microsoft.com/office/powerpoint/2010/main" val="2854903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OLAP- </a:t>
            </a:r>
            <a:r>
              <a:rPr lang="en-US" b="1" dirty="0" smtClean="0"/>
              <a:t>MOLAP</a:t>
            </a:r>
            <a:endParaRPr lang="en-US" dirty="0"/>
          </a:p>
        </p:txBody>
      </p:sp>
      <p:sp>
        <p:nvSpPr>
          <p:cNvPr id="3" name="Content Placeholder 2"/>
          <p:cNvSpPr>
            <a:spLocks noGrp="1"/>
          </p:cNvSpPr>
          <p:nvPr>
            <p:ph idx="1"/>
          </p:nvPr>
        </p:nvSpPr>
        <p:spPr/>
        <p:txBody>
          <a:bodyPr/>
          <a:lstStyle/>
          <a:p>
            <a:r>
              <a:rPr lang="en-US" b="1" dirty="0"/>
              <a:t>MOLAP</a:t>
            </a:r>
            <a:r>
              <a:rPr lang="en-US" dirty="0"/>
              <a:t> stands for Multidimensional OLAP, an application based on multidimensional DBMSs.</a:t>
            </a:r>
          </a:p>
          <a:p>
            <a:r>
              <a:rPr lang="en-US" dirty="0" smtClean="0"/>
              <a:t>Data </a:t>
            </a:r>
            <a:r>
              <a:rPr lang="en-US" dirty="0"/>
              <a:t>are stored physically into multidimensional </a:t>
            </a:r>
            <a:r>
              <a:rPr lang="en-US" dirty="0" smtClean="0"/>
              <a:t>arrays. So supports complex operations.</a:t>
            </a:r>
          </a:p>
          <a:p>
            <a:r>
              <a:rPr lang="en-US" dirty="0"/>
              <a:t>One of the significant distinctions of </a:t>
            </a:r>
            <a:r>
              <a:rPr lang="en-US" b="1" dirty="0"/>
              <a:t>MOLAP</a:t>
            </a:r>
            <a:r>
              <a:rPr lang="en-US" dirty="0"/>
              <a:t> against a </a:t>
            </a:r>
            <a:r>
              <a:rPr lang="en-US" b="1" dirty="0"/>
              <a:t>ROLAP</a:t>
            </a:r>
            <a:r>
              <a:rPr lang="en-US" dirty="0"/>
              <a:t> is that data are summarized and are stored in an optimized format in a multidimensional cube, instead of in a relational database</a:t>
            </a:r>
            <a:r>
              <a:rPr lang="en-US" dirty="0" smtClean="0"/>
              <a:t>.</a:t>
            </a:r>
          </a:p>
          <a:p>
            <a:r>
              <a:rPr lang="en-US" dirty="0"/>
              <a:t>In MOLAP model, data are structured into proprietary formats by client's reporting requirements with the calculations pre-generated on the cubes.</a:t>
            </a:r>
          </a:p>
        </p:txBody>
      </p:sp>
    </p:spTree>
    <p:extLst>
      <p:ext uri="{BB962C8B-B14F-4D97-AF65-F5344CB8AC3E}">
        <p14:creationId xmlns:p14="http://schemas.microsoft.com/office/powerpoint/2010/main" val="1894708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OLAP- </a:t>
            </a:r>
            <a:r>
              <a:rPr lang="en-US" b="1" dirty="0" smtClean="0"/>
              <a:t>HOLAP</a:t>
            </a:r>
            <a:endParaRPr lang="en-US" dirty="0"/>
          </a:p>
        </p:txBody>
      </p:sp>
      <p:sp>
        <p:nvSpPr>
          <p:cNvPr id="3" name="Content Placeholder 2"/>
          <p:cNvSpPr>
            <a:spLocks noGrp="1"/>
          </p:cNvSpPr>
          <p:nvPr>
            <p:ph idx="1"/>
          </p:nvPr>
        </p:nvSpPr>
        <p:spPr/>
        <p:txBody>
          <a:bodyPr/>
          <a:lstStyle/>
          <a:p>
            <a:r>
              <a:rPr lang="en-US" b="1" dirty="0"/>
              <a:t>HOLAP</a:t>
            </a:r>
            <a:r>
              <a:rPr lang="en-US" dirty="0"/>
              <a:t> stands for Hybrid OLAP, an application using both relational and multidimensional techniques</a:t>
            </a:r>
            <a:r>
              <a:rPr lang="en-US" dirty="0" smtClean="0"/>
              <a:t>.</a:t>
            </a:r>
          </a:p>
          <a:p>
            <a:r>
              <a:rPr lang="en-US" dirty="0"/>
              <a:t>HOLAP incorporates the best features of </a:t>
            </a:r>
            <a:r>
              <a:rPr lang="en-US" b="1" dirty="0"/>
              <a:t>MOLAP</a:t>
            </a:r>
            <a:r>
              <a:rPr lang="en-US" dirty="0"/>
              <a:t> and </a:t>
            </a:r>
            <a:r>
              <a:rPr lang="en-US" b="1" dirty="0"/>
              <a:t>ROLAP</a:t>
            </a:r>
            <a:r>
              <a:rPr lang="en-US" dirty="0"/>
              <a:t> into a single architecture. HOLAP systems save more substantial quantities of detailed data in the relational tables while the aggregations are stored in the pre-calculated cubes</a:t>
            </a:r>
            <a:r>
              <a:rPr lang="en-US" dirty="0" smtClean="0"/>
              <a:t>.</a:t>
            </a:r>
          </a:p>
          <a:p>
            <a:r>
              <a:rPr lang="en-US" dirty="0"/>
              <a:t>The </a:t>
            </a:r>
            <a:r>
              <a:rPr lang="en-US" b="1" dirty="0"/>
              <a:t>Microsoft SQL Server 2000</a:t>
            </a:r>
            <a:r>
              <a:rPr lang="en-US" dirty="0"/>
              <a:t> provides a hybrid OLAP server.</a:t>
            </a:r>
          </a:p>
          <a:p>
            <a:endParaRPr lang="en-US" dirty="0"/>
          </a:p>
        </p:txBody>
      </p:sp>
    </p:spTree>
    <p:extLst>
      <p:ext uri="{BB962C8B-B14F-4D97-AF65-F5344CB8AC3E}">
        <p14:creationId xmlns:p14="http://schemas.microsoft.com/office/powerpoint/2010/main" val="2754844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684" y="120426"/>
            <a:ext cx="10515600" cy="1325563"/>
          </a:xfrm>
        </p:spPr>
        <p:txBody>
          <a:bodyPr/>
          <a:lstStyle/>
          <a:p>
            <a:r>
              <a:rPr lang="en-US" b="1" dirty="0" smtClean="0"/>
              <a:t>OLTP</a:t>
            </a:r>
            <a:endParaRPr lang="en-US" b="1" dirty="0"/>
          </a:p>
        </p:txBody>
      </p:sp>
      <p:sp>
        <p:nvSpPr>
          <p:cNvPr id="3" name="Content Placeholder 2"/>
          <p:cNvSpPr>
            <a:spLocks noGrp="1"/>
          </p:cNvSpPr>
          <p:nvPr>
            <p:ph idx="1"/>
          </p:nvPr>
        </p:nvSpPr>
        <p:spPr>
          <a:xfrm>
            <a:off x="669701" y="1442434"/>
            <a:ext cx="10684099" cy="4734529"/>
          </a:xfrm>
        </p:spPr>
        <p:txBody>
          <a:bodyPr>
            <a:normAutofit fontScale="92500" lnSpcReduction="20000"/>
          </a:bodyPr>
          <a:lstStyle/>
          <a:p>
            <a:pPr algn="just"/>
            <a:r>
              <a:rPr lang="en-US" b="1" dirty="0"/>
              <a:t>On-Line Transaction Processing (OLTP) System</a:t>
            </a:r>
            <a:r>
              <a:rPr lang="en-US" dirty="0"/>
              <a:t> refers to the system that manage transaction oriented applications. These systems are designed to support on-line transaction and process query quickly on the Internet</a:t>
            </a:r>
            <a:r>
              <a:rPr lang="en-US" dirty="0" smtClean="0"/>
              <a:t>.</a:t>
            </a:r>
          </a:p>
          <a:p>
            <a:pPr algn="just" fontAlgn="base"/>
            <a:r>
              <a:rPr lang="en-US" b="1" dirty="0"/>
              <a:t>For example:</a:t>
            </a:r>
            <a:r>
              <a:rPr lang="en-US" dirty="0"/>
              <a:t> POS (point of sale) system of any supermarket is a OLTP System.</a:t>
            </a:r>
          </a:p>
          <a:p>
            <a:pPr algn="just" fontAlgn="base"/>
            <a:r>
              <a:rPr lang="en-US" dirty="0"/>
              <a:t>Every industry in today’s world use OLTP system to record their transactional data. The main concern of OLTP systems is to enter, store and retrieve the data. They covers all day to day operations such as purchasing, manufacturing, payroll, accounting, </a:t>
            </a:r>
            <a:r>
              <a:rPr lang="en-US" dirty="0" err="1"/>
              <a:t>etc.of</a:t>
            </a:r>
            <a:r>
              <a:rPr lang="en-US" dirty="0"/>
              <a:t> an organization. Such systems have large numbers of user which conduct short transaction. It supports simple database query so the response time of any user action is very fast.</a:t>
            </a:r>
          </a:p>
          <a:p>
            <a:pPr algn="just" fontAlgn="base"/>
            <a:r>
              <a:rPr lang="en-US" dirty="0"/>
              <a:t>The data acquired through an OLTP system is stored in commercial RDBMS, which can be used by an OLAP System for data analytics and other business intelligence operations.</a:t>
            </a:r>
          </a:p>
          <a:p>
            <a:endParaRPr lang="en-US" dirty="0" smtClean="0"/>
          </a:p>
          <a:p>
            <a:endParaRPr lang="en-US" dirty="0"/>
          </a:p>
        </p:txBody>
      </p:sp>
    </p:spTree>
    <p:extLst>
      <p:ext uri="{BB962C8B-B14F-4D97-AF65-F5344CB8AC3E}">
        <p14:creationId xmlns:p14="http://schemas.microsoft.com/office/powerpoint/2010/main" val="2653104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Difference between OLTP and OLAP</a:t>
            </a:r>
            <a:br>
              <a:rPr lang="en-US" b="1" dirty="0"/>
            </a:br>
            <a:endParaRPr lang="en-US" dirty="0"/>
          </a:p>
        </p:txBody>
      </p:sp>
      <p:sp>
        <p:nvSpPr>
          <p:cNvPr id="3" name="Content Placeholder 2"/>
          <p:cNvSpPr>
            <a:spLocks noGrp="1"/>
          </p:cNvSpPr>
          <p:nvPr>
            <p:ph idx="1"/>
          </p:nvPr>
        </p:nvSpPr>
        <p:spPr>
          <a:xfrm>
            <a:off x="811369" y="1223493"/>
            <a:ext cx="10542431" cy="4953470"/>
          </a:xfrm>
        </p:spPr>
        <p:txBody>
          <a:bodyPr/>
          <a:lstStyle/>
          <a:p>
            <a:r>
              <a:rPr lang="en-US" dirty="0"/>
              <a:t>Online Analytical Processing (OLAP) is a category of software tools that analyze data stored in a database, whereas Online transaction processing (OLTP) supports transaction-oriented applications in a 3-tier architecture.</a:t>
            </a:r>
          </a:p>
          <a:p>
            <a:r>
              <a:rPr lang="en-US" dirty="0"/>
              <a:t>OLAP creates a single platform for all types of business analysis needs which includes planning, budgeting, forecasting, and analysis, while OLTP is useful for administering day-to-day transactions of an organization.</a:t>
            </a:r>
          </a:p>
          <a:p>
            <a:endParaRPr lang="en-US" dirty="0"/>
          </a:p>
        </p:txBody>
      </p:sp>
    </p:spTree>
    <p:extLst>
      <p:ext uri="{BB962C8B-B14F-4D97-AF65-F5344CB8AC3E}">
        <p14:creationId xmlns:p14="http://schemas.microsoft.com/office/powerpoint/2010/main" val="2015781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rotWithShape="1">
          <a:blip r:embed="rId2">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l="2573" t="10035" r="29624" b="9683"/>
          <a:stretch/>
        </p:blipFill>
        <p:spPr bwMode="auto">
          <a:xfrm>
            <a:off x="821432" y="965915"/>
            <a:ext cx="10138489" cy="5686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7100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970" t="11267" r="31304" b="12676"/>
          <a:stretch/>
        </p:blipFill>
        <p:spPr bwMode="auto">
          <a:xfrm>
            <a:off x="386366" y="824248"/>
            <a:ext cx="8551572" cy="5563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535" y="625830"/>
            <a:ext cx="7277972" cy="339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2878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Big </a:t>
            </a:r>
            <a:r>
              <a:rPr lang="en-US" b="1" dirty="0" smtClean="0"/>
              <a:t>data</a:t>
            </a:r>
            <a:endParaRPr lang="en-US" dirty="0"/>
          </a:p>
        </p:txBody>
      </p:sp>
      <p:sp>
        <p:nvSpPr>
          <p:cNvPr id="3" name="Content Placeholder 2"/>
          <p:cNvSpPr>
            <a:spLocks noGrp="1"/>
          </p:cNvSpPr>
          <p:nvPr>
            <p:ph idx="1"/>
          </p:nvPr>
        </p:nvSpPr>
        <p:spPr>
          <a:xfrm>
            <a:off x="528034" y="1442434"/>
            <a:ext cx="10825766" cy="4734529"/>
          </a:xfrm>
        </p:spPr>
        <p:txBody>
          <a:bodyPr>
            <a:normAutofit/>
          </a:bodyPr>
          <a:lstStyle/>
          <a:p>
            <a:pPr algn="just"/>
            <a:r>
              <a:rPr lang="en-US" dirty="0"/>
              <a:t>Big data is a term applied to data sets whose size or type is beyond the ability of traditional relational databases to capture, manage and process the data with low latency</a:t>
            </a:r>
            <a:r>
              <a:rPr lang="en-US" dirty="0" smtClean="0"/>
              <a:t>.</a:t>
            </a:r>
          </a:p>
          <a:p>
            <a:pPr algn="just"/>
            <a:r>
              <a:rPr lang="en-US" dirty="0"/>
              <a:t>Big data is a combination of structured, </a:t>
            </a:r>
            <a:r>
              <a:rPr lang="en-US" dirty="0" smtClean="0"/>
              <a:t>semi structured </a:t>
            </a:r>
            <a:r>
              <a:rPr lang="en-US" dirty="0"/>
              <a:t>and unstructured data collected by organizations that can be mined for information and used in machine learning projects, predictive modeling and other advanced analytics applications.</a:t>
            </a:r>
          </a:p>
          <a:p>
            <a:pPr algn="just"/>
            <a:r>
              <a:rPr lang="en-US" b="1" dirty="0" smtClean="0"/>
              <a:t>Big </a:t>
            </a:r>
            <a:r>
              <a:rPr lang="en-US" b="1" dirty="0"/>
              <a:t>data sources </a:t>
            </a:r>
            <a:r>
              <a:rPr lang="en-US" dirty="0"/>
              <a:t>: </a:t>
            </a:r>
            <a:r>
              <a:rPr lang="en-US" dirty="0" smtClean="0"/>
              <a:t> </a:t>
            </a:r>
            <a:r>
              <a:rPr lang="en-US" dirty="0"/>
              <a:t>Social </a:t>
            </a:r>
            <a:r>
              <a:rPr lang="en-US" dirty="0" smtClean="0"/>
              <a:t>media, </a:t>
            </a:r>
            <a:r>
              <a:rPr lang="en-US" dirty="0"/>
              <a:t>Mobile </a:t>
            </a:r>
            <a:r>
              <a:rPr lang="en-US" dirty="0" smtClean="0"/>
              <a:t>devices, </a:t>
            </a:r>
            <a:r>
              <a:rPr lang="en-US" dirty="0"/>
              <a:t>Transactional </a:t>
            </a:r>
            <a:r>
              <a:rPr lang="en-US" dirty="0" smtClean="0"/>
              <a:t>data </a:t>
            </a:r>
            <a:r>
              <a:rPr lang="en-US" dirty="0"/>
              <a:t>Networked devices ,</a:t>
            </a:r>
            <a:r>
              <a:rPr lang="en-US" dirty="0" smtClean="0"/>
              <a:t>  </a:t>
            </a:r>
            <a:r>
              <a:rPr lang="en-US" dirty="0"/>
              <a:t>E-commerce </a:t>
            </a:r>
            <a:r>
              <a:rPr lang="en-US" dirty="0" smtClean="0"/>
              <a:t>site, stock exchange </a:t>
            </a:r>
            <a:r>
              <a:rPr lang="en-US" dirty="0"/>
              <a:t>etc</a:t>
            </a:r>
          </a:p>
          <a:p>
            <a:endParaRPr lang="en-US" dirty="0"/>
          </a:p>
        </p:txBody>
      </p:sp>
    </p:spTree>
    <p:extLst>
      <p:ext uri="{BB962C8B-B14F-4D97-AF65-F5344CB8AC3E}">
        <p14:creationId xmlns:p14="http://schemas.microsoft.com/office/powerpoint/2010/main" val="1446930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Big data</a:t>
            </a:r>
            <a:endParaRPr lang="en-US" dirty="0"/>
          </a:p>
        </p:txBody>
      </p:sp>
      <p:sp>
        <p:nvSpPr>
          <p:cNvPr id="3" name="Content Placeholder 2"/>
          <p:cNvSpPr>
            <a:spLocks noGrp="1"/>
          </p:cNvSpPr>
          <p:nvPr>
            <p:ph idx="1"/>
          </p:nvPr>
        </p:nvSpPr>
        <p:spPr/>
        <p:txBody>
          <a:bodyPr>
            <a:normAutofit fontScale="92500" lnSpcReduction="10000"/>
          </a:bodyPr>
          <a:lstStyle/>
          <a:p>
            <a:pPr marL="109728" indent="0" algn="just">
              <a:buNone/>
            </a:pPr>
            <a:r>
              <a:rPr lang="en-US" b="1" dirty="0" smtClean="0"/>
              <a:t>1</a:t>
            </a:r>
            <a:r>
              <a:rPr lang="en-US" b="1" dirty="0"/>
              <a:t>. Structured</a:t>
            </a:r>
          </a:p>
          <a:p>
            <a:pPr algn="just"/>
            <a:r>
              <a:rPr lang="en-US" dirty="0"/>
              <a:t>Structured data refers to the data that you can process, store, and retrieve in a fixed format. </a:t>
            </a:r>
            <a:endParaRPr lang="en-US" dirty="0" smtClean="0"/>
          </a:p>
          <a:p>
            <a:pPr algn="just"/>
            <a:endParaRPr lang="en-US" dirty="0"/>
          </a:p>
          <a:p>
            <a:pPr marL="109728" indent="0" algn="just">
              <a:buNone/>
            </a:pPr>
            <a:r>
              <a:rPr lang="en-US" b="1" dirty="0"/>
              <a:t>2. Unstructured</a:t>
            </a:r>
          </a:p>
          <a:p>
            <a:pPr algn="just"/>
            <a:r>
              <a:rPr lang="en-US" dirty="0"/>
              <a:t>Data with an unknown structure is termed unstructured </a:t>
            </a:r>
            <a:r>
              <a:rPr lang="en-US" dirty="0" smtClean="0"/>
              <a:t>data</a:t>
            </a:r>
          </a:p>
          <a:p>
            <a:pPr algn="just"/>
            <a:endParaRPr lang="en-US" dirty="0"/>
          </a:p>
          <a:p>
            <a:pPr marL="109728" indent="0" algn="just">
              <a:buNone/>
            </a:pPr>
            <a:r>
              <a:rPr lang="en-US" b="1" dirty="0"/>
              <a:t>3. Semi-structured</a:t>
            </a:r>
          </a:p>
          <a:p>
            <a:pPr algn="just"/>
            <a:r>
              <a:rPr lang="en-US" dirty="0"/>
              <a:t>As the name suggests, semi-structured data contains a combination of structured and unstructured data.</a:t>
            </a:r>
          </a:p>
          <a:p>
            <a:endParaRPr lang="en-US" dirty="0"/>
          </a:p>
          <a:p>
            <a:endParaRPr lang="en-US" dirty="0"/>
          </a:p>
        </p:txBody>
      </p:sp>
    </p:spTree>
    <p:extLst>
      <p:ext uri="{BB962C8B-B14F-4D97-AF65-F5344CB8AC3E}">
        <p14:creationId xmlns:p14="http://schemas.microsoft.com/office/powerpoint/2010/main" val="3831269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Characteristics of Big Data</a:t>
            </a:r>
            <a:r>
              <a:rPr lang="en-US" dirty="0"/>
              <a:t/>
            </a:r>
            <a:br>
              <a:rPr lang="en-US" dirty="0"/>
            </a:br>
            <a:endParaRPr lang="en-US" dirty="0"/>
          </a:p>
        </p:txBody>
      </p:sp>
      <p:sp>
        <p:nvSpPr>
          <p:cNvPr id="3" name="Content Placeholder 2"/>
          <p:cNvSpPr>
            <a:spLocks noGrp="1"/>
          </p:cNvSpPr>
          <p:nvPr>
            <p:ph idx="1"/>
          </p:nvPr>
        </p:nvSpPr>
        <p:spPr/>
        <p:txBody>
          <a:bodyPr/>
          <a:lstStyle/>
          <a:p>
            <a:endParaRPr lang="en-US" dirty="0"/>
          </a:p>
          <a:p>
            <a:endParaRPr lang="en-US" b="1" dirty="0" smtClean="0"/>
          </a:p>
          <a:p>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752600"/>
            <a:ext cx="116840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74861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Big Data</a:t>
            </a:r>
            <a:endParaRPr lang="en-US" dirty="0"/>
          </a:p>
        </p:txBody>
      </p:sp>
      <p:sp>
        <p:nvSpPr>
          <p:cNvPr id="3" name="Content Placeholder 2"/>
          <p:cNvSpPr>
            <a:spLocks noGrp="1"/>
          </p:cNvSpPr>
          <p:nvPr>
            <p:ph idx="1"/>
          </p:nvPr>
        </p:nvSpPr>
        <p:spPr>
          <a:xfrm>
            <a:off x="203200" y="1371600"/>
            <a:ext cx="11785600" cy="5486400"/>
          </a:xfrm>
        </p:spPr>
        <p:txBody>
          <a:bodyPr>
            <a:normAutofit/>
          </a:bodyPr>
          <a:lstStyle/>
          <a:p>
            <a:r>
              <a:rPr lang="en-US" b="1" dirty="0"/>
              <a:t>Volume : </a:t>
            </a:r>
            <a:r>
              <a:rPr lang="en-US" dirty="0"/>
              <a:t>Volume refers to the amount of data that </a:t>
            </a:r>
            <a:r>
              <a:rPr lang="en-US" dirty="0" smtClean="0"/>
              <a:t>you have.</a:t>
            </a:r>
          </a:p>
          <a:p>
            <a:r>
              <a:rPr lang="en-US" b="1" dirty="0" smtClean="0"/>
              <a:t>Velocity </a:t>
            </a:r>
            <a:r>
              <a:rPr lang="en-US" b="1" dirty="0"/>
              <a:t>of data:</a:t>
            </a:r>
            <a:r>
              <a:rPr lang="en-US" dirty="0"/>
              <a:t> Velocity refers to the speed with which data is generated. </a:t>
            </a:r>
            <a:endParaRPr lang="en-US" dirty="0" smtClean="0"/>
          </a:p>
          <a:p>
            <a:r>
              <a:rPr lang="en-US" b="1" dirty="0" smtClean="0"/>
              <a:t>Value :</a:t>
            </a:r>
            <a:r>
              <a:rPr lang="en-US" dirty="0" smtClean="0"/>
              <a:t>Value </a:t>
            </a:r>
            <a:r>
              <a:rPr lang="en-US" dirty="0"/>
              <a:t>refers to the benefits that your organization derives from the </a:t>
            </a:r>
            <a:r>
              <a:rPr lang="en-US" dirty="0" smtClean="0"/>
              <a:t>data.</a:t>
            </a:r>
          </a:p>
          <a:p>
            <a:r>
              <a:rPr lang="en-US" b="1" dirty="0" smtClean="0"/>
              <a:t>Variety :</a:t>
            </a:r>
            <a:r>
              <a:rPr lang="en-US" dirty="0" smtClean="0"/>
              <a:t>Variety </a:t>
            </a:r>
            <a:r>
              <a:rPr lang="en-US" dirty="0"/>
              <a:t>refers to the different types of big data</a:t>
            </a:r>
            <a:r>
              <a:rPr lang="en-US" dirty="0" smtClean="0"/>
              <a:t>.</a:t>
            </a:r>
          </a:p>
          <a:p>
            <a:r>
              <a:rPr lang="en-US" b="1" dirty="0" smtClean="0"/>
              <a:t>Veracity: </a:t>
            </a:r>
            <a:r>
              <a:rPr lang="en-US" dirty="0" smtClean="0"/>
              <a:t>Veracity </a:t>
            </a:r>
            <a:r>
              <a:rPr lang="en-US" dirty="0"/>
              <a:t>refers to the accuracy of your data. Veracity means how much the data is reliable.</a:t>
            </a:r>
            <a:endParaRPr lang="en-US" dirty="0" smtClean="0"/>
          </a:p>
          <a:p>
            <a:r>
              <a:rPr lang="en-US" b="1" dirty="0" smtClean="0"/>
              <a:t>Volatility: </a:t>
            </a:r>
            <a:r>
              <a:rPr lang="en-US" dirty="0"/>
              <a:t>It refers to how long the data is valid since the data which is valid right now might not be valid just a few minutes or fewer days later.</a:t>
            </a:r>
          </a:p>
          <a:p>
            <a:endParaRPr lang="en-US" dirty="0"/>
          </a:p>
          <a:p>
            <a:endParaRPr lang="en-US" dirty="0"/>
          </a:p>
          <a:p>
            <a:endParaRPr lang="en-US" dirty="0"/>
          </a:p>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7419549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387" y="1295400"/>
            <a:ext cx="12148949"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103748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b="1" dirty="0"/>
              <a:t>Data ingestion</a:t>
            </a:r>
            <a:endParaRPr lang="en-US" dirty="0"/>
          </a:p>
          <a:p>
            <a:pPr algn="just"/>
            <a:r>
              <a:rPr lang="en-US" dirty="0"/>
              <a:t>The process of identifying the sources and then getting Big Data varies from company to company. Modern technologies allow gathering both structured (data that comes in tabular formats mostly) and unstructured data (all sorts of data formats) from an array of sources including websites, mobile applications, databases, flat files, customer relationship management systems (CRMs), IoT sensors, and so on.</a:t>
            </a:r>
          </a:p>
          <a:p>
            <a:pPr algn="just"/>
            <a:r>
              <a:rPr lang="en-US" dirty="0"/>
              <a:t>Raw data must undergo the processes of extraction, transformation, and loading, so either ETL or ELT data pipelines are built to deliver data from sources to centralized repositories for further storage and processing. With the ETL approach, data transformation happens before it gets to a target repository like a data warehouse, whereas ELT makes it possible to transform data after it’s loaded into a target system.</a:t>
            </a:r>
          </a:p>
          <a:p>
            <a:endParaRPr lang="en-US" dirty="0"/>
          </a:p>
        </p:txBody>
      </p:sp>
    </p:spTree>
    <p:extLst>
      <p:ext uri="{BB962C8B-B14F-4D97-AF65-F5344CB8AC3E}">
        <p14:creationId xmlns:p14="http://schemas.microsoft.com/office/powerpoint/2010/main" val="41319510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7730" y="141668"/>
            <a:ext cx="11603864" cy="6568225"/>
          </a:xfrm>
        </p:spPr>
        <p:txBody>
          <a:bodyPr>
            <a:normAutofit fontScale="85000" lnSpcReduction="20000"/>
          </a:bodyPr>
          <a:lstStyle/>
          <a:p>
            <a:r>
              <a:rPr lang="en-US" b="1" dirty="0"/>
              <a:t>Data storage and </a:t>
            </a:r>
            <a:r>
              <a:rPr lang="en-US" b="1" dirty="0" smtClean="0"/>
              <a:t>processing</a:t>
            </a:r>
          </a:p>
          <a:p>
            <a:pPr algn="just"/>
            <a:r>
              <a:rPr lang="en-US" dirty="0"/>
              <a:t>Based on the complexity of data, it can be moved to the storages such as cloud data warehouses or data lakes from where business intelligence tools can access it when needed. Storage layers allow data coming from disparate sources to be arranged in partitions for further optimization and compression. Compute layers are the sets of processing engines used to perform any computational tasks on data. </a:t>
            </a:r>
          </a:p>
          <a:p>
            <a:pPr algn="just"/>
            <a:r>
              <a:rPr lang="en-US" dirty="0"/>
              <a:t>When data is in place, it has to be converted into the most digestible forms to get actionable results on analytical queries. For that purpose, different data processing options exist. The choice of the right approach may depend on the computational and analytical tasks of a company as well as the resources available.</a:t>
            </a:r>
          </a:p>
          <a:p>
            <a:pPr lvl="0" algn="just"/>
            <a:r>
              <a:rPr lang="en-US" dirty="0"/>
              <a:t>Based on the criteria of the use of one or several machines, processing environments are classified into centralized and distributed:</a:t>
            </a:r>
          </a:p>
          <a:p>
            <a:pPr algn="just"/>
            <a:r>
              <a:rPr lang="en-US" dirty="0"/>
              <a:t>Centralized processing, as the name implies, has all the processing happening on one computer system (a dedicated server that hosts all data). So, multiple users share the same resources and data at the same time. Along with the single point of control comes a single point of failure. If anything goes wrong, the entire system fails, not just a part of it.</a:t>
            </a:r>
          </a:p>
          <a:p>
            <a:pPr algn="just"/>
            <a:r>
              <a:rPr lang="en-US" dirty="0"/>
              <a:t>Distributed processing is used when datasets are just too vast to be processed on a single machine. Such an approach allows for breaking down large datasets into smaller pieces and storing them across multiple servers. This, in turn, makes it possible to process data in parallel. The great thing about the distributed approach is that data processing tasks can be moved to other available servers in case one server in the network crashes.</a:t>
            </a:r>
          </a:p>
          <a:p>
            <a:endParaRPr lang="en-US" b="1" dirty="0"/>
          </a:p>
          <a:p>
            <a:endParaRPr lang="en-US" dirty="0"/>
          </a:p>
        </p:txBody>
      </p:sp>
    </p:spTree>
    <p:extLst>
      <p:ext uri="{BB962C8B-B14F-4D97-AF65-F5344CB8AC3E}">
        <p14:creationId xmlns:p14="http://schemas.microsoft.com/office/powerpoint/2010/main" val="22150122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761" y="450761"/>
            <a:ext cx="10903039" cy="5726202"/>
          </a:xfrm>
        </p:spPr>
        <p:txBody>
          <a:bodyPr>
            <a:normAutofit fontScale="92500" lnSpcReduction="20000"/>
          </a:bodyPr>
          <a:lstStyle/>
          <a:p>
            <a:r>
              <a:rPr lang="en-US" b="1" dirty="0"/>
              <a:t>Data </a:t>
            </a:r>
            <a:r>
              <a:rPr lang="en-US" b="1" dirty="0" smtClean="0"/>
              <a:t>analysis</a:t>
            </a:r>
          </a:p>
          <a:p>
            <a:pPr algn="just"/>
            <a:r>
              <a:rPr lang="en-US" dirty="0"/>
              <a:t>To make sense of the huge amounts of data, there are several techniques and practices. Below we list some of them:</a:t>
            </a:r>
          </a:p>
          <a:p>
            <a:pPr algn="just"/>
            <a:r>
              <a:rPr lang="en-US" b="1" dirty="0"/>
              <a:t>Natural language processing</a:t>
            </a:r>
            <a:r>
              <a:rPr lang="en-US" dirty="0"/>
              <a:t> is the technology used to make computers understand and respond to human language, whether it is text or spoken words.</a:t>
            </a:r>
          </a:p>
          <a:p>
            <a:pPr algn="just"/>
            <a:r>
              <a:rPr lang="en-US" b="1" dirty="0"/>
              <a:t>Text mining</a:t>
            </a:r>
            <a:r>
              <a:rPr lang="en-US" dirty="0"/>
              <a:t> is an advanced analytical approach used to make sense of Big Data that comes in textual forms such as emails, tweets, researches, and blog posts.</a:t>
            </a:r>
          </a:p>
          <a:p>
            <a:pPr algn="just"/>
            <a:r>
              <a:rPr lang="en-US" b="1" dirty="0"/>
              <a:t>Sensor data analysis</a:t>
            </a:r>
            <a:r>
              <a:rPr lang="en-US" dirty="0"/>
              <a:t> is the examination of the data that is continuously generated by different sensors installed on physical objects. When done timely and properly, it can help not only give a full picture of the equipment condition but also detect faulty behavior and predict failures.</a:t>
            </a:r>
          </a:p>
          <a:p>
            <a:pPr algn="just"/>
            <a:r>
              <a:rPr lang="en-US" b="1" dirty="0"/>
              <a:t>Outlier analysis or anomaly detection</a:t>
            </a:r>
            <a:r>
              <a:rPr lang="en-US" dirty="0"/>
              <a:t> is the technique used to identify data points and events that deviate from the rest of the data. It’s widely applied in fraud detection activities.</a:t>
            </a:r>
          </a:p>
          <a:p>
            <a:pPr algn="just"/>
            <a:endParaRPr lang="en-US" b="1" dirty="0"/>
          </a:p>
          <a:p>
            <a:pPr algn="just"/>
            <a:endParaRPr lang="en-US" dirty="0"/>
          </a:p>
        </p:txBody>
      </p:sp>
    </p:spTree>
    <p:extLst>
      <p:ext uri="{BB962C8B-B14F-4D97-AF65-F5344CB8AC3E}">
        <p14:creationId xmlns:p14="http://schemas.microsoft.com/office/powerpoint/2010/main" val="2008267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1581</TotalTime>
  <Words>2698</Words>
  <Application>Microsoft Office PowerPoint</Application>
  <PresentationFormat>Custom</PresentationFormat>
  <Paragraphs>381</Paragraphs>
  <Slides>41</Slides>
  <Notes>9</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Unit 6 Data Warehousing</vt:lpstr>
      <vt:lpstr>Data Warehousing</vt:lpstr>
      <vt:lpstr>Why You Need a Data Warehouse? </vt:lpstr>
      <vt:lpstr>PowerPoint Presentation</vt:lpstr>
      <vt:lpstr>Benefits of a Data Warehouse</vt:lpstr>
      <vt:lpstr>Characteristics of data warehousing </vt:lpstr>
      <vt:lpstr>Characteristics of data warehousing </vt:lpstr>
      <vt:lpstr>Example Applications of Data Warehousing </vt:lpstr>
      <vt:lpstr>Architecture &amp; Components of Data Warehouse </vt:lpstr>
      <vt:lpstr>Architecture &amp; Components of Data Warehouse </vt:lpstr>
      <vt:lpstr>Architecture &amp; Components of Data Warehouse </vt:lpstr>
      <vt:lpstr>PowerPoint Presentation</vt:lpstr>
      <vt:lpstr>PowerPoint Presentation</vt:lpstr>
      <vt:lpstr>Architecture &amp; Components of Data Warehouse </vt:lpstr>
      <vt:lpstr>Architecture &amp; Components of Data Warehouse </vt:lpstr>
      <vt:lpstr>Online Analytical Processing (OLAP)</vt:lpstr>
      <vt:lpstr>Online Analytical Processing (OLAP)</vt:lpstr>
      <vt:lpstr>Online Analytical Processing (OLAP)-Operations</vt:lpstr>
      <vt:lpstr>OLAP Operations example</vt:lpstr>
      <vt:lpstr>OLAP Operations example</vt:lpstr>
      <vt:lpstr>OLAP Operations example</vt:lpstr>
      <vt:lpstr>OLAP Operations example</vt:lpstr>
      <vt:lpstr>Online Analytical Processing (OLAP)</vt:lpstr>
      <vt:lpstr>Online Analytical Processing (OLAP)</vt:lpstr>
      <vt:lpstr>Online Analytical Processing (OLAP)</vt:lpstr>
      <vt:lpstr>Online Analytical Processing (OLAP)</vt:lpstr>
      <vt:lpstr>Types of OLAP- ROLAP </vt:lpstr>
      <vt:lpstr>Types of OLAP- MOLAP</vt:lpstr>
      <vt:lpstr>Types of OLAP- HOLAP</vt:lpstr>
      <vt:lpstr>OLTP</vt:lpstr>
      <vt:lpstr>Key Difference between OLTP and OLAP </vt:lpstr>
      <vt:lpstr>PowerPoint Presentation</vt:lpstr>
      <vt:lpstr>PowerPoint Presentation</vt:lpstr>
      <vt:lpstr>Big data</vt:lpstr>
      <vt:lpstr>Types of Big data</vt:lpstr>
      <vt:lpstr>Characteristics of Big Data </vt:lpstr>
      <vt:lpstr>Characteristics of Big Data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NOSQL Databases</dc:title>
  <dc:creator>Ranjeetsingh Suryawanshi</dc:creator>
  <cp:lastModifiedBy>DELL-PC</cp:lastModifiedBy>
  <cp:revision>114</cp:revision>
  <dcterms:created xsi:type="dcterms:W3CDTF">2022-11-17T16:35:50Z</dcterms:created>
  <dcterms:modified xsi:type="dcterms:W3CDTF">2025-10-13T03:59:26Z</dcterms:modified>
</cp:coreProperties>
</file>