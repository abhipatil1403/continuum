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60" r:id="rId4"/>
    <p:sldId id="263" r:id="rId5"/>
    <p:sldId id="292" r:id="rId6"/>
    <p:sldId id="264" r:id="rId7"/>
    <p:sldId id="267" r:id="rId8"/>
    <p:sldId id="268" r:id="rId9"/>
    <p:sldId id="294" r:id="rId10"/>
    <p:sldId id="261" r:id="rId11"/>
    <p:sldId id="262" r:id="rId12"/>
    <p:sldId id="269" r:id="rId13"/>
    <p:sldId id="270" r:id="rId14"/>
    <p:sldId id="271"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58" r:id="rId28"/>
    <p:sldId id="259" r:id="rId29"/>
    <p:sldId id="265" r:id="rId30"/>
    <p:sldId id="295" r:id="rId31"/>
    <p:sldId id="296" r:id="rId32"/>
    <p:sldId id="297" r:id="rId33"/>
    <p:sldId id="293" r:id="rId34"/>
    <p:sldId id="285" r:id="rId35"/>
    <p:sldId id="286" r:id="rId36"/>
    <p:sldId id="287" r:id="rId37"/>
    <p:sldId id="288" r:id="rId38"/>
    <p:sldId id="289" r:id="rId39"/>
    <p:sldId id="290" r:id="rId40"/>
    <p:sldId id="29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261" autoAdjust="0"/>
  </p:normalViewPr>
  <p:slideViewPr>
    <p:cSldViewPr snapToGrid="0">
      <p:cViewPr>
        <p:scale>
          <a:sx n="62" d="100"/>
          <a:sy n="62" d="100"/>
        </p:scale>
        <p:origin x="-906"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FC741E-ED68-4A51-A64F-05B99B2E4660}" type="datetimeFigureOut">
              <a:rPr lang="en-US" smtClean="0"/>
              <a:t>21/08/2025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36FD5F-C537-4B6F-AA46-34BB8CE47112}" type="slidenum">
              <a:rPr lang="en-US" smtClean="0"/>
              <a:t>‹#›</a:t>
            </a:fld>
            <a:endParaRPr lang="en-US"/>
          </a:p>
        </p:txBody>
      </p:sp>
    </p:spTree>
    <p:extLst>
      <p:ext uri="{BB962C8B-B14F-4D97-AF65-F5344CB8AC3E}">
        <p14:creationId xmlns:p14="http://schemas.microsoft.com/office/powerpoint/2010/main" val="1882938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1</a:t>
            </a:fld>
            <a:endParaRPr lang="en-US"/>
          </a:p>
        </p:txBody>
      </p:sp>
    </p:spTree>
    <p:extLst>
      <p:ext uri="{BB962C8B-B14F-4D97-AF65-F5344CB8AC3E}">
        <p14:creationId xmlns:p14="http://schemas.microsoft.com/office/powerpoint/2010/main" val="548956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functional dependency is a relationship that exists between two attributes. It typically exists between the primary key and non-key attribute within a table. A-&gt;B means A determines </a:t>
            </a:r>
            <a:r>
              <a:rPr lang="en-US" sz="1200" b="0" i="0" kern="1200" baseline="0" dirty="0" smtClean="0">
                <a:solidFill>
                  <a:schemeClr val="tx1"/>
                </a:solidFill>
                <a:effectLst/>
                <a:latin typeface="+mn-lt"/>
                <a:ea typeface="+mn-ea"/>
                <a:cs typeface="+mn-cs"/>
              </a:rPr>
              <a:t> B. It can also read as if t1(A)=t2(A) then t1(B)= t2(B) …means if tuple 1’A attribute and tuple2’A attribute is equal then their B attributes must also equal then only functional dependency exists.</a:t>
            </a:r>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3</a:t>
            </a:fld>
            <a:endParaRPr lang="en-US"/>
          </a:p>
        </p:txBody>
      </p:sp>
    </p:spTree>
    <p:extLst>
      <p:ext uri="{BB962C8B-B14F-4D97-AF65-F5344CB8AC3E}">
        <p14:creationId xmlns:p14="http://schemas.microsoft.com/office/powerpoint/2010/main" val="3487373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Multivalued dependency would occur whenever two separate attributes in a given table happen to be independent of each other. And yet, both of these depend on another third attribute. The multivalued dependency contains at least two of the attributes dependent on the third attribute. This is the reason why it always consists of at least three of the attributes.</a:t>
            </a:r>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6</a:t>
            </a:fld>
            <a:endParaRPr lang="en-US"/>
          </a:p>
        </p:txBody>
      </p:sp>
    </p:spTree>
    <p:extLst>
      <p:ext uri="{BB962C8B-B14F-4D97-AF65-F5344CB8AC3E}">
        <p14:creationId xmlns:p14="http://schemas.microsoft.com/office/powerpoint/2010/main" val="4032687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a:t>
            </a:r>
            <a:r>
              <a:rPr lang="en-US" sz="1200" b="1" i="0" kern="1200" dirty="0" smtClean="0">
                <a:solidFill>
                  <a:schemeClr val="tx1"/>
                </a:solidFill>
                <a:effectLst/>
                <a:latin typeface="+mn-lt"/>
                <a:ea typeface="+mn-ea"/>
                <a:cs typeface="+mn-cs"/>
              </a:rPr>
              <a:t>Trivial Functional Dependency</a:t>
            </a:r>
            <a:r>
              <a:rPr lang="en-US" sz="1200" b="0" i="0" kern="1200" dirty="0" smtClean="0">
                <a:solidFill>
                  <a:schemeClr val="tx1"/>
                </a:solidFill>
                <a:effectLst/>
                <a:latin typeface="+mn-lt"/>
                <a:ea typeface="+mn-ea"/>
                <a:cs typeface="+mn-cs"/>
              </a:rPr>
              <a:t>, a dependent is always a subset of the determinant.</a:t>
            </a:r>
            <a:r>
              <a:rPr lang="en-US" dirty="0" smtClean="0"/>
              <a:t/>
            </a:r>
            <a:br>
              <a:rPr lang="en-US" dirty="0" smtClean="0"/>
            </a:br>
            <a:r>
              <a:rPr lang="en-US" sz="1200" b="0" i="0" kern="1200" dirty="0" smtClean="0">
                <a:solidFill>
                  <a:schemeClr val="tx1"/>
                </a:solidFill>
                <a:effectLst/>
                <a:latin typeface="+mn-lt"/>
                <a:ea typeface="+mn-ea"/>
                <a:cs typeface="+mn-cs"/>
              </a:rPr>
              <a:t>i.e. If </a:t>
            </a:r>
            <a:r>
              <a:rPr lang="en-US" sz="1200" b="1" i="0" kern="1200" dirty="0" smtClean="0">
                <a:solidFill>
                  <a:schemeClr val="tx1"/>
                </a:solidFill>
                <a:effectLst/>
                <a:latin typeface="+mn-lt"/>
                <a:ea typeface="+mn-ea"/>
                <a:cs typeface="+mn-cs"/>
              </a:rPr>
              <a:t>X → Y</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Y is the subset of X</a:t>
            </a:r>
            <a:r>
              <a:rPr lang="en-US" sz="1200" b="0" i="0" kern="1200" dirty="0" smtClean="0">
                <a:solidFill>
                  <a:schemeClr val="tx1"/>
                </a:solidFill>
                <a:effectLst/>
                <a:latin typeface="+mn-lt"/>
                <a:ea typeface="+mn-ea"/>
                <a:cs typeface="+mn-cs"/>
              </a:rPr>
              <a:t>, then it is called trivial functional dependency. In mathematical</a:t>
            </a:r>
            <a:r>
              <a:rPr lang="en-US" sz="1200" b="0" i="0" kern="1200" baseline="0" dirty="0" smtClean="0">
                <a:solidFill>
                  <a:schemeClr val="tx1"/>
                </a:solidFill>
                <a:effectLst/>
                <a:latin typeface="+mn-lt"/>
                <a:ea typeface="+mn-ea"/>
                <a:cs typeface="+mn-cs"/>
              </a:rPr>
              <a:t> terms we can say that if we take intersection of L.H.S and R.H.S then it will never be empty , if it’s a case of trivial functional dependency.</a:t>
            </a:r>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7</a:t>
            </a:fld>
            <a:endParaRPr lang="en-US"/>
          </a:p>
        </p:txBody>
      </p:sp>
    </p:spTree>
    <p:extLst>
      <p:ext uri="{BB962C8B-B14F-4D97-AF65-F5344CB8AC3E}">
        <p14:creationId xmlns:p14="http://schemas.microsoft.com/office/powerpoint/2010/main" val="1287681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transitive functional dependency, dependent is indirectly dependent on determinant.</a:t>
            </a:r>
            <a:r>
              <a:rPr lang="en-US" dirty="0" smtClean="0"/>
              <a:t/>
            </a:r>
            <a:br>
              <a:rPr lang="en-US" dirty="0" smtClean="0"/>
            </a:br>
            <a:r>
              <a:rPr lang="en-US" sz="1200" b="0" i="0" kern="1200" dirty="0" smtClean="0">
                <a:solidFill>
                  <a:schemeClr val="tx1"/>
                </a:solidFill>
                <a:effectLst/>
                <a:latin typeface="+mn-lt"/>
                <a:ea typeface="+mn-ea"/>
                <a:cs typeface="+mn-cs"/>
              </a:rPr>
              <a:t>i.e. If </a:t>
            </a:r>
            <a:r>
              <a:rPr lang="en-US" sz="1200" b="1" i="0" kern="1200" dirty="0" smtClean="0">
                <a:solidFill>
                  <a:schemeClr val="tx1"/>
                </a:solidFill>
                <a:effectLst/>
                <a:latin typeface="+mn-lt"/>
                <a:ea typeface="+mn-ea"/>
                <a:cs typeface="+mn-cs"/>
              </a:rPr>
              <a:t>a → b</a:t>
            </a:r>
            <a:r>
              <a:rPr lang="en-US" sz="1200" b="0" i="0" kern="1200" dirty="0" smtClean="0">
                <a:solidFill>
                  <a:schemeClr val="tx1"/>
                </a:solidFill>
                <a:effectLst/>
                <a:latin typeface="+mn-lt"/>
                <a:ea typeface="+mn-ea"/>
                <a:cs typeface="+mn-cs"/>
              </a:rPr>
              <a:t> &amp; </a:t>
            </a:r>
            <a:r>
              <a:rPr lang="en-US" sz="1200" b="1" i="0" kern="1200" dirty="0" smtClean="0">
                <a:solidFill>
                  <a:schemeClr val="tx1"/>
                </a:solidFill>
                <a:effectLst/>
                <a:latin typeface="+mn-lt"/>
                <a:ea typeface="+mn-ea"/>
                <a:cs typeface="+mn-cs"/>
              </a:rPr>
              <a:t>b → c</a:t>
            </a:r>
            <a:r>
              <a:rPr lang="en-US" sz="1200" b="0" i="0" kern="1200" dirty="0" smtClean="0">
                <a:solidFill>
                  <a:schemeClr val="tx1"/>
                </a:solidFill>
                <a:effectLst/>
                <a:latin typeface="+mn-lt"/>
                <a:ea typeface="+mn-ea"/>
                <a:cs typeface="+mn-cs"/>
              </a:rPr>
              <a:t>, then according to axiom of transitivity, </a:t>
            </a:r>
            <a:r>
              <a:rPr lang="en-US" sz="1200" b="1" i="0" kern="1200" dirty="0" smtClean="0">
                <a:solidFill>
                  <a:schemeClr val="tx1"/>
                </a:solidFill>
                <a:effectLst/>
                <a:latin typeface="+mn-lt"/>
                <a:ea typeface="+mn-ea"/>
                <a:cs typeface="+mn-cs"/>
              </a:rPr>
              <a:t>a → c</a:t>
            </a:r>
            <a:r>
              <a:rPr lang="en-US" sz="1200" b="0" i="0" kern="1200" dirty="0" smtClean="0">
                <a:solidFill>
                  <a:schemeClr val="tx1"/>
                </a:solidFill>
                <a:effectLst/>
                <a:latin typeface="+mn-lt"/>
                <a:ea typeface="+mn-ea"/>
                <a:cs typeface="+mn-cs"/>
              </a:rPr>
              <a:t>. This is a </a:t>
            </a:r>
            <a:r>
              <a:rPr lang="en-US" sz="1200" b="1" i="0" kern="1200" dirty="0" smtClean="0">
                <a:solidFill>
                  <a:schemeClr val="tx1"/>
                </a:solidFill>
                <a:effectLst/>
                <a:latin typeface="+mn-lt"/>
                <a:ea typeface="+mn-ea"/>
                <a:cs typeface="+mn-cs"/>
              </a:rPr>
              <a:t>transitive functional dependency  </a:t>
            </a:r>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8</a:t>
            </a:fld>
            <a:endParaRPr lang="en-US"/>
          </a:p>
        </p:txBody>
      </p:sp>
    </p:spTree>
    <p:extLst>
      <p:ext uri="{BB962C8B-B14F-4D97-AF65-F5344CB8AC3E}">
        <p14:creationId xmlns:p14="http://schemas.microsoft.com/office/powerpoint/2010/main" val="50875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Armstrong's axioms </a:t>
            </a:r>
            <a:r>
              <a:rPr lang="en-US" sz="1200" b="0" i="0" kern="1200" dirty="0" smtClean="0">
                <a:solidFill>
                  <a:schemeClr val="tx1"/>
                </a:solidFill>
                <a:effectLst/>
                <a:latin typeface="+mn-lt"/>
                <a:ea typeface="+mn-ea"/>
                <a:cs typeface="+mn-cs"/>
              </a:rPr>
              <a:t>are used to conclude functional dependencies on a relational database.</a:t>
            </a:r>
          </a:p>
          <a:p>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11</a:t>
            </a:fld>
            <a:endParaRPr lang="en-US"/>
          </a:p>
        </p:txBody>
      </p:sp>
    </p:spTree>
    <p:extLst>
      <p:ext uri="{BB962C8B-B14F-4D97-AF65-F5344CB8AC3E}">
        <p14:creationId xmlns:p14="http://schemas.microsoft.com/office/powerpoint/2010/main" val="3197659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Natural joins checks</a:t>
            </a:r>
            <a:r>
              <a:rPr lang="en-US" baseline="0" dirty="0" smtClean="0"/>
              <a:t> equivalence of </a:t>
            </a:r>
            <a:r>
              <a:rPr lang="en-US" baseline="0" smtClean="0"/>
              <a:t>common attributes</a:t>
            </a:r>
            <a:endParaRPr lang="en-US"/>
          </a:p>
        </p:txBody>
      </p:sp>
      <p:sp>
        <p:nvSpPr>
          <p:cNvPr id="4" name="Slide Number Placeholder 3"/>
          <p:cNvSpPr>
            <a:spLocks noGrp="1"/>
          </p:cNvSpPr>
          <p:nvPr>
            <p:ph type="sldNum" sz="quarter" idx="10"/>
          </p:nvPr>
        </p:nvSpPr>
        <p:spPr/>
        <p:txBody>
          <a:bodyPr/>
          <a:lstStyle/>
          <a:p>
            <a:fld id="{5836FD5F-C537-4B6F-AA46-34BB8CE47112}" type="slidenum">
              <a:rPr lang="en-US" smtClean="0"/>
              <a:t>24</a:t>
            </a:fld>
            <a:endParaRPr lang="en-US"/>
          </a:p>
        </p:txBody>
      </p:sp>
    </p:spTree>
    <p:extLst>
      <p:ext uri="{BB962C8B-B14F-4D97-AF65-F5344CB8AC3E}">
        <p14:creationId xmlns:p14="http://schemas.microsoft.com/office/powerpoint/2010/main" val="2578155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We apply 2NF on the relations that have composite keys or the relations that have a primary key consisting of two attributes or more. Thus, the relations having a primary key of a single attribute automatically get to its 2NF.</a:t>
            </a:r>
            <a:endParaRPr lang="en-US" dirty="0"/>
          </a:p>
        </p:txBody>
      </p:sp>
      <p:sp>
        <p:nvSpPr>
          <p:cNvPr id="4" name="Slide Number Placeholder 3"/>
          <p:cNvSpPr>
            <a:spLocks noGrp="1"/>
          </p:cNvSpPr>
          <p:nvPr>
            <p:ph type="sldNum" sz="quarter" idx="10"/>
          </p:nvPr>
        </p:nvSpPr>
        <p:spPr/>
        <p:txBody>
          <a:bodyPr/>
          <a:lstStyle/>
          <a:p>
            <a:fld id="{5836FD5F-C537-4B6F-AA46-34BB8CE47112}" type="slidenum">
              <a:rPr lang="en-US" smtClean="0"/>
              <a:t>34</a:t>
            </a:fld>
            <a:endParaRPr lang="en-US"/>
          </a:p>
        </p:txBody>
      </p:sp>
    </p:spTree>
    <p:extLst>
      <p:ext uri="{BB962C8B-B14F-4D97-AF65-F5344CB8AC3E}">
        <p14:creationId xmlns:p14="http://schemas.microsoft.com/office/powerpoint/2010/main" val="3161914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E37C9E-867E-6000-8081-41EEEA350B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A943006C-DA8C-0F4D-46EE-104F5B926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A8F8363-4EB3-DC33-DC7A-9F2E9BE5C912}"/>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14A4FAA7-8001-6DEE-6F57-35407B26FE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122E49F-FFDA-86D8-8A44-EDEA5D830547}"/>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141358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EDDAE7-2B88-4BA0-5B38-5FAABBE6C6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1355E4C-0897-B36C-8F51-424A657C3E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C06AAD1-3F96-B074-DE3D-D889E26E2B81}"/>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4F9D2BC4-CE2A-4387-017D-4741DEA47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4435209-C6DF-B8C1-5C1E-0BEA2D18CCF1}"/>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2144678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4D7F93-47A7-F2A4-558A-873CBDDAB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88391742-1154-C571-796A-7F34543368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44CF1D6-B3BA-D630-8CB5-36119D93B01B}"/>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CE9BB3C8-7821-4CB4-3B98-834BAC140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569A13E-9D77-E8FE-3B2B-A481EDB50197}"/>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274329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C3E722-7C4C-23F7-19AC-66E4E13D7D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553B8BAA-FF0C-2A36-762F-0B0B2378A1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B7BA0227-73D1-0456-7A0D-FE41480AC0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9FD0DA40-B867-9FD4-EDC6-2A22A9D3D276}"/>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6" name="Footer Placeholder 5">
            <a:extLst>
              <a:ext uri="{FF2B5EF4-FFF2-40B4-BE49-F238E27FC236}">
                <a16:creationId xmlns="" xmlns:a16="http://schemas.microsoft.com/office/drawing/2014/main" id="{6F377B5A-759C-8C58-002C-58B69CDD5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FEB3E2B-D564-579B-C424-F8B325F2A9A7}"/>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2732770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5FC1E7-BB54-3C52-5725-A05D404DAE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A46869EA-76B4-ACE8-03E8-7150091782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64E0D83-D626-F9D1-DF88-E968A4C313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F200A726-3A6E-FFE9-1445-2B0493A8D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AF3C0CF-1F91-85FA-7D25-84A994BA83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D5A725C9-23B1-FC21-8621-B9AB7F6FFEEA}"/>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8" name="Footer Placeholder 7">
            <a:extLst>
              <a:ext uri="{FF2B5EF4-FFF2-40B4-BE49-F238E27FC236}">
                <a16:creationId xmlns="" xmlns:a16="http://schemas.microsoft.com/office/drawing/2014/main" id="{7798914D-B172-BFCF-E7FA-B9258300C4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EC2FA466-3B40-F725-71EA-EF9E34AAC523}"/>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406990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566C58-3BF2-FA15-178A-F8691135DA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9EF5C9C0-863B-49AD-085C-65CAA010DB7F}"/>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4" name="Footer Placeholder 3">
            <a:extLst>
              <a:ext uri="{FF2B5EF4-FFF2-40B4-BE49-F238E27FC236}">
                <a16:creationId xmlns="" xmlns:a16="http://schemas.microsoft.com/office/drawing/2014/main" id="{DA97E8C0-77BE-440D-2D84-1FCB1E2AD7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B5357F21-B442-E4DF-6C89-2A1A3A0C4B45}"/>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12608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68DD116-F4F8-779E-2C45-B5B21DE0E6E8}"/>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3" name="Footer Placeholder 2">
            <a:extLst>
              <a:ext uri="{FF2B5EF4-FFF2-40B4-BE49-F238E27FC236}">
                <a16:creationId xmlns="" xmlns:a16="http://schemas.microsoft.com/office/drawing/2014/main" id="{DA06E658-0FAA-0E55-C687-D66777E051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9F62A72C-3B76-40BA-6D20-59CDC23A5136}"/>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291007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7F7D2E-26ED-B028-A193-3008C4942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3364B920-3730-AFBF-4106-E3079C5CF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816661A1-84EC-862B-A20A-FAFFB1E1D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8532351-C80D-E194-CC12-33FB332DCC48}"/>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6" name="Footer Placeholder 5">
            <a:extLst>
              <a:ext uri="{FF2B5EF4-FFF2-40B4-BE49-F238E27FC236}">
                <a16:creationId xmlns="" xmlns:a16="http://schemas.microsoft.com/office/drawing/2014/main" id="{1DE7EC1C-2A51-568A-E4E4-23C0A83CC2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ACDA7A20-BECB-C39C-5A03-BE4ABD3109EE}"/>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3666051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8E236-4386-6C2A-319C-D3EE97AD50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AB1E01DC-7DA6-28AA-CCC7-56FC9D0946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517AE78C-D17C-EED9-D179-2ADE60109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9CA480B-5FC3-37C1-2E1D-6B3DB623B9DD}"/>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6" name="Footer Placeholder 5">
            <a:extLst>
              <a:ext uri="{FF2B5EF4-FFF2-40B4-BE49-F238E27FC236}">
                <a16:creationId xmlns="" xmlns:a16="http://schemas.microsoft.com/office/drawing/2014/main" id="{FCA90E7E-D751-8835-A261-44CD25192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42A248C-21E2-EC56-F037-2FE9C603B556}"/>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86863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1012D8-7195-111F-7207-31EFEC4969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122AA3FF-6EF6-929B-D242-7B096058CF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B8816D6-D3C3-288A-DFD2-092A9A501DAE}"/>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E3E75A4F-C504-DE7E-4E10-1D6E158FE7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16C8BB7-8EE4-ABC0-84F2-6018EA04E6EB}"/>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2701103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C64B50A-E843-FF81-807B-CF83EF4CA9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F9CD86C0-896B-B2B9-5E80-CDC145CFE1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7B5153ED-2920-3E55-CBB7-A79C0482CE5E}"/>
              </a:ext>
            </a:extLst>
          </p:cNvPr>
          <p:cNvSpPr>
            <a:spLocks noGrp="1"/>
          </p:cNvSpPr>
          <p:nvPr>
            <p:ph type="dt" sz="half" idx="10"/>
          </p:nvPr>
        </p:nvSpPr>
        <p:spPr/>
        <p:txBody>
          <a:body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D94784C7-0082-1AAD-4330-0C80B42F60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FCDC12E-C3E6-238B-3762-CE9C4D9F2CD4}"/>
              </a:ext>
            </a:extLst>
          </p:cNvPr>
          <p:cNvSpPr>
            <a:spLocks noGrp="1"/>
          </p:cNvSpPr>
          <p:nvPr>
            <p:ph type="sldNum" sz="quarter" idx="12"/>
          </p:nvPr>
        </p:nvSpPr>
        <p:spPr/>
        <p:txBody>
          <a:bodyPr/>
          <a:lstStyle/>
          <a:p>
            <a:fld id="{99BC6D52-EEEF-4500-9A4D-0A5970BBEFD0}" type="slidenum">
              <a:rPr lang="en-US" smtClean="0"/>
              <a:t>‹#›</a:t>
            </a:fld>
            <a:endParaRPr lang="en-US"/>
          </a:p>
        </p:txBody>
      </p:sp>
    </p:spTree>
    <p:extLst>
      <p:ext uri="{BB962C8B-B14F-4D97-AF65-F5344CB8AC3E}">
        <p14:creationId xmlns:p14="http://schemas.microsoft.com/office/powerpoint/2010/main" val="3243522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60C9CCF-5C7B-71BD-9749-F2A0F9B52F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798AB427-2118-283D-3623-7277CA951F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CB5C910-9CFD-E09D-EA38-A31D9E11ED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D32767-C6EB-4F05-937B-0C58224C972D}" type="datetimeFigureOut">
              <a:rPr lang="en-US" smtClean="0"/>
              <a:t>21/08/2025</a:t>
            </a:fld>
            <a:endParaRPr lang="en-US"/>
          </a:p>
        </p:txBody>
      </p:sp>
      <p:sp>
        <p:nvSpPr>
          <p:cNvPr id="5" name="Footer Placeholder 4">
            <a:extLst>
              <a:ext uri="{FF2B5EF4-FFF2-40B4-BE49-F238E27FC236}">
                <a16:creationId xmlns="" xmlns:a16="http://schemas.microsoft.com/office/drawing/2014/main" id="{24DA4401-F727-B905-DADF-4F6623A346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6AEFE6AC-6F66-B665-B236-F51B7B1411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C6D52-EEEF-4500-9A4D-0A5970BBEFD0}" type="slidenum">
              <a:rPr lang="en-US" smtClean="0"/>
              <a:t>‹#›</a:t>
            </a:fld>
            <a:endParaRPr lang="en-US"/>
          </a:p>
        </p:txBody>
      </p:sp>
    </p:spTree>
    <p:extLst>
      <p:ext uri="{BB962C8B-B14F-4D97-AF65-F5344CB8AC3E}">
        <p14:creationId xmlns:p14="http://schemas.microsoft.com/office/powerpoint/2010/main" val="4107385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5ADFBA-2DA3-E117-2C82-F20FCBC1713D}"/>
              </a:ext>
            </a:extLst>
          </p:cNvPr>
          <p:cNvSpPr>
            <a:spLocks noGrp="1"/>
          </p:cNvSpPr>
          <p:nvPr>
            <p:ph type="ctrTitle"/>
          </p:nvPr>
        </p:nvSpPr>
        <p:spPr/>
        <p:txBody>
          <a:bodyPr>
            <a:normAutofit/>
          </a:bodyPr>
          <a:lstStyle/>
          <a:p>
            <a:r>
              <a:rPr lang="en-US" sz="5400" b="1" dirty="0"/>
              <a:t>Unit </a:t>
            </a:r>
            <a:r>
              <a:rPr lang="en-US" sz="5400" b="1" dirty="0" smtClean="0"/>
              <a:t>2.</a:t>
            </a:r>
            <a:br>
              <a:rPr lang="en-US" sz="5400" b="1" dirty="0" smtClean="0"/>
            </a:br>
            <a:r>
              <a:rPr lang="en-US" sz="5400" b="1" i="0" u="none" strike="noStrike" baseline="0" dirty="0" smtClean="0"/>
              <a:t>Database </a:t>
            </a:r>
            <a:r>
              <a:rPr lang="en-US" sz="5400" b="1" i="0" u="none" strike="noStrike" baseline="0" dirty="0"/>
              <a:t>Design</a:t>
            </a:r>
            <a:endParaRPr lang="en-US" sz="5400" b="1" dirty="0"/>
          </a:p>
        </p:txBody>
      </p:sp>
      <p:sp>
        <p:nvSpPr>
          <p:cNvPr id="3" name="Subtitle 2">
            <a:extLst>
              <a:ext uri="{FF2B5EF4-FFF2-40B4-BE49-F238E27FC236}">
                <a16:creationId xmlns="" xmlns:a16="http://schemas.microsoft.com/office/drawing/2014/main" id="{29D086F5-A44B-8C05-32E0-091C6BFE06A9}"/>
              </a:ext>
            </a:extLst>
          </p:cNvPr>
          <p:cNvSpPr>
            <a:spLocks noGrp="1"/>
          </p:cNvSpPr>
          <p:nvPr>
            <p:ph type="subTitle" idx="1"/>
          </p:nvPr>
        </p:nvSpPr>
        <p:spPr/>
        <p:txBody>
          <a:bodyPr/>
          <a:lstStyle/>
          <a:p>
            <a:r>
              <a:rPr lang="en-US" dirty="0" smtClean="0"/>
              <a:t>1	</a:t>
            </a:r>
            <a:endParaRPr lang="en-US" dirty="0"/>
          </a:p>
        </p:txBody>
      </p:sp>
    </p:spTree>
    <p:extLst>
      <p:ext uri="{BB962C8B-B14F-4D97-AF65-F5344CB8AC3E}">
        <p14:creationId xmlns:p14="http://schemas.microsoft.com/office/powerpoint/2010/main" val="23739870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D4270E-3CDC-9A82-C8BF-727F161EA565}"/>
              </a:ext>
            </a:extLst>
          </p:cNvPr>
          <p:cNvSpPr>
            <a:spLocks noGrp="1"/>
          </p:cNvSpPr>
          <p:nvPr>
            <p:ph type="title"/>
          </p:nvPr>
        </p:nvSpPr>
        <p:spPr/>
        <p:txBody>
          <a:bodyPr>
            <a:normAutofit/>
          </a:bodyPr>
          <a:lstStyle/>
          <a:p>
            <a:r>
              <a:rPr lang="en-US" sz="4000" b="1" i="0" u="none" strike="noStrike" baseline="0" dirty="0">
                <a:latin typeface="+mn-lt"/>
              </a:rPr>
              <a:t>Database Design</a:t>
            </a:r>
            <a:endParaRPr lang="en-US" sz="4000" dirty="0">
              <a:latin typeface="+mn-lt"/>
            </a:endParaRPr>
          </a:p>
        </p:txBody>
      </p:sp>
      <p:sp>
        <p:nvSpPr>
          <p:cNvPr id="3" name="Content Placeholder 2">
            <a:extLst>
              <a:ext uri="{FF2B5EF4-FFF2-40B4-BE49-F238E27FC236}">
                <a16:creationId xmlns="" xmlns:a16="http://schemas.microsoft.com/office/drawing/2014/main" id="{6907BA92-D3B7-89D4-DDD4-E414F3A05040}"/>
              </a:ext>
            </a:extLst>
          </p:cNvPr>
          <p:cNvSpPr>
            <a:spLocks noGrp="1"/>
          </p:cNvSpPr>
          <p:nvPr>
            <p:ph idx="1"/>
          </p:nvPr>
        </p:nvSpPr>
        <p:spPr>
          <a:xfrm>
            <a:off x="318053" y="1444487"/>
            <a:ext cx="11635408" cy="4732476"/>
          </a:xfrm>
        </p:spPr>
        <p:txBody>
          <a:bodyPr>
            <a:noAutofit/>
          </a:bodyPr>
          <a:lstStyle/>
          <a:p>
            <a:pPr algn="l"/>
            <a:r>
              <a:rPr lang="en-US" sz="3200" b="0" i="0" u="none" strike="noStrike" baseline="0" dirty="0"/>
              <a:t>Functional Dependencies</a:t>
            </a:r>
          </a:p>
          <a:p>
            <a:pPr algn="l"/>
            <a:r>
              <a:rPr lang="en-US" sz="3200" b="0" i="0" u="none" strike="noStrike" baseline="0" dirty="0"/>
              <a:t>Inference Rules</a:t>
            </a:r>
          </a:p>
          <a:p>
            <a:pPr algn="l"/>
            <a:r>
              <a:rPr lang="en-US" sz="3200" b="0" i="0" u="none" strike="noStrike" baseline="0" dirty="0"/>
              <a:t>Functional Dependency Closure</a:t>
            </a:r>
          </a:p>
          <a:p>
            <a:pPr algn="l"/>
            <a:r>
              <a:rPr lang="en-US" sz="3200" b="0" i="0" u="none" strike="noStrike" baseline="0" dirty="0"/>
              <a:t>Minimal Cover</a:t>
            </a:r>
          </a:p>
          <a:p>
            <a:pPr algn="l"/>
            <a:r>
              <a:rPr lang="en-US" sz="3200" b="0" i="0" u="none" strike="noStrike" baseline="0" dirty="0"/>
              <a:t>Decomposition Properties</a:t>
            </a:r>
          </a:p>
          <a:p>
            <a:r>
              <a:rPr lang="en-US" sz="3200" b="0" i="0" u="none" strike="noStrike" baseline="0" dirty="0"/>
              <a:t>Need of Normalization</a:t>
            </a:r>
          </a:p>
          <a:p>
            <a:pPr algn="l"/>
            <a:r>
              <a:rPr lang="en-US" sz="3200" b="0" i="0" u="none" strike="noStrike" baseline="0" dirty="0"/>
              <a:t>Normal Forms: 1NF, 2NF, 3NF and BCNF, Multi-valued Dependency, 4NF</a:t>
            </a:r>
            <a:endParaRPr lang="en-US" sz="3200" dirty="0"/>
          </a:p>
        </p:txBody>
      </p:sp>
    </p:spTree>
    <p:extLst>
      <p:ext uri="{BB962C8B-B14F-4D97-AF65-F5344CB8AC3E}">
        <p14:creationId xmlns:p14="http://schemas.microsoft.com/office/powerpoint/2010/main" val="903387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522764" cy="5299352"/>
          </a:xfrm>
        </p:spPr>
        <p:txBody>
          <a:bodyPr>
            <a:normAutofit fontScale="92500" lnSpcReduction="20000"/>
          </a:bodyPr>
          <a:lstStyle/>
          <a:p>
            <a:pPr algn="just"/>
            <a:r>
              <a:rPr lang="en-US" b="1" i="0" dirty="0">
                <a:effectLst/>
              </a:rPr>
              <a:t>Functional Dependency (FD)</a:t>
            </a:r>
            <a:r>
              <a:rPr lang="en-US" b="0" i="0" dirty="0">
                <a:effectLst/>
              </a:rPr>
              <a:t> is a </a:t>
            </a:r>
            <a:r>
              <a:rPr lang="en-US" b="1" i="0" dirty="0">
                <a:solidFill>
                  <a:srgbClr val="000099"/>
                </a:solidFill>
                <a:effectLst/>
              </a:rPr>
              <a:t>constraint that determines the relation of one attribute to another attribute</a:t>
            </a:r>
            <a:r>
              <a:rPr lang="en-US" b="0" i="0" dirty="0">
                <a:solidFill>
                  <a:srgbClr val="222222"/>
                </a:solidFill>
                <a:effectLst/>
              </a:rPr>
              <a:t> </a:t>
            </a:r>
            <a:r>
              <a:rPr lang="en-US" b="0" i="0" dirty="0">
                <a:effectLst/>
              </a:rPr>
              <a:t>in a Database Management System (DBMS). </a:t>
            </a:r>
          </a:p>
          <a:p>
            <a:pPr algn="just"/>
            <a:r>
              <a:rPr lang="en-US" b="1" i="0" dirty="0">
                <a:solidFill>
                  <a:srgbClr val="000099"/>
                </a:solidFill>
                <a:effectLst/>
              </a:rPr>
              <a:t>The attributes of a table is said to be dependent on each other when an attribute of a table uniquely identifies another attribute of the same table.</a:t>
            </a:r>
          </a:p>
          <a:p>
            <a:pPr algn="just"/>
            <a:r>
              <a:rPr lang="en-US" b="0" i="0" dirty="0">
                <a:effectLst/>
              </a:rPr>
              <a:t>For example: Suppose we have a student table with attributes: </a:t>
            </a:r>
            <a:r>
              <a:rPr lang="en-US" b="1" i="0" dirty="0" err="1">
                <a:solidFill>
                  <a:srgbClr val="000099"/>
                </a:solidFill>
                <a:effectLst/>
              </a:rPr>
              <a:t>Stu_Id</a:t>
            </a:r>
            <a:r>
              <a:rPr lang="en-US" b="1" i="0" dirty="0">
                <a:solidFill>
                  <a:srgbClr val="000099"/>
                </a:solidFill>
                <a:effectLst/>
              </a:rPr>
              <a:t>, </a:t>
            </a:r>
            <a:r>
              <a:rPr lang="en-US" b="1" i="0" dirty="0" err="1">
                <a:solidFill>
                  <a:srgbClr val="000099"/>
                </a:solidFill>
                <a:effectLst/>
              </a:rPr>
              <a:t>Stu_Name</a:t>
            </a:r>
            <a:r>
              <a:rPr lang="en-US" b="1" i="0" dirty="0">
                <a:solidFill>
                  <a:srgbClr val="000099"/>
                </a:solidFill>
                <a:effectLst/>
              </a:rPr>
              <a:t>, </a:t>
            </a:r>
            <a:r>
              <a:rPr lang="en-US" b="1" i="0" dirty="0" err="1">
                <a:solidFill>
                  <a:srgbClr val="000099"/>
                </a:solidFill>
                <a:effectLst/>
              </a:rPr>
              <a:t>Stu_Age</a:t>
            </a:r>
            <a:r>
              <a:rPr lang="en-US" b="0" i="0" dirty="0">
                <a:solidFill>
                  <a:srgbClr val="222426"/>
                </a:solidFill>
                <a:effectLst/>
              </a:rPr>
              <a:t>. Here </a:t>
            </a:r>
            <a:r>
              <a:rPr lang="en-US" b="1" i="0" dirty="0" err="1">
                <a:solidFill>
                  <a:srgbClr val="000099"/>
                </a:solidFill>
                <a:effectLst/>
              </a:rPr>
              <a:t>Stu_Id</a:t>
            </a:r>
            <a:r>
              <a:rPr lang="en-US" b="1" i="0" dirty="0">
                <a:solidFill>
                  <a:srgbClr val="000099"/>
                </a:solidFill>
                <a:effectLst/>
              </a:rPr>
              <a:t> attribute uniquely identifies the </a:t>
            </a:r>
            <a:r>
              <a:rPr lang="en-US" b="1" i="0" dirty="0" err="1">
                <a:solidFill>
                  <a:srgbClr val="000099"/>
                </a:solidFill>
                <a:effectLst/>
              </a:rPr>
              <a:t>Stu_Name</a:t>
            </a:r>
            <a:r>
              <a:rPr lang="en-US" b="1" i="0" dirty="0">
                <a:solidFill>
                  <a:srgbClr val="000099"/>
                </a:solidFill>
                <a:effectLst/>
              </a:rPr>
              <a:t> attribute of student table </a:t>
            </a:r>
            <a:r>
              <a:rPr lang="en-US" b="0" i="0" dirty="0">
                <a:effectLst/>
              </a:rPr>
              <a:t>because if we know the student id we can tell the student name associated with it. </a:t>
            </a:r>
            <a:r>
              <a:rPr lang="en-US" b="1" i="0" dirty="0">
                <a:solidFill>
                  <a:srgbClr val="C00000"/>
                </a:solidFill>
                <a:effectLst/>
              </a:rPr>
              <a:t>This is known as functional dependency and can be written as </a:t>
            </a:r>
            <a:r>
              <a:rPr lang="en-US" b="1" i="0" dirty="0" err="1">
                <a:solidFill>
                  <a:srgbClr val="C00000"/>
                </a:solidFill>
                <a:effectLst/>
              </a:rPr>
              <a:t>Stu_Id</a:t>
            </a:r>
            <a:r>
              <a:rPr lang="en-US" b="1" i="0" dirty="0">
                <a:solidFill>
                  <a:srgbClr val="C00000"/>
                </a:solidFill>
                <a:effectLst/>
              </a:rPr>
              <a:t>-&gt;</a:t>
            </a:r>
            <a:r>
              <a:rPr lang="en-US" b="1" i="0" dirty="0" err="1">
                <a:solidFill>
                  <a:srgbClr val="C00000"/>
                </a:solidFill>
                <a:effectLst/>
              </a:rPr>
              <a:t>Stu_Name</a:t>
            </a:r>
            <a:r>
              <a:rPr lang="en-US" b="1" i="0" dirty="0">
                <a:solidFill>
                  <a:srgbClr val="C00000"/>
                </a:solidFill>
                <a:effectLst/>
              </a:rPr>
              <a:t> or in words we can say </a:t>
            </a:r>
            <a:r>
              <a:rPr lang="en-US" b="1" i="0" dirty="0" err="1">
                <a:solidFill>
                  <a:srgbClr val="C00000"/>
                </a:solidFill>
                <a:effectLst/>
              </a:rPr>
              <a:t>Stu_Name</a:t>
            </a:r>
            <a:r>
              <a:rPr lang="en-US" b="1" i="0" dirty="0">
                <a:solidFill>
                  <a:srgbClr val="C00000"/>
                </a:solidFill>
                <a:effectLst/>
              </a:rPr>
              <a:t> is functionally dependent on </a:t>
            </a:r>
            <a:r>
              <a:rPr lang="en-US" b="1" i="0" dirty="0" err="1">
                <a:solidFill>
                  <a:srgbClr val="C00000"/>
                </a:solidFill>
                <a:effectLst/>
              </a:rPr>
              <a:t>Stu_Id</a:t>
            </a:r>
            <a:r>
              <a:rPr lang="en-US" b="1" i="0" dirty="0">
                <a:solidFill>
                  <a:srgbClr val="C00000"/>
                </a:solidFill>
                <a:effectLst/>
              </a:rPr>
              <a:t>.</a:t>
            </a:r>
          </a:p>
          <a:p>
            <a:pPr>
              <a:tabLst>
                <a:tab pos="457200" algn="l"/>
              </a:tabLst>
            </a:pPr>
            <a:r>
              <a:rPr lang="en-US" b="1" i="0" dirty="0">
                <a:effectLst/>
              </a:rPr>
              <a:t>Formally</a:t>
            </a:r>
            <a:r>
              <a:rPr lang="en-US" b="0" i="0" dirty="0">
                <a:effectLst/>
              </a:rPr>
              <a:t>:</a:t>
            </a:r>
            <a:r>
              <a:rPr lang="en-US" b="0" i="0" dirty="0">
                <a:solidFill>
                  <a:srgbClr val="222426"/>
                </a:solidFill>
                <a:effectLst/>
              </a:rPr>
              <a:t/>
            </a:r>
            <a:br>
              <a:rPr lang="en-US" b="0" i="0" dirty="0">
                <a:solidFill>
                  <a:srgbClr val="222426"/>
                </a:solidFill>
                <a:effectLst/>
              </a:rPr>
            </a:br>
            <a:r>
              <a:rPr lang="en-US" b="1" i="0" dirty="0">
                <a:solidFill>
                  <a:srgbClr val="000099"/>
                </a:solidFill>
                <a:effectLst/>
              </a:rPr>
              <a:t>If column A of a table uniquely identifies the column B of same table then it can represented as A-&gt;B (Attribute B is functionally dependent on attribute A)</a:t>
            </a:r>
          </a:p>
          <a:p>
            <a:pPr>
              <a:tabLst>
                <a:tab pos="457200" algn="l"/>
              </a:tabLst>
            </a:pPr>
            <a:r>
              <a:rPr lang="en-US" b="1" i="0" dirty="0">
                <a:solidFill>
                  <a:srgbClr val="000099"/>
                </a:solidFill>
                <a:effectLst/>
              </a:rPr>
              <a:t>A-&gt;B </a:t>
            </a:r>
            <a:r>
              <a:rPr lang="en-US" b="1" i="0" dirty="0">
                <a:solidFill>
                  <a:srgbClr val="C00000"/>
                </a:solidFill>
                <a:effectLst/>
              </a:rPr>
              <a:t>The left side of FD is known as a </a:t>
            </a:r>
            <a:r>
              <a:rPr lang="en-US" sz="3500" b="1" i="0" dirty="0">
                <a:solidFill>
                  <a:schemeClr val="accent2">
                    <a:lumMod val="75000"/>
                  </a:schemeClr>
                </a:solidFill>
                <a:effectLst/>
              </a:rPr>
              <a:t>determinant</a:t>
            </a:r>
            <a:r>
              <a:rPr lang="en-US" b="1" i="0" dirty="0">
                <a:solidFill>
                  <a:srgbClr val="C00000"/>
                </a:solidFill>
                <a:effectLst/>
              </a:rPr>
              <a:t>, the right side of the production is known as a </a:t>
            </a:r>
            <a:r>
              <a:rPr lang="en-US" sz="3500" b="1" dirty="0">
                <a:solidFill>
                  <a:schemeClr val="accent2">
                    <a:lumMod val="75000"/>
                  </a:schemeClr>
                </a:solidFill>
              </a:rPr>
              <a:t>dependent</a:t>
            </a:r>
            <a:r>
              <a:rPr lang="en-US" b="1" i="0" dirty="0">
                <a:solidFill>
                  <a:srgbClr val="C00000"/>
                </a:solidFill>
                <a:effectLst/>
              </a:rPr>
              <a:t>.</a:t>
            </a:r>
          </a:p>
          <a:p>
            <a:pPr algn="just"/>
            <a:endParaRPr lang="en-US" dirty="0"/>
          </a:p>
        </p:txBody>
      </p:sp>
    </p:spTree>
    <p:extLst>
      <p:ext uri="{BB962C8B-B14F-4D97-AF65-F5344CB8AC3E}">
        <p14:creationId xmlns:p14="http://schemas.microsoft.com/office/powerpoint/2010/main" val="26483165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522764" cy="5299352"/>
          </a:xfrm>
        </p:spPr>
        <p:txBody>
          <a:bodyPr>
            <a:normAutofit/>
          </a:bodyPr>
          <a:lstStyle/>
          <a:p>
            <a:pPr algn="just"/>
            <a:r>
              <a:rPr lang="en-US" b="1" i="0" dirty="0">
                <a:effectLst/>
              </a:rPr>
              <a:t>Types of Functional Dependencies in DBMS</a:t>
            </a:r>
          </a:p>
          <a:p>
            <a:pPr algn="just"/>
            <a:r>
              <a:rPr lang="en-US" b="0" i="0" dirty="0">
                <a:effectLst/>
              </a:rPr>
              <a:t>There are mainly four types of Functional Dependency in DBMS. Following are the types of Functional Dependencies in DBMS:</a:t>
            </a:r>
          </a:p>
          <a:p>
            <a:pPr algn="just">
              <a:buFont typeface="Arial" panose="020B0604020202020204" pitchFamily="34" charset="0"/>
              <a:buChar char="•"/>
            </a:pPr>
            <a:r>
              <a:rPr lang="en-US" b="1" i="0" dirty="0">
                <a:solidFill>
                  <a:srgbClr val="000099"/>
                </a:solidFill>
                <a:effectLst/>
              </a:rPr>
              <a:t>Multivalued Dependency</a:t>
            </a:r>
            <a:endParaRPr lang="en-US" b="0" i="0" dirty="0">
              <a:solidFill>
                <a:srgbClr val="000099"/>
              </a:solidFill>
              <a:effectLst/>
            </a:endParaRPr>
          </a:p>
          <a:p>
            <a:pPr algn="just">
              <a:buFont typeface="Arial" panose="020B0604020202020204" pitchFamily="34" charset="0"/>
              <a:buChar char="•"/>
            </a:pPr>
            <a:r>
              <a:rPr lang="en-US" b="1" i="0" dirty="0">
                <a:solidFill>
                  <a:srgbClr val="000099"/>
                </a:solidFill>
                <a:effectLst/>
              </a:rPr>
              <a:t>Trivial Functional Dependency</a:t>
            </a:r>
            <a:endParaRPr lang="en-US" b="0" i="0" dirty="0">
              <a:solidFill>
                <a:srgbClr val="000099"/>
              </a:solidFill>
              <a:effectLst/>
            </a:endParaRPr>
          </a:p>
          <a:p>
            <a:pPr algn="just">
              <a:buFont typeface="Arial" panose="020B0604020202020204" pitchFamily="34" charset="0"/>
              <a:buChar char="•"/>
            </a:pPr>
            <a:r>
              <a:rPr lang="en-US" b="1" i="0" dirty="0">
                <a:solidFill>
                  <a:srgbClr val="000099"/>
                </a:solidFill>
                <a:effectLst/>
              </a:rPr>
              <a:t>Non-Trivial Functional Dependency</a:t>
            </a:r>
            <a:endParaRPr lang="en-US" b="0" i="0" dirty="0">
              <a:solidFill>
                <a:srgbClr val="000099"/>
              </a:solidFill>
              <a:effectLst/>
            </a:endParaRPr>
          </a:p>
          <a:p>
            <a:pPr algn="just">
              <a:buFont typeface="Arial" panose="020B0604020202020204" pitchFamily="34" charset="0"/>
              <a:buChar char="•"/>
            </a:pPr>
            <a:r>
              <a:rPr lang="en-US" b="1" i="0" dirty="0">
                <a:solidFill>
                  <a:srgbClr val="000099"/>
                </a:solidFill>
                <a:effectLst/>
              </a:rPr>
              <a:t>Transitive Dependency</a:t>
            </a:r>
            <a:endParaRPr lang="en-US" b="0" i="0" dirty="0">
              <a:solidFill>
                <a:srgbClr val="000099"/>
              </a:solidFill>
              <a:effectLst/>
            </a:endParaRPr>
          </a:p>
        </p:txBody>
      </p:sp>
    </p:spTree>
    <p:extLst>
      <p:ext uri="{BB962C8B-B14F-4D97-AF65-F5344CB8AC3E}">
        <p14:creationId xmlns:p14="http://schemas.microsoft.com/office/powerpoint/2010/main" val="5416528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5948" y="1601905"/>
            <a:ext cx="6003984" cy="4274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5305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0"/>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289560" y="640080"/>
            <a:ext cx="11567822" cy="5747468"/>
          </a:xfrm>
        </p:spPr>
        <p:txBody>
          <a:bodyPr>
            <a:normAutofit/>
          </a:bodyPr>
          <a:lstStyle/>
          <a:p>
            <a:pPr algn="just">
              <a:buFont typeface="Arial" panose="020B0604020202020204" pitchFamily="34" charset="0"/>
              <a:buChar char="•"/>
            </a:pPr>
            <a:r>
              <a:rPr lang="en-US" b="1" i="0" dirty="0">
                <a:solidFill>
                  <a:srgbClr val="000099"/>
                </a:solidFill>
                <a:effectLst/>
              </a:rPr>
              <a:t>Multivalued Dependency:</a:t>
            </a:r>
            <a:r>
              <a:rPr lang="en-US" b="0" i="0" dirty="0">
                <a:solidFill>
                  <a:srgbClr val="000099"/>
                </a:solidFill>
                <a:effectLst/>
              </a:rPr>
              <a:t> </a:t>
            </a:r>
          </a:p>
          <a:p>
            <a:pPr algn="just"/>
            <a:r>
              <a:rPr lang="en-US" dirty="0"/>
              <a:t>Multivalued dependency would occur whenever two </a:t>
            </a:r>
            <a:r>
              <a:rPr lang="en-US" dirty="0" smtClean="0"/>
              <a:t> or more separate multivalued attributes </a:t>
            </a:r>
            <a:r>
              <a:rPr lang="en-US" dirty="0"/>
              <a:t>in a given table happen to be independent of each other. And yet, both of these depend on another third </a:t>
            </a:r>
            <a:r>
              <a:rPr lang="en-US" dirty="0" smtClean="0"/>
              <a:t>attribute.</a:t>
            </a:r>
          </a:p>
          <a:p>
            <a:pPr algn="just"/>
            <a:r>
              <a:rPr lang="en-US" b="0" i="0" dirty="0" smtClean="0">
                <a:effectLst/>
              </a:rPr>
              <a:t>A </a:t>
            </a:r>
            <a:r>
              <a:rPr lang="en-US" b="0" i="0" dirty="0">
                <a:effectLst/>
              </a:rPr>
              <a:t>multivalued dependency </a:t>
            </a:r>
            <a:r>
              <a:rPr lang="en-US" b="1" i="0" dirty="0">
                <a:solidFill>
                  <a:srgbClr val="000099"/>
                </a:solidFill>
                <a:effectLst/>
              </a:rPr>
              <a:t>is a complete constraint between two sets of attributes in a relation. </a:t>
            </a:r>
            <a:r>
              <a:rPr lang="en-US" b="0" i="0" dirty="0">
                <a:effectLst/>
              </a:rPr>
              <a:t>It requires that certain tuples be present in a relation.</a:t>
            </a:r>
          </a:p>
          <a:p>
            <a:pPr algn="just">
              <a:buFont typeface="Arial" panose="020B0604020202020204" pitchFamily="34" charset="0"/>
              <a:buChar char="•"/>
            </a:pPr>
            <a:r>
              <a:rPr lang="en-US" b="0" i="0" dirty="0" smtClean="0">
                <a:solidFill>
                  <a:srgbClr val="222222"/>
                </a:solidFill>
                <a:effectLst/>
              </a:rPr>
              <a:t> </a:t>
            </a:r>
            <a:endParaRPr lang="en-US" b="0" i="0" dirty="0">
              <a:solidFill>
                <a:srgbClr val="222222"/>
              </a:solidFill>
              <a:effectLst/>
            </a:endParaRPr>
          </a:p>
        </p:txBody>
      </p:sp>
      <p:graphicFrame>
        <p:nvGraphicFramePr>
          <p:cNvPr id="4" name="Table 3">
            <a:extLst>
              <a:ext uri="{FF2B5EF4-FFF2-40B4-BE49-F238E27FC236}">
                <a16:creationId xmlns="" xmlns:a16="http://schemas.microsoft.com/office/drawing/2014/main" id="{7812B674-EE73-9DD8-1CF2-FC4349108140}"/>
              </a:ext>
            </a:extLst>
          </p:cNvPr>
          <p:cNvGraphicFramePr>
            <a:graphicFrameLocks noGrp="1"/>
          </p:cNvGraphicFramePr>
          <p:nvPr/>
        </p:nvGraphicFramePr>
        <p:xfrm>
          <a:off x="7929512" y="3429000"/>
          <a:ext cx="3758906" cy="2560320"/>
        </p:xfrm>
        <a:graphic>
          <a:graphicData uri="http://schemas.openxmlformats.org/drawingml/2006/table">
            <a:tbl>
              <a:tblPr/>
              <a:tblGrid>
                <a:gridCol w="1294001">
                  <a:extLst>
                    <a:ext uri="{9D8B030D-6E8A-4147-A177-3AD203B41FA5}">
                      <a16:colId xmlns="" xmlns:a16="http://schemas.microsoft.com/office/drawing/2014/main" val="1553470171"/>
                    </a:ext>
                  </a:extLst>
                </a:gridCol>
                <a:gridCol w="1205948">
                  <a:extLst>
                    <a:ext uri="{9D8B030D-6E8A-4147-A177-3AD203B41FA5}">
                      <a16:colId xmlns="" xmlns:a16="http://schemas.microsoft.com/office/drawing/2014/main" val="3488200245"/>
                    </a:ext>
                  </a:extLst>
                </a:gridCol>
                <a:gridCol w="1258957">
                  <a:extLst>
                    <a:ext uri="{9D8B030D-6E8A-4147-A177-3AD203B41FA5}">
                      <a16:colId xmlns="" xmlns:a16="http://schemas.microsoft.com/office/drawing/2014/main" val="3151152892"/>
                    </a:ext>
                  </a:extLst>
                </a:gridCol>
              </a:tblGrid>
              <a:tr h="0">
                <a:tc>
                  <a:txBody>
                    <a:bodyPr/>
                    <a:lstStyle/>
                    <a:p>
                      <a:pPr algn="l"/>
                      <a:r>
                        <a:rPr lang="en-US" dirty="0" err="1">
                          <a:effectLst/>
                        </a:rPr>
                        <a:t>Car_model</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a:effectLst/>
                        </a:rPr>
                        <a:t>Maf_year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a:effectLst/>
                        </a:rPr>
                        <a:t>Color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152881121"/>
                  </a:ext>
                </a:extLst>
              </a:tr>
              <a:tr h="0">
                <a:tc>
                  <a:txBody>
                    <a:bodyPr/>
                    <a:lstStyle/>
                    <a:p>
                      <a:r>
                        <a:rPr lang="en-US" dirty="0">
                          <a:effectLst/>
                        </a:rPr>
                        <a:t>H001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Metallic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3824822666"/>
                  </a:ext>
                </a:extLst>
              </a:tr>
              <a:tr h="0">
                <a:tc>
                  <a:txBody>
                    <a:bodyPr/>
                    <a:lstStyle/>
                    <a:p>
                      <a:r>
                        <a:rPr lang="en-US">
                          <a:effectLst/>
                        </a:rPr>
                        <a:t>H001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effectLst/>
                        </a:rPr>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198310593"/>
                  </a:ext>
                </a:extLst>
              </a:tr>
              <a:tr h="0">
                <a:tc>
                  <a:txBody>
                    <a:bodyPr/>
                    <a:lstStyle/>
                    <a:p>
                      <a:r>
                        <a:rPr lang="en-US">
                          <a:effectLst/>
                        </a:rPr>
                        <a:t>H005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Metallic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4079809191"/>
                  </a:ext>
                </a:extLst>
              </a:tr>
              <a:tr h="0">
                <a:tc>
                  <a:txBody>
                    <a:bodyPr/>
                    <a:lstStyle/>
                    <a:p>
                      <a:r>
                        <a:rPr lang="en-US">
                          <a:effectLst/>
                        </a:rPr>
                        <a:t>H005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effectLst/>
                        </a:rPr>
                        <a:t>Blue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751129039"/>
                  </a:ext>
                </a:extLst>
              </a:tr>
              <a:tr h="0">
                <a:tc>
                  <a:txBody>
                    <a:bodyPr/>
                    <a:lstStyle/>
                    <a:p>
                      <a:r>
                        <a:rPr lang="en-US">
                          <a:effectLst/>
                        </a:rPr>
                        <a:t>H010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Metallic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3467945147"/>
                  </a:ext>
                </a:extLst>
              </a:tr>
              <a:tr h="0">
                <a:tc>
                  <a:txBody>
                    <a:bodyPr/>
                    <a:lstStyle/>
                    <a:p>
                      <a:r>
                        <a:rPr lang="en-US">
                          <a:effectLst/>
                        </a:rPr>
                        <a:t>H033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2012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Gray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215354675"/>
                  </a:ext>
                </a:extLst>
              </a:tr>
            </a:tbl>
          </a:graphicData>
        </a:graphic>
      </p:graphicFrame>
      <p:sp>
        <p:nvSpPr>
          <p:cNvPr id="5" name="Content Placeholder 2">
            <a:extLst>
              <a:ext uri="{FF2B5EF4-FFF2-40B4-BE49-F238E27FC236}">
                <a16:creationId xmlns="" xmlns:a16="http://schemas.microsoft.com/office/drawing/2014/main" id="{7B7DC2B6-9653-CBF7-9893-0FFD24114FC7}"/>
              </a:ext>
            </a:extLst>
          </p:cNvPr>
          <p:cNvSpPr txBox="1">
            <a:spLocks/>
          </p:cNvSpPr>
          <p:nvPr/>
        </p:nvSpPr>
        <p:spPr>
          <a:xfrm>
            <a:off x="487018" y="3684104"/>
            <a:ext cx="7273530" cy="285584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effectLst/>
              </a:rPr>
              <a:t>In this example, </a:t>
            </a:r>
            <a:r>
              <a:rPr lang="en-US" b="1" i="0" dirty="0" err="1">
                <a:solidFill>
                  <a:srgbClr val="000099"/>
                </a:solidFill>
                <a:effectLst/>
              </a:rPr>
              <a:t>maf_year</a:t>
            </a:r>
            <a:r>
              <a:rPr lang="en-US" b="1" i="0" dirty="0">
                <a:solidFill>
                  <a:srgbClr val="000099"/>
                </a:solidFill>
                <a:effectLst/>
              </a:rPr>
              <a:t> and color are independent of each other but dependent on </a:t>
            </a:r>
            <a:r>
              <a:rPr lang="en-US" b="1" i="0" dirty="0" err="1">
                <a:solidFill>
                  <a:srgbClr val="000099"/>
                </a:solidFill>
                <a:effectLst/>
              </a:rPr>
              <a:t>car_model</a:t>
            </a:r>
            <a:r>
              <a:rPr lang="en-US" b="1" i="0" dirty="0">
                <a:solidFill>
                  <a:srgbClr val="000099"/>
                </a:solidFill>
                <a:effectLst/>
              </a:rPr>
              <a:t>.</a:t>
            </a:r>
            <a:r>
              <a:rPr lang="en-US" b="0" i="0" dirty="0">
                <a:effectLst/>
              </a:rPr>
              <a:t> In this example, </a:t>
            </a:r>
            <a:r>
              <a:rPr lang="en-US" b="1" i="0" dirty="0">
                <a:solidFill>
                  <a:srgbClr val="C00000"/>
                </a:solidFill>
                <a:effectLst/>
              </a:rPr>
              <a:t>these two columns are said to be </a:t>
            </a:r>
            <a:r>
              <a:rPr lang="en-US" b="1" i="0" dirty="0" err="1">
                <a:solidFill>
                  <a:srgbClr val="C00000"/>
                </a:solidFill>
                <a:effectLst/>
              </a:rPr>
              <a:t>multivalue</a:t>
            </a:r>
            <a:r>
              <a:rPr lang="en-US" b="1" i="0" dirty="0">
                <a:solidFill>
                  <a:srgbClr val="C00000"/>
                </a:solidFill>
                <a:effectLst/>
              </a:rPr>
              <a:t> dependent on </a:t>
            </a:r>
            <a:r>
              <a:rPr lang="en-US" b="1" i="0" dirty="0" err="1">
                <a:solidFill>
                  <a:srgbClr val="C00000"/>
                </a:solidFill>
                <a:effectLst/>
              </a:rPr>
              <a:t>car_model</a:t>
            </a:r>
            <a:r>
              <a:rPr lang="en-US" b="1" i="0" dirty="0">
                <a:solidFill>
                  <a:srgbClr val="C00000"/>
                </a:solidFill>
                <a:effectLst/>
              </a:rPr>
              <a:t>.</a:t>
            </a:r>
          </a:p>
          <a:p>
            <a:pPr algn="just"/>
            <a:r>
              <a:rPr lang="en-US" b="0" i="0" dirty="0">
                <a:effectLst/>
              </a:rPr>
              <a:t>This dependence can be represented like this:</a:t>
            </a:r>
          </a:p>
          <a:p>
            <a:pPr algn="just"/>
            <a:r>
              <a:rPr lang="en-US" b="1" i="0" dirty="0" err="1">
                <a:solidFill>
                  <a:srgbClr val="000099"/>
                </a:solidFill>
                <a:effectLst/>
              </a:rPr>
              <a:t>car_model</a:t>
            </a:r>
            <a:r>
              <a:rPr lang="en-US" b="1" i="0" dirty="0">
                <a:solidFill>
                  <a:srgbClr val="000099"/>
                </a:solidFill>
                <a:effectLst/>
              </a:rPr>
              <a:t> -&gt; </a:t>
            </a:r>
            <a:r>
              <a:rPr lang="en-US" b="1" i="0" dirty="0" err="1">
                <a:solidFill>
                  <a:srgbClr val="000099"/>
                </a:solidFill>
                <a:effectLst/>
              </a:rPr>
              <a:t>maf_year</a:t>
            </a:r>
            <a:endParaRPr lang="en-US" b="1" i="0" dirty="0">
              <a:solidFill>
                <a:srgbClr val="000099"/>
              </a:solidFill>
              <a:effectLst/>
            </a:endParaRPr>
          </a:p>
          <a:p>
            <a:pPr algn="just"/>
            <a:r>
              <a:rPr lang="en-US" b="1" i="0" dirty="0" err="1">
                <a:solidFill>
                  <a:srgbClr val="000099"/>
                </a:solidFill>
                <a:effectLst/>
              </a:rPr>
              <a:t>car_model</a:t>
            </a:r>
            <a:r>
              <a:rPr lang="en-US" b="1" i="0" dirty="0">
                <a:solidFill>
                  <a:srgbClr val="000099"/>
                </a:solidFill>
                <a:effectLst/>
              </a:rPr>
              <a:t>-&gt; </a:t>
            </a:r>
            <a:r>
              <a:rPr lang="en-US" b="1" i="0" dirty="0" err="1">
                <a:solidFill>
                  <a:srgbClr val="000099"/>
                </a:solidFill>
                <a:effectLst/>
              </a:rPr>
              <a:t>colour</a:t>
            </a:r>
            <a:endParaRPr lang="en-US" b="1" i="0" dirty="0">
              <a:solidFill>
                <a:srgbClr val="000099"/>
              </a:solidFill>
              <a:effectLst/>
            </a:endParaRPr>
          </a:p>
          <a:p>
            <a:pPr algn="just"/>
            <a:endParaRPr lang="en-US" dirty="0">
              <a:solidFill>
                <a:srgbClr val="222222"/>
              </a:solidFill>
            </a:endParaRPr>
          </a:p>
        </p:txBody>
      </p:sp>
    </p:spTree>
    <p:extLst>
      <p:ext uri="{BB962C8B-B14F-4D97-AF65-F5344CB8AC3E}">
        <p14:creationId xmlns:p14="http://schemas.microsoft.com/office/powerpoint/2010/main" val="2013922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751365" cy="2595908"/>
          </a:xfrm>
        </p:spPr>
        <p:txBody>
          <a:bodyPr>
            <a:normAutofit fontScale="85000" lnSpcReduction="20000"/>
          </a:bodyPr>
          <a:lstStyle/>
          <a:p>
            <a:pPr algn="just"/>
            <a:r>
              <a:rPr lang="en-US" b="1" i="0" dirty="0">
                <a:solidFill>
                  <a:srgbClr val="000099"/>
                </a:solidFill>
                <a:effectLst/>
              </a:rPr>
              <a:t>Trivial Functional Dependency in DBMS</a:t>
            </a:r>
          </a:p>
          <a:p>
            <a:pPr algn="just"/>
            <a:r>
              <a:rPr lang="en-US" b="0" i="0" dirty="0">
                <a:effectLst/>
              </a:rPr>
              <a:t>The Trivial dependency is a set of attributes which are called a trivial if the set of attributes are included in that attribute.</a:t>
            </a:r>
          </a:p>
          <a:p>
            <a:pPr algn="just"/>
            <a:r>
              <a:rPr lang="en-US" b="0" i="0" dirty="0">
                <a:effectLst/>
              </a:rPr>
              <a:t>So, X -&gt; Y is a trivial functional dependency if Y is a subset of X. </a:t>
            </a:r>
          </a:p>
          <a:p>
            <a:pPr algn="just"/>
            <a:r>
              <a:rPr lang="en-US" b="0" i="0" dirty="0">
                <a:effectLst/>
              </a:rPr>
              <a:t>Consider this table of with two columns </a:t>
            </a:r>
            <a:r>
              <a:rPr lang="en-US" b="0" i="0" dirty="0" err="1">
                <a:effectLst/>
              </a:rPr>
              <a:t>Emp_id</a:t>
            </a:r>
            <a:r>
              <a:rPr lang="en-US" b="0" i="0" dirty="0">
                <a:effectLst/>
              </a:rPr>
              <a:t> and </a:t>
            </a:r>
            <a:r>
              <a:rPr lang="en-US" b="0" i="0" dirty="0" err="1">
                <a:effectLst/>
              </a:rPr>
              <a:t>Emp_name</a:t>
            </a:r>
            <a:r>
              <a:rPr lang="en-US" b="0" i="0" dirty="0">
                <a:effectLst/>
              </a:rPr>
              <a:t>.</a:t>
            </a:r>
          </a:p>
          <a:p>
            <a:pPr algn="just"/>
            <a:r>
              <a:rPr lang="en-US" b="0" i="0" dirty="0">
                <a:effectLst/>
              </a:rPr>
              <a:t>{</a:t>
            </a:r>
            <a:r>
              <a:rPr lang="en-US" b="0" i="0" dirty="0" err="1">
                <a:effectLst/>
              </a:rPr>
              <a:t>Emp_id</a:t>
            </a:r>
            <a:r>
              <a:rPr lang="en-US" b="0" i="0" dirty="0">
                <a:effectLst/>
              </a:rPr>
              <a:t>, </a:t>
            </a:r>
            <a:r>
              <a:rPr lang="en-US" b="0" i="0" dirty="0" err="1">
                <a:effectLst/>
              </a:rPr>
              <a:t>Emp_name</a:t>
            </a:r>
            <a:r>
              <a:rPr lang="en-US" b="0" i="0" dirty="0">
                <a:effectLst/>
              </a:rPr>
              <a:t>} -&gt; </a:t>
            </a:r>
            <a:r>
              <a:rPr lang="en-US" b="0" i="0" dirty="0" err="1">
                <a:effectLst/>
              </a:rPr>
              <a:t>Emp_id</a:t>
            </a:r>
            <a:r>
              <a:rPr lang="en-US" b="0" i="0" dirty="0">
                <a:effectLst/>
              </a:rPr>
              <a:t> is a trivial functional dependency as </a:t>
            </a:r>
            <a:r>
              <a:rPr lang="en-US" b="0" i="0" dirty="0" err="1">
                <a:effectLst/>
              </a:rPr>
              <a:t>Emp_id</a:t>
            </a:r>
            <a:r>
              <a:rPr lang="en-US" b="0" i="0" dirty="0">
                <a:effectLst/>
              </a:rPr>
              <a:t> is a subset of {</a:t>
            </a:r>
            <a:r>
              <a:rPr lang="en-US" b="0" i="0" dirty="0" err="1">
                <a:effectLst/>
              </a:rPr>
              <a:t>Emp_id,Emp_name</a:t>
            </a:r>
            <a:r>
              <a:rPr lang="en-US" b="0" i="0" dirty="0">
                <a:effectLst/>
              </a:rPr>
              <a:t>}.</a:t>
            </a:r>
          </a:p>
          <a:p>
            <a:pPr algn="l"/>
            <a:endParaRPr lang="en-US" b="0" i="0" dirty="0">
              <a:solidFill>
                <a:srgbClr val="222222"/>
              </a:solidFill>
              <a:effectLst/>
              <a:latin typeface="Source Sans Pro" panose="020B0503030403020204" pitchFamily="34" charset="0"/>
            </a:endParaRPr>
          </a:p>
          <a:p>
            <a:pPr algn="just">
              <a:buFont typeface="Arial" panose="020B0604020202020204" pitchFamily="34" charset="0"/>
              <a:buChar char="•"/>
            </a:pPr>
            <a:endParaRPr lang="en-US" b="0" i="0" dirty="0">
              <a:solidFill>
                <a:srgbClr val="222222"/>
              </a:solidFill>
              <a:effectLst/>
            </a:endParaRPr>
          </a:p>
        </p:txBody>
      </p:sp>
      <p:sp>
        <p:nvSpPr>
          <p:cNvPr id="5" name="Content Placeholder 2">
            <a:extLst>
              <a:ext uri="{FF2B5EF4-FFF2-40B4-BE49-F238E27FC236}">
                <a16:creationId xmlns="" xmlns:a16="http://schemas.microsoft.com/office/drawing/2014/main" id="{7B7DC2B6-9653-CBF7-9893-0FFD24114FC7}"/>
              </a:ext>
            </a:extLst>
          </p:cNvPr>
          <p:cNvSpPr txBox="1">
            <a:spLocks/>
          </p:cNvSpPr>
          <p:nvPr/>
        </p:nvSpPr>
        <p:spPr>
          <a:xfrm>
            <a:off x="241853" y="3551583"/>
            <a:ext cx="8265086" cy="312751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000099"/>
                </a:solidFill>
                <a:effectLst/>
              </a:rPr>
              <a:t>Non Trivial Functional Dependency in DBMS</a:t>
            </a:r>
          </a:p>
          <a:p>
            <a:pPr algn="just"/>
            <a:r>
              <a:rPr lang="en-US" b="0" i="0" dirty="0">
                <a:effectLst/>
              </a:rPr>
              <a:t>Functional dependency which also known as a nontrivial dependency occurs </a:t>
            </a:r>
            <a:r>
              <a:rPr lang="en-US" b="1" i="0" dirty="0">
                <a:solidFill>
                  <a:srgbClr val="000099"/>
                </a:solidFill>
                <a:effectLst/>
              </a:rPr>
              <a:t>when A-&gt;B holds true where B is not a subset of A. </a:t>
            </a:r>
          </a:p>
          <a:p>
            <a:pPr algn="just"/>
            <a:r>
              <a:rPr lang="en-US" b="0" i="0" dirty="0">
                <a:effectLst/>
              </a:rPr>
              <a:t>In a relationship, </a:t>
            </a:r>
            <a:r>
              <a:rPr lang="en-US" b="1" i="0" dirty="0">
                <a:solidFill>
                  <a:srgbClr val="000099"/>
                </a:solidFill>
                <a:effectLst/>
              </a:rPr>
              <a:t>if attribute B is not a subset of attribute A, then it is considered as a non-trivial dependency.</a:t>
            </a:r>
          </a:p>
          <a:p>
            <a:pPr algn="just"/>
            <a:r>
              <a:rPr lang="en-US" b="0" i="0" dirty="0">
                <a:effectLst/>
              </a:rPr>
              <a:t>(Company} -&gt; {CEO} (if we know the Company, we knows the CEO name)</a:t>
            </a:r>
          </a:p>
          <a:p>
            <a:pPr algn="just"/>
            <a:r>
              <a:rPr lang="en-US" b="0" i="0" dirty="0">
                <a:effectLst/>
              </a:rPr>
              <a:t>But CEO is not a subset of Company, and hence it’s non-trivial functional dependency.</a:t>
            </a:r>
          </a:p>
          <a:p>
            <a:pPr algn="just"/>
            <a:endParaRPr lang="en-US" b="0" i="0" dirty="0">
              <a:solidFill>
                <a:srgbClr val="222222"/>
              </a:solidFill>
              <a:effectLst/>
            </a:endParaRPr>
          </a:p>
          <a:p>
            <a:pPr algn="just"/>
            <a:endParaRPr lang="en-US" dirty="0">
              <a:solidFill>
                <a:srgbClr val="222222"/>
              </a:solidFill>
            </a:endParaRPr>
          </a:p>
        </p:txBody>
      </p:sp>
      <p:graphicFrame>
        <p:nvGraphicFramePr>
          <p:cNvPr id="6" name="Table 5">
            <a:extLst>
              <a:ext uri="{FF2B5EF4-FFF2-40B4-BE49-F238E27FC236}">
                <a16:creationId xmlns="" xmlns:a16="http://schemas.microsoft.com/office/drawing/2014/main" id="{72B46381-B1F7-1089-EABB-721DF8AC7FBB}"/>
              </a:ext>
            </a:extLst>
          </p:cNvPr>
          <p:cNvGraphicFramePr>
            <a:graphicFrameLocks noGrp="1"/>
          </p:cNvGraphicFramePr>
          <p:nvPr/>
        </p:nvGraphicFramePr>
        <p:xfrm>
          <a:off x="9363489" y="138014"/>
          <a:ext cx="2629728" cy="1188720"/>
        </p:xfrm>
        <a:graphic>
          <a:graphicData uri="http://schemas.openxmlformats.org/drawingml/2006/table">
            <a:tbl>
              <a:tblPr/>
              <a:tblGrid>
                <a:gridCol w="1214092">
                  <a:extLst>
                    <a:ext uri="{9D8B030D-6E8A-4147-A177-3AD203B41FA5}">
                      <a16:colId xmlns="" xmlns:a16="http://schemas.microsoft.com/office/drawing/2014/main" val="181779340"/>
                    </a:ext>
                  </a:extLst>
                </a:gridCol>
                <a:gridCol w="1415636">
                  <a:extLst>
                    <a:ext uri="{9D8B030D-6E8A-4147-A177-3AD203B41FA5}">
                      <a16:colId xmlns="" xmlns:a16="http://schemas.microsoft.com/office/drawing/2014/main" val="1602020124"/>
                    </a:ext>
                  </a:extLst>
                </a:gridCol>
              </a:tblGrid>
              <a:tr h="0">
                <a:tc>
                  <a:txBody>
                    <a:bodyPr/>
                    <a:lstStyle/>
                    <a:p>
                      <a:pPr algn="l"/>
                      <a:r>
                        <a:rPr lang="en-US" sz="2000" b="1" dirty="0" err="1">
                          <a:effectLst/>
                        </a:rPr>
                        <a:t>Emp_id</a:t>
                      </a:r>
                      <a:endParaRPr lang="en-US" sz="2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sz="2000" b="1" dirty="0" err="1">
                          <a:effectLst/>
                        </a:rPr>
                        <a:t>Emp_name</a:t>
                      </a:r>
                      <a:endParaRPr lang="en-US" sz="2000"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567012160"/>
                  </a:ext>
                </a:extLst>
              </a:tr>
              <a:tr h="0">
                <a:tc>
                  <a:txBody>
                    <a:bodyPr/>
                    <a:lstStyle/>
                    <a:p>
                      <a:r>
                        <a:rPr lang="en-US" sz="2000" dirty="0">
                          <a:effectLst/>
                        </a:rPr>
                        <a:t>AS555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sz="2000" dirty="0">
                          <a:effectLst/>
                        </a:rPr>
                        <a:t>Harry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3708998391"/>
                  </a:ext>
                </a:extLst>
              </a:tr>
              <a:tr h="0">
                <a:tc>
                  <a:txBody>
                    <a:bodyPr/>
                    <a:lstStyle/>
                    <a:p>
                      <a:r>
                        <a:rPr lang="en-US" sz="2000" dirty="0">
                          <a:effectLst/>
                        </a:rPr>
                        <a:t>AS811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000" dirty="0">
                          <a:effectLst/>
                        </a:rPr>
                        <a:t>George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123686234"/>
                  </a:ext>
                </a:extLst>
              </a:tr>
            </a:tbl>
          </a:graphicData>
        </a:graphic>
      </p:graphicFrame>
      <p:graphicFrame>
        <p:nvGraphicFramePr>
          <p:cNvPr id="7" name="Table 6">
            <a:extLst>
              <a:ext uri="{FF2B5EF4-FFF2-40B4-BE49-F238E27FC236}">
                <a16:creationId xmlns="" xmlns:a16="http://schemas.microsoft.com/office/drawing/2014/main" id="{A0747EF5-AFFD-FCF0-9906-665136C31B70}"/>
              </a:ext>
            </a:extLst>
          </p:cNvPr>
          <p:cNvGraphicFramePr>
            <a:graphicFrameLocks noGrp="1"/>
          </p:cNvGraphicFramePr>
          <p:nvPr/>
        </p:nvGraphicFramePr>
        <p:xfrm>
          <a:off x="8599705" y="4350689"/>
          <a:ext cx="3393512" cy="1463040"/>
        </p:xfrm>
        <a:graphic>
          <a:graphicData uri="http://schemas.openxmlformats.org/drawingml/2006/table">
            <a:tbl>
              <a:tblPr/>
              <a:tblGrid>
                <a:gridCol w="1211746">
                  <a:extLst>
                    <a:ext uri="{9D8B030D-6E8A-4147-A177-3AD203B41FA5}">
                      <a16:colId xmlns="" xmlns:a16="http://schemas.microsoft.com/office/drawing/2014/main" val="1027546742"/>
                    </a:ext>
                  </a:extLst>
                </a:gridCol>
                <a:gridCol w="1524000">
                  <a:extLst>
                    <a:ext uri="{9D8B030D-6E8A-4147-A177-3AD203B41FA5}">
                      <a16:colId xmlns="" xmlns:a16="http://schemas.microsoft.com/office/drawing/2014/main" val="977975980"/>
                    </a:ext>
                  </a:extLst>
                </a:gridCol>
                <a:gridCol w="657766">
                  <a:extLst>
                    <a:ext uri="{9D8B030D-6E8A-4147-A177-3AD203B41FA5}">
                      <a16:colId xmlns="" xmlns:a16="http://schemas.microsoft.com/office/drawing/2014/main" val="2370537302"/>
                    </a:ext>
                  </a:extLst>
                </a:gridCol>
              </a:tblGrid>
              <a:tr h="0">
                <a:tc>
                  <a:txBody>
                    <a:bodyPr/>
                    <a:lstStyle/>
                    <a:p>
                      <a:pPr algn="l"/>
                      <a:r>
                        <a:rPr lang="en-US" b="1" dirty="0">
                          <a:effectLst/>
                        </a:rPr>
                        <a:t>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b="1" dirty="0">
                          <a:effectLst/>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b="1" dirty="0">
                          <a:effectLst/>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986176831"/>
                  </a:ext>
                </a:extLst>
              </a:tr>
              <a:tr h="0">
                <a:tc>
                  <a:txBody>
                    <a:bodyPr/>
                    <a:lstStyle/>
                    <a:p>
                      <a:r>
                        <a:rPr lang="en-US" dirty="0">
                          <a:effectLst/>
                        </a:rPr>
                        <a:t>Microsoft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Satya Nadella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14193482"/>
                  </a:ext>
                </a:extLst>
              </a:tr>
              <a:tr h="0">
                <a:tc>
                  <a:txBody>
                    <a:bodyPr/>
                    <a:lstStyle/>
                    <a:p>
                      <a:r>
                        <a:rPr lang="en-US">
                          <a:effectLst/>
                        </a:rPr>
                        <a:t>Google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Sundar Pichai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effectLst/>
                        </a:rPr>
                        <a:t>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22720710"/>
                  </a:ext>
                </a:extLst>
              </a:tr>
              <a:tr h="0">
                <a:tc>
                  <a:txBody>
                    <a:bodyPr/>
                    <a:lstStyle/>
                    <a:p>
                      <a:r>
                        <a:rPr lang="en-US">
                          <a:effectLst/>
                        </a:rPr>
                        <a:t>Apple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Tim Cook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1830941327"/>
                  </a:ext>
                </a:extLst>
              </a:tr>
            </a:tbl>
          </a:graphicData>
        </a:graphic>
      </p:graphicFrame>
    </p:spTree>
    <p:extLst>
      <p:ext uri="{BB962C8B-B14F-4D97-AF65-F5344CB8AC3E}">
        <p14:creationId xmlns:p14="http://schemas.microsoft.com/office/powerpoint/2010/main" val="33823763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236743"/>
            <a:ext cx="11751365" cy="5217065"/>
          </a:xfrm>
        </p:spPr>
        <p:txBody>
          <a:bodyPr>
            <a:normAutofit/>
          </a:bodyPr>
          <a:lstStyle/>
          <a:p>
            <a:pPr algn="just"/>
            <a:r>
              <a:rPr lang="en-US" b="1" i="0" dirty="0">
                <a:solidFill>
                  <a:srgbClr val="000099"/>
                </a:solidFill>
                <a:effectLst/>
              </a:rPr>
              <a:t>Transitive Dependency in DBMS</a:t>
            </a:r>
          </a:p>
          <a:p>
            <a:pPr algn="just"/>
            <a:r>
              <a:rPr lang="en-US" b="1" i="0" dirty="0">
                <a:effectLst/>
              </a:rPr>
              <a:t>A Transitive Dependency is a type of functional dependency which happens when “t” is indirectly formed by two functional dependencies. </a:t>
            </a:r>
          </a:p>
          <a:p>
            <a:pPr algn="just"/>
            <a:r>
              <a:rPr lang="en-US" b="1" i="0" dirty="0">
                <a:solidFill>
                  <a:srgbClr val="C00000"/>
                </a:solidFill>
                <a:effectLst/>
              </a:rPr>
              <a:t>{Company} -&gt; {CEO} (if we know the </a:t>
            </a:r>
            <a:r>
              <a:rPr lang="en-US" b="1" i="0" dirty="0" err="1">
                <a:solidFill>
                  <a:srgbClr val="C00000"/>
                </a:solidFill>
                <a:effectLst/>
              </a:rPr>
              <a:t>compay</a:t>
            </a:r>
            <a:r>
              <a:rPr lang="en-US" b="1" i="0" dirty="0">
                <a:solidFill>
                  <a:srgbClr val="C00000"/>
                </a:solidFill>
                <a:effectLst/>
              </a:rPr>
              <a:t>, we know its CEO’s name)</a:t>
            </a:r>
          </a:p>
          <a:p>
            <a:pPr algn="just"/>
            <a:r>
              <a:rPr lang="en-US" b="1" i="0" dirty="0">
                <a:solidFill>
                  <a:srgbClr val="C00000"/>
                </a:solidFill>
                <a:effectLst/>
              </a:rPr>
              <a:t>{CEO } -&gt; {Age} If we know the CEO, we know the Age</a:t>
            </a:r>
          </a:p>
          <a:p>
            <a:pPr algn="just"/>
            <a:r>
              <a:rPr lang="en-US" b="1" i="0" dirty="0">
                <a:solidFill>
                  <a:srgbClr val="C00000"/>
                </a:solidFill>
                <a:effectLst/>
              </a:rPr>
              <a:t>Therefore according to the rule of rule of transitive dependency:</a:t>
            </a:r>
          </a:p>
          <a:p>
            <a:pPr algn="just"/>
            <a:r>
              <a:rPr lang="en-US" b="1" i="0" dirty="0">
                <a:solidFill>
                  <a:srgbClr val="C00000"/>
                </a:solidFill>
                <a:effectLst/>
              </a:rPr>
              <a:t>{ Company} -&gt; {Age} should hold, that makes sense because if we know the company name, we can know his age.</a:t>
            </a:r>
          </a:p>
          <a:p>
            <a:pPr algn="just"/>
            <a:r>
              <a:rPr lang="en-US" b="0" i="0" dirty="0">
                <a:solidFill>
                  <a:srgbClr val="222222"/>
                </a:solidFill>
                <a:effectLst/>
              </a:rPr>
              <a:t>Note: You need to remember that transitive dependency can only occur in a relation of three or more attributes.</a:t>
            </a:r>
          </a:p>
          <a:p>
            <a:pPr algn="just"/>
            <a:endParaRPr lang="en-US" b="0" i="0" dirty="0">
              <a:solidFill>
                <a:srgbClr val="222222"/>
              </a:solidFill>
              <a:effectLst/>
            </a:endParaRPr>
          </a:p>
          <a:p>
            <a:pPr algn="l"/>
            <a:endParaRPr lang="en-US" b="0" i="0" dirty="0">
              <a:solidFill>
                <a:srgbClr val="222222"/>
              </a:solidFill>
              <a:effectLst/>
              <a:latin typeface="Source Sans Pro" panose="020B0503030403020204" pitchFamily="34" charset="0"/>
            </a:endParaRPr>
          </a:p>
          <a:p>
            <a:pPr algn="l"/>
            <a:endParaRPr lang="en-US" b="0" i="0" dirty="0">
              <a:solidFill>
                <a:srgbClr val="222222"/>
              </a:solidFill>
              <a:effectLst/>
              <a:latin typeface="Source Sans Pro" panose="020B0503030403020204" pitchFamily="34" charset="0"/>
            </a:endParaRPr>
          </a:p>
          <a:p>
            <a:pPr algn="just">
              <a:buFont typeface="Arial" panose="020B0604020202020204" pitchFamily="34" charset="0"/>
              <a:buChar char="•"/>
            </a:pPr>
            <a:endParaRPr lang="en-US" b="0" i="0" dirty="0">
              <a:solidFill>
                <a:srgbClr val="222222"/>
              </a:solidFill>
              <a:effectLst/>
            </a:endParaRPr>
          </a:p>
        </p:txBody>
      </p:sp>
      <p:graphicFrame>
        <p:nvGraphicFramePr>
          <p:cNvPr id="10" name="Table 9">
            <a:extLst>
              <a:ext uri="{FF2B5EF4-FFF2-40B4-BE49-F238E27FC236}">
                <a16:creationId xmlns="" xmlns:a16="http://schemas.microsoft.com/office/drawing/2014/main" id="{76C7A8BA-120A-4409-BA8A-A3013E92BB61}"/>
              </a:ext>
            </a:extLst>
          </p:cNvPr>
          <p:cNvGraphicFramePr>
            <a:graphicFrameLocks noGrp="1"/>
          </p:cNvGraphicFramePr>
          <p:nvPr/>
        </p:nvGraphicFramePr>
        <p:xfrm>
          <a:off x="7884087" y="125330"/>
          <a:ext cx="3393512" cy="1463040"/>
        </p:xfrm>
        <a:graphic>
          <a:graphicData uri="http://schemas.openxmlformats.org/drawingml/2006/table">
            <a:tbl>
              <a:tblPr/>
              <a:tblGrid>
                <a:gridCol w="1211746">
                  <a:extLst>
                    <a:ext uri="{9D8B030D-6E8A-4147-A177-3AD203B41FA5}">
                      <a16:colId xmlns="" xmlns:a16="http://schemas.microsoft.com/office/drawing/2014/main" val="1027546742"/>
                    </a:ext>
                  </a:extLst>
                </a:gridCol>
                <a:gridCol w="1524000">
                  <a:extLst>
                    <a:ext uri="{9D8B030D-6E8A-4147-A177-3AD203B41FA5}">
                      <a16:colId xmlns="" xmlns:a16="http://schemas.microsoft.com/office/drawing/2014/main" val="977975980"/>
                    </a:ext>
                  </a:extLst>
                </a:gridCol>
                <a:gridCol w="657766">
                  <a:extLst>
                    <a:ext uri="{9D8B030D-6E8A-4147-A177-3AD203B41FA5}">
                      <a16:colId xmlns="" xmlns:a16="http://schemas.microsoft.com/office/drawing/2014/main" val="2370537302"/>
                    </a:ext>
                  </a:extLst>
                </a:gridCol>
              </a:tblGrid>
              <a:tr h="0">
                <a:tc>
                  <a:txBody>
                    <a:bodyPr/>
                    <a:lstStyle/>
                    <a:p>
                      <a:pPr algn="l"/>
                      <a:r>
                        <a:rPr lang="en-US" b="1" dirty="0">
                          <a:effectLst/>
                        </a:rPr>
                        <a:t>Company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b="1" dirty="0">
                          <a:effectLst/>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b="1" dirty="0">
                          <a:effectLst/>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986176831"/>
                  </a:ext>
                </a:extLst>
              </a:tr>
              <a:tr h="0">
                <a:tc>
                  <a:txBody>
                    <a:bodyPr/>
                    <a:lstStyle/>
                    <a:p>
                      <a:r>
                        <a:rPr lang="en-US" dirty="0">
                          <a:effectLst/>
                        </a:rPr>
                        <a:t>Microsoft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Satya Nadella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a:effectLst/>
                        </a:rPr>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14193482"/>
                  </a:ext>
                </a:extLst>
              </a:tr>
              <a:tr h="0">
                <a:tc>
                  <a:txBody>
                    <a:bodyPr/>
                    <a:lstStyle/>
                    <a:p>
                      <a:r>
                        <a:rPr lang="en-US">
                          <a:effectLst/>
                        </a:rPr>
                        <a:t>Google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dirty="0">
                          <a:effectLst/>
                        </a:rPr>
                        <a:t>Sundar Pichai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effectLst/>
                        </a:rPr>
                        <a:t>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22720710"/>
                  </a:ext>
                </a:extLst>
              </a:tr>
              <a:tr h="0">
                <a:tc>
                  <a:txBody>
                    <a:bodyPr/>
                    <a:lstStyle/>
                    <a:p>
                      <a:r>
                        <a:rPr lang="en-US">
                          <a:effectLst/>
                        </a:rPr>
                        <a:t>Apple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Tim Cook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dirty="0">
                          <a:effectLst/>
                        </a:rPr>
                        <a:t>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1830941327"/>
                  </a:ext>
                </a:extLst>
              </a:tr>
            </a:tbl>
          </a:graphicData>
        </a:graphic>
      </p:graphicFrame>
    </p:spTree>
    <p:extLst>
      <p:ext uri="{BB962C8B-B14F-4D97-AF65-F5344CB8AC3E}">
        <p14:creationId xmlns:p14="http://schemas.microsoft.com/office/powerpoint/2010/main" val="17187940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2394769119"/>
              </p:ext>
            </p:extLst>
          </p:nvPr>
        </p:nvGraphicFramePr>
        <p:xfrm>
          <a:off x="838200" y="1825625"/>
          <a:ext cx="7680960" cy="1828800"/>
        </p:xfrm>
        <a:graphic>
          <a:graphicData uri="http://schemas.openxmlformats.org/drawingml/2006/table">
            <a:tbl>
              <a:tblPr firstRow="1" bandRow="1">
                <a:tableStyleId>{5C22544A-7EE6-4342-B048-85BDC9FD1C3A}</a:tableStyleId>
              </a:tblPr>
              <a:tblGrid>
                <a:gridCol w="2560320"/>
                <a:gridCol w="2560320"/>
                <a:gridCol w="2560320"/>
              </a:tblGrid>
              <a:tr h="363347">
                <a:tc>
                  <a:txBody>
                    <a:bodyPr/>
                    <a:lstStyle/>
                    <a:p>
                      <a:r>
                        <a:rPr lang="en-US" dirty="0"/>
                        <a:t>Movie</a:t>
                      </a:r>
                    </a:p>
                  </a:txBody>
                  <a:tcPr anchor="ctr"/>
                </a:tc>
                <a:tc>
                  <a:txBody>
                    <a:bodyPr/>
                    <a:lstStyle/>
                    <a:p>
                      <a:r>
                        <a:rPr lang="en-US"/>
                        <a:t>Actor</a:t>
                      </a:r>
                    </a:p>
                  </a:txBody>
                  <a:tcPr anchor="ctr"/>
                </a:tc>
                <a:tc>
                  <a:txBody>
                    <a:bodyPr/>
                    <a:lstStyle/>
                    <a:p>
                      <a:r>
                        <a:rPr lang="en-US"/>
                        <a:t>Genre</a:t>
                      </a:r>
                    </a:p>
                  </a:txBody>
                  <a:tcPr anchor="ctr"/>
                </a:tc>
              </a:tr>
              <a:tr h="363347">
                <a:tc>
                  <a:txBody>
                    <a:bodyPr/>
                    <a:lstStyle/>
                    <a:p>
                      <a:r>
                        <a:rPr lang="en-US"/>
                        <a:t>Inception</a:t>
                      </a:r>
                    </a:p>
                  </a:txBody>
                  <a:tcPr anchor="ctr"/>
                </a:tc>
                <a:tc>
                  <a:txBody>
                    <a:bodyPr/>
                    <a:lstStyle/>
                    <a:p>
                      <a:r>
                        <a:rPr lang="en-US"/>
                        <a:t>Leonardo</a:t>
                      </a:r>
                    </a:p>
                  </a:txBody>
                  <a:tcPr anchor="ctr"/>
                </a:tc>
                <a:tc>
                  <a:txBody>
                    <a:bodyPr/>
                    <a:lstStyle/>
                    <a:p>
                      <a:r>
                        <a:rPr lang="en-US"/>
                        <a:t>Sci-Fi</a:t>
                      </a:r>
                    </a:p>
                  </a:txBody>
                  <a:tcPr anchor="ctr"/>
                </a:tc>
              </a:tr>
              <a:tr h="363347">
                <a:tc>
                  <a:txBody>
                    <a:bodyPr/>
                    <a:lstStyle/>
                    <a:p>
                      <a:r>
                        <a:rPr lang="en-US"/>
                        <a:t>Inception</a:t>
                      </a:r>
                    </a:p>
                  </a:txBody>
                  <a:tcPr anchor="ctr"/>
                </a:tc>
                <a:tc>
                  <a:txBody>
                    <a:bodyPr/>
                    <a:lstStyle/>
                    <a:p>
                      <a:r>
                        <a:rPr lang="en-US"/>
                        <a:t>Leonardo</a:t>
                      </a:r>
                    </a:p>
                  </a:txBody>
                  <a:tcPr anchor="ctr"/>
                </a:tc>
                <a:tc>
                  <a:txBody>
                    <a:bodyPr/>
                    <a:lstStyle/>
                    <a:p>
                      <a:r>
                        <a:rPr lang="en-US" dirty="0" smtClean="0"/>
                        <a:t>Action</a:t>
                      </a:r>
                      <a:endParaRPr lang="en-US" dirty="0"/>
                    </a:p>
                  </a:txBody>
                  <a:tcPr anchor="ctr"/>
                </a:tc>
              </a:tr>
              <a:tr h="363347">
                <a:tc>
                  <a:txBody>
                    <a:bodyPr/>
                    <a:lstStyle/>
                    <a:p>
                      <a:r>
                        <a:rPr lang="en-US" dirty="0"/>
                        <a:t>Inception</a:t>
                      </a:r>
                    </a:p>
                  </a:txBody>
                  <a:tcPr anchor="ctr"/>
                </a:tc>
                <a:tc>
                  <a:txBody>
                    <a:bodyPr/>
                    <a:lstStyle/>
                    <a:p>
                      <a:r>
                        <a:rPr lang="en-US" dirty="0" smtClean="0"/>
                        <a:t>Tom Hardy</a:t>
                      </a:r>
                      <a:endParaRPr lang="en-US" dirty="0"/>
                    </a:p>
                  </a:txBody>
                  <a:tcPr anchor="ctr"/>
                </a:tc>
                <a:tc>
                  <a:txBody>
                    <a:bodyPr/>
                    <a:lstStyle/>
                    <a:p>
                      <a:r>
                        <a:rPr lang="en-US"/>
                        <a:t>Sci-Fi</a:t>
                      </a:r>
                    </a:p>
                  </a:txBody>
                  <a:tcPr anchor="ctr"/>
                </a:tc>
              </a:tr>
              <a:tr h="363347">
                <a:tc>
                  <a:txBody>
                    <a:bodyPr/>
                    <a:lstStyle/>
                    <a:p>
                      <a:r>
                        <a:rPr lang="en-US" dirty="0"/>
                        <a:t>Inception</a:t>
                      </a:r>
                    </a:p>
                  </a:txBody>
                  <a:tcPr anchor="ctr"/>
                </a:tc>
                <a:tc>
                  <a:txBody>
                    <a:bodyPr/>
                    <a:lstStyle/>
                    <a:p>
                      <a:r>
                        <a:rPr lang="en-US" dirty="0" smtClean="0"/>
                        <a:t>Tom Hardy</a:t>
                      </a:r>
                      <a:endParaRPr lang="en-US" dirty="0"/>
                    </a:p>
                  </a:txBody>
                  <a:tcPr anchor="ctr"/>
                </a:tc>
                <a:tc>
                  <a:txBody>
                    <a:bodyPr/>
                    <a:lstStyle/>
                    <a:p>
                      <a:r>
                        <a:rPr lang="en-US" dirty="0" smtClean="0"/>
                        <a:t>Action</a:t>
                      </a:r>
                      <a:endParaRPr lang="en-US" dirty="0"/>
                    </a:p>
                  </a:txBody>
                  <a:tcPr anchor="ctr"/>
                </a:tc>
              </a:tr>
            </a:tbl>
          </a:graphicData>
        </a:graphic>
      </p:graphicFrame>
      <p:sp>
        <p:nvSpPr>
          <p:cNvPr id="10" name="Rectangle 9"/>
          <p:cNvSpPr/>
          <p:nvPr/>
        </p:nvSpPr>
        <p:spPr>
          <a:xfrm>
            <a:off x="701040" y="4014876"/>
            <a:ext cx="7071360" cy="2246769"/>
          </a:xfrm>
          <a:prstGeom prst="rect">
            <a:avLst/>
          </a:prstGeom>
        </p:spPr>
        <p:txBody>
          <a:bodyPr wrap="square">
            <a:spAutoFit/>
          </a:bodyPr>
          <a:lstStyle/>
          <a:p>
            <a:r>
              <a:rPr lang="en-US" sz="2000" b="1" dirty="0"/>
              <a:t>Consider a relation Student(Name, </a:t>
            </a:r>
            <a:r>
              <a:rPr lang="en-US" sz="2000" b="1" dirty="0" err="1"/>
              <a:t>RollNo</a:t>
            </a:r>
            <a:r>
              <a:rPr lang="en-US" sz="2000" b="1" dirty="0"/>
              <a:t>, Department)</a:t>
            </a:r>
            <a:r>
              <a:rPr lang="en-US" sz="2000" dirty="0"/>
              <a:t>.</a:t>
            </a:r>
          </a:p>
          <a:p>
            <a:r>
              <a:rPr lang="en-US" sz="2000" b="1" dirty="0"/>
              <a:t>(</a:t>
            </a:r>
            <a:r>
              <a:rPr lang="en-US" sz="2000" b="1" dirty="0" err="1"/>
              <a:t>RollNo</a:t>
            </a:r>
            <a:r>
              <a:rPr lang="en-US" sz="2000" b="1" dirty="0"/>
              <a:t>, Name) → </a:t>
            </a:r>
            <a:r>
              <a:rPr lang="en-US" sz="2000" b="1" dirty="0" smtClean="0"/>
              <a:t>Name</a:t>
            </a:r>
            <a:endParaRPr lang="en-US" sz="2000" dirty="0" smtClean="0"/>
          </a:p>
          <a:p>
            <a:r>
              <a:rPr lang="en-US" sz="2000" dirty="0" smtClean="0"/>
              <a:t>.</a:t>
            </a:r>
            <a:r>
              <a:rPr lang="en-US" sz="2000" b="1" dirty="0" smtClean="0"/>
              <a:t>(</a:t>
            </a:r>
            <a:r>
              <a:rPr lang="en-US" sz="2000" b="1" dirty="0" err="1"/>
              <a:t>RollNo</a:t>
            </a:r>
            <a:r>
              <a:rPr lang="en-US" sz="2000" b="1" dirty="0"/>
              <a:t>, Department) → </a:t>
            </a:r>
            <a:r>
              <a:rPr lang="en-US" sz="2000" b="1" dirty="0" err="1"/>
              <a:t>RollNo</a:t>
            </a:r>
            <a:r>
              <a:rPr lang="en-US" sz="2000" b="1" dirty="0"/>
              <a:t>, </a:t>
            </a:r>
            <a:r>
              <a:rPr lang="en-US" sz="2000" b="1" dirty="0" smtClean="0"/>
              <a:t>Department</a:t>
            </a:r>
          </a:p>
          <a:p>
            <a:r>
              <a:rPr lang="en-US" sz="2000" b="1" dirty="0" smtClean="0"/>
              <a:t>Department --&gt; Course </a:t>
            </a:r>
          </a:p>
          <a:p>
            <a:r>
              <a:rPr lang="en-US" sz="2000" b="1" dirty="0" smtClean="0"/>
              <a:t>Course </a:t>
            </a:r>
            <a:r>
              <a:rPr lang="en-US" sz="2000" b="1" dirty="0" smtClean="0">
                <a:sym typeface="Wingdings" pitchFamily="2" charset="2"/>
              </a:rPr>
              <a:t> Faculty</a:t>
            </a:r>
          </a:p>
          <a:p>
            <a:r>
              <a:rPr lang="en-US" sz="2000" b="1" dirty="0" err="1"/>
              <a:t>EmpID</a:t>
            </a:r>
            <a:r>
              <a:rPr lang="en-US" sz="2000" b="1" dirty="0"/>
              <a:t> → </a:t>
            </a:r>
            <a:r>
              <a:rPr lang="en-US" sz="2000" b="1" dirty="0" err="1"/>
              <a:t>DeptID</a:t>
            </a:r>
            <a:r>
              <a:rPr lang="en-US" sz="2000" dirty="0"/>
              <a:t> </a:t>
            </a:r>
            <a:endParaRPr lang="en-US" sz="2000" dirty="0" smtClean="0"/>
          </a:p>
          <a:p>
            <a:r>
              <a:rPr lang="en-US" sz="2000" b="1" dirty="0" err="1" smtClean="0"/>
              <a:t>DeptID</a:t>
            </a:r>
            <a:r>
              <a:rPr lang="en-US" sz="2000" b="1" dirty="0" smtClean="0"/>
              <a:t> </a:t>
            </a:r>
            <a:r>
              <a:rPr lang="en-US" sz="2000" b="1" dirty="0"/>
              <a:t>→ </a:t>
            </a:r>
            <a:r>
              <a:rPr lang="en-US" sz="2000" b="1" dirty="0" err="1"/>
              <a:t>DeptName</a:t>
            </a:r>
            <a:r>
              <a:rPr lang="en-US" sz="2000" dirty="0"/>
              <a:t> </a:t>
            </a:r>
          </a:p>
        </p:txBody>
      </p:sp>
    </p:spTree>
    <p:extLst>
      <p:ext uri="{BB962C8B-B14F-4D97-AF65-F5344CB8AC3E}">
        <p14:creationId xmlns:p14="http://schemas.microsoft.com/office/powerpoint/2010/main" val="10287199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522764" cy="5299352"/>
          </a:xfrm>
        </p:spPr>
        <p:txBody>
          <a:bodyPr>
            <a:normAutofit/>
          </a:bodyPr>
          <a:lstStyle/>
          <a:p>
            <a:pPr algn="just"/>
            <a:r>
              <a:rPr lang="en-US" dirty="0">
                <a:solidFill>
                  <a:srgbClr val="222222"/>
                </a:solidFill>
                <a:latin typeface="Source Sans Pro" panose="020B0503030403020204" pitchFamily="34" charset="0"/>
              </a:rPr>
              <a:t>S</a:t>
            </a:r>
            <a:r>
              <a:rPr lang="en-US" b="0" i="0" dirty="0">
                <a:solidFill>
                  <a:srgbClr val="222222"/>
                </a:solidFill>
                <a:effectLst/>
                <a:latin typeface="Source Sans Pro" panose="020B0503030403020204" pitchFamily="34" charset="0"/>
              </a:rPr>
              <a:t>ome key terms for Functional Dependency in Database:</a:t>
            </a:r>
            <a:endParaRPr lang="en-US" dirty="0"/>
          </a:p>
        </p:txBody>
      </p:sp>
      <p:graphicFrame>
        <p:nvGraphicFramePr>
          <p:cNvPr id="4" name="Table 3">
            <a:extLst>
              <a:ext uri="{FF2B5EF4-FFF2-40B4-BE49-F238E27FC236}">
                <a16:creationId xmlns="" xmlns:a16="http://schemas.microsoft.com/office/drawing/2014/main" id="{3855922F-664D-6F02-3622-1CB4471A2E67}"/>
              </a:ext>
            </a:extLst>
          </p:cNvPr>
          <p:cNvGraphicFramePr>
            <a:graphicFrameLocks noGrp="1"/>
          </p:cNvGraphicFramePr>
          <p:nvPr>
            <p:extLst>
              <p:ext uri="{D42A27DB-BD31-4B8C-83A1-F6EECF244321}">
                <p14:modId xmlns:p14="http://schemas.microsoft.com/office/powerpoint/2010/main" val="195588485"/>
              </p:ext>
            </p:extLst>
          </p:nvPr>
        </p:nvGraphicFramePr>
        <p:xfrm>
          <a:off x="440635" y="1691953"/>
          <a:ext cx="11102008" cy="2714115"/>
        </p:xfrm>
        <a:graphic>
          <a:graphicData uri="http://schemas.openxmlformats.org/drawingml/2006/table">
            <a:tbl>
              <a:tblPr/>
              <a:tblGrid>
                <a:gridCol w="2249556">
                  <a:extLst>
                    <a:ext uri="{9D8B030D-6E8A-4147-A177-3AD203B41FA5}">
                      <a16:colId xmlns="" xmlns:a16="http://schemas.microsoft.com/office/drawing/2014/main" val="2219406326"/>
                    </a:ext>
                  </a:extLst>
                </a:gridCol>
                <a:gridCol w="8852452">
                  <a:extLst>
                    <a:ext uri="{9D8B030D-6E8A-4147-A177-3AD203B41FA5}">
                      <a16:colId xmlns="" xmlns:a16="http://schemas.microsoft.com/office/drawing/2014/main" val="1605668660"/>
                    </a:ext>
                  </a:extLst>
                </a:gridCol>
              </a:tblGrid>
              <a:tr h="305357">
                <a:tc>
                  <a:txBody>
                    <a:bodyPr/>
                    <a:lstStyle/>
                    <a:p>
                      <a:pPr algn="l"/>
                      <a:r>
                        <a:rPr lang="en-US" sz="3200" b="1" dirty="0">
                          <a:effectLst/>
                        </a:rPr>
                        <a:t>Key Terms</a:t>
                      </a: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l"/>
                      <a:r>
                        <a:rPr lang="en-US" sz="3200" b="1" dirty="0">
                          <a:effectLst/>
                        </a:rPr>
                        <a:t>Description</a:t>
                      </a: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1629845385"/>
                  </a:ext>
                </a:extLst>
              </a:tr>
              <a:tr h="390661">
                <a:tc>
                  <a:txBody>
                    <a:bodyPr/>
                    <a:lstStyle/>
                    <a:p>
                      <a:r>
                        <a:rPr lang="en-US" sz="2400" b="1" dirty="0">
                          <a:solidFill>
                            <a:srgbClr val="000099"/>
                          </a:solidFill>
                          <a:effectLst/>
                        </a:rPr>
                        <a:t>Axiom</a:t>
                      </a:r>
                      <a:endParaRPr lang="en-US" sz="2400" dirty="0">
                        <a:solidFill>
                          <a:srgbClr val="000099"/>
                        </a:solidFill>
                        <a:effectLst/>
                      </a:endParaRP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sz="2400" b="1" dirty="0">
                          <a:solidFill>
                            <a:srgbClr val="C00000"/>
                          </a:solidFill>
                          <a:effectLst/>
                        </a:rPr>
                        <a:t>Axioms is a set of inference rules </a:t>
                      </a:r>
                      <a:r>
                        <a:rPr lang="en-US" sz="2400" dirty="0">
                          <a:effectLst/>
                        </a:rPr>
                        <a:t>used to infer all the functional dependencies on a relational database.</a:t>
                      </a: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390956423"/>
                  </a:ext>
                </a:extLst>
              </a:tr>
              <a:tr h="534375">
                <a:tc>
                  <a:txBody>
                    <a:bodyPr/>
                    <a:lstStyle/>
                    <a:p>
                      <a:r>
                        <a:rPr lang="en-US" sz="2400" b="1" dirty="0">
                          <a:solidFill>
                            <a:srgbClr val="000099"/>
                          </a:solidFill>
                          <a:effectLst/>
                        </a:rPr>
                        <a:t>Dependent</a:t>
                      </a:r>
                      <a:endParaRPr lang="en-US" sz="2400" dirty="0">
                        <a:solidFill>
                          <a:srgbClr val="000099"/>
                        </a:solidFill>
                        <a:effectLst/>
                      </a:endParaRP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US" sz="2400" dirty="0">
                          <a:effectLst/>
                        </a:rPr>
                        <a:t>It is </a:t>
                      </a:r>
                      <a:r>
                        <a:rPr lang="en-US" sz="2400" b="1" dirty="0">
                          <a:solidFill>
                            <a:srgbClr val="C00000"/>
                          </a:solidFill>
                          <a:effectLst/>
                        </a:rPr>
                        <a:t>displayed on the right side </a:t>
                      </a:r>
                      <a:r>
                        <a:rPr lang="en-US" sz="2400" dirty="0">
                          <a:effectLst/>
                        </a:rPr>
                        <a:t>of the functional dependency diagram.</a:t>
                      </a: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801461470"/>
                  </a:ext>
                </a:extLst>
              </a:tr>
              <a:tr h="534375">
                <a:tc>
                  <a:txBody>
                    <a:bodyPr/>
                    <a:lstStyle/>
                    <a:p>
                      <a:r>
                        <a:rPr lang="en-US" sz="2400" b="1" dirty="0">
                          <a:solidFill>
                            <a:srgbClr val="000099"/>
                          </a:solidFill>
                          <a:effectLst/>
                        </a:rPr>
                        <a:t>Determinant</a:t>
                      </a:r>
                      <a:endParaRPr lang="en-US" sz="2400" dirty="0">
                        <a:solidFill>
                          <a:srgbClr val="000099"/>
                        </a:solidFill>
                        <a:effectLst/>
                      </a:endParaRP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effectLst/>
                        </a:rPr>
                        <a:t>It is </a:t>
                      </a:r>
                      <a:r>
                        <a:rPr lang="en-US" sz="2400" b="1" dirty="0">
                          <a:solidFill>
                            <a:srgbClr val="C00000"/>
                          </a:solidFill>
                          <a:effectLst/>
                        </a:rPr>
                        <a:t>displayed on the left side </a:t>
                      </a:r>
                      <a:r>
                        <a:rPr lang="en-US" sz="2400" dirty="0">
                          <a:effectLst/>
                        </a:rPr>
                        <a:t>of the functional dependency Diagram.</a:t>
                      </a:r>
                    </a:p>
                  </a:txBody>
                  <a:tcPr marL="76339" marR="76339" marT="38170" marB="381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565421365"/>
                  </a:ext>
                </a:extLst>
              </a:tr>
            </a:tbl>
          </a:graphicData>
        </a:graphic>
      </p:graphicFrame>
    </p:spTree>
    <p:extLst>
      <p:ext uri="{BB962C8B-B14F-4D97-AF65-F5344CB8AC3E}">
        <p14:creationId xmlns:p14="http://schemas.microsoft.com/office/powerpoint/2010/main" val="29398879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522764" cy="5299352"/>
          </a:xfrm>
        </p:spPr>
        <p:txBody>
          <a:bodyPr>
            <a:normAutofit fontScale="92500"/>
          </a:bodyPr>
          <a:lstStyle/>
          <a:p>
            <a:pPr algn="just"/>
            <a:r>
              <a:rPr lang="en-US" b="1" i="0" dirty="0">
                <a:solidFill>
                  <a:srgbClr val="000099"/>
                </a:solidFill>
                <a:effectLst/>
              </a:rPr>
              <a:t>Inference Rules of Functional Dependencies</a:t>
            </a:r>
          </a:p>
          <a:p>
            <a:pPr algn="just"/>
            <a:r>
              <a:rPr lang="en-US" b="0" i="0" dirty="0">
                <a:effectLst/>
              </a:rPr>
              <a:t>Below are the Three most important rules for Functional Dependency in Database:</a:t>
            </a:r>
          </a:p>
          <a:p>
            <a:pPr algn="just">
              <a:buFont typeface="Arial" panose="020B0604020202020204" pitchFamily="34" charset="0"/>
              <a:buChar char="•"/>
            </a:pPr>
            <a:r>
              <a:rPr lang="en-US" b="1" i="0" dirty="0">
                <a:solidFill>
                  <a:srgbClr val="000099"/>
                </a:solidFill>
                <a:effectLst/>
              </a:rPr>
              <a:t>Reflexive rule –. </a:t>
            </a:r>
            <a:r>
              <a:rPr lang="en-US" b="1" i="0" dirty="0">
                <a:solidFill>
                  <a:srgbClr val="C00000"/>
                </a:solidFill>
                <a:effectLst/>
              </a:rPr>
              <a:t>If X is a set of attributes and Y </a:t>
            </a:r>
            <a:r>
              <a:rPr lang="en-US" b="1" i="0" dirty="0" err="1">
                <a:solidFill>
                  <a:srgbClr val="C00000"/>
                </a:solidFill>
                <a:effectLst/>
              </a:rPr>
              <a:t>is_subset_of</a:t>
            </a:r>
            <a:r>
              <a:rPr lang="en-US" b="1" i="0" dirty="0">
                <a:solidFill>
                  <a:srgbClr val="C00000"/>
                </a:solidFill>
                <a:effectLst/>
              </a:rPr>
              <a:t> X, </a:t>
            </a:r>
            <a:r>
              <a:rPr lang="en-US" b="1" i="0" dirty="0">
                <a:solidFill>
                  <a:srgbClr val="000099"/>
                </a:solidFill>
                <a:effectLst/>
              </a:rPr>
              <a:t>then X holds a value of Y.</a:t>
            </a:r>
            <a:r>
              <a:rPr lang="en-US" b="0" i="0" dirty="0">
                <a:solidFill>
                  <a:srgbClr val="000000"/>
                </a:solidFill>
                <a:effectLst/>
                <a:latin typeface="Muli"/>
              </a:rPr>
              <a:t> </a:t>
            </a:r>
            <a:r>
              <a:rPr lang="en-US" b="1" i="0" dirty="0">
                <a:solidFill>
                  <a:srgbClr val="000000"/>
                </a:solidFill>
                <a:effectLst/>
              </a:rPr>
              <a:t>For example {STU_ID, NAME} →NAME is valid reflexive relation.</a:t>
            </a:r>
            <a:endParaRPr lang="en-US" b="1" i="0" dirty="0">
              <a:solidFill>
                <a:srgbClr val="000099"/>
              </a:solidFill>
              <a:effectLst/>
            </a:endParaRPr>
          </a:p>
          <a:p>
            <a:pPr algn="just">
              <a:buFont typeface="Arial" panose="020B0604020202020204" pitchFamily="34" charset="0"/>
              <a:buChar char="•"/>
            </a:pPr>
            <a:r>
              <a:rPr lang="en-US" b="1" i="0" dirty="0">
                <a:solidFill>
                  <a:srgbClr val="000099"/>
                </a:solidFill>
                <a:effectLst/>
              </a:rPr>
              <a:t>Augmentation rule: </a:t>
            </a:r>
            <a:r>
              <a:rPr lang="en-US" b="1" i="0" dirty="0">
                <a:solidFill>
                  <a:srgbClr val="C00000"/>
                </a:solidFill>
                <a:effectLst/>
              </a:rPr>
              <a:t>When </a:t>
            </a:r>
            <a:r>
              <a:rPr lang="en-US" b="1" i="0" dirty="0" smtClean="0">
                <a:solidFill>
                  <a:srgbClr val="C00000"/>
                </a:solidFill>
                <a:effectLst/>
              </a:rPr>
              <a:t>a </a:t>
            </a:r>
            <a:r>
              <a:rPr lang="en-US" b="1" i="0" dirty="0">
                <a:solidFill>
                  <a:srgbClr val="C00000"/>
                </a:solidFill>
                <a:effectLst/>
              </a:rPr>
              <a:t>-&gt; </a:t>
            </a:r>
            <a:r>
              <a:rPr lang="en-US" b="1" dirty="0">
                <a:solidFill>
                  <a:srgbClr val="C00000"/>
                </a:solidFill>
              </a:rPr>
              <a:t>b</a:t>
            </a:r>
            <a:r>
              <a:rPr lang="en-US" b="1" i="0" dirty="0" smtClean="0">
                <a:solidFill>
                  <a:srgbClr val="C00000"/>
                </a:solidFill>
                <a:effectLst/>
              </a:rPr>
              <a:t> </a:t>
            </a:r>
            <a:r>
              <a:rPr lang="en-US" b="1" i="0" dirty="0">
                <a:solidFill>
                  <a:srgbClr val="C00000"/>
                </a:solidFill>
                <a:effectLst/>
              </a:rPr>
              <a:t>holds, and c is attribute set, </a:t>
            </a:r>
            <a:r>
              <a:rPr lang="en-US" b="1" i="0" dirty="0">
                <a:solidFill>
                  <a:srgbClr val="000099"/>
                </a:solidFill>
                <a:effectLst/>
              </a:rPr>
              <a:t>then ac -&gt; </a:t>
            </a:r>
            <a:r>
              <a:rPr lang="en-US" b="1" i="0" dirty="0" err="1">
                <a:solidFill>
                  <a:srgbClr val="000099"/>
                </a:solidFill>
                <a:effectLst/>
              </a:rPr>
              <a:t>bc</a:t>
            </a:r>
            <a:r>
              <a:rPr lang="en-US" b="1" i="0" dirty="0">
                <a:solidFill>
                  <a:srgbClr val="000099"/>
                </a:solidFill>
                <a:effectLst/>
              </a:rPr>
              <a:t> also holds.</a:t>
            </a:r>
            <a:r>
              <a:rPr lang="en-US" b="1" i="0" dirty="0">
                <a:solidFill>
                  <a:srgbClr val="C00000"/>
                </a:solidFill>
                <a:effectLst/>
              </a:rPr>
              <a:t> That is adding attributes which do not change the basic dependencies.</a:t>
            </a:r>
            <a:r>
              <a:rPr lang="en-US" b="0" i="0" dirty="0">
                <a:solidFill>
                  <a:srgbClr val="000000"/>
                </a:solidFill>
                <a:effectLst/>
                <a:latin typeface="Muli"/>
              </a:rPr>
              <a:t> </a:t>
            </a:r>
            <a:r>
              <a:rPr lang="en-US" b="1" i="0" dirty="0">
                <a:solidFill>
                  <a:srgbClr val="000000"/>
                </a:solidFill>
                <a:effectLst/>
              </a:rPr>
              <a:t>For example {STU_ID, NAME} →{ DEPT_BUILDING} is valid then {STU_ID, NAME,DEPT_NAME} →{ DEPT_BUILDING,DEPT_NAME} is also valid. </a:t>
            </a:r>
            <a:endParaRPr lang="en-US" b="1" i="0" dirty="0">
              <a:solidFill>
                <a:srgbClr val="C00000"/>
              </a:solidFill>
              <a:effectLst/>
            </a:endParaRPr>
          </a:p>
          <a:p>
            <a:pPr algn="just">
              <a:buFont typeface="Arial" panose="020B0604020202020204" pitchFamily="34" charset="0"/>
              <a:buChar char="•"/>
            </a:pPr>
            <a:r>
              <a:rPr lang="en-US" b="1" i="0" dirty="0">
                <a:solidFill>
                  <a:srgbClr val="000099"/>
                </a:solidFill>
                <a:effectLst/>
              </a:rPr>
              <a:t>Transitivity rule: </a:t>
            </a:r>
            <a:r>
              <a:rPr lang="en-US" b="1" i="0" dirty="0">
                <a:solidFill>
                  <a:srgbClr val="C00000"/>
                </a:solidFill>
                <a:effectLst/>
              </a:rPr>
              <a:t>This rule is very much similar to the transitive rule in algebra if x -&gt; y holds and y -&gt; z holds, then x -&gt; z also holds. </a:t>
            </a:r>
            <a:r>
              <a:rPr lang="en-US" b="0" i="0" dirty="0">
                <a:effectLst/>
              </a:rPr>
              <a:t>X -&gt; y is called as functionally that determines y.</a:t>
            </a:r>
            <a:r>
              <a:rPr lang="en-US" b="0" i="0" dirty="0">
                <a:solidFill>
                  <a:srgbClr val="000000"/>
                </a:solidFill>
                <a:effectLst/>
                <a:latin typeface="Muli"/>
              </a:rPr>
              <a:t> </a:t>
            </a:r>
            <a:r>
              <a:rPr lang="en-US" b="1" i="0" dirty="0">
                <a:solidFill>
                  <a:srgbClr val="000000"/>
                </a:solidFill>
                <a:effectLst/>
              </a:rPr>
              <a:t>For example, if</a:t>
            </a:r>
            <a:r>
              <a:rPr lang="en-US" b="1" i="0" dirty="0">
                <a:solidFill>
                  <a:srgbClr val="FF0000"/>
                </a:solidFill>
                <a:effectLst/>
              </a:rPr>
              <a:t> </a:t>
            </a:r>
            <a:r>
              <a:rPr lang="en-US" b="1" i="0" dirty="0">
                <a:solidFill>
                  <a:srgbClr val="000000"/>
                </a:solidFill>
                <a:effectLst/>
              </a:rPr>
              <a:t>STU_ID→CLASS, CLASS→LECTURE_HALL holds true then according to the axiom of transitivity, STU_ID→LECTURE_HALL will also hold true.</a:t>
            </a:r>
            <a:r>
              <a:rPr lang="en-US" b="1" i="0" dirty="0">
                <a:solidFill>
                  <a:srgbClr val="616161"/>
                </a:solidFill>
                <a:effectLst/>
              </a:rPr>
              <a:t> </a:t>
            </a:r>
            <a:endParaRPr lang="en-US" b="1" i="0" dirty="0">
              <a:effectLst/>
            </a:endParaRPr>
          </a:p>
        </p:txBody>
      </p:sp>
    </p:spTree>
    <p:extLst>
      <p:ext uri="{BB962C8B-B14F-4D97-AF65-F5344CB8AC3E}">
        <p14:creationId xmlns:p14="http://schemas.microsoft.com/office/powerpoint/2010/main" val="30996368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334618" y="1088196"/>
            <a:ext cx="11522764" cy="5299352"/>
          </a:xfrm>
        </p:spPr>
        <p:txBody>
          <a:bodyPr>
            <a:normAutofit fontScale="92500" lnSpcReduction="20000"/>
          </a:bodyPr>
          <a:lstStyle/>
          <a:p>
            <a:pPr algn="just"/>
            <a:r>
              <a:rPr lang="en-US" b="1" i="0" dirty="0">
                <a:solidFill>
                  <a:srgbClr val="000099"/>
                </a:solidFill>
                <a:effectLst/>
              </a:rPr>
              <a:t>Inference Rules of Functional Dependencies</a:t>
            </a:r>
          </a:p>
          <a:p>
            <a:pPr algn="just"/>
            <a:r>
              <a:rPr lang="en-US" b="1" i="0" dirty="0">
                <a:solidFill>
                  <a:srgbClr val="000099"/>
                </a:solidFill>
                <a:effectLst/>
              </a:rPr>
              <a:t>Union Rule (IR4)</a:t>
            </a:r>
          </a:p>
          <a:p>
            <a:pPr algn="just"/>
            <a:r>
              <a:rPr lang="en-US" b="0" i="0" dirty="0">
                <a:effectLst/>
              </a:rPr>
              <a:t>This rule is also known as the additive rule. if X determines Y and X determines Z, then X also determines both Y and Z.</a:t>
            </a:r>
          </a:p>
          <a:p>
            <a:pPr algn="just"/>
            <a:r>
              <a:rPr lang="en-US" b="0" i="0" dirty="0">
                <a:effectLst/>
              </a:rPr>
              <a:t>If X    →  Y and X   →  Z then X  →    YZ     </a:t>
            </a:r>
          </a:p>
          <a:p>
            <a:pPr algn="just"/>
            <a:r>
              <a:rPr lang="en-US" b="1" i="0" dirty="0">
                <a:solidFill>
                  <a:srgbClr val="000099"/>
                </a:solidFill>
                <a:effectLst/>
              </a:rPr>
              <a:t>For example, STU_ID → STU_NAME, STU_ID→COURSE then STU_ID→ {STU_NAME, COURSE}  holds true.  </a:t>
            </a:r>
          </a:p>
          <a:p>
            <a:pPr algn="just"/>
            <a:r>
              <a:rPr lang="en-US" b="0" i="0" dirty="0">
                <a:effectLst/>
              </a:rPr>
              <a:t>Proof:</a:t>
            </a:r>
          </a:p>
          <a:p>
            <a:pPr algn="just"/>
            <a:r>
              <a:rPr lang="en-US" b="0" i="0" dirty="0">
                <a:effectLst/>
              </a:rPr>
              <a:t>1. X → Y (given)</a:t>
            </a:r>
          </a:p>
          <a:p>
            <a:pPr algn="just"/>
            <a:r>
              <a:rPr lang="en-US" b="0" i="0" dirty="0">
                <a:effectLst/>
              </a:rPr>
              <a:t>2. X → Z (given)</a:t>
            </a:r>
          </a:p>
          <a:p>
            <a:pPr algn="just"/>
            <a:r>
              <a:rPr lang="en-US" b="0" i="0" dirty="0">
                <a:effectLst/>
              </a:rPr>
              <a:t>3. X → XY (using IR2 on 1 by augmentation with X)</a:t>
            </a:r>
          </a:p>
          <a:p>
            <a:pPr algn="just"/>
            <a:r>
              <a:rPr lang="en-US" b="0" i="0" dirty="0">
                <a:effectLst/>
              </a:rPr>
              <a:t>4. XY → YZ (using IR2 on 2 by augmentation with Y)</a:t>
            </a:r>
          </a:p>
          <a:p>
            <a:pPr algn="just"/>
            <a:r>
              <a:rPr lang="en-US" b="0" i="0" dirty="0">
                <a:effectLst/>
              </a:rPr>
              <a:t>5. X → YZ (using IR3 on 3 and 4)</a:t>
            </a:r>
          </a:p>
        </p:txBody>
      </p:sp>
    </p:spTree>
    <p:extLst>
      <p:ext uri="{BB962C8B-B14F-4D97-AF65-F5344CB8AC3E}">
        <p14:creationId xmlns:p14="http://schemas.microsoft.com/office/powerpoint/2010/main" val="3698005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D9F723-19CD-78B5-66BA-9769E7BC155C}"/>
              </a:ext>
            </a:extLst>
          </p:cNvPr>
          <p:cNvSpPr>
            <a:spLocks noGrp="1"/>
          </p:cNvSpPr>
          <p:nvPr>
            <p:ph type="title"/>
          </p:nvPr>
        </p:nvSpPr>
        <p:spPr>
          <a:xfrm>
            <a:off x="334618" y="273878"/>
            <a:ext cx="10515600" cy="814318"/>
          </a:xfrm>
        </p:spPr>
        <p:txBody>
          <a:bodyPr>
            <a:normAutofit/>
          </a:bodyPr>
          <a:lstStyle/>
          <a:p>
            <a:r>
              <a:rPr lang="en-US" sz="4000" b="1" i="0" u="none" strike="noStrike" baseline="0" dirty="0">
                <a:latin typeface="+mn-lt"/>
              </a:rPr>
              <a:t>Functional Dependencies</a:t>
            </a:r>
            <a:endParaRPr lang="en-US" sz="4000" b="1" dirty="0">
              <a:latin typeface="+mn-lt"/>
            </a:endParaRPr>
          </a:p>
        </p:txBody>
      </p:sp>
      <p:sp>
        <p:nvSpPr>
          <p:cNvPr id="3" name="Content Placeholder 2">
            <a:extLst>
              <a:ext uri="{FF2B5EF4-FFF2-40B4-BE49-F238E27FC236}">
                <a16:creationId xmlns="" xmlns:a16="http://schemas.microsoft.com/office/drawing/2014/main" id="{281D6920-1C75-60D1-3D59-1185ACBA05BD}"/>
              </a:ext>
            </a:extLst>
          </p:cNvPr>
          <p:cNvSpPr>
            <a:spLocks noGrp="1"/>
          </p:cNvSpPr>
          <p:nvPr>
            <p:ph idx="1"/>
          </p:nvPr>
        </p:nvSpPr>
        <p:spPr>
          <a:xfrm>
            <a:off x="159026" y="1088195"/>
            <a:ext cx="5473148" cy="5657161"/>
          </a:xfrm>
        </p:spPr>
        <p:txBody>
          <a:bodyPr>
            <a:normAutofit lnSpcReduction="10000"/>
          </a:bodyPr>
          <a:lstStyle/>
          <a:p>
            <a:pPr algn="just"/>
            <a:r>
              <a:rPr lang="en-US" sz="2400" b="1" i="0" dirty="0">
                <a:effectLst/>
              </a:rPr>
              <a:t>Inference Rules of Functional Dependencies</a:t>
            </a:r>
          </a:p>
          <a:p>
            <a:pPr algn="just"/>
            <a:r>
              <a:rPr lang="en-US" sz="2400" b="1" i="0" dirty="0">
                <a:solidFill>
                  <a:srgbClr val="000099"/>
                </a:solidFill>
                <a:effectLst/>
              </a:rPr>
              <a:t>Decomposition Rule (IR5)</a:t>
            </a:r>
          </a:p>
          <a:p>
            <a:pPr algn="just"/>
            <a:r>
              <a:rPr lang="en-US" sz="2400" b="1" i="0" dirty="0">
                <a:solidFill>
                  <a:srgbClr val="000099"/>
                </a:solidFill>
                <a:effectLst/>
              </a:rPr>
              <a:t>This rule is the reverse of the Union rule and is also known as the </a:t>
            </a:r>
            <a:r>
              <a:rPr lang="en-US" b="1" i="0" dirty="0">
                <a:solidFill>
                  <a:schemeClr val="accent6">
                    <a:lumMod val="50000"/>
                  </a:schemeClr>
                </a:solidFill>
                <a:effectLst/>
              </a:rPr>
              <a:t>project rule</a:t>
            </a:r>
            <a:r>
              <a:rPr lang="en-US" sz="2400" b="1" i="0" dirty="0">
                <a:solidFill>
                  <a:srgbClr val="000099"/>
                </a:solidFill>
                <a:effectLst/>
              </a:rPr>
              <a:t>.</a:t>
            </a:r>
          </a:p>
          <a:p>
            <a:pPr algn="just"/>
            <a:r>
              <a:rPr lang="en-US" sz="2400" b="1" i="0" dirty="0">
                <a:solidFill>
                  <a:srgbClr val="000099"/>
                </a:solidFill>
                <a:effectLst/>
              </a:rPr>
              <a:t>if X determines Y and Z together, then X determines Y and Z separately</a:t>
            </a:r>
          </a:p>
          <a:p>
            <a:pPr algn="just"/>
            <a:r>
              <a:rPr lang="en-US" sz="2000" b="1" i="0" dirty="0">
                <a:solidFill>
                  <a:srgbClr val="000000"/>
                </a:solidFill>
                <a:effectLst/>
              </a:rPr>
              <a:t>For example STU_ID→ {STU_NAME, COURSE} then STU_ID → STU_NAME, STU_ID→COURSE  holds true. </a:t>
            </a:r>
            <a:endParaRPr lang="en-US" sz="2000" b="1" i="0" dirty="0">
              <a:solidFill>
                <a:srgbClr val="000099"/>
              </a:solidFill>
              <a:effectLst/>
            </a:endParaRPr>
          </a:p>
          <a:p>
            <a:pPr algn="just"/>
            <a:r>
              <a:rPr lang="en-US" sz="2400" b="1" i="0" dirty="0">
                <a:solidFill>
                  <a:srgbClr val="000099"/>
                </a:solidFill>
                <a:effectLst/>
              </a:rPr>
              <a:t>If X   →   YZ then X   →   Y and X  →    Z   </a:t>
            </a:r>
          </a:p>
          <a:p>
            <a:pPr algn="just"/>
            <a:r>
              <a:rPr lang="en-US" sz="2400" b="1" i="0" dirty="0">
                <a:solidFill>
                  <a:srgbClr val="000099"/>
                </a:solidFill>
                <a:effectLst/>
              </a:rPr>
              <a:t>Proof:</a:t>
            </a:r>
          </a:p>
          <a:p>
            <a:pPr algn="just"/>
            <a:r>
              <a:rPr lang="en-US" sz="2400" b="1" i="0" dirty="0">
                <a:solidFill>
                  <a:srgbClr val="000099"/>
                </a:solidFill>
                <a:effectLst/>
              </a:rPr>
              <a:t>1. X → YZ (given)</a:t>
            </a:r>
          </a:p>
          <a:p>
            <a:pPr algn="just"/>
            <a:r>
              <a:rPr lang="en-US" sz="2400" b="1" i="0" dirty="0">
                <a:solidFill>
                  <a:srgbClr val="000099"/>
                </a:solidFill>
                <a:effectLst/>
              </a:rPr>
              <a:t>2. YZ → Y (using IR1 Rule)</a:t>
            </a:r>
          </a:p>
          <a:p>
            <a:pPr algn="just"/>
            <a:r>
              <a:rPr lang="en-US" sz="2400" b="1" i="0" dirty="0">
                <a:solidFill>
                  <a:srgbClr val="000099"/>
                </a:solidFill>
                <a:effectLst/>
              </a:rPr>
              <a:t>3. X → Y (using IR3 on 1 and 2)</a:t>
            </a:r>
          </a:p>
        </p:txBody>
      </p:sp>
      <p:sp>
        <p:nvSpPr>
          <p:cNvPr id="4" name="Content Placeholder 2">
            <a:extLst>
              <a:ext uri="{FF2B5EF4-FFF2-40B4-BE49-F238E27FC236}">
                <a16:creationId xmlns="" xmlns:a16="http://schemas.microsoft.com/office/drawing/2014/main" id="{0EAACDD6-F101-CE05-CB80-EA951393E7F7}"/>
              </a:ext>
            </a:extLst>
          </p:cNvPr>
          <p:cNvSpPr txBox="1">
            <a:spLocks/>
          </p:cNvSpPr>
          <p:nvPr/>
        </p:nvSpPr>
        <p:spPr>
          <a:xfrm>
            <a:off x="5963478" y="470452"/>
            <a:ext cx="6069496" cy="59170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dirty="0">
                <a:solidFill>
                  <a:srgbClr val="C00000"/>
                </a:solidFill>
              </a:rPr>
              <a:t>Pseudo transitive Rule (IR6)</a:t>
            </a:r>
          </a:p>
          <a:p>
            <a:pPr algn="just"/>
            <a:r>
              <a:rPr lang="en-US" sz="2400" b="1" dirty="0"/>
              <a:t>In the pseudo transitive rule, if X determines Y, and YZ determines W, then XZ also determines W.</a:t>
            </a:r>
          </a:p>
          <a:p>
            <a:pPr algn="just"/>
            <a:r>
              <a:rPr lang="en-US" sz="2400" b="1" dirty="0"/>
              <a:t>If X   →   Y and YZ   →   W then XZ   →   W   </a:t>
            </a:r>
          </a:p>
          <a:p>
            <a:pPr algn="just"/>
            <a:r>
              <a:rPr lang="en-US" sz="2400" b="1" dirty="0"/>
              <a:t>Proof:</a:t>
            </a:r>
          </a:p>
          <a:p>
            <a:pPr algn="just"/>
            <a:r>
              <a:rPr lang="en-US" sz="2400" b="1" dirty="0"/>
              <a:t>1. X → Y (given)</a:t>
            </a:r>
          </a:p>
          <a:p>
            <a:pPr algn="just"/>
            <a:r>
              <a:rPr lang="en-US" sz="2400" b="1" dirty="0"/>
              <a:t>2. YZ → W (given)</a:t>
            </a:r>
          </a:p>
          <a:p>
            <a:pPr algn="just"/>
            <a:r>
              <a:rPr lang="en-US" sz="2400" b="1" dirty="0"/>
              <a:t>3. XZ → YZ (using IR2 on 1 by augmenting with Z)</a:t>
            </a:r>
          </a:p>
          <a:p>
            <a:pPr algn="just"/>
            <a:r>
              <a:rPr lang="en-US" sz="2400" b="1" dirty="0"/>
              <a:t>4. XZ → W(using IR3 on 3 and 2)</a:t>
            </a:r>
          </a:p>
        </p:txBody>
      </p:sp>
    </p:spTree>
    <p:extLst>
      <p:ext uri="{BB962C8B-B14F-4D97-AF65-F5344CB8AC3E}">
        <p14:creationId xmlns:p14="http://schemas.microsoft.com/office/powerpoint/2010/main" val="39834609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5376C-FCF6-A095-B19D-F87752817455}"/>
              </a:ext>
            </a:extLst>
          </p:cNvPr>
          <p:cNvSpPr>
            <a:spLocks noGrp="1"/>
          </p:cNvSpPr>
          <p:nvPr>
            <p:ph type="title"/>
          </p:nvPr>
        </p:nvSpPr>
        <p:spPr>
          <a:xfrm>
            <a:off x="720213" y="365125"/>
            <a:ext cx="10515600" cy="711507"/>
          </a:xfrm>
        </p:spPr>
        <p:txBody>
          <a:bodyPr>
            <a:normAutofit/>
          </a:bodyPr>
          <a:lstStyle/>
          <a:p>
            <a:r>
              <a:rPr lang="en-US" sz="4000" b="1" i="0" u="none" strike="noStrike" baseline="0" dirty="0">
                <a:latin typeface="+mn-lt"/>
              </a:rPr>
              <a:t>Functional Dependency Closure</a:t>
            </a:r>
            <a:endParaRPr lang="en-US" sz="4000" b="1" dirty="0">
              <a:latin typeface="+mn-lt"/>
            </a:endParaRPr>
          </a:p>
        </p:txBody>
      </p:sp>
      <p:sp>
        <p:nvSpPr>
          <p:cNvPr id="3" name="Content Placeholder 2">
            <a:extLst>
              <a:ext uri="{FF2B5EF4-FFF2-40B4-BE49-F238E27FC236}">
                <a16:creationId xmlns="" xmlns:a16="http://schemas.microsoft.com/office/drawing/2014/main" id="{160295A4-A7BD-BA7B-CC6F-38F4EE516C9D}"/>
              </a:ext>
            </a:extLst>
          </p:cNvPr>
          <p:cNvSpPr>
            <a:spLocks noGrp="1"/>
          </p:cNvSpPr>
          <p:nvPr>
            <p:ph idx="1"/>
          </p:nvPr>
        </p:nvSpPr>
        <p:spPr>
          <a:xfrm>
            <a:off x="294862" y="1470991"/>
            <a:ext cx="4926496" cy="5021884"/>
          </a:xfrm>
        </p:spPr>
        <p:txBody>
          <a:bodyPr>
            <a:normAutofit/>
          </a:bodyPr>
          <a:lstStyle/>
          <a:p>
            <a:pPr algn="just"/>
            <a:r>
              <a:rPr lang="en-US" sz="2400" b="0" i="0" dirty="0">
                <a:solidFill>
                  <a:srgbClr val="000000"/>
                </a:solidFill>
                <a:effectLst/>
              </a:rPr>
              <a:t>Attribute Closure of an attribute set is defined as a </a:t>
            </a:r>
            <a:r>
              <a:rPr lang="en-US" sz="2400" b="1" i="0" dirty="0">
                <a:solidFill>
                  <a:srgbClr val="000099"/>
                </a:solidFill>
                <a:effectLst/>
              </a:rPr>
              <a:t>set of all attributes that can be functionally determined from it. </a:t>
            </a:r>
          </a:p>
          <a:p>
            <a:pPr algn="just"/>
            <a:r>
              <a:rPr lang="en-US" sz="2400" b="0" i="0" dirty="0">
                <a:solidFill>
                  <a:srgbClr val="000000"/>
                </a:solidFill>
                <a:effectLst/>
              </a:rPr>
              <a:t>Closure of an attribute </a:t>
            </a:r>
            <a:r>
              <a:rPr lang="en-US" sz="2400" b="1" i="0" dirty="0">
                <a:solidFill>
                  <a:srgbClr val="000099"/>
                </a:solidFill>
                <a:effectLst/>
              </a:rPr>
              <a:t>x is the set of all attributes that are functional dependencies on X with respect to F.</a:t>
            </a:r>
            <a:r>
              <a:rPr lang="en-US" sz="2400" b="0" i="0" dirty="0">
                <a:solidFill>
                  <a:srgbClr val="000000"/>
                </a:solidFill>
                <a:effectLst/>
              </a:rPr>
              <a:t> It is denoted by </a:t>
            </a:r>
            <a:r>
              <a:rPr lang="en-US" sz="2400" b="1" i="0" u="sng" dirty="0">
                <a:solidFill>
                  <a:srgbClr val="000099"/>
                </a:solidFill>
                <a:effectLst/>
              </a:rPr>
              <a:t>X</a:t>
            </a:r>
            <a:r>
              <a:rPr lang="en-US" sz="2400" b="1" i="0" u="sng" baseline="30000" dirty="0">
                <a:solidFill>
                  <a:srgbClr val="000099"/>
                </a:solidFill>
                <a:effectLst/>
              </a:rPr>
              <a:t>+</a:t>
            </a:r>
            <a:r>
              <a:rPr lang="en-US" sz="2400" b="0" i="0" dirty="0">
                <a:solidFill>
                  <a:srgbClr val="000000"/>
                </a:solidFill>
                <a:effectLst/>
              </a:rPr>
              <a:t> which means what X can determine.</a:t>
            </a:r>
            <a:endParaRPr lang="en-US" sz="2400" b="0" i="0" dirty="0">
              <a:solidFill>
                <a:srgbClr val="616161"/>
              </a:solidFill>
              <a:effectLst/>
            </a:endParaRPr>
          </a:p>
          <a:p>
            <a:pPr algn="just"/>
            <a:r>
              <a:rPr lang="en-US" sz="2400" b="0" i="0" dirty="0">
                <a:solidFill>
                  <a:srgbClr val="000000"/>
                </a:solidFill>
                <a:effectLst/>
              </a:rPr>
              <a:t>The </a:t>
            </a:r>
            <a:r>
              <a:rPr lang="en-US" sz="2400" b="1" i="0" dirty="0">
                <a:solidFill>
                  <a:srgbClr val="000099"/>
                </a:solidFill>
                <a:effectLst/>
              </a:rPr>
              <a:t>closure of an attribute is represented as </a:t>
            </a:r>
            <a:r>
              <a:rPr lang="en-US" sz="2400" b="1" i="0" baseline="30000" dirty="0">
                <a:solidFill>
                  <a:srgbClr val="000099"/>
                </a:solidFill>
                <a:effectLst/>
              </a:rPr>
              <a:t>+</a:t>
            </a:r>
            <a:endParaRPr lang="en-US" sz="2400" b="1" i="0" dirty="0">
              <a:solidFill>
                <a:srgbClr val="000099"/>
              </a:solidFill>
              <a:effectLst/>
            </a:endParaRPr>
          </a:p>
          <a:p>
            <a:endParaRPr lang="en-US" dirty="0"/>
          </a:p>
        </p:txBody>
      </p:sp>
      <p:sp>
        <p:nvSpPr>
          <p:cNvPr id="4" name="Content Placeholder 2">
            <a:extLst>
              <a:ext uri="{FF2B5EF4-FFF2-40B4-BE49-F238E27FC236}">
                <a16:creationId xmlns="" xmlns:a16="http://schemas.microsoft.com/office/drawing/2014/main" id="{6A192BEB-1A95-FFC1-92EF-6CE9878CB33B}"/>
              </a:ext>
            </a:extLst>
          </p:cNvPr>
          <p:cNvSpPr txBox="1">
            <a:spLocks/>
          </p:cNvSpPr>
          <p:nvPr/>
        </p:nvSpPr>
        <p:spPr>
          <a:xfrm>
            <a:off x="5764696" y="1318591"/>
            <a:ext cx="6255027" cy="502188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i="0" dirty="0">
                <a:effectLst/>
              </a:rPr>
              <a:t>Finding Closure of an attribute set</a:t>
            </a:r>
          </a:p>
          <a:p>
            <a:pPr algn="l"/>
            <a:r>
              <a:rPr lang="en-US" b="0" i="0" dirty="0">
                <a:effectLst/>
              </a:rPr>
              <a:t>You can follow the steps to find the Closure of an attribute set:</a:t>
            </a:r>
          </a:p>
          <a:p>
            <a:pPr algn="l">
              <a:buFont typeface="+mj-lt"/>
              <a:buAutoNum type="arabicPeriod"/>
            </a:pPr>
            <a:r>
              <a:rPr lang="en-US" b="1" i="0" dirty="0">
                <a:solidFill>
                  <a:srgbClr val="000099"/>
                </a:solidFill>
                <a:effectLst/>
              </a:rPr>
              <a:t>Determine A</a:t>
            </a:r>
            <a:r>
              <a:rPr lang="en-US" b="1" i="0" baseline="30000" dirty="0">
                <a:solidFill>
                  <a:srgbClr val="000099"/>
                </a:solidFill>
                <a:effectLst/>
              </a:rPr>
              <a:t>+</a:t>
            </a:r>
            <a:r>
              <a:rPr lang="en-US" b="1" i="0" dirty="0">
                <a:solidFill>
                  <a:srgbClr val="000099"/>
                </a:solidFill>
                <a:effectLst/>
              </a:rPr>
              <a:t>, the Closure of A </a:t>
            </a:r>
            <a:r>
              <a:rPr lang="en-US" b="0" i="0" dirty="0">
                <a:effectLst/>
              </a:rPr>
              <a:t>under functional dependency set F. </a:t>
            </a:r>
          </a:p>
          <a:p>
            <a:pPr algn="l">
              <a:buFont typeface="+mj-lt"/>
              <a:buAutoNum type="arabicPeriod"/>
            </a:pPr>
            <a:r>
              <a:rPr lang="en-US" b="1" i="0" dirty="0">
                <a:solidFill>
                  <a:srgbClr val="000099"/>
                </a:solidFill>
                <a:effectLst/>
              </a:rPr>
              <a:t>A</a:t>
            </a:r>
            <a:r>
              <a:rPr lang="en-US" b="1" i="0" baseline="30000" dirty="0">
                <a:solidFill>
                  <a:srgbClr val="000099"/>
                </a:solidFill>
                <a:effectLst/>
              </a:rPr>
              <a:t>+</a:t>
            </a:r>
            <a:r>
              <a:rPr lang="en-US" b="1" i="0" dirty="0">
                <a:solidFill>
                  <a:srgbClr val="000099"/>
                </a:solidFill>
                <a:effectLst/>
              </a:rPr>
              <a:t>: = will contain A itself</a:t>
            </a:r>
            <a:r>
              <a:rPr lang="en-US" b="0" i="0" dirty="0">
                <a:effectLst/>
              </a:rPr>
              <a:t>; </a:t>
            </a:r>
            <a:r>
              <a:rPr lang="en-US" b="1" i="0" dirty="0">
                <a:effectLst/>
              </a:rPr>
              <a:t>For example</a:t>
            </a:r>
            <a:r>
              <a:rPr lang="en-US" b="0" i="0" dirty="0">
                <a:effectLst/>
              </a:rPr>
              <a:t>, if we need to find the closure of an attribute X, the closure will incorporate the X itself and the other attributes that the X attribute can determine. </a:t>
            </a:r>
          </a:p>
          <a:p>
            <a:pPr algn="l">
              <a:buFont typeface="+mj-lt"/>
              <a:buAutoNum type="arabicPeriod"/>
            </a:pPr>
            <a:r>
              <a:rPr lang="en-US" b="1" i="0" dirty="0">
                <a:solidFill>
                  <a:srgbClr val="C00000"/>
                </a:solidFill>
                <a:effectLst/>
              </a:rPr>
              <a:t>Repeat the process as</a:t>
            </a:r>
          </a:p>
          <a:p>
            <a:pPr algn="l">
              <a:buFont typeface="+mj-lt"/>
              <a:buAutoNum type="arabicPeriod"/>
            </a:pPr>
            <a:r>
              <a:rPr lang="en-US" b="1" i="0" dirty="0">
                <a:solidFill>
                  <a:srgbClr val="000099"/>
                </a:solidFill>
                <a:effectLst/>
              </a:rPr>
              <a:t>old A</a:t>
            </a:r>
            <a:r>
              <a:rPr lang="en-US" b="1" i="0" baseline="30000" dirty="0">
                <a:solidFill>
                  <a:srgbClr val="000099"/>
                </a:solidFill>
                <a:effectLst/>
              </a:rPr>
              <a:t>+</a:t>
            </a:r>
            <a:r>
              <a:rPr lang="en-US" b="1" i="0" dirty="0">
                <a:solidFill>
                  <a:srgbClr val="000099"/>
                </a:solidFill>
                <a:effectLst/>
              </a:rPr>
              <a:t>: = A Closure;</a:t>
            </a:r>
          </a:p>
          <a:p>
            <a:pPr algn="l">
              <a:buFont typeface="+mj-lt"/>
              <a:buAutoNum type="arabicPeriod"/>
            </a:pPr>
            <a:r>
              <a:rPr lang="en-US" b="1" i="0" dirty="0">
                <a:solidFill>
                  <a:srgbClr val="000099"/>
                </a:solidFill>
                <a:effectLst/>
              </a:rPr>
              <a:t>for each FB X → Y in the FD set, do</a:t>
            </a:r>
          </a:p>
          <a:p>
            <a:pPr algn="l">
              <a:buFont typeface="+mj-lt"/>
              <a:buAutoNum type="arabicPeriod"/>
            </a:pPr>
            <a:r>
              <a:rPr lang="en-US" b="1" i="0" dirty="0">
                <a:solidFill>
                  <a:srgbClr val="000099"/>
                </a:solidFill>
                <a:effectLst/>
              </a:rPr>
              <a:t>if X Closure is a subset of X, then A Closure:= A Closure U Y;</a:t>
            </a:r>
          </a:p>
          <a:p>
            <a:pPr algn="l">
              <a:buFont typeface="+mj-lt"/>
              <a:buAutoNum type="arabicPeriod"/>
            </a:pPr>
            <a:r>
              <a:rPr lang="en-US" b="1" i="0" dirty="0">
                <a:solidFill>
                  <a:srgbClr val="000099"/>
                </a:solidFill>
                <a:effectLst/>
              </a:rPr>
              <a:t>Repeat until ( A</a:t>
            </a:r>
            <a:r>
              <a:rPr lang="en-US" b="1" i="0" baseline="30000" dirty="0">
                <a:solidFill>
                  <a:srgbClr val="000099"/>
                </a:solidFill>
                <a:effectLst/>
              </a:rPr>
              <a:t>+</a:t>
            </a:r>
            <a:r>
              <a:rPr lang="en-US" b="1" i="0" dirty="0">
                <a:solidFill>
                  <a:srgbClr val="000099"/>
                </a:solidFill>
                <a:effectLst/>
              </a:rPr>
              <a:t>= old A</a:t>
            </a:r>
            <a:r>
              <a:rPr lang="en-US" b="1" i="0" baseline="30000" dirty="0">
                <a:solidFill>
                  <a:srgbClr val="000099"/>
                </a:solidFill>
                <a:effectLst/>
              </a:rPr>
              <a:t>+</a:t>
            </a:r>
            <a:r>
              <a:rPr lang="en-US" b="1" i="0" dirty="0">
                <a:solidFill>
                  <a:srgbClr val="000099"/>
                </a:solidFill>
                <a:effectLst/>
              </a:rPr>
              <a:t>);</a:t>
            </a:r>
          </a:p>
          <a:p>
            <a:endParaRPr lang="en-US" dirty="0"/>
          </a:p>
        </p:txBody>
      </p:sp>
    </p:spTree>
    <p:extLst>
      <p:ext uri="{BB962C8B-B14F-4D97-AF65-F5344CB8AC3E}">
        <p14:creationId xmlns:p14="http://schemas.microsoft.com/office/powerpoint/2010/main" val="23388266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5376C-FCF6-A095-B19D-F87752817455}"/>
              </a:ext>
            </a:extLst>
          </p:cNvPr>
          <p:cNvSpPr>
            <a:spLocks noGrp="1"/>
          </p:cNvSpPr>
          <p:nvPr>
            <p:ph type="title"/>
          </p:nvPr>
        </p:nvSpPr>
        <p:spPr>
          <a:xfrm>
            <a:off x="838200" y="365126"/>
            <a:ext cx="10515600" cy="682010"/>
          </a:xfrm>
        </p:spPr>
        <p:txBody>
          <a:bodyPr>
            <a:normAutofit/>
          </a:bodyPr>
          <a:lstStyle/>
          <a:p>
            <a:r>
              <a:rPr lang="en-US" sz="4000" b="1" i="0" u="none" strike="noStrike" baseline="0" dirty="0">
                <a:latin typeface="+mn-lt"/>
              </a:rPr>
              <a:t>Functional Dependency Closure</a:t>
            </a:r>
            <a:endParaRPr lang="en-US" sz="4000" b="1" dirty="0">
              <a:latin typeface="+mn-lt"/>
            </a:endParaRPr>
          </a:p>
        </p:txBody>
      </p:sp>
      <p:sp>
        <p:nvSpPr>
          <p:cNvPr id="3" name="Content Placeholder 2">
            <a:extLst>
              <a:ext uri="{FF2B5EF4-FFF2-40B4-BE49-F238E27FC236}">
                <a16:creationId xmlns="" xmlns:a16="http://schemas.microsoft.com/office/drawing/2014/main" id="{160295A4-A7BD-BA7B-CC6F-38F4EE516C9D}"/>
              </a:ext>
            </a:extLst>
          </p:cNvPr>
          <p:cNvSpPr>
            <a:spLocks noGrp="1"/>
          </p:cNvSpPr>
          <p:nvPr>
            <p:ph idx="1"/>
          </p:nvPr>
        </p:nvSpPr>
        <p:spPr>
          <a:xfrm>
            <a:off x="294862" y="1470991"/>
            <a:ext cx="11579086" cy="5021884"/>
          </a:xfrm>
        </p:spPr>
        <p:txBody>
          <a:bodyPr>
            <a:normAutofit fontScale="92500" lnSpcReduction="10000"/>
          </a:bodyPr>
          <a:lstStyle/>
          <a:p>
            <a:pPr algn="just"/>
            <a:r>
              <a:rPr lang="en-US" sz="2600" b="1" i="0" dirty="0">
                <a:effectLst/>
              </a:rPr>
              <a:t>Step-1 : </a:t>
            </a:r>
            <a:r>
              <a:rPr lang="en-US" sz="2600" b="1" i="0" dirty="0">
                <a:solidFill>
                  <a:srgbClr val="000099"/>
                </a:solidFill>
                <a:effectLst/>
              </a:rPr>
              <a:t>Add the attributes which are present on Left Hand Side in the original functional dependency.</a:t>
            </a:r>
            <a:endParaRPr lang="en-US" sz="2600" b="0" i="0" dirty="0">
              <a:solidFill>
                <a:srgbClr val="000099"/>
              </a:solidFill>
              <a:effectLst/>
            </a:endParaRPr>
          </a:p>
          <a:p>
            <a:pPr algn="just"/>
            <a:r>
              <a:rPr lang="en-US" sz="2600" b="1" i="0" dirty="0">
                <a:effectLst/>
              </a:rPr>
              <a:t>Step-2 : </a:t>
            </a:r>
            <a:r>
              <a:rPr lang="en-US" sz="2600" b="1" i="0" dirty="0">
                <a:solidFill>
                  <a:srgbClr val="C00000"/>
                </a:solidFill>
                <a:effectLst/>
              </a:rPr>
              <a:t>Now, add the attributes present on the Right Hand Side of the functional dependency.</a:t>
            </a:r>
          </a:p>
          <a:p>
            <a:pPr algn="just"/>
            <a:r>
              <a:rPr lang="en-US" sz="2600" b="1" i="0" dirty="0">
                <a:effectLst/>
              </a:rPr>
              <a:t>Step-3 : </a:t>
            </a:r>
            <a:r>
              <a:rPr lang="en-US" sz="2600" b="1" i="0" dirty="0">
                <a:solidFill>
                  <a:srgbClr val="000099"/>
                </a:solidFill>
                <a:effectLst/>
              </a:rPr>
              <a:t>With the help of attributes present on Right Hand Side, check the other attributes that can be derived from the other given functional dependencies. Repeat this process until all the possible attributes which can be derived are added in the closure.</a:t>
            </a:r>
            <a:endParaRPr lang="en-US" sz="2600" b="0" i="0" dirty="0">
              <a:solidFill>
                <a:srgbClr val="000099"/>
              </a:solidFill>
              <a:effectLst/>
            </a:endParaRPr>
          </a:p>
          <a:p>
            <a:pPr algn="l"/>
            <a:r>
              <a:rPr lang="en-US" sz="2600" b="1" i="0" dirty="0">
                <a:solidFill>
                  <a:srgbClr val="000000"/>
                </a:solidFill>
                <a:effectLst/>
              </a:rPr>
              <a:t>Example-1</a:t>
            </a:r>
            <a:r>
              <a:rPr lang="en-US" sz="2600" b="1" i="0" dirty="0">
                <a:solidFill>
                  <a:srgbClr val="E06092"/>
                </a:solidFill>
                <a:effectLst/>
              </a:rPr>
              <a:t> : </a:t>
            </a:r>
            <a:r>
              <a:rPr lang="en-US" sz="2600" b="1" i="0" dirty="0">
                <a:solidFill>
                  <a:srgbClr val="008000"/>
                </a:solidFill>
                <a:effectLst/>
              </a:rPr>
              <a:t>Consider the table </a:t>
            </a:r>
            <a:r>
              <a:rPr lang="en-US" sz="2600" b="1" i="0" dirty="0" err="1">
                <a:solidFill>
                  <a:srgbClr val="008000"/>
                </a:solidFill>
                <a:effectLst/>
              </a:rPr>
              <a:t>student_details</a:t>
            </a:r>
            <a:r>
              <a:rPr lang="en-US" sz="2600" b="1" i="0" dirty="0">
                <a:solidFill>
                  <a:srgbClr val="008000"/>
                </a:solidFill>
                <a:effectLst/>
              </a:rPr>
              <a:t> having (</a:t>
            </a:r>
            <a:r>
              <a:rPr lang="en-US" sz="2600" b="1" i="0" dirty="0" err="1">
                <a:solidFill>
                  <a:srgbClr val="008000"/>
                </a:solidFill>
                <a:effectLst/>
              </a:rPr>
              <a:t>Roll_No</a:t>
            </a:r>
            <a:r>
              <a:rPr lang="en-US" sz="2600" b="1" i="0" dirty="0">
                <a:solidFill>
                  <a:srgbClr val="008000"/>
                </a:solidFill>
                <a:effectLst/>
              </a:rPr>
              <a:t>, </a:t>
            </a:r>
            <a:r>
              <a:rPr lang="en-US" sz="2600" b="1" i="0" dirty="0" err="1">
                <a:solidFill>
                  <a:srgbClr val="008000"/>
                </a:solidFill>
                <a:effectLst/>
              </a:rPr>
              <a:t>Name,Marks</a:t>
            </a:r>
            <a:r>
              <a:rPr lang="en-US" sz="2600" b="1" i="0" dirty="0">
                <a:solidFill>
                  <a:srgbClr val="008000"/>
                </a:solidFill>
                <a:effectLst/>
              </a:rPr>
              <a:t>, Location) as the attributes and </a:t>
            </a:r>
            <a:r>
              <a:rPr lang="en-US" sz="2600" b="1" i="0" dirty="0">
                <a:solidFill>
                  <a:srgbClr val="000099"/>
                </a:solidFill>
                <a:effectLst/>
              </a:rPr>
              <a:t>having two functional dependencies.</a:t>
            </a:r>
            <a:endParaRPr lang="en-US" sz="2600" b="0" i="0" dirty="0">
              <a:solidFill>
                <a:srgbClr val="000099"/>
              </a:solidFill>
              <a:effectLst/>
            </a:endParaRPr>
          </a:p>
          <a:p>
            <a:pPr algn="l"/>
            <a:r>
              <a:rPr lang="en-US" sz="2600" b="1" i="0" dirty="0">
                <a:solidFill>
                  <a:srgbClr val="FF0000"/>
                </a:solidFill>
                <a:effectLst/>
              </a:rPr>
              <a:t>FD1</a:t>
            </a:r>
            <a:r>
              <a:rPr lang="en-US" sz="2600" b="1" i="0" dirty="0">
                <a:solidFill>
                  <a:srgbClr val="E06092"/>
                </a:solidFill>
                <a:effectLst/>
              </a:rPr>
              <a:t> : </a:t>
            </a:r>
            <a:r>
              <a:rPr lang="en-US" sz="2600" b="1" i="0" dirty="0" err="1">
                <a:solidFill>
                  <a:srgbClr val="0000FF"/>
                </a:solidFill>
                <a:effectLst/>
              </a:rPr>
              <a:t>Roll_No</a:t>
            </a:r>
            <a:r>
              <a:rPr lang="en-US" sz="2600" b="1" i="0" dirty="0">
                <a:solidFill>
                  <a:srgbClr val="0000FF"/>
                </a:solidFill>
                <a:effectLst/>
              </a:rPr>
              <a:t> -&gt;</a:t>
            </a:r>
            <a:r>
              <a:rPr lang="en-US" sz="2600" b="1" i="0" dirty="0">
                <a:solidFill>
                  <a:srgbClr val="008000"/>
                </a:solidFill>
                <a:effectLst/>
              </a:rPr>
              <a:t> Name</a:t>
            </a:r>
            <a:r>
              <a:rPr lang="en-US" sz="2600" b="1" i="0" dirty="0">
                <a:solidFill>
                  <a:srgbClr val="E06092"/>
                </a:solidFill>
                <a:effectLst/>
              </a:rPr>
              <a:t>, </a:t>
            </a:r>
            <a:r>
              <a:rPr lang="en-US" sz="2600" b="1" i="0" dirty="0">
                <a:solidFill>
                  <a:srgbClr val="008000"/>
                </a:solidFill>
                <a:effectLst/>
              </a:rPr>
              <a:t>Marks</a:t>
            </a:r>
            <a:endParaRPr lang="en-US" sz="2600" b="0" i="0" dirty="0">
              <a:solidFill>
                <a:srgbClr val="212529"/>
              </a:solidFill>
              <a:effectLst/>
            </a:endParaRPr>
          </a:p>
          <a:p>
            <a:pPr algn="l"/>
            <a:r>
              <a:rPr lang="en-US" sz="2600" b="1" i="0" dirty="0">
                <a:solidFill>
                  <a:srgbClr val="FF0000"/>
                </a:solidFill>
                <a:effectLst/>
              </a:rPr>
              <a:t>FD2</a:t>
            </a:r>
            <a:r>
              <a:rPr lang="en-US" sz="2600" b="1" i="0" dirty="0">
                <a:solidFill>
                  <a:srgbClr val="E06092"/>
                </a:solidFill>
                <a:effectLst/>
              </a:rPr>
              <a:t> : </a:t>
            </a:r>
            <a:r>
              <a:rPr lang="en-US" sz="2600" b="1" i="0" dirty="0">
                <a:solidFill>
                  <a:srgbClr val="0000FF"/>
                </a:solidFill>
                <a:effectLst/>
              </a:rPr>
              <a:t>Name -&gt;</a:t>
            </a:r>
            <a:r>
              <a:rPr lang="en-US" sz="2600" b="1" i="0" dirty="0">
                <a:solidFill>
                  <a:srgbClr val="E06092"/>
                </a:solidFill>
                <a:effectLst/>
              </a:rPr>
              <a:t> </a:t>
            </a:r>
            <a:r>
              <a:rPr lang="en-US" sz="2600" b="1" i="0" dirty="0">
                <a:solidFill>
                  <a:srgbClr val="008000"/>
                </a:solidFill>
                <a:effectLst/>
              </a:rPr>
              <a:t> Marks</a:t>
            </a:r>
            <a:r>
              <a:rPr lang="en-US" sz="2600" b="1" i="0" dirty="0">
                <a:solidFill>
                  <a:srgbClr val="E06092"/>
                </a:solidFill>
                <a:effectLst/>
              </a:rPr>
              <a:t>, </a:t>
            </a:r>
            <a:r>
              <a:rPr lang="en-US" sz="2600" b="1" i="0" dirty="0">
                <a:solidFill>
                  <a:srgbClr val="008000"/>
                </a:solidFill>
                <a:effectLst/>
              </a:rPr>
              <a:t>Location</a:t>
            </a:r>
            <a:endParaRPr lang="en-US" sz="2600" b="0" i="0" dirty="0">
              <a:solidFill>
                <a:srgbClr val="212529"/>
              </a:solidFill>
              <a:effectLst/>
            </a:endParaRPr>
          </a:p>
          <a:p>
            <a:pPr algn="l"/>
            <a:r>
              <a:rPr lang="en-US" sz="2600" b="1" i="0" dirty="0">
                <a:effectLst/>
              </a:rPr>
              <a:t>Now, We will calculate the closure of all the attributes present in the relation using the three steps.</a:t>
            </a:r>
            <a:endParaRPr lang="en-US" sz="2600" b="0" i="0" dirty="0">
              <a:effectLst/>
            </a:endParaRPr>
          </a:p>
          <a:p>
            <a:endParaRPr lang="en-US" dirty="0"/>
          </a:p>
        </p:txBody>
      </p:sp>
    </p:spTree>
    <p:extLst>
      <p:ext uri="{BB962C8B-B14F-4D97-AF65-F5344CB8AC3E}">
        <p14:creationId xmlns:p14="http://schemas.microsoft.com/office/powerpoint/2010/main" val="13039587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5376C-FCF6-A095-B19D-F87752817455}"/>
              </a:ext>
            </a:extLst>
          </p:cNvPr>
          <p:cNvSpPr>
            <a:spLocks noGrp="1"/>
          </p:cNvSpPr>
          <p:nvPr>
            <p:ph type="title"/>
          </p:nvPr>
        </p:nvSpPr>
        <p:spPr>
          <a:xfrm>
            <a:off x="838200" y="365126"/>
            <a:ext cx="10515600" cy="799998"/>
          </a:xfrm>
        </p:spPr>
        <p:txBody>
          <a:bodyPr>
            <a:normAutofit/>
          </a:bodyPr>
          <a:lstStyle/>
          <a:p>
            <a:r>
              <a:rPr lang="en-US" sz="4000" b="1" i="0" u="none" strike="noStrike" baseline="0" dirty="0">
                <a:latin typeface="+mn-lt"/>
              </a:rPr>
              <a:t>Functional Dependency Closure</a:t>
            </a:r>
            <a:endParaRPr lang="en-US" sz="4000" b="1" dirty="0">
              <a:latin typeface="+mn-lt"/>
            </a:endParaRPr>
          </a:p>
        </p:txBody>
      </p:sp>
      <p:sp>
        <p:nvSpPr>
          <p:cNvPr id="3" name="Content Placeholder 2">
            <a:extLst>
              <a:ext uri="{FF2B5EF4-FFF2-40B4-BE49-F238E27FC236}">
                <a16:creationId xmlns="" xmlns:a16="http://schemas.microsoft.com/office/drawing/2014/main" id="{160295A4-A7BD-BA7B-CC6F-38F4EE516C9D}"/>
              </a:ext>
            </a:extLst>
          </p:cNvPr>
          <p:cNvSpPr>
            <a:spLocks noGrp="1"/>
          </p:cNvSpPr>
          <p:nvPr>
            <p:ph idx="1"/>
          </p:nvPr>
        </p:nvSpPr>
        <p:spPr>
          <a:xfrm>
            <a:off x="294862" y="1470991"/>
            <a:ext cx="11579086" cy="5021884"/>
          </a:xfrm>
        </p:spPr>
        <p:txBody>
          <a:bodyPr>
            <a:normAutofit lnSpcReduction="10000"/>
          </a:bodyPr>
          <a:lstStyle/>
          <a:p>
            <a:pPr algn="just"/>
            <a:r>
              <a:rPr lang="en-US" sz="2400" b="1" i="0" dirty="0">
                <a:solidFill>
                  <a:srgbClr val="000099"/>
                </a:solidFill>
                <a:effectLst/>
              </a:rPr>
              <a:t>Example: Calculate closure of </a:t>
            </a:r>
            <a:r>
              <a:rPr lang="en-US" sz="2400" b="1" i="0" dirty="0" err="1">
                <a:solidFill>
                  <a:srgbClr val="000099"/>
                </a:solidFill>
                <a:effectLst/>
              </a:rPr>
              <a:t>Roll_No</a:t>
            </a:r>
            <a:r>
              <a:rPr lang="en-US" sz="2400" b="1" i="0" dirty="0">
                <a:solidFill>
                  <a:srgbClr val="000099"/>
                </a:solidFill>
                <a:effectLst/>
              </a:rPr>
              <a:t> </a:t>
            </a:r>
          </a:p>
          <a:p>
            <a:pPr algn="just"/>
            <a:r>
              <a:rPr lang="en-US" sz="2400" b="1" i="0" dirty="0">
                <a:effectLst/>
              </a:rPr>
              <a:t>Step-1 : Add attributes present  on the LHS of the first functional dependency to the closure.</a:t>
            </a:r>
          </a:p>
          <a:p>
            <a:pPr algn="just"/>
            <a:r>
              <a:rPr lang="en-US" sz="2400" b="1" i="0" dirty="0">
                <a:solidFill>
                  <a:srgbClr val="FF0000"/>
                </a:solidFill>
                <a:effectLst/>
              </a:rPr>
              <a:t>{</a:t>
            </a:r>
            <a:r>
              <a:rPr lang="en-US" sz="2400" b="1" i="0" dirty="0" err="1">
                <a:solidFill>
                  <a:srgbClr val="FF0000"/>
                </a:solidFill>
                <a:effectLst/>
              </a:rPr>
              <a:t>Roll_no</a:t>
            </a:r>
            <a:r>
              <a:rPr lang="en-US" sz="2400" b="1" i="0" dirty="0">
                <a:solidFill>
                  <a:srgbClr val="FF0000"/>
                </a:solidFill>
                <a:effectLst/>
              </a:rPr>
              <a:t>}</a:t>
            </a:r>
            <a:r>
              <a:rPr lang="en-US" sz="2400" b="1" i="0" baseline="30000" dirty="0">
                <a:solidFill>
                  <a:srgbClr val="FF0000"/>
                </a:solidFill>
                <a:effectLst/>
              </a:rPr>
              <a:t>+</a:t>
            </a:r>
            <a:r>
              <a:rPr lang="en-US" sz="2400" b="1" i="0" dirty="0">
                <a:solidFill>
                  <a:srgbClr val="E06092"/>
                </a:solidFill>
                <a:effectLst/>
              </a:rPr>
              <a:t> </a:t>
            </a:r>
            <a:r>
              <a:rPr lang="en-US" sz="2400" b="1" i="0" dirty="0">
                <a:effectLst/>
              </a:rPr>
              <a:t>=</a:t>
            </a:r>
            <a:r>
              <a:rPr lang="en-US" sz="2400" b="1" i="0" dirty="0">
                <a:solidFill>
                  <a:srgbClr val="E06092"/>
                </a:solidFill>
                <a:effectLst/>
              </a:rPr>
              <a:t> </a:t>
            </a:r>
            <a:r>
              <a:rPr lang="en-US" sz="2400" b="1" i="0" dirty="0">
                <a:solidFill>
                  <a:srgbClr val="000099"/>
                </a:solidFill>
                <a:effectLst/>
              </a:rPr>
              <a:t>{</a:t>
            </a:r>
            <a:r>
              <a:rPr lang="en-US" sz="2400" b="1" i="0" dirty="0" err="1">
                <a:solidFill>
                  <a:srgbClr val="000099"/>
                </a:solidFill>
                <a:effectLst/>
              </a:rPr>
              <a:t>Roll_No</a:t>
            </a:r>
            <a:r>
              <a:rPr lang="en-US" sz="2400" b="1" i="0" dirty="0">
                <a:solidFill>
                  <a:srgbClr val="000099"/>
                </a:solidFill>
                <a:effectLst/>
              </a:rPr>
              <a:t>}</a:t>
            </a:r>
          </a:p>
          <a:p>
            <a:pPr algn="just"/>
            <a:r>
              <a:rPr lang="en-US" sz="2400" b="1" i="0" dirty="0">
                <a:effectLst/>
              </a:rPr>
              <a:t>Step-2 : Add attributes present on the RHS of the original functional dependency to the closure.</a:t>
            </a:r>
          </a:p>
          <a:p>
            <a:pPr algn="just"/>
            <a:r>
              <a:rPr lang="en-US" sz="2400" b="1" i="0" dirty="0">
                <a:solidFill>
                  <a:srgbClr val="FF0000"/>
                </a:solidFill>
                <a:effectLst/>
              </a:rPr>
              <a:t>{</a:t>
            </a:r>
            <a:r>
              <a:rPr lang="en-US" sz="2400" b="1" i="0" dirty="0" err="1">
                <a:solidFill>
                  <a:srgbClr val="FF0000"/>
                </a:solidFill>
                <a:effectLst/>
              </a:rPr>
              <a:t>Roll_no</a:t>
            </a:r>
            <a:r>
              <a:rPr lang="en-US" sz="2400" b="1" i="0" dirty="0">
                <a:solidFill>
                  <a:srgbClr val="FF0000"/>
                </a:solidFill>
                <a:effectLst/>
              </a:rPr>
              <a:t>}</a:t>
            </a:r>
            <a:r>
              <a:rPr lang="en-US" sz="2400" b="1" i="0" baseline="30000" dirty="0">
                <a:solidFill>
                  <a:srgbClr val="FF0000"/>
                </a:solidFill>
                <a:effectLst/>
              </a:rPr>
              <a:t>+</a:t>
            </a:r>
            <a:r>
              <a:rPr lang="en-US" sz="2400" b="1" i="0" dirty="0">
                <a:solidFill>
                  <a:srgbClr val="E06092"/>
                </a:solidFill>
                <a:effectLst/>
              </a:rPr>
              <a:t> </a:t>
            </a:r>
            <a:r>
              <a:rPr lang="en-US" sz="2400" b="1" i="0" dirty="0">
                <a:effectLst/>
              </a:rPr>
              <a:t>=</a:t>
            </a:r>
            <a:r>
              <a:rPr lang="en-US" sz="2400" b="1" i="0" dirty="0">
                <a:solidFill>
                  <a:srgbClr val="99CC00"/>
                </a:solidFill>
                <a:effectLst/>
              </a:rPr>
              <a:t> </a:t>
            </a:r>
            <a:r>
              <a:rPr lang="en-US" sz="2400" b="1" i="0" dirty="0">
                <a:solidFill>
                  <a:srgbClr val="000099"/>
                </a:solidFill>
                <a:effectLst/>
              </a:rPr>
              <a:t>{</a:t>
            </a:r>
            <a:r>
              <a:rPr lang="en-US" sz="2400" b="1" i="0" dirty="0" err="1">
                <a:solidFill>
                  <a:srgbClr val="000099"/>
                </a:solidFill>
                <a:effectLst/>
              </a:rPr>
              <a:t>Roll_No</a:t>
            </a:r>
            <a:r>
              <a:rPr lang="en-US" sz="2400" b="1" i="0" dirty="0">
                <a:solidFill>
                  <a:srgbClr val="000099"/>
                </a:solidFill>
                <a:effectLst/>
              </a:rPr>
              <a:t>, Marks}</a:t>
            </a:r>
            <a:endParaRPr lang="en-US" sz="2400" b="1" dirty="0">
              <a:solidFill>
                <a:srgbClr val="000099"/>
              </a:solidFill>
            </a:endParaRPr>
          </a:p>
          <a:p>
            <a:pPr algn="just"/>
            <a:r>
              <a:rPr lang="en-US" sz="2400" b="1" i="0" dirty="0">
                <a:solidFill>
                  <a:srgbClr val="0000FF"/>
                </a:solidFill>
                <a:effectLst/>
              </a:rPr>
              <a:t>Step-3</a:t>
            </a:r>
            <a:r>
              <a:rPr lang="en-US" sz="2400" b="1" i="0" dirty="0">
                <a:solidFill>
                  <a:srgbClr val="E06092"/>
                </a:solidFill>
                <a:effectLst/>
              </a:rPr>
              <a:t> : </a:t>
            </a:r>
            <a:r>
              <a:rPr lang="en-US" sz="2400" b="1" i="0" dirty="0">
                <a:effectLst/>
              </a:rPr>
              <a:t>Add the other possible attributes which can be derived using attributes present on the RHS of the closure. So </a:t>
            </a:r>
            <a:r>
              <a:rPr lang="en-US" sz="2400" b="1" i="0" dirty="0" err="1">
                <a:solidFill>
                  <a:srgbClr val="000099"/>
                </a:solidFill>
                <a:effectLst/>
              </a:rPr>
              <a:t>Roll_No</a:t>
            </a:r>
            <a:r>
              <a:rPr lang="en-US" sz="2400" b="1" i="0" dirty="0">
                <a:solidFill>
                  <a:srgbClr val="000099"/>
                </a:solidFill>
                <a:effectLst/>
              </a:rPr>
              <a:t> </a:t>
            </a:r>
            <a:r>
              <a:rPr lang="en-US" sz="2400" b="1" i="0" dirty="0">
                <a:effectLst/>
              </a:rPr>
              <a:t>attribute cannot functionally determine any attribute but Name attribute can determine other attributes such as Marks and Location using 2</a:t>
            </a:r>
            <a:r>
              <a:rPr lang="en-US" sz="2400" b="1" i="0" baseline="30000" dirty="0">
                <a:effectLst/>
              </a:rPr>
              <a:t>nd</a:t>
            </a:r>
            <a:r>
              <a:rPr lang="en-US" sz="2400" b="1" i="0" dirty="0">
                <a:effectLst/>
              </a:rPr>
              <a:t> Functional Dependency</a:t>
            </a:r>
            <a:r>
              <a:rPr lang="en-US" sz="2400" b="1" i="0" dirty="0">
                <a:solidFill>
                  <a:srgbClr val="008000"/>
                </a:solidFill>
                <a:effectLst/>
              </a:rPr>
              <a:t>(</a:t>
            </a:r>
            <a:r>
              <a:rPr lang="en-US" sz="2400" b="1" i="0" dirty="0">
                <a:solidFill>
                  <a:srgbClr val="0000FF"/>
                </a:solidFill>
                <a:effectLst/>
              </a:rPr>
              <a:t>Name</a:t>
            </a:r>
            <a:r>
              <a:rPr lang="en-US" sz="2400" b="1" i="0" dirty="0">
                <a:solidFill>
                  <a:srgbClr val="008000"/>
                </a:solidFill>
                <a:effectLst/>
              </a:rPr>
              <a:t> </a:t>
            </a:r>
            <a:r>
              <a:rPr lang="en-US" sz="2400" b="1" i="0" dirty="0">
                <a:solidFill>
                  <a:srgbClr val="000099"/>
                </a:solidFill>
                <a:effectLst/>
              </a:rPr>
              <a:t>-&gt; </a:t>
            </a:r>
            <a:r>
              <a:rPr lang="en-US" sz="2400" b="1" i="0" dirty="0">
                <a:solidFill>
                  <a:srgbClr val="008000"/>
                </a:solidFill>
                <a:effectLst/>
              </a:rPr>
              <a:t>Marks, Location).</a:t>
            </a:r>
            <a:endParaRPr lang="en-US" sz="2400" b="1" i="0" dirty="0">
              <a:effectLst/>
            </a:endParaRPr>
          </a:p>
          <a:p>
            <a:pPr algn="l"/>
            <a:r>
              <a:rPr lang="en-US" sz="2400" b="1" i="0" dirty="0">
                <a:solidFill>
                  <a:srgbClr val="000099"/>
                </a:solidFill>
                <a:effectLst/>
              </a:rPr>
              <a:t>Therefore, complete closure of </a:t>
            </a:r>
            <a:r>
              <a:rPr lang="en-US" sz="2400" b="1" i="0" dirty="0" err="1">
                <a:solidFill>
                  <a:srgbClr val="000099"/>
                </a:solidFill>
                <a:effectLst/>
              </a:rPr>
              <a:t>Roll_No</a:t>
            </a:r>
            <a:r>
              <a:rPr lang="en-US" sz="2400" b="1" i="0" dirty="0">
                <a:solidFill>
                  <a:srgbClr val="000099"/>
                </a:solidFill>
                <a:effectLst/>
              </a:rPr>
              <a:t> will be :</a:t>
            </a:r>
            <a:endParaRPr lang="en-US" sz="2400" b="0" i="0" dirty="0">
              <a:solidFill>
                <a:srgbClr val="000099"/>
              </a:solidFill>
              <a:effectLst/>
            </a:endParaRPr>
          </a:p>
          <a:p>
            <a:pPr algn="l"/>
            <a:r>
              <a:rPr lang="en-US" sz="2400" b="1" i="0" dirty="0">
                <a:solidFill>
                  <a:srgbClr val="FF0000"/>
                </a:solidFill>
                <a:effectLst/>
              </a:rPr>
              <a:t>{</a:t>
            </a:r>
            <a:r>
              <a:rPr lang="en-US" sz="2400" b="1" i="0" dirty="0" err="1">
                <a:solidFill>
                  <a:srgbClr val="FF0000"/>
                </a:solidFill>
                <a:effectLst/>
              </a:rPr>
              <a:t>Roll_no</a:t>
            </a:r>
            <a:r>
              <a:rPr lang="en-US" sz="2400" b="1" i="0" dirty="0">
                <a:solidFill>
                  <a:srgbClr val="FF0000"/>
                </a:solidFill>
                <a:effectLst/>
              </a:rPr>
              <a:t>}</a:t>
            </a:r>
            <a:r>
              <a:rPr lang="en-US" sz="2400" b="1" i="0" baseline="30000" dirty="0">
                <a:solidFill>
                  <a:srgbClr val="FF0000"/>
                </a:solidFill>
                <a:effectLst/>
              </a:rPr>
              <a:t>+</a:t>
            </a:r>
            <a:r>
              <a:rPr lang="en-US" sz="2400" b="1" i="0" dirty="0">
                <a:solidFill>
                  <a:srgbClr val="E06092"/>
                </a:solidFill>
                <a:effectLst/>
              </a:rPr>
              <a:t> </a:t>
            </a:r>
            <a:r>
              <a:rPr lang="en-US" sz="2400" b="1" i="0" dirty="0">
                <a:effectLst/>
              </a:rPr>
              <a:t>=</a:t>
            </a:r>
            <a:r>
              <a:rPr lang="en-US" sz="2400" b="1" i="0" dirty="0">
                <a:solidFill>
                  <a:srgbClr val="E06092"/>
                </a:solidFill>
                <a:effectLst/>
              </a:rPr>
              <a:t> </a:t>
            </a:r>
            <a:r>
              <a:rPr lang="en-US" sz="2400" b="1" i="0" dirty="0">
                <a:solidFill>
                  <a:srgbClr val="000099"/>
                </a:solidFill>
                <a:effectLst/>
              </a:rPr>
              <a:t>{</a:t>
            </a:r>
            <a:r>
              <a:rPr lang="en-US" sz="2400" b="1" i="0" dirty="0" err="1">
                <a:solidFill>
                  <a:srgbClr val="000099"/>
                </a:solidFill>
                <a:effectLst/>
              </a:rPr>
              <a:t>Roll_No</a:t>
            </a:r>
            <a:r>
              <a:rPr lang="en-US" sz="2400" b="1" i="0" dirty="0">
                <a:solidFill>
                  <a:srgbClr val="000099"/>
                </a:solidFill>
                <a:effectLst/>
              </a:rPr>
              <a:t>, Marks, Name, Location}</a:t>
            </a:r>
          </a:p>
          <a:p>
            <a:endParaRPr lang="en-US" dirty="0"/>
          </a:p>
        </p:txBody>
      </p:sp>
    </p:spTree>
    <p:extLst>
      <p:ext uri="{BB962C8B-B14F-4D97-AF65-F5344CB8AC3E}">
        <p14:creationId xmlns:p14="http://schemas.microsoft.com/office/powerpoint/2010/main" val="4094728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05376C-FCF6-A095-B19D-F87752817455}"/>
              </a:ext>
            </a:extLst>
          </p:cNvPr>
          <p:cNvSpPr>
            <a:spLocks noGrp="1"/>
          </p:cNvSpPr>
          <p:nvPr>
            <p:ph type="title"/>
          </p:nvPr>
        </p:nvSpPr>
        <p:spPr>
          <a:xfrm>
            <a:off x="294862" y="265044"/>
            <a:ext cx="10515600" cy="531370"/>
          </a:xfrm>
        </p:spPr>
        <p:txBody>
          <a:bodyPr>
            <a:normAutofit fontScale="90000"/>
          </a:bodyPr>
          <a:lstStyle/>
          <a:p>
            <a:r>
              <a:rPr lang="en-US" sz="4000" b="1" i="0" u="none" strike="noStrike" baseline="0" dirty="0">
                <a:latin typeface="+mn-lt"/>
              </a:rPr>
              <a:t>Functional Dependency Closure</a:t>
            </a:r>
            <a:endParaRPr lang="en-US" sz="4000" b="1" dirty="0">
              <a:latin typeface="+mn-lt"/>
            </a:endParaRPr>
          </a:p>
        </p:txBody>
      </p:sp>
      <p:sp>
        <p:nvSpPr>
          <p:cNvPr id="3" name="Content Placeholder 2">
            <a:extLst>
              <a:ext uri="{FF2B5EF4-FFF2-40B4-BE49-F238E27FC236}">
                <a16:creationId xmlns="" xmlns:a16="http://schemas.microsoft.com/office/drawing/2014/main" id="{160295A4-A7BD-BA7B-CC6F-38F4EE516C9D}"/>
              </a:ext>
            </a:extLst>
          </p:cNvPr>
          <p:cNvSpPr>
            <a:spLocks noGrp="1"/>
          </p:cNvSpPr>
          <p:nvPr>
            <p:ph idx="1"/>
          </p:nvPr>
        </p:nvSpPr>
        <p:spPr>
          <a:xfrm>
            <a:off x="294862" y="1046922"/>
            <a:ext cx="11579086" cy="5645426"/>
          </a:xfrm>
        </p:spPr>
        <p:txBody>
          <a:bodyPr>
            <a:normAutofit fontScale="77500" lnSpcReduction="20000"/>
          </a:bodyPr>
          <a:lstStyle/>
          <a:p>
            <a:pPr algn="just"/>
            <a:r>
              <a:rPr lang="en-US" sz="3100" b="1" i="0" dirty="0">
                <a:solidFill>
                  <a:srgbClr val="000099"/>
                </a:solidFill>
                <a:effectLst/>
              </a:rPr>
              <a:t>Similarly, we can calculate closure for other attributes too </a:t>
            </a:r>
            <a:r>
              <a:rPr lang="en-US" sz="3100" b="1" i="0" dirty="0" err="1">
                <a:solidFill>
                  <a:srgbClr val="000099"/>
                </a:solidFill>
                <a:effectLst/>
              </a:rPr>
              <a:t>i.e</a:t>
            </a:r>
            <a:r>
              <a:rPr lang="en-US" sz="3100" b="1" i="0" dirty="0">
                <a:solidFill>
                  <a:srgbClr val="000099"/>
                </a:solidFill>
                <a:effectLst/>
              </a:rPr>
              <a:t> “Name”.</a:t>
            </a:r>
          </a:p>
          <a:p>
            <a:pPr algn="just"/>
            <a:r>
              <a:rPr lang="en-US" sz="3100" b="1" i="0" dirty="0">
                <a:effectLst/>
              </a:rPr>
              <a:t>Step-1 : Add attributes present on the LHS of the functional dependency to the closure.</a:t>
            </a:r>
            <a:endParaRPr lang="en-US" sz="3100" b="1" dirty="0"/>
          </a:p>
          <a:p>
            <a:pPr algn="just"/>
            <a:r>
              <a:rPr lang="en-US" sz="3100" b="1" i="0" dirty="0">
                <a:solidFill>
                  <a:srgbClr val="FF0000"/>
                </a:solidFill>
                <a:effectLst/>
              </a:rPr>
              <a:t>{Name}</a:t>
            </a:r>
            <a:r>
              <a:rPr lang="en-US" sz="3100" b="1" i="0" baseline="30000" dirty="0">
                <a:solidFill>
                  <a:srgbClr val="FF0000"/>
                </a:solidFill>
                <a:effectLst/>
              </a:rPr>
              <a:t>+</a:t>
            </a:r>
            <a:r>
              <a:rPr lang="en-US" sz="3100" b="1" i="0" dirty="0">
                <a:solidFill>
                  <a:srgbClr val="E06092"/>
                </a:solidFill>
                <a:effectLst/>
              </a:rPr>
              <a:t> </a:t>
            </a:r>
            <a:r>
              <a:rPr lang="en-US" sz="3100" b="1" i="0" dirty="0">
                <a:effectLst/>
              </a:rPr>
              <a:t>= </a:t>
            </a:r>
            <a:r>
              <a:rPr lang="en-US" sz="3100" b="1" i="0" dirty="0">
                <a:solidFill>
                  <a:srgbClr val="000099"/>
                </a:solidFill>
                <a:effectLst/>
              </a:rPr>
              <a:t>{Name}</a:t>
            </a:r>
          </a:p>
          <a:p>
            <a:pPr algn="just"/>
            <a:r>
              <a:rPr lang="en-US" sz="3100" b="1" i="0" dirty="0">
                <a:effectLst/>
              </a:rPr>
              <a:t>Step-2 : Add the attributes present on the RHS of the functional dependency to the closure.</a:t>
            </a:r>
            <a:endParaRPr lang="en-US" sz="3100" b="1" dirty="0"/>
          </a:p>
          <a:p>
            <a:pPr algn="just"/>
            <a:r>
              <a:rPr lang="en-US" sz="3100" b="1" i="0" dirty="0">
                <a:solidFill>
                  <a:srgbClr val="FF0000"/>
                </a:solidFill>
                <a:effectLst/>
              </a:rPr>
              <a:t>{Name}</a:t>
            </a:r>
            <a:r>
              <a:rPr lang="en-US" sz="3100" b="1" i="0" baseline="30000" dirty="0">
                <a:solidFill>
                  <a:srgbClr val="FF0000"/>
                </a:solidFill>
                <a:effectLst/>
              </a:rPr>
              <a:t>+</a:t>
            </a:r>
            <a:r>
              <a:rPr lang="en-US" sz="3100" b="1" i="0" dirty="0">
                <a:solidFill>
                  <a:srgbClr val="E06092"/>
                </a:solidFill>
                <a:effectLst/>
              </a:rPr>
              <a:t> </a:t>
            </a:r>
            <a:r>
              <a:rPr lang="en-US" sz="3100" b="1" i="0" dirty="0">
                <a:effectLst/>
              </a:rPr>
              <a:t>= </a:t>
            </a:r>
            <a:r>
              <a:rPr lang="en-US" sz="3100" b="1" i="0" dirty="0">
                <a:solidFill>
                  <a:srgbClr val="000099"/>
                </a:solidFill>
                <a:effectLst/>
              </a:rPr>
              <a:t>{Name, Marks, Location}</a:t>
            </a:r>
          </a:p>
          <a:p>
            <a:pPr algn="just"/>
            <a:r>
              <a:rPr lang="en-US" sz="3100" b="1" i="0" dirty="0">
                <a:solidFill>
                  <a:srgbClr val="0000FF"/>
                </a:solidFill>
                <a:effectLst/>
              </a:rPr>
              <a:t>Step-3</a:t>
            </a:r>
            <a:r>
              <a:rPr lang="en-US" sz="3100" b="1" i="0" dirty="0">
                <a:solidFill>
                  <a:srgbClr val="E06092"/>
                </a:solidFill>
                <a:effectLst/>
              </a:rPr>
              <a:t> : </a:t>
            </a:r>
            <a:r>
              <a:rPr lang="en-US" sz="3100" b="1" i="0" dirty="0">
                <a:effectLst/>
              </a:rPr>
              <a:t>Since, we don’t have any functional dependency where </a:t>
            </a:r>
            <a:r>
              <a:rPr lang="en-US" sz="3100" b="1" i="0" dirty="0">
                <a:solidFill>
                  <a:srgbClr val="008000"/>
                </a:solidFill>
                <a:effectLst/>
              </a:rPr>
              <a:t>“</a:t>
            </a:r>
            <a:r>
              <a:rPr lang="en-US" sz="3100" b="1" i="0" dirty="0">
                <a:solidFill>
                  <a:srgbClr val="0000FF"/>
                </a:solidFill>
                <a:effectLst/>
              </a:rPr>
              <a:t>Marks or Location</a:t>
            </a:r>
            <a:r>
              <a:rPr lang="en-US" sz="3100" b="1" i="0" dirty="0">
                <a:solidFill>
                  <a:srgbClr val="008000"/>
                </a:solidFill>
                <a:effectLst/>
              </a:rPr>
              <a:t>” </a:t>
            </a:r>
            <a:r>
              <a:rPr lang="en-US" sz="3100" b="1" i="0" dirty="0">
                <a:effectLst/>
              </a:rPr>
              <a:t>attribute is functionally determining any other attribute , we cannot add more attributes to the closure. Hence complete closure of Name would be :</a:t>
            </a:r>
          </a:p>
          <a:p>
            <a:pPr algn="just"/>
            <a:r>
              <a:rPr lang="en-US" sz="3100" b="1" i="0" dirty="0">
                <a:solidFill>
                  <a:srgbClr val="FF0000"/>
                </a:solidFill>
                <a:effectLst/>
              </a:rPr>
              <a:t>{Name}</a:t>
            </a:r>
            <a:r>
              <a:rPr lang="en-US" sz="3100" b="1" i="0" baseline="30000" dirty="0">
                <a:solidFill>
                  <a:srgbClr val="FF0000"/>
                </a:solidFill>
                <a:effectLst/>
              </a:rPr>
              <a:t>+</a:t>
            </a:r>
            <a:r>
              <a:rPr lang="en-US" sz="3100" b="1" i="0" dirty="0">
                <a:solidFill>
                  <a:srgbClr val="E06092"/>
                </a:solidFill>
                <a:effectLst/>
              </a:rPr>
              <a:t> </a:t>
            </a:r>
            <a:r>
              <a:rPr lang="en-US" sz="3100" b="1" i="0" dirty="0">
                <a:effectLst/>
              </a:rPr>
              <a:t>= </a:t>
            </a:r>
            <a:r>
              <a:rPr lang="en-US" sz="3100" b="1" i="0" dirty="0">
                <a:solidFill>
                  <a:srgbClr val="000099"/>
                </a:solidFill>
                <a:effectLst/>
              </a:rPr>
              <a:t>{Name, Marks, Location}</a:t>
            </a:r>
          </a:p>
          <a:p>
            <a:pPr algn="just"/>
            <a:r>
              <a:rPr lang="en-US" sz="3100" b="1" i="0" dirty="0">
                <a:solidFill>
                  <a:srgbClr val="000099"/>
                </a:solidFill>
                <a:effectLst/>
              </a:rPr>
              <a:t>Calculate Closure for Marks and Location attribute:</a:t>
            </a:r>
          </a:p>
          <a:p>
            <a:pPr algn="just"/>
            <a:r>
              <a:rPr lang="en-US" sz="3100" b="1" i="0" dirty="0">
                <a:solidFill>
                  <a:srgbClr val="C00000"/>
                </a:solidFill>
                <a:effectLst/>
              </a:rPr>
              <a:t>We don’t have any Functional dependency where marks and location can functionally determine any attribute. Hence, for those attributes we can only add the attributes themselves in their closures. Therefore,</a:t>
            </a:r>
          </a:p>
          <a:p>
            <a:pPr algn="l"/>
            <a:r>
              <a:rPr lang="en-US" sz="3100" b="1" i="0" dirty="0">
                <a:solidFill>
                  <a:srgbClr val="FF0000"/>
                </a:solidFill>
                <a:effectLst/>
              </a:rPr>
              <a:t>{Marks}</a:t>
            </a:r>
            <a:r>
              <a:rPr lang="en-US" sz="3100" b="1" i="0" baseline="30000" dirty="0">
                <a:solidFill>
                  <a:srgbClr val="FF0000"/>
                </a:solidFill>
                <a:effectLst/>
              </a:rPr>
              <a:t>+</a:t>
            </a:r>
            <a:r>
              <a:rPr lang="en-US" sz="3100" b="1" i="0" dirty="0">
                <a:solidFill>
                  <a:srgbClr val="E06092"/>
                </a:solidFill>
                <a:effectLst/>
              </a:rPr>
              <a:t> </a:t>
            </a:r>
            <a:r>
              <a:rPr lang="en-US" sz="3100" b="1" i="0" dirty="0">
                <a:effectLst/>
              </a:rPr>
              <a:t>=</a:t>
            </a:r>
            <a:r>
              <a:rPr lang="en-US" sz="3100" b="1" i="0" dirty="0">
                <a:solidFill>
                  <a:srgbClr val="E06092"/>
                </a:solidFill>
                <a:effectLst/>
              </a:rPr>
              <a:t> </a:t>
            </a:r>
            <a:r>
              <a:rPr lang="en-US" sz="3100" b="1" i="0" dirty="0">
                <a:solidFill>
                  <a:srgbClr val="000099"/>
                </a:solidFill>
                <a:effectLst/>
              </a:rPr>
              <a:t>{Marks}</a:t>
            </a:r>
            <a:r>
              <a:rPr lang="en-US" sz="3100" dirty="0">
                <a:solidFill>
                  <a:srgbClr val="000099"/>
                </a:solidFill>
              </a:rPr>
              <a:t>                     </a:t>
            </a:r>
            <a:r>
              <a:rPr lang="en-US" sz="3100" b="1" i="0" dirty="0">
                <a:effectLst/>
              </a:rPr>
              <a:t>and               </a:t>
            </a:r>
            <a:r>
              <a:rPr lang="en-US" sz="3100" b="1" i="0" dirty="0">
                <a:solidFill>
                  <a:srgbClr val="FF0000"/>
                </a:solidFill>
                <a:effectLst/>
              </a:rPr>
              <a:t>{Location}</a:t>
            </a:r>
            <a:r>
              <a:rPr lang="en-US" sz="3100" b="1" i="0" baseline="30000" dirty="0">
                <a:solidFill>
                  <a:srgbClr val="FF0000"/>
                </a:solidFill>
                <a:effectLst/>
              </a:rPr>
              <a:t>+</a:t>
            </a:r>
            <a:r>
              <a:rPr lang="en-US" sz="3100" b="1" i="0" dirty="0">
                <a:solidFill>
                  <a:srgbClr val="E06092"/>
                </a:solidFill>
                <a:effectLst/>
              </a:rPr>
              <a:t> </a:t>
            </a:r>
            <a:r>
              <a:rPr lang="en-US" sz="3100" b="1" i="0" dirty="0">
                <a:effectLst/>
              </a:rPr>
              <a:t>= </a:t>
            </a:r>
            <a:r>
              <a:rPr lang="en-US" sz="3100" b="1" i="0" dirty="0">
                <a:solidFill>
                  <a:srgbClr val="000099"/>
                </a:solidFill>
                <a:effectLst/>
              </a:rPr>
              <a:t>{</a:t>
            </a:r>
            <a:r>
              <a:rPr lang="en-US" sz="3100" b="0" i="0" dirty="0">
                <a:solidFill>
                  <a:srgbClr val="000099"/>
                </a:solidFill>
                <a:effectLst/>
              </a:rPr>
              <a:t> </a:t>
            </a:r>
            <a:r>
              <a:rPr lang="en-US" sz="3100" b="1" i="0" dirty="0">
                <a:solidFill>
                  <a:srgbClr val="000099"/>
                </a:solidFill>
                <a:effectLst/>
              </a:rPr>
              <a:t>Location}</a:t>
            </a:r>
            <a:endParaRPr lang="en-US" sz="3100" b="0" i="0" dirty="0">
              <a:solidFill>
                <a:srgbClr val="000099"/>
              </a:solidFill>
              <a:effectLst/>
            </a:endParaRPr>
          </a:p>
          <a:p>
            <a:pPr algn="just"/>
            <a:endParaRPr lang="en-US" b="1" i="0" dirty="0">
              <a:solidFill>
                <a:srgbClr val="99CC00"/>
              </a:solidFill>
              <a:effectLst/>
              <a:latin typeface="-apple-system"/>
            </a:endParaRPr>
          </a:p>
          <a:p>
            <a:pPr algn="just"/>
            <a:endParaRPr lang="en-US" b="1" i="0" dirty="0">
              <a:solidFill>
                <a:srgbClr val="99CC00"/>
              </a:solidFill>
              <a:effectLst/>
              <a:latin typeface="-apple-system"/>
            </a:endParaRPr>
          </a:p>
          <a:p>
            <a:pPr algn="just"/>
            <a:endParaRPr lang="en-US" b="1" i="0" dirty="0">
              <a:solidFill>
                <a:srgbClr val="99CC00"/>
              </a:solidFill>
              <a:effectLst/>
              <a:latin typeface="-apple-system"/>
            </a:endParaRPr>
          </a:p>
          <a:p>
            <a:pPr algn="just"/>
            <a:endParaRPr lang="en-US" dirty="0"/>
          </a:p>
        </p:txBody>
      </p:sp>
    </p:spTree>
    <p:extLst>
      <p:ext uri="{BB962C8B-B14F-4D97-AF65-F5344CB8AC3E}">
        <p14:creationId xmlns:p14="http://schemas.microsoft.com/office/powerpoint/2010/main" val="19705660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F3F675-0E90-5057-E115-BB17EA0F1B28}"/>
              </a:ext>
            </a:extLst>
          </p:cNvPr>
          <p:cNvSpPr>
            <a:spLocks noGrp="1"/>
          </p:cNvSpPr>
          <p:nvPr>
            <p:ph type="title"/>
          </p:nvPr>
        </p:nvSpPr>
        <p:spPr>
          <a:xfrm>
            <a:off x="434007" y="100082"/>
            <a:ext cx="10717696" cy="774562"/>
          </a:xfrm>
        </p:spPr>
        <p:txBody>
          <a:bodyPr>
            <a:normAutofit/>
          </a:bodyPr>
          <a:lstStyle/>
          <a:p>
            <a:r>
              <a:rPr lang="en-US" sz="3200" b="1" i="0" u="none" strike="noStrike" baseline="0" dirty="0">
                <a:latin typeface="+mn-lt"/>
              </a:rPr>
              <a:t>Minimal Cover /</a:t>
            </a:r>
            <a:r>
              <a:rPr lang="en-US" sz="3200" b="1" i="0" dirty="0">
                <a:effectLst/>
                <a:latin typeface="+mn-lt"/>
              </a:rPr>
              <a:t>Canonical Cover of Functional Dependency</a:t>
            </a:r>
            <a:endParaRPr lang="en-US" sz="3200" b="1" dirty="0">
              <a:latin typeface="+mn-lt"/>
            </a:endParaRPr>
          </a:p>
        </p:txBody>
      </p:sp>
      <p:sp>
        <p:nvSpPr>
          <p:cNvPr id="3" name="Content Placeholder 2">
            <a:extLst>
              <a:ext uri="{FF2B5EF4-FFF2-40B4-BE49-F238E27FC236}">
                <a16:creationId xmlns="" xmlns:a16="http://schemas.microsoft.com/office/drawing/2014/main" id="{FADFB3C8-5B2C-95AE-884D-1900149294DC}"/>
              </a:ext>
            </a:extLst>
          </p:cNvPr>
          <p:cNvSpPr>
            <a:spLocks noGrp="1"/>
          </p:cNvSpPr>
          <p:nvPr>
            <p:ph idx="1"/>
          </p:nvPr>
        </p:nvSpPr>
        <p:spPr>
          <a:xfrm>
            <a:off x="434007" y="874644"/>
            <a:ext cx="11545957" cy="5857460"/>
          </a:xfrm>
        </p:spPr>
        <p:txBody>
          <a:bodyPr>
            <a:normAutofit fontScale="85000" lnSpcReduction="20000"/>
          </a:bodyPr>
          <a:lstStyle/>
          <a:p>
            <a:pPr algn="just">
              <a:buFont typeface="Arial" panose="020B0604020202020204" pitchFamily="34" charset="0"/>
              <a:buChar char="•"/>
            </a:pPr>
            <a:r>
              <a:rPr lang="en-US" i="0" dirty="0">
                <a:effectLst/>
              </a:rPr>
              <a:t>In any relational model, there exists a set of functional dependencies. These functional dependencies when closely observed might contain redundant attributes. </a:t>
            </a:r>
            <a:r>
              <a:rPr lang="en-US" b="1" i="0" dirty="0">
                <a:solidFill>
                  <a:srgbClr val="000099"/>
                </a:solidFill>
                <a:effectLst/>
              </a:rPr>
              <a:t>The ability of removing these redundant attributes without affecting the capabilities of the functional dependency is known as “Canonical Cover </a:t>
            </a:r>
            <a:r>
              <a:rPr lang="en-US" i="0" dirty="0">
                <a:effectLst/>
              </a:rPr>
              <a:t>of Functional Dependency”.</a:t>
            </a:r>
          </a:p>
          <a:p>
            <a:pPr algn="just">
              <a:buFont typeface="Arial" panose="020B0604020202020204" pitchFamily="34" charset="0"/>
              <a:buChar char="•"/>
            </a:pPr>
            <a:r>
              <a:rPr lang="en-US" i="0" dirty="0">
                <a:effectLst/>
              </a:rPr>
              <a:t>Canonical cover of functional dependency is </a:t>
            </a:r>
            <a:r>
              <a:rPr lang="en-US" b="1" i="0" dirty="0">
                <a:solidFill>
                  <a:srgbClr val="000099"/>
                </a:solidFill>
                <a:effectLst/>
              </a:rPr>
              <a:t>sometimes also referred to as “Minimal Cover”. </a:t>
            </a:r>
            <a:r>
              <a:rPr lang="en-US" i="0" dirty="0">
                <a:effectLst/>
              </a:rPr>
              <a:t>Canonical cover of functional dependency is denoted usi</a:t>
            </a:r>
            <a:r>
              <a:rPr lang="en-US" b="1" i="0" dirty="0">
                <a:effectLst/>
              </a:rPr>
              <a:t>ng </a:t>
            </a:r>
            <a:r>
              <a:rPr lang="en-US" b="1" i="0" dirty="0">
                <a:solidFill>
                  <a:srgbClr val="000099"/>
                </a:solidFill>
                <a:effectLst/>
              </a:rPr>
              <a:t>"M</a:t>
            </a:r>
            <a:r>
              <a:rPr lang="en-US" b="1" i="0" baseline="-25000" dirty="0">
                <a:solidFill>
                  <a:srgbClr val="000099"/>
                </a:solidFill>
                <a:effectLst/>
              </a:rPr>
              <a:t>c</a:t>
            </a:r>
            <a:r>
              <a:rPr lang="en-US" b="1" i="0" dirty="0">
                <a:solidFill>
                  <a:srgbClr val="000099"/>
                </a:solidFill>
                <a:effectLst/>
              </a:rPr>
              <a:t>".</a:t>
            </a:r>
          </a:p>
          <a:p>
            <a:pPr algn="just"/>
            <a:r>
              <a:rPr lang="en-US" b="0" i="0" dirty="0">
                <a:effectLst/>
              </a:rPr>
              <a:t>A canonical cover or irreducible a set of functional dependencies FD </a:t>
            </a:r>
            <a:r>
              <a:rPr lang="en-US" b="1" i="0" dirty="0">
                <a:solidFill>
                  <a:srgbClr val="000099"/>
                </a:solidFill>
                <a:effectLst/>
              </a:rPr>
              <a:t>is a simplified set of FD that has a similar closure as the original set FD.</a:t>
            </a:r>
          </a:p>
          <a:p>
            <a:pPr algn="l"/>
            <a:r>
              <a:rPr lang="en-US" b="1" i="0" dirty="0">
                <a:effectLst/>
              </a:rPr>
              <a:t>Important terms:</a:t>
            </a:r>
          </a:p>
          <a:p>
            <a:pPr algn="l">
              <a:buFont typeface="+mj-lt"/>
              <a:buAutoNum type="arabicPeriod"/>
            </a:pPr>
            <a:r>
              <a:rPr lang="en-US" b="1" i="0" dirty="0">
                <a:solidFill>
                  <a:srgbClr val="000099"/>
                </a:solidFill>
                <a:effectLst/>
              </a:rPr>
              <a:t>Extraneous attributes: </a:t>
            </a:r>
            <a:r>
              <a:rPr lang="en-US" b="0" i="0" dirty="0">
                <a:effectLst/>
              </a:rPr>
              <a:t>If we can delete an attribute of a functional dependency without modifying the closure of the set of functional dependencies, it is said to be unnecessary.</a:t>
            </a:r>
          </a:p>
          <a:p>
            <a:pPr algn="l">
              <a:buFont typeface="+mj-lt"/>
              <a:buAutoNum type="arabicPeriod"/>
            </a:pPr>
            <a:r>
              <a:rPr lang="en-US" b="1" i="0" dirty="0">
                <a:solidFill>
                  <a:srgbClr val="000099"/>
                </a:solidFill>
                <a:effectLst/>
              </a:rPr>
              <a:t>Canonical cover: </a:t>
            </a:r>
            <a:r>
              <a:rPr lang="en-US" b="0" i="0" dirty="0">
                <a:effectLst/>
              </a:rPr>
              <a:t>Canonical cover Fc is a set of functional dependencies F such that the following properties are not violated: </a:t>
            </a:r>
          </a:p>
          <a:p>
            <a:pPr algn="l"/>
            <a:r>
              <a:rPr lang="en-US" b="0" i="0" dirty="0">
                <a:effectLst/>
              </a:rPr>
              <a:t>1) All dependencies in Fc are logically implied by F.</a:t>
            </a:r>
          </a:p>
          <a:p>
            <a:pPr algn="l"/>
            <a:r>
              <a:rPr lang="en-US" b="0" i="0" dirty="0">
                <a:effectLst/>
              </a:rPr>
              <a:t>2) All dependencies in F are logically implied by Fc.</a:t>
            </a:r>
          </a:p>
          <a:p>
            <a:pPr algn="l"/>
            <a:r>
              <a:rPr lang="en-US" b="0" i="0" dirty="0">
                <a:effectLst/>
              </a:rPr>
              <a:t>3) There are no extraneous attributes in Fc's functional dependencies.</a:t>
            </a:r>
          </a:p>
          <a:p>
            <a:pPr algn="l"/>
            <a:r>
              <a:rPr lang="en-US" b="0" i="0" dirty="0">
                <a:effectLst/>
              </a:rPr>
              <a:t>4) Each functional dependency's left side in Fc is distinct. There are no two dependencies ɑ1→β1 and ɑ2→β2 in such that ɑ1→ɑ2.</a:t>
            </a:r>
          </a:p>
          <a:p>
            <a:pPr algn="just"/>
            <a:endParaRPr lang="en-US" b="0" i="0" dirty="0">
              <a:solidFill>
                <a:srgbClr val="000099"/>
              </a:solidFill>
              <a:effectLst/>
            </a:endParaRPr>
          </a:p>
          <a:p>
            <a:pPr algn="just">
              <a:buFont typeface="Arial" panose="020B0604020202020204" pitchFamily="34" charset="0"/>
              <a:buChar char="•"/>
            </a:pPr>
            <a:endParaRPr lang="en-US" b="0" i="0" dirty="0">
              <a:effectLst/>
            </a:endParaRPr>
          </a:p>
          <a:p>
            <a:endParaRPr lang="en-US" dirty="0"/>
          </a:p>
        </p:txBody>
      </p:sp>
    </p:spTree>
    <p:extLst>
      <p:ext uri="{BB962C8B-B14F-4D97-AF65-F5344CB8AC3E}">
        <p14:creationId xmlns:p14="http://schemas.microsoft.com/office/powerpoint/2010/main" val="7330621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F3F675-0E90-5057-E115-BB17EA0F1B28}"/>
              </a:ext>
            </a:extLst>
          </p:cNvPr>
          <p:cNvSpPr>
            <a:spLocks noGrp="1"/>
          </p:cNvSpPr>
          <p:nvPr>
            <p:ph type="title"/>
          </p:nvPr>
        </p:nvSpPr>
        <p:spPr>
          <a:xfrm>
            <a:off x="434007" y="125896"/>
            <a:ext cx="10717696" cy="774562"/>
          </a:xfrm>
        </p:spPr>
        <p:txBody>
          <a:bodyPr>
            <a:normAutofit/>
          </a:bodyPr>
          <a:lstStyle/>
          <a:p>
            <a:r>
              <a:rPr lang="en-US" sz="3200" b="1" i="0" u="none" strike="noStrike" baseline="0" dirty="0">
                <a:latin typeface="+mn-lt"/>
              </a:rPr>
              <a:t>Minimal Cover /</a:t>
            </a:r>
            <a:r>
              <a:rPr lang="en-US" sz="3200" b="1" i="0" dirty="0">
                <a:effectLst/>
                <a:latin typeface="+mn-lt"/>
              </a:rPr>
              <a:t>Canonical Cover of Functional Dependency</a:t>
            </a:r>
            <a:endParaRPr lang="en-US" sz="3200" b="1" dirty="0">
              <a:latin typeface="+mn-lt"/>
            </a:endParaRPr>
          </a:p>
        </p:txBody>
      </p:sp>
      <p:sp>
        <p:nvSpPr>
          <p:cNvPr id="3" name="Content Placeholder 2">
            <a:extLst>
              <a:ext uri="{FF2B5EF4-FFF2-40B4-BE49-F238E27FC236}">
                <a16:creationId xmlns="" xmlns:a16="http://schemas.microsoft.com/office/drawing/2014/main" id="{FADFB3C8-5B2C-95AE-884D-1900149294DC}"/>
              </a:ext>
            </a:extLst>
          </p:cNvPr>
          <p:cNvSpPr>
            <a:spLocks noGrp="1"/>
          </p:cNvSpPr>
          <p:nvPr>
            <p:ph idx="1"/>
          </p:nvPr>
        </p:nvSpPr>
        <p:spPr>
          <a:xfrm>
            <a:off x="434007" y="874644"/>
            <a:ext cx="11545957" cy="5857460"/>
          </a:xfrm>
        </p:spPr>
        <p:txBody>
          <a:bodyPr>
            <a:normAutofit lnSpcReduction="10000"/>
          </a:bodyPr>
          <a:lstStyle/>
          <a:p>
            <a:pPr algn="just"/>
            <a:r>
              <a:rPr lang="en-US" b="1" i="0" dirty="0">
                <a:effectLst/>
              </a:rPr>
              <a:t>Algorithm for Canonical Cover as follows:</a:t>
            </a:r>
            <a:endParaRPr lang="en-US" b="0" i="0" dirty="0">
              <a:effectLst/>
            </a:endParaRPr>
          </a:p>
          <a:p>
            <a:pPr algn="just"/>
            <a:r>
              <a:rPr lang="en-US" b="1" i="0" dirty="0">
                <a:effectLst/>
              </a:rPr>
              <a:t>Step 1: </a:t>
            </a:r>
            <a:r>
              <a:rPr lang="en-US" b="0" i="0" dirty="0">
                <a:effectLst/>
              </a:rPr>
              <a:t>First use union rules to replace any functional dependence such as A1 -&gt; B1 and A1 -&gt; B2 with A1 -&gt; B1B2.</a:t>
            </a:r>
          </a:p>
          <a:p>
            <a:pPr algn="just"/>
            <a:r>
              <a:rPr lang="en-US" b="1" i="0" dirty="0">
                <a:effectLst/>
              </a:rPr>
              <a:t>Step 2:</a:t>
            </a:r>
            <a:r>
              <a:rPr lang="en-US" b="0" i="0" dirty="0">
                <a:effectLst/>
              </a:rPr>
              <a:t> Find functional dependency </a:t>
            </a:r>
            <a:r>
              <a:rPr lang="en-US" b="1" i="0" dirty="0" err="1">
                <a:effectLst/>
              </a:rPr>
              <a:t>Fd</a:t>
            </a:r>
            <a:r>
              <a:rPr lang="en-US" b="0" i="0" dirty="0">
                <a:effectLst/>
              </a:rPr>
              <a:t> A -&gt; B with an irrelevant attribute in A or B.</a:t>
            </a:r>
          </a:p>
          <a:p>
            <a:pPr algn="just"/>
            <a:r>
              <a:rPr lang="en-US" b="1" i="0" dirty="0">
                <a:effectLst/>
              </a:rPr>
              <a:t>Step 3: </a:t>
            </a:r>
            <a:r>
              <a:rPr lang="en-US" b="0" i="0" dirty="0">
                <a:effectLst/>
              </a:rPr>
              <a:t>If any irrelevant attribute is found delete it from A -&gt; B until functional dependency does not change.</a:t>
            </a:r>
          </a:p>
          <a:p>
            <a:pPr algn="just"/>
            <a:r>
              <a:rPr lang="en-US" b="1" i="0" dirty="0">
                <a:effectLst/>
              </a:rPr>
              <a:t>Example</a:t>
            </a:r>
          </a:p>
          <a:p>
            <a:pPr algn="just"/>
            <a:r>
              <a:rPr lang="en-US" b="0" i="0" dirty="0">
                <a:effectLst/>
              </a:rPr>
              <a:t>Consider a given relation(X, Y, Z, W) having some attributes, and below are mentioned functional dependencies as follows.</a:t>
            </a:r>
          </a:p>
          <a:p>
            <a:pPr algn="just"/>
            <a:r>
              <a:rPr lang="en-US" b="0" i="0" dirty="0">
                <a:effectLst/>
              </a:rPr>
              <a:t>FD: Y -&gt; X</a:t>
            </a:r>
          </a:p>
          <a:p>
            <a:pPr algn="just"/>
            <a:r>
              <a:rPr lang="en-US" b="0" i="0" dirty="0">
                <a:effectLst/>
              </a:rPr>
              <a:t>FD: XW -&gt; Z</a:t>
            </a:r>
          </a:p>
          <a:p>
            <a:pPr algn="just"/>
            <a:r>
              <a:rPr lang="en-US" b="0" i="0" dirty="0">
                <a:effectLst/>
              </a:rPr>
              <a:t>FD: Z -&gt;XYW</a:t>
            </a:r>
          </a:p>
          <a:p>
            <a:pPr algn="just"/>
            <a:endParaRPr lang="en-US" b="0" i="0" dirty="0">
              <a:solidFill>
                <a:srgbClr val="000099"/>
              </a:solidFill>
              <a:effectLst/>
            </a:endParaRPr>
          </a:p>
          <a:p>
            <a:pPr algn="just">
              <a:buFont typeface="Arial" panose="020B0604020202020204" pitchFamily="34" charset="0"/>
              <a:buChar char="•"/>
            </a:pPr>
            <a:endParaRPr lang="en-US" b="0" i="0" dirty="0">
              <a:effectLst/>
            </a:endParaRPr>
          </a:p>
          <a:p>
            <a:endParaRPr lang="en-US" dirty="0"/>
          </a:p>
        </p:txBody>
      </p:sp>
    </p:spTree>
    <p:extLst>
      <p:ext uri="{BB962C8B-B14F-4D97-AF65-F5344CB8AC3E}">
        <p14:creationId xmlns:p14="http://schemas.microsoft.com/office/powerpoint/2010/main" val="24339400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F3F675-0E90-5057-E115-BB17EA0F1B28}"/>
              </a:ext>
            </a:extLst>
          </p:cNvPr>
          <p:cNvSpPr>
            <a:spLocks noGrp="1"/>
          </p:cNvSpPr>
          <p:nvPr>
            <p:ph type="title"/>
          </p:nvPr>
        </p:nvSpPr>
        <p:spPr>
          <a:xfrm>
            <a:off x="434007" y="125896"/>
            <a:ext cx="10717696" cy="774562"/>
          </a:xfrm>
        </p:spPr>
        <p:txBody>
          <a:bodyPr>
            <a:normAutofit/>
          </a:bodyPr>
          <a:lstStyle/>
          <a:p>
            <a:r>
              <a:rPr lang="en-US" sz="3200" b="1" i="0" u="none" strike="noStrike" baseline="0" dirty="0">
                <a:latin typeface="+mn-lt"/>
              </a:rPr>
              <a:t>Minimal Cover /</a:t>
            </a:r>
            <a:r>
              <a:rPr lang="en-US" sz="3200" b="1" i="0" dirty="0">
                <a:effectLst/>
                <a:latin typeface="+mn-lt"/>
              </a:rPr>
              <a:t>Canonical Cover of Functional Dependency</a:t>
            </a:r>
            <a:endParaRPr lang="en-US" sz="3200" b="1" dirty="0">
              <a:latin typeface="+mn-lt"/>
            </a:endParaRPr>
          </a:p>
        </p:txBody>
      </p:sp>
      <p:sp>
        <p:nvSpPr>
          <p:cNvPr id="3" name="Content Placeholder 2">
            <a:extLst>
              <a:ext uri="{FF2B5EF4-FFF2-40B4-BE49-F238E27FC236}">
                <a16:creationId xmlns="" xmlns:a16="http://schemas.microsoft.com/office/drawing/2014/main" id="{FADFB3C8-5B2C-95AE-884D-1900149294DC}"/>
              </a:ext>
            </a:extLst>
          </p:cNvPr>
          <p:cNvSpPr>
            <a:spLocks noGrp="1"/>
          </p:cNvSpPr>
          <p:nvPr>
            <p:ph idx="1"/>
          </p:nvPr>
        </p:nvSpPr>
        <p:spPr>
          <a:xfrm>
            <a:off x="434007" y="874644"/>
            <a:ext cx="11545957" cy="5857460"/>
          </a:xfrm>
        </p:spPr>
        <p:txBody>
          <a:bodyPr>
            <a:normAutofit/>
          </a:bodyPr>
          <a:lstStyle/>
          <a:p>
            <a:pPr algn="l"/>
            <a:r>
              <a:rPr lang="en-US" b="0" i="0" dirty="0">
                <a:effectLst/>
              </a:rPr>
              <a:t>FD: Y -&gt; X</a:t>
            </a:r>
          </a:p>
          <a:p>
            <a:pPr algn="l"/>
            <a:r>
              <a:rPr lang="en-US" b="0" i="0" dirty="0">
                <a:effectLst/>
              </a:rPr>
              <a:t>FD: XW -&gt; Z</a:t>
            </a:r>
          </a:p>
          <a:p>
            <a:pPr algn="l"/>
            <a:r>
              <a:rPr lang="en-US" b="0" i="0" dirty="0">
                <a:effectLst/>
              </a:rPr>
              <a:t>FD: Z -&gt;XYW</a:t>
            </a:r>
          </a:p>
          <a:p>
            <a:pPr algn="just"/>
            <a:r>
              <a:rPr lang="en-US" b="1" i="0" dirty="0">
                <a:effectLst/>
              </a:rPr>
              <a:t>Step 1:</a:t>
            </a:r>
            <a:endParaRPr lang="en-US" b="0" i="0" dirty="0">
              <a:effectLst/>
            </a:endParaRPr>
          </a:p>
          <a:p>
            <a:pPr algn="just"/>
            <a:r>
              <a:rPr lang="en-US" b="0" i="0" dirty="0">
                <a:effectLst/>
              </a:rPr>
              <a:t>First, </a:t>
            </a:r>
            <a:r>
              <a:rPr lang="en-US" b="1" i="0" dirty="0">
                <a:solidFill>
                  <a:srgbClr val="000099"/>
                </a:solidFill>
                <a:effectLst/>
              </a:rPr>
              <a:t>decompose all functional dependencies using the decomposition rule. That means a </a:t>
            </a:r>
            <a:r>
              <a:rPr lang="en-US" b="1" i="0" dirty="0">
                <a:solidFill>
                  <a:srgbClr val="C00000"/>
                </a:solidFill>
                <a:effectLst/>
              </a:rPr>
              <a:t>single attribute on the right-hand side. </a:t>
            </a:r>
            <a:r>
              <a:rPr lang="en-US" b="0" i="0" dirty="0">
                <a:effectLst/>
              </a:rPr>
              <a:t>Decomposition of functional dependence as follows.</a:t>
            </a:r>
          </a:p>
          <a:p>
            <a:pPr algn="just"/>
            <a:r>
              <a:rPr lang="en-US" b="1" i="0" dirty="0">
                <a:effectLst/>
              </a:rPr>
              <a:t>FD 1:</a:t>
            </a:r>
            <a:r>
              <a:rPr lang="en-US" b="0" i="0" dirty="0">
                <a:effectLst/>
              </a:rPr>
              <a:t> Y -&gt; X</a:t>
            </a:r>
          </a:p>
          <a:p>
            <a:pPr algn="just"/>
            <a:r>
              <a:rPr lang="en-US" b="1" i="0" dirty="0">
                <a:effectLst/>
              </a:rPr>
              <a:t>FD 2:</a:t>
            </a:r>
            <a:r>
              <a:rPr lang="en-US" b="0" i="0" dirty="0">
                <a:effectLst/>
              </a:rPr>
              <a:t> XW -&gt; Z</a:t>
            </a:r>
          </a:p>
          <a:p>
            <a:pPr algn="just"/>
            <a:r>
              <a:rPr lang="en-US" b="1" i="0" dirty="0">
                <a:effectLst/>
              </a:rPr>
              <a:t>FD 3:</a:t>
            </a:r>
            <a:r>
              <a:rPr lang="en-US" b="0" i="0" dirty="0">
                <a:effectLst/>
              </a:rPr>
              <a:t> Z -&gt; X</a:t>
            </a:r>
          </a:p>
          <a:p>
            <a:pPr algn="just"/>
            <a:r>
              <a:rPr lang="en-US" b="1" i="0" dirty="0">
                <a:effectLst/>
              </a:rPr>
              <a:t>FD 4:</a:t>
            </a:r>
            <a:r>
              <a:rPr lang="en-US" b="0" i="0" dirty="0">
                <a:effectLst/>
              </a:rPr>
              <a:t> Z -&gt; Y</a:t>
            </a:r>
          </a:p>
          <a:p>
            <a:pPr algn="just"/>
            <a:r>
              <a:rPr lang="en-US" b="1" i="0" dirty="0">
                <a:effectLst/>
              </a:rPr>
              <a:t>FD 5:</a:t>
            </a:r>
            <a:r>
              <a:rPr lang="en-US" b="0" i="0" dirty="0">
                <a:effectLst/>
              </a:rPr>
              <a:t> Z -&gt; W</a:t>
            </a:r>
          </a:p>
          <a:p>
            <a:pPr algn="just"/>
            <a:endParaRPr lang="en-US" b="0" i="0" dirty="0">
              <a:solidFill>
                <a:srgbClr val="000099"/>
              </a:solidFill>
              <a:effectLst/>
            </a:endParaRPr>
          </a:p>
          <a:p>
            <a:pPr algn="just">
              <a:buFont typeface="Arial" panose="020B0604020202020204" pitchFamily="34" charset="0"/>
              <a:buChar char="•"/>
            </a:pPr>
            <a:endParaRPr lang="en-US" b="0" i="0" dirty="0">
              <a:effectLst/>
            </a:endParaRPr>
          </a:p>
          <a:p>
            <a:endParaRPr lang="en-US" dirty="0"/>
          </a:p>
        </p:txBody>
      </p:sp>
    </p:spTree>
    <p:extLst>
      <p:ext uri="{BB962C8B-B14F-4D97-AF65-F5344CB8AC3E}">
        <p14:creationId xmlns:p14="http://schemas.microsoft.com/office/powerpoint/2010/main" val="23595691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F3F675-0E90-5057-E115-BB17EA0F1B28}"/>
              </a:ext>
            </a:extLst>
          </p:cNvPr>
          <p:cNvSpPr>
            <a:spLocks noGrp="1"/>
          </p:cNvSpPr>
          <p:nvPr>
            <p:ph type="title"/>
          </p:nvPr>
        </p:nvSpPr>
        <p:spPr>
          <a:xfrm>
            <a:off x="434008" y="293756"/>
            <a:ext cx="10717696" cy="774562"/>
          </a:xfrm>
        </p:spPr>
        <p:txBody>
          <a:bodyPr>
            <a:normAutofit/>
          </a:bodyPr>
          <a:lstStyle/>
          <a:p>
            <a:r>
              <a:rPr lang="en-US" sz="3200" b="1" i="0" u="none" strike="noStrike" baseline="0" dirty="0">
                <a:latin typeface="+mn-lt"/>
              </a:rPr>
              <a:t>Minimal Cover /</a:t>
            </a:r>
            <a:r>
              <a:rPr lang="en-US" sz="3200" b="1" i="0" dirty="0">
                <a:effectLst/>
                <a:latin typeface="+mn-lt"/>
              </a:rPr>
              <a:t>Canonical Cover of Functional Dependency</a:t>
            </a:r>
            <a:endParaRPr lang="en-US" sz="3200" b="1" dirty="0">
              <a:latin typeface="+mn-lt"/>
            </a:endParaRPr>
          </a:p>
        </p:txBody>
      </p:sp>
      <p:sp>
        <p:nvSpPr>
          <p:cNvPr id="3" name="Content Placeholder 2">
            <a:extLst>
              <a:ext uri="{FF2B5EF4-FFF2-40B4-BE49-F238E27FC236}">
                <a16:creationId xmlns="" xmlns:a16="http://schemas.microsoft.com/office/drawing/2014/main" id="{FADFB3C8-5B2C-95AE-884D-1900149294DC}"/>
              </a:ext>
            </a:extLst>
          </p:cNvPr>
          <p:cNvSpPr>
            <a:spLocks noGrp="1"/>
          </p:cNvSpPr>
          <p:nvPr>
            <p:ph idx="1"/>
          </p:nvPr>
        </p:nvSpPr>
        <p:spPr>
          <a:xfrm>
            <a:off x="434007" y="874644"/>
            <a:ext cx="11545957" cy="5857460"/>
          </a:xfrm>
        </p:spPr>
        <p:txBody>
          <a:bodyPr>
            <a:normAutofit fontScale="92500" lnSpcReduction="10000"/>
          </a:bodyPr>
          <a:lstStyle/>
          <a:p>
            <a:pPr algn="just"/>
            <a:r>
              <a:rPr lang="en-US" b="1" i="0" dirty="0">
                <a:effectLst/>
              </a:rPr>
              <a:t>FD 1:</a:t>
            </a:r>
            <a:r>
              <a:rPr lang="en-US" b="0" i="0" dirty="0">
                <a:effectLst/>
              </a:rPr>
              <a:t> Y -&gt; X</a:t>
            </a:r>
          </a:p>
          <a:p>
            <a:pPr algn="just"/>
            <a:r>
              <a:rPr lang="en-US" b="1" i="0" dirty="0">
                <a:solidFill>
                  <a:srgbClr val="000099"/>
                </a:solidFill>
                <a:effectLst/>
              </a:rPr>
              <a:t>FD 2: XW -&gt; Z</a:t>
            </a:r>
          </a:p>
          <a:p>
            <a:pPr algn="just"/>
            <a:r>
              <a:rPr lang="en-US" b="1" i="0" dirty="0">
                <a:effectLst/>
              </a:rPr>
              <a:t>FD 3:</a:t>
            </a:r>
            <a:r>
              <a:rPr lang="en-US" b="0" i="0" dirty="0">
                <a:effectLst/>
              </a:rPr>
              <a:t> Z -&gt; X</a:t>
            </a:r>
          </a:p>
          <a:p>
            <a:pPr algn="just"/>
            <a:r>
              <a:rPr lang="en-US" b="1" i="0" dirty="0">
                <a:effectLst/>
              </a:rPr>
              <a:t>FD 4:</a:t>
            </a:r>
            <a:r>
              <a:rPr lang="en-US" b="0" i="0" dirty="0">
                <a:effectLst/>
              </a:rPr>
              <a:t> Z -&gt; Y</a:t>
            </a:r>
          </a:p>
          <a:p>
            <a:pPr algn="just"/>
            <a:r>
              <a:rPr lang="en-US" b="1" i="0" dirty="0">
                <a:effectLst/>
              </a:rPr>
              <a:t>FD 5:</a:t>
            </a:r>
            <a:r>
              <a:rPr lang="en-US" b="0" i="0" dirty="0">
                <a:effectLst/>
              </a:rPr>
              <a:t> Z -&gt; W</a:t>
            </a:r>
          </a:p>
          <a:p>
            <a:pPr algn="just"/>
            <a:r>
              <a:rPr lang="en-US" b="1" i="0" dirty="0">
                <a:effectLst/>
              </a:rPr>
              <a:t>Step 2:</a:t>
            </a:r>
            <a:endParaRPr lang="en-US" b="0" i="0" dirty="0">
              <a:effectLst/>
            </a:endParaRPr>
          </a:p>
          <a:p>
            <a:pPr algn="just"/>
            <a:r>
              <a:rPr lang="en-US" b="0" i="0" dirty="0">
                <a:effectLst/>
              </a:rPr>
              <a:t>In the second step, </a:t>
            </a:r>
            <a:r>
              <a:rPr lang="en-US" b="1" i="0" dirty="0">
                <a:solidFill>
                  <a:srgbClr val="000099"/>
                </a:solidFill>
                <a:effectLst/>
              </a:rPr>
              <a:t>we remove all irrelevant attributes from the left-hand side of functional dependencies by finding the closure as follows.</a:t>
            </a:r>
          </a:p>
          <a:p>
            <a:pPr algn="just"/>
            <a:r>
              <a:rPr lang="en-US" b="0" i="0" dirty="0">
                <a:effectLst/>
              </a:rPr>
              <a:t>Only one functional dependency </a:t>
            </a:r>
            <a:r>
              <a:rPr lang="en-US" b="0" i="0" dirty="0">
                <a:solidFill>
                  <a:srgbClr val="000099"/>
                </a:solidFill>
                <a:effectLst/>
              </a:rPr>
              <a:t>has two or more attributes that means XW -&gt; Z.</a:t>
            </a:r>
          </a:p>
          <a:p>
            <a:pPr algn="just"/>
            <a:r>
              <a:rPr lang="en-US" b="1" i="0" dirty="0">
                <a:solidFill>
                  <a:srgbClr val="000099"/>
                </a:solidFill>
                <a:effectLst/>
              </a:rPr>
              <a:t>{X}</a:t>
            </a:r>
            <a:r>
              <a:rPr lang="en-US" b="1" i="0" baseline="30000" dirty="0">
                <a:solidFill>
                  <a:srgbClr val="000099"/>
                </a:solidFill>
                <a:effectLst/>
              </a:rPr>
              <a:t>+</a:t>
            </a:r>
            <a:r>
              <a:rPr lang="en-US" b="1" i="0" dirty="0">
                <a:solidFill>
                  <a:srgbClr val="000099"/>
                </a:solidFill>
                <a:effectLst/>
              </a:rPr>
              <a:t> = {X}</a:t>
            </a:r>
            <a:endParaRPr lang="en-US" b="0" i="0" dirty="0">
              <a:solidFill>
                <a:srgbClr val="000099"/>
              </a:solidFill>
              <a:effectLst/>
            </a:endParaRPr>
          </a:p>
          <a:p>
            <a:pPr algn="just"/>
            <a:r>
              <a:rPr lang="en-US" b="1" i="0" dirty="0">
                <a:solidFill>
                  <a:srgbClr val="000099"/>
                </a:solidFill>
                <a:effectLst/>
              </a:rPr>
              <a:t>{W}</a:t>
            </a:r>
            <a:r>
              <a:rPr lang="en-US" b="1" i="0" baseline="30000" dirty="0">
                <a:solidFill>
                  <a:srgbClr val="000099"/>
                </a:solidFill>
                <a:effectLst/>
              </a:rPr>
              <a:t>+ </a:t>
            </a:r>
            <a:r>
              <a:rPr lang="en-US" b="1" i="0" dirty="0">
                <a:solidFill>
                  <a:srgbClr val="000099"/>
                </a:solidFill>
                <a:effectLst/>
              </a:rPr>
              <a:t>= {W}</a:t>
            </a:r>
            <a:endParaRPr lang="en-US" b="0" i="0" dirty="0">
              <a:solidFill>
                <a:srgbClr val="000099"/>
              </a:solidFill>
              <a:effectLst/>
            </a:endParaRPr>
          </a:p>
          <a:p>
            <a:pPr algn="just"/>
            <a:r>
              <a:rPr lang="en-US" b="1" i="0" dirty="0">
                <a:solidFill>
                  <a:srgbClr val="C00000"/>
                </a:solidFill>
                <a:effectLst/>
              </a:rPr>
              <a:t>In above both cases X can only determine X and W can only determine W, so no irrelevant attributes are present in the above functional dependencies</a:t>
            </a:r>
            <a:r>
              <a:rPr lang="en-US" b="0" i="0" dirty="0">
                <a:effectLst/>
              </a:rPr>
              <a:t> and functional dependencies will remain constant and will not be removed.</a:t>
            </a:r>
          </a:p>
          <a:p>
            <a:pPr algn="just"/>
            <a:endParaRPr lang="en-US" b="0" i="0" dirty="0">
              <a:solidFill>
                <a:srgbClr val="000099"/>
              </a:solidFill>
              <a:effectLst/>
            </a:endParaRPr>
          </a:p>
          <a:p>
            <a:pPr algn="just">
              <a:buFont typeface="Arial" panose="020B0604020202020204" pitchFamily="34" charset="0"/>
              <a:buChar char="•"/>
            </a:pPr>
            <a:endParaRPr lang="en-US" b="0" i="0" dirty="0">
              <a:effectLst/>
            </a:endParaRPr>
          </a:p>
          <a:p>
            <a:endParaRPr lang="en-US" dirty="0"/>
          </a:p>
        </p:txBody>
      </p:sp>
    </p:spTree>
    <p:extLst>
      <p:ext uri="{BB962C8B-B14F-4D97-AF65-F5344CB8AC3E}">
        <p14:creationId xmlns:p14="http://schemas.microsoft.com/office/powerpoint/2010/main" val="34419238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F3F675-0E90-5057-E115-BB17EA0F1B28}"/>
              </a:ext>
            </a:extLst>
          </p:cNvPr>
          <p:cNvSpPr>
            <a:spLocks noGrp="1"/>
          </p:cNvSpPr>
          <p:nvPr>
            <p:ph type="title"/>
          </p:nvPr>
        </p:nvSpPr>
        <p:spPr>
          <a:xfrm>
            <a:off x="434007" y="125896"/>
            <a:ext cx="10717696" cy="774562"/>
          </a:xfrm>
        </p:spPr>
        <p:txBody>
          <a:bodyPr>
            <a:normAutofit/>
          </a:bodyPr>
          <a:lstStyle/>
          <a:p>
            <a:r>
              <a:rPr lang="en-US" sz="3200" b="1" i="0" u="none" strike="noStrike" baseline="0" dirty="0">
                <a:latin typeface="+mn-lt"/>
              </a:rPr>
              <a:t>Minimal Cover /</a:t>
            </a:r>
            <a:r>
              <a:rPr lang="en-US" sz="3200" b="1" i="0" dirty="0">
                <a:effectLst/>
                <a:latin typeface="+mn-lt"/>
              </a:rPr>
              <a:t>Canonical Cover of Functional Dependency</a:t>
            </a:r>
            <a:endParaRPr lang="en-US" sz="3200" b="1" dirty="0">
              <a:latin typeface="+mn-lt"/>
            </a:endParaRPr>
          </a:p>
        </p:txBody>
      </p:sp>
      <p:sp>
        <p:nvSpPr>
          <p:cNvPr id="3" name="Content Placeholder 2">
            <a:extLst>
              <a:ext uri="{FF2B5EF4-FFF2-40B4-BE49-F238E27FC236}">
                <a16:creationId xmlns="" xmlns:a16="http://schemas.microsoft.com/office/drawing/2014/main" id="{FADFB3C8-5B2C-95AE-884D-1900149294DC}"/>
              </a:ext>
            </a:extLst>
          </p:cNvPr>
          <p:cNvSpPr>
            <a:spLocks noGrp="1"/>
          </p:cNvSpPr>
          <p:nvPr>
            <p:ph idx="1"/>
          </p:nvPr>
        </p:nvSpPr>
        <p:spPr>
          <a:xfrm>
            <a:off x="434007" y="874644"/>
            <a:ext cx="11545957" cy="5857460"/>
          </a:xfrm>
        </p:spPr>
        <p:txBody>
          <a:bodyPr>
            <a:normAutofit fontScale="85000" lnSpcReduction="20000"/>
          </a:bodyPr>
          <a:lstStyle/>
          <a:p>
            <a:pPr algn="l"/>
            <a:r>
              <a:rPr lang="en-US" b="1" i="0" dirty="0">
                <a:effectLst/>
              </a:rPr>
              <a:t>Step 3:</a:t>
            </a:r>
            <a:endParaRPr lang="en-US" b="0" i="0" dirty="0">
              <a:effectLst/>
            </a:endParaRPr>
          </a:p>
          <a:p>
            <a:pPr algn="l"/>
            <a:r>
              <a:rPr lang="en-US" b="0" i="0" dirty="0">
                <a:effectLst/>
              </a:rPr>
              <a:t>Remove all functional dependencies that having transitive relation.</a:t>
            </a:r>
          </a:p>
          <a:p>
            <a:pPr algn="l"/>
            <a:r>
              <a:rPr lang="en-US" b="1" i="0" dirty="0">
                <a:effectLst/>
              </a:rPr>
              <a:t>FD 1:</a:t>
            </a:r>
            <a:r>
              <a:rPr lang="en-US" b="0" i="0" dirty="0">
                <a:effectLst/>
              </a:rPr>
              <a:t> Y -&gt; X</a:t>
            </a:r>
          </a:p>
          <a:p>
            <a:pPr algn="l"/>
            <a:r>
              <a:rPr lang="en-US" b="1" i="0" dirty="0">
                <a:effectLst/>
              </a:rPr>
              <a:t>FD 2:</a:t>
            </a:r>
            <a:r>
              <a:rPr lang="en-US" b="0" i="0" dirty="0">
                <a:effectLst/>
              </a:rPr>
              <a:t> XW -&gt; Z</a:t>
            </a:r>
          </a:p>
          <a:p>
            <a:pPr algn="l"/>
            <a:r>
              <a:rPr lang="en-US" b="1" i="0" dirty="0">
                <a:solidFill>
                  <a:srgbClr val="000099"/>
                </a:solidFill>
                <a:effectLst/>
              </a:rPr>
              <a:t>FD 3: Z -&gt; X</a:t>
            </a:r>
          </a:p>
          <a:p>
            <a:pPr algn="l"/>
            <a:r>
              <a:rPr lang="en-US" b="1" i="0" dirty="0">
                <a:effectLst/>
              </a:rPr>
              <a:t>FD 4:</a:t>
            </a:r>
            <a:r>
              <a:rPr lang="en-US" b="0" i="0" dirty="0">
                <a:effectLst/>
              </a:rPr>
              <a:t> Z -&gt; Y</a:t>
            </a:r>
          </a:p>
          <a:p>
            <a:pPr algn="l"/>
            <a:r>
              <a:rPr lang="en-US" b="1" i="0" dirty="0">
                <a:effectLst/>
              </a:rPr>
              <a:t>FD 5:</a:t>
            </a:r>
            <a:r>
              <a:rPr lang="en-US" b="0" i="0" dirty="0">
                <a:effectLst/>
              </a:rPr>
              <a:t> Z -&gt; W</a:t>
            </a:r>
          </a:p>
          <a:p>
            <a:pPr algn="l"/>
            <a:r>
              <a:rPr lang="en-US" b="0" i="0" dirty="0">
                <a:effectLst/>
              </a:rPr>
              <a:t>After removing transitive relation the functional dependencies look as follows.</a:t>
            </a:r>
          </a:p>
          <a:p>
            <a:pPr algn="l"/>
            <a:r>
              <a:rPr lang="en-US" b="1" i="0" dirty="0">
                <a:effectLst/>
              </a:rPr>
              <a:t>FD 1:</a:t>
            </a:r>
            <a:r>
              <a:rPr lang="en-US" b="0" i="0" dirty="0">
                <a:effectLst/>
              </a:rPr>
              <a:t> Y -&gt; X</a:t>
            </a:r>
          </a:p>
          <a:p>
            <a:pPr algn="l"/>
            <a:r>
              <a:rPr lang="en-US" b="1" i="0" dirty="0">
                <a:effectLst/>
              </a:rPr>
              <a:t>FD 2:</a:t>
            </a:r>
            <a:r>
              <a:rPr lang="en-US" b="0" i="0" dirty="0">
                <a:effectLst/>
              </a:rPr>
              <a:t> Z -&gt; Y</a:t>
            </a:r>
          </a:p>
          <a:p>
            <a:pPr algn="l"/>
            <a:r>
              <a:rPr lang="en-US" b="1" i="0" dirty="0">
                <a:effectLst/>
              </a:rPr>
              <a:t>FD 3:</a:t>
            </a:r>
            <a:r>
              <a:rPr lang="en-US" b="0" i="0" dirty="0">
                <a:effectLst/>
              </a:rPr>
              <a:t> XW -&gt; Z</a:t>
            </a:r>
          </a:p>
          <a:p>
            <a:pPr algn="l"/>
            <a:r>
              <a:rPr lang="en-US" b="1" i="0" dirty="0">
                <a:effectLst/>
              </a:rPr>
              <a:t>FD 4:</a:t>
            </a:r>
            <a:r>
              <a:rPr lang="en-US" b="0" i="0" dirty="0">
                <a:effectLst/>
              </a:rPr>
              <a:t> Z -&gt; W</a:t>
            </a:r>
          </a:p>
          <a:p>
            <a:pPr algn="l"/>
            <a:r>
              <a:rPr lang="en-US" b="0" i="0" dirty="0">
                <a:effectLst/>
              </a:rPr>
              <a:t>We combine 2 and 4 functional dependencies together </a:t>
            </a:r>
            <a:r>
              <a:rPr lang="en-US" b="1" i="0" dirty="0">
                <a:solidFill>
                  <a:srgbClr val="000099"/>
                </a:solidFill>
                <a:effectLst/>
              </a:rPr>
              <a:t>now the canonical cover of the above relation R(X, Y, Z, W) is {Y -&gt; X, Z -&gt;YW, XW -&gt; Z}</a:t>
            </a:r>
          </a:p>
          <a:p>
            <a:pPr algn="l"/>
            <a:r>
              <a:rPr lang="en-US" b="0" i="0" dirty="0">
                <a:effectLst/>
              </a:rPr>
              <a:t>With the help of normal form, we can implement canonical cover.</a:t>
            </a:r>
          </a:p>
          <a:p>
            <a:pPr algn="just"/>
            <a:endParaRPr lang="en-US" b="0" i="0" dirty="0">
              <a:solidFill>
                <a:srgbClr val="000099"/>
              </a:solidFill>
              <a:effectLst/>
            </a:endParaRPr>
          </a:p>
          <a:p>
            <a:pPr algn="just">
              <a:buFont typeface="Arial" panose="020B0604020202020204" pitchFamily="34" charset="0"/>
              <a:buChar char="•"/>
            </a:pPr>
            <a:endParaRPr lang="en-US" b="0" i="0" dirty="0">
              <a:effectLst/>
            </a:endParaRPr>
          </a:p>
          <a:p>
            <a:endParaRPr lang="en-US" dirty="0"/>
          </a:p>
        </p:txBody>
      </p:sp>
    </p:spTree>
    <p:extLst>
      <p:ext uri="{BB962C8B-B14F-4D97-AF65-F5344CB8AC3E}">
        <p14:creationId xmlns:p14="http://schemas.microsoft.com/office/powerpoint/2010/main" val="839128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0C0884-4DF5-F31D-A04B-EC42143A2037}"/>
              </a:ext>
            </a:extLst>
          </p:cNvPr>
          <p:cNvSpPr>
            <a:spLocks noGrp="1"/>
          </p:cNvSpPr>
          <p:nvPr>
            <p:ph type="title"/>
          </p:nvPr>
        </p:nvSpPr>
        <p:spPr>
          <a:xfrm>
            <a:off x="838200" y="365126"/>
            <a:ext cx="10515600" cy="766486"/>
          </a:xfrm>
        </p:spPr>
        <p:txBody>
          <a:bodyPr>
            <a:normAutofit/>
          </a:bodyPr>
          <a:lstStyle/>
          <a:p>
            <a:r>
              <a:rPr lang="en-US" sz="4000" b="1" i="0" u="none" strike="noStrike" baseline="0" dirty="0">
                <a:latin typeface="+mn-lt"/>
              </a:rPr>
              <a:t>Decomposition Properties</a:t>
            </a:r>
            <a:endParaRPr lang="en-US" sz="4000" b="1" dirty="0">
              <a:latin typeface="+mn-lt"/>
            </a:endParaRPr>
          </a:p>
        </p:txBody>
      </p:sp>
      <p:sp>
        <p:nvSpPr>
          <p:cNvPr id="3" name="Content Placeholder 2">
            <a:extLst>
              <a:ext uri="{FF2B5EF4-FFF2-40B4-BE49-F238E27FC236}">
                <a16:creationId xmlns="" xmlns:a16="http://schemas.microsoft.com/office/drawing/2014/main" id="{AC437119-7A6F-73DD-B29F-D225278F190C}"/>
              </a:ext>
            </a:extLst>
          </p:cNvPr>
          <p:cNvSpPr>
            <a:spLocks noGrp="1"/>
          </p:cNvSpPr>
          <p:nvPr>
            <p:ph idx="1"/>
          </p:nvPr>
        </p:nvSpPr>
        <p:spPr>
          <a:xfrm>
            <a:off x="400878" y="1375051"/>
            <a:ext cx="11512826" cy="4351338"/>
          </a:xfrm>
        </p:spPr>
        <p:txBody>
          <a:bodyPr>
            <a:normAutofit/>
          </a:bodyPr>
          <a:lstStyle/>
          <a:p>
            <a:pPr algn="just"/>
            <a:r>
              <a:rPr lang="en-US" b="0" i="0" dirty="0">
                <a:solidFill>
                  <a:srgbClr val="273239"/>
                </a:solidFill>
                <a:effectLst/>
              </a:rPr>
              <a:t>When a relation in the relational model is not appropriate normal form then the decomposition of a relation is required. </a:t>
            </a:r>
          </a:p>
          <a:p>
            <a:pPr algn="just"/>
            <a:r>
              <a:rPr lang="en-US" b="0" i="0" dirty="0">
                <a:solidFill>
                  <a:srgbClr val="273239"/>
                </a:solidFill>
                <a:effectLst/>
              </a:rPr>
              <a:t>In a database, </a:t>
            </a:r>
            <a:r>
              <a:rPr lang="en-US" b="1" i="0" dirty="0">
                <a:solidFill>
                  <a:srgbClr val="000099"/>
                </a:solidFill>
                <a:effectLst/>
              </a:rPr>
              <a:t>breaking down the table into multiple tables termed as decomposition.</a:t>
            </a:r>
          </a:p>
          <a:p>
            <a:pPr algn="just">
              <a:buFont typeface="Arial" panose="020B0604020202020204" pitchFamily="34" charset="0"/>
              <a:buChar char="•"/>
            </a:pPr>
            <a:r>
              <a:rPr lang="en-US" b="0" i="0" dirty="0" smtClean="0">
                <a:solidFill>
                  <a:srgbClr val="000000"/>
                </a:solidFill>
                <a:effectLst/>
              </a:rPr>
              <a:t>Decomposition </a:t>
            </a:r>
            <a:r>
              <a:rPr lang="en-US" b="0" i="0" dirty="0">
                <a:solidFill>
                  <a:srgbClr val="000000"/>
                </a:solidFill>
                <a:effectLst/>
              </a:rPr>
              <a:t>is </a:t>
            </a:r>
            <a:r>
              <a:rPr lang="en-US" b="1" i="0" dirty="0">
                <a:solidFill>
                  <a:srgbClr val="000099"/>
                </a:solidFill>
                <a:effectLst/>
              </a:rPr>
              <a:t>used to eliminate some of the problems of bad design like anomalies, inconsistencies, and redundancy</a:t>
            </a:r>
            <a:r>
              <a:rPr lang="en-US" b="1" i="0" dirty="0" smtClean="0">
                <a:solidFill>
                  <a:srgbClr val="000099"/>
                </a:solidFill>
                <a:effectLst/>
              </a:rPr>
              <a:t>.</a:t>
            </a:r>
          </a:p>
          <a:p>
            <a:pPr algn="just"/>
            <a:r>
              <a:rPr lang="en-US" dirty="0">
                <a:solidFill>
                  <a:srgbClr val="000000"/>
                </a:solidFill>
              </a:rPr>
              <a:t>If the relation has no proper decomposition, then it may lead to problems like loss of information.</a:t>
            </a:r>
          </a:p>
          <a:p>
            <a:pPr algn="just">
              <a:buFont typeface="Arial" panose="020B0604020202020204" pitchFamily="34" charset="0"/>
              <a:buChar char="•"/>
            </a:pPr>
            <a:endParaRPr lang="en-US" b="1" i="0" dirty="0">
              <a:solidFill>
                <a:srgbClr val="000099"/>
              </a:solidFill>
              <a:effectLst/>
            </a:endParaRPr>
          </a:p>
          <a:p>
            <a:endParaRPr lang="en-US" dirty="0"/>
          </a:p>
        </p:txBody>
      </p:sp>
    </p:spTree>
    <p:extLst>
      <p:ext uri="{BB962C8B-B14F-4D97-AF65-F5344CB8AC3E}">
        <p14:creationId xmlns:p14="http://schemas.microsoft.com/office/powerpoint/2010/main" val="18602341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0C0884-4DF5-F31D-A04B-EC42143A2037}"/>
              </a:ext>
            </a:extLst>
          </p:cNvPr>
          <p:cNvSpPr>
            <a:spLocks noGrp="1"/>
          </p:cNvSpPr>
          <p:nvPr>
            <p:ph type="title"/>
          </p:nvPr>
        </p:nvSpPr>
        <p:spPr>
          <a:xfrm>
            <a:off x="0" y="49488"/>
            <a:ext cx="10515600" cy="927997"/>
          </a:xfrm>
        </p:spPr>
        <p:txBody>
          <a:bodyPr>
            <a:normAutofit/>
          </a:bodyPr>
          <a:lstStyle/>
          <a:p>
            <a:r>
              <a:rPr lang="en-US" sz="4000" b="1" i="0" u="none" strike="noStrike" baseline="0" dirty="0">
                <a:latin typeface="+mn-lt"/>
              </a:rPr>
              <a:t>Decomposition Properties</a:t>
            </a:r>
            <a:endParaRPr lang="en-US" sz="4000" b="1" dirty="0">
              <a:latin typeface="+mn-lt"/>
            </a:endParaRPr>
          </a:p>
        </p:txBody>
      </p:sp>
      <p:sp>
        <p:nvSpPr>
          <p:cNvPr id="3" name="Content Placeholder 2">
            <a:extLst>
              <a:ext uri="{FF2B5EF4-FFF2-40B4-BE49-F238E27FC236}">
                <a16:creationId xmlns="" xmlns:a16="http://schemas.microsoft.com/office/drawing/2014/main" id="{AC437119-7A6F-73DD-B29F-D225278F190C}"/>
              </a:ext>
            </a:extLst>
          </p:cNvPr>
          <p:cNvSpPr>
            <a:spLocks noGrp="1"/>
          </p:cNvSpPr>
          <p:nvPr>
            <p:ph idx="1"/>
          </p:nvPr>
        </p:nvSpPr>
        <p:spPr>
          <a:xfrm>
            <a:off x="200439" y="977485"/>
            <a:ext cx="5284305" cy="5622097"/>
          </a:xfrm>
        </p:spPr>
        <p:txBody>
          <a:bodyPr>
            <a:normAutofit/>
          </a:bodyPr>
          <a:lstStyle/>
          <a:p>
            <a:pPr algn="just"/>
            <a:r>
              <a:rPr lang="en-US" b="1" i="0" dirty="0">
                <a:solidFill>
                  <a:srgbClr val="610B4B"/>
                </a:solidFill>
                <a:effectLst/>
              </a:rPr>
              <a:t>Lossless Decomposition</a:t>
            </a:r>
          </a:p>
          <a:p>
            <a:pPr algn="just">
              <a:buFont typeface="Arial" panose="020B0604020202020204" pitchFamily="34" charset="0"/>
              <a:buChar char="•"/>
            </a:pPr>
            <a:r>
              <a:rPr lang="en-US" b="1" i="0" dirty="0">
                <a:solidFill>
                  <a:srgbClr val="000099"/>
                </a:solidFill>
                <a:effectLst/>
              </a:rPr>
              <a:t>If the information is not lost from the relation that is decomposed, then the decomposition will be lossless.</a:t>
            </a:r>
          </a:p>
          <a:p>
            <a:pPr algn="just">
              <a:buFont typeface="Arial" panose="020B0604020202020204" pitchFamily="34" charset="0"/>
              <a:buChar char="•"/>
            </a:pPr>
            <a:r>
              <a:rPr lang="en-US" b="0" i="0" dirty="0">
                <a:solidFill>
                  <a:srgbClr val="000000"/>
                </a:solidFill>
                <a:effectLst/>
              </a:rPr>
              <a:t>The lossless decomposition guarantees that the join of relations will result in the same relation as it was decomposed.</a:t>
            </a:r>
          </a:p>
          <a:p>
            <a:pPr algn="just">
              <a:buFont typeface="Arial" panose="020B0604020202020204" pitchFamily="34" charset="0"/>
              <a:buChar char="•"/>
            </a:pPr>
            <a:r>
              <a:rPr lang="en-US" b="0" i="0" dirty="0">
                <a:solidFill>
                  <a:srgbClr val="FF0000"/>
                </a:solidFill>
                <a:effectLst/>
              </a:rPr>
              <a:t>The relation is said to be lossless decomposition if natural joins of all the decomposition give the original relation.</a:t>
            </a:r>
          </a:p>
          <a:p>
            <a:endParaRPr lang="en-US" dirty="0"/>
          </a:p>
        </p:txBody>
      </p:sp>
      <p:graphicFrame>
        <p:nvGraphicFramePr>
          <p:cNvPr id="4" name="Table 3">
            <a:extLst>
              <a:ext uri="{FF2B5EF4-FFF2-40B4-BE49-F238E27FC236}">
                <a16:creationId xmlns="" xmlns:a16="http://schemas.microsoft.com/office/drawing/2014/main" id="{F2CEADC8-A647-45FB-286B-384D25127B20}"/>
              </a:ext>
            </a:extLst>
          </p:cNvPr>
          <p:cNvGraphicFramePr>
            <a:graphicFrameLocks noGrp="1"/>
          </p:cNvGraphicFramePr>
          <p:nvPr>
            <p:extLst>
              <p:ext uri="{D42A27DB-BD31-4B8C-83A1-F6EECF244321}">
                <p14:modId xmlns:p14="http://schemas.microsoft.com/office/powerpoint/2010/main" val="2331175120"/>
              </p:ext>
            </p:extLst>
          </p:nvPr>
        </p:nvGraphicFramePr>
        <p:xfrm>
          <a:off x="5685183" y="49488"/>
          <a:ext cx="6175513" cy="2118360"/>
        </p:xfrm>
        <a:graphic>
          <a:graphicData uri="http://schemas.openxmlformats.org/drawingml/2006/table">
            <a:tbl>
              <a:tblPr/>
              <a:tblGrid>
                <a:gridCol w="861391">
                  <a:extLst>
                    <a:ext uri="{9D8B030D-6E8A-4147-A177-3AD203B41FA5}">
                      <a16:colId xmlns="" xmlns:a16="http://schemas.microsoft.com/office/drawing/2014/main" val="650358728"/>
                    </a:ext>
                  </a:extLst>
                </a:gridCol>
                <a:gridCol w="1192695">
                  <a:extLst>
                    <a:ext uri="{9D8B030D-6E8A-4147-A177-3AD203B41FA5}">
                      <a16:colId xmlns="" xmlns:a16="http://schemas.microsoft.com/office/drawing/2014/main" val="2171667572"/>
                    </a:ext>
                  </a:extLst>
                </a:gridCol>
                <a:gridCol w="1007166">
                  <a:extLst>
                    <a:ext uri="{9D8B030D-6E8A-4147-A177-3AD203B41FA5}">
                      <a16:colId xmlns="" xmlns:a16="http://schemas.microsoft.com/office/drawing/2014/main" val="884207910"/>
                    </a:ext>
                  </a:extLst>
                </a:gridCol>
                <a:gridCol w="1033669">
                  <a:extLst>
                    <a:ext uri="{9D8B030D-6E8A-4147-A177-3AD203B41FA5}">
                      <a16:colId xmlns="" xmlns:a16="http://schemas.microsoft.com/office/drawing/2014/main" val="4264350180"/>
                    </a:ext>
                  </a:extLst>
                </a:gridCol>
                <a:gridCol w="861392">
                  <a:extLst>
                    <a:ext uri="{9D8B030D-6E8A-4147-A177-3AD203B41FA5}">
                      <a16:colId xmlns="" xmlns:a16="http://schemas.microsoft.com/office/drawing/2014/main" val="4241396106"/>
                    </a:ext>
                  </a:extLst>
                </a:gridCol>
                <a:gridCol w="1219200">
                  <a:extLst>
                    <a:ext uri="{9D8B030D-6E8A-4147-A177-3AD203B41FA5}">
                      <a16:colId xmlns="" xmlns:a16="http://schemas.microsoft.com/office/drawing/2014/main" val="2283725219"/>
                    </a:ext>
                  </a:extLst>
                </a:gridCol>
              </a:tblGrid>
              <a:tr h="0">
                <a:tc>
                  <a:txBody>
                    <a:bodyPr/>
                    <a:lstStyle/>
                    <a:p>
                      <a:pPr algn="l" fontAlgn="t"/>
                      <a:r>
                        <a:rPr lang="en-US" sz="1400" b="1" dirty="0">
                          <a:solidFill>
                            <a:srgbClr val="000099"/>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400" b="1" dirty="0">
                          <a:solidFill>
                            <a:srgbClr val="000099"/>
                          </a:solidFill>
                          <a:effectLst/>
                          <a:latin typeface="+mn-lt"/>
                        </a:rPr>
                        <a:t>EMP_NAME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400" b="1" dirty="0">
                          <a:solidFill>
                            <a:srgbClr val="000099"/>
                          </a:solidFill>
                          <a:effectLst/>
                          <a:latin typeface="+mn-lt"/>
                        </a:rPr>
                        <a:t>EMP_AGE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400" b="1" dirty="0">
                          <a:solidFill>
                            <a:srgbClr val="000099"/>
                          </a:solidFill>
                          <a:effectLst/>
                          <a:latin typeface="+mn-lt"/>
                        </a:rPr>
                        <a:t>EMP_CITY</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400" b="1" dirty="0">
                          <a:solidFill>
                            <a:srgbClr val="000099"/>
                          </a:solidFill>
                          <a:effectLst/>
                          <a:latin typeface="+mn-lt"/>
                        </a:rPr>
                        <a:t>DEPT_ID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400" b="1" dirty="0">
                          <a:solidFill>
                            <a:srgbClr val="000099"/>
                          </a:solidFill>
                          <a:effectLst/>
                          <a:latin typeface="+mn-lt"/>
                        </a:rPr>
                        <a:t>DEPT_NAME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2520342730"/>
                  </a:ext>
                </a:extLst>
              </a:tr>
              <a:tr h="0">
                <a:tc>
                  <a:txBody>
                    <a:bodyPr/>
                    <a:lstStyle/>
                    <a:p>
                      <a:pPr algn="just" fontAlgn="t"/>
                      <a:r>
                        <a:rPr lang="en-US" sz="1200">
                          <a:solidFill>
                            <a:srgbClr val="333333"/>
                          </a:solidFill>
                          <a:effectLst/>
                          <a:latin typeface="+mn-lt"/>
                        </a:rPr>
                        <a:t>22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Denim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28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Mumbai</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827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Sales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722273644"/>
                  </a:ext>
                </a:extLst>
              </a:tr>
              <a:tr h="0">
                <a:tc>
                  <a:txBody>
                    <a:bodyPr/>
                    <a:lstStyle/>
                    <a:p>
                      <a:pPr algn="just" fontAlgn="t"/>
                      <a:r>
                        <a:rPr lang="en-US" sz="1200">
                          <a:solidFill>
                            <a:srgbClr val="333333"/>
                          </a:solidFill>
                          <a:effectLst/>
                          <a:latin typeface="+mn-lt"/>
                        </a:rPr>
                        <a:t>33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Alina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25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a:solidFill>
                            <a:srgbClr val="333333"/>
                          </a:solidFill>
                          <a:effectLst/>
                          <a:latin typeface="+mn-lt"/>
                        </a:rPr>
                        <a:t>Delhi</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a:solidFill>
                            <a:srgbClr val="333333"/>
                          </a:solidFill>
                          <a:effectLst/>
                          <a:latin typeface="+mn-lt"/>
                        </a:rPr>
                        <a:t>438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a:solidFill>
                            <a:srgbClr val="333333"/>
                          </a:solidFill>
                          <a:effectLst/>
                          <a:latin typeface="+mn-lt"/>
                        </a:rPr>
                        <a:t>Marketing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1649028996"/>
                  </a:ext>
                </a:extLst>
              </a:tr>
              <a:tr h="0">
                <a:tc>
                  <a:txBody>
                    <a:bodyPr/>
                    <a:lstStyle/>
                    <a:p>
                      <a:pPr algn="just" fontAlgn="t"/>
                      <a:r>
                        <a:rPr lang="en-US" sz="1200">
                          <a:solidFill>
                            <a:srgbClr val="333333"/>
                          </a:solidFill>
                          <a:effectLst/>
                          <a:latin typeface="+mn-lt"/>
                        </a:rPr>
                        <a:t>46</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Stephan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30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Bangalore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869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Finance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94820391"/>
                  </a:ext>
                </a:extLst>
              </a:tr>
              <a:tr h="0">
                <a:tc>
                  <a:txBody>
                    <a:bodyPr/>
                    <a:lstStyle/>
                    <a:p>
                      <a:pPr algn="just" fontAlgn="t"/>
                      <a:r>
                        <a:rPr lang="en-US" sz="1200">
                          <a:solidFill>
                            <a:srgbClr val="333333"/>
                          </a:solidFill>
                          <a:effectLst/>
                          <a:latin typeface="+mn-lt"/>
                        </a:rPr>
                        <a:t>52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a:solidFill>
                            <a:srgbClr val="333333"/>
                          </a:solidFill>
                          <a:effectLst/>
                          <a:latin typeface="+mn-lt"/>
                        </a:rPr>
                        <a:t>Katherine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36</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Mumbai</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575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200" dirty="0">
                          <a:solidFill>
                            <a:srgbClr val="333333"/>
                          </a:solidFill>
                          <a:effectLst/>
                          <a:latin typeface="+mn-lt"/>
                        </a:rPr>
                        <a:t>Production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4064227526"/>
                  </a:ext>
                </a:extLst>
              </a:tr>
              <a:tr h="0">
                <a:tc>
                  <a:txBody>
                    <a:bodyPr/>
                    <a:lstStyle/>
                    <a:p>
                      <a:pPr algn="just" fontAlgn="t"/>
                      <a:r>
                        <a:rPr lang="en-US" sz="1200">
                          <a:solidFill>
                            <a:srgbClr val="333333"/>
                          </a:solidFill>
                          <a:effectLst/>
                          <a:latin typeface="+mn-lt"/>
                        </a:rPr>
                        <a:t>60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Jack</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a:solidFill>
                            <a:srgbClr val="333333"/>
                          </a:solidFill>
                          <a:effectLst/>
                          <a:latin typeface="+mn-lt"/>
                        </a:rPr>
                        <a:t>40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Noida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678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200" dirty="0">
                          <a:solidFill>
                            <a:srgbClr val="333333"/>
                          </a:solidFill>
                          <a:effectLst/>
                          <a:latin typeface="+mn-lt"/>
                        </a:rPr>
                        <a:t>Testing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815605289"/>
                  </a:ext>
                </a:extLst>
              </a:tr>
            </a:tbl>
          </a:graphicData>
        </a:graphic>
      </p:graphicFrame>
      <p:graphicFrame>
        <p:nvGraphicFramePr>
          <p:cNvPr id="5" name="Table 4">
            <a:extLst>
              <a:ext uri="{FF2B5EF4-FFF2-40B4-BE49-F238E27FC236}">
                <a16:creationId xmlns="" xmlns:a16="http://schemas.microsoft.com/office/drawing/2014/main" id="{70CF7F43-CE5C-2122-5DB7-3C0D4F275033}"/>
              </a:ext>
            </a:extLst>
          </p:cNvPr>
          <p:cNvGraphicFramePr>
            <a:graphicFrameLocks noGrp="1"/>
          </p:cNvGraphicFramePr>
          <p:nvPr>
            <p:extLst>
              <p:ext uri="{D42A27DB-BD31-4B8C-83A1-F6EECF244321}">
                <p14:modId xmlns:p14="http://schemas.microsoft.com/office/powerpoint/2010/main" val="2620400660"/>
              </p:ext>
            </p:extLst>
          </p:nvPr>
        </p:nvGraphicFramePr>
        <p:xfrm>
          <a:off x="5645989" y="2160567"/>
          <a:ext cx="5763571" cy="2301240"/>
        </p:xfrm>
        <a:graphic>
          <a:graphicData uri="http://schemas.openxmlformats.org/drawingml/2006/table">
            <a:tbl>
              <a:tblPr/>
              <a:tblGrid>
                <a:gridCol w="1165067">
                  <a:extLst>
                    <a:ext uri="{9D8B030D-6E8A-4147-A177-3AD203B41FA5}">
                      <a16:colId xmlns="" xmlns:a16="http://schemas.microsoft.com/office/drawing/2014/main" val="891075981"/>
                    </a:ext>
                  </a:extLst>
                </a:gridCol>
                <a:gridCol w="1630017">
                  <a:extLst>
                    <a:ext uri="{9D8B030D-6E8A-4147-A177-3AD203B41FA5}">
                      <a16:colId xmlns="" xmlns:a16="http://schemas.microsoft.com/office/drawing/2014/main" val="3143317662"/>
                    </a:ext>
                  </a:extLst>
                </a:gridCol>
                <a:gridCol w="1497496">
                  <a:extLst>
                    <a:ext uri="{9D8B030D-6E8A-4147-A177-3AD203B41FA5}">
                      <a16:colId xmlns="" xmlns:a16="http://schemas.microsoft.com/office/drawing/2014/main" val="2916668501"/>
                    </a:ext>
                  </a:extLst>
                </a:gridCol>
                <a:gridCol w="1470991">
                  <a:extLst>
                    <a:ext uri="{9D8B030D-6E8A-4147-A177-3AD203B41FA5}">
                      <a16:colId xmlns="" xmlns:a16="http://schemas.microsoft.com/office/drawing/2014/main" val="1256274217"/>
                    </a:ext>
                  </a:extLst>
                </a:gridCol>
              </a:tblGrid>
              <a:tr h="0">
                <a:tc>
                  <a:txBody>
                    <a:bodyPr/>
                    <a:lstStyle/>
                    <a:p>
                      <a:pPr algn="l" fontAlgn="t"/>
                      <a:r>
                        <a:rPr lang="en-US" sz="1600" b="1" dirty="0">
                          <a:solidFill>
                            <a:srgbClr val="000099"/>
                          </a:solidFill>
                          <a:effectLst/>
                          <a:latin typeface="+mn-lt"/>
                        </a:rPr>
                        <a:t>EMP_ID</a:t>
                      </a:r>
                    </a:p>
                  </a:txBody>
                  <a:tcPr marL="114300" marR="114300" marT="114300" marB="114300">
                    <a:lnL w="9525" cap="flat" cmpd="sng" algn="ctr">
                      <a:solidFill>
                        <a:srgbClr val="10FD7A"/>
                      </a:solidFill>
                      <a:prstDash val="solid"/>
                      <a:round/>
                      <a:headEnd type="none" w="med" len="med"/>
                      <a:tailEnd type="none" w="med" len="med"/>
                    </a:lnL>
                    <a:lnR w="9525" cap="flat" cmpd="sng" algn="ctr">
                      <a:solidFill>
                        <a:srgbClr val="10FD7A"/>
                      </a:solidFill>
                      <a:prstDash val="solid"/>
                      <a:round/>
                      <a:headEnd type="none" w="med" len="med"/>
                      <a:tailEnd type="none" w="med" len="med"/>
                    </a:lnR>
                    <a:lnT w="9525" cap="flat" cmpd="sng" algn="ctr">
                      <a:solidFill>
                        <a:srgbClr val="10FD7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99"/>
                          </a:solidFill>
                          <a:effectLst/>
                          <a:latin typeface="+mn-lt"/>
                        </a:rPr>
                        <a:t>EMP_NAME</a:t>
                      </a:r>
                    </a:p>
                  </a:txBody>
                  <a:tcPr marL="114300" marR="114300" marT="114300" marB="114300">
                    <a:lnL w="9525" cap="flat" cmpd="sng" algn="ctr">
                      <a:solidFill>
                        <a:srgbClr val="10FD7A"/>
                      </a:solidFill>
                      <a:prstDash val="solid"/>
                      <a:round/>
                      <a:headEnd type="none" w="med" len="med"/>
                      <a:tailEnd type="none" w="med" len="med"/>
                    </a:lnL>
                    <a:lnR w="9525" cap="flat" cmpd="sng" algn="ctr">
                      <a:solidFill>
                        <a:srgbClr val="10FD7A"/>
                      </a:solidFill>
                      <a:prstDash val="solid"/>
                      <a:round/>
                      <a:headEnd type="none" w="med" len="med"/>
                      <a:tailEnd type="none" w="med" len="med"/>
                    </a:lnR>
                    <a:lnT w="9525" cap="flat" cmpd="sng" algn="ctr">
                      <a:solidFill>
                        <a:srgbClr val="10FD7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99"/>
                          </a:solidFill>
                          <a:effectLst/>
                          <a:latin typeface="+mn-lt"/>
                        </a:rPr>
                        <a:t>EMP_AGE</a:t>
                      </a:r>
                    </a:p>
                  </a:txBody>
                  <a:tcPr marL="114300" marR="114300" marT="114300" marB="114300">
                    <a:lnL w="9525" cap="flat" cmpd="sng" algn="ctr">
                      <a:solidFill>
                        <a:srgbClr val="10FD7A"/>
                      </a:solidFill>
                      <a:prstDash val="solid"/>
                      <a:round/>
                      <a:headEnd type="none" w="med" len="med"/>
                      <a:tailEnd type="none" w="med" len="med"/>
                    </a:lnL>
                    <a:lnR w="9525" cap="flat" cmpd="sng" algn="ctr">
                      <a:solidFill>
                        <a:srgbClr val="10FD7A"/>
                      </a:solidFill>
                      <a:prstDash val="solid"/>
                      <a:round/>
                      <a:headEnd type="none" w="med" len="med"/>
                      <a:tailEnd type="none" w="med" len="med"/>
                    </a:lnR>
                    <a:lnT w="9525" cap="flat" cmpd="sng" algn="ctr">
                      <a:solidFill>
                        <a:srgbClr val="10FD7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99"/>
                          </a:solidFill>
                          <a:effectLst/>
                          <a:latin typeface="+mn-lt"/>
                        </a:rPr>
                        <a:t>EMP_CITY</a:t>
                      </a:r>
                    </a:p>
                  </a:txBody>
                  <a:tcPr marL="114300" marR="114300" marT="114300" marB="114300">
                    <a:lnL w="9525" cap="flat" cmpd="sng" algn="ctr">
                      <a:solidFill>
                        <a:srgbClr val="10FD7A"/>
                      </a:solidFill>
                      <a:prstDash val="solid"/>
                      <a:round/>
                      <a:headEnd type="none" w="med" len="med"/>
                      <a:tailEnd type="none" w="med" len="med"/>
                    </a:lnL>
                    <a:lnR w="9525" cap="flat" cmpd="sng" algn="ctr">
                      <a:solidFill>
                        <a:srgbClr val="10FD7A"/>
                      </a:solidFill>
                      <a:prstDash val="solid"/>
                      <a:round/>
                      <a:headEnd type="none" w="med" len="med"/>
                      <a:tailEnd type="none" w="med" len="med"/>
                    </a:lnR>
                    <a:lnT w="9525" cap="flat" cmpd="sng" algn="ctr">
                      <a:solidFill>
                        <a:srgbClr val="10FD7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528978232"/>
                  </a:ext>
                </a:extLst>
              </a:tr>
              <a:tr h="0">
                <a:tc>
                  <a:txBody>
                    <a:bodyPr/>
                    <a:lstStyle/>
                    <a:p>
                      <a:pPr algn="just" fontAlgn="t"/>
                      <a:r>
                        <a:rPr lang="en-US" sz="1400" dirty="0">
                          <a:solidFill>
                            <a:srgbClr val="333333"/>
                          </a:solidFill>
                          <a:effectLst/>
                          <a:latin typeface="+mn-lt"/>
                        </a:rPr>
                        <a:t>22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mn-lt"/>
                        </a:rPr>
                        <a:t>Denim</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mn-lt"/>
                        </a:rPr>
                        <a:t>28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mn-lt"/>
                        </a:rPr>
                        <a:t>Mumbai</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338374735"/>
                  </a:ext>
                </a:extLst>
              </a:tr>
              <a:tr h="0">
                <a:tc>
                  <a:txBody>
                    <a:bodyPr/>
                    <a:lstStyle/>
                    <a:p>
                      <a:pPr algn="just" fontAlgn="t"/>
                      <a:r>
                        <a:rPr lang="en-US" sz="1400" dirty="0">
                          <a:solidFill>
                            <a:srgbClr val="333333"/>
                          </a:solidFill>
                          <a:effectLst/>
                          <a:latin typeface="+mn-lt"/>
                        </a:rPr>
                        <a:t>33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mn-lt"/>
                        </a:rPr>
                        <a:t>Alina</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mn-lt"/>
                        </a:rPr>
                        <a:t>25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mn-lt"/>
                        </a:rPr>
                        <a:t>Delhi</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910902682"/>
                  </a:ext>
                </a:extLst>
              </a:tr>
              <a:tr h="0">
                <a:tc>
                  <a:txBody>
                    <a:bodyPr/>
                    <a:lstStyle/>
                    <a:p>
                      <a:pPr algn="just" fontAlgn="t"/>
                      <a:r>
                        <a:rPr lang="en-US" sz="1400" dirty="0">
                          <a:solidFill>
                            <a:srgbClr val="333333"/>
                          </a:solidFill>
                          <a:effectLst/>
                          <a:latin typeface="+mn-lt"/>
                        </a:rPr>
                        <a:t>46</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mn-lt"/>
                        </a:rPr>
                        <a:t>Stephan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mn-lt"/>
                        </a:rPr>
                        <a:t>30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mn-lt"/>
                        </a:rPr>
                        <a:t>Bangalore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185611895"/>
                  </a:ext>
                </a:extLst>
              </a:tr>
              <a:tr h="0">
                <a:tc>
                  <a:txBody>
                    <a:bodyPr/>
                    <a:lstStyle/>
                    <a:p>
                      <a:pPr algn="just" fontAlgn="t"/>
                      <a:r>
                        <a:rPr lang="en-US" sz="1400">
                          <a:solidFill>
                            <a:srgbClr val="333333"/>
                          </a:solidFill>
                          <a:effectLst/>
                          <a:latin typeface="+mn-lt"/>
                        </a:rPr>
                        <a:t>52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mn-lt"/>
                        </a:rPr>
                        <a:t>Katherine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mn-lt"/>
                        </a:rPr>
                        <a:t>36</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mn-lt"/>
                        </a:rPr>
                        <a:t>Mumbai</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954105043"/>
                  </a:ext>
                </a:extLst>
              </a:tr>
              <a:tr h="0">
                <a:tc>
                  <a:txBody>
                    <a:bodyPr/>
                    <a:lstStyle/>
                    <a:p>
                      <a:pPr algn="just" fontAlgn="t"/>
                      <a:r>
                        <a:rPr lang="en-US" sz="1400">
                          <a:solidFill>
                            <a:srgbClr val="333333"/>
                          </a:solidFill>
                          <a:effectLst/>
                          <a:latin typeface="+mn-lt"/>
                        </a:rPr>
                        <a:t>60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mn-lt"/>
                        </a:rPr>
                        <a:t>Jack</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mn-lt"/>
                        </a:rPr>
                        <a:t>40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mn-lt"/>
                        </a:rPr>
                        <a:t>Noida</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4289186313"/>
                  </a:ext>
                </a:extLst>
              </a:tr>
            </a:tbl>
          </a:graphicData>
        </a:graphic>
      </p:graphicFrame>
      <p:graphicFrame>
        <p:nvGraphicFramePr>
          <p:cNvPr id="6" name="Table 5">
            <a:extLst>
              <a:ext uri="{FF2B5EF4-FFF2-40B4-BE49-F238E27FC236}">
                <a16:creationId xmlns="" xmlns:a16="http://schemas.microsoft.com/office/drawing/2014/main" id="{2220273F-37B0-D4DB-B86E-A75A4D514095}"/>
              </a:ext>
            </a:extLst>
          </p:cNvPr>
          <p:cNvGraphicFramePr>
            <a:graphicFrameLocks noGrp="1"/>
          </p:cNvGraphicFramePr>
          <p:nvPr>
            <p:extLst>
              <p:ext uri="{D42A27DB-BD31-4B8C-83A1-F6EECF244321}">
                <p14:modId xmlns:p14="http://schemas.microsoft.com/office/powerpoint/2010/main" val="2412941783"/>
              </p:ext>
            </p:extLst>
          </p:nvPr>
        </p:nvGraphicFramePr>
        <p:xfrm>
          <a:off x="5685183" y="4461807"/>
          <a:ext cx="5273242" cy="2453640"/>
        </p:xfrm>
        <a:graphic>
          <a:graphicData uri="http://schemas.openxmlformats.org/drawingml/2006/table">
            <a:tbl>
              <a:tblPr/>
              <a:tblGrid>
                <a:gridCol w="1655398">
                  <a:extLst>
                    <a:ext uri="{9D8B030D-6E8A-4147-A177-3AD203B41FA5}">
                      <a16:colId xmlns="" xmlns:a16="http://schemas.microsoft.com/office/drawing/2014/main" val="4179582497"/>
                    </a:ext>
                  </a:extLst>
                </a:gridCol>
                <a:gridCol w="1630018">
                  <a:extLst>
                    <a:ext uri="{9D8B030D-6E8A-4147-A177-3AD203B41FA5}">
                      <a16:colId xmlns="" xmlns:a16="http://schemas.microsoft.com/office/drawing/2014/main" val="3792677843"/>
                    </a:ext>
                  </a:extLst>
                </a:gridCol>
                <a:gridCol w="1987826">
                  <a:extLst>
                    <a:ext uri="{9D8B030D-6E8A-4147-A177-3AD203B41FA5}">
                      <a16:colId xmlns="" xmlns:a16="http://schemas.microsoft.com/office/drawing/2014/main" val="2717922793"/>
                    </a:ext>
                  </a:extLst>
                </a:gridCol>
              </a:tblGrid>
              <a:tr h="0">
                <a:tc>
                  <a:txBody>
                    <a:bodyPr/>
                    <a:lstStyle/>
                    <a:p>
                      <a:pPr algn="l" fontAlgn="t"/>
                      <a:r>
                        <a:rPr lang="en-US" sz="1600" b="1" dirty="0">
                          <a:solidFill>
                            <a:srgbClr val="000099"/>
                          </a:solidFill>
                          <a:effectLst/>
                          <a:latin typeface="+mn-lt"/>
                        </a:rPr>
                        <a:t>DEPT_ID</a:t>
                      </a:r>
                    </a:p>
                  </a:txBody>
                  <a:tcPr marL="114300" marR="114300" marT="114300" marB="114300">
                    <a:lnL w="9525" cap="flat" cmpd="sng" algn="ctr">
                      <a:solidFill>
                        <a:srgbClr val="108B2F"/>
                      </a:solidFill>
                      <a:prstDash val="solid"/>
                      <a:round/>
                      <a:headEnd type="none" w="med" len="med"/>
                      <a:tailEnd type="none" w="med" len="med"/>
                    </a:lnL>
                    <a:lnR w="9525" cap="flat" cmpd="sng" algn="ctr">
                      <a:solidFill>
                        <a:srgbClr val="108B2F"/>
                      </a:solidFill>
                      <a:prstDash val="solid"/>
                      <a:round/>
                      <a:headEnd type="none" w="med" len="med"/>
                      <a:tailEnd type="none" w="med" len="med"/>
                    </a:lnR>
                    <a:lnT w="9525" cap="flat" cmpd="sng" algn="ctr">
                      <a:solidFill>
                        <a:srgbClr val="108B2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99"/>
                          </a:solidFill>
                          <a:effectLst/>
                          <a:latin typeface="+mn-lt"/>
                        </a:rPr>
                        <a:t>EMP_ID</a:t>
                      </a:r>
                    </a:p>
                  </a:txBody>
                  <a:tcPr marL="114300" marR="114300" marT="114300" marB="114300">
                    <a:lnL w="9525" cap="flat" cmpd="sng" algn="ctr">
                      <a:solidFill>
                        <a:srgbClr val="108B2F"/>
                      </a:solidFill>
                      <a:prstDash val="solid"/>
                      <a:round/>
                      <a:headEnd type="none" w="med" len="med"/>
                      <a:tailEnd type="none" w="med" len="med"/>
                    </a:lnL>
                    <a:lnR w="9525" cap="flat" cmpd="sng" algn="ctr">
                      <a:solidFill>
                        <a:srgbClr val="108B2F"/>
                      </a:solidFill>
                      <a:prstDash val="solid"/>
                      <a:round/>
                      <a:headEnd type="none" w="med" len="med"/>
                      <a:tailEnd type="none" w="med" len="med"/>
                    </a:lnR>
                    <a:lnT w="9525" cap="flat" cmpd="sng" algn="ctr">
                      <a:solidFill>
                        <a:srgbClr val="108B2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99"/>
                          </a:solidFill>
                          <a:effectLst/>
                          <a:latin typeface="+mn-lt"/>
                        </a:rPr>
                        <a:t>DEPT_NAME</a:t>
                      </a:r>
                    </a:p>
                  </a:txBody>
                  <a:tcPr marL="114300" marR="114300" marT="114300" marB="114300">
                    <a:lnL w="9525" cap="flat" cmpd="sng" algn="ctr">
                      <a:solidFill>
                        <a:srgbClr val="108B2F"/>
                      </a:solidFill>
                      <a:prstDash val="solid"/>
                      <a:round/>
                      <a:headEnd type="none" w="med" len="med"/>
                      <a:tailEnd type="none" w="med" len="med"/>
                    </a:lnL>
                    <a:lnR w="9525" cap="flat" cmpd="sng" algn="ctr">
                      <a:solidFill>
                        <a:srgbClr val="108B2F"/>
                      </a:solidFill>
                      <a:prstDash val="solid"/>
                      <a:round/>
                      <a:headEnd type="none" w="med" len="med"/>
                      <a:tailEnd type="none" w="med" len="med"/>
                    </a:lnR>
                    <a:lnT w="9525" cap="flat" cmpd="sng" algn="ctr">
                      <a:solidFill>
                        <a:srgbClr val="108B2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3606586431"/>
                  </a:ext>
                </a:extLst>
              </a:tr>
              <a:tr h="0">
                <a:tc>
                  <a:txBody>
                    <a:bodyPr/>
                    <a:lstStyle/>
                    <a:p>
                      <a:pPr algn="just" fontAlgn="t"/>
                      <a:r>
                        <a:rPr lang="en-US" sz="1600" dirty="0">
                          <a:solidFill>
                            <a:srgbClr val="333333"/>
                          </a:solidFill>
                          <a:effectLst/>
                          <a:latin typeface="+mn-lt"/>
                        </a:rPr>
                        <a:t>827</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22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Sales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475097294"/>
                  </a:ext>
                </a:extLst>
              </a:tr>
              <a:tr h="0">
                <a:tc>
                  <a:txBody>
                    <a:bodyPr/>
                    <a:lstStyle/>
                    <a:p>
                      <a:pPr algn="just" fontAlgn="t"/>
                      <a:r>
                        <a:rPr lang="en-US" sz="1600">
                          <a:solidFill>
                            <a:srgbClr val="333333"/>
                          </a:solidFill>
                          <a:effectLst/>
                          <a:latin typeface="+mn-lt"/>
                        </a:rPr>
                        <a:t>438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33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Marketing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603433045"/>
                  </a:ext>
                </a:extLst>
              </a:tr>
              <a:tr h="0">
                <a:tc>
                  <a:txBody>
                    <a:bodyPr/>
                    <a:lstStyle/>
                    <a:p>
                      <a:pPr algn="just" fontAlgn="t"/>
                      <a:r>
                        <a:rPr lang="en-US" sz="1600">
                          <a:solidFill>
                            <a:srgbClr val="333333"/>
                          </a:solidFill>
                          <a:effectLst/>
                          <a:latin typeface="+mn-lt"/>
                        </a:rPr>
                        <a:t>869</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46</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Finance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700044563"/>
                  </a:ext>
                </a:extLst>
              </a:tr>
              <a:tr h="0">
                <a:tc>
                  <a:txBody>
                    <a:bodyPr/>
                    <a:lstStyle/>
                    <a:p>
                      <a:pPr algn="just" fontAlgn="t"/>
                      <a:r>
                        <a:rPr lang="en-US" sz="1600">
                          <a:solidFill>
                            <a:srgbClr val="333333"/>
                          </a:solidFill>
                          <a:effectLst/>
                          <a:latin typeface="+mn-lt"/>
                        </a:rPr>
                        <a:t>575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52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Production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769285666"/>
                  </a:ext>
                </a:extLst>
              </a:tr>
              <a:tr h="0">
                <a:tc>
                  <a:txBody>
                    <a:bodyPr/>
                    <a:lstStyle/>
                    <a:p>
                      <a:pPr algn="just" fontAlgn="t"/>
                      <a:r>
                        <a:rPr lang="en-US" sz="1600">
                          <a:solidFill>
                            <a:srgbClr val="333333"/>
                          </a:solidFill>
                          <a:effectLst/>
                          <a:latin typeface="+mn-lt"/>
                        </a:rPr>
                        <a:t>678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60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Testing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795937552"/>
                  </a:ext>
                </a:extLst>
              </a:tr>
            </a:tbl>
          </a:graphicData>
        </a:graphic>
      </p:graphicFrame>
    </p:spTree>
    <p:extLst>
      <p:ext uri="{BB962C8B-B14F-4D97-AF65-F5344CB8AC3E}">
        <p14:creationId xmlns:p14="http://schemas.microsoft.com/office/powerpoint/2010/main" val="7054611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0C0884-4DF5-F31D-A04B-EC42143A2037}"/>
              </a:ext>
            </a:extLst>
          </p:cNvPr>
          <p:cNvSpPr>
            <a:spLocks noGrp="1"/>
          </p:cNvSpPr>
          <p:nvPr>
            <p:ph type="title"/>
          </p:nvPr>
        </p:nvSpPr>
        <p:spPr>
          <a:xfrm>
            <a:off x="0" y="49489"/>
            <a:ext cx="10515600" cy="805918"/>
          </a:xfrm>
        </p:spPr>
        <p:txBody>
          <a:bodyPr>
            <a:normAutofit/>
          </a:bodyPr>
          <a:lstStyle/>
          <a:p>
            <a:r>
              <a:rPr lang="en-US" sz="4000" b="1" i="0" u="none" strike="noStrike" baseline="0" dirty="0">
                <a:latin typeface="+mn-lt"/>
              </a:rPr>
              <a:t>Decomposition Properties</a:t>
            </a:r>
            <a:endParaRPr lang="en-US" sz="4000" b="1" dirty="0">
              <a:latin typeface="+mn-lt"/>
            </a:endParaRPr>
          </a:p>
        </p:txBody>
      </p:sp>
      <p:sp>
        <p:nvSpPr>
          <p:cNvPr id="3" name="Content Placeholder 2">
            <a:extLst>
              <a:ext uri="{FF2B5EF4-FFF2-40B4-BE49-F238E27FC236}">
                <a16:creationId xmlns="" xmlns:a16="http://schemas.microsoft.com/office/drawing/2014/main" id="{AC437119-7A6F-73DD-B29F-D225278F190C}"/>
              </a:ext>
            </a:extLst>
          </p:cNvPr>
          <p:cNvSpPr>
            <a:spLocks noGrp="1"/>
          </p:cNvSpPr>
          <p:nvPr>
            <p:ph idx="1"/>
          </p:nvPr>
        </p:nvSpPr>
        <p:spPr>
          <a:xfrm>
            <a:off x="200439" y="977485"/>
            <a:ext cx="11593996" cy="5688357"/>
          </a:xfrm>
        </p:spPr>
        <p:txBody>
          <a:bodyPr>
            <a:normAutofit fontScale="92500" lnSpcReduction="20000"/>
          </a:bodyPr>
          <a:lstStyle/>
          <a:p>
            <a:pPr algn="just"/>
            <a:r>
              <a:rPr lang="en-US" b="1" i="0">
                <a:solidFill>
                  <a:srgbClr val="000099"/>
                </a:solidFill>
                <a:effectLst/>
              </a:rPr>
              <a:t>Dependency </a:t>
            </a:r>
            <a:r>
              <a:rPr lang="en-US" b="1" i="0" smtClean="0">
                <a:solidFill>
                  <a:srgbClr val="000099"/>
                </a:solidFill>
                <a:effectLst/>
              </a:rPr>
              <a:t>Preserving</a:t>
            </a:r>
            <a:endParaRPr lang="en-US" b="1" i="0" dirty="0">
              <a:solidFill>
                <a:srgbClr val="000099"/>
              </a:solidFill>
              <a:effectLst/>
            </a:endParaRPr>
          </a:p>
          <a:p>
            <a:pPr algn="just">
              <a:buFont typeface="Arial" panose="020B0604020202020204" pitchFamily="34" charset="0"/>
              <a:buChar char="•"/>
            </a:pPr>
            <a:r>
              <a:rPr lang="en-US" b="0" i="0" dirty="0">
                <a:solidFill>
                  <a:srgbClr val="000000"/>
                </a:solidFill>
                <a:effectLst/>
              </a:rPr>
              <a:t>In the dependency preservation, </a:t>
            </a:r>
            <a:r>
              <a:rPr lang="en-US" b="1" i="0" dirty="0">
                <a:solidFill>
                  <a:srgbClr val="000099"/>
                </a:solidFill>
                <a:effectLst/>
              </a:rPr>
              <a:t>at least one decomposed table must satisfy every dependency.</a:t>
            </a:r>
          </a:p>
          <a:p>
            <a:r>
              <a:rPr lang="en-US" dirty="0" smtClean="0"/>
              <a:t>If </a:t>
            </a:r>
            <a:r>
              <a:rPr lang="en-US" dirty="0"/>
              <a:t>each functional dependency X-&gt;Y specified in F appears directly in one of the relation schemas Ri in the decomposition D or could be inferred from the dependencies that appear in </a:t>
            </a:r>
            <a:r>
              <a:rPr lang="en-US" dirty="0" smtClean="0"/>
              <a:t>some </a:t>
            </a:r>
            <a:r>
              <a:rPr lang="en-US" dirty="0"/>
              <a:t>Ri. This is the Dependency Preservation.</a:t>
            </a:r>
          </a:p>
          <a:p>
            <a:r>
              <a:rPr lang="en-US" dirty="0"/>
              <a:t>If a decomposition is not dependency preserving some dependency is lost in decomposition. To check this condition, take the JOIN of 2 or more relations in the decomposition.</a:t>
            </a:r>
          </a:p>
          <a:p>
            <a:r>
              <a:rPr lang="en-US" dirty="0"/>
              <a:t>For example:</a:t>
            </a:r>
          </a:p>
          <a:p>
            <a:r>
              <a:rPr lang="en-US" dirty="0"/>
              <a:t>R = (A, B, C)</a:t>
            </a:r>
          </a:p>
          <a:p>
            <a:r>
              <a:rPr lang="en-US" dirty="0"/>
              <a:t>F = {A -&gt;B, B-&gt;C}</a:t>
            </a:r>
          </a:p>
          <a:p>
            <a:r>
              <a:rPr lang="en-US" b="1" dirty="0">
                <a:solidFill>
                  <a:srgbClr val="000099"/>
                </a:solidFill>
              </a:rPr>
              <a:t>Key = {A}</a:t>
            </a:r>
          </a:p>
          <a:p>
            <a:r>
              <a:rPr lang="en-US" dirty="0"/>
              <a:t>R is not in BCNF.</a:t>
            </a:r>
          </a:p>
          <a:p>
            <a:r>
              <a:rPr lang="en-US" b="1" dirty="0">
                <a:solidFill>
                  <a:srgbClr val="000099"/>
                </a:solidFill>
              </a:rPr>
              <a:t>Decomposition R1 = (A, B), R2 = (B, C) </a:t>
            </a:r>
          </a:p>
        </p:txBody>
      </p:sp>
    </p:spTree>
    <p:extLst>
      <p:ext uri="{BB962C8B-B14F-4D97-AF65-F5344CB8AC3E}">
        <p14:creationId xmlns:p14="http://schemas.microsoft.com/office/powerpoint/2010/main" val="4126810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0C0884-4DF5-F31D-A04B-EC42143A2037}"/>
              </a:ext>
            </a:extLst>
          </p:cNvPr>
          <p:cNvSpPr>
            <a:spLocks noGrp="1"/>
          </p:cNvSpPr>
          <p:nvPr>
            <p:ph type="title"/>
          </p:nvPr>
        </p:nvSpPr>
        <p:spPr>
          <a:xfrm>
            <a:off x="0" y="49488"/>
            <a:ext cx="10515600" cy="927997"/>
          </a:xfrm>
        </p:spPr>
        <p:txBody>
          <a:bodyPr>
            <a:normAutofit/>
          </a:bodyPr>
          <a:lstStyle/>
          <a:p>
            <a:r>
              <a:rPr lang="en-US" sz="4000" b="1" i="0" u="none" strike="noStrike" baseline="0" dirty="0">
                <a:latin typeface="+mn-lt"/>
              </a:rPr>
              <a:t>Decomposition Properties</a:t>
            </a:r>
            <a:endParaRPr lang="en-US" sz="4000" b="1" dirty="0">
              <a:latin typeface="+mn-lt"/>
            </a:endParaRPr>
          </a:p>
        </p:txBody>
      </p:sp>
      <p:sp>
        <p:nvSpPr>
          <p:cNvPr id="3" name="Content Placeholder 2">
            <a:extLst>
              <a:ext uri="{FF2B5EF4-FFF2-40B4-BE49-F238E27FC236}">
                <a16:creationId xmlns="" xmlns:a16="http://schemas.microsoft.com/office/drawing/2014/main" id="{AC437119-7A6F-73DD-B29F-D225278F190C}"/>
              </a:ext>
            </a:extLst>
          </p:cNvPr>
          <p:cNvSpPr>
            <a:spLocks noGrp="1"/>
          </p:cNvSpPr>
          <p:nvPr>
            <p:ph idx="1"/>
          </p:nvPr>
        </p:nvSpPr>
        <p:spPr>
          <a:xfrm>
            <a:off x="200439" y="977485"/>
            <a:ext cx="11593996" cy="5688357"/>
          </a:xfrm>
        </p:spPr>
        <p:txBody>
          <a:bodyPr>
            <a:normAutofit/>
          </a:bodyPr>
          <a:lstStyle/>
          <a:p>
            <a:pPr algn="just" fontAlgn="base"/>
            <a:r>
              <a:rPr lang="en-US" b="1" i="0" dirty="0">
                <a:effectLst/>
              </a:rPr>
              <a:t>Attribute Preservation:</a:t>
            </a:r>
          </a:p>
          <a:p>
            <a:pPr algn="just" fontAlgn="base"/>
            <a:r>
              <a:rPr lang="en-US" b="0" i="0" dirty="0">
                <a:effectLst/>
              </a:rPr>
              <a:t>Using functional dependencies the algorithms decompose the universal relation schema R in a set of relation schemas </a:t>
            </a:r>
            <a:r>
              <a:rPr lang="en-US" b="1" i="0" dirty="0">
                <a:solidFill>
                  <a:srgbClr val="000099"/>
                </a:solidFill>
                <a:effectLst/>
              </a:rPr>
              <a:t>D = { R1, R2, ….. Rn } relational database schema, where ‘D’ is called the Decomposition of R.</a:t>
            </a:r>
          </a:p>
          <a:p>
            <a:pPr algn="just" fontAlgn="base"/>
            <a:r>
              <a:rPr lang="en-US" b="0" i="0" dirty="0">
                <a:effectLst/>
              </a:rPr>
              <a:t>The </a:t>
            </a:r>
            <a:r>
              <a:rPr lang="en-US" b="1" i="0" dirty="0">
                <a:solidFill>
                  <a:srgbClr val="C00000"/>
                </a:solidFill>
                <a:effectLst/>
              </a:rPr>
              <a:t>attributes in R will appear in at least one relation schema Ri in the decomposition, i.e., no attribute is lost. </a:t>
            </a:r>
          </a:p>
          <a:p>
            <a:pPr algn="just" fontAlgn="base"/>
            <a:r>
              <a:rPr lang="en-US" b="0" i="0" dirty="0">
                <a:effectLst/>
              </a:rPr>
              <a:t>This is called the </a:t>
            </a:r>
            <a:r>
              <a:rPr lang="en-US" b="0" i="1" dirty="0">
                <a:effectLst/>
              </a:rPr>
              <a:t>Attribute Preservation</a:t>
            </a:r>
            <a:r>
              <a:rPr lang="en-US" b="0" i="0" dirty="0">
                <a:effectLst/>
              </a:rPr>
              <a:t> condition of decomposition.</a:t>
            </a:r>
          </a:p>
          <a:p>
            <a:pPr algn="just" fontAlgn="base"/>
            <a:r>
              <a:rPr lang="en-US" b="1" i="0" dirty="0">
                <a:effectLst/>
              </a:rPr>
              <a:t>Non Additive Join Property:</a:t>
            </a:r>
            <a:endParaRPr lang="en-US" dirty="0"/>
          </a:p>
          <a:p>
            <a:pPr algn="just" fontAlgn="base"/>
            <a:r>
              <a:rPr lang="en-US" b="0" i="0" dirty="0">
                <a:effectLst/>
              </a:rPr>
              <a:t>Another </a:t>
            </a:r>
            <a:r>
              <a:rPr lang="en-US" b="1" i="0" dirty="0">
                <a:solidFill>
                  <a:srgbClr val="000099"/>
                </a:solidFill>
                <a:effectLst/>
              </a:rPr>
              <a:t>property of decomposition is that D should possess is the </a:t>
            </a:r>
            <a:r>
              <a:rPr lang="en-US" b="1" i="1" dirty="0">
                <a:solidFill>
                  <a:srgbClr val="000099"/>
                </a:solidFill>
                <a:effectLst/>
              </a:rPr>
              <a:t>Non Additive Join Property</a:t>
            </a:r>
            <a:r>
              <a:rPr lang="en-US" b="1" i="0" dirty="0">
                <a:solidFill>
                  <a:srgbClr val="000099"/>
                </a:solidFill>
                <a:effectLst/>
              </a:rPr>
              <a:t>, which ensures that no spurious/Extra tuples are generated when a NATURAL JOIN operation is applied to the relations </a:t>
            </a:r>
            <a:r>
              <a:rPr lang="en-US" b="0" i="0" dirty="0">
                <a:effectLst/>
              </a:rPr>
              <a:t>resulting from the decomposition.</a:t>
            </a:r>
          </a:p>
          <a:p>
            <a:pPr algn="l" fontAlgn="base"/>
            <a:endParaRPr lang="en-US" b="0" i="0" dirty="0">
              <a:solidFill>
                <a:srgbClr val="273239"/>
              </a:solidFill>
              <a:effectLst/>
              <a:latin typeface="urw-din"/>
            </a:endParaRPr>
          </a:p>
        </p:txBody>
      </p:sp>
    </p:spTree>
    <p:extLst>
      <p:ext uri="{BB962C8B-B14F-4D97-AF65-F5344CB8AC3E}">
        <p14:creationId xmlns:p14="http://schemas.microsoft.com/office/powerpoint/2010/main" val="6951148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683ECA-B440-0C72-B9D5-880E6BA42CB2}"/>
              </a:ext>
            </a:extLst>
          </p:cNvPr>
          <p:cNvSpPr>
            <a:spLocks noGrp="1"/>
          </p:cNvSpPr>
          <p:nvPr>
            <p:ph type="title"/>
          </p:nvPr>
        </p:nvSpPr>
        <p:spPr>
          <a:xfrm>
            <a:off x="838200" y="365126"/>
            <a:ext cx="10515600" cy="1035972"/>
          </a:xfrm>
        </p:spPr>
        <p:txBody>
          <a:bodyPr>
            <a:normAutofit fontScale="90000"/>
          </a:bodyPr>
          <a:lstStyle/>
          <a:p>
            <a:r>
              <a:rPr lang="en-US" sz="4000" b="1" i="0" dirty="0">
                <a:effectLst/>
                <a:latin typeface="+mn-lt"/>
              </a:rPr>
              <a:t>What is Normalization?</a:t>
            </a:r>
            <a:br>
              <a:rPr lang="en-US" sz="4000" b="1" i="0" dirty="0">
                <a:effectLst/>
                <a:latin typeface="+mn-lt"/>
              </a:rPr>
            </a:br>
            <a:endParaRPr lang="en-US" sz="4000" b="1" dirty="0">
              <a:latin typeface="+mn-lt"/>
            </a:endParaRPr>
          </a:p>
        </p:txBody>
      </p:sp>
      <p:sp>
        <p:nvSpPr>
          <p:cNvPr id="3" name="Content Placeholder 2">
            <a:extLst>
              <a:ext uri="{FF2B5EF4-FFF2-40B4-BE49-F238E27FC236}">
                <a16:creationId xmlns="" xmlns:a16="http://schemas.microsoft.com/office/drawing/2014/main" id="{6D2F54FA-7D33-3A6A-6CCC-094219DCEF0E}"/>
              </a:ext>
            </a:extLst>
          </p:cNvPr>
          <p:cNvSpPr>
            <a:spLocks noGrp="1"/>
          </p:cNvSpPr>
          <p:nvPr>
            <p:ph idx="1"/>
          </p:nvPr>
        </p:nvSpPr>
        <p:spPr>
          <a:xfrm>
            <a:off x="198783" y="1166191"/>
            <a:ext cx="11834191" cy="5326684"/>
          </a:xfrm>
        </p:spPr>
        <p:txBody>
          <a:bodyPr>
            <a:normAutofit fontScale="92500" lnSpcReduction="10000"/>
          </a:bodyPr>
          <a:lstStyle/>
          <a:p>
            <a:pPr algn="just">
              <a:buFont typeface="Arial" panose="020B0604020202020204" pitchFamily="34" charset="0"/>
              <a:buChar char="•"/>
            </a:pPr>
            <a:r>
              <a:rPr lang="en-US" b="0" i="0" dirty="0">
                <a:solidFill>
                  <a:srgbClr val="000000"/>
                </a:solidFill>
                <a:effectLst/>
              </a:rPr>
              <a:t>Normalization is the </a:t>
            </a:r>
            <a:r>
              <a:rPr lang="en-US" b="1" i="0" dirty="0">
                <a:solidFill>
                  <a:srgbClr val="000099"/>
                </a:solidFill>
                <a:effectLst/>
              </a:rPr>
              <a:t>process of organizing the data in the database.</a:t>
            </a:r>
          </a:p>
          <a:p>
            <a:pPr algn="just">
              <a:buFont typeface="Arial" panose="020B0604020202020204" pitchFamily="34" charset="0"/>
              <a:buChar char="•"/>
            </a:pPr>
            <a:r>
              <a:rPr lang="en-US" b="0" i="0" dirty="0">
                <a:solidFill>
                  <a:srgbClr val="000000"/>
                </a:solidFill>
                <a:effectLst/>
              </a:rPr>
              <a:t>Normalization is </a:t>
            </a:r>
            <a:r>
              <a:rPr lang="en-US" b="1" i="0" dirty="0">
                <a:solidFill>
                  <a:srgbClr val="000099"/>
                </a:solidFill>
                <a:effectLst/>
              </a:rPr>
              <a:t>used to minimize the redundancy </a:t>
            </a:r>
            <a:r>
              <a:rPr lang="en-US" b="0" i="0" dirty="0">
                <a:solidFill>
                  <a:srgbClr val="000000"/>
                </a:solidFill>
                <a:effectLst/>
              </a:rPr>
              <a:t>from a relation or set of relations. </a:t>
            </a:r>
          </a:p>
          <a:p>
            <a:pPr algn="just">
              <a:buFont typeface="Arial" panose="020B0604020202020204" pitchFamily="34" charset="0"/>
              <a:buChar char="•"/>
            </a:pPr>
            <a:r>
              <a:rPr lang="en-US" b="0" i="0" dirty="0">
                <a:solidFill>
                  <a:srgbClr val="000000"/>
                </a:solidFill>
                <a:effectLst/>
              </a:rPr>
              <a:t>It is also used to </a:t>
            </a:r>
            <a:r>
              <a:rPr lang="en-US" b="1" i="0" dirty="0">
                <a:solidFill>
                  <a:srgbClr val="000099"/>
                </a:solidFill>
                <a:effectLst/>
              </a:rPr>
              <a:t>eliminate undesirable characteristics like Insertion, Update, and Deletion Anomalies.</a:t>
            </a:r>
          </a:p>
          <a:p>
            <a:pPr algn="just">
              <a:buFont typeface="Arial" panose="020B0604020202020204" pitchFamily="34" charset="0"/>
              <a:buChar char="•"/>
            </a:pPr>
            <a:r>
              <a:rPr lang="en-US" b="1" i="0" dirty="0">
                <a:solidFill>
                  <a:srgbClr val="000099"/>
                </a:solidFill>
                <a:effectLst/>
              </a:rPr>
              <a:t>Normalization divides the larger table into smaller </a:t>
            </a:r>
            <a:r>
              <a:rPr lang="en-US" b="0" i="0" dirty="0">
                <a:solidFill>
                  <a:srgbClr val="000000"/>
                </a:solidFill>
                <a:effectLst/>
              </a:rPr>
              <a:t>and links them using relationships.</a:t>
            </a:r>
          </a:p>
          <a:p>
            <a:pPr algn="l"/>
            <a:r>
              <a:rPr lang="en-US" b="0" i="0" dirty="0">
                <a:solidFill>
                  <a:srgbClr val="222426"/>
                </a:solidFill>
                <a:effectLst/>
              </a:rPr>
              <a:t>Most commonly used normal forms:</a:t>
            </a:r>
          </a:p>
          <a:p>
            <a:pPr marL="2978150" indent="-234950" algn="l">
              <a:buFont typeface="Arial" panose="020B0604020202020204" pitchFamily="34" charset="0"/>
              <a:buChar char="•"/>
            </a:pPr>
            <a:r>
              <a:rPr lang="en-US" b="1" i="0" dirty="0">
                <a:solidFill>
                  <a:srgbClr val="000099"/>
                </a:solidFill>
                <a:effectLst/>
              </a:rPr>
              <a:t>First normal form(1NF)</a:t>
            </a:r>
          </a:p>
          <a:p>
            <a:pPr marL="2978150" indent="-234950" algn="l">
              <a:buFont typeface="Arial" panose="020B0604020202020204" pitchFamily="34" charset="0"/>
              <a:buChar char="•"/>
            </a:pPr>
            <a:r>
              <a:rPr lang="en-US" b="1" i="0" dirty="0">
                <a:solidFill>
                  <a:srgbClr val="000099"/>
                </a:solidFill>
                <a:effectLst/>
              </a:rPr>
              <a:t>Second normal form(2NF)</a:t>
            </a:r>
          </a:p>
          <a:p>
            <a:pPr marL="2978150" indent="-234950" algn="l">
              <a:buFont typeface="Arial" panose="020B0604020202020204" pitchFamily="34" charset="0"/>
              <a:buChar char="•"/>
            </a:pPr>
            <a:r>
              <a:rPr lang="en-US" b="1" i="0" dirty="0">
                <a:solidFill>
                  <a:srgbClr val="000099"/>
                </a:solidFill>
                <a:effectLst/>
              </a:rPr>
              <a:t>Third normal form(3NF)</a:t>
            </a:r>
          </a:p>
          <a:p>
            <a:pPr marL="2978150" indent="-234950" algn="l">
              <a:buFont typeface="Arial" panose="020B0604020202020204" pitchFamily="34" charset="0"/>
              <a:buChar char="•"/>
            </a:pPr>
            <a:r>
              <a:rPr lang="en-US" b="1" i="0" dirty="0">
                <a:solidFill>
                  <a:srgbClr val="000099"/>
                </a:solidFill>
                <a:effectLst/>
              </a:rPr>
              <a:t>Boyce &amp; Codd normal form (BCNF)</a:t>
            </a:r>
          </a:p>
          <a:p>
            <a:pPr marL="2978150" indent="-234950"/>
            <a:r>
              <a:rPr lang="en-US" b="1" i="0" dirty="0">
                <a:solidFill>
                  <a:srgbClr val="000099"/>
                </a:solidFill>
                <a:effectLst/>
              </a:rPr>
              <a:t>Fourth Normal Form(4NF)</a:t>
            </a:r>
          </a:p>
          <a:p>
            <a:pPr marL="2978150" indent="-234950" algn="l">
              <a:buFont typeface="Arial" panose="020B0604020202020204" pitchFamily="34" charset="0"/>
              <a:buChar char="•"/>
            </a:pPr>
            <a:endParaRPr lang="en-US" b="1" i="0" dirty="0">
              <a:solidFill>
                <a:srgbClr val="000099"/>
              </a:solidFill>
              <a:effectLst/>
            </a:endParaRPr>
          </a:p>
          <a:p>
            <a:endParaRPr lang="en-US" dirty="0"/>
          </a:p>
        </p:txBody>
      </p:sp>
    </p:spTree>
    <p:extLst>
      <p:ext uri="{BB962C8B-B14F-4D97-AF65-F5344CB8AC3E}">
        <p14:creationId xmlns:p14="http://schemas.microsoft.com/office/powerpoint/2010/main" val="35537171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683ECA-B440-0C72-B9D5-880E6BA42CB2}"/>
              </a:ext>
            </a:extLst>
          </p:cNvPr>
          <p:cNvSpPr>
            <a:spLocks noGrp="1"/>
          </p:cNvSpPr>
          <p:nvPr>
            <p:ph type="title"/>
          </p:nvPr>
        </p:nvSpPr>
        <p:spPr>
          <a:xfrm>
            <a:off x="308113" y="126586"/>
            <a:ext cx="10515600" cy="1039606"/>
          </a:xfrm>
        </p:spPr>
        <p:txBody>
          <a:bodyPr>
            <a:normAutofit/>
          </a:bodyPr>
          <a:lstStyle/>
          <a:p>
            <a:r>
              <a:rPr lang="en-US" sz="4000" b="1" i="0" dirty="0">
                <a:effectLst/>
                <a:latin typeface="+mn-lt"/>
              </a:rPr>
              <a:t>Why do we need Normalization?</a:t>
            </a:r>
            <a:endParaRPr lang="en-US" sz="4000" b="1" dirty="0">
              <a:latin typeface="+mn-lt"/>
            </a:endParaRPr>
          </a:p>
        </p:txBody>
      </p:sp>
      <p:sp>
        <p:nvSpPr>
          <p:cNvPr id="3" name="Content Placeholder 2">
            <a:extLst>
              <a:ext uri="{FF2B5EF4-FFF2-40B4-BE49-F238E27FC236}">
                <a16:creationId xmlns="" xmlns:a16="http://schemas.microsoft.com/office/drawing/2014/main" id="{6D2F54FA-7D33-3A6A-6CCC-094219DCEF0E}"/>
              </a:ext>
            </a:extLst>
          </p:cNvPr>
          <p:cNvSpPr>
            <a:spLocks noGrp="1"/>
          </p:cNvSpPr>
          <p:nvPr>
            <p:ph idx="1"/>
          </p:nvPr>
        </p:nvSpPr>
        <p:spPr>
          <a:xfrm>
            <a:off x="198783" y="1166191"/>
            <a:ext cx="11834191" cy="5326684"/>
          </a:xfrm>
        </p:spPr>
        <p:txBody>
          <a:bodyPr>
            <a:normAutofit fontScale="92500" lnSpcReduction="10000"/>
          </a:bodyPr>
          <a:lstStyle/>
          <a:p>
            <a:pPr algn="just">
              <a:buFont typeface="Arial" panose="020B0604020202020204" pitchFamily="34" charset="0"/>
              <a:buChar char="•"/>
            </a:pPr>
            <a:r>
              <a:rPr lang="en-US" b="0" i="0" dirty="0">
                <a:effectLst/>
              </a:rPr>
              <a:t>The </a:t>
            </a:r>
            <a:r>
              <a:rPr lang="en-US" b="1" i="0" dirty="0">
                <a:solidFill>
                  <a:srgbClr val="000099"/>
                </a:solidFill>
                <a:effectLst/>
              </a:rPr>
              <a:t>main reason for normalizing the relations is removing these anomalies</a:t>
            </a:r>
            <a:r>
              <a:rPr lang="en-US" b="0" i="0" dirty="0">
                <a:effectLst/>
              </a:rPr>
              <a:t>. </a:t>
            </a:r>
            <a:r>
              <a:rPr lang="en-US" b="1" i="0" dirty="0">
                <a:solidFill>
                  <a:srgbClr val="C00000"/>
                </a:solidFill>
                <a:effectLst/>
              </a:rPr>
              <a:t>Failure to eliminate anomalies leads to data redundancy </a:t>
            </a:r>
            <a:r>
              <a:rPr lang="en-US" b="0" i="0" dirty="0">
                <a:effectLst/>
              </a:rPr>
              <a:t>and can cause data integrity and other problems as the database grows.</a:t>
            </a:r>
          </a:p>
          <a:p>
            <a:pPr algn="just">
              <a:buFont typeface="Arial" panose="020B0604020202020204" pitchFamily="34" charset="0"/>
              <a:buChar char="•"/>
            </a:pPr>
            <a:r>
              <a:rPr lang="en-US" b="1" i="0" dirty="0">
                <a:solidFill>
                  <a:srgbClr val="000099"/>
                </a:solidFill>
                <a:effectLst/>
              </a:rPr>
              <a:t>Update anomalies − </a:t>
            </a:r>
            <a:r>
              <a:rPr lang="en-US" b="0" i="0" dirty="0">
                <a:solidFill>
                  <a:srgbClr val="000000"/>
                </a:solidFill>
                <a:effectLst/>
              </a:rPr>
              <a:t>When we try to update one data item having its copies scattered over several places, a few instances get updated properly while a few others are left with old values. Such instances leave the database in an inconsistent state.</a:t>
            </a:r>
          </a:p>
          <a:p>
            <a:pPr algn="just">
              <a:buFont typeface="Arial" panose="020B0604020202020204" pitchFamily="34" charset="0"/>
              <a:buChar char="•"/>
            </a:pPr>
            <a:r>
              <a:rPr lang="en-US" b="1" i="0" dirty="0">
                <a:solidFill>
                  <a:srgbClr val="000099"/>
                </a:solidFill>
                <a:effectLst/>
              </a:rPr>
              <a:t>Deletion anomalies</a:t>
            </a:r>
            <a:r>
              <a:rPr lang="en-US" b="0" i="0" dirty="0">
                <a:solidFill>
                  <a:srgbClr val="000099"/>
                </a:solidFill>
                <a:effectLst/>
              </a:rPr>
              <a:t> </a:t>
            </a:r>
            <a:r>
              <a:rPr lang="en-US" b="0" i="0" dirty="0">
                <a:solidFill>
                  <a:srgbClr val="000000"/>
                </a:solidFill>
                <a:effectLst/>
              </a:rPr>
              <a:t>− We tried to delete a record, but parts of it was left undeleted because of unawareness, the data is also saved somewhere else.</a:t>
            </a:r>
          </a:p>
          <a:p>
            <a:pPr algn="just">
              <a:buFont typeface="Arial" panose="020B0604020202020204" pitchFamily="34" charset="0"/>
              <a:buChar char="•"/>
            </a:pPr>
            <a:r>
              <a:rPr lang="en-US" b="1" i="0" dirty="0">
                <a:solidFill>
                  <a:srgbClr val="000099"/>
                </a:solidFill>
                <a:effectLst/>
              </a:rPr>
              <a:t>Insert anomalies</a:t>
            </a:r>
            <a:r>
              <a:rPr lang="en-US" b="0" i="0" dirty="0">
                <a:solidFill>
                  <a:srgbClr val="000099"/>
                </a:solidFill>
                <a:effectLst/>
              </a:rPr>
              <a:t> </a:t>
            </a:r>
            <a:r>
              <a:rPr lang="en-US" b="0" i="0" dirty="0">
                <a:solidFill>
                  <a:srgbClr val="000000"/>
                </a:solidFill>
                <a:effectLst/>
              </a:rPr>
              <a:t>− We tried to insert data in a record that does not exist at all.</a:t>
            </a:r>
          </a:p>
          <a:p>
            <a:pPr algn="just"/>
            <a:r>
              <a:rPr lang="en-US" b="1" i="0" dirty="0">
                <a:solidFill>
                  <a:srgbClr val="000099"/>
                </a:solidFill>
                <a:effectLst/>
              </a:rPr>
              <a:t>Normalization is a method to remove all these anomalies </a:t>
            </a:r>
            <a:r>
              <a:rPr lang="en-US" b="0" i="0" dirty="0">
                <a:solidFill>
                  <a:srgbClr val="000000"/>
                </a:solidFill>
                <a:effectLst/>
              </a:rPr>
              <a:t>and bring the database to a consistent state.</a:t>
            </a:r>
          </a:p>
          <a:p>
            <a:pPr algn="just">
              <a:buFont typeface="Arial" panose="020B0604020202020204" pitchFamily="34" charset="0"/>
              <a:buChar char="•"/>
            </a:pPr>
            <a:r>
              <a:rPr lang="en-US" b="0" i="0" dirty="0">
                <a:solidFill>
                  <a:srgbClr val="333333"/>
                </a:solidFill>
                <a:effectLst/>
              </a:rPr>
              <a:t> </a:t>
            </a:r>
            <a:r>
              <a:rPr lang="en-US" b="0" i="0" dirty="0">
                <a:effectLst/>
              </a:rPr>
              <a:t>Normalization consists of a series of guidelines that helps </a:t>
            </a:r>
            <a:r>
              <a:rPr lang="en-US" b="1" i="0" dirty="0">
                <a:solidFill>
                  <a:srgbClr val="000099"/>
                </a:solidFill>
                <a:effectLst/>
              </a:rPr>
              <a:t>to guide you in creating a good database structure.</a:t>
            </a:r>
            <a:endParaRPr lang="en-US" b="1" dirty="0">
              <a:solidFill>
                <a:srgbClr val="000099"/>
              </a:solidFill>
            </a:endParaRPr>
          </a:p>
        </p:txBody>
      </p:sp>
    </p:spTree>
    <p:extLst>
      <p:ext uri="{BB962C8B-B14F-4D97-AF65-F5344CB8AC3E}">
        <p14:creationId xmlns:p14="http://schemas.microsoft.com/office/powerpoint/2010/main" val="37784368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35468C-25A0-77F8-B6A9-CC7DD6E4CA9D}"/>
              </a:ext>
            </a:extLst>
          </p:cNvPr>
          <p:cNvSpPr>
            <a:spLocks noGrp="1"/>
          </p:cNvSpPr>
          <p:nvPr>
            <p:ph type="title"/>
          </p:nvPr>
        </p:nvSpPr>
        <p:spPr>
          <a:xfrm>
            <a:off x="228600" y="392834"/>
            <a:ext cx="10515600" cy="507711"/>
          </a:xfrm>
        </p:spPr>
        <p:txBody>
          <a:bodyPr>
            <a:normAutofit fontScale="90000"/>
          </a:bodyPr>
          <a:lstStyle/>
          <a:p>
            <a:r>
              <a:rPr lang="en-US" sz="4000" b="1" dirty="0">
                <a:latin typeface="+mn-lt"/>
              </a:rPr>
              <a:t>First normal form(1NF)</a:t>
            </a:r>
          </a:p>
        </p:txBody>
      </p:sp>
      <p:sp>
        <p:nvSpPr>
          <p:cNvPr id="3" name="Content Placeholder 2">
            <a:extLst>
              <a:ext uri="{FF2B5EF4-FFF2-40B4-BE49-F238E27FC236}">
                <a16:creationId xmlns="" xmlns:a16="http://schemas.microsoft.com/office/drawing/2014/main" id="{86FECA96-C522-3033-93FB-08CC429674D1}"/>
              </a:ext>
            </a:extLst>
          </p:cNvPr>
          <p:cNvSpPr>
            <a:spLocks noGrp="1"/>
          </p:cNvSpPr>
          <p:nvPr>
            <p:ph idx="1"/>
          </p:nvPr>
        </p:nvSpPr>
        <p:spPr>
          <a:xfrm>
            <a:off x="138545" y="1253331"/>
            <a:ext cx="5292437" cy="5327578"/>
          </a:xfrm>
        </p:spPr>
        <p:txBody>
          <a:bodyPr>
            <a:normAutofit fontScale="92500" lnSpcReduction="10000"/>
          </a:bodyPr>
          <a:lstStyle/>
          <a:p>
            <a:pPr algn="just"/>
            <a:r>
              <a:rPr lang="en-US" sz="2600" i="0" dirty="0">
                <a:effectLst/>
              </a:rPr>
              <a:t>A relation will be 1NF if it contains an </a:t>
            </a:r>
            <a:r>
              <a:rPr lang="en-US" sz="2600" b="1" i="0" dirty="0">
                <a:solidFill>
                  <a:srgbClr val="000099"/>
                </a:solidFill>
                <a:effectLst/>
              </a:rPr>
              <a:t>atomic value.</a:t>
            </a:r>
          </a:p>
          <a:p>
            <a:pPr algn="just">
              <a:buFont typeface="Arial" panose="020B0604020202020204" pitchFamily="34" charset="0"/>
              <a:buChar char="•"/>
            </a:pPr>
            <a:r>
              <a:rPr lang="en-US" sz="2600" i="0" dirty="0">
                <a:effectLst/>
              </a:rPr>
              <a:t>It means, A relation is said to be in "1NF" if, every attribute in a relation is has </a:t>
            </a:r>
            <a:r>
              <a:rPr lang="en-US" sz="2600" b="1" i="0" dirty="0">
                <a:solidFill>
                  <a:srgbClr val="000099"/>
                </a:solidFill>
                <a:effectLst/>
              </a:rPr>
              <a:t>“Single Valued” </a:t>
            </a:r>
            <a:r>
              <a:rPr lang="en-US" sz="2600" i="0" dirty="0">
                <a:effectLst/>
              </a:rPr>
              <a:t>tuple.</a:t>
            </a:r>
          </a:p>
          <a:p>
            <a:pPr algn="just">
              <a:buFont typeface="Arial" panose="020B0604020202020204" pitchFamily="34" charset="0"/>
              <a:buChar char="•"/>
            </a:pPr>
            <a:r>
              <a:rPr lang="en-US" sz="2600" i="0" dirty="0">
                <a:effectLst/>
              </a:rPr>
              <a:t>Also, the </a:t>
            </a:r>
            <a:r>
              <a:rPr lang="en-US" sz="2600" b="1" i="0" dirty="0">
                <a:solidFill>
                  <a:srgbClr val="000099"/>
                </a:solidFill>
                <a:effectLst/>
              </a:rPr>
              <a:t>domain of the attributes must remain same throughout the table.</a:t>
            </a:r>
            <a:r>
              <a:rPr lang="en-US" sz="2600" i="0" dirty="0">
                <a:effectLst/>
              </a:rPr>
              <a:t> For example : E_ID attribute should contain only Employee ID and not any other value.</a:t>
            </a:r>
          </a:p>
          <a:p>
            <a:pPr algn="just">
              <a:buFont typeface="Arial" panose="020B0604020202020204" pitchFamily="34" charset="0"/>
              <a:buChar char="•"/>
            </a:pPr>
            <a:r>
              <a:rPr lang="en-US" sz="2600" dirty="0"/>
              <a:t>Each column in a table should have a </a:t>
            </a:r>
            <a:r>
              <a:rPr lang="en-US" sz="2600" b="1" dirty="0">
                <a:solidFill>
                  <a:srgbClr val="000099"/>
                </a:solidFill>
              </a:rPr>
              <a:t>unique name. </a:t>
            </a:r>
          </a:p>
          <a:p>
            <a:pPr algn="just">
              <a:buFont typeface="Arial" panose="020B0604020202020204" pitchFamily="34" charset="0"/>
              <a:buChar char="•"/>
            </a:pPr>
            <a:r>
              <a:rPr lang="en-US" sz="2600" b="1" i="0" dirty="0">
                <a:solidFill>
                  <a:srgbClr val="C00000"/>
                </a:solidFill>
                <a:effectLst/>
              </a:rPr>
              <a:t>First normal form disallows the multi-valued attribute, composite attribute, and their combinations.</a:t>
            </a:r>
          </a:p>
          <a:p>
            <a:endParaRPr lang="en-US" dirty="0"/>
          </a:p>
        </p:txBody>
      </p:sp>
      <p:graphicFrame>
        <p:nvGraphicFramePr>
          <p:cNvPr id="4" name="Table 3">
            <a:extLst>
              <a:ext uri="{FF2B5EF4-FFF2-40B4-BE49-F238E27FC236}">
                <a16:creationId xmlns="" xmlns:a16="http://schemas.microsoft.com/office/drawing/2014/main" id="{FD7C395F-B709-14D3-C3AC-C5D54C3405A6}"/>
              </a:ext>
            </a:extLst>
          </p:cNvPr>
          <p:cNvGraphicFramePr>
            <a:graphicFrameLocks noGrp="1"/>
          </p:cNvGraphicFramePr>
          <p:nvPr>
            <p:extLst>
              <p:ext uri="{D42A27DB-BD31-4B8C-83A1-F6EECF244321}">
                <p14:modId xmlns:p14="http://schemas.microsoft.com/office/powerpoint/2010/main" val="1924770877"/>
              </p:ext>
            </p:extLst>
          </p:nvPr>
        </p:nvGraphicFramePr>
        <p:xfrm>
          <a:off x="6375119" y="762160"/>
          <a:ext cx="5678336" cy="2331720"/>
        </p:xfrm>
        <a:graphic>
          <a:graphicData uri="http://schemas.openxmlformats.org/drawingml/2006/table">
            <a:tbl>
              <a:tblPr/>
              <a:tblGrid>
                <a:gridCol w="1037063">
                  <a:extLst>
                    <a:ext uri="{9D8B030D-6E8A-4147-A177-3AD203B41FA5}">
                      <a16:colId xmlns="" xmlns:a16="http://schemas.microsoft.com/office/drawing/2014/main" val="483935189"/>
                    </a:ext>
                  </a:extLst>
                </a:gridCol>
                <a:gridCol w="1551709">
                  <a:extLst>
                    <a:ext uri="{9D8B030D-6E8A-4147-A177-3AD203B41FA5}">
                      <a16:colId xmlns="" xmlns:a16="http://schemas.microsoft.com/office/drawing/2014/main" val="1899495896"/>
                    </a:ext>
                  </a:extLst>
                </a:gridCol>
                <a:gridCol w="1704109">
                  <a:extLst>
                    <a:ext uri="{9D8B030D-6E8A-4147-A177-3AD203B41FA5}">
                      <a16:colId xmlns="" xmlns:a16="http://schemas.microsoft.com/office/drawing/2014/main" val="1914604754"/>
                    </a:ext>
                  </a:extLst>
                </a:gridCol>
                <a:gridCol w="1385455">
                  <a:extLst>
                    <a:ext uri="{9D8B030D-6E8A-4147-A177-3AD203B41FA5}">
                      <a16:colId xmlns="" xmlns:a16="http://schemas.microsoft.com/office/drawing/2014/main" val="3491676979"/>
                    </a:ext>
                  </a:extLst>
                </a:gridCol>
              </a:tblGrid>
              <a:tr h="0">
                <a:tc>
                  <a:txBody>
                    <a:bodyPr/>
                    <a:lstStyle/>
                    <a:p>
                      <a:pPr algn="l" fontAlgn="t"/>
                      <a:r>
                        <a:rPr lang="en-US" b="1" dirty="0">
                          <a:solidFill>
                            <a:schemeClr val="tx1"/>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EMP_PHONE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EMP_STATE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3227778383"/>
                  </a:ext>
                </a:extLst>
              </a:tr>
              <a:tr h="0">
                <a:tc>
                  <a:txBody>
                    <a:bodyPr/>
                    <a:lstStyle/>
                    <a:p>
                      <a:pPr algn="just" fontAlgn="t"/>
                      <a:r>
                        <a:rPr lang="en-US">
                          <a:solidFill>
                            <a:schemeClr val="tx1"/>
                          </a:solidFill>
                          <a:effectLst/>
                          <a:latin typeface="+mn-lt"/>
                        </a:rPr>
                        <a:t>14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John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latin typeface="+mn-lt"/>
                        </a:rPr>
                        <a:t>7272826385,</a:t>
                      </a:r>
                      <a:br>
                        <a:rPr lang="en-US" dirty="0">
                          <a:solidFill>
                            <a:schemeClr val="tx1"/>
                          </a:solidFill>
                          <a:effectLst/>
                          <a:latin typeface="+mn-lt"/>
                        </a:rPr>
                      </a:br>
                      <a:r>
                        <a:rPr lang="en-US" dirty="0">
                          <a:solidFill>
                            <a:schemeClr val="tx1"/>
                          </a:solidFill>
                          <a:effectLst/>
                          <a:latin typeface="+mn-lt"/>
                        </a:rPr>
                        <a:t>9064738238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UP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645740714"/>
                  </a:ext>
                </a:extLst>
              </a:tr>
              <a:tr h="0">
                <a:tc>
                  <a:txBody>
                    <a:bodyPr/>
                    <a:lstStyle/>
                    <a:p>
                      <a:pPr algn="just" fontAlgn="t"/>
                      <a:r>
                        <a:rPr lang="en-US">
                          <a:solidFill>
                            <a:schemeClr val="tx1"/>
                          </a:solidFill>
                          <a:effectLst/>
                          <a:latin typeface="+mn-lt"/>
                        </a:rPr>
                        <a:t>20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Harry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8574783832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Bihar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3607221674"/>
                  </a:ext>
                </a:extLst>
              </a:tr>
              <a:tr h="0">
                <a:tc>
                  <a:txBody>
                    <a:bodyPr/>
                    <a:lstStyle/>
                    <a:p>
                      <a:pPr algn="just" fontAlgn="t"/>
                      <a:r>
                        <a:rPr lang="en-US">
                          <a:solidFill>
                            <a:schemeClr val="tx1"/>
                          </a:solidFill>
                          <a:effectLst/>
                          <a:latin typeface="+mn-lt"/>
                        </a:rPr>
                        <a:t>12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Sam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US" dirty="0">
                          <a:solidFill>
                            <a:schemeClr val="tx1"/>
                          </a:solidFill>
                          <a:effectLst/>
                          <a:latin typeface="+mn-lt"/>
                        </a:rPr>
                        <a:t>7390372389,</a:t>
                      </a:r>
                      <a:br>
                        <a:rPr lang="en-US" dirty="0">
                          <a:solidFill>
                            <a:schemeClr val="tx1"/>
                          </a:solidFill>
                          <a:effectLst/>
                          <a:latin typeface="+mn-lt"/>
                        </a:rPr>
                      </a:br>
                      <a:r>
                        <a:rPr lang="en-US" dirty="0">
                          <a:solidFill>
                            <a:schemeClr val="tx1"/>
                          </a:solidFill>
                          <a:effectLst/>
                          <a:latin typeface="+mn-lt"/>
                        </a:rPr>
                        <a:t>8589830302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Punjab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68192088"/>
                  </a:ext>
                </a:extLst>
              </a:tr>
            </a:tbl>
          </a:graphicData>
        </a:graphic>
      </p:graphicFrame>
      <p:sp>
        <p:nvSpPr>
          <p:cNvPr id="5" name="Content Placeholder 2">
            <a:extLst>
              <a:ext uri="{FF2B5EF4-FFF2-40B4-BE49-F238E27FC236}">
                <a16:creationId xmlns="" xmlns:a16="http://schemas.microsoft.com/office/drawing/2014/main" id="{15A06832-A0D3-C006-287A-F567B5F631B6}"/>
              </a:ext>
            </a:extLst>
          </p:cNvPr>
          <p:cNvSpPr txBox="1">
            <a:spLocks/>
          </p:cNvSpPr>
          <p:nvPr/>
        </p:nvSpPr>
        <p:spPr>
          <a:xfrm>
            <a:off x="4655127" y="9539"/>
            <a:ext cx="7155872" cy="1274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dirty="0">
                <a:solidFill>
                  <a:srgbClr val="C00000"/>
                </a:solidFill>
              </a:rPr>
              <a:t>Example: Relation EMPLOYEE is not in 1NF because of multi-valued attribute EMP_PHONE.</a:t>
            </a:r>
          </a:p>
          <a:p>
            <a:endParaRPr lang="en-US" dirty="0"/>
          </a:p>
        </p:txBody>
      </p:sp>
      <p:sp>
        <p:nvSpPr>
          <p:cNvPr id="7" name="Content Placeholder 2">
            <a:extLst>
              <a:ext uri="{FF2B5EF4-FFF2-40B4-BE49-F238E27FC236}">
                <a16:creationId xmlns="" xmlns:a16="http://schemas.microsoft.com/office/drawing/2014/main" id="{CCCD067D-4D4B-3957-9406-8509BEDA95F9}"/>
              </a:ext>
            </a:extLst>
          </p:cNvPr>
          <p:cNvSpPr txBox="1">
            <a:spLocks/>
          </p:cNvSpPr>
          <p:nvPr/>
        </p:nvSpPr>
        <p:spPr>
          <a:xfrm>
            <a:off x="6096000" y="3209351"/>
            <a:ext cx="5881254" cy="1274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i="0" dirty="0">
                <a:solidFill>
                  <a:srgbClr val="000099"/>
                </a:solidFill>
                <a:effectLst/>
              </a:rPr>
              <a:t>The decomposition of the EMPLOYEE table into 1NF has been shown below:</a:t>
            </a:r>
            <a:endParaRPr lang="en-US" sz="2400" b="1" dirty="0">
              <a:solidFill>
                <a:srgbClr val="000099"/>
              </a:solidFill>
            </a:endParaRPr>
          </a:p>
        </p:txBody>
      </p:sp>
      <p:graphicFrame>
        <p:nvGraphicFramePr>
          <p:cNvPr id="8" name="Table 7">
            <a:extLst>
              <a:ext uri="{FF2B5EF4-FFF2-40B4-BE49-F238E27FC236}">
                <a16:creationId xmlns="" xmlns:a16="http://schemas.microsoft.com/office/drawing/2014/main" id="{1C4181BA-A324-706E-EA11-107B92D310E5}"/>
              </a:ext>
            </a:extLst>
          </p:cNvPr>
          <p:cNvGraphicFramePr>
            <a:graphicFrameLocks noGrp="1"/>
          </p:cNvGraphicFramePr>
          <p:nvPr>
            <p:extLst>
              <p:ext uri="{D42A27DB-BD31-4B8C-83A1-F6EECF244321}">
                <p14:modId xmlns:p14="http://schemas.microsoft.com/office/powerpoint/2010/main" val="2736258593"/>
              </p:ext>
            </p:extLst>
          </p:nvPr>
        </p:nvGraphicFramePr>
        <p:xfrm>
          <a:off x="6096000" y="4011526"/>
          <a:ext cx="5671409" cy="2453640"/>
        </p:xfrm>
        <a:graphic>
          <a:graphicData uri="http://schemas.openxmlformats.org/drawingml/2006/table">
            <a:tbl>
              <a:tblPr/>
              <a:tblGrid>
                <a:gridCol w="1016281">
                  <a:extLst>
                    <a:ext uri="{9D8B030D-6E8A-4147-A177-3AD203B41FA5}">
                      <a16:colId xmlns="" xmlns:a16="http://schemas.microsoft.com/office/drawing/2014/main" val="886673942"/>
                    </a:ext>
                  </a:extLst>
                </a:gridCol>
                <a:gridCol w="1427018">
                  <a:extLst>
                    <a:ext uri="{9D8B030D-6E8A-4147-A177-3AD203B41FA5}">
                      <a16:colId xmlns="" xmlns:a16="http://schemas.microsoft.com/office/drawing/2014/main" val="748483258"/>
                    </a:ext>
                  </a:extLst>
                </a:gridCol>
                <a:gridCol w="1704110">
                  <a:extLst>
                    <a:ext uri="{9D8B030D-6E8A-4147-A177-3AD203B41FA5}">
                      <a16:colId xmlns="" xmlns:a16="http://schemas.microsoft.com/office/drawing/2014/main" val="2630677853"/>
                    </a:ext>
                  </a:extLst>
                </a:gridCol>
                <a:gridCol w="1524000">
                  <a:extLst>
                    <a:ext uri="{9D8B030D-6E8A-4147-A177-3AD203B41FA5}">
                      <a16:colId xmlns="" xmlns:a16="http://schemas.microsoft.com/office/drawing/2014/main" val="3369689473"/>
                    </a:ext>
                  </a:extLst>
                </a:gridCol>
              </a:tblGrid>
              <a:tr h="0">
                <a:tc>
                  <a:txBody>
                    <a:bodyPr/>
                    <a:lstStyle/>
                    <a:p>
                      <a:pPr algn="l" fontAlgn="t"/>
                      <a:r>
                        <a:rPr lang="en-US" sz="1600" b="1" dirty="0">
                          <a:solidFill>
                            <a:schemeClr val="tx1"/>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b="1" dirty="0">
                          <a:solidFill>
                            <a:schemeClr val="tx1"/>
                          </a:solidFill>
                          <a:effectLst/>
                          <a:latin typeface="+mn-lt"/>
                        </a:rPr>
                        <a:t>EMP_NAME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b="1" dirty="0">
                          <a:solidFill>
                            <a:schemeClr val="tx1"/>
                          </a:solidFill>
                          <a:effectLst/>
                          <a:latin typeface="+mn-lt"/>
                        </a:rPr>
                        <a:t>EMP_PHONE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b="1" dirty="0">
                          <a:solidFill>
                            <a:schemeClr val="tx1"/>
                          </a:solidFill>
                          <a:effectLst/>
                          <a:latin typeface="+mn-lt"/>
                        </a:rPr>
                        <a:t>EMP_STATE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799740047"/>
                  </a:ext>
                </a:extLst>
              </a:tr>
              <a:tr h="0">
                <a:tc>
                  <a:txBody>
                    <a:bodyPr/>
                    <a:lstStyle/>
                    <a:p>
                      <a:pPr algn="just" fontAlgn="t"/>
                      <a:r>
                        <a:rPr lang="en-US" sz="1600" dirty="0">
                          <a:solidFill>
                            <a:schemeClr val="tx1"/>
                          </a:solidFill>
                          <a:effectLst/>
                          <a:latin typeface="+mn-lt"/>
                        </a:rPr>
                        <a:t>14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John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7272826385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UP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005342591"/>
                  </a:ext>
                </a:extLst>
              </a:tr>
              <a:tr h="0">
                <a:tc>
                  <a:txBody>
                    <a:bodyPr/>
                    <a:lstStyle/>
                    <a:p>
                      <a:pPr algn="just" fontAlgn="t"/>
                      <a:r>
                        <a:rPr lang="en-US" sz="1600" dirty="0">
                          <a:solidFill>
                            <a:schemeClr val="tx1"/>
                          </a:solidFill>
                          <a:effectLst/>
                          <a:latin typeface="+mn-lt"/>
                        </a:rPr>
                        <a:t>14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John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9064738238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UP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3912089585"/>
                  </a:ext>
                </a:extLst>
              </a:tr>
              <a:tr h="0">
                <a:tc>
                  <a:txBody>
                    <a:bodyPr/>
                    <a:lstStyle/>
                    <a:p>
                      <a:pPr algn="just" fontAlgn="t"/>
                      <a:r>
                        <a:rPr lang="en-US" sz="1600">
                          <a:solidFill>
                            <a:schemeClr val="tx1"/>
                          </a:solidFill>
                          <a:effectLst/>
                          <a:latin typeface="+mn-lt"/>
                        </a:rPr>
                        <a:t>20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Harry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8574783832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Bihar</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564446201"/>
                  </a:ext>
                </a:extLst>
              </a:tr>
              <a:tr h="0">
                <a:tc>
                  <a:txBody>
                    <a:bodyPr/>
                    <a:lstStyle/>
                    <a:p>
                      <a:pPr algn="just" fontAlgn="t"/>
                      <a:r>
                        <a:rPr lang="en-US" sz="1600">
                          <a:solidFill>
                            <a:schemeClr val="tx1"/>
                          </a:solidFill>
                          <a:effectLst/>
                          <a:latin typeface="+mn-lt"/>
                        </a:rPr>
                        <a:t>12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Sam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7390372389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Punjab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2127071867"/>
                  </a:ext>
                </a:extLst>
              </a:tr>
              <a:tr h="0">
                <a:tc>
                  <a:txBody>
                    <a:bodyPr/>
                    <a:lstStyle/>
                    <a:p>
                      <a:pPr algn="just" fontAlgn="t"/>
                      <a:r>
                        <a:rPr lang="en-US" sz="1600">
                          <a:solidFill>
                            <a:schemeClr val="tx1"/>
                          </a:solidFill>
                          <a:effectLst/>
                          <a:latin typeface="+mn-lt"/>
                        </a:rPr>
                        <a:t>12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Sam</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8589830302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Punjab</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675041103"/>
                  </a:ext>
                </a:extLst>
              </a:tr>
            </a:tbl>
          </a:graphicData>
        </a:graphic>
      </p:graphicFrame>
    </p:spTree>
    <p:extLst>
      <p:ext uri="{BB962C8B-B14F-4D97-AF65-F5344CB8AC3E}">
        <p14:creationId xmlns:p14="http://schemas.microsoft.com/office/powerpoint/2010/main" val="34082406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dirty="0" smtClean="0"/>
              <a:t>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8100507"/>
              </p:ext>
            </p:extLst>
          </p:nvPr>
        </p:nvGraphicFramePr>
        <p:xfrm>
          <a:off x="731520" y="2081530"/>
          <a:ext cx="10515600" cy="2599216"/>
        </p:xfrm>
        <a:graphic>
          <a:graphicData uri="http://schemas.openxmlformats.org/drawingml/2006/table">
            <a:tbl>
              <a:tblPr>
                <a:tableStyleId>{5940675A-B579-460E-94D1-54222C63F5DA}</a:tableStyleId>
              </a:tblPr>
              <a:tblGrid>
                <a:gridCol w="3505200"/>
                <a:gridCol w="3505200"/>
                <a:gridCol w="3505200"/>
              </a:tblGrid>
              <a:tr h="649804">
                <a:tc>
                  <a:txBody>
                    <a:bodyPr/>
                    <a:lstStyle/>
                    <a:p>
                      <a:r>
                        <a:rPr lang="en-US" b="1" dirty="0" err="1"/>
                        <a:t>Student_ID</a:t>
                      </a:r>
                      <a:endParaRPr lang="en-US" b="1" dirty="0"/>
                    </a:p>
                  </a:txBody>
                  <a:tcPr anchor="ctr"/>
                </a:tc>
                <a:tc>
                  <a:txBody>
                    <a:bodyPr/>
                    <a:lstStyle/>
                    <a:p>
                      <a:r>
                        <a:rPr lang="en-US" b="1" dirty="0" err="1"/>
                        <a:t>Student_Name</a:t>
                      </a:r>
                      <a:endParaRPr lang="en-US" b="1" dirty="0"/>
                    </a:p>
                  </a:txBody>
                  <a:tcPr anchor="ctr"/>
                </a:tc>
                <a:tc>
                  <a:txBody>
                    <a:bodyPr/>
                    <a:lstStyle/>
                    <a:p>
                      <a:r>
                        <a:rPr lang="en-US" b="1" dirty="0"/>
                        <a:t>Subjects</a:t>
                      </a:r>
                    </a:p>
                  </a:txBody>
                  <a:tcPr anchor="ctr"/>
                </a:tc>
              </a:tr>
              <a:tr h="649804">
                <a:tc>
                  <a:txBody>
                    <a:bodyPr/>
                    <a:lstStyle/>
                    <a:p>
                      <a:r>
                        <a:rPr lang="en-US"/>
                        <a:t>101</a:t>
                      </a:r>
                    </a:p>
                  </a:txBody>
                  <a:tcPr anchor="ctr"/>
                </a:tc>
                <a:tc>
                  <a:txBody>
                    <a:bodyPr/>
                    <a:lstStyle/>
                    <a:p>
                      <a:r>
                        <a:rPr lang="en-US" dirty="0"/>
                        <a:t>Alice</a:t>
                      </a:r>
                    </a:p>
                  </a:txBody>
                  <a:tcPr anchor="ctr"/>
                </a:tc>
                <a:tc>
                  <a:txBody>
                    <a:bodyPr/>
                    <a:lstStyle/>
                    <a:p>
                      <a:r>
                        <a:rPr lang="en-US"/>
                        <a:t>Math, Science</a:t>
                      </a:r>
                    </a:p>
                  </a:txBody>
                  <a:tcPr anchor="ctr"/>
                </a:tc>
              </a:tr>
              <a:tr h="649804">
                <a:tc>
                  <a:txBody>
                    <a:bodyPr/>
                    <a:lstStyle/>
                    <a:p>
                      <a:r>
                        <a:rPr lang="en-US"/>
                        <a:t>102</a:t>
                      </a:r>
                    </a:p>
                  </a:txBody>
                  <a:tcPr anchor="ctr"/>
                </a:tc>
                <a:tc>
                  <a:txBody>
                    <a:bodyPr/>
                    <a:lstStyle/>
                    <a:p>
                      <a:r>
                        <a:rPr lang="en-US"/>
                        <a:t>Bob</a:t>
                      </a:r>
                    </a:p>
                  </a:txBody>
                  <a:tcPr anchor="ctr"/>
                </a:tc>
                <a:tc>
                  <a:txBody>
                    <a:bodyPr/>
                    <a:lstStyle/>
                    <a:p>
                      <a:r>
                        <a:rPr lang="en-US"/>
                        <a:t>English, History</a:t>
                      </a:r>
                    </a:p>
                  </a:txBody>
                  <a:tcPr anchor="ctr"/>
                </a:tc>
              </a:tr>
              <a:tr h="649804">
                <a:tc>
                  <a:txBody>
                    <a:bodyPr/>
                    <a:lstStyle/>
                    <a:p>
                      <a:r>
                        <a:rPr lang="en-US"/>
                        <a:t>103</a:t>
                      </a:r>
                    </a:p>
                  </a:txBody>
                  <a:tcPr anchor="ctr"/>
                </a:tc>
                <a:tc>
                  <a:txBody>
                    <a:bodyPr/>
                    <a:lstStyle/>
                    <a:p>
                      <a:r>
                        <a:rPr lang="en-US"/>
                        <a:t>Charlie</a:t>
                      </a:r>
                    </a:p>
                  </a:txBody>
                  <a:tcPr anchor="ctr"/>
                </a:tc>
                <a:tc>
                  <a:txBody>
                    <a:bodyPr/>
                    <a:lstStyle/>
                    <a:p>
                      <a:r>
                        <a:rPr lang="en-US" dirty="0"/>
                        <a:t>Science, Math</a:t>
                      </a:r>
                    </a:p>
                  </a:txBody>
                  <a:tcPr anchor="ctr"/>
                </a:tc>
              </a:tr>
            </a:tbl>
          </a:graphicData>
        </a:graphic>
      </p:graphicFrame>
      <p:sp>
        <p:nvSpPr>
          <p:cNvPr id="5" name="Rectangle 1"/>
          <p:cNvSpPr>
            <a:spLocks noChangeArrowheads="1"/>
          </p:cNvSpPr>
          <p:nvPr/>
        </p:nvSpPr>
        <p:spPr bwMode="auto">
          <a:xfrm>
            <a:off x="548640" y="162433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cs typeface="Arial" charset="0"/>
              </a:rPr>
              <a:t>Example 1: Non-1NF Table (Repeating Values in a Column)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3588980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77222762"/>
              </p:ext>
            </p:extLst>
          </p:nvPr>
        </p:nvGraphicFramePr>
        <p:xfrm>
          <a:off x="838200" y="2721134"/>
          <a:ext cx="10515600" cy="2560320"/>
        </p:xfrm>
        <a:graphic>
          <a:graphicData uri="http://schemas.openxmlformats.org/drawingml/2006/table">
            <a:tbl>
              <a:tblPr>
                <a:tableStyleId>{5940675A-B579-460E-94D1-54222C63F5DA}</a:tableStyleId>
              </a:tblPr>
              <a:tblGrid>
                <a:gridCol w="3505200"/>
                <a:gridCol w="3505200"/>
                <a:gridCol w="3505200"/>
              </a:tblGrid>
              <a:tr h="0">
                <a:tc>
                  <a:txBody>
                    <a:bodyPr/>
                    <a:lstStyle/>
                    <a:p>
                      <a:r>
                        <a:rPr lang="en-US" b="1" dirty="0" err="1"/>
                        <a:t>Student_ID</a:t>
                      </a:r>
                      <a:endParaRPr lang="en-US" b="1" dirty="0"/>
                    </a:p>
                  </a:txBody>
                  <a:tcPr anchor="ctr"/>
                </a:tc>
                <a:tc>
                  <a:txBody>
                    <a:bodyPr/>
                    <a:lstStyle/>
                    <a:p>
                      <a:r>
                        <a:rPr lang="en-US" b="1"/>
                        <a:t>Student_Name</a:t>
                      </a:r>
                    </a:p>
                  </a:txBody>
                  <a:tcPr anchor="ctr"/>
                </a:tc>
                <a:tc>
                  <a:txBody>
                    <a:bodyPr/>
                    <a:lstStyle/>
                    <a:p>
                      <a:r>
                        <a:rPr lang="en-US" b="1" dirty="0"/>
                        <a:t>Subject</a:t>
                      </a:r>
                    </a:p>
                  </a:txBody>
                  <a:tcPr anchor="ctr"/>
                </a:tc>
              </a:tr>
              <a:tr h="0">
                <a:tc>
                  <a:txBody>
                    <a:bodyPr/>
                    <a:lstStyle/>
                    <a:p>
                      <a:r>
                        <a:rPr lang="en-US"/>
                        <a:t>101</a:t>
                      </a:r>
                    </a:p>
                  </a:txBody>
                  <a:tcPr anchor="ctr"/>
                </a:tc>
                <a:tc>
                  <a:txBody>
                    <a:bodyPr/>
                    <a:lstStyle/>
                    <a:p>
                      <a:r>
                        <a:rPr lang="en-US"/>
                        <a:t>Alice</a:t>
                      </a:r>
                    </a:p>
                  </a:txBody>
                  <a:tcPr anchor="ctr"/>
                </a:tc>
                <a:tc>
                  <a:txBody>
                    <a:bodyPr/>
                    <a:lstStyle/>
                    <a:p>
                      <a:r>
                        <a:rPr lang="en-US"/>
                        <a:t>Math</a:t>
                      </a:r>
                    </a:p>
                  </a:txBody>
                  <a:tcPr anchor="ctr"/>
                </a:tc>
              </a:tr>
              <a:tr h="0">
                <a:tc>
                  <a:txBody>
                    <a:bodyPr/>
                    <a:lstStyle/>
                    <a:p>
                      <a:r>
                        <a:rPr lang="en-US"/>
                        <a:t>101</a:t>
                      </a:r>
                    </a:p>
                  </a:txBody>
                  <a:tcPr anchor="ctr"/>
                </a:tc>
                <a:tc>
                  <a:txBody>
                    <a:bodyPr/>
                    <a:lstStyle/>
                    <a:p>
                      <a:r>
                        <a:rPr lang="en-US"/>
                        <a:t>Alice</a:t>
                      </a:r>
                    </a:p>
                  </a:txBody>
                  <a:tcPr anchor="ctr"/>
                </a:tc>
                <a:tc>
                  <a:txBody>
                    <a:bodyPr/>
                    <a:lstStyle/>
                    <a:p>
                      <a:r>
                        <a:rPr lang="en-US"/>
                        <a:t>Science</a:t>
                      </a:r>
                    </a:p>
                  </a:txBody>
                  <a:tcPr anchor="ctr"/>
                </a:tc>
              </a:tr>
              <a:tr h="0">
                <a:tc>
                  <a:txBody>
                    <a:bodyPr/>
                    <a:lstStyle/>
                    <a:p>
                      <a:r>
                        <a:rPr lang="en-US" dirty="0"/>
                        <a:t>102</a:t>
                      </a:r>
                    </a:p>
                  </a:txBody>
                  <a:tcPr anchor="ctr"/>
                </a:tc>
                <a:tc>
                  <a:txBody>
                    <a:bodyPr/>
                    <a:lstStyle/>
                    <a:p>
                      <a:r>
                        <a:rPr lang="en-US"/>
                        <a:t>Bob</a:t>
                      </a:r>
                    </a:p>
                  </a:txBody>
                  <a:tcPr anchor="ctr"/>
                </a:tc>
                <a:tc>
                  <a:txBody>
                    <a:bodyPr/>
                    <a:lstStyle/>
                    <a:p>
                      <a:r>
                        <a:rPr lang="en-US"/>
                        <a:t>English</a:t>
                      </a:r>
                    </a:p>
                  </a:txBody>
                  <a:tcPr anchor="ctr"/>
                </a:tc>
              </a:tr>
              <a:tr h="0">
                <a:tc>
                  <a:txBody>
                    <a:bodyPr/>
                    <a:lstStyle/>
                    <a:p>
                      <a:r>
                        <a:rPr lang="en-US"/>
                        <a:t>102</a:t>
                      </a:r>
                    </a:p>
                  </a:txBody>
                  <a:tcPr anchor="ctr"/>
                </a:tc>
                <a:tc>
                  <a:txBody>
                    <a:bodyPr/>
                    <a:lstStyle/>
                    <a:p>
                      <a:r>
                        <a:rPr lang="en-US"/>
                        <a:t>Bob</a:t>
                      </a:r>
                    </a:p>
                  </a:txBody>
                  <a:tcPr anchor="ctr"/>
                </a:tc>
                <a:tc>
                  <a:txBody>
                    <a:bodyPr/>
                    <a:lstStyle/>
                    <a:p>
                      <a:r>
                        <a:rPr lang="en-US"/>
                        <a:t>History</a:t>
                      </a:r>
                    </a:p>
                  </a:txBody>
                  <a:tcPr anchor="ctr"/>
                </a:tc>
              </a:tr>
              <a:tr h="0">
                <a:tc>
                  <a:txBody>
                    <a:bodyPr/>
                    <a:lstStyle/>
                    <a:p>
                      <a:r>
                        <a:rPr lang="en-US"/>
                        <a:t>103</a:t>
                      </a:r>
                    </a:p>
                  </a:txBody>
                  <a:tcPr anchor="ctr"/>
                </a:tc>
                <a:tc>
                  <a:txBody>
                    <a:bodyPr/>
                    <a:lstStyle/>
                    <a:p>
                      <a:r>
                        <a:rPr lang="en-US"/>
                        <a:t>Charlie</a:t>
                      </a:r>
                    </a:p>
                  </a:txBody>
                  <a:tcPr anchor="ctr"/>
                </a:tc>
                <a:tc>
                  <a:txBody>
                    <a:bodyPr/>
                    <a:lstStyle/>
                    <a:p>
                      <a:r>
                        <a:rPr lang="en-US"/>
                        <a:t>Science</a:t>
                      </a:r>
                    </a:p>
                  </a:txBody>
                  <a:tcPr anchor="ctr"/>
                </a:tc>
              </a:tr>
              <a:tr h="0">
                <a:tc>
                  <a:txBody>
                    <a:bodyPr/>
                    <a:lstStyle/>
                    <a:p>
                      <a:r>
                        <a:rPr lang="en-US"/>
                        <a:t>103</a:t>
                      </a:r>
                    </a:p>
                  </a:txBody>
                  <a:tcPr anchor="ctr"/>
                </a:tc>
                <a:tc>
                  <a:txBody>
                    <a:bodyPr/>
                    <a:lstStyle/>
                    <a:p>
                      <a:r>
                        <a:rPr lang="en-US"/>
                        <a:t>Charlie</a:t>
                      </a:r>
                    </a:p>
                  </a:txBody>
                  <a:tcPr anchor="ctr"/>
                </a:tc>
                <a:tc>
                  <a:txBody>
                    <a:bodyPr/>
                    <a:lstStyle/>
                    <a:p>
                      <a:r>
                        <a:rPr lang="en-US" dirty="0"/>
                        <a:t>Math</a:t>
                      </a:r>
                    </a:p>
                  </a:txBody>
                  <a:tcPr anchor="ctr"/>
                </a:tc>
              </a:tr>
            </a:tbl>
          </a:graphicData>
        </a:graphic>
      </p:graphicFrame>
      <p:sp>
        <p:nvSpPr>
          <p:cNvPr id="5" name="Rectangle 1"/>
          <p:cNvSpPr>
            <a:spLocks noChangeArrowheads="1"/>
          </p:cNvSpPr>
          <p:nvPr/>
        </p:nvSpPr>
        <p:spPr bwMode="auto">
          <a:xfrm>
            <a:off x="838200" y="183705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Arial" charset="0"/>
                <a:cs typeface="Arial" charset="0"/>
              </a:rPr>
              <a:t>1NF Compliant Table (Atomic Values for Each Column)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5913265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37109504"/>
              </p:ext>
            </p:extLst>
          </p:nvPr>
        </p:nvGraphicFramePr>
        <p:xfrm>
          <a:off x="1158240" y="1654334"/>
          <a:ext cx="4754880" cy="1463040"/>
        </p:xfrm>
        <a:graphic>
          <a:graphicData uri="http://schemas.openxmlformats.org/drawingml/2006/table">
            <a:tbl>
              <a:tblPr>
                <a:tableStyleId>{5940675A-B579-460E-94D1-54222C63F5DA}</a:tableStyleId>
              </a:tblPr>
              <a:tblGrid>
                <a:gridCol w="2377440"/>
                <a:gridCol w="2377440"/>
              </a:tblGrid>
              <a:tr h="329367">
                <a:tc>
                  <a:txBody>
                    <a:bodyPr/>
                    <a:lstStyle/>
                    <a:p>
                      <a:r>
                        <a:rPr lang="en-US" dirty="0" err="1"/>
                        <a:t>Student_ID</a:t>
                      </a:r>
                      <a:endParaRPr lang="en-US" dirty="0"/>
                    </a:p>
                  </a:txBody>
                  <a:tcPr anchor="ctr"/>
                </a:tc>
                <a:tc>
                  <a:txBody>
                    <a:bodyPr/>
                    <a:lstStyle/>
                    <a:p>
                      <a:r>
                        <a:rPr lang="en-US"/>
                        <a:t>Student_Name</a:t>
                      </a:r>
                    </a:p>
                  </a:txBody>
                  <a:tcPr anchor="ctr"/>
                </a:tc>
              </a:tr>
              <a:tr h="329367">
                <a:tc>
                  <a:txBody>
                    <a:bodyPr/>
                    <a:lstStyle/>
                    <a:p>
                      <a:r>
                        <a:rPr lang="en-US" dirty="0"/>
                        <a:t>101</a:t>
                      </a:r>
                    </a:p>
                  </a:txBody>
                  <a:tcPr anchor="ctr"/>
                </a:tc>
                <a:tc>
                  <a:txBody>
                    <a:bodyPr/>
                    <a:lstStyle/>
                    <a:p>
                      <a:r>
                        <a:rPr lang="en-US"/>
                        <a:t>Alice</a:t>
                      </a:r>
                    </a:p>
                  </a:txBody>
                  <a:tcPr anchor="ctr"/>
                </a:tc>
              </a:tr>
              <a:tr h="329367">
                <a:tc>
                  <a:txBody>
                    <a:bodyPr/>
                    <a:lstStyle/>
                    <a:p>
                      <a:r>
                        <a:rPr lang="en-US"/>
                        <a:t>102</a:t>
                      </a:r>
                    </a:p>
                  </a:txBody>
                  <a:tcPr anchor="ctr"/>
                </a:tc>
                <a:tc>
                  <a:txBody>
                    <a:bodyPr/>
                    <a:lstStyle/>
                    <a:p>
                      <a:r>
                        <a:rPr lang="en-US" dirty="0"/>
                        <a:t>Bob</a:t>
                      </a:r>
                    </a:p>
                  </a:txBody>
                  <a:tcPr anchor="ctr"/>
                </a:tc>
              </a:tr>
              <a:tr h="329367">
                <a:tc>
                  <a:txBody>
                    <a:bodyPr/>
                    <a:lstStyle/>
                    <a:p>
                      <a:r>
                        <a:rPr lang="en-US"/>
                        <a:t>103</a:t>
                      </a:r>
                    </a:p>
                  </a:txBody>
                  <a:tcPr anchor="ctr"/>
                </a:tc>
                <a:tc>
                  <a:txBody>
                    <a:bodyPr/>
                    <a:lstStyle/>
                    <a:p>
                      <a:r>
                        <a:rPr lang="en-US" dirty="0"/>
                        <a:t>Charlie</a:t>
                      </a:r>
                    </a:p>
                  </a:txBody>
                  <a:tcPr anchor="ct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368911"/>
              </p:ext>
            </p:extLst>
          </p:nvPr>
        </p:nvGraphicFramePr>
        <p:xfrm>
          <a:off x="6629400" y="1547654"/>
          <a:ext cx="4526280" cy="1828800"/>
        </p:xfrm>
        <a:graphic>
          <a:graphicData uri="http://schemas.openxmlformats.org/drawingml/2006/table">
            <a:tbl>
              <a:tblPr>
                <a:tableStyleId>{5940675A-B579-460E-94D1-54222C63F5DA}</a:tableStyleId>
              </a:tblPr>
              <a:tblGrid>
                <a:gridCol w="2263140"/>
                <a:gridCol w="2263140"/>
              </a:tblGrid>
              <a:tr h="275685">
                <a:tc>
                  <a:txBody>
                    <a:bodyPr/>
                    <a:lstStyle/>
                    <a:p>
                      <a:r>
                        <a:rPr lang="en-US" dirty="0" err="1"/>
                        <a:t>Subject_ID</a:t>
                      </a:r>
                      <a:endParaRPr lang="en-US" dirty="0"/>
                    </a:p>
                  </a:txBody>
                  <a:tcPr anchor="ctr"/>
                </a:tc>
                <a:tc>
                  <a:txBody>
                    <a:bodyPr/>
                    <a:lstStyle/>
                    <a:p>
                      <a:r>
                        <a:rPr lang="en-US"/>
                        <a:t>Subject_Name</a:t>
                      </a:r>
                    </a:p>
                  </a:txBody>
                  <a:tcPr anchor="ctr"/>
                </a:tc>
              </a:tr>
              <a:tr h="275685">
                <a:tc>
                  <a:txBody>
                    <a:bodyPr/>
                    <a:lstStyle/>
                    <a:p>
                      <a:r>
                        <a:rPr lang="en-US"/>
                        <a:t>1</a:t>
                      </a:r>
                    </a:p>
                  </a:txBody>
                  <a:tcPr anchor="ctr"/>
                </a:tc>
                <a:tc>
                  <a:txBody>
                    <a:bodyPr/>
                    <a:lstStyle/>
                    <a:p>
                      <a:r>
                        <a:rPr lang="en-US"/>
                        <a:t>Math</a:t>
                      </a:r>
                    </a:p>
                  </a:txBody>
                  <a:tcPr anchor="ctr"/>
                </a:tc>
              </a:tr>
              <a:tr h="275685">
                <a:tc>
                  <a:txBody>
                    <a:bodyPr/>
                    <a:lstStyle/>
                    <a:p>
                      <a:r>
                        <a:rPr lang="en-US" dirty="0"/>
                        <a:t>2</a:t>
                      </a:r>
                    </a:p>
                  </a:txBody>
                  <a:tcPr anchor="ctr"/>
                </a:tc>
                <a:tc>
                  <a:txBody>
                    <a:bodyPr/>
                    <a:lstStyle/>
                    <a:p>
                      <a:r>
                        <a:rPr lang="en-US" dirty="0"/>
                        <a:t>Science</a:t>
                      </a:r>
                    </a:p>
                  </a:txBody>
                  <a:tcPr anchor="ctr"/>
                </a:tc>
              </a:tr>
              <a:tr h="275685">
                <a:tc>
                  <a:txBody>
                    <a:bodyPr/>
                    <a:lstStyle/>
                    <a:p>
                      <a:r>
                        <a:rPr lang="en-US"/>
                        <a:t>3</a:t>
                      </a:r>
                    </a:p>
                  </a:txBody>
                  <a:tcPr anchor="ctr"/>
                </a:tc>
                <a:tc>
                  <a:txBody>
                    <a:bodyPr/>
                    <a:lstStyle/>
                    <a:p>
                      <a:r>
                        <a:rPr lang="en-US"/>
                        <a:t>English</a:t>
                      </a:r>
                    </a:p>
                  </a:txBody>
                  <a:tcPr anchor="ctr"/>
                </a:tc>
              </a:tr>
              <a:tr h="275685">
                <a:tc>
                  <a:txBody>
                    <a:bodyPr/>
                    <a:lstStyle/>
                    <a:p>
                      <a:r>
                        <a:rPr lang="en-US"/>
                        <a:t>4</a:t>
                      </a:r>
                    </a:p>
                  </a:txBody>
                  <a:tcPr anchor="ctr"/>
                </a:tc>
                <a:tc>
                  <a:txBody>
                    <a:bodyPr/>
                    <a:lstStyle/>
                    <a:p>
                      <a:r>
                        <a:rPr lang="en-US" dirty="0"/>
                        <a:t>History</a:t>
                      </a:r>
                    </a:p>
                  </a:txBody>
                  <a:tcPr anchor="ct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69919844"/>
              </p:ext>
            </p:extLst>
          </p:nvPr>
        </p:nvGraphicFramePr>
        <p:xfrm>
          <a:off x="3139440" y="3894614"/>
          <a:ext cx="4815840" cy="2560320"/>
        </p:xfrm>
        <a:graphic>
          <a:graphicData uri="http://schemas.openxmlformats.org/drawingml/2006/table">
            <a:tbl>
              <a:tblPr>
                <a:tableStyleId>{5940675A-B579-460E-94D1-54222C63F5DA}</a:tableStyleId>
              </a:tblPr>
              <a:tblGrid>
                <a:gridCol w="2407920"/>
                <a:gridCol w="2407920"/>
              </a:tblGrid>
              <a:tr h="231752">
                <a:tc>
                  <a:txBody>
                    <a:bodyPr/>
                    <a:lstStyle/>
                    <a:p>
                      <a:r>
                        <a:rPr lang="en-US" dirty="0" err="1"/>
                        <a:t>Student_ID</a:t>
                      </a:r>
                      <a:endParaRPr lang="en-US" dirty="0"/>
                    </a:p>
                  </a:txBody>
                  <a:tcPr anchor="ctr"/>
                </a:tc>
                <a:tc>
                  <a:txBody>
                    <a:bodyPr/>
                    <a:lstStyle/>
                    <a:p>
                      <a:r>
                        <a:rPr lang="en-US"/>
                        <a:t>Subject_ID</a:t>
                      </a:r>
                    </a:p>
                  </a:txBody>
                  <a:tcPr anchor="ctr"/>
                </a:tc>
              </a:tr>
              <a:tr h="231752">
                <a:tc>
                  <a:txBody>
                    <a:bodyPr/>
                    <a:lstStyle/>
                    <a:p>
                      <a:r>
                        <a:rPr lang="en-US" dirty="0"/>
                        <a:t>101</a:t>
                      </a:r>
                    </a:p>
                  </a:txBody>
                  <a:tcPr anchor="ctr"/>
                </a:tc>
                <a:tc>
                  <a:txBody>
                    <a:bodyPr/>
                    <a:lstStyle/>
                    <a:p>
                      <a:r>
                        <a:rPr lang="en-US"/>
                        <a:t>1</a:t>
                      </a:r>
                    </a:p>
                  </a:txBody>
                  <a:tcPr anchor="ctr"/>
                </a:tc>
              </a:tr>
              <a:tr h="231752">
                <a:tc>
                  <a:txBody>
                    <a:bodyPr/>
                    <a:lstStyle/>
                    <a:p>
                      <a:r>
                        <a:rPr lang="en-US"/>
                        <a:t>101</a:t>
                      </a:r>
                    </a:p>
                  </a:txBody>
                  <a:tcPr anchor="ctr"/>
                </a:tc>
                <a:tc>
                  <a:txBody>
                    <a:bodyPr/>
                    <a:lstStyle/>
                    <a:p>
                      <a:r>
                        <a:rPr lang="en-US"/>
                        <a:t>2</a:t>
                      </a:r>
                    </a:p>
                  </a:txBody>
                  <a:tcPr anchor="ctr"/>
                </a:tc>
              </a:tr>
              <a:tr h="231752">
                <a:tc>
                  <a:txBody>
                    <a:bodyPr/>
                    <a:lstStyle/>
                    <a:p>
                      <a:r>
                        <a:rPr lang="en-US"/>
                        <a:t>102</a:t>
                      </a:r>
                    </a:p>
                  </a:txBody>
                  <a:tcPr anchor="ctr"/>
                </a:tc>
                <a:tc>
                  <a:txBody>
                    <a:bodyPr/>
                    <a:lstStyle/>
                    <a:p>
                      <a:r>
                        <a:rPr lang="en-US"/>
                        <a:t>3</a:t>
                      </a:r>
                    </a:p>
                  </a:txBody>
                  <a:tcPr anchor="ctr"/>
                </a:tc>
              </a:tr>
              <a:tr h="231752">
                <a:tc>
                  <a:txBody>
                    <a:bodyPr/>
                    <a:lstStyle/>
                    <a:p>
                      <a:r>
                        <a:rPr lang="en-US"/>
                        <a:t>102</a:t>
                      </a:r>
                    </a:p>
                  </a:txBody>
                  <a:tcPr anchor="ctr"/>
                </a:tc>
                <a:tc>
                  <a:txBody>
                    <a:bodyPr/>
                    <a:lstStyle/>
                    <a:p>
                      <a:r>
                        <a:rPr lang="en-US"/>
                        <a:t>4</a:t>
                      </a:r>
                    </a:p>
                  </a:txBody>
                  <a:tcPr anchor="ctr"/>
                </a:tc>
              </a:tr>
              <a:tr h="231752">
                <a:tc>
                  <a:txBody>
                    <a:bodyPr/>
                    <a:lstStyle/>
                    <a:p>
                      <a:r>
                        <a:rPr lang="en-US"/>
                        <a:t>103</a:t>
                      </a:r>
                    </a:p>
                  </a:txBody>
                  <a:tcPr anchor="ctr"/>
                </a:tc>
                <a:tc>
                  <a:txBody>
                    <a:bodyPr/>
                    <a:lstStyle/>
                    <a:p>
                      <a:r>
                        <a:rPr lang="en-US"/>
                        <a:t>2</a:t>
                      </a:r>
                    </a:p>
                  </a:txBody>
                  <a:tcPr anchor="ctr"/>
                </a:tc>
              </a:tr>
              <a:tr h="231752">
                <a:tc>
                  <a:txBody>
                    <a:bodyPr/>
                    <a:lstStyle/>
                    <a:p>
                      <a:r>
                        <a:rPr lang="en-US"/>
                        <a:t>103</a:t>
                      </a:r>
                    </a:p>
                  </a:txBody>
                  <a:tcPr anchor="ctr"/>
                </a:tc>
                <a:tc>
                  <a:txBody>
                    <a:bodyPr/>
                    <a:lstStyle/>
                    <a:p>
                      <a:r>
                        <a:rPr lang="en-US" dirty="0"/>
                        <a:t>1</a:t>
                      </a:r>
                    </a:p>
                  </a:txBody>
                  <a:tcPr anchor="ctr"/>
                </a:tc>
              </a:tr>
            </a:tbl>
          </a:graphicData>
        </a:graphic>
      </p:graphicFrame>
      <p:sp>
        <p:nvSpPr>
          <p:cNvPr id="7" name="Rectangle 1"/>
          <p:cNvSpPr>
            <a:spLocks noChangeArrowheads="1"/>
          </p:cNvSpPr>
          <p:nvPr/>
        </p:nvSpPr>
        <p:spPr bwMode="auto">
          <a:xfrm>
            <a:off x="533400" y="169943"/>
            <a:ext cx="8532079"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cs typeface="Arial" charset="0"/>
              </a:rPr>
              <a:t>1NF Compliant Table Using Foreign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We created separate tables and used </a:t>
            </a:r>
            <a:r>
              <a:rPr kumimoji="0" lang="en-US" sz="1800" b="1" i="0" u="none" strike="noStrike" cap="none" normalizeH="0" baseline="0" dirty="0" smtClean="0">
                <a:ln>
                  <a:noFill/>
                </a:ln>
                <a:solidFill>
                  <a:schemeClr val="tx1"/>
                </a:solidFill>
                <a:effectLst/>
                <a:latin typeface="Arial" charset="0"/>
                <a:cs typeface="Arial" charset="0"/>
              </a:rPr>
              <a:t>foreign keys</a:t>
            </a:r>
            <a:r>
              <a:rPr kumimoji="0" lang="en-US" sz="1800" b="0" i="0" u="none" strike="noStrike" cap="none" normalizeH="0" baseline="0" dirty="0" smtClean="0">
                <a:ln>
                  <a:noFill/>
                </a:ln>
                <a:solidFill>
                  <a:schemeClr val="tx1"/>
                </a:solidFill>
                <a:effectLst/>
                <a:latin typeface="Arial" charset="0"/>
                <a:cs typeface="Arial" charset="0"/>
              </a:rPr>
              <a:t> to establish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Now, the </a:t>
            </a:r>
            <a:r>
              <a:rPr kumimoji="0" lang="en-US" sz="1800" b="1" i="0" u="none" strike="noStrike" cap="none" normalizeH="0" baseline="0" dirty="0" err="1" smtClean="0">
                <a:ln>
                  <a:noFill/>
                </a:ln>
                <a:solidFill>
                  <a:schemeClr val="tx1"/>
                </a:solidFill>
                <a:effectLst/>
                <a:latin typeface="Arial" charset="0"/>
                <a:cs typeface="Arial" charset="0"/>
              </a:rPr>
              <a:t>Student_Subject</a:t>
            </a:r>
            <a:r>
              <a:rPr kumimoji="0" lang="en-US" sz="1800" b="1" i="0" u="none" strike="noStrike" cap="none" normalizeH="0" baseline="0" dirty="0" smtClean="0">
                <a:ln>
                  <a:noFill/>
                </a:ln>
                <a:solidFill>
                  <a:schemeClr val="tx1"/>
                </a:solidFill>
                <a:effectLst/>
                <a:latin typeface="Arial" charset="0"/>
                <a:cs typeface="Arial" charset="0"/>
              </a:rPr>
              <a:t> table</a:t>
            </a:r>
            <a:r>
              <a:rPr kumimoji="0" lang="en-US" sz="1800" b="0" i="0" u="none" strike="noStrike" cap="none" normalizeH="0" baseline="0" dirty="0" smtClean="0">
                <a:ln>
                  <a:noFill/>
                </a:ln>
                <a:solidFill>
                  <a:schemeClr val="tx1"/>
                </a:solidFill>
                <a:effectLst/>
                <a:latin typeface="Arial" charset="0"/>
                <a:cs typeface="Arial" charset="0"/>
              </a:rPr>
              <a:t> maps students to subjects in a normalized way.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24929205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4995"/>
          </a:xfrm>
        </p:spPr>
        <p:txBody>
          <a:bodyPr>
            <a:normAutofit fontScale="90000"/>
          </a:bodyPr>
          <a:lstStyle/>
          <a:p>
            <a:r>
              <a:rPr lang="en-US" b="1" dirty="0" smtClean="0"/>
              <a:t>Examples</a:t>
            </a:r>
            <a:endParaRPr lang="en-US" b="1"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323850" y="1353503"/>
            <a:ext cx="4400550" cy="453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6512243" y="197596"/>
            <a:ext cx="4262437" cy="6845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30652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35468C-25A0-77F8-B6A9-CC7DD6E4CA9D}"/>
              </a:ext>
            </a:extLst>
          </p:cNvPr>
          <p:cNvSpPr>
            <a:spLocks noGrp="1"/>
          </p:cNvSpPr>
          <p:nvPr>
            <p:ph type="title"/>
          </p:nvPr>
        </p:nvSpPr>
        <p:spPr>
          <a:xfrm>
            <a:off x="149800" y="218245"/>
            <a:ext cx="10515600" cy="507711"/>
          </a:xfrm>
        </p:spPr>
        <p:txBody>
          <a:bodyPr>
            <a:normAutofit fontScale="90000"/>
          </a:bodyPr>
          <a:lstStyle/>
          <a:p>
            <a:r>
              <a:rPr lang="en-US" sz="4000" b="1" dirty="0">
                <a:latin typeface="+mn-lt"/>
              </a:rPr>
              <a:t>Second normal form(2NF)</a:t>
            </a:r>
          </a:p>
        </p:txBody>
      </p:sp>
      <p:sp>
        <p:nvSpPr>
          <p:cNvPr id="3" name="Content Placeholder 2">
            <a:extLst>
              <a:ext uri="{FF2B5EF4-FFF2-40B4-BE49-F238E27FC236}">
                <a16:creationId xmlns="" xmlns:a16="http://schemas.microsoft.com/office/drawing/2014/main" id="{86FECA96-C522-3033-93FB-08CC429674D1}"/>
              </a:ext>
            </a:extLst>
          </p:cNvPr>
          <p:cNvSpPr>
            <a:spLocks noGrp="1"/>
          </p:cNvSpPr>
          <p:nvPr>
            <p:ph idx="1"/>
          </p:nvPr>
        </p:nvSpPr>
        <p:spPr>
          <a:xfrm>
            <a:off x="5209309" y="81070"/>
            <a:ext cx="6578311" cy="3133185"/>
          </a:xfrm>
        </p:spPr>
        <p:txBody>
          <a:bodyPr>
            <a:normAutofit/>
          </a:bodyPr>
          <a:lstStyle/>
          <a:p>
            <a:pPr algn="just"/>
            <a:r>
              <a:rPr lang="en-US" sz="2400" i="0" dirty="0">
                <a:effectLst/>
              </a:rPr>
              <a:t>A relation </a:t>
            </a:r>
            <a:r>
              <a:rPr lang="en-US" sz="2400" b="0" i="0" dirty="0">
                <a:solidFill>
                  <a:srgbClr val="212529"/>
                </a:solidFill>
                <a:effectLst/>
              </a:rPr>
              <a:t>/ table to be in the Second Normal Form,</a:t>
            </a:r>
          </a:p>
          <a:p>
            <a:pPr algn="just">
              <a:buFont typeface="+mj-lt"/>
              <a:buAutoNum type="arabicPeriod"/>
            </a:pPr>
            <a:r>
              <a:rPr lang="en-US" sz="2400" b="1" i="0" dirty="0">
                <a:solidFill>
                  <a:srgbClr val="000099"/>
                </a:solidFill>
                <a:effectLst/>
              </a:rPr>
              <a:t>It should be in the First Normal form.</a:t>
            </a:r>
          </a:p>
          <a:p>
            <a:pPr algn="just">
              <a:buFont typeface="+mj-lt"/>
              <a:buAutoNum type="arabicPeriod"/>
            </a:pPr>
            <a:r>
              <a:rPr lang="en-US" sz="2400" b="1" i="0" dirty="0">
                <a:solidFill>
                  <a:srgbClr val="000099"/>
                </a:solidFill>
                <a:effectLst/>
              </a:rPr>
              <a:t>And, it should not have Partial Dependency.</a:t>
            </a:r>
          </a:p>
          <a:p>
            <a:pPr algn="just"/>
            <a:r>
              <a:rPr lang="en-US" sz="2400" b="1" i="0" dirty="0">
                <a:effectLst/>
              </a:rPr>
              <a:t>Partial Dependency: </a:t>
            </a:r>
            <a:r>
              <a:rPr lang="en-US" sz="2400" b="0" i="0" dirty="0">
                <a:effectLst/>
              </a:rPr>
              <a:t>It is a type of functional dependency that occurs when non-prime attributes are partially dependent on part of Candidate keys.</a:t>
            </a:r>
            <a:endParaRPr lang="en-US" sz="2400" dirty="0"/>
          </a:p>
        </p:txBody>
      </p:sp>
      <p:sp>
        <p:nvSpPr>
          <p:cNvPr id="5" name="Content Placeholder 2">
            <a:extLst>
              <a:ext uri="{FF2B5EF4-FFF2-40B4-BE49-F238E27FC236}">
                <a16:creationId xmlns="" xmlns:a16="http://schemas.microsoft.com/office/drawing/2014/main" id="{15A06832-A0D3-C006-287A-F567B5F631B6}"/>
              </a:ext>
            </a:extLst>
          </p:cNvPr>
          <p:cNvSpPr txBox="1">
            <a:spLocks/>
          </p:cNvSpPr>
          <p:nvPr/>
        </p:nvSpPr>
        <p:spPr>
          <a:xfrm>
            <a:off x="149800" y="3331981"/>
            <a:ext cx="5946200" cy="3429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2000" b="0" i="0" dirty="0">
                <a:effectLst/>
              </a:rPr>
              <a:t>In the employee table, </a:t>
            </a:r>
            <a:r>
              <a:rPr lang="en-US" sz="2000" b="1" i="0" dirty="0">
                <a:solidFill>
                  <a:srgbClr val="C00000"/>
                </a:solidFill>
                <a:effectLst/>
              </a:rPr>
              <a:t>if manager details are to be fetched for an employee, multiple results are returned when searched with EMP_ID, in order to fetch one result, EMP_ID and PROJECT_ID together are considered as the Candidate Keys.</a:t>
            </a:r>
          </a:p>
          <a:p>
            <a:pPr algn="just">
              <a:buFont typeface="Arial" panose="020B0604020202020204" pitchFamily="34" charset="0"/>
              <a:buChar char="•"/>
            </a:pPr>
            <a:r>
              <a:rPr lang="en-US" sz="2000" b="1" i="0" dirty="0">
                <a:solidFill>
                  <a:srgbClr val="000099"/>
                </a:solidFill>
                <a:effectLst/>
              </a:rPr>
              <a:t>Here the manager depends on PROJECT_ID and not on EMP_ID, this creates a partial dependency.</a:t>
            </a:r>
          </a:p>
          <a:p>
            <a:pPr algn="just">
              <a:buFont typeface="Arial" panose="020B0604020202020204" pitchFamily="34" charset="0"/>
              <a:buChar char="•"/>
            </a:pPr>
            <a:r>
              <a:rPr lang="en-US" sz="2000" b="0" i="0" dirty="0">
                <a:effectLst/>
              </a:rPr>
              <a:t>There are multiple ways to eliminate this partial dependency and reduce the table to its 2nd normal form, one such method is adding the Manager information to the project table .</a:t>
            </a:r>
          </a:p>
          <a:p>
            <a:endParaRPr lang="en-US" dirty="0"/>
          </a:p>
        </p:txBody>
      </p:sp>
      <p:pic>
        <p:nvPicPr>
          <p:cNvPr id="2050" name="Picture 2" descr="Employe Table before 2NF">
            <a:extLst>
              <a:ext uri="{FF2B5EF4-FFF2-40B4-BE49-F238E27FC236}">
                <a16:creationId xmlns="" xmlns:a16="http://schemas.microsoft.com/office/drawing/2014/main" id="{C2EB6061-5A98-ABA5-7D53-B69EF35BC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789073"/>
            <a:ext cx="4726129" cy="25353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fter 2NF">
            <a:extLst>
              <a:ext uri="{FF2B5EF4-FFF2-40B4-BE49-F238E27FC236}">
                <a16:creationId xmlns="" xmlns:a16="http://schemas.microsoft.com/office/drawing/2014/main" id="{4D6B2928-B847-0A42-768A-4F8EE3CE4A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8255" y="3191705"/>
            <a:ext cx="5475145"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092650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35468C-25A0-77F8-B6A9-CC7DD6E4CA9D}"/>
              </a:ext>
            </a:extLst>
          </p:cNvPr>
          <p:cNvSpPr>
            <a:spLocks noGrp="1"/>
          </p:cNvSpPr>
          <p:nvPr>
            <p:ph type="title"/>
          </p:nvPr>
        </p:nvSpPr>
        <p:spPr>
          <a:xfrm>
            <a:off x="210692" y="158433"/>
            <a:ext cx="10515600" cy="507711"/>
          </a:xfrm>
        </p:spPr>
        <p:txBody>
          <a:bodyPr>
            <a:normAutofit fontScale="90000"/>
          </a:bodyPr>
          <a:lstStyle/>
          <a:p>
            <a:r>
              <a:rPr lang="en-US" sz="4000" b="1" dirty="0">
                <a:latin typeface="+mn-lt"/>
              </a:rPr>
              <a:t>Third normal form(3NF)</a:t>
            </a:r>
          </a:p>
        </p:txBody>
      </p:sp>
      <p:sp>
        <p:nvSpPr>
          <p:cNvPr id="3" name="Content Placeholder 2">
            <a:extLst>
              <a:ext uri="{FF2B5EF4-FFF2-40B4-BE49-F238E27FC236}">
                <a16:creationId xmlns="" xmlns:a16="http://schemas.microsoft.com/office/drawing/2014/main" id="{86FECA96-C522-3033-93FB-08CC429674D1}"/>
              </a:ext>
            </a:extLst>
          </p:cNvPr>
          <p:cNvSpPr>
            <a:spLocks noGrp="1"/>
          </p:cNvSpPr>
          <p:nvPr>
            <p:ph idx="1"/>
          </p:nvPr>
        </p:nvSpPr>
        <p:spPr>
          <a:xfrm>
            <a:off x="210692" y="855614"/>
            <a:ext cx="11770616" cy="3292548"/>
          </a:xfrm>
        </p:spPr>
        <p:txBody>
          <a:bodyPr>
            <a:normAutofit/>
          </a:bodyPr>
          <a:lstStyle/>
          <a:p>
            <a:pPr algn="just">
              <a:buFont typeface="Arial" panose="020B0604020202020204" pitchFamily="34" charset="0"/>
              <a:buChar char="•"/>
            </a:pPr>
            <a:r>
              <a:rPr lang="en-US" sz="2400" b="0" i="0" dirty="0">
                <a:effectLst/>
              </a:rPr>
              <a:t>A relation will be in </a:t>
            </a:r>
            <a:r>
              <a:rPr lang="en-US" sz="2400" b="1" i="0" dirty="0">
                <a:solidFill>
                  <a:srgbClr val="000099"/>
                </a:solidFill>
                <a:effectLst/>
              </a:rPr>
              <a:t>3NF if it is in 2NF and not contain any transitive partial </a:t>
            </a:r>
            <a:r>
              <a:rPr lang="en-US" sz="2400" b="1" i="0" dirty="0" smtClean="0">
                <a:solidFill>
                  <a:srgbClr val="000099"/>
                </a:solidFill>
                <a:effectLst/>
              </a:rPr>
              <a:t>dependency for non prime attributes. One non prime attribute can not determine other non prime attribute.</a:t>
            </a:r>
            <a:endParaRPr lang="en-US" sz="2400" b="1" i="0" dirty="0">
              <a:solidFill>
                <a:srgbClr val="000099"/>
              </a:solidFill>
              <a:effectLst/>
            </a:endParaRPr>
          </a:p>
          <a:p>
            <a:pPr algn="just">
              <a:buFont typeface="Arial" panose="020B0604020202020204" pitchFamily="34" charset="0"/>
              <a:buChar char="•"/>
            </a:pPr>
            <a:r>
              <a:rPr lang="en-US" sz="2400" b="1" i="0" dirty="0">
                <a:solidFill>
                  <a:srgbClr val="000099"/>
                </a:solidFill>
                <a:effectLst/>
              </a:rPr>
              <a:t>3NF is used to reduce the data duplication</a:t>
            </a:r>
            <a:r>
              <a:rPr lang="en-US" sz="2400" b="0" i="0" dirty="0">
                <a:effectLst/>
              </a:rPr>
              <a:t>. It is also used to achieve the data integrity</a:t>
            </a:r>
            <a:r>
              <a:rPr lang="en-US" sz="2400" b="0" i="0" dirty="0" smtClean="0">
                <a:effectLst/>
              </a:rPr>
              <a:t>.</a:t>
            </a:r>
            <a:endParaRPr lang="en-US" sz="2400" b="0" i="0" dirty="0">
              <a:effectLst/>
            </a:endParaRPr>
          </a:p>
        </p:txBody>
      </p:sp>
      <p:sp>
        <p:nvSpPr>
          <p:cNvPr id="5" name="Content Placeholder 2">
            <a:extLst>
              <a:ext uri="{FF2B5EF4-FFF2-40B4-BE49-F238E27FC236}">
                <a16:creationId xmlns="" xmlns:a16="http://schemas.microsoft.com/office/drawing/2014/main" id="{15A06832-A0D3-C006-287A-F567B5F631B6}"/>
              </a:ext>
            </a:extLst>
          </p:cNvPr>
          <p:cNvSpPr txBox="1">
            <a:spLocks/>
          </p:cNvSpPr>
          <p:nvPr/>
        </p:nvSpPr>
        <p:spPr>
          <a:xfrm>
            <a:off x="6046839" y="2300748"/>
            <a:ext cx="5934469" cy="43010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2400" b="1" i="0" dirty="0">
                <a:solidFill>
                  <a:srgbClr val="000099"/>
                </a:solidFill>
                <a:effectLst/>
              </a:rPr>
              <a:t>Super key in the given table is:</a:t>
            </a:r>
          </a:p>
          <a:p>
            <a:pPr algn="just">
              <a:buFont typeface="Arial" panose="020B0604020202020204" pitchFamily="34" charset="0"/>
              <a:buChar char="•"/>
            </a:pPr>
            <a:r>
              <a:rPr lang="en-US" sz="2400" b="1" i="0" dirty="0">
                <a:solidFill>
                  <a:srgbClr val="000099"/>
                </a:solidFill>
                <a:effectLst/>
              </a:rPr>
              <a:t>{EMP_ID}, {EMP_ID, EMP_NAME}, {EMP_ID, EMP_NAME, EMP_ZIP}....so on  </a:t>
            </a:r>
          </a:p>
          <a:p>
            <a:pPr algn="just">
              <a:buFont typeface="Arial" panose="020B0604020202020204" pitchFamily="34" charset="0"/>
              <a:buChar char="•"/>
            </a:pPr>
            <a:r>
              <a:rPr lang="en-US" sz="2400" b="1" i="0" dirty="0">
                <a:solidFill>
                  <a:srgbClr val="C00000"/>
                </a:solidFill>
                <a:effectLst/>
              </a:rPr>
              <a:t>Candidate key: {EMP_ID}</a:t>
            </a:r>
          </a:p>
          <a:p>
            <a:pPr algn="just">
              <a:buFont typeface="Arial" panose="020B0604020202020204" pitchFamily="34" charset="0"/>
              <a:buChar char="•"/>
            </a:pPr>
            <a:r>
              <a:rPr lang="en-US" sz="2400" b="1" i="0" dirty="0">
                <a:solidFill>
                  <a:srgbClr val="000099"/>
                </a:solidFill>
                <a:effectLst/>
              </a:rPr>
              <a:t>Non-prime attributes: In the given table, all attributes except EMP_ID are non-prime.</a:t>
            </a:r>
          </a:p>
          <a:p>
            <a:pPr algn="just">
              <a:buFont typeface="Arial" panose="020B0604020202020204" pitchFamily="34" charset="0"/>
              <a:buChar char="•"/>
            </a:pPr>
            <a:r>
              <a:rPr lang="en-US" sz="2400" b="1" i="0" dirty="0">
                <a:effectLst/>
              </a:rPr>
              <a:t>Here, EMP_STATE &amp; EMP_CITY dependent on EMP_ZIP and EMP_ZIP dependent on EMP_ID. The non-prime attributes (EMP_STATE, EMP_CITY) transitively dependent on super key(EMP_ID). It violates the rule of third normal form.</a:t>
            </a:r>
            <a:endParaRPr lang="en-US" sz="4400" dirty="0"/>
          </a:p>
        </p:txBody>
      </p:sp>
      <p:graphicFrame>
        <p:nvGraphicFramePr>
          <p:cNvPr id="4" name="Table 3">
            <a:extLst>
              <a:ext uri="{FF2B5EF4-FFF2-40B4-BE49-F238E27FC236}">
                <a16:creationId xmlns="" xmlns:a16="http://schemas.microsoft.com/office/drawing/2014/main" id="{D255E85B-0ADF-C0AD-9DC4-495A6D29319A}"/>
              </a:ext>
            </a:extLst>
          </p:cNvPr>
          <p:cNvGraphicFramePr>
            <a:graphicFrameLocks noGrp="1"/>
          </p:cNvGraphicFramePr>
          <p:nvPr>
            <p:extLst>
              <p:ext uri="{D42A27DB-BD31-4B8C-83A1-F6EECF244321}">
                <p14:modId xmlns:p14="http://schemas.microsoft.com/office/powerpoint/2010/main" val="567315225"/>
              </p:ext>
            </p:extLst>
          </p:nvPr>
        </p:nvGraphicFramePr>
        <p:xfrm>
          <a:off x="112369" y="2638655"/>
          <a:ext cx="5786986" cy="2453640"/>
        </p:xfrm>
        <a:graphic>
          <a:graphicData uri="http://schemas.openxmlformats.org/drawingml/2006/table">
            <a:tbl>
              <a:tblPr/>
              <a:tblGrid>
                <a:gridCol w="1041965">
                  <a:extLst>
                    <a:ext uri="{9D8B030D-6E8A-4147-A177-3AD203B41FA5}">
                      <a16:colId xmlns="" xmlns:a16="http://schemas.microsoft.com/office/drawing/2014/main" val="3377097967"/>
                    </a:ext>
                  </a:extLst>
                </a:gridCol>
                <a:gridCol w="1313562">
                  <a:extLst>
                    <a:ext uri="{9D8B030D-6E8A-4147-A177-3AD203B41FA5}">
                      <a16:colId xmlns="" xmlns:a16="http://schemas.microsoft.com/office/drawing/2014/main" val="682169473"/>
                    </a:ext>
                  </a:extLst>
                </a:gridCol>
                <a:gridCol w="1106129">
                  <a:extLst>
                    <a:ext uri="{9D8B030D-6E8A-4147-A177-3AD203B41FA5}">
                      <a16:colId xmlns="" xmlns:a16="http://schemas.microsoft.com/office/drawing/2014/main" val="1509386250"/>
                    </a:ext>
                  </a:extLst>
                </a:gridCol>
                <a:gridCol w="1253613">
                  <a:extLst>
                    <a:ext uri="{9D8B030D-6E8A-4147-A177-3AD203B41FA5}">
                      <a16:colId xmlns="" xmlns:a16="http://schemas.microsoft.com/office/drawing/2014/main" val="3281936325"/>
                    </a:ext>
                  </a:extLst>
                </a:gridCol>
                <a:gridCol w="1071717">
                  <a:extLst>
                    <a:ext uri="{9D8B030D-6E8A-4147-A177-3AD203B41FA5}">
                      <a16:colId xmlns="" xmlns:a16="http://schemas.microsoft.com/office/drawing/2014/main" val="1352177633"/>
                    </a:ext>
                  </a:extLst>
                </a:gridCol>
              </a:tblGrid>
              <a:tr h="0">
                <a:tc>
                  <a:txBody>
                    <a:bodyPr/>
                    <a:lstStyle/>
                    <a:p>
                      <a:pPr algn="l" fontAlgn="t"/>
                      <a:r>
                        <a:rPr lang="en-US" sz="1600" dirty="0">
                          <a:solidFill>
                            <a:srgbClr val="000000"/>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a:solidFill>
                            <a:srgbClr val="000000"/>
                          </a:solidFill>
                          <a:effectLst/>
                          <a:latin typeface="+mn-lt"/>
                        </a:rPr>
                        <a:t>EMP_NAME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mn-lt"/>
                        </a:rPr>
                        <a:t>EMP_ZIP</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mn-lt"/>
                        </a:rPr>
                        <a:t>EMP_STATE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sz="1600">
                          <a:solidFill>
                            <a:srgbClr val="000000"/>
                          </a:solidFill>
                          <a:effectLst/>
                          <a:latin typeface="+mn-lt"/>
                        </a:rPr>
                        <a:t>EMP_CITY</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3691371544"/>
                  </a:ext>
                </a:extLst>
              </a:tr>
              <a:tr h="0">
                <a:tc>
                  <a:txBody>
                    <a:bodyPr/>
                    <a:lstStyle/>
                    <a:p>
                      <a:pPr algn="just" fontAlgn="t"/>
                      <a:r>
                        <a:rPr lang="en-US" sz="1600">
                          <a:solidFill>
                            <a:srgbClr val="333333"/>
                          </a:solidFill>
                          <a:effectLst/>
                          <a:latin typeface="+mn-lt"/>
                        </a:rPr>
                        <a:t>222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Harry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201010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UP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Noida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312246889"/>
                  </a:ext>
                </a:extLst>
              </a:tr>
              <a:tr h="0">
                <a:tc>
                  <a:txBody>
                    <a:bodyPr/>
                    <a:lstStyle/>
                    <a:p>
                      <a:pPr algn="just" fontAlgn="t"/>
                      <a:r>
                        <a:rPr lang="en-US" sz="1600">
                          <a:solidFill>
                            <a:srgbClr val="333333"/>
                          </a:solidFill>
                          <a:effectLst/>
                          <a:latin typeface="+mn-lt"/>
                        </a:rPr>
                        <a:t>333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Stephan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02228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US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Boston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1309086936"/>
                  </a:ext>
                </a:extLst>
              </a:tr>
              <a:tr h="0">
                <a:tc>
                  <a:txBody>
                    <a:bodyPr/>
                    <a:lstStyle/>
                    <a:p>
                      <a:pPr algn="just" fontAlgn="t"/>
                      <a:r>
                        <a:rPr lang="en-US" sz="1600">
                          <a:solidFill>
                            <a:srgbClr val="333333"/>
                          </a:solidFill>
                          <a:effectLst/>
                          <a:latin typeface="+mn-lt"/>
                        </a:rPr>
                        <a:t>444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Lan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60007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US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mn-lt"/>
                        </a:rPr>
                        <a:t>Chicago</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862033762"/>
                  </a:ext>
                </a:extLst>
              </a:tr>
              <a:tr h="0">
                <a:tc>
                  <a:txBody>
                    <a:bodyPr/>
                    <a:lstStyle/>
                    <a:p>
                      <a:pPr algn="just" fontAlgn="t"/>
                      <a:r>
                        <a:rPr lang="en-US" sz="1600">
                          <a:solidFill>
                            <a:srgbClr val="333333"/>
                          </a:solidFill>
                          <a:effectLst/>
                          <a:latin typeface="+mn-lt"/>
                        </a:rPr>
                        <a:t>555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mn-lt"/>
                        </a:rPr>
                        <a:t>Katharine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06389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UK</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mn-lt"/>
                        </a:rPr>
                        <a:t>Norwich</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27599955"/>
                  </a:ext>
                </a:extLst>
              </a:tr>
              <a:tr h="0">
                <a:tc>
                  <a:txBody>
                    <a:bodyPr/>
                    <a:lstStyle/>
                    <a:p>
                      <a:pPr algn="just" fontAlgn="t"/>
                      <a:r>
                        <a:rPr lang="en-US" sz="1600">
                          <a:solidFill>
                            <a:srgbClr val="333333"/>
                          </a:solidFill>
                          <a:effectLst/>
                          <a:latin typeface="+mn-lt"/>
                        </a:rPr>
                        <a:t>666</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John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462007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MP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mn-lt"/>
                        </a:rPr>
                        <a:t>Bhopal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377332694"/>
                  </a:ext>
                </a:extLst>
              </a:tr>
            </a:tbl>
          </a:graphicData>
        </a:graphic>
      </p:graphicFrame>
      <p:sp>
        <p:nvSpPr>
          <p:cNvPr id="7" name="Content Placeholder 2">
            <a:extLst>
              <a:ext uri="{FF2B5EF4-FFF2-40B4-BE49-F238E27FC236}">
                <a16:creationId xmlns="" xmlns:a16="http://schemas.microsoft.com/office/drawing/2014/main" id="{EAE5C69B-3C7E-1405-BF4A-4B1BBB55F6FD}"/>
              </a:ext>
            </a:extLst>
          </p:cNvPr>
          <p:cNvSpPr txBox="1">
            <a:spLocks/>
          </p:cNvSpPr>
          <p:nvPr/>
        </p:nvSpPr>
        <p:spPr>
          <a:xfrm>
            <a:off x="754370" y="5178565"/>
            <a:ext cx="3227695" cy="39283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EMPLOYEE_DETAIL table:</a:t>
            </a:r>
            <a:endParaRPr lang="en-US" sz="4000" dirty="0">
              <a:solidFill>
                <a:srgbClr val="000099"/>
              </a:solidFill>
            </a:endParaRPr>
          </a:p>
        </p:txBody>
      </p:sp>
    </p:spTree>
    <p:extLst>
      <p:ext uri="{BB962C8B-B14F-4D97-AF65-F5344CB8AC3E}">
        <p14:creationId xmlns:p14="http://schemas.microsoft.com/office/powerpoint/2010/main" val="164497595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35468C-25A0-77F8-B6A9-CC7DD6E4CA9D}"/>
              </a:ext>
            </a:extLst>
          </p:cNvPr>
          <p:cNvSpPr>
            <a:spLocks noGrp="1"/>
          </p:cNvSpPr>
          <p:nvPr>
            <p:ph type="title"/>
          </p:nvPr>
        </p:nvSpPr>
        <p:spPr>
          <a:xfrm>
            <a:off x="210692" y="198612"/>
            <a:ext cx="10515600" cy="507711"/>
          </a:xfrm>
        </p:spPr>
        <p:txBody>
          <a:bodyPr>
            <a:normAutofit fontScale="90000"/>
          </a:bodyPr>
          <a:lstStyle/>
          <a:p>
            <a:r>
              <a:rPr lang="en-US" sz="4000" b="1" dirty="0">
                <a:latin typeface="+mn-lt"/>
              </a:rPr>
              <a:t>Third normal form(3NF)</a:t>
            </a:r>
          </a:p>
        </p:txBody>
      </p:sp>
      <p:sp>
        <p:nvSpPr>
          <p:cNvPr id="3" name="Content Placeholder 2">
            <a:extLst>
              <a:ext uri="{FF2B5EF4-FFF2-40B4-BE49-F238E27FC236}">
                <a16:creationId xmlns="" xmlns:a16="http://schemas.microsoft.com/office/drawing/2014/main" id="{86FECA96-C522-3033-93FB-08CC429674D1}"/>
              </a:ext>
            </a:extLst>
          </p:cNvPr>
          <p:cNvSpPr>
            <a:spLocks noGrp="1"/>
          </p:cNvSpPr>
          <p:nvPr>
            <p:ph idx="1"/>
          </p:nvPr>
        </p:nvSpPr>
        <p:spPr>
          <a:xfrm>
            <a:off x="210692" y="855614"/>
            <a:ext cx="11770616" cy="925961"/>
          </a:xfrm>
        </p:spPr>
        <p:txBody>
          <a:bodyPr>
            <a:normAutofit/>
          </a:bodyPr>
          <a:lstStyle/>
          <a:p>
            <a:pPr algn="just">
              <a:buFont typeface="Arial" panose="020B0604020202020204" pitchFamily="34" charset="0"/>
              <a:buChar char="•"/>
            </a:pPr>
            <a:r>
              <a:rPr lang="en-US" sz="2400" b="0" i="0" dirty="0">
                <a:solidFill>
                  <a:srgbClr val="333333"/>
                </a:solidFill>
                <a:effectLst/>
              </a:rPr>
              <a:t>To convert relation in 3NF,</a:t>
            </a:r>
            <a:r>
              <a:rPr lang="en-US" sz="2400" b="1" i="0" dirty="0">
                <a:solidFill>
                  <a:srgbClr val="000099"/>
                </a:solidFill>
                <a:effectLst/>
              </a:rPr>
              <a:t>we need to move the EMP_CITY and EMP_STATE to the new &lt;EMPLOYEE_ZIP&gt; table, with EMP_ZIP as a Primary key.</a:t>
            </a:r>
          </a:p>
        </p:txBody>
      </p:sp>
      <p:sp>
        <p:nvSpPr>
          <p:cNvPr id="7" name="Content Placeholder 2">
            <a:extLst>
              <a:ext uri="{FF2B5EF4-FFF2-40B4-BE49-F238E27FC236}">
                <a16:creationId xmlns="" xmlns:a16="http://schemas.microsoft.com/office/drawing/2014/main" id="{EAE5C69B-3C7E-1405-BF4A-4B1BBB55F6FD}"/>
              </a:ext>
            </a:extLst>
          </p:cNvPr>
          <p:cNvSpPr txBox="1">
            <a:spLocks/>
          </p:cNvSpPr>
          <p:nvPr/>
        </p:nvSpPr>
        <p:spPr>
          <a:xfrm>
            <a:off x="754370" y="4700830"/>
            <a:ext cx="3227695" cy="39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EMPLOYEE table:</a:t>
            </a:r>
            <a:endParaRPr lang="en-US" sz="4000" dirty="0">
              <a:solidFill>
                <a:srgbClr val="000099"/>
              </a:solidFill>
            </a:endParaRPr>
          </a:p>
        </p:txBody>
      </p:sp>
      <p:graphicFrame>
        <p:nvGraphicFramePr>
          <p:cNvPr id="6" name="Table 5">
            <a:extLst>
              <a:ext uri="{FF2B5EF4-FFF2-40B4-BE49-F238E27FC236}">
                <a16:creationId xmlns="" xmlns:a16="http://schemas.microsoft.com/office/drawing/2014/main" id="{353575B3-37D7-6781-226C-9158D47A9C02}"/>
              </a:ext>
            </a:extLst>
          </p:cNvPr>
          <p:cNvGraphicFramePr>
            <a:graphicFrameLocks noGrp="1"/>
          </p:cNvGraphicFramePr>
          <p:nvPr>
            <p:extLst>
              <p:ext uri="{D42A27DB-BD31-4B8C-83A1-F6EECF244321}">
                <p14:modId xmlns:p14="http://schemas.microsoft.com/office/powerpoint/2010/main" val="3592426365"/>
              </p:ext>
            </p:extLst>
          </p:nvPr>
        </p:nvGraphicFramePr>
        <p:xfrm>
          <a:off x="754370" y="1930866"/>
          <a:ext cx="4419920" cy="2636520"/>
        </p:xfrm>
        <a:graphic>
          <a:graphicData uri="http://schemas.openxmlformats.org/drawingml/2006/table">
            <a:tbl>
              <a:tblPr/>
              <a:tblGrid>
                <a:gridCol w="1263765">
                  <a:extLst>
                    <a:ext uri="{9D8B030D-6E8A-4147-A177-3AD203B41FA5}">
                      <a16:colId xmlns="" xmlns:a16="http://schemas.microsoft.com/office/drawing/2014/main" val="156977349"/>
                    </a:ext>
                  </a:extLst>
                </a:gridCol>
                <a:gridCol w="1592825">
                  <a:extLst>
                    <a:ext uri="{9D8B030D-6E8A-4147-A177-3AD203B41FA5}">
                      <a16:colId xmlns="" xmlns:a16="http://schemas.microsoft.com/office/drawing/2014/main" val="2443667315"/>
                    </a:ext>
                  </a:extLst>
                </a:gridCol>
                <a:gridCol w="1563330">
                  <a:extLst>
                    <a:ext uri="{9D8B030D-6E8A-4147-A177-3AD203B41FA5}">
                      <a16:colId xmlns="" xmlns:a16="http://schemas.microsoft.com/office/drawing/2014/main" val="2979417158"/>
                    </a:ext>
                  </a:extLst>
                </a:gridCol>
              </a:tblGrid>
              <a:tr h="0">
                <a:tc>
                  <a:txBody>
                    <a:bodyPr/>
                    <a:lstStyle/>
                    <a:p>
                      <a:pPr algn="l" fontAlgn="t"/>
                      <a:r>
                        <a:rPr lang="en-US" b="1" dirty="0">
                          <a:solidFill>
                            <a:srgbClr val="000000"/>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rgbClr val="000000"/>
                          </a:solidFill>
                          <a:effectLst/>
                          <a:latin typeface="+mn-lt"/>
                        </a:rPr>
                        <a:t>EMP_NAME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rgbClr val="000000"/>
                          </a:solidFill>
                          <a:effectLst/>
                          <a:latin typeface="+mn-lt"/>
                        </a:rPr>
                        <a:t>EMP_ZIP</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1074521344"/>
                  </a:ext>
                </a:extLst>
              </a:tr>
              <a:tr h="0">
                <a:tc>
                  <a:txBody>
                    <a:bodyPr/>
                    <a:lstStyle/>
                    <a:p>
                      <a:pPr algn="just" fontAlgn="t"/>
                      <a:r>
                        <a:rPr lang="en-US" dirty="0">
                          <a:solidFill>
                            <a:srgbClr val="333333"/>
                          </a:solidFill>
                          <a:effectLst/>
                          <a:latin typeface="+mn-lt"/>
                        </a:rPr>
                        <a:t>222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mn-lt"/>
                        </a:rPr>
                        <a:t>Harry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mn-lt"/>
                        </a:rPr>
                        <a:t>201010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256860602"/>
                  </a:ext>
                </a:extLst>
              </a:tr>
              <a:tr h="0">
                <a:tc>
                  <a:txBody>
                    <a:bodyPr/>
                    <a:lstStyle/>
                    <a:p>
                      <a:pPr algn="just" fontAlgn="t"/>
                      <a:r>
                        <a:rPr lang="en-US" dirty="0">
                          <a:solidFill>
                            <a:srgbClr val="333333"/>
                          </a:solidFill>
                          <a:effectLst/>
                          <a:latin typeface="+mn-lt"/>
                        </a:rPr>
                        <a:t>333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mn-lt"/>
                        </a:rPr>
                        <a:t>Stephan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rgbClr val="333333"/>
                          </a:solidFill>
                          <a:effectLst/>
                          <a:latin typeface="+mn-lt"/>
                        </a:rPr>
                        <a:t>02228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2215399893"/>
                  </a:ext>
                </a:extLst>
              </a:tr>
              <a:tr h="0">
                <a:tc>
                  <a:txBody>
                    <a:bodyPr/>
                    <a:lstStyle/>
                    <a:p>
                      <a:pPr algn="just" fontAlgn="t"/>
                      <a:r>
                        <a:rPr lang="en-US">
                          <a:solidFill>
                            <a:srgbClr val="333333"/>
                          </a:solidFill>
                          <a:effectLst/>
                          <a:latin typeface="+mn-lt"/>
                        </a:rPr>
                        <a:t>444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mn-lt"/>
                        </a:rPr>
                        <a:t>Lan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mn-lt"/>
                        </a:rPr>
                        <a:t>60007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407086080"/>
                  </a:ext>
                </a:extLst>
              </a:tr>
              <a:tr h="0">
                <a:tc>
                  <a:txBody>
                    <a:bodyPr/>
                    <a:lstStyle/>
                    <a:p>
                      <a:pPr algn="just" fontAlgn="t"/>
                      <a:r>
                        <a:rPr lang="en-US">
                          <a:solidFill>
                            <a:srgbClr val="333333"/>
                          </a:solidFill>
                          <a:effectLst/>
                          <a:latin typeface="+mn-lt"/>
                        </a:rPr>
                        <a:t>555</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mn-lt"/>
                        </a:rPr>
                        <a:t>Katharine</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rgbClr val="333333"/>
                          </a:solidFill>
                          <a:effectLst/>
                          <a:latin typeface="+mn-lt"/>
                        </a:rPr>
                        <a:t>06389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3889650523"/>
                  </a:ext>
                </a:extLst>
              </a:tr>
              <a:tr h="0">
                <a:tc>
                  <a:txBody>
                    <a:bodyPr/>
                    <a:lstStyle/>
                    <a:p>
                      <a:pPr algn="just" fontAlgn="t"/>
                      <a:r>
                        <a:rPr lang="en-US">
                          <a:solidFill>
                            <a:srgbClr val="333333"/>
                          </a:solidFill>
                          <a:effectLst/>
                          <a:latin typeface="+mn-lt"/>
                        </a:rPr>
                        <a:t>666</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mn-lt"/>
                        </a:rPr>
                        <a:t>John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mn-lt"/>
                        </a:rPr>
                        <a:t>462007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414289238"/>
                  </a:ext>
                </a:extLst>
              </a:tr>
            </a:tbl>
          </a:graphicData>
        </a:graphic>
      </p:graphicFrame>
      <p:graphicFrame>
        <p:nvGraphicFramePr>
          <p:cNvPr id="8" name="Table 7">
            <a:extLst>
              <a:ext uri="{FF2B5EF4-FFF2-40B4-BE49-F238E27FC236}">
                <a16:creationId xmlns="" xmlns:a16="http://schemas.microsoft.com/office/drawing/2014/main" id="{1D919B5D-7BCC-BB43-F461-F02B7ECF51F6}"/>
              </a:ext>
            </a:extLst>
          </p:cNvPr>
          <p:cNvGraphicFramePr>
            <a:graphicFrameLocks noGrp="1"/>
          </p:cNvGraphicFramePr>
          <p:nvPr>
            <p:extLst>
              <p:ext uri="{D42A27DB-BD31-4B8C-83A1-F6EECF244321}">
                <p14:modId xmlns:p14="http://schemas.microsoft.com/office/powerpoint/2010/main" val="1940585507"/>
              </p:ext>
            </p:extLst>
          </p:nvPr>
        </p:nvGraphicFramePr>
        <p:xfrm>
          <a:off x="6171880" y="1930866"/>
          <a:ext cx="4572320" cy="2636520"/>
        </p:xfrm>
        <a:graphic>
          <a:graphicData uri="http://schemas.openxmlformats.org/drawingml/2006/table">
            <a:tbl>
              <a:tblPr/>
              <a:tblGrid>
                <a:gridCol w="1411249">
                  <a:extLst>
                    <a:ext uri="{9D8B030D-6E8A-4147-A177-3AD203B41FA5}">
                      <a16:colId xmlns="" xmlns:a16="http://schemas.microsoft.com/office/drawing/2014/main" val="1300217086"/>
                    </a:ext>
                  </a:extLst>
                </a:gridCol>
                <a:gridCol w="1622322">
                  <a:extLst>
                    <a:ext uri="{9D8B030D-6E8A-4147-A177-3AD203B41FA5}">
                      <a16:colId xmlns="" xmlns:a16="http://schemas.microsoft.com/office/drawing/2014/main" val="1922265340"/>
                    </a:ext>
                  </a:extLst>
                </a:gridCol>
                <a:gridCol w="1538749">
                  <a:extLst>
                    <a:ext uri="{9D8B030D-6E8A-4147-A177-3AD203B41FA5}">
                      <a16:colId xmlns="" xmlns:a16="http://schemas.microsoft.com/office/drawing/2014/main" val="2293125920"/>
                    </a:ext>
                  </a:extLst>
                </a:gridCol>
              </a:tblGrid>
              <a:tr h="0">
                <a:tc>
                  <a:txBody>
                    <a:bodyPr/>
                    <a:lstStyle/>
                    <a:p>
                      <a:pPr algn="l" fontAlgn="t"/>
                      <a:r>
                        <a:rPr lang="en-US" b="1" dirty="0">
                          <a:solidFill>
                            <a:schemeClr val="tx1"/>
                          </a:solidFill>
                          <a:effectLst/>
                          <a:latin typeface="+mn-lt"/>
                        </a:rPr>
                        <a:t>EMP_ZIP</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EMP_STATE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EMP_CITY</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1726084747"/>
                  </a:ext>
                </a:extLst>
              </a:tr>
              <a:tr h="0">
                <a:tc>
                  <a:txBody>
                    <a:bodyPr/>
                    <a:lstStyle/>
                    <a:p>
                      <a:pPr algn="just" fontAlgn="t"/>
                      <a:r>
                        <a:rPr lang="en-US" dirty="0">
                          <a:solidFill>
                            <a:schemeClr val="tx1"/>
                          </a:solidFill>
                          <a:effectLst/>
                          <a:latin typeface="+mn-lt"/>
                        </a:rPr>
                        <a:t>201010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UP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Noida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090351068"/>
                  </a:ext>
                </a:extLst>
              </a:tr>
              <a:tr h="0">
                <a:tc>
                  <a:txBody>
                    <a:bodyPr/>
                    <a:lstStyle/>
                    <a:p>
                      <a:pPr algn="just" fontAlgn="t"/>
                      <a:r>
                        <a:rPr lang="en-US">
                          <a:solidFill>
                            <a:schemeClr val="tx1"/>
                          </a:solidFill>
                          <a:effectLst/>
                          <a:latin typeface="+mn-lt"/>
                        </a:rPr>
                        <a:t>02228</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US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Boston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1862624097"/>
                  </a:ext>
                </a:extLst>
              </a:tr>
              <a:tr h="0">
                <a:tc>
                  <a:txBody>
                    <a:bodyPr/>
                    <a:lstStyle/>
                    <a:p>
                      <a:pPr algn="just" fontAlgn="t"/>
                      <a:r>
                        <a:rPr lang="en-US">
                          <a:solidFill>
                            <a:schemeClr val="tx1"/>
                          </a:solidFill>
                          <a:effectLst/>
                          <a:latin typeface="+mn-lt"/>
                        </a:rPr>
                        <a:t>60007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US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Chicago</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946460681"/>
                  </a:ext>
                </a:extLst>
              </a:tr>
              <a:tr h="0">
                <a:tc>
                  <a:txBody>
                    <a:bodyPr/>
                    <a:lstStyle/>
                    <a:p>
                      <a:pPr algn="just" fontAlgn="t"/>
                      <a:r>
                        <a:rPr lang="en-US">
                          <a:solidFill>
                            <a:schemeClr val="tx1"/>
                          </a:solidFill>
                          <a:effectLst/>
                          <a:latin typeface="+mn-lt"/>
                        </a:rPr>
                        <a:t>06389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UK</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Norwich</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1831734701"/>
                  </a:ext>
                </a:extLst>
              </a:tr>
              <a:tr h="0">
                <a:tc>
                  <a:txBody>
                    <a:bodyPr/>
                    <a:lstStyle/>
                    <a:p>
                      <a:pPr algn="just" fontAlgn="t"/>
                      <a:r>
                        <a:rPr lang="en-US">
                          <a:solidFill>
                            <a:schemeClr val="tx1"/>
                          </a:solidFill>
                          <a:effectLst/>
                          <a:latin typeface="+mn-lt"/>
                        </a:rPr>
                        <a:t>462007</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MP</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Bhopal</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085678598"/>
                  </a:ext>
                </a:extLst>
              </a:tr>
            </a:tbl>
          </a:graphicData>
        </a:graphic>
      </p:graphicFrame>
      <p:sp>
        <p:nvSpPr>
          <p:cNvPr id="10" name="Content Placeholder 2">
            <a:extLst>
              <a:ext uri="{FF2B5EF4-FFF2-40B4-BE49-F238E27FC236}">
                <a16:creationId xmlns="" xmlns:a16="http://schemas.microsoft.com/office/drawing/2014/main" id="{93059F29-F458-ABD8-D8D9-3D46B8E005F4}"/>
              </a:ext>
            </a:extLst>
          </p:cNvPr>
          <p:cNvSpPr txBox="1">
            <a:spLocks/>
          </p:cNvSpPr>
          <p:nvPr/>
        </p:nvSpPr>
        <p:spPr>
          <a:xfrm>
            <a:off x="6407918" y="4716677"/>
            <a:ext cx="3227695" cy="39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EMPLOYEE_ZIP table:</a:t>
            </a:r>
            <a:endParaRPr lang="en-US" sz="4000" dirty="0">
              <a:solidFill>
                <a:srgbClr val="000099"/>
              </a:solidFill>
            </a:endParaRPr>
          </a:p>
        </p:txBody>
      </p:sp>
    </p:spTree>
    <p:extLst>
      <p:ext uri="{BB962C8B-B14F-4D97-AF65-F5344CB8AC3E}">
        <p14:creationId xmlns:p14="http://schemas.microsoft.com/office/powerpoint/2010/main" val="12160829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B42CA8-8D6B-928F-1F3A-508C22A73811}"/>
              </a:ext>
            </a:extLst>
          </p:cNvPr>
          <p:cNvSpPr>
            <a:spLocks noGrp="1"/>
          </p:cNvSpPr>
          <p:nvPr>
            <p:ph type="title"/>
          </p:nvPr>
        </p:nvSpPr>
        <p:spPr>
          <a:xfrm>
            <a:off x="725129" y="84919"/>
            <a:ext cx="10515600" cy="858991"/>
          </a:xfrm>
        </p:spPr>
        <p:txBody>
          <a:bodyPr>
            <a:normAutofit/>
          </a:bodyPr>
          <a:lstStyle/>
          <a:p>
            <a:r>
              <a:rPr lang="en-US" sz="4000" b="1" dirty="0"/>
              <a:t>Boyce &amp; Codd normal form (BCNF)</a:t>
            </a:r>
          </a:p>
        </p:txBody>
      </p:sp>
      <p:sp>
        <p:nvSpPr>
          <p:cNvPr id="3" name="Content Placeholder 2">
            <a:extLst>
              <a:ext uri="{FF2B5EF4-FFF2-40B4-BE49-F238E27FC236}">
                <a16:creationId xmlns="" xmlns:a16="http://schemas.microsoft.com/office/drawing/2014/main" id="{CA936DFB-A3A6-6B77-3A0C-CAEF9CAC399A}"/>
              </a:ext>
            </a:extLst>
          </p:cNvPr>
          <p:cNvSpPr>
            <a:spLocks noGrp="1"/>
          </p:cNvSpPr>
          <p:nvPr>
            <p:ph idx="1"/>
          </p:nvPr>
        </p:nvSpPr>
        <p:spPr>
          <a:xfrm>
            <a:off x="157316" y="1033692"/>
            <a:ext cx="11651226" cy="4790615"/>
          </a:xfrm>
        </p:spPr>
        <p:txBody>
          <a:bodyPr/>
          <a:lstStyle/>
          <a:p>
            <a:pPr algn="just">
              <a:buFont typeface="Arial" panose="020B0604020202020204" pitchFamily="34" charset="0"/>
              <a:buChar char="•"/>
            </a:pPr>
            <a:r>
              <a:rPr lang="en-US" sz="2400" b="0" i="0" dirty="0">
                <a:solidFill>
                  <a:srgbClr val="000000"/>
                </a:solidFill>
                <a:effectLst/>
              </a:rPr>
              <a:t>BCNF is the </a:t>
            </a:r>
            <a:r>
              <a:rPr lang="en-US" sz="2400" b="1" i="0" dirty="0">
                <a:solidFill>
                  <a:srgbClr val="000099"/>
                </a:solidFill>
                <a:effectLst/>
              </a:rPr>
              <a:t>advance version of 3NF. It is stricter than 3NF.</a:t>
            </a:r>
          </a:p>
          <a:p>
            <a:pPr algn="just">
              <a:buFont typeface="Arial" panose="020B0604020202020204" pitchFamily="34" charset="0"/>
              <a:buChar char="•"/>
            </a:pPr>
            <a:r>
              <a:rPr lang="en-US" sz="2400" b="0" i="0" dirty="0">
                <a:solidFill>
                  <a:srgbClr val="000000"/>
                </a:solidFill>
                <a:effectLst/>
              </a:rPr>
              <a:t>A table is in </a:t>
            </a:r>
            <a:r>
              <a:rPr lang="en-US" sz="2400" b="1" i="0" dirty="0">
                <a:solidFill>
                  <a:srgbClr val="000099"/>
                </a:solidFill>
                <a:effectLst/>
              </a:rPr>
              <a:t>BCNF if every functional dependency X → Y, X is </a:t>
            </a:r>
            <a:r>
              <a:rPr lang="en-US" sz="2400" b="1" i="0" dirty="0" smtClean="0">
                <a:solidFill>
                  <a:srgbClr val="000099"/>
                </a:solidFill>
                <a:effectLst/>
              </a:rPr>
              <a:t>the  </a:t>
            </a:r>
            <a:r>
              <a:rPr lang="en-US" sz="2400" b="1" i="0" dirty="0">
                <a:solidFill>
                  <a:srgbClr val="000099"/>
                </a:solidFill>
                <a:effectLst/>
              </a:rPr>
              <a:t>key of the table.</a:t>
            </a:r>
          </a:p>
          <a:p>
            <a:pPr algn="just">
              <a:buFont typeface="Arial" panose="020B0604020202020204" pitchFamily="34" charset="0"/>
              <a:buChar char="•"/>
            </a:pPr>
            <a:r>
              <a:rPr lang="en-US" sz="2400" b="0" i="0" dirty="0">
                <a:solidFill>
                  <a:srgbClr val="000000"/>
                </a:solidFill>
                <a:effectLst/>
              </a:rPr>
              <a:t>For BCNF, </a:t>
            </a:r>
            <a:r>
              <a:rPr lang="en-US" sz="2400" b="1" i="0" dirty="0">
                <a:solidFill>
                  <a:srgbClr val="000099"/>
                </a:solidFill>
                <a:effectLst/>
              </a:rPr>
              <a:t>the table should be in 3NF, and for every FD, LHS is super key.</a:t>
            </a:r>
          </a:p>
          <a:p>
            <a:pPr algn="just"/>
            <a:r>
              <a:rPr lang="en-US" sz="2400" b="1" i="0" dirty="0">
                <a:solidFill>
                  <a:srgbClr val="333333"/>
                </a:solidFill>
                <a:effectLst/>
              </a:rPr>
              <a:t>Example:</a:t>
            </a:r>
            <a:r>
              <a:rPr lang="en-US" sz="2400" b="0" i="0" dirty="0">
                <a:solidFill>
                  <a:srgbClr val="333333"/>
                </a:solidFill>
                <a:effectLst/>
              </a:rPr>
              <a:t> Let's assume there is a company where employees work in more than one department.</a:t>
            </a:r>
          </a:p>
          <a:p>
            <a:endParaRPr lang="en-US" b="1" dirty="0">
              <a:solidFill>
                <a:srgbClr val="000099"/>
              </a:solidFill>
            </a:endParaRPr>
          </a:p>
        </p:txBody>
      </p:sp>
      <p:graphicFrame>
        <p:nvGraphicFramePr>
          <p:cNvPr id="4" name="Table 3">
            <a:extLst>
              <a:ext uri="{FF2B5EF4-FFF2-40B4-BE49-F238E27FC236}">
                <a16:creationId xmlns="" xmlns:a16="http://schemas.microsoft.com/office/drawing/2014/main" id="{9B595EDB-7567-6285-23E2-896874825AF2}"/>
              </a:ext>
            </a:extLst>
          </p:cNvPr>
          <p:cNvGraphicFramePr>
            <a:graphicFrameLocks noGrp="1"/>
          </p:cNvGraphicFramePr>
          <p:nvPr>
            <p:extLst>
              <p:ext uri="{D42A27DB-BD31-4B8C-83A1-F6EECF244321}">
                <p14:modId xmlns:p14="http://schemas.microsoft.com/office/powerpoint/2010/main" val="1016910172"/>
              </p:ext>
            </p:extLst>
          </p:nvPr>
        </p:nvGraphicFramePr>
        <p:xfrm>
          <a:off x="199360" y="3692843"/>
          <a:ext cx="7147142" cy="2484120"/>
        </p:xfrm>
        <a:graphic>
          <a:graphicData uri="http://schemas.openxmlformats.org/drawingml/2006/table">
            <a:tbl>
              <a:tblPr/>
              <a:tblGrid>
                <a:gridCol w="1085555">
                  <a:extLst>
                    <a:ext uri="{9D8B030D-6E8A-4147-A177-3AD203B41FA5}">
                      <a16:colId xmlns="" xmlns:a16="http://schemas.microsoft.com/office/drawing/2014/main" val="1880242901"/>
                    </a:ext>
                  </a:extLst>
                </a:gridCol>
                <a:gridCol w="1733609">
                  <a:extLst>
                    <a:ext uri="{9D8B030D-6E8A-4147-A177-3AD203B41FA5}">
                      <a16:colId xmlns="" xmlns:a16="http://schemas.microsoft.com/office/drawing/2014/main" val="1562761412"/>
                    </a:ext>
                  </a:extLst>
                </a:gridCol>
                <a:gridCol w="1260314">
                  <a:extLst>
                    <a:ext uri="{9D8B030D-6E8A-4147-A177-3AD203B41FA5}">
                      <a16:colId xmlns="" xmlns:a16="http://schemas.microsoft.com/office/drawing/2014/main" val="2581043172"/>
                    </a:ext>
                  </a:extLst>
                </a:gridCol>
                <a:gridCol w="1327354">
                  <a:extLst>
                    <a:ext uri="{9D8B030D-6E8A-4147-A177-3AD203B41FA5}">
                      <a16:colId xmlns="" xmlns:a16="http://schemas.microsoft.com/office/drawing/2014/main" val="4229128267"/>
                    </a:ext>
                  </a:extLst>
                </a:gridCol>
                <a:gridCol w="1740310">
                  <a:extLst>
                    <a:ext uri="{9D8B030D-6E8A-4147-A177-3AD203B41FA5}">
                      <a16:colId xmlns="" xmlns:a16="http://schemas.microsoft.com/office/drawing/2014/main" val="3951316613"/>
                    </a:ext>
                  </a:extLst>
                </a:gridCol>
              </a:tblGrid>
              <a:tr h="0">
                <a:tc>
                  <a:txBody>
                    <a:bodyPr/>
                    <a:lstStyle/>
                    <a:p>
                      <a:pPr algn="l" fontAlgn="t"/>
                      <a:r>
                        <a:rPr lang="en-US" b="1" dirty="0">
                          <a:solidFill>
                            <a:schemeClr val="tx1"/>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EMP_COUNTRY</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EMP_DEPT</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DEPT_TYPE</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EMP_DEPT_NO</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419457136"/>
                  </a:ext>
                </a:extLst>
              </a:tr>
              <a:tr h="0">
                <a:tc>
                  <a:txBody>
                    <a:bodyPr/>
                    <a:lstStyle/>
                    <a:p>
                      <a:pPr algn="just" fontAlgn="t"/>
                      <a:r>
                        <a:rPr lang="en-US">
                          <a:solidFill>
                            <a:schemeClr val="tx1"/>
                          </a:solidFill>
                          <a:effectLst/>
                          <a:latin typeface="+mn-lt"/>
                        </a:rPr>
                        <a:t>264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India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Designing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D394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283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92311723"/>
                  </a:ext>
                </a:extLst>
              </a:tr>
              <a:tr h="0">
                <a:tc>
                  <a:txBody>
                    <a:bodyPr/>
                    <a:lstStyle/>
                    <a:p>
                      <a:pPr algn="just" fontAlgn="t"/>
                      <a:r>
                        <a:rPr lang="en-US">
                          <a:solidFill>
                            <a:schemeClr val="tx1"/>
                          </a:solidFill>
                          <a:effectLst/>
                          <a:latin typeface="+mn-lt"/>
                        </a:rPr>
                        <a:t>264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India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Testing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D394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300</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401958939"/>
                  </a:ext>
                </a:extLst>
              </a:tr>
              <a:tr h="0">
                <a:tc>
                  <a:txBody>
                    <a:bodyPr/>
                    <a:lstStyle/>
                    <a:p>
                      <a:pPr algn="just" fontAlgn="t"/>
                      <a:r>
                        <a:rPr lang="en-US">
                          <a:solidFill>
                            <a:schemeClr val="tx1"/>
                          </a:solidFill>
                          <a:effectLst/>
                          <a:latin typeface="+mn-lt"/>
                        </a:rPr>
                        <a:t>364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UK</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Stores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D283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232</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945596224"/>
                  </a:ext>
                </a:extLst>
              </a:tr>
              <a:tr h="0">
                <a:tc>
                  <a:txBody>
                    <a:bodyPr/>
                    <a:lstStyle/>
                    <a:p>
                      <a:pPr algn="just" fontAlgn="t"/>
                      <a:r>
                        <a:rPr lang="en-US">
                          <a:solidFill>
                            <a:schemeClr val="tx1"/>
                          </a:solidFill>
                          <a:effectLst/>
                          <a:latin typeface="+mn-lt"/>
                        </a:rPr>
                        <a:t>364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UK</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Developing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D283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549</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1104871310"/>
                  </a:ext>
                </a:extLst>
              </a:tr>
            </a:tbl>
          </a:graphicData>
        </a:graphic>
      </p:graphicFrame>
      <p:sp>
        <p:nvSpPr>
          <p:cNvPr id="6" name="Content Placeholder 2">
            <a:extLst>
              <a:ext uri="{FF2B5EF4-FFF2-40B4-BE49-F238E27FC236}">
                <a16:creationId xmlns="" xmlns:a16="http://schemas.microsoft.com/office/drawing/2014/main" id="{3D0241DF-6785-2B7E-B13F-08D2F0427070}"/>
              </a:ext>
            </a:extLst>
          </p:cNvPr>
          <p:cNvSpPr txBox="1">
            <a:spLocks/>
          </p:cNvSpPr>
          <p:nvPr/>
        </p:nvSpPr>
        <p:spPr>
          <a:xfrm>
            <a:off x="1300970" y="6380247"/>
            <a:ext cx="3227695" cy="39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EMPLOYEE table</a:t>
            </a:r>
            <a:endParaRPr lang="en-US" sz="4000" dirty="0">
              <a:solidFill>
                <a:srgbClr val="000099"/>
              </a:solidFill>
            </a:endParaRPr>
          </a:p>
        </p:txBody>
      </p:sp>
      <p:sp>
        <p:nvSpPr>
          <p:cNvPr id="7" name="Content Placeholder 2">
            <a:extLst>
              <a:ext uri="{FF2B5EF4-FFF2-40B4-BE49-F238E27FC236}">
                <a16:creationId xmlns="" xmlns:a16="http://schemas.microsoft.com/office/drawing/2014/main" id="{E8C47FB2-11AB-270A-A9C8-6BF49D4D803D}"/>
              </a:ext>
            </a:extLst>
          </p:cNvPr>
          <p:cNvSpPr txBox="1">
            <a:spLocks/>
          </p:cNvSpPr>
          <p:nvPr/>
        </p:nvSpPr>
        <p:spPr>
          <a:xfrm>
            <a:off x="7663336" y="3772331"/>
            <a:ext cx="4145205" cy="3038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solidFill>
                  <a:srgbClr val="333333"/>
                </a:solidFill>
              </a:rPr>
              <a:t>In the given table Functional dependencies are as follows:</a:t>
            </a:r>
          </a:p>
          <a:p>
            <a:pPr algn="just"/>
            <a:r>
              <a:rPr lang="en-US" sz="2400" b="1" dirty="0">
                <a:solidFill>
                  <a:srgbClr val="000099"/>
                </a:solidFill>
              </a:rPr>
              <a:t>EMP_ID  →  EMP_COUNTRY  </a:t>
            </a:r>
          </a:p>
          <a:p>
            <a:pPr algn="just"/>
            <a:r>
              <a:rPr lang="en-US" sz="2400" b="1" dirty="0">
                <a:solidFill>
                  <a:srgbClr val="000099"/>
                </a:solidFill>
              </a:rPr>
              <a:t>EMP_DEPT  →   {DEPT_TYPE, EMP_DEPT_NO}  </a:t>
            </a:r>
          </a:p>
          <a:p>
            <a:pPr algn="just"/>
            <a:r>
              <a:rPr lang="en-US" sz="2400" b="1" dirty="0">
                <a:solidFill>
                  <a:srgbClr val="C00000"/>
                </a:solidFill>
              </a:rPr>
              <a:t>Candidate key: {</a:t>
            </a:r>
            <a:r>
              <a:rPr lang="en-US" sz="2400" b="1" dirty="0" smtClean="0">
                <a:solidFill>
                  <a:srgbClr val="C00000"/>
                </a:solidFill>
              </a:rPr>
              <a:t>EMP-ID EMP-DEPT</a:t>
            </a:r>
            <a:r>
              <a:rPr lang="en-US" sz="2400" b="1" dirty="0">
                <a:solidFill>
                  <a:srgbClr val="C00000"/>
                </a:solidFill>
              </a:rPr>
              <a:t>}</a:t>
            </a:r>
          </a:p>
        </p:txBody>
      </p:sp>
    </p:spTree>
    <p:extLst>
      <p:ext uri="{BB962C8B-B14F-4D97-AF65-F5344CB8AC3E}">
        <p14:creationId xmlns:p14="http://schemas.microsoft.com/office/powerpoint/2010/main" val="2549217043"/>
      </p:ext>
    </p:extLst>
  </p:cSld>
  <p:clrMapOvr>
    <a:masterClrMapping/>
  </p:clrMapOvr>
  <p:transition spd="slow">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B42CA8-8D6B-928F-1F3A-508C22A73811}"/>
              </a:ext>
            </a:extLst>
          </p:cNvPr>
          <p:cNvSpPr>
            <a:spLocks noGrp="1"/>
          </p:cNvSpPr>
          <p:nvPr>
            <p:ph type="title"/>
          </p:nvPr>
        </p:nvSpPr>
        <p:spPr>
          <a:xfrm>
            <a:off x="725129" y="84919"/>
            <a:ext cx="10515600" cy="858991"/>
          </a:xfrm>
        </p:spPr>
        <p:txBody>
          <a:bodyPr>
            <a:normAutofit/>
          </a:bodyPr>
          <a:lstStyle/>
          <a:p>
            <a:r>
              <a:rPr lang="en-US" sz="4000" b="1" dirty="0"/>
              <a:t>Boyce &amp; Codd normal form (BCNF)</a:t>
            </a:r>
          </a:p>
        </p:txBody>
      </p:sp>
      <p:sp>
        <p:nvSpPr>
          <p:cNvPr id="3" name="Content Placeholder 2">
            <a:extLst>
              <a:ext uri="{FF2B5EF4-FFF2-40B4-BE49-F238E27FC236}">
                <a16:creationId xmlns="" xmlns:a16="http://schemas.microsoft.com/office/drawing/2014/main" id="{CA936DFB-A3A6-6B77-3A0C-CAEF9CAC399A}"/>
              </a:ext>
            </a:extLst>
          </p:cNvPr>
          <p:cNvSpPr>
            <a:spLocks noGrp="1"/>
          </p:cNvSpPr>
          <p:nvPr>
            <p:ph idx="1"/>
          </p:nvPr>
        </p:nvSpPr>
        <p:spPr>
          <a:xfrm>
            <a:off x="157316" y="1033692"/>
            <a:ext cx="11651226" cy="618127"/>
          </a:xfrm>
        </p:spPr>
        <p:txBody>
          <a:bodyPr>
            <a:normAutofit/>
          </a:bodyPr>
          <a:lstStyle/>
          <a:p>
            <a:pPr algn="just">
              <a:buFont typeface="Arial" panose="020B0604020202020204" pitchFamily="34" charset="0"/>
              <a:buChar char="•"/>
            </a:pPr>
            <a:r>
              <a:rPr lang="en-US" sz="2400" b="1" i="0" dirty="0">
                <a:solidFill>
                  <a:srgbClr val="333333"/>
                </a:solidFill>
                <a:effectLst/>
              </a:rPr>
              <a:t>To convert the given table into BCNF, we decompose it into three tables:</a:t>
            </a:r>
            <a:endParaRPr lang="en-US" sz="2400" b="1" dirty="0">
              <a:solidFill>
                <a:srgbClr val="000099"/>
              </a:solidFill>
            </a:endParaRPr>
          </a:p>
        </p:txBody>
      </p:sp>
      <p:sp>
        <p:nvSpPr>
          <p:cNvPr id="6" name="Content Placeholder 2">
            <a:extLst>
              <a:ext uri="{FF2B5EF4-FFF2-40B4-BE49-F238E27FC236}">
                <a16:creationId xmlns="" xmlns:a16="http://schemas.microsoft.com/office/drawing/2014/main" id="{3D0241DF-6785-2B7E-B13F-08D2F0427070}"/>
              </a:ext>
            </a:extLst>
          </p:cNvPr>
          <p:cNvSpPr txBox="1">
            <a:spLocks/>
          </p:cNvSpPr>
          <p:nvPr/>
        </p:nvSpPr>
        <p:spPr>
          <a:xfrm>
            <a:off x="157316" y="3183080"/>
            <a:ext cx="3227695" cy="39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EMP_COUNTRY table</a:t>
            </a:r>
            <a:endParaRPr lang="en-US" sz="4000" dirty="0">
              <a:solidFill>
                <a:srgbClr val="000099"/>
              </a:solidFill>
            </a:endParaRPr>
          </a:p>
        </p:txBody>
      </p:sp>
      <p:sp>
        <p:nvSpPr>
          <p:cNvPr id="7" name="Content Placeholder 2">
            <a:extLst>
              <a:ext uri="{FF2B5EF4-FFF2-40B4-BE49-F238E27FC236}">
                <a16:creationId xmlns="" xmlns:a16="http://schemas.microsoft.com/office/drawing/2014/main" id="{E8C47FB2-11AB-270A-A9C8-6BF49D4D803D}"/>
              </a:ext>
            </a:extLst>
          </p:cNvPr>
          <p:cNvSpPr txBox="1">
            <a:spLocks/>
          </p:cNvSpPr>
          <p:nvPr/>
        </p:nvSpPr>
        <p:spPr>
          <a:xfrm>
            <a:off x="86287" y="3988868"/>
            <a:ext cx="5712257" cy="242405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solidFill>
                  <a:srgbClr val="333333"/>
                </a:solidFill>
              </a:rPr>
              <a:t>Functional dependencies:</a:t>
            </a:r>
          </a:p>
          <a:p>
            <a:pPr algn="just"/>
            <a:r>
              <a:rPr lang="en-US" sz="2400" b="1" dirty="0">
                <a:solidFill>
                  <a:srgbClr val="000099"/>
                </a:solidFill>
              </a:rPr>
              <a:t>EMP_ID   →    EMP_COUNTRY  </a:t>
            </a:r>
          </a:p>
          <a:p>
            <a:pPr algn="just"/>
            <a:r>
              <a:rPr lang="en-US" sz="2400" b="1" dirty="0">
                <a:solidFill>
                  <a:srgbClr val="000099"/>
                </a:solidFill>
              </a:rPr>
              <a:t>EMP_DEPT   →   {DEPT_TYPE, EMP_DEPT_NO}  </a:t>
            </a:r>
          </a:p>
          <a:p>
            <a:pPr algn="just"/>
            <a:r>
              <a:rPr lang="en-US" sz="2400" dirty="0">
                <a:solidFill>
                  <a:srgbClr val="333333"/>
                </a:solidFill>
              </a:rPr>
              <a:t>Candidate keys:</a:t>
            </a:r>
          </a:p>
          <a:p>
            <a:pPr algn="just"/>
            <a:r>
              <a:rPr lang="en-US" sz="2400" dirty="0">
                <a:solidFill>
                  <a:srgbClr val="333333"/>
                </a:solidFill>
              </a:rPr>
              <a:t>For the first table: </a:t>
            </a:r>
            <a:r>
              <a:rPr lang="en-US" sz="2400" b="1" dirty="0">
                <a:solidFill>
                  <a:srgbClr val="000099"/>
                </a:solidFill>
              </a:rPr>
              <a:t>EMP_ID</a:t>
            </a:r>
          </a:p>
          <a:p>
            <a:pPr algn="just"/>
            <a:r>
              <a:rPr lang="en-US" sz="2400" dirty="0">
                <a:solidFill>
                  <a:srgbClr val="333333"/>
                </a:solidFill>
              </a:rPr>
              <a:t>For the second table: </a:t>
            </a:r>
            <a:r>
              <a:rPr lang="en-US" sz="2400" b="1" dirty="0">
                <a:solidFill>
                  <a:srgbClr val="000099"/>
                </a:solidFill>
              </a:rPr>
              <a:t>EMP_DEPT</a:t>
            </a:r>
          </a:p>
          <a:p>
            <a:pPr algn="just"/>
            <a:r>
              <a:rPr lang="en-US" sz="2400" dirty="0">
                <a:solidFill>
                  <a:srgbClr val="333333"/>
                </a:solidFill>
              </a:rPr>
              <a:t>For the third table</a:t>
            </a:r>
            <a:r>
              <a:rPr lang="en-US" sz="2400" b="1" dirty="0">
                <a:solidFill>
                  <a:srgbClr val="000099"/>
                </a:solidFill>
              </a:rPr>
              <a:t>: {EMP_ID, EMP_DEPT}</a:t>
            </a:r>
          </a:p>
        </p:txBody>
      </p:sp>
      <p:graphicFrame>
        <p:nvGraphicFramePr>
          <p:cNvPr id="5" name="Table 4">
            <a:extLst>
              <a:ext uri="{FF2B5EF4-FFF2-40B4-BE49-F238E27FC236}">
                <a16:creationId xmlns="" xmlns:a16="http://schemas.microsoft.com/office/drawing/2014/main" id="{057F0B59-4F43-D6CA-5FBD-6C7C5AB748CC}"/>
              </a:ext>
            </a:extLst>
          </p:cNvPr>
          <p:cNvGraphicFramePr>
            <a:graphicFrameLocks noGrp="1"/>
          </p:cNvGraphicFramePr>
          <p:nvPr>
            <p:extLst>
              <p:ext uri="{D42A27DB-BD31-4B8C-83A1-F6EECF244321}">
                <p14:modId xmlns:p14="http://schemas.microsoft.com/office/powerpoint/2010/main" val="1221777365"/>
              </p:ext>
            </p:extLst>
          </p:nvPr>
        </p:nvGraphicFramePr>
        <p:xfrm>
          <a:off x="196615" y="1631716"/>
          <a:ext cx="3504291" cy="1356360"/>
        </p:xfrm>
        <a:graphic>
          <a:graphicData uri="http://schemas.openxmlformats.org/drawingml/2006/table">
            <a:tbl>
              <a:tblPr/>
              <a:tblGrid>
                <a:gridCol w="1100303">
                  <a:extLst>
                    <a:ext uri="{9D8B030D-6E8A-4147-A177-3AD203B41FA5}">
                      <a16:colId xmlns="" xmlns:a16="http://schemas.microsoft.com/office/drawing/2014/main" val="1732555957"/>
                    </a:ext>
                  </a:extLst>
                </a:gridCol>
                <a:gridCol w="2403988">
                  <a:extLst>
                    <a:ext uri="{9D8B030D-6E8A-4147-A177-3AD203B41FA5}">
                      <a16:colId xmlns="" xmlns:a16="http://schemas.microsoft.com/office/drawing/2014/main" val="285774464"/>
                    </a:ext>
                  </a:extLst>
                </a:gridCol>
              </a:tblGrid>
              <a:tr h="0">
                <a:tc>
                  <a:txBody>
                    <a:bodyPr/>
                    <a:lstStyle/>
                    <a:p>
                      <a:pPr algn="l" fontAlgn="t"/>
                      <a:r>
                        <a:rPr lang="en-US" b="1" dirty="0">
                          <a:solidFill>
                            <a:schemeClr val="tx1"/>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EMP_COUNTRY</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3384641030"/>
                  </a:ext>
                </a:extLst>
              </a:tr>
              <a:tr h="0">
                <a:tc>
                  <a:txBody>
                    <a:bodyPr/>
                    <a:lstStyle/>
                    <a:p>
                      <a:pPr algn="just" fontAlgn="t"/>
                      <a:r>
                        <a:rPr lang="en-US">
                          <a:solidFill>
                            <a:schemeClr val="tx1"/>
                          </a:solidFill>
                          <a:effectLst/>
                          <a:latin typeface="+mn-lt"/>
                        </a:rPr>
                        <a:t>264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India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114543279"/>
                  </a:ext>
                </a:extLst>
              </a:tr>
              <a:tr h="0">
                <a:tc>
                  <a:txBody>
                    <a:bodyPr/>
                    <a:lstStyle/>
                    <a:p>
                      <a:pPr algn="just" fontAlgn="t"/>
                      <a:r>
                        <a:rPr lang="en-US">
                          <a:solidFill>
                            <a:schemeClr val="tx1"/>
                          </a:solidFill>
                          <a:effectLst/>
                          <a:latin typeface="+mn-lt"/>
                        </a:rPr>
                        <a:t>264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India</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759223297"/>
                  </a:ext>
                </a:extLst>
              </a:tr>
            </a:tbl>
          </a:graphicData>
        </a:graphic>
      </p:graphicFrame>
      <p:graphicFrame>
        <p:nvGraphicFramePr>
          <p:cNvPr id="8" name="Table 7">
            <a:extLst>
              <a:ext uri="{FF2B5EF4-FFF2-40B4-BE49-F238E27FC236}">
                <a16:creationId xmlns="" xmlns:a16="http://schemas.microsoft.com/office/drawing/2014/main" id="{9E13A3F3-D923-1D4F-93D5-D267985D2F1D}"/>
              </a:ext>
            </a:extLst>
          </p:cNvPr>
          <p:cNvGraphicFramePr>
            <a:graphicFrameLocks noGrp="1"/>
          </p:cNvGraphicFramePr>
          <p:nvPr>
            <p:extLst>
              <p:ext uri="{D42A27DB-BD31-4B8C-83A1-F6EECF244321}">
                <p14:modId xmlns:p14="http://schemas.microsoft.com/office/powerpoint/2010/main" val="3210329956"/>
              </p:ext>
            </p:extLst>
          </p:nvPr>
        </p:nvGraphicFramePr>
        <p:xfrm>
          <a:off x="3990380" y="1406380"/>
          <a:ext cx="4772651" cy="2209800"/>
        </p:xfrm>
        <a:graphic>
          <a:graphicData uri="http://schemas.openxmlformats.org/drawingml/2006/table">
            <a:tbl>
              <a:tblPr/>
              <a:tblGrid>
                <a:gridCol w="1395270">
                  <a:extLst>
                    <a:ext uri="{9D8B030D-6E8A-4147-A177-3AD203B41FA5}">
                      <a16:colId xmlns="" xmlns:a16="http://schemas.microsoft.com/office/drawing/2014/main" val="2735801701"/>
                    </a:ext>
                  </a:extLst>
                </a:gridCol>
                <a:gridCol w="1533832">
                  <a:extLst>
                    <a:ext uri="{9D8B030D-6E8A-4147-A177-3AD203B41FA5}">
                      <a16:colId xmlns="" xmlns:a16="http://schemas.microsoft.com/office/drawing/2014/main" val="1466084008"/>
                    </a:ext>
                  </a:extLst>
                </a:gridCol>
                <a:gridCol w="1843549">
                  <a:extLst>
                    <a:ext uri="{9D8B030D-6E8A-4147-A177-3AD203B41FA5}">
                      <a16:colId xmlns="" xmlns:a16="http://schemas.microsoft.com/office/drawing/2014/main" val="3755629373"/>
                    </a:ext>
                  </a:extLst>
                </a:gridCol>
              </a:tblGrid>
              <a:tr h="0">
                <a:tc>
                  <a:txBody>
                    <a:bodyPr/>
                    <a:lstStyle/>
                    <a:p>
                      <a:pPr algn="l" fontAlgn="t"/>
                      <a:r>
                        <a:rPr lang="en-US" b="1" dirty="0">
                          <a:solidFill>
                            <a:schemeClr val="tx1"/>
                          </a:solidFill>
                          <a:effectLst/>
                          <a:latin typeface="+mn-lt"/>
                        </a:rPr>
                        <a:t>EMP_DEPT</a:t>
                      </a:r>
                    </a:p>
                  </a:txBody>
                  <a:tcPr marL="114300" marR="114300" marT="114300" marB="114300">
                    <a:lnL w="9525" cap="flat" cmpd="sng" algn="ctr">
                      <a:solidFill>
                        <a:srgbClr val="C04391"/>
                      </a:solidFill>
                      <a:prstDash val="solid"/>
                      <a:round/>
                      <a:headEnd type="none" w="med" len="med"/>
                      <a:tailEnd type="none" w="med" len="med"/>
                    </a:lnL>
                    <a:lnR w="9525" cap="flat" cmpd="sng" algn="ctr">
                      <a:solidFill>
                        <a:srgbClr val="C04391"/>
                      </a:solidFill>
                      <a:prstDash val="solid"/>
                      <a:round/>
                      <a:headEnd type="none" w="med" len="med"/>
                      <a:tailEnd type="none" w="med" len="med"/>
                    </a:lnR>
                    <a:lnT w="9525" cap="flat" cmpd="sng" algn="ctr">
                      <a:solidFill>
                        <a:srgbClr val="C0439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DEPT_TYPE</a:t>
                      </a:r>
                    </a:p>
                  </a:txBody>
                  <a:tcPr marL="114300" marR="114300" marT="114300" marB="114300">
                    <a:lnL w="9525" cap="flat" cmpd="sng" algn="ctr">
                      <a:solidFill>
                        <a:srgbClr val="C04391"/>
                      </a:solidFill>
                      <a:prstDash val="solid"/>
                      <a:round/>
                      <a:headEnd type="none" w="med" len="med"/>
                      <a:tailEnd type="none" w="med" len="med"/>
                    </a:lnL>
                    <a:lnR w="9525" cap="flat" cmpd="sng" algn="ctr">
                      <a:solidFill>
                        <a:srgbClr val="C04391"/>
                      </a:solidFill>
                      <a:prstDash val="solid"/>
                      <a:round/>
                      <a:headEnd type="none" w="med" len="med"/>
                      <a:tailEnd type="none" w="med" len="med"/>
                    </a:lnR>
                    <a:lnT w="9525" cap="flat" cmpd="sng" algn="ctr">
                      <a:solidFill>
                        <a:srgbClr val="C0439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EMP_DEPT_NO</a:t>
                      </a:r>
                    </a:p>
                  </a:txBody>
                  <a:tcPr marL="114300" marR="114300" marT="114300" marB="114300">
                    <a:lnL w="9525" cap="flat" cmpd="sng" algn="ctr">
                      <a:solidFill>
                        <a:srgbClr val="C04391"/>
                      </a:solidFill>
                      <a:prstDash val="solid"/>
                      <a:round/>
                      <a:headEnd type="none" w="med" len="med"/>
                      <a:tailEnd type="none" w="med" len="med"/>
                    </a:lnL>
                    <a:lnR w="9525" cap="flat" cmpd="sng" algn="ctr">
                      <a:solidFill>
                        <a:srgbClr val="C04391"/>
                      </a:solidFill>
                      <a:prstDash val="solid"/>
                      <a:round/>
                      <a:headEnd type="none" w="med" len="med"/>
                      <a:tailEnd type="none" w="med" len="med"/>
                    </a:lnR>
                    <a:lnT w="9525" cap="flat" cmpd="sng" algn="ctr">
                      <a:solidFill>
                        <a:srgbClr val="C0439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4034400832"/>
                  </a:ext>
                </a:extLst>
              </a:tr>
              <a:tr h="0">
                <a:tc>
                  <a:txBody>
                    <a:bodyPr/>
                    <a:lstStyle/>
                    <a:p>
                      <a:pPr algn="just" fontAlgn="t"/>
                      <a:r>
                        <a:rPr lang="en-US">
                          <a:solidFill>
                            <a:schemeClr val="tx1"/>
                          </a:solidFill>
                          <a:effectLst/>
                          <a:latin typeface="+mn-lt"/>
                        </a:rPr>
                        <a:t>Designing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D394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283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459459441"/>
                  </a:ext>
                </a:extLst>
              </a:tr>
              <a:tr h="0">
                <a:tc>
                  <a:txBody>
                    <a:bodyPr/>
                    <a:lstStyle/>
                    <a:p>
                      <a:pPr algn="just" fontAlgn="t"/>
                      <a:r>
                        <a:rPr lang="en-US">
                          <a:solidFill>
                            <a:schemeClr val="tx1"/>
                          </a:solidFill>
                          <a:effectLst/>
                          <a:latin typeface="+mn-lt"/>
                        </a:rPr>
                        <a:t>Testing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D394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300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811726062"/>
                  </a:ext>
                </a:extLst>
              </a:tr>
              <a:tr h="0">
                <a:tc>
                  <a:txBody>
                    <a:bodyPr/>
                    <a:lstStyle/>
                    <a:p>
                      <a:pPr algn="just" fontAlgn="t"/>
                      <a:r>
                        <a:rPr lang="en-US">
                          <a:solidFill>
                            <a:schemeClr val="tx1"/>
                          </a:solidFill>
                          <a:effectLst/>
                          <a:latin typeface="+mn-lt"/>
                        </a:rPr>
                        <a:t>Stores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D283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232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3237137"/>
                  </a:ext>
                </a:extLst>
              </a:tr>
              <a:tr h="0">
                <a:tc>
                  <a:txBody>
                    <a:bodyPr/>
                    <a:lstStyle/>
                    <a:p>
                      <a:pPr algn="just" fontAlgn="t"/>
                      <a:r>
                        <a:rPr lang="en-US">
                          <a:solidFill>
                            <a:schemeClr val="tx1"/>
                          </a:solidFill>
                          <a:effectLst/>
                          <a:latin typeface="+mn-lt"/>
                        </a:rPr>
                        <a:t>Developing</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a:solidFill>
                            <a:schemeClr val="tx1"/>
                          </a:solidFill>
                          <a:effectLst/>
                          <a:latin typeface="+mn-lt"/>
                        </a:rPr>
                        <a:t>D283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549</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745632144"/>
                  </a:ext>
                </a:extLst>
              </a:tr>
            </a:tbl>
          </a:graphicData>
        </a:graphic>
      </p:graphicFrame>
      <p:sp>
        <p:nvSpPr>
          <p:cNvPr id="10" name="Content Placeholder 2">
            <a:extLst>
              <a:ext uri="{FF2B5EF4-FFF2-40B4-BE49-F238E27FC236}">
                <a16:creationId xmlns="" xmlns:a16="http://schemas.microsoft.com/office/drawing/2014/main" id="{7E39E75B-6016-E965-0D11-459AA1CDB6B6}"/>
              </a:ext>
            </a:extLst>
          </p:cNvPr>
          <p:cNvSpPr txBox="1">
            <a:spLocks/>
          </p:cNvSpPr>
          <p:nvPr/>
        </p:nvSpPr>
        <p:spPr>
          <a:xfrm>
            <a:off x="4405953" y="3772331"/>
            <a:ext cx="3153952" cy="39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EMP_DEPT table</a:t>
            </a:r>
            <a:endParaRPr lang="en-US" sz="4000" dirty="0">
              <a:solidFill>
                <a:srgbClr val="000099"/>
              </a:solidFill>
            </a:endParaRPr>
          </a:p>
        </p:txBody>
      </p:sp>
      <p:graphicFrame>
        <p:nvGraphicFramePr>
          <p:cNvPr id="11" name="Table 10">
            <a:extLst>
              <a:ext uri="{FF2B5EF4-FFF2-40B4-BE49-F238E27FC236}">
                <a16:creationId xmlns="" xmlns:a16="http://schemas.microsoft.com/office/drawing/2014/main" id="{A2233B45-74D5-CD91-72B5-3099E18608E6}"/>
              </a:ext>
            </a:extLst>
          </p:cNvPr>
          <p:cNvGraphicFramePr>
            <a:graphicFrameLocks noGrp="1"/>
          </p:cNvGraphicFramePr>
          <p:nvPr>
            <p:extLst>
              <p:ext uri="{D42A27DB-BD31-4B8C-83A1-F6EECF244321}">
                <p14:modId xmlns:p14="http://schemas.microsoft.com/office/powerpoint/2010/main" val="996823028"/>
              </p:ext>
            </p:extLst>
          </p:nvPr>
        </p:nvGraphicFramePr>
        <p:xfrm>
          <a:off x="9386086" y="1484628"/>
          <a:ext cx="2530897" cy="2209800"/>
        </p:xfrm>
        <a:graphic>
          <a:graphicData uri="http://schemas.openxmlformats.org/drawingml/2006/table">
            <a:tbl>
              <a:tblPr/>
              <a:tblGrid>
                <a:gridCol w="1056058">
                  <a:extLst>
                    <a:ext uri="{9D8B030D-6E8A-4147-A177-3AD203B41FA5}">
                      <a16:colId xmlns="" xmlns:a16="http://schemas.microsoft.com/office/drawing/2014/main" val="194043999"/>
                    </a:ext>
                  </a:extLst>
                </a:gridCol>
                <a:gridCol w="1474839">
                  <a:extLst>
                    <a:ext uri="{9D8B030D-6E8A-4147-A177-3AD203B41FA5}">
                      <a16:colId xmlns="" xmlns:a16="http://schemas.microsoft.com/office/drawing/2014/main" val="1038387639"/>
                    </a:ext>
                  </a:extLst>
                </a:gridCol>
              </a:tblGrid>
              <a:tr h="0">
                <a:tc>
                  <a:txBody>
                    <a:bodyPr/>
                    <a:lstStyle/>
                    <a:p>
                      <a:pPr algn="l" fontAlgn="t"/>
                      <a:r>
                        <a:rPr lang="en-US" b="1" dirty="0">
                          <a:solidFill>
                            <a:schemeClr val="tx1"/>
                          </a:solidFill>
                          <a:effectLst/>
                          <a:latin typeface="+mn-lt"/>
                        </a:rPr>
                        <a:t>EMP_ID</a:t>
                      </a: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tc>
                  <a:txBody>
                    <a:bodyPr/>
                    <a:lstStyle/>
                    <a:p>
                      <a:pPr algn="l" fontAlgn="t"/>
                      <a:r>
                        <a:rPr lang="en-US" b="1" dirty="0" smtClean="0">
                          <a:solidFill>
                            <a:schemeClr val="tx1"/>
                          </a:solidFill>
                          <a:effectLst/>
                          <a:latin typeface="+mn-lt"/>
                        </a:rPr>
                        <a:t>EMP_DEPT</a:t>
                      </a:r>
                      <a:endParaRPr lang="en-US" b="1" dirty="0">
                        <a:solidFill>
                          <a:schemeClr val="tx1"/>
                        </a:solidFill>
                        <a:effectLst/>
                        <a:latin typeface="+mn-lt"/>
                      </a:endParaRPr>
                    </a:p>
                  </a:txBody>
                  <a:tcPr marL="114300" marR="11430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CCBE"/>
                    </a:solidFill>
                  </a:tcPr>
                </a:tc>
                <a:extLst>
                  <a:ext uri="{0D108BD9-81ED-4DB2-BD59-A6C34878D82A}">
                    <a16:rowId xmlns="" xmlns:a16="http://schemas.microsoft.com/office/drawing/2014/main" val="749655160"/>
                  </a:ext>
                </a:extLst>
              </a:tr>
              <a:tr h="0">
                <a:tc>
                  <a:txBody>
                    <a:bodyPr/>
                    <a:lstStyle/>
                    <a:p>
                      <a:pPr algn="just" fontAlgn="t"/>
                      <a:r>
                        <a:rPr lang="en-US">
                          <a:solidFill>
                            <a:schemeClr val="tx1"/>
                          </a:solidFill>
                          <a:effectLst/>
                          <a:latin typeface="+mn-lt"/>
                        </a:rPr>
                        <a:t>D394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Designing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850670034"/>
                  </a:ext>
                </a:extLst>
              </a:tr>
              <a:tr h="0">
                <a:tc>
                  <a:txBody>
                    <a:bodyPr/>
                    <a:lstStyle/>
                    <a:p>
                      <a:pPr algn="just" fontAlgn="t"/>
                      <a:r>
                        <a:rPr lang="en-US">
                          <a:solidFill>
                            <a:schemeClr val="tx1"/>
                          </a:solidFill>
                          <a:effectLst/>
                          <a:latin typeface="+mn-lt"/>
                        </a:rPr>
                        <a:t>D394</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Testing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3906067367"/>
                  </a:ext>
                </a:extLst>
              </a:tr>
              <a:tr h="0">
                <a:tc>
                  <a:txBody>
                    <a:bodyPr/>
                    <a:lstStyle/>
                    <a:p>
                      <a:pPr algn="just" fontAlgn="t"/>
                      <a:r>
                        <a:rPr lang="en-US">
                          <a:solidFill>
                            <a:schemeClr val="tx1"/>
                          </a:solidFill>
                          <a:effectLst/>
                          <a:latin typeface="+mn-lt"/>
                        </a:rPr>
                        <a:t>D283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Stores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844549854"/>
                  </a:ext>
                </a:extLst>
              </a:tr>
              <a:tr h="0">
                <a:tc>
                  <a:txBody>
                    <a:bodyPr/>
                    <a:lstStyle/>
                    <a:p>
                      <a:pPr algn="just" fontAlgn="t"/>
                      <a:r>
                        <a:rPr lang="en-US">
                          <a:solidFill>
                            <a:schemeClr val="tx1"/>
                          </a:solidFill>
                          <a:effectLst/>
                          <a:latin typeface="+mn-lt"/>
                        </a:rPr>
                        <a:t>D283</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Developing</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FF1EB"/>
                    </a:solidFill>
                  </a:tcPr>
                </a:tc>
                <a:extLst>
                  <a:ext uri="{0D108BD9-81ED-4DB2-BD59-A6C34878D82A}">
                    <a16:rowId xmlns="" xmlns:a16="http://schemas.microsoft.com/office/drawing/2014/main" val="4097719391"/>
                  </a:ext>
                </a:extLst>
              </a:tr>
            </a:tbl>
          </a:graphicData>
        </a:graphic>
      </p:graphicFrame>
      <p:sp>
        <p:nvSpPr>
          <p:cNvPr id="13" name="Content Placeholder 2">
            <a:extLst>
              <a:ext uri="{FF2B5EF4-FFF2-40B4-BE49-F238E27FC236}">
                <a16:creationId xmlns="" xmlns:a16="http://schemas.microsoft.com/office/drawing/2014/main" id="{2CF7F312-FDD5-FF8C-E840-EF03F36B5CD2}"/>
              </a:ext>
            </a:extLst>
          </p:cNvPr>
          <p:cNvSpPr txBox="1">
            <a:spLocks/>
          </p:cNvSpPr>
          <p:nvPr/>
        </p:nvSpPr>
        <p:spPr>
          <a:xfrm>
            <a:off x="8763031" y="3968748"/>
            <a:ext cx="3153952" cy="39283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i="0" dirty="0">
                <a:solidFill>
                  <a:srgbClr val="000099"/>
                </a:solidFill>
                <a:effectLst/>
                <a:latin typeface="inter-bold"/>
              </a:rPr>
              <a:t>EMP_DEPT_MAPPING table</a:t>
            </a:r>
            <a:endParaRPr lang="en-US" sz="4000" dirty="0">
              <a:solidFill>
                <a:srgbClr val="000099"/>
              </a:solidFill>
            </a:endParaRPr>
          </a:p>
        </p:txBody>
      </p:sp>
      <p:sp>
        <p:nvSpPr>
          <p:cNvPr id="14" name="Content Placeholder 2">
            <a:extLst>
              <a:ext uri="{FF2B5EF4-FFF2-40B4-BE49-F238E27FC236}">
                <a16:creationId xmlns="" xmlns:a16="http://schemas.microsoft.com/office/drawing/2014/main" id="{F1D8E84B-68B2-B856-5403-542A5AA0F26F}"/>
              </a:ext>
            </a:extLst>
          </p:cNvPr>
          <p:cNvSpPr txBox="1">
            <a:spLocks/>
          </p:cNvSpPr>
          <p:nvPr/>
        </p:nvSpPr>
        <p:spPr>
          <a:xfrm>
            <a:off x="6479744" y="5079239"/>
            <a:ext cx="5437239" cy="1490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solidFill>
                  <a:srgbClr val="000099"/>
                </a:solidFill>
                <a:effectLst/>
              </a:rPr>
              <a:t>Now, this is in BCNF because left side part of both the functional dependencies is a key.</a:t>
            </a:r>
            <a:endParaRPr lang="en-US" b="1" dirty="0">
              <a:solidFill>
                <a:srgbClr val="000099"/>
              </a:solidFill>
            </a:endParaRPr>
          </a:p>
        </p:txBody>
      </p:sp>
    </p:spTree>
    <p:extLst>
      <p:ext uri="{BB962C8B-B14F-4D97-AF65-F5344CB8AC3E}">
        <p14:creationId xmlns:p14="http://schemas.microsoft.com/office/powerpoint/2010/main" val="29980300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CC445D-EF82-7BD9-DBCF-C0CF70959C60}"/>
              </a:ext>
            </a:extLst>
          </p:cNvPr>
          <p:cNvSpPr>
            <a:spLocks noGrp="1"/>
          </p:cNvSpPr>
          <p:nvPr>
            <p:ph type="title"/>
          </p:nvPr>
        </p:nvSpPr>
        <p:spPr>
          <a:xfrm>
            <a:off x="115529" y="15160"/>
            <a:ext cx="5842819" cy="707511"/>
          </a:xfrm>
        </p:spPr>
        <p:txBody>
          <a:bodyPr>
            <a:normAutofit/>
          </a:bodyPr>
          <a:lstStyle/>
          <a:p>
            <a:r>
              <a:rPr lang="en-US" sz="4000" b="1" dirty="0">
                <a:latin typeface="+mn-lt"/>
              </a:rPr>
              <a:t>Fourth Normal Form(4NF)</a:t>
            </a:r>
          </a:p>
        </p:txBody>
      </p:sp>
      <p:sp>
        <p:nvSpPr>
          <p:cNvPr id="3" name="Content Placeholder 2">
            <a:extLst>
              <a:ext uri="{FF2B5EF4-FFF2-40B4-BE49-F238E27FC236}">
                <a16:creationId xmlns="" xmlns:a16="http://schemas.microsoft.com/office/drawing/2014/main" id="{D0D6086E-9CA1-5F80-2040-5D565DC82ED9}"/>
              </a:ext>
            </a:extLst>
          </p:cNvPr>
          <p:cNvSpPr>
            <a:spLocks noGrp="1"/>
          </p:cNvSpPr>
          <p:nvPr>
            <p:ph idx="1"/>
          </p:nvPr>
        </p:nvSpPr>
        <p:spPr>
          <a:xfrm>
            <a:off x="103238" y="828855"/>
            <a:ext cx="6518787" cy="2030822"/>
          </a:xfrm>
        </p:spPr>
        <p:txBody>
          <a:bodyPr>
            <a:normAutofit fontScale="92500" lnSpcReduction="10000"/>
          </a:bodyPr>
          <a:lstStyle/>
          <a:p>
            <a:pPr algn="just"/>
            <a:r>
              <a:rPr lang="en-US" b="0" i="0" dirty="0">
                <a:solidFill>
                  <a:srgbClr val="212529"/>
                </a:solidFill>
                <a:effectLst/>
              </a:rPr>
              <a:t>A table is said to be in the Fourth Normal Form when,</a:t>
            </a:r>
          </a:p>
          <a:p>
            <a:pPr algn="just">
              <a:buFont typeface="+mj-lt"/>
              <a:buAutoNum type="arabicPeriod"/>
            </a:pPr>
            <a:r>
              <a:rPr lang="en-US" b="0" i="0" dirty="0">
                <a:solidFill>
                  <a:srgbClr val="212529"/>
                </a:solidFill>
                <a:effectLst/>
              </a:rPr>
              <a:t>It is in the Boyce-Codd Normal Form.</a:t>
            </a:r>
          </a:p>
          <a:p>
            <a:pPr algn="just">
              <a:buFont typeface="+mj-lt"/>
              <a:buAutoNum type="arabicPeriod"/>
            </a:pPr>
            <a:r>
              <a:rPr lang="en-US" b="0" i="0" dirty="0">
                <a:solidFill>
                  <a:srgbClr val="212529"/>
                </a:solidFill>
                <a:effectLst/>
              </a:rPr>
              <a:t>And, it doesn't have Multi-Valued Dependency.</a:t>
            </a:r>
          </a:p>
          <a:p>
            <a:endParaRPr lang="en-US" dirty="0"/>
          </a:p>
        </p:txBody>
      </p:sp>
      <p:graphicFrame>
        <p:nvGraphicFramePr>
          <p:cNvPr id="4" name="Table 3">
            <a:extLst>
              <a:ext uri="{FF2B5EF4-FFF2-40B4-BE49-F238E27FC236}">
                <a16:creationId xmlns="" xmlns:a16="http://schemas.microsoft.com/office/drawing/2014/main" id="{4A38164C-56C2-B590-15F6-155EDB15BAF9}"/>
              </a:ext>
            </a:extLst>
          </p:cNvPr>
          <p:cNvGraphicFramePr>
            <a:graphicFrameLocks noGrp="1"/>
          </p:cNvGraphicFramePr>
          <p:nvPr>
            <p:extLst>
              <p:ext uri="{D42A27DB-BD31-4B8C-83A1-F6EECF244321}">
                <p14:modId xmlns:p14="http://schemas.microsoft.com/office/powerpoint/2010/main" val="702368216"/>
              </p:ext>
            </p:extLst>
          </p:nvPr>
        </p:nvGraphicFramePr>
        <p:xfrm>
          <a:off x="307259" y="2859677"/>
          <a:ext cx="4058264" cy="2286000"/>
        </p:xfrm>
        <a:graphic>
          <a:graphicData uri="http://schemas.openxmlformats.org/drawingml/2006/table">
            <a:tbl>
              <a:tblPr/>
              <a:tblGrid>
                <a:gridCol w="975851">
                  <a:extLst>
                    <a:ext uri="{9D8B030D-6E8A-4147-A177-3AD203B41FA5}">
                      <a16:colId xmlns="" xmlns:a16="http://schemas.microsoft.com/office/drawing/2014/main" val="3549942207"/>
                    </a:ext>
                  </a:extLst>
                </a:gridCol>
                <a:gridCol w="1651819">
                  <a:extLst>
                    <a:ext uri="{9D8B030D-6E8A-4147-A177-3AD203B41FA5}">
                      <a16:colId xmlns="" xmlns:a16="http://schemas.microsoft.com/office/drawing/2014/main" val="3590641924"/>
                    </a:ext>
                  </a:extLst>
                </a:gridCol>
                <a:gridCol w="1430594">
                  <a:extLst>
                    <a:ext uri="{9D8B030D-6E8A-4147-A177-3AD203B41FA5}">
                      <a16:colId xmlns="" xmlns:a16="http://schemas.microsoft.com/office/drawing/2014/main" val="1735058505"/>
                    </a:ext>
                  </a:extLst>
                </a:gridCol>
              </a:tblGrid>
              <a:tr h="0">
                <a:tc>
                  <a:txBody>
                    <a:bodyPr/>
                    <a:lstStyle/>
                    <a:p>
                      <a:pPr algn="l"/>
                      <a:r>
                        <a:rPr lang="en-US" sz="2400" b="1" dirty="0" err="1">
                          <a:solidFill>
                            <a:schemeClr val="tx1"/>
                          </a:solidFill>
                          <a:effectLst/>
                        </a:rPr>
                        <a:t>s_id</a:t>
                      </a:r>
                      <a:endParaRPr lang="en-US" sz="2400" b="1"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1" dirty="0">
                          <a:solidFill>
                            <a:schemeClr val="tx1"/>
                          </a:solidFill>
                          <a:effectLst/>
                        </a:rPr>
                        <a:t>course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1" dirty="0">
                          <a:solidFill>
                            <a:schemeClr val="tx1"/>
                          </a:solidFill>
                          <a:effectLst/>
                        </a:rPr>
                        <a:t>hobby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039997241"/>
                  </a:ext>
                </a:extLst>
              </a:tr>
              <a:tr h="0">
                <a:tc>
                  <a:txBody>
                    <a:bodyPr/>
                    <a:lstStyle/>
                    <a:p>
                      <a:r>
                        <a:rPr lang="en-US" sz="2400" b="1" dirty="0">
                          <a:solidFill>
                            <a:srgbClr val="000099"/>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000099"/>
                          </a:solidFill>
                          <a:effectLst/>
                        </a:rPr>
                        <a:t>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000099"/>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567762005"/>
                  </a:ext>
                </a:extLst>
              </a:tr>
              <a:tr h="0">
                <a:tc>
                  <a:txBody>
                    <a:bodyPr/>
                    <a:lstStyle/>
                    <a:p>
                      <a:r>
                        <a:rPr lang="en-US" sz="2400" b="1" dirty="0">
                          <a:solidFill>
                            <a:srgbClr val="000099"/>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err="1">
                          <a:solidFill>
                            <a:srgbClr val="000099"/>
                          </a:solidFill>
                          <a:effectLst/>
                        </a:rPr>
                        <a:t>Maths</a:t>
                      </a:r>
                      <a:endParaRPr lang="en-US" sz="2400" b="1" dirty="0">
                        <a:solidFill>
                          <a:srgbClr val="000099"/>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000099"/>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235866065"/>
                  </a:ext>
                </a:extLst>
              </a:tr>
              <a:tr h="0">
                <a:tc>
                  <a:txBody>
                    <a:bodyPr/>
                    <a:lstStyle/>
                    <a:p>
                      <a:r>
                        <a:rPr lang="en-US" sz="240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solidFill>
                            <a:schemeClr val="tx1"/>
                          </a:solidFill>
                          <a:effectLst/>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a:solidFill>
                            <a:schemeClr val="tx1"/>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592292949"/>
                  </a:ext>
                </a:extLst>
              </a:tr>
              <a:tr h="0">
                <a:tc>
                  <a:txBody>
                    <a:bodyPr/>
                    <a:lstStyle/>
                    <a:p>
                      <a:r>
                        <a:rPr lang="en-US" sz="2400" dirty="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err="1">
                          <a:solidFill>
                            <a:schemeClr val="tx1"/>
                          </a:solidFill>
                          <a:effectLst/>
                        </a:rPr>
                        <a:t>Php</a:t>
                      </a:r>
                      <a:endParaRPr lang="en-US" sz="24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solidFill>
                            <a:schemeClr val="tx1"/>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887937936"/>
                  </a:ext>
                </a:extLst>
              </a:tr>
            </a:tbl>
          </a:graphicData>
        </a:graphic>
      </p:graphicFrame>
      <p:sp>
        <p:nvSpPr>
          <p:cNvPr id="5" name="Content Placeholder 2">
            <a:extLst>
              <a:ext uri="{FF2B5EF4-FFF2-40B4-BE49-F238E27FC236}">
                <a16:creationId xmlns="" xmlns:a16="http://schemas.microsoft.com/office/drawing/2014/main" id="{CAD14415-2B14-2016-CB67-94ABE4D8E3EB}"/>
              </a:ext>
            </a:extLst>
          </p:cNvPr>
          <p:cNvSpPr txBox="1">
            <a:spLocks/>
          </p:cNvSpPr>
          <p:nvPr/>
        </p:nvSpPr>
        <p:spPr>
          <a:xfrm>
            <a:off x="0" y="5232091"/>
            <a:ext cx="6297560" cy="161074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212529"/>
                </a:solidFill>
              </a:rPr>
              <a:t>As you can see in the table above, student with </a:t>
            </a:r>
            <a:r>
              <a:rPr lang="en-US" dirty="0" err="1">
                <a:solidFill>
                  <a:srgbClr val="212529"/>
                </a:solidFill>
              </a:rPr>
              <a:t>s_id</a:t>
            </a:r>
            <a:r>
              <a:rPr lang="en-US" dirty="0">
                <a:solidFill>
                  <a:srgbClr val="212529"/>
                </a:solidFill>
              </a:rPr>
              <a:t> 1 has opted for two courses, Science and </a:t>
            </a:r>
            <a:r>
              <a:rPr lang="en-US" dirty="0" err="1">
                <a:solidFill>
                  <a:srgbClr val="212529"/>
                </a:solidFill>
              </a:rPr>
              <a:t>Maths</a:t>
            </a:r>
            <a:r>
              <a:rPr lang="en-US" dirty="0">
                <a:solidFill>
                  <a:srgbClr val="212529"/>
                </a:solidFill>
              </a:rPr>
              <a:t>, and has two hobbies, Cricket and Hockey.</a:t>
            </a:r>
            <a:endParaRPr lang="en-US" dirty="0"/>
          </a:p>
        </p:txBody>
      </p:sp>
      <p:sp>
        <p:nvSpPr>
          <p:cNvPr id="8" name="Content Placeholder 2">
            <a:extLst>
              <a:ext uri="{FF2B5EF4-FFF2-40B4-BE49-F238E27FC236}">
                <a16:creationId xmlns="" xmlns:a16="http://schemas.microsoft.com/office/drawing/2014/main" id="{D1EABE03-5AD9-3E5C-F2F3-D0E5816EBB2D}"/>
              </a:ext>
            </a:extLst>
          </p:cNvPr>
          <p:cNvSpPr txBox="1">
            <a:spLocks/>
          </p:cNvSpPr>
          <p:nvPr/>
        </p:nvSpPr>
        <p:spPr>
          <a:xfrm>
            <a:off x="7285703" y="105658"/>
            <a:ext cx="4586749" cy="246653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dirty="0">
                <a:solidFill>
                  <a:srgbClr val="C00000"/>
                </a:solidFill>
              </a:rPr>
              <a:t>You must be thinking what problem this can lead to, right?</a:t>
            </a:r>
          </a:p>
          <a:p>
            <a:pPr algn="just"/>
            <a:r>
              <a:rPr lang="en-US" b="1" dirty="0">
                <a:solidFill>
                  <a:srgbClr val="000099"/>
                </a:solidFill>
              </a:rPr>
              <a:t>Well the two records for student with </a:t>
            </a:r>
            <a:r>
              <a:rPr lang="en-US" b="1" dirty="0" err="1">
                <a:solidFill>
                  <a:srgbClr val="000099"/>
                </a:solidFill>
              </a:rPr>
              <a:t>s_id</a:t>
            </a:r>
            <a:r>
              <a:rPr lang="en-US" b="1" dirty="0">
                <a:solidFill>
                  <a:srgbClr val="000099"/>
                </a:solidFill>
              </a:rPr>
              <a:t> 1, will give rise to two more records, as shown below, because for one student, two hobbies exists, hence along with both the courses, these hobbies should be specified.</a:t>
            </a:r>
          </a:p>
        </p:txBody>
      </p:sp>
      <p:graphicFrame>
        <p:nvGraphicFramePr>
          <p:cNvPr id="9" name="Table 8">
            <a:extLst>
              <a:ext uri="{FF2B5EF4-FFF2-40B4-BE49-F238E27FC236}">
                <a16:creationId xmlns="" xmlns:a16="http://schemas.microsoft.com/office/drawing/2014/main" id="{EB3A0A6E-816F-AD77-4F4F-F78C46A5597F}"/>
              </a:ext>
            </a:extLst>
          </p:cNvPr>
          <p:cNvGraphicFramePr>
            <a:graphicFrameLocks noGrp="1"/>
          </p:cNvGraphicFramePr>
          <p:nvPr>
            <p:extLst>
              <p:ext uri="{D42A27DB-BD31-4B8C-83A1-F6EECF244321}">
                <p14:modId xmlns:p14="http://schemas.microsoft.com/office/powerpoint/2010/main" val="3542322539"/>
              </p:ext>
            </p:extLst>
          </p:nvPr>
        </p:nvGraphicFramePr>
        <p:xfrm>
          <a:off x="6894870" y="2354339"/>
          <a:ext cx="4372898" cy="2286000"/>
        </p:xfrm>
        <a:graphic>
          <a:graphicData uri="http://schemas.openxmlformats.org/drawingml/2006/table">
            <a:tbl>
              <a:tblPr/>
              <a:tblGrid>
                <a:gridCol w="990600">
                  <a:extLst>
                    <a:ext uri="{9D8B030D-6E8A-4147-A177-3AD203B41FA5}">
                      <a16:colId xmlns="" xmlns:a16="http://schemas.microsoft.com/office/drawing/2014/main" val="577248477"/>
                    </a:ext>
                  </a:extLst>
                </a:gridCol>
                <a:gridCol w="1740310">
                  <a:extLst>
                    <a:ext uri="{9D8B030D-6E8A-4147-A177-3AD203B41FA5}">
                      <a16:colId xmlns="" xmlns:a16="http://schemas.microsoft.com/office/drawing/2014/main" val="3177547740"/>
                    </a:ext>
                  </a:extLst>
                </a:gridCol>
                <a:gridCol w="1641988">
                  <a:extLst>
                    <a:ext uri="{9D8B030D-6E8A-4147-A177-3AD203B41FA5}">
                      <a16:colId xmlns="" xmlns:a16="http://schemas.microsoft.com/office/drawing/2014/main" val="4270715057"/>
                    </a:ext>
                  </a:extLst>
                </a:gridCol>
              </a:tblGrid>
              <a:tr h="0">
                <a:tc>
                  <a:txBody>
                    <a:bodyPr/>
                    <a:lstStyle/>
                    <a:p>
                      <a:pPr algn="l"/>
                      <a:r>
                        <a:rPr lang="en-US" sz="2400" b="1" dirty="0" err="1">
                          <a:solidFill>
                            <a:schemeClr val="tx1"/>
                          </a:solidFill>
                          <a:effectLst/>
                        </a:rPr>
                        <a:t>s_id</a:t>
                      </a:r>
                      <a:endParaRPr lang="en-US" sz="2400" b="1"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1" dirty="0">
                          <a:solidFill>
                            <a:schemeClr val="tx1"/>
                          </a:solidFill>
                          <a:effectLst/>
                        </a:rPr>
                        <a:t>course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b="1" dirty="0">
                          <a:solidFill>
                            <a:schemeClr val="tx1"/>
                          </a:solidFill>
                          <a:effectLst/>
                        </a:rPr>
                        <a:t>hobby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277019245"/>
                  </a:ext>
                </a:extLst>
              </a:tr>
              <a:tr h="0">
                <a:tc>
                  <a:txBody>
                    <a:bodyPr/>
                    <a:lstStyle/>
                    <a:p>
                      <a:r>
                        <a:rPr lang="en-US" sz="2400" b="1" dirty="0">
                          <a:solidFill>
                            <a:srgbClr val="C00000"/>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C00000"/>
                          </a:solidFill>
                          <a:effectLst/>
                        </a:rPr>
                        <a:t>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a:solidFill>
                            <a:srgbClr val="C00000"/>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652716399"/>
                  </a:ext>
                </a:extLst>
              </a:tr>
              <a:tr h="0">
                <a:tc>
                  <a:txBody>
                    <a:bodyPr/>
                    <a:lstStyle/>
                    <a:p>
                      <a:r>
                        <a:rPr lang="en-US" sz="2400" b="1" dirty="0">
                          <a:solidFill>
                            <a:srgbClr val="C00000"/>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err="1">
                          <a:solidFill>
                            <a:srgbClr val="C00000"/>
                          </a:solidFill>
                          <a:effectLst/>
                        </a:rPr>
                        <a:t>Maths</a:t>
                      </a:r>
                      <a:endParaRPr lang="en-US" sz="2400" b="1" dirty="0">
                        <a:solidFill>
                          <a:srgbClr val="C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C00000"/>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973048921"/>
                  </a:ext>
                </a:extLst>
              </a:tr>
              <a:tr h="0">
                <a:tc>
                  <a:txBody>
                    <a:bodyPr/>
                    <a:lstStyle/>
                    <a:p>
                      <a:r>
                        <a:rPr lang="en-US" sz="2400" b="1">
                          <a:solidFill>
                            <a:srgbClr val="C00000"/>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C00000"/>
                          </a:solidFill>
                          <a:effectLst/>
                        </a:rPr>
                        <a:t>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C00000"/>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128468792"/>
                  </a:ext>
                </a:extLst>
              </a:tr>
              <a:tr h="0">
                <a:tc>
                  <a:txBody>
                    <a:bodyPr/>
                    <a:lstStyle/>
                    <a:p>
                      <a:r>
                        <a:rPr lang="en-US" sz="2400" b="1">
                          <a:solidFill>
                            <a:srgbClr val="C00000"/>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err="1">
                          <a:solidFill>
                            <a:srgbClr val="C00000"/>
                          </a:solidFill>
                          <a:effectLst/>
                        </a:rPr>
                        <a:t>Maths</a:t>
                      </a:r>
                      <a:endParaRPr lang="en-US" sz="2400" b="1" dirty="0">
                        <a:solidFill>
                          <a:srgbClr val="C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b="1" dirty="0">
                          <a:solidFill>
                            <a:srgbClr val="C00000"/>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513767478"/>
                  </a:ext>
                </a:extLst>
              </a:tr>
            </a:tbl>
          </a:graphicData>
        </a:graphic>
      </p:graphicFrame>
      <p:sp>
        <p:nvSpPr>
          <p:cNvPr id="11" name="Content Placeholder 2">
            <a:extLst>
              <a:ext uri="{FF2B5EF4-FFF2-40B4-BE49-F238E27FC236}">
                <a16:creationId xmlns="" xmlns:a16="http://schemas.microsoft.com/office/drawing/2014/main" id="{A009DB6A-9454-3EF1-C50D-2203CC5577E8}"/>
              </a:ext>
            </a:extLst>
          </p:cNvPr>
          <p:cNvSpPr txBox="1">
            <a:spLocks/>
          </p:cNvSpPr>
          <p:nvPr/>
        </p:nvSpPr>
        <p:spPr>
          <a:xfrm>
            <a:off x="6622025" y="4726753"/>
            <a:ext cx="5102944" cy="202558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212529"/>
                </a:solidFill>
              </a:rPr>
              <a:t>And, in the table above, </a:t>
            </a:r>
            <a:r>
              <a:rPr lang="en-US" b="1" dirty="0">
                <a:solidFill>
                  <a:srgbClr val="000099"/>
                </a:solidFill>
              </a:rPr>
              <a:t>there is no relationship between the columns course and hobby. They are independent of each other.</a:t>
            </a:r>
          </a:p>
          <a:p>
            <a:pPr algn="just"/>
            <a:r>
              <a:rPr lang="en-US" dirty="0">
                <a:solidFill>
                  <a:srgbClr val="212529"/>
                </a:solidFill>
              </a:rPr>
              <a:t>So there is </a:t>
            </a:r>
            <a:r>
              <a:rPr lang="en-US" b="1" dirty="0">
                <a:solidFill>
                  <a:srgbClr val="C00000"/>
                </a:solidFill>
              </a:rPr>
              <a:t>multi-value dependency, which leads to un-necessary repetition of data and other anomalies as well.</a:t>
            </a:r>
          </a:p>
        </p:txBody>
      </p:sp>
      <p:cxnSp>
        <p:nvCxnSpPr>
          <p:cNvPr id="13" name="Connector: Elbow 12">
            <a:extLst>
              <a:ext uri="{FF2B5EF4-FFF2-40B4-BE49-F238E27FC236}">
                <a16:creationId xmlns="" xmlns:a16="http://schemas.microsoft.com/office/drawing/2014/main" id="{14942A7A-FCC1-763C-EC2E-31D5A2EFD102}"/>
              </a:ext>
            </a:extLst>
          </p:cNvPr>
          <p:cNvCxnSpPr>
            <a:cxnSpLocks/>
          </p:cNvCxnSpPr>
          <p:nvPr/>
        </p:nvCxnSpPr>
        <p:spPr>
          <a:xfrm flipV="1">
            <a:off x="4365522" y="3229897"/>
            <a:ext cx="2468880" cy="548640"/>
          </a:xfrm>
          <a:prstGeom prst="bentConnector3">
            <a:avLst>
              <a:gd name="adj1" fmla="val 50000"/>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260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CC445D-EF82-7BD9-DBCF-C0CF70959C60}"/>
              </a:ext>
            </a:extLst>
          </p:cNvPr>
          <p:cNvSpPr>
            <a:spLocks noGrp="1"/>
          </p:cNvSpPr>
          <p:nvPr>
            <p:ph type="title"/>
          </p:nvPr>
        </p:nvSpPr>
        <p:spPr>
          <a:xfrm>
            <a:off x="115529" y="15161"/>
            <a:ext cx="5842819" cy="813694"/>
          </a:xfrm>
        </p:spPr>
        <p:txBody>
          <a:bodyPr>
            <a:normAutofit/>
          </a:bodyPr>
          <a:lstStyle/>
          <a:p>
            <a:r>
              <a:rPr lang="en-US" sz="4000" b="1" dirty="0">
                <a:latin typeface="+mn-lt"/>
              </a:rPr>
              <a:t>Fourth Normal Form(4NF)</a:t>
            </a:r>
          </a:p>
        </p:txBody>
      </p:sp>
      <p:sp>
        <p:nvSpPr>
          <p:cNvPr id="3" name="Content Placeholder 2">
            <a:extLst>
              <a:ext uri="{FF2B5EF4-FFF2-40B4-BE49-F238E27FC236}">
                <a16:creationId xmlns="" xmlns:a16="http://schemas.microsoft.com/office/drawing/2014/main" id="{D0D6086E-9CA1-5F80-2040-5D565DC82ED9}"/>
              </a:ext>
            </a:extLst>
          </p:cNvPr>
          <p:cNvSpPr>
            <a:spLocks noGrp="1"/>
          </p:cNvSpPr>
          <p:nvPr>
            <p:ph idx="1"/>
          </p:nvPr>
        </p:nvSpPr>
        <p:spPr>
          <a:xfrm>
            <a:off x="103238" y="828854"/>
            <a:ext cx="3878827" cy="3032069"/>
          </a:xfrm>
        </p:spPr>
        <p:txBody>
          <a:bodyPr>
            <a:normAutofit/>
          </a:bodyPr>
          <a:lstStyle/>
          <a:p>
            <a:pPr algn="just"/>
            <a:r>
              <a:rPr lang="en-US" b="0" i="0" dirty="0">
                <a:solidFill>
                  <a:srgbClr val="212529"/>
                </a:solidFill>
                <a:effectLst/>
                <a:latin typeface="system-ui"/>
              </a:rPr>
              <a:t>To make the above relation </a:t>
            </a:r>
            <a:r>
              <a:rPr lang="en-US" b="0" i="0" dirty="0" smtClean="0">
                <a:solidFill>
                  <a:srgbClr val="212529"/>
                </a:solidFill>
                <a:effectLst/>
                <a:latin typeface="system-ui"/>
              </a:rPr>
              <a:t>satisfy </a:t>
            </a:r>
            <a:r>
              <a:rPr lang="en-US" b="0" i="0" dirty="0">
                <a:solidFill>
                  <a:srgbClr val="212529"/>
                </a:solidFill>
                <a:effectLst/>
                <a:latin typeface="system-ui"/>
              </a:rPr>
              <a:t>the 4th normal form, we can decompose the table into 2 tables.</a:t>
            </a:r>
            <a:endParaRPr lang="en-US" dirty="0"/>
          </a:p>
        </p:txBody>
      </p:sp>
      <p:sp>
        <p:nvSpPr>
          <p:cNvPr id="11" name="Content Placeholder 2">
            <a:extLst>
              <a:ext uri="{FF2B5EF4-FFF2-40B4-BE49-F238E27FC236}">
                <a16:creationId xmlns="" xmlns:a16="http://schemas.microsoft.com/office/drawing/2014/main" id="{A009DB6A-9454-3EF1-C50D-2203CC5577E8}"/>
              </a:ext>
            </a:extLst>
          </p:cNvPr>
          <p:cNvSpPr txBox="1">
            <a:spLocks/>
          </p:cNvSpPr>
          <p:nvPr/>
        </p:nvSpPr>
        <p:spPr>
          <a:xfrm>
            <a:off x="263693" y="4009828"/>
            <a:ext cx="11594009" cy="26822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solidFill>
                  <a:srgbClr val="212529"/>
                </a:solidFill>
                <a:effectLst/>
              </a:rPr>
              <a:t>Now this </a:t>
            </a:r>
            <a:r>
              <a:rPr lang="en-US" b="1" i="0" dirty="0">
                <a:solidFill>
                  <a:srgbClr val="000099"/>
                </a:solidFill>
                <a:effectLst/>
              </a:rPr>
              <a:t>relation satisfies the fourth normal form.</a:t>
            </a:r>
          </a:p>
          <a:p>
            <a:pPr algn="just"/>
            <a:r>
              <a:rPr lang="en-US" b="0" i="0" dirty="0">
                <a:solidFill>
                  <a:srgbClr val="212529"/>
                </a:solidFill>
                <a:effectLst/>
              </a:rPr>
              <a:t>A table can also have functional dependency along with multi-valued dependency. In that case, the functionally dependent columns are moved in a separate table and the multi-valued dependent columns are moved to separate tables.</a:t>
            </a:r>
          </a:p>
        </p:txBody>
      </p:sp>
      <p:graphicFrame>
        <p:nvGraphicFramePr>
          <p:cNvPr id="6" name="Table 5">
            <a:extLst>
              <a:ext uri="{FF2B5EF4-FFF2-40B4-BE49-F238E27FC236}">
                <a16:creationId xmlns="" xmlns:a16="http://schemas.microsoft.com/office/drawing/2014/main" id="{C25A8D7C-8C56-4213-0C3E-46DBDA101AEC}"/>
              </a:ext>
            </a:extLst>
          </p:cNvPr>
          <p:cNvGraphicFramePr>
            <a:graphicFrameLocks noGrp="1"/>
          </p:cNvGraphicFramePr>
          <p:nvPr>
            <p:extLst>
              <p:ext uri="{D42A27DB-BD31-4B8C-83A1-F6EECF244321}">
                <p14:modId xmlns:p14="http://schemas.microsoft.com/office/powerpoint/2010/main" val="1716436651"/>
              </p:ext>
            </p:extLst>
          </p:nvPr>
        </p:nvGraphicFramePr>
        <p:xfrm>
          <a:off x="4662263" y="1047135"/>
          <a:ext cx="2867473" cy="2286000"/>
        </p:xfrm>
        <a:graphic>
          <a:graphicData uri="http://schemas.openxmlformats.org/drawingml/2006/table">
            <a:tbl>
              <a:tblPr/>
              <a:tblGrid>
                <a:gridCol w="1038673">
                  <a:extLst>
                    <a:ext uri="{9D8B030D-6E8A-4147-A177-3AD203B41FA5}">
                      <a16:colId xmlns="" xmlns:a16="http://schemas.microsoft.com/office/drawing/2014/main" val="292551091"/>
                    </a:ext>
                  </a:extLst>
                </a:gridCol>
                <a:gridCol w="1828800">
                  <a:extLst>
                    <a:ext uri="{9D8B030D-6E8A-4147-A177-3AD203B41FA5}">
                      <a16:colId xmlns="" xmlns:a16="http://schemas.microsoft.com/office/drawing/2014/main" val="2593658572"/>
                    </a:ext>
                  </a:extLst>
                </a:gridCol>
              </a:tblGrid>
              <a:tr h="0">
                <a:tc>
                  <a:txBody>
                    <a:bodyPr/>
                    <a:lstStyle/>
                    <a:p>
                      <a:pPr algn="l"/>
                      <a:r>
                        <a:rPr lang="en-US" sz="2400" dirty="0" err="1">
                          <a:solidFill>
                            <a:schemeClr val="tx1"/>
                          </a:solidFill>
                          <a:effectLst/>
                        </a:rPr>
                        <a:t>s_id</a:t>
                      </a:r>
                      <a:endParaRPr lang="en-US" sz="24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a:solidFill>
                            <a:schemeClr val="tx1"/>
                          </a:solidFill>
                          <a:effectLst/>
                        </a:rPr>
                        <a:t>course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323483333"/>
                  </a:ext>
                </a:extLst>
              </a:tr>
              <a:tr h="0">
                <a:tc>
                  <a:txBody>
                    <a:bodyPr/>
                    <a:lstStyle/>
                    <a:p>
                      <a:r>
                        <a:rPr lang="en-US" sz="2400" dirty="0">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a:solidFill>
                            <a:schemeClr val="tx1"/>
                          </a:solidFill>
                          <a:effectLst/>
                        </a:rPr>
                        <a:t>Science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569016364"/>
                  </a:ext>
                </a:extLst>
              </a:tr>
              <a:tr h="0">
                <a:tc>
                  <a:txBody>
                    <a:bodyPr/>
                    <a:lstStyle/>
                    <a:p>
                      <a:r>
                        <a:rPr lang="en-US" sz="2400" dirty="0">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err="1">
                          <a:solidFill>
                            <a:schemeClr val="tx1"/>
                          </a:solidFill>
                          <a:effectLst/>
                        </a:rPr>
                        <a:t>Maths</a:t>
                      </a:r>
                      <a:endParaRPr lang="en-US" sz="24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671124854"/>
                  </a:ext>
                </a:extLst>
              </a:tr>
              <a:tr h="0">
                <a:tc>
                  <a:txBody>
                    <a:bodyPr/>
                    <a:lstStyle/>
                    <a:p>
                      <a:r>
                        <a:rPr lang="en-US" sz="2400" dirty="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effectLst/>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420923310"/>
                  </a:ext>
                </a:extLst>
              </a:tr>
              <a:tr h="0">
                <a:tc>
                  <a:txBody>
                    <a:bodyPr/>
                    <a:lstStyle/>
                    <a:p>
                      <a:r>
                        <a:rPr lang="en-US" sz="240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err="1">
                          <a:solidFill>
                            <a:schemeClr val="tx1"/>
                          </a:solidFill>
                          <a:effectLst/>
                        </a:rPr>
                        <a:t>Php</a:t>
                      </a:r>
                      <a:endParaRPr lang="en-US" sz="24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2952358"/>
                  </a:ext>
                </a:extLst>
              </a:tr>
            </a:tbl>
          </a:graphicData>
        </a:graphic>
      </p:graphicFrame>
      <p:sp>
        <p:nvSpPr>
          <p:cNvPr id="7" name="Rectangle 1">
            <a:extLst>
              <a:ext uri="{FF2B5EF4-FFF2-40B4-BE49-F238E27FC236}">
                <a16:creationId xmlns="" xmlns:a16="http://schemas.microsoft.com/office/drawing/2014/main" id="{D1C9DE45-B0A8-CAD7-5636-72D275EEB9FC}"/>
              </a:ext>
            </a:extLst>
          </p:cNvPr>
          <p:cNvSpPr>
            <a:spLocks noChangeArrowheads="1"/>
          </p:cNvSpPr>
          <p:nvPr/>
        </p:nvSpPr>
        <p:spPr bwMode="auto">
          <a:xfrm>
            <a:off x="4662263" y="3429000"/>
            <a:ext cx="3071019"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rgbClr val="000099"/>
                </a:solidFill>
                <a:effectLst/>
                <a:latin typeface="system-ui"/>
              </a:rPr>
              <a:t>CourseOpted</a:t>
            </a:r>
            <a:r>
              <a:rPr kumimoji="0" lang="en-US" altLang="en-US" sz="2000" b="1" i="0" u="none" strike="noStrike" cap="none" normalizeH="0" baseline="0" dirty="0">
                <a:ln>
                  <a:noFill/>
                </a:ln>
                <a:solidFill>
                  <a:srgbClr val="000099"/>
                </a:solidFill>
                <a:effectLst/>
                <a:latin typeface="system-ui"/>
              </a:rPr>
              <a:t> Table</a:t>
            </a:r>
            <a:endParaRPr kumimoji="0" lang="en-US" altLang="en-US" sz="2000" b="0" i="0" u="none" strike="noStrike" cap="none" normalizeH="0" baseline="0" dirty="0">
              <a:ln>
                <a:noFill/>
              </a:ln>
              <a:solidFill>
                <a:srgbClr val="000099"/>
              </a:solidFill>
              <a:effectLst/>
              <a:latin typeface="Arial" panose="020B0604020202020204" pitchFamily="34" charset="0"/>
            </a:endParaRPr>
          </a:p>
        </p:txBody>
      </p:sp>
      <p:graphicFrame>
        <p:nvGraphicFramePr>
          <p:cNvPr id="14" name="Table 13">
            <a:extLst>
              <a:ext uri="{FF2B5EF4-FFF2-40B4-BE49-F238E27FC236}">
                <a16:creationId xmlns="" xmlns:a16="http://schemas.microsoft.com/office/drawing/2014/main" id="{CD3DD859-49F9-A4CF-7FDD-4A131E97FD9F}"/>
              </a:ext>
            </a:extLst>
          </p:cNvPr>
          <p:cNvGraphicFramePr>
            <a:graphicFrameLocks noGrp="1"/>
          </p:cNvGraphicFramePr>
          <p:nvPr>
            <p:extLst>
              <p:ext uri="{D42A27DB-BD31-4B8C-83A1-F6EECF244321}">
                <p14:modId xmlns:p14="http://schemas.microsoft.com/office/powerpoint/2010/main" val="1056628212"/>
              </p:ext>
            </p:extLst>
          </p:nvPr>
        </p:nvGraphicFramePr>
        <p:xfrm>
          <a:off x="8990231" y="1005689"/>
          <a:ext cx="2749486" cy="2286000"/>
        </p:xfrm>
        <a:graphic>
          <a:graphicData uri="http://schemas.openxmlformats.org/drawingml/2006/table">
            <a:tbl>
              <a:tblPr/>
              <a:tblGrid>
                <a:gridCol w="1156660">
                  <a:extLst>
                    <a:ext uri="{9D8B030D-6E8A-4147-A177-3AD203B41FA5}">
                      <a16:colId xmlns="" xmlns:a16="http://schemas.microsoft.com/office/drawing/2014/main" val="428362284"/>
                    </a:ext>
                  </a:extLst>
                </a:gridCol>
                <a:gridCol w="1592826">
                  <a:extLst>
                    <a:ext uri="{9D8B030D-6E8A-4147-A177-3AD203B41FA5}">
                      <a16:colId xmlns="" xmlns:a16="http://schemas.microsoft.com/office/drawing/2014/main" val="699458837"/>
                    </a:ext>
                  </a:extLst>
                </a:gridCol>
              </a:tblGrid>
              <a:tr h="0">
                <a:tc>
                  <a:txBody>
                    <a:bodyPr/>
                    <a:lstStyle/>
                    <a:p>
                      <a:pPr algn="l"/>
                      <a:r>
                        <a:rPr lang="en-US" sz="2400" dirty="0" err="1">
                          <a:solidFill>
                            <a:schemeClr val="tx1"/>
                          </a:solidFill>
                          <a:effectLst/>
                        </a:rPr>
                        <a:t>s_id</a:t>
                      </a:r>
                      <a:endParaRPr lang="en-US" sz="2400" dirty="0">
                        <a:solidFill>
                          <a:schemeClr val="tx1"/>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2400">
                          <a:solidFill>
                            <a:schemeClr val="tx1"/>
                          </a:solidFill>
                          <a:effectLst/>
                        </a:rPr>
                        <a:t>hobby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606705749"/>
                  </a:ext>
                </a:extLst>
              </a:tr>
              <a:tr h="0">
                <a:tc>
                  <a:txBody>
                    <a:bodyPr/>
                    <a:lstStyle/>
                    <a:p>
                      <a:r>
                        <a:rPr lang="en-US" sz="2400" dirty="0">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a:solidFill>
                            <a:schemeClr val="tx1"/>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225547319"/>
                  </a:ext>
                </a:extLst>
              </a:tr>
              <a:tr h="0">
                <a:tc>
                  <a:txBody>
                    <a:bodyPr/>
                    <a:lstStyle/>
                    <a:p>
                      <a:r>
                        <a:rPr lang="en-US" sz="2400">
                          <a:solidFill>
                            <a:schemeClr val="tx1"/>
                          </a:solidFill>
                          <a:effectLs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solidFill>
                            <a:schemeClr val="tx1"/>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44677481"/>
                  </a:ext>
                </a:extLst>
              </a:tr>
              <a:tr h="0">
                <a:tc>
                  <a:txBody>
                    <a:bodyPr/>
                    <a:lstStyle/>
                    <a:p>
                      <a:r>
                        <a:rPr lang="en-US" sz="240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solidFill>
                            <a:schemeClr val="tx1"/>
                          </a:solidFill>
                          <a:effectLst/>
                        </a:rPr>
                        <a:t>Cricket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944327514"/>
                  </a:ext>
                </a:extLst>
              </a:tr>
              <a:tr h="0">
                <a:tc>
                  <a:txBody>
                    <a:bodyPr/>
                    <a:lstStyle/>
                    <a:p>
                      <a:r>
                        <a:rPr lang="en-US" sz="2400">
                          <a:solidFill>
                            <a:schemeClr val="tx1"/>
                          </a:solidFill>
                          <a:effectLs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2400" dirty="0">
                          <a:solidFill>
                            <a:schemeClr val="tx1"/>
                          </a:solidFill>
                          <a:effectLst/>
                        </a:rPr>
                        <a:t>Hockey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214685379"/>
                  </a:ext>
                </a:extLst>
              </a:tr>
            </a:tbl>
          </a:graphicData>
        </a:graphic>
      </p:graphicFrame>
      <p:sp>
        <p:nvSpPr>
          <p:cNvPr id="16" name="Rectangle 1">
            <a:extLst>
              <a:ext uri="{FF2B5EF4-FFF2-40B4-BE49-F238E27FC236}">
                <a16:creationId xmlns="" xmlns:a16="http://schemas.microsoft.com/office/drawing/2014/main" id="{05CBA3B8-B84C-5557-781C-FB47FE7BCE5A}"/>
              </a:ext>
            </a:extLst>
          </p:cNvPr>
          <p:cNvSpPr>
            <a:spLocks noChangeArrowheads="1"/>
          </p:cNvSpPr>
          <p:nvPr/>
        </p:nvSpPr>
        <p:spPr bwMode="auto">
          <a:xfrm>
            <a:off x="9122755" y="3440594"/>
            <a:ext cx="2484437"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i="0" dirty="0">
                <a:solidFill>
                  <a:srgbClr val="000099"/>
                </a:solidFill>
                <a:effectLst/>
                <a:latin typeface="system-ui"/>
              </a:rPr>
              <a:t>Hobbies Table</a:t>
            </a:r>
            <a:r>
              <a:rPr kumimoji="0" lang="en-US" altLang="en-US" sz="2000" b="1" i="0" u="none" strike="noStrike" cap="none" normalizeH="0" baseline="0" dirty="0">
                <a:ln>
                  <a:noFill/>
                </a:ln>
                <a:solidFill>
                  <a:srgbClr val="000099"/>
                </a:solidFill>
                <a:effectLst/>
                <a:latin typeface="system-ui"/>
              </a:rPr>
              <a:t> Table</a:t>
            </a:r>
            <a:endParaRPr kumimoji="0" lang="en-US" altLang="en-US" sz="2000" b="0" i="0" u="none" strike="noStrike" cap="none" normalizeH="0" baseline="0" dirty="0">
              <a:ln>
                <a:noFill/>
              </a:ln>
              <a:solidFill>
                <a:srgbClr val="000099"/>
              </a:solidFill>
              <a:effectLst/>
              <a:latin typeface="Arial" panose="020B0604020202020204" pitchFamily="34" charset="0"/>
            </a:endParaRPr>
          </a:p>
        </p:txBody>
      </p:sp>
    </p:spTree>
    <p:extLst>
      <p:ext uri="{BB962C8B-B14F-4D97-AF65-F5344CB8AC3E}">
        <p14:creationId xmlns:p14="http://schemas.microsoft.com/office/powerpoint/2010/main" val="42357897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2679</TotalTime>
  <Words>3185</Words>
  <Application>Microsoft Office PowerPoint</Application>
  <PresentationFormat>Custom</PresentationFormat>
  <Paragraphs>771</Paragraphs>
  <Slides>40</Slides>
  <Notes>8</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Unit 2. Database Design</vt:lpstr>
      <vt:lpstr>Database Design</vt:lpstr>
      <vt:lpstr>Functional Dependencies</vt:lpstr>
      <vt:lpstr>Functional Dependencies</vt:lpstr>
      <vt:lpstr>PowerPoint Presentation</vt:lpstr>
      <vt:lpstr>Functional Dependencies</vt:lpstr>
      <vt:lpstr>Functional Dependencies</vt:lpstr>
      <vt:lpstr>Functional Dependencies</vt:lpstr>
      <vt:lpstr>Examples</vt:lpstr>
      <vt:lpstr>Functional Dependencies</vt:lpstr>
      <vt:lpstr>Functional Dependencies</vt:lpstr>
      <vt:lpstr>Functional Dependencies</vt:lpstr>
      <vt:lpstr>Functional Dependencies</vt:lpstr>
      <vt:lpstr>Functional Dependency Closure</vt:lpstr>
      <vt:lpstr>Functional Dependency Closure</vt:lpstr>
      <vt:lpstr>Functional Dependency Closure</vt:lpstr>
      <vt:lpstr>Functional Dependency Closure</vt:lpstr>
      <vt:lpstr>Minimal Cover /Canonical Cover of Functional Dependency</vt:lpstr>
      <vt:lpstr>Minimal Cover /Canonical Cover of Functional Dependency</vt:lpstr>
      <vt:lpstr>Minimal Cover /Canonical Cover of Functional Dependency</vt:lpstr>
      <vt:lpstr>Minimal Cover /Canonical Cover of Functional Dependency</vt:lpstr>
      <vt:lpstr>Minimal Cover /Canonical Cover of Functional Dependency</vt:lpstr>
      <vt:lpstr>Decomposition Properties</vt:lpstr>
      <vt:lpstr>Decomposition Properties</vt:lpstr>
      <vt:lpstr>Decomposition Properties</vt:lpstr>
      <vt:lpstr>Decomposition Properties</vt:lpstr>
      <vt:lpstr>What is Normalization? </vt:lpstr>
      <vt:lpstr>Why do we need Normalization?</vt:lpstr>
      <vt:lpstr>First normal form(1NF)</vt:lpstr>
      <vt:lpstr>example</vt:lpstr>
      <vt:lpstr>PowerPoint Presentation</vt:lpstr>
      <vt:lpstr>PowerPoint Presentation</vt:lpstr>
      <vt:lpstr>Examples</vt:lpstr>
      <vt:lpstr>Second normal form(2NF)</vt:lpstr>
      <vt:lpstr>Third normal form(3NF)</vt:lpstr>
      <vt:lpstr>Third normal form(3NF)</vt:lpstr>
      <vt:lpstr>Boyce &amp; Codd normal form (BCNF)</vt:lpstr>
      <vt:lpstr>Boyce &amp; Codd normal form (BCNF)</vt:lpstr>
      <vt:lpstr>Fourth Normal Form(4NF)</vt:lpstr>
      <vt:lpstr>Fourth Normal Form(4NF)</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Database Design</dc:title>
  <dc:creator>Ranjeetsingh Suryawanshi</dc:creator>
  <cp:lastModifiedBy>DELL-PC</cp:lastModifiedBy>
  <cp:revision>86</cp:revision>
  <dcterms:created xsi:type="dcterms:W3CDTF">2022-09-10T13:46:28Z</dcterms:created>
  <dcterms:modified xsi:type="dcterms:W3CDTF">2025-08-21T05:29:46Z</dcterms:modified>
</cp:coreProperties>
</file>