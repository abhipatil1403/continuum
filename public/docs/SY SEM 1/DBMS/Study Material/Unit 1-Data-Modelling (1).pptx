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2"/>
  </p:notesMasterIdLst>
  <p:sldIdLst>
    <p:sldId id="256" r:id="rId2"/>
    <p:sldId id="257" r:id="rId3"/>
    <p:sldId id="355" r:id="rId4"/>
    <p:sldId id="356" r:id="rId5"/>
    <p:sldId id="357" r:id="rId6"/>
    <p:sldId id="358" r:id="rId7"/>
    <p:sldId id="359" r:id="rId8"/>
    <p:sldId id="360" r:id="rId9"/>
    <p:sldId id="258" r:id="rId10"/>
    <p:sldId id="319" r:id="rId11"/>
    <p:sldId id="259" r:id="rId12"/>
    <p:sldId id="321" r:id="rId13"/>
    <p:sldId id="260" r:id="rId14"/>
    <p:sldId id="261" r:id="rId15"/>
    <p:sldId id="353" r:id="rId16"/>
    <p:sldId id="285" r:id="rId17"/>
    <p:sldId id="286" r:id="rId18"/>
    <p:sldId id="287" r:id="rId19"/>
    <p:sldId id="288" r:id="rId20"/>
    <p:sldId id="264" r:id="rId21"/>
    <p:sldId id="262" r:id="rId22"/>
    <p:sldId id="263" r:id="rId23"/>
    <p:sldId id="265" r:id="rId24"/>
    <p:sldId id="266" r:id="rId25"/>
    <p:sldId id="267" r:id="rId26"/>
    <p:sldId id="268" r:id="rId27"/>
    <p:sldId id="354" r:id="rId28"/>
    <p:sldId id="295" r:id="rId29"/>
    <p:sldId id="296" r:id="rId30"/>
    <p:sldId id="297" r:id="rId31"/>
    <p:sldId id="311" r:id="rId32"/>
    <p:sldId id="298" r:id="rId33"/>
    <p:sldId id="299" r:id="rId34"/>
    <p:sldId id="361" r:id="rId35"/>
    <p:sldId id="362" r:id="rId36"/>
    <p:sldId id="351" r:id="rId37"/>
    <p:sldId id="269" r:id="rId38"/>
    <p:sldId id="270" r:id="rId39"/>
    <p:sldId id="312" r:id="rId40"/>
    <p:sldId id="322" r:id="rId41"/>
    <p:sldId id="323" r:id="rId42"/>
    <p:sldId id="324" r:id="rId43"/>
    <p:sldId id="290" r:id="rId44"/>
    <p:sldId id="291" r:id="rId45"/>
    <p:sldId id="272" r:id="rId46"/>
    <p:sldId id="283" r:id="rId47"/>
    <p:sldId id="284" r:id="rId48"/>
    <p:sldId id="292" r:id="rId49"/>
    <p:sldId id="325" r:id="rId50"/>
    <p:sldId id="326" r:id="rId51"/>
    <p:sldId id="327" r:id="rId52"/>
    <p:sldId id="328" r:id="rId53"/>
    <p:sldId id="329" r:id="rId54"/>
    <p:sldId id="330" r:id="rId55"/>
    <p:sldId id="331" r:id="rId56"/>
    <p:sldId id="332" r:id="rId57"/>
    <p:sldId id="363" r:id="rId58"/>
    <p:sldId id="352" r:id="rId59"/>
    <p:sldId id="282" r:id="rId60"/>
    <p:sldId id="294" r:id="rId61"/>
    <p:sldId id="318" r:id="rId62"/>
    <p:sldId id="347" r:id="rId63"/>
    <p:sldId id="314" r:id="rId64"/>
    <p:sldId id="350" r:id="rId65"/>
    <p:sldId id="333" r:id="rId66"/>
    <p:sldId id="334" r:id="rId67"/>
    <p:sldId id="364" r:id="rId68"/>
    <p:sldId id="313" r:id="rId69"/>
    <p:sldId id="335" r:id="rId70"/>
    <p:sldId id="336" r:id="rId71"/>
    <p:sldId id="337" r:id="rId72"/>
    <p:sldId id="348" r:id="rId73"/>
    <p:sldId id="339" r:id="rId74"/>
    <p:sldId id="340" r:id="rId75"/>
    <p:sldId id="341" r:id="rId76"/>
    <p:sldId id="342" r:id="rId77"/>
    <p:sldId id="343" r:id="rId78"/>
    <p:sldId id="344" r:id="rId79"/>
    <p:sldId id="345" r:id="rId80"/>
    <p:sldId id="346"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724" autoAdjust="0"/>
  </p:normalViewPr>
  <p:slideViewPr>
    <p:cSldViewPr>
      <p:cViewPr varScale="1">
        <p:scale>
          <a:sx n="42" d="100"/>
          <a:sy n="42" d="100"/>
        </p:scale>
        <p:origin x="-207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6B544C-DD45-468F-A7D5-FA479B07B9B4}" type="datetimeFigureOut">
              <a:rPr lang="en-US" smtClean="0"/>
              <a:t>28/05/2025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F412C-B506-463A-AD09-6755EBD4CFEE}" type="slidenum">
              <a:rPr lang="en-US" smtClean="0"/>
              <a:t>‹#›</a:t>
            </a:fld>
            <a:endParaRPr lang="en-US"/>
          </a:p>
        </p:txBody>
      </p:sp>
    </p:spTree>
    <p:extLst>
      <p:ext uri="{BB962C8B-B14F-4D97-AF65-F5344CB8AC3E}">
        <p14:creationId xmlns:p14="http://schemas.microsoft.com/office/powerpoint/2010/main" val="1576240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w3schools.com/sql/sql_primarykey.asp"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Data Model is the modeling of the data description, data semantics, and consistency constraints of the data</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Concepts provided by low-level data models are generally meant for computer specialists, not for typical end users </a:t>
            </a:r>
          </a:p>
          <a:p>
            <a:endParaRPr lang="en-US" dirty="0" smtClean="0"/>
          </a:p>
          <a:p>
            <a:r>
              <a:rPr lang="en-US" dirty="0" smtClean="0"/>
              <a:t>In </a:t>
            </a:r>
            <a:r>
              <a:rPr lang="en-US" b="1" dirty="0" smtClean="0"/>
              <a:t>Database Management Systems (DBMS)</a:t>
            </a:r>
            <a:r>
              <a:rPr lang="en-US" dirty="0" smtClean="0"/>
              <a:t>, </a:t>
            </a:r>
            <a:r>
              <a:rPr lang="en-US" b="1" dirty="0" smtClean="0"/>
              <a:t>data semantics</a:t>
            </a:r>
            <a:r>
              <a:rPr lang="en-US" dirty="0" smtClean="0"/>
              <a:t> refers to the meaning and interpretation of data stored in the database, ensuring consistency, integrity, and relevance. It helps in defining how data should be understood, processed, and related to other data within the database.</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Data Models in DBMS include the following:</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Hierarchical Model. This concept uses a hierarchical tree structure to organize the data. ...</a:t>
            </a:r>
          </a:p>
          <a:p>
            <a:r>
              <a:rPr lang="en-US" sz="1200" b="0" i="0" kern="1200" dirty="0" smtClean="0">
                <a:solidFill>
                  <a:schemeClr val="tx1"/>
                </a:solidFill>
                <a:effectLst/>
                <a:latin typeface="+mn-lt"/>
                <a:ea typeface="+mn-ea"/>
                <a:cs typeface="+mn-cs"/>
              </a:rPr>
              <a:t>Network Model. ...</a:t>
            </a:r>
          </a:p>
          <a:p>
            <a:r>
              <a:rPr lang="en-US" sz="1200" b="0" i="0" kern="1200" dirty="0" smtClean="0">
                <a:solidFill>
                  <a:schemeClr val="tx1"/>
                </a:solidFill>
                <a:effectLst/>
                <a:latin typeface="+mn-lt"/>
                <a:ea typeface="+mn-ea"/>
                <a:cs typeface="+mn-cs"/>
              </a:rPr>
              <a:t>Entity-Relationship Model. ...</a:t>
            </a:r>
          </a:p>
          <a:p>
            <a:r>
              <a:rPr lang="en-US" sz="1200" b="0" i="0" kern="1200" dirty="0" smtClean="0">
                <a:solidFill>
                  <a:schemeClr val="tx1"/>
                </a:solidFill>
                <a:effectLst/>
                <a:latin typeface="+mn-lt"/>
                <a:ea typeface="+mn-ea"/>
                <a:cs typeface="+mn-cs"/>
              </a:rPr>
              <a:t>Relational Model. ...</a:t>
            </a:r>
          </a:p>
          <a:p>
            <a:r>
              <a:rPr lang="en-US" sz="1200" b="0" i="0" kern="1200" dirty="0" smtClean="0">
                <a:solidFill>
                  <a:schemeClr val="tx1"/>
                </a:solidFill>
                <a:effectLst/>
                <a:latin typeface="+mn-lt"/>
                <a:ea typeface="+mn-ea"/>
                <a:cs typeface="+mn-cs"/>
              </a:rPr>
              <a:t>Object-Oriented Data Model. ...</a:t>
            </a:r>
          </a:p>
          <a:p>
            <a:r>
              <a:rPr lang="en-US" sz="1200" b="0" i="0" kern="1200" dirty="0" smtClean="0">
                <a:solidFill>
                  <a:schemeClr val="tx1"/>
                </a:solidFill>
                <a:effectLst/>
                <a:latin typeface="+mn-lt"/>
                <a:ea typeface="+mn-ea"/>
                <a:cs typeface="+mn-cs"/>
              </a:rPr>
              <a:t>Object-Relational Data Model. ...</a:t>
            </a:r>
          </a:p>
          <a:p>
            <a:r>
              <a:rPr lang="en-US" sz="1200" b="0" i="0" kern="1200" dirty="0" smtClean="0">
                <a:solidFill>
                  <a:schemeClr val="tx1"/>
                </a:solidFill>
                <a:effectLst/>
                <a:latin typeface="+mn-lt"/>
                <a:ea typeface="+mn-ea"/>
                <a:cs typeface="+mn-cs"/>
              </a:rPr>
              <a:t>Flat Data Model. ...</a:t>
            </a:r>
          </a:p>
          <a:p>
            <a:r>
              <a:rPr lang="en-US" sz="1200" b="0" i="0" kern="1200" dirty="0" smtClean="0">
                <a:solidFill>
                  <a:schemeClr val="tx1"/>
                </a:solidFill>
                <a:effectLst/>
                <a:latin typeface="+mn-lt"/>
                <a:ea typeface="+mn-ea"/>
                <a:cs typeface="+mn-cs"/>
              </a:rPr>
              <a:t>Semi-Structured Data Model.</a:t>
            </a:r>
          </a:p>
          <a:p>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2</a:t>
            </a:fld>
            <a:endParaRPr lang="en-US"/>
          </a:p>
        </p:txBody>
      </p:sp>
    </p:spTree>
    <p:extLst>
      <p:ext uri="{BB962C8B-B14F-4D97-AF65-F5344CB8AC3E}">
        <p14:creationId xmlns:p14="http://schemas.microsoft.com/office/powerpoint/2010/main" val="299508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smtClean="0">
                <a:solidFill>
                  <a:schemeClr val="tx1"/>
                </a:solidFill>
                <a:effectLst/>
                <a:latin typeface="+mn-lt"/>
                <a:ea typeface="+mn-ea"/>
                <a:cs typeface="+mn-cs"/>
              </a:rPr>
              <a:t>ER model stands for an Entity-Relationship model</a:t>
            </a:r>
            <a:r>
              <a:rPr lang="en-US" sz="1200" b="1" kern="1200" dirty="0" smtClean="0">
                <a:solidFill>
                  <a:schemeClr val="tx1"/>
                </a:solidFill>
                <a:effectLst/>
                <a:latin typeface="+mn-lt"/>
                <a:ea typeface="+mn-ea"/>
                <a:cs typeface="+mn-cs"/>
              </a:rPr>
              <a:t>. It is a high-level data model</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 This model is used to define the data elements and relationship for a specified system.</a:t>
            </a:r>
          </a:p>
          <a:p>
            <a:pPr lvl="0"/>
            <a:r>
              <a:rPr lang="en-US" sz="1200" kern="1200" dirty="0" smtClean="0">
                <a:solidFill>
                  <a:schemeClr val="tx1"/>
                </a:solidFill>
                <a:effectLst/>
                <a:latin typeface="+mn-lt"/>
                <a:ea typeface="+mn-ea"/>
                <a:cs typeface="+mn-cs"/>
              </a:rPr>
              <a:t>It develops a conceptual design for the database</a:t>
            </a:r>
          </a:p>
          <a:p>
            <a:r>
              <a:rPr lang="en-US" sz="1200" kern="1200" dirty="0" smtClean="0">
                <a:solidFill>
                  <a:schemeClr val="tx1"/>
                </a:solidFill>
                <a:effectLst/>
                <a:latin typeface="+mn-lt"/>
                <a:ea typeface="+mn-ea"/>
                <a:cs typeface="+mn-cs"/>
              </a:rPr>
              <a:t>. It also develops a very simple and easy to design view of data.</a:t>
            </a:r>
          </a:p>
          <a:p>
            <a:pPr lvl="0"/>
            <a:r>
              <a:rPr lang="en-US" sz="1200" kern="1200" dirty="0" smtClean="0">
                <a:solidFill>
                  <a:schemeClr val="tx1"/>
                </a:solidFill>
                <a:effectLst/>
                <a:latin typeface="+mn-lt"/>
                <a:ea typeface="+mn-ea"/>
                <a:cs typeface="+mn-cs"/>
              </a:rPr>
              <a:t>In ER modeling, the database structure is portrayed as a diagram called an entity-relationship diagram.</a:t>
            </a:r>
          </a:p>
          <a:p>
            <a:pPr lvl="0"/>
            <a:r>
              <a:rPr lang="en-US" sz="1200" kern="1200" dirty="0" smtClean="0">
                <a:solidFill>
                  <a:schemeClr val="tx1"/>
                </a:solidFill>
                <a:effectLst/>
                <a:latin typeface="+mn-lt"/>
                <a:ea typeface="+mn-ea"/>
                <a:cs typeface="+mn-cs"/>
              </a:rPr>
              <a:t>Constructing ER diagrams is the first step in designing a database after requirements</a:t>
            </a:r>
            <a:r>
              <a:rPr lang="en-US" sz="1200" kern="1200" baseline="0" dirty="0" smtClean="0">
                <a:solidFill>
                  <a:schemeClr val="tx1"/>
                </a:solidFill>
                <a:effectLst/>
                <a:latin typeface="+mn-lt"/>
                <a:ea typeface="+mn-ea"/>
                <a:cs typeface="+mn-cs"/>
              </a:rPr>
              <a:t> gathering which helps designer to understand and specify desired components of database system and the relationships among those components.</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9</a:t>
            </a:fld>
            <a:endParaRPr lang="en-US"/>
          </a:p>
        </p:txBody>
      </p:sp>
    </p:spTree>
    <p:extLst>
      <p:ext uri="{BB962C8B-B14F-4D97-AF65-F5344CB8AC3E}">
        <p14:creationId xmlns:p14="http://schemas.microsoft.com/office/powerpoint/2010/main" val="1604929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Entity Sets</a:t>
            </a:r>
          </a:p>
          <a:p>
            <a:r>
              <a:rPr lang="en-US" sz="1200" b="0" i="0" u="none" strike="noStrike" kern="1200" baseline="0" dirty="0" smtClean="0">
                <a:solidFill>
                  <a:schemeClr val="tx1"/>
                </a:solidFill>
                <a:latin typeface="+mn-lt"/>
                <a:ea typeface="+mn-ea"/>
                <a:cs typeface="+mn-cs"/>
              </a:rPr>
              <a:t>An </a:t>
            </a:r>
            <a:r>
              <a:rPr lang="en-US" sz="1200" b="1" i="0" u="none" strike="noStrike" kern="1200" baseline="0" dirty="0" smtClean="0">
                <a:solidFill>
                  <a:schemeClr val="tx1"/>
                </a:solidFill>
                <a:latin typeface="+mn-lt"/>
                <a:ea typeface="+mn-ea"/>
                <a:cs typeface="+mn-cs"/>
              </a:rPr>
              <a:t>entity </a:t>
            </a:r>
            <a:r>
              <a:rPr lang="en-US" sz="1200" b="0" i="0" u="none" strike="noStrike" kern="1200" baseline="0" dirty="0" smtClean="0">
                <a:solidFill>
                  <a:schemeClr val="tx1"/>
                </a:solidFill>
                <a:latin typeface="+mn-lt"/>
                <a:ea typeface="+mn-ea"/>
                <a:cs typeface="+mn-cs"/>
              </a:rPr>
              <a:t>is a “thing” or “object” in the real world that is distinguishable from all</a:t>
            </a:r>
          </a:p>
          <a:p>
            <a:r>
              <a:rPr lang="en-US" sz="1200" b="0" i="0" u="none" strike="noStrike" kern="1200" baseline="0" dirty="0" smtClean="0">
                <a:solidFill>
                  <a:schemeClr val="tx1"/>
                </a:solidFill>
                <a:latin typeface="+mn-lt"/>
                <a:ea typeface="+mn-ea"/>
                <a:cs typeface="+mn-cs"/>
              </a:rPr>
              <a:t>other objects. For example, each person in an enterprise is an entity. An entity has a</a:t>
            </a:r>
          </a:p>
          <a:p>
            <a:r>
              <a:rPr lang="en-US" sz="1200" b="0" i="0" u="none" strike="noStrike" kern="1200" baseline="0" dirty="0" smtClean="0">
                <a:solidFill>
                  <a:schemeClr val="tx1"/>
                </a:solidFill>
                <a:latin typeface="+mn-lt"/>
                <a:ea typeface="+mn-ea"/>
                <a:cs typeface="+mn-cs"/>
              </a:rPr>
              <a:t>set of properties, and the values for some set of properties may uniquely identify an</a:t>
            </a:r>
          </a:p>
          <a:p>
            <a:r>
              <a:rPr lang="en-US" sz="1200" b="0" i="0" u="none" strike="noStrike" kern="1200" baseline="0" dirty="0" smtClean="0">
                <a:solidFill>
                  <a:schemeClr val="tx1"/>
                </a:solidFill>
                <a:latin typeface="+mn-lt"/>
                <a:ea typeface="+mn-ea"/>
                <a:cs typeface="+mn-cs"/>
              </a:rPr>
              <a:t>entity. For instance, a person may have a </a:t>
            </a:r>
            <a:r>
              <a:rPr lang="en-US" sz="1200" b="0" i="1" u="none" strike="noStrike" kern="1200" baseline="0" dirty="0" smtClean="0">
                <a:solidFill>
                  <a:schemeClr val="tx1"/>
                </a:solidFill>
                <a:latin typeface="+mn-lt"/>
                <a:ea typeface="+mn-ea"/>
                <a:cs typeface="+mn-cs"/>
              </a:rPr>
              <a:t>person-id </a:t>
            </a:r>
            <a:r>
              <a:rPr lang="en-US" sz="1200" b="0" i="0" u="none" strike="noStrike" kern="1200" baseline="0" dirty="0" smtClean="0">
                <a:solidFill>
                  <a:schemeClr val="tx1"/>
                </a:solidFill>
                <a:latin typeface="+mn-lt"/>
                <a:ea typeface="+mn-ea"/>
                <a:cs typeface="+mn-cs"/>
              </a:rPr>
              <a:t>property whose value uniquely</a:t>
            </a:r>
          </a:p>
          <a:p>
            <a:r>
              <a:rPr lang="en-US" sz="1200" b="0" i="0" u="none" strike="noStrike" kern="1200" baseline="0" dirty="0" smtClean="0">
                <a:solidFill>
                  <a:schemeClr val="tx1"/>
                </a:solidFill>
                <a:latin typeface="+mn-lt"/>
                <a:ea typeface="+mn-ea"/>
                <a:cs typeface="+mn-cs"/>
              </a:rPr>
              <a:t>identifies that person. Thus, the value 677-89-9011 for </a:t>
            </a:r>
            <a:r>
              <a:rPr lang="en-US" sz="1200" b="0" i="1" u="none" strike="noStrike" kern="1200" baseline="0" dirty="0" smtClean="0">
                <a:solidFill>
                  <a:schemeClr val="tx1"/>
                </a:solidFill>
                <a:latin typeface="+mn-lt"/>
                <a:ea typeface="+mn-ea"/>
                <a:cs typeface="+mn-cs"/>
              </a:rPr>
              <a:t>person-id </a:t>
            </a:r>
            <a:r>
              <a:rPr lang="en-US" sz="1200" b="0" i="0" u="none" strike="noStrike" kern="1200" baseline="0" dirty="0" smtClean="0">
                <a:solidFill>
                  <a:schemeClr val="tx1"/>
                </a:solidFill>
                <a:latin typeface="+mn-lt"/>
                <a:ea typeface="+mn-ea"/>
                <a:cs typeface="+mn-cs"/>
              </a:rPr>
              <a:t>would uniquely identify</a:t>
            </a:r>
          </a:p>
          <a:p>
            <a:r>
              <a:rPr lang="en-US" sz="1200" b="0" i="0" u="none" strike="noStrike" kern="1200" baseline="0" dirty="0" smtClean="0">
                <a:solidFill>
                  <a:schemeClr val="tx1"/>
                </a:solidFill>
                <a:latin typeface="+mn-lt"/>
                <a:ea typeface="+mn-ea"/>
                <a:cs typeface="+mn-cs"/>
              </a:rPr>
              <a:t>one particular person in the enterprise</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13</a:t>
            </a:fld>
            <a:endParaRPr lang="en-US"/>
          </a:p>
        </p:txBody>
      </p:sp>
    </p:spTree>
    <p:extLst>
      <p:ext uri="{BB962C8B-B14F-4D97-AF65-F5344CB8AC3E}">
        <p14:creationId xmlns:p14="http://schemas.microsoft.com/office/powerpoint/2010/main" val="2104612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14</a:t>
            </a:fld>
            <a:endParaRPr lang="en-US"/>
          </a:p>
        </p:txBody>
      </p:sp>
    </p:spTree>
    <p:extLst>
      <p:ext uri="{BB962C8B-B14F-4D97-AF65-F5344CB8AC3E}">
        <p14:creationId xmlns:p14="http://schemas.microsoft.com/office/powerpoint/2010/main" val="1725069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Identifying relationships(double</a:t>
            </a:r>
            <a:r>
              <a:rPr lang="en-US" sz="1200" b="0" i="0" kern="1200" baseline="0" dirty="0" smtClean="0">
                <a:solidFill>
                  <a:schemeClr val="tx1"/>
                </a:solidFill>
                <a:effectLst/>
                <a:latin typeface="+mn-lt"/>
                <a:ea typeface="+mn-ea"/>
                <a:cs typeface="+mn-cs"/>
              </a:rPr>
              <a:t> line between BA and apartment)</a:t>
            </a:r>
            <a:r>
              <a:rPr lang="en-US" sz="1200" b="0" i="0" kern="1200" dirty="0" smtClean="0">
                <a:solidFill>
                  <a:schemeClr val="tx1"/>
                </a:solidFill>
                <a:effectLst/>
                <a:latin typeface="+mn-lt"/>
                <a:ea typeface="+mn-ea"/>
                <a:cs typeface="+mn-cs"/>
              </a:rPr>
              <a:t> exist </a:t>
            </a:r>
            <a:r>
              <a:rPr lang="en-US" sz="1200" b="1" i="0" kern="1200" dirty="0" smtClean="0">
                <a:solidFill>
                  <a:schemeClr val="tx1"/>
                </a:solidFill>
                <a:effectLst/>
                <a:latin typeface="+mn-lt"/>
                <a:ea typeface="+mn-ea"/>
                <a:cs typeface="+mn-cs"/>
              </a:rPr>
              <a:t>when the primary key of the parent entity is included in the primary key of the child entity</a:t>
            </a: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Employee has dependent.</a:t>
            </a:r>
          </a:p>
          <a:p>
            <a:r>
              <a:rPr lang="en-US" sz="1200" b="0" i="0" kern="1200" dirty="0" smtClean="0">
                <a:solidFill>
                  <a:schemeClr val="tx1"/>
                </a:solidFill>
                <a:effectLst/>
                <a:latin typeface="+mn-lt"/>
                <a:ea typeface="+mn-ea"/>
                <a:cs typeface="+mn-cs"/>
              </a:rPr>
              <a:t>Customer</a:t>
            </a:r>
            <a:r>
              <a:rPr lang="en-US" sz="1200" b="0" i="0" kern="1200" baseline="0" dirty="0" smtClean="0">
                <a:solidFill>
                  <a:schemeClr val="tx1"/>
                </a:solidFill>
                <a:effectLst/>
                <a:latin typeface="+mn-lt"/>
                <a:ea typeface="+mn-ea"/>
                <a:cs typeface="+mn-cs"/>
              </a:rPr>
              <a:t> </a:t>
            </a:r>
            <a:r>
              <a:rPr lang="en-US" sz="1200" b="0" i="0" kern="1200" baseline="0" smtClean="0">
                <a:solidFill>
                  <a:schemeClr val="tx1"/>
                </a:solidFill>
                <a:effectLst/>
                <a:latin typeface="+mn-lt"/>
                <a:ea typeface="+mn-ea"/>
                <a:cs typeface="+mn-cs"/>
              </a:rPr>
              <a:t>borrows loan.</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16</a:t>
            </a:fld>
            <a:endParaRPr lang="en-US"/>
          </a:p>
        </p:txBody>
      </p:sp>
    </p:spTree>
    <p:extLst>
      <p:ext uri="{BB962C8B-B14F-4D97-AF65-F5344CB8AC3E}">
        <p14:creationId xmlns:p14="http://schemas.microsoft.com/office/powerpoint/2010/main" val="1725334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example: Consider two entities Employee and Department and they are related to each other via Manages relationship. An Employee must manage a Department, he or she could be the head of the department. But not every Employee in the company manages the department. So, participation of employee in the Manages relationship type is partial i.e. only a particular set of Employees will manage the Department but not all.</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19</a:t>
            </a:fld>
            <a:endParaRPr lang="en-US"/>
          </a:p>
        </p:txBody>
      </p:sp>
    </p:spTree>
    <p:extLst>
      <p:ext uri="{BB962C8B-B14F-4D97-AF65-F5344CB8AC3E}">
        <p14:creationId xmlns:p14="http://schemas.microsoft.com/office/powerpoint/2010/main" val="333632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An entity set in DBMS is a set that collectively represents a group of entities of a similar type.</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20</a:t>
            </a:fld>
            <a:endParaRPr lang="en-US"/>
          </a:p>
        </p:txBody>
      </p:sp>
    </p:spTree>
    <p:extLst>
      <p:ext uri="{BB962C8B-B14F-4D97-AF65-F5344CB8AC3E}">
        <p14:creationId xmlns:p14="http://schemas.microsoft.com/office/powerpoint/2010/main" val="3436086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Name can be further has</a:t>
            </a:r>
            <a:r>
              <a:rPr lang="en-US" baseline="0" dirty="0" smtClean="0"/>
              <a:t> two parts like first name and last name so can be considered as a composite attributes.</a:t>
            </a:r>
          </a:p>
          <a:p>
            <a:endParaRPr lang="en-US" baseline="0" dirty="0" smtClean="0"/>
          </a:p>
          <a:p>
            <a:r>
              <a:rPr lang="en-US" b="1" baseline="0" dirty="0" smtClean="0"/>
              <a:t>Example: Draw Entity and associated attributes for patient/Employee.</a:t>
            </a:r>
            <a:endParaRPr lang="en-US" b="1" dirty="0"/>
          </a:p>
        </p:txBody>
      </p:sp>
      <p:sp>
        <p:nvSpPr>
          <p:cNvPr id="4" name="Slide Number Placeholder 3"/>
          <p:cNvSpPr>
            <a:spLocks noGrp="1"/>
          </p:cNvSpPr>
          <p:nvPr>
            <p:ph type="sldNum" sz="quarter" idx="10"/>
          </p:nvPr>
        </p:nvSpPr>
        <p:spPr/>
        <p:txBody>
          <a:bodyPr/>
          <a:lstStyle/>
          <a:p>
            <a:fld id="{E61F412C-B506-463A-AD09-6755EBD4CFEE}" type="slidenum">
              <a:rPr lang="en-US" smtClean="0"/>
              <a:t>26</a:t>
            </a:fld>
            <a:endParaRPr lang="en-US"/>
          </a:p>
        </p:txBody>
      </p:sp>
    </p:spTree>
    <p:extLst>
      <p:ext uri="{BB962C8B-B14F-4D97-AF65-F5344CB8AC3E}">
        <p14:creationId xmlns:p14="http://schemas.microsoft.com/office/powerpoint/2010/main" val="51839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9" name="Google Shape;11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smtClean="0">
                <a:solidFill>
                  <a:schemeClr val="tx1"/>
                </a:solidFill>
                <a:effectLst/>
                <a:latin typeface="+mn-lt"/>
                <a:ea typeface="+mn-ea"/>
                <a:cs typeface="+mn-cs"/>
              </a:rPr>
              <a:t>SQL PRIMARY KEY Constraint</a:t>
            </a:r>
            <a:endParaRPr lang="en-US" b="1" dirty="0" smtClean="0">
              <a:effectLst/>
            </a:endParaRPr>
          </a:p>
          <a:p>
            <a:pPr rtl="0"/>
            <a:r>
              <a:rPr lang="en-US" sz="1200" b="0" i="0" u="none" strike="noStrike" kern="1200" dirty="0" smtClean="0">
                <a:solidFill>
                  <a:schemeClr val="tx1"/>
                </a:solidFill>
                <a:effectLst/>
                <a:latin typeface="+mn-lt"/>
                <a:ea typeface="+mn-ea"/>
                <a:cs typeface="+mn-cs"/>
              </a:rPr>
              <a:t>The PRIMARY KEY constraint uniquely identifies each record in a table.</a:t>
            </a:r>
            <a:r>
              <a:rPr lang="en-US" sz="1200" b="0" i="0" kern="1200" dirty="0" smtClean="0">
                <a:solidFill>
                  <a:schemeClr val="tx1"/>
                </a:solidFill>
                <a:effectLst/>
                <a:latin typeface="+mn-lt"/>
                <a:ea typeface="+mn-ea"/>
                <a:cs typeface="+mn-cs"/>
              </a:rPr>
              <a:t> </a:t>
            </a:r>
          </a:p>
          <a:p>
            <a:pPr rtl="0"/>
            <a:r>
              <a:rPr lang="en-US" sz="1200" b="0" i="0" kern="1200" dirty="0" smtClean="0">
                <a:solidFill>
                  <a:schemeClr val="tx1"/>
                </a:solidFill>
                <a:effectLst/>
                <a:latin typeface="+mn-lt"/>
                <a:ea typeface="+mn-ea"/>
                <a:cs typeface="+mn-cs"/>
              </a:rPr>
              <a:t>Primary Key is a minimal set of attribute (or set of attributes) that is used to uniquely identifies all attributes in a relation. </a:t>
            </a:r>
            <a:endParaRPr lang="en-US" b="0" dirty="0" smtClean="0">
              <a:effectLst/>
            </a:endParaRPr>
          </a:p>
          <a:p>
            <a:pPr rtl="0"/>
            <a:r>
              <a:rPr lang="en-US" sz="1200" b="0" i="0" u="none" strike="noStrike" kern="1200" dirty="0" smtClean="0">
                <a:solidFill>
                  <a:schemeClr val="tx1"/>
                </a:solidFill>
                <a:effectLst/>
                <a:latin typeface="+mn-lt"/>
                <a:ea typeface="+mn-ea"/>
                <a:cs typeface="+mn-cs"/>
              </a:rPr>
              <a:t>Primary keys must contain UNIQUE values, and cannot contain NULL values.</a:t>
            </a:r>
            <a:endParaRPr lang="en-US" b="0" dirty="0" smtClean="0">
              <a:effectLst/>
            </a:endParaRPr>
          </a:p>
          <a:p>
            <a:pPr rtl="0"/>
            <a:r>
              <a:rPr lang="en-US" sz="1200" b="0" i="0" u="none" strike="noStrike" kern="1200" dirty="0" smtClean="0">
                <a:solidFill>
                  <a:schemeClr val="tx1"/>
                </a:solidFill>
                <a:effectLst/>
                <a:latin typeface="+mn-lt"/>
                <a:ea typeface="+mn-ea"/>
                <a:cs typeface="+mn-cs"/>
              </a:rPr>
              <a:t>A table can have only ONE primary key; and in the table, this primary key can consist of single or multiple columns (fields).</a:t>
            </a:r>
            <a:endParaRPr lang="en-US" b="0" dirty="0" smtClean="0">
              <a:effectLst/>
            </a:endParaRPr>
          </a:p>
          <a:p>
            <a:pPr rtl="0"/>
            <a:r>
              <a:rPr lang="en-US" sz="1200" b="1" i="0" u="none" strike="noStrike" kern="1200" dirty="0" smtClean="0">
                <a:solidFill>
                  <a:schemeClr val="tx1"/>
                </a:solidFill>
                <a:effectLst/>
                <a:latin typeface="+mn-lt"/>
                <a:ea typeface="+mn-ea"/>
                <a:cs typeface="+mn-cs"/>
              </a:rPr>
              <a:t>CREATE TABLE Persons (</a:t>
            </a:r>
            <a:endParaRPr lang="en-US" b="1" dirty="0" smtClean="0">
              <a:effectLst/>
            </a:endParaRPr>
          </a:p>
          <a:p>
            <a:pPr rtl="0"/>
            <a:r>
              <a:rPr lang="en-US" sz="1200" b="1" i="0" u="none" strike="noStrike" kern="1200" dirty="0" smtClean="0">
                <a:solidFill>
                  <a:schemeClr val="tx1"/>
                </a:solidFill>
                <a:effectLst/>
                <a:latin typeface="+mn-lt"/>
                <a:ea typeface="+mn-ea"/>
                <a:cs typeface="+mn-cs"/>
              </a:rPr>
              <a:t>ID </a:t>
            </a:r>
            <a:r>
              <a:rPr lang="en-US" sz="1200" b="1" i="0" u="none" strike="noStrike" kern="1200" dirty="0" err="1" smtClean="0">
                <a:solidFill>
                  <a:schemeClr val="tx1"/>
                </a:solidFill>
                <a:effectLst/>
                <a:latin typeface="+mn-lt"/>
                <a:ea typeface="+mn-ea"/>
                <a:cs typeface="+mn-cs"/>
              </a:rPr>
              <a:t>int</a:t>
            </a:r>
            <a:r>
              <a:rPr lang="en-US" sz="1200" b="1" i="0" u="none" strike="noStrike" kern="1200" dirty="0" smtClean="0">
                <a:solidFill>
                  <a:schemeClr val="tx1"/>
                </a:solidFill>
                <a:effectLst/>
                <a:latin typeface="+mn-lt"/>
                <a:ea typeface="+mn-ea"/>
                <a:cs typeface="+mn-cs"/>
              </a:rPr>
              <a:t> NOT NULL,</a:t>
            </a:r>
            <a:endParaRPr lang="en-US" b="1" dirty="0" smtClean="0">
              <a:effectLst/>
            </a:endParaRPr>
          </a:p>
          <a:p>
            <a:pPr rtl="0"/>
            <a:r>
              <a:rPr lang="en-US" sz="1200" b="1" i="0" u="none" strike="noStrike" kern="1200" dirty="0" err="1" smtClean="0">
                <a:solidFill>
                  <a:schemeClr val="tx1"/>
                </a:solidFill>
                <a:effectLst/>
                <a:latin typeface="+mn-lt"/>
                <a:ea typeface="+mn-ea"/>
                <a:cs typeface="+mn-cs"/>
              </a:rPr>
              <a:t>LastName</a:t>
            </a:r>
            <a:r>
              <a:rPr lang="en-US" sz="1200" b="1" i="0" u="none" strike="noStrike" kern="1200" dirty="0" smtClean="0">
                <a:solidFill>
                  <a:schemeClr val="tx1"/>
                </a:solidFill>
                <a:effectLst/>
                <a:latin typeface="+mn-lt"/>
                <a:ea typeface="+mn-ea"/>
                <a:cs typeface="+mn-cs"/>
              </a:rPr>
              <a:t> </a:t>
            </a:r>
            <a:r>
              <a:rPr lang="en-US" sz="1200" b="1" i="0" u="none" strike="noStrike" kern="1200" dirty="0" err="1" smtClean="0">
                <a:solidFill>
                  <a:schemeClr val="tx1"/>
                </a:solidFill>
                <a:effectLst/>
                <a:latin typeface="+mn-lt"/>
                <a:ea typeface="+mn-ea"/>
                <a:cs typeface="+mn-cs"/>
              </a:rPr>
              <a:t>varchar</a:t>
            </a:r>
            <a:r>
              <a:rPr lang="en-US" sz="1200" b="1" i="0" u="none" strike="noStrike" kern="1200" dirty="0" smtClean="0">
                <a:solidFill>
                  <a:schemeClr val="tx1"/>
                </a:solidFill>
                <a:effectLst/>
                <a:latin typeface="+mn-lt"/>
                <a:ea typeface="+mn-ea"/>
                <a:cs typeface="+mn-cs"/>
              </a:rPr>
              <a:t>(255) NOT NULL,</a:t>
            </a:r>
            <a:endParaRPr lang="en-US" b="1" dirty="0" smtClean="0">
              <a:effectLst/>
            </a:endParaRPr>
          </a:p>
          <a:p>
            <a:pPr rtl="0"/>
            <a:r>
              <a:rPr lang="en-US" sz="1200" b="1" i="0" u="none" strike="noStrike" kern="1200" dirty="0" err="1" smtClean="0">
                <a:solidFill>
                  <a:schemeClr val="tx1"/>
                </a:solidFill>
                <a:effectLst/>
                <a:latin typeface="+mn-lt"/>
                <a:ea typeface="+mn-ea"/>
                <a:cs typeface="+mn-cs"/>
              </a:rPr>
              <a:t>FirstName</a:t>
            </a:r>
            <a:r>
              <a:rPr lang="en-US" sz="1200" b="1" i="0" u="none" strike="noStrike" kern="1200" dirty="0" smtClean="0">
                <a:solidFill>
                  <a:schemeClr val="tx1"/>
                </a:solidFill>
                <a:effectLst/>
                <a:latin typeface="+mn-lt"/>
                <a:ea typeface="+mn-ea"/>
                <a:cs typeface="+mn-cs"/>
              </a:rPr>
              <a:t> </a:t>
            </a:r>
            <a:r>
              <a:rPr lang="en-US" sz="1200" b="1" i="0" u="none" strike="noStrike" kern="1200" dirty="0" err="1" smtClean="0">
                <a:solidFill>
                  <a:schemeClr val="tx1"/>
                </a:solidFill>
                <a:effectLst/>
                <a:latin typeface="+mn-lt"/>
                <a:ea typeface="+mn-ea"/>
                <a:cs typeface="+mn-cs"/>
              </a:rPr>
              <a:t>varchar</a:t>
            </a:r>
            <a:r>
              <a:rPr lang="en-US" sz="1200" b="1" i="0" u="none" strike="noStrike" kern="1200" dirty="0" smtClean="0">
                <a:solidFill>
                  <a:schemeClr val="tx1"/>
                </a:solidFill>
                <a:effectLst/>
                <a:latin typeface="+mn-lt"/>
                <a:ea typeface="+mn-ea"/>
                <a:cs typeface="+mn-cs"/>
              </a:rPr>
              <a:t>(255),</a:t>
            </a:r>
            <a:endParaRPr lang="en-US" b="1" dirty="0" smtClean="0">
              <a:effectLst/>
            </a:endParaRPr>
          </a:p>
          <a:p>
            <a:pPr rtl="0"/>
            <a:r>
              <a:rPr lang="en-US" sz="1200" b="1" i="0" u="none" strike="noStrike" kern="1200" dirty="0" smtClean="0">
                <a:solidFill>
                  <a:schemeClr val="tx1"/>
                </a:solidFill>
                <a:effectLst/>
                <a:latin typeface="+mn-lt"/>
                <a:ea typeface="+mn-ea"/>
                <a:cs typeface="+mn-cs"/>
              </a:rPr>
              <a:t>Age </a:t>
            </a:r>
            <a:r>
              <a:rPr lang="en-US" sz="1200" b="1" i="0" u="none" strike="noStrike" kern="1200" dirty="0" err="1" smtClean="0">
                <a:solidFill>
                  <a:schemeClr val="tx1"/>
                </a:solidFill>
                <a:effectLst/>
                <a:latin typeface="+mn-lt"/>
                <a:ea typeface="+mn-ea"/>
                <a:cs typeface="+mn-cs"/>
              </a:rPr>
              <a:t>int</a:t>
            </a:r>
            <a:r>
              <a:rPr lang="en-US" sz="1200" b="1" i="0" u="none" strike="noStrike" kern="1200" dirty="0" smtClean="0">
                <a:solidFill>
                  <a:schemeClr val="tx1"/>
                </a:solidFill>
                <a:effectLst/>
                <a:latin typeface="+mn-lt"/>
                <a:ea typeface="+mn-ea"/>
                <a:cs typeface="+mn-cs"/>
              </a:rPr>
              <a:t>,</a:t>
            </a:r>
            <a:endParaRPr lang="en-US" b="1" dirty="0" smtClean="0">
              <a:effectLst/>
            </a:endParaRPr>
          </a:p>
          <a:p>
            <a:pPr rtl="0"/>
            <a:r>
              <a:rPr lang="en-US" sz="1200" b="1" i="0" u="none" strike="noStrike" kern="1200" dirty="0" smtClean="0">
                <a:solidFill>
                  <a:schemeClr val="tx1"/>
                </a:solidFill>
                <a:effectLst/>
                <a:latin typeface="+mn-lt"/>
                <a:ea typeface="+mn-ea"/>
                <a:cs typeface="+mn-cs"/>
              </a:rPr>
              <a:t>    CONSTRAINT </a:t>
            </a:r>
            <a:r>
              <a:rPr lang="en-US" sz="1200" b="1" i="0" u="none" strike="noStrike" kern="1200" dirty="0" err="1" smtClean="0">
                <a:solidFill>
                  <a:schemeClr val="tx1"/>
                </a:solidFill>
                <a:effectLst/>
                <a:latin typeface="+mn-lt"/>
                <a:ea typeface="+mn-ea"/>
                <a:cs typeface="+mn-cs"/>
              </a:rPr>
              <a:t>PK_Person</a:t>
            </a:r>
            <a:r>
              <a:rPr lang="en-US" sz="1200" b="1" i="0" u="none" strike="noStrike" kern="1200" dirty="0" smtClean="0">
                <a:solidFill>
                  <a:schemeClr val="tx1"/>
                </a:solidFill>
                <a:effectLst/>
                <a:latin typeface="+mn-lt"/>
                <a:ea typeface="+mn-ea"/>
                <a:cs typeface="+mn-cs"/>
              </a:rPr>
              <a:t> PRIMARY KEY (</a:t>
            </a:r>
            <a:r>
              <a:rPr lang="en-US" sz="1200" b="1" i="0" u="none" strike="noStrike" kern="1200" dirty="0" err="1" smtClean="0">
                <a:solidFill>
                  <a:schemeClr val="tx1"/>
                </a:solidFill>
                <a:effectLst/>
                <a:latin typeface="+mn-lt"/>
                <a:ea typeface="+mn-ea"/>
                <a:cs typeface="+mn-cs"/>
              </a:rPr>
              <a:t>ID,LastName</a:t>
            </a:r>
            <a:r>
              <a:rPr lang="en-US" sz="1200" b="1" i="0" u="none" strike="noStrike" kern="1200" dirty="0" smtClean="0">
                <a:solidFill>
                  <a:schemeClr val="tx1"/>
                </a:solidFill>
                <a:effectLst/>
                <a:latin typeface="+mn-lt"/>
                <a:ea typeface="+mn-ea"/>
                <a:cs typeface="+mn-cs"/>
              </a:rPr>
              <a:t>)</a:t>
            </a:r>
            <a:endParaRPr lang="en-US" b="1" dirty="0" smtClean="0">
              <a:effectLst/>
            </a:endParaRPr>
          </a:p>
          <a:p>
            <a:pPr rtl="0"/>
            <a:r>
              <a:rPr lang="en-US" sz="1200" b="1" i="0" u="none" strike="noStrike" kern="1200" dirty="0" smtClean="0">
                <a:solidFill>
                  <a:schemeClr val="tx1"/>
                </a:solidFill>
                <a:effectLst/>
                <a:latin typeface="+mn-lt"/>
                <a:ea typeface="+mn-ea"/>
                <a:cs typeface="+mn-cs"/>
              </a:rPr>
              <a:t>);</a:t>
            </a:r>
          </a:p>
          <a:p>
            <a:pPr rtl="0"/>
            <a:endParaRPr lang="en-US" sz="1200" b="1" i="0" u="none" strike="noStrike" kern="1200" dirty="0" smtClean="0">
              <a:solidFill>
                <a:schemeClr val="tx1"/>
              </a:solidFill>
              <a:effectLst/>
              <a:latin typeface="+mn-lt"/>
              <a:ea typeface="+mn-ea"/>
              <a:cs typeface="+mn-cs"/>
            </a:endParaRPr>
          </a:p>
          <a:p>
            <a:pPr rtl="0"/>
            <a:r>
              <a:rPr lang="en-US" sz="1200" b="1" i="0" u="none" strike="noStrike" kern="1200" dirty="0" smtClean="0">
                <a:solidFill>
                  <a:schemeClr val="tx1"/>
                </a:solidFill>
                <a:effectLst/>
                <a:latin typeface="+mn-lt"/>
                <a:ea typeface="+mn-ea"/>
                <a:cs typeface="+mn-cs"/>
              </a:rPr>
              <a:t>SQL PRIMARY KEY on ALTER TABLE</a:t>
            </a:r>
          </a:p>
          <a:p>
            <a:pPr rtl="0"/>
            <a:endParaRPr lang="en-US" b="1" dirty="0" smtClean="0">
              <a:effectLst/>
            </a:endParaRPr>
          </a:p>
          <a:p>
            <a:pPr rtl="0"/>
            <a:r>
              <a:rPr lang="en-US" sz="1200" b="0" i="0" u="none" strike="noStrike" kern="1200" dirty="0" smtClean="0">
                <a:solidFill>
                  <a:schemeClr val="tx1"/>
                </a:solidFill>
                <a:effectLst/>
                <a:latin typeface="+mn-lt"/>
                <a:ea typeface="+mn-ea"/>
                <a:cs typeface="+mn-cs"/>
              </a:rPr>
              <a:t>ALTER TABLE Persons</a:t>
            </a:r>
            <a:endParaRPr lang="en-US" b="0" dirty="0" smtClean="0">
              <a:effectLst/>
            </a:endParaRPr>
          </a:p>
          <a:p>
            <a:pPr rtl="0"/>
            <a:r>
              <a:rPr lang="en-US" sz="1200" b="0" i="0" u="none" strike="noStrike" kern="1200" dirty="0" smtClean="0">
                <a:solidFill>
                  <a:schemeClr val="tx1"/>
                </a:solidFill>
                <a:effectLst/>
                <a:latin typeface="+mn-lt"/>
                <a:ea typeface="+mn-ea"/>
                <a:cs typeface="+mn-cs"/>
              </a:rPr>
              <a:t>ADD CONSTRAINT </a:t>
            </a:r>
            <a:r>
              <a:rPr lang="en-US" sz="1200" b="0" i="0" u="none" strike="noStrike" kern="1200" dirty="0" err="1" smtClean="0">
                <a:solidFill>
                  <a:schemeClr val="tx1"/>
                </a:solidFill>
                <a:effectLst/>
                <a:latin typeface="+mn-lt"/>
                <a:ea typeface="+mn-ea"/>
                <a:cs typeface="+mn-cs"/>
              </a:rPr>
              <a:t>PK_Person</a:t>
            </a:r>
            <a:r>
              <a:rPr lang="en-US" sz="1200" b="0" i="0" u="none" strike="noStrike" kern="1200" dirty="0" smtClean="0">
                <a:solidFill>
                  <a:schemeClr val="tx1"/>
                </a:solidFill>
                <a:effectLst/>
                <a:latin typeface="+mn-lt"/>
                <a:ea typeface="+mn-ea"/>
                <a:cs typeface="+mn-cs"/>
              </a:rPr>
              <a:t> PRIMARY KEY (</a:t>
            </a:r>
            <a:r>
              <a:rPr lang="en-US" sz="1200" b="0" i="0" u="none" strike="noStrike" kern="1200" dirty="0" err="1" smtClean="0">
                <a:solidFill>
                  <a:schemeClr val="tx1"/>
                </a:solidFill>
                <a:effectLst/>
                <a:latin typeface="+mn-lt"/>
                <a:ea typeface="+mn-ea"/>
                <a:cs typeface="+mn-cs"/>
              </a:rPr>
              <a:t>ID,LastName</a:t>
            </a:r>
            <a:r>
              <a:rPr lang="en-US" sz="1200" b="0" i="0" u="none" strike="noStrike" kern="1200" dirty="0" smtClean="0">
                <a:solidFill>
                  <a:schemeClr val="tx1"/>
                </a:solidFill>
                <a:effectLst/>
                <a:latin typeface="+mn-lt"/>
                <a:ea typeface="+mn-ea"/>
                <a:cs typeface="+mn-cs"/>
              </a:rPr>
              <a:t>);</a:t>
            </a:r>
            <a:endParaRPr lang="en-US" b="0" dirty="0" smtClean="0">
              <a:effectLst/>
            </a:endParaRPr>
          </a:p>
          <a:p>
            <a:pPr rtl="0"/>
            <a:r>
              <a:rPr lang="en-US" b="0" dirty="0" smtClean="0">
                <a:effectLst/>
              </a:rPr>
              <a:t> </a:t>
            </a:r>
          </a:p>
          <a:p>
            <a:pPr rtl="0"/>
            <a:r>
              <a:rPr lang="en-US" sz="1200" b="1" i="0" u="none" strike="noStrike" kern="1200" dirty="0" smtClean="0">
                <a:solidFill>
                  <a:srgbClr val="FF0000"/>
                </a:solidFill>
                <a:effectLst/>
                <a:latin typeface="+mn-lt"/>
                <a:ea typeface="+mn-ea"/>
                <a:cs typeface="+mn-cs"/>
              </a:rPr>
              <a:t>DROP a PRIMARY KEY Constraint</a:t>
            </a:r>
            <a:endParaRPr lang="en-US" b="1" dirty="0" smtClean="0">
              <a:solidFill>
                <a:srgbClr val="FF0000"/>
              </a:solidFill>
              <a:effectLst/>
            </a:endParaRPr>
          </a:p>
          <a:p>
            <a:pPr rtl="0"/>
            <a:r>
              <a:rPr lang="en-US" b="1" dirty="0" smtClean="0">
                <a:effectLst/>
              </a:rPr>
              <a:t> </a:t>
            </a:r>
          </a:p>
          <a:p>
            <a:pPr rtl="0"/>
            <a:r>
              <a:rPr lang="en-US" sz="1200" b="1" i="0" u="none" strike="noStrike" kern="1200" dirty="0" smtClean="0">
                <a:solidFill>
                  <a:schemeClr val="tx1"/>
                </a:solidFill>
                <a:effectLst/>
                <a:latin typeface="+mn-lt"/>
                <a:ea typeface="+mn-ea"/>
                <a:cs typeface="+mn-cs"/>
              </a:rPr>
              <a:t>ALTER TABLE Persons</a:t>
            </a:r>
            <a:endParaRPr lang="en-US" b="1" dirty="0" smtClean="0">
              <a:effectLst/>
            </a:endParaRPr>
          </a:p>
          <a:p>
            <a:pPr rtl="0"/>
            <a:r>
              <a:rPr lang="en-US" sz="1200" b="1" i="0" u="none" strike="noStrike" kern="1200" dirty="0" smtClean="0">
                <a:solidFill>
                  <a:schemeClr val="tx1"/>
                </a:solidFill>
                <a:effectLst/>
                <a:latin typeface="+mn-lt"/>
                <a:ea typeface="+mn-ea"/>
                <a:cs typeface="+mn-cs"/>
              </a:rPr>
              <a:t>DROP PRIMARY KEY;</a:t>
            </a:r>
            <a:endParaRPr lang="en-US" b="1" dirty="0" smtClean="0">
              <a:effectLst/>
            </a:endParaRPr>
          </a:p>
          <a:p>
            <a:r>
              <a:rPr lang="en-US" dirty="0" smtClean="0"/>
              <a:t/>
            </a:r>
            <a:br>
              <a:rPr lang="en-US" dirty="0" smtClean="0"/>
            </a:br>
            <a:endParaRPr lang="en-US" b="1" dirty="0" smtClean="0">
              <a:effectLst/>
            </a:endParaRPr>
          </a:p>
          <a:p>
            <a:r>
              <a:rPr lang="en-US" b="1" dirty="0" smtClean="0"/>
              <a:t/>
            </a:r>
            <a:br>
              <a:rPr lang="en-US" b="1" dirty="0" smtClean="0"/>
            </a:br>
            <a:endParaRPr lang="en-US" b="1" dirty="0"/>
          </a:p>
        </p:txBody>
      </p:sp>
      <p:sp>
        <p:nvSpPr>
          <p:cNvPr id="4" name="Slide Number Placeholder 3"/>
          <p:cNvSpPr>
            <a:spLocks noGrp="1"/>
          </p:cNvSpPr>
          <p:nvPr>
            <p:ph type="sldNum" sz="quarter" idx="10"/>
          </p:nvPr>
        </p:nvSpPr>
        <p:spPr/>
        <p:txBody>
          <a:bodyPr/>
          <a:lstStyle/>
          <a:p>
            <a:fld id="{E61F412C-B506-463A-AD09-6755EBD4CFEE}" type="slidenum">
              <a:rPr lang="en-US" smtClean="0"/>
              <a:t>28</a:t>
            </a:fld>
            <a:endParaRPr lang="en-US"/>
          </a:p>
        </p:txBody>
      </p:sp>
    </p:spTree>
    <p:extLst>
      <p:ext uri="{BB962C8B-B14F-4D97-AF65-F5344CB8AC3E}">
        <p14:creationId xmlns:p14="http://schemas.microsoft.com/office/powerpoint/2010/main" val="463890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smtClean="0"/>
              <a:t>Example, STUD_NO, (STUD_NO, STUD_NAME, CLASS), etc</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 </a:t>
            </a:r>
            <a:r>
              <a:rPr lang="en-US" dirty="0" smtClean="0"/>
              <a:t/>
            </a:r>
            <a:br>
              <a:rPr lang="en-US" dirty="0" smtClean="0"/>
            </a:br>
            <a:r>
              <a:rPr lang="en-US" sz="1200" b="0" i="0" kern="1200" dirty="0" smtClean="0">
                <a:solidFill>
                  <a:schemeClr val="tx1"/>
                </a:solidFill>
                <a:effectLst/>
                <a:latin typeface="+mn-lt"/>
                <a:ea typeface="+mn-ea"/>
                <a:cs typeface="+mn-cs"/>
              </a:rPr>
              <a:t> Or  A super key is a group of single or multiple keys that identifies rows in a table. It supports NULL values. Example: SNO+PHONE is a super key.</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29</a:t>
            </a:fld>
            <a:endParaRPr lang="en-US"/>
          </a:p>
        </p:txBody>
      </p:sp>
    </p:spTree>
    <p:extLst>
      <p:ext uri="{BB962C8B-B14F-4D97-AF65-F5344CB8AC3E}">
        <p14:creationId xmlns:p14="http://schemas.microsoft.com/office/powerpoint/2010/main" val="3836325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30</a:t>
            </a:fld>
            <a:endParaRPr lang="en-US"/>
          </a:p>
        </p:txBody>
      </p:sp>
    </p:spTree>
    <p:extLst>
      <p:ext uri="{BB962C8B-B14F-4D97-AF65-F5344CB8AC3E}">
        <p14:creationId xmlns:p14="http://schemas.microsoft.com/office/powerpoint/2010/main" val="1892467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It is also called as referencing key.</a:t>
            </a:r>
          </a:p>
          <a:p>
            <a:r>
              <a:rPr lang="en-US" sz="1200" b="0" i="0" kern="1200" dirty="0" smtClean="0">
                <a:solidFill>
                  <a:schemeClr val="tx1"/>
                </a:solidFill>
                <a:effectLst/>
                <a:latin typeface="+mn-lt"/>
                <a:ea typeface="+mn-ea"/>
                <a:cs typeface="+mn-cs"/>
              </a:rPr>
              <a:t>A FOREIGN KEY is a field (or collection of fields) in one table, that refers to the </a:t>
            </a:r>
            <a:r>
              <a:rPr lang="en-US" sz="1200" b="0" i="0" kern="1200" dirty="0" smtClean="0">
                <a:solidFill>
                  <a:schemeClr val="tx1"/>
                </a:solidFill>
                <a:effectLst/>
                <a:latin typeface="+mn-lt"/>
                <a:ea typeface="+mn-ea"/>
                <a:cs typeface="+mn-cs"/>
                <a:hlinkClick r:id="rId3"/>
              </a:rPr>
              <a:t>PRIMARY KEY</a:t>
            </a:r>
            <a:r>
              <a:rPr lang="en-US" sz="1200" b="0" i="0" kern="1200" dirty="0" smtClean="0">
                <a:solidFill>
                  <a:schemeClr val="tx1"/>
                </a:solidFill>
                <a:effectLst/>
                <a:latin typeface="+mn-lt"/>
                <a:ea typeface="+mn-ea"/>
                <a:cs typeface="+mn-cs"/>
              </a:rPr>
              <a:t> in another table.</a:t>
            </a:r>
          </a:p>
          <a:p>
            <a:r>
              <a:rPr lang="en-US" sz="1200" b="0" i="0" kern="1200" dirty="0" smtClean="0">
                <a:solidFill>
                  <a:schemeClr val="tx1"/>
                </a:solidFill>
                <a:effectLst/>
                <a:latin typeface="+mn-lt"/>
                <a:ea typeface="+mn-ea"/>
                <a:cs typeface="+mn-cs"/>
              </a:rPr>
              <a:t>The table with the foreign key is called the child table, and the table with the primary key is called the referenced or parent table.</a:t>
            </a:r>
          </a:p>
          <a:p>
            <a:r>
              <a:rPr lang="en-US" sz="1200" b="0" i="0" kern="1200" dirty="0" smtClean="0">
                <a:solidFill>
                  <a:schemeClr val="tx1"/>
                </a:solidFill>
                <a:effectLst/>
                <a:latin typeface="+mn-lt"/>
                <a:ea typeface="+mn-ea"/>
                <a:cs typeface="+mn-cs"/>
              </a:rPr>
              <a:t>Foreign key is used to maintain </a:t>
            </a:r>
            <a:r>
              <a:rPr lang="en-US" sz="1200" b="1" i="0" kern="1200" dirty="0" smtClean="0">
                <a:solidFill>
                  <a:schemeClr val="tx1"/>
                </a:solidFill>
                <a:effectLst/>
                <a:latin typeface="+mn-lt"/>
                <a:ea typeface="+mn-ea"/>
                <a:cs typeface="+mn-cs"/>
              </a:rPr>
              <a:t>referential integrity(It</a:t>
            </a:r>
            <a:r>
              <a:rPr lang="en-US" sz="1200" b="1" i="0" kern="1200" baseline="0" dirty="0" smtClean="0">
                <a:solidFill>
                  <a:schemeClr val="tx1"/>
                </a:solidFill>
                <a:effectLst/>
                <a:latin typeface="+mn-lt"/>
                <a:ea typeface="+mn-ea"/>
                <a:cs typeface="+mn-cs"/>
              </a:rPr>
              <a:t> ensures that relationship between two related tables will remain consistent)</a:t>
            </a:r>
            <a:endParaRPr lang="en-US" sz="1200" b="1" i="0" kern="1200" dirty="0" smtClean="0">
              <a:solidFill>
                <a:schemeClr val="tx1"/>
              </a:solidFill>
              <a:effectLst/>
              <a:latin typeface="+mn-lt"/>
              <a:ea typeface="+mn-ea"/>
              <a:cs typeface="+mn-cs"/>
            </a:endParaRPr>
          </a:p>
          <a:p>
            <a:endParaRPr lang="en-US" dirty="0" smtClean="0"/>
          </a:p>
          <a:p>
            <a:r>
              <a:rPr lang="en-US" sz="1200" b="0" kern="1200" dirty="0" smtClean="0">
                <a:solidFill>
                  <a:schemeClr val="tx1"/>
                </a:solidFill>
                <a:effectLst/>
                <a:latin typeface="+mn-lt"/>
                <a:ea typeface="+mn-ea"/>
                <a:cs typeface="+mn-cs"/>
              </a:rPr>
              <a:t>SQL FOREIGN KEY on CREATE TABLE</a:t>
            </a:r>
            <a:endParaRPr lang="en-US" sz="1200" b="1"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r>
              <a:rPr lang="en-US" dirty="0" smtClean="0">
                <a:effectLst/>
              </a:rPr>
              <a:t> </a:t>
            </a:r>
            <a:r>
              <a:rPr lang="en-US" sz="1200" b="0" kern="1200" dirty="0" smtClean="0">
                <a:solidFill>
                  <a:schemeClr val="tx1"/>
                </a:solidFill>
                <a:effectLst/>
                <a:latin typeface="+mn-lt"/>
                <a:ea typeface="+mn-ea"/>
                <a:cs typeface="+mn-cs"/>
              </a:rPr>
              <a:t>SQL FOREIGN KEY on ALTER TABLE</a:t>
            </a:r>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ALTER TABLE Orders</a:t>
            </a:r>
            <a:br>
              <a:rPr lang="en-US" sz="1200" b="1" kern="1200" dirty="0" smtClean="0">
                <a:solidFill>
                  <a:schemeClr val="tx1"/>
                </a:solidFill>
                <a:effectLst/>
                <a:latin typeface="+mn-lt"/>
                <a:ea typeface="+mn-ea"/>
                <a:cs typeface="+mn-cs"/>
              </a:rPr>
            </a:br>
            <a:r>
              <a:rPr lang="en-US" sz="1200" b="1" kern="1200" dirty="0" smtClean="0">
                <a:solidFill>
                  <a:schemeClr val="tx1"/>
                </a:solidFill>
                <a:effectLst/>
                <a:latin typeface="+mn-lt"/>
                <a:ea typeface="+mn-ea"/>
                <a:cs typeface="+mn-cs"/>
              </a:rPr>
              <a:t>ADD FOREIGN KEY (</a:t>
            </a:r>
            <a:r>
              <a:rPr lang="en-US" sz="1200" b="1" kern="1200" dirty="0" err="1" smtClean="0">
                <a:solidFill>
                  <a:schemeClr val="tx1"/>
                </a:solidFill>
                <a:effectLst/>
                <a:latin typeface="+mn-lt"/>
                <a:ea typeface="+mn-ea"/>
                <a:cs typeface="+mn-cs"/>
              </a:rPr>
              <a:t>PersonID</a:t>
            </a:r>
            <a:r>
              <a:rPr lang="en-US" sz="1200" b="1" kern="1200" dirty="0" smtClean="0">
                <a:solidFill>
                  <a:schemeClr val="tx1"/>
                </a:solidFill>
                <a:effectLst/>
                <a:latin typeface="+mn-lt"/>
                <a:ea typeface="+mn-ea"/>
                <a:cs typeface="+mn-cs"/>
              </a:rPr>
              <a:t>) REFERENCES Persons(</a:t>
            </a:r>
            <a:r>
              <a:rPr lang="en-US" sz="1200" b="1" kern="1200" dirty="0" err="1" smtClean="0">
                <a:solidFill>
                  <a:schemeClr val="tx1"/>
                </a:solidFill>
                <a:effectLst/>
                <a:latin typeface="+mn-lt"/>
                <a:ea typeface="+mn-ea"/>
                <a:cs typeface="+mn-cs"/>
              </a:rPr>
              <a:t>PersonID</a:t>
            </a:r>
            <a:r>
              <a:rPr lang="en-US" sz="1200" b="1" kern="1200" dirty="0" smtClean="0">
                <a:solidFill>
                  <a:schemeClr val="tx1"/>
                </a:solidFill>
                <a:effectLst/>
                <a:latin typeface="+mn-lt"/>
                <a:ea typeface="+mn-ea"/>
                <a:cs typeface="+mn-cs"/>
              </a:rPr>
              <a:t>);</a:t>
            </a:r>
          </a:p>
          <a:p>
            <a:r>
              <a:rPr lang="en-US" sz="1200" b="0" kern="1200" dirty="0" smtClean="0">
                <a:solidFill>
                  <a:schemeClr val="tx1"/>
                </a:solidFill>
                <a:effectLst/>
                <a:latin typeface="+mn-lt"/>
                <a:ea typeface="+mn-ea"/>
                <a:cs typeface="+mn-cs"/>
              </a:rPr>
              <a:t> </a:t>
            </a:r>
            <a:endParaRPr lang="en-US" sz="1200" b="1" kern="1200" dirty="0" smtClean="0">
              <a:solidFill>
                <a:schemeClr val="tx1"/>
              </a:solidFill>
              <a:effectLst/>
              <a:latin typeface="+mn-lt"/>
              <a:ea typeface="+mn-ea"/>
              <a:cs typeface="+mn-cs"/>
            </a:endParaRPr>
          </a:p>
          <a:p>
            <a:r>
              <a:rPr lang="en-US" sz="1200" b="0" kern="1200" dirty="0" smtClean="0">
                <a:solidFill>
                  <a:schemeClr val="tx1"/>
                </a:solidFill>
                <a:effectLst/>
                <a:latin typeface="+mn-lt"/>
                <a:ea typeface="+mn-ea"/>
                <a:cs typeface="+mn-cs"/>
              </a:rPr>
              <a:t>DROP a FOREIGN KEY Constraint</a:t>
            </a:r>
            <a:endParaRPr lang="en-US" sz="1200" b="1"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ALTER TABLE Orders</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DROP FOREIGN KEY </a:t>
            </a:r>
            <a:r>
              <a:rPr lang="en-US" sz="1200" kern="1200" dirty="0" err="1" smtClean="0">
                <a:solidFill>
                  <a:schemeClr val="tx1"/>
                </a:solidFill>
                <a:effectLst/>
                <a:latin typeface="+mn-lt"/>
                <a:ea typeface="+mn-ea"/>
                <a:cs typeface="+mn-cs"/>
              </a:rPr>
              <a:t>FK_PersonOrder</a:t>
            </a:r>
            <a:r>
              <a:rPr lang="en-US" sz="120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32</a:t>
            </a:fld>
            <a:endParaRPr lang="en-US"/>
          </a:p>
        </p:txBody>
      </p:sp>
    </p:spTree>
    <p:extLst>
      <p:ext uri="{BB962C8B-B14F-4D97-AF65-F5344CB8AC3E}">
        <p14:creationId xmlns:p14="http://schemas.microsoft.com/office/powerpoint/2010/main" val="3276068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Referential integrity </a:t>
            </a:r>
            <a:r>
              <a:rPr lang="en-US" sz="1200" b="1" i="0" kern="1200" dirty="0" smtClean="0">
                <a:solidFill>
                  <a:schemeClr val="tx1"/>
                </a:solidFill>
                <a:effectLst/>
                <a:latin typeface="+mn-lt"/>
                <a:ea typeface="+mn-ea"/>
                <a:cs typeface="+mn-cs"/>
              </a:rPr>
              <a:t>refers to the relationship between tables.</a:t>
            </a:r>
          </a:p>
          <a:p>
            <a:r>
              <a:rPr lang="en-US" sz="1200" b="0" i="0" kern="1200" dirty="0" smtClean="0">
                <a:solidFill>
                  <a:schemeClr val="tx1"/>
                </a:solidFill>
                <a:effectLst/>
                <a:latin typeface="+mn-lt"/>
                <a:ea typeface="+mn-ea"/>
                <a:cs typeface="+mn-cs"/>
              </a:rPr>
              <a:t>A referential integrity rule is </a:t>
            </a:r>
            <a:r>
              <a:rPr lang="en-US" sz="1200" b="1" i="0" kern="1200" dirty="0" smtClean="0">
                <a:solidFill>
                  <a:schemeClr val="tx1"/>
                </a:solidFill>
                <a:effectLst/>
                <a:latin typeface="+mn-lt"/>
                <a:ea typeface="+mn-ea"/>
                <a:cs typeface="+mn-cs"/>
              </a:rPr>
              <a:t>a rule defined on a key (a column or set of columns) in one table that guarantees that the values in that key match the values in a key in a related table (the referenced value)</a:t>
            </a:r>
            <a:r>
              <a:rPr lang="en-US" sz="1200" b="0" i="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33</a:t>
            </a:fld>
            <a:endParaRPr lang="en-US"/>
          </a:p>
        </p:txBody>
      </p:sp>
    </p:spTree>
    <p:extLst>
      <p:ext uri="{BB962C8B-B14F-4D97-AF65-F5344CB8AC3E}">
        <p14:creationId xmlns:p14="http://schemas.microsoft.com/office/powerpoint/2010/main" val="1875492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For example, each of the </a:t>
            </a:r>
            <a:r>
              <a:rPr lang="en-US" sz="1200" b="0" i="0" u="none" strike="noStrike" kern="1200" baseline="0" dirty="0" err="1" smtClean="0">
                <a:solidFill>
                  <a:schemeClr val="tx1"/>
                </a:solidFill>
                <a:latin typeface="+mn-lt"/>
                <a:ea typeface="+mn-ea"/>
                <a:cs typeface="+mn-cs"/>
              </a:rPr>
              <a:t>VehicleID</a:t>
            </a:r>
            <a:r>
              <a:rPr lang="en-US" sz="1200" b="0" i="0" u="none" strike="noStrike" kern="1200" baseline="0" dirty="0" smtClean="0">
                <a:solidFill>
                  <a:schemeClr val="tx1"/>
                </a:solidFill>
                <a:latin typeface="+mn-lt"/>
                <a:ea typeface="+mn-ea"/>
                <a:cs typeface="+mn-cs"/>
              </a:rPr>
              <a:t> and Registration attributes of the entity type CAR  is a key in its own right. The Registration attribute is an example of a composite key formed from two simple component attributes, </a:t>
            </a:r>
            <a:r>
              <a:rPr lang="en-US" sz="1200" b="0" i="0" u="none" strike="noStrike" kern="1200" baseline="0" dirty="0" err="1" smtClean="0">
                <a:solidFill>
                  <a:schemeClr val="tx1"/>
                </a:solidFill>
                <a:latin typeface="+mn-lt"/>
                <a:ea typeface="+mn-ea"/>
                <a:cs typeface="+mn-cs"/>
              </a:rPr>
              <a:t>RegistrationNumber</a:t>
            </a:r>
            <a:r>
              <a:rPr lang="en-US" sz="1200" b="0" i="0" u="none" strike="noStrike" kern="1200" baseline="0" dirty="0" smtClean="0">
                <a:solidFill>
                  <a:schemeClr val="tx1"/>
                </a:solidFill>
                <a:latin typeface="+mn-lt"/>
                <a:ea typeface="+mn-ea"/>
                <a:cs typeface="+mn-cs"/>
              </a:rPr>
              <a:t> and State, neither of which is a key on its own. An entity type may also have </a:t>
            </a:r>
            <a:r>
              <a:rPr lang="en-US" sz="1200" b="0" i="1" u="none" strike="noStrike" kern="1200" baseline="0" dirty="0" smtClean="0">
                <a:solidFill>
                  <a:schemeClr val="tx1"/>
                </a:solidFill>
                <a:latin typeface="+mn-lt"/>
                <a:ea typeface="+mn-ea"/>
                <a:cs typeface="+mn-cs"/>
              </a:rPr>
              <a:t>no key, </a:t>
            </a:r>
            <a:r>
              <a:rPr lang="en-US" sz="1200" b="0" i="0" u="none" strike="noStrike" kern="1200" baseline="0" dirty="0" smtClean="0">
                <a:solidFill>
                  <a:schemeClr val="tx1"/>
                </a:solidFill>
                <a:latin typeface="+mn-lt"/>
                <a:ea typeface="+mn-ea"/>
                <a:cs typeface="+mn-cs"/>
              </a:rPr>
              <a:t>in which case it is called a </a:t>
            </a:r>
            <a:r>
              <a:rPr lang="en-US" sz="1200" b="0" i="1" u="none" strike="noStrike" kern="1200" baseline="0" dirty="0" smtClean="0">
                <a:solidFill>
                  <a:schemeClr val="tx1"/>
                </a:solidFill>
                <a:latin typeface="+mn-lt"/>
                <a:ea typeface="+mn-ea"/>
                <a:cs typeface="+mn-cs"/>
              </a:rPr>
              <a:t>weak entity type </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34</a:t>
            </a:fld>
            <a:endParaRPr lang="en-US"/>
          </a:p>
        </p:txBody>
      </p:sp>
    </p:spTree>
    <p:extLst>
      <p:ext uri="{BB962C8B-B14F-4D97-AF65-F5344CB8AC3E}">
        <p14:creationId xmlns:p14="http://schemas.microsoft.com/office/powerpoint/2010/main" val="2254414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37</a:t>
            </a:fld>
            <a:endParaRPr lang="en-US"/>
          </a:p>
        </p:txBody>
      </p:sp>
    </p:spTree>
    <p:extLst>
      <p:ext uri="{BB962C8B-B14F-4D97-AF65-F5344CB8AC3E}">
        <p14:creationId xmlns:p14="http://schemas.microsoft.com/office/powerpoint/2010/main" val="2469133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38</a:t>
            </a:fld>
            <a:endParaRPr lang="en-US"/>
          </a:p>
        </p:txBody>
      </p:sp>
    </p:spTree>
    <p:extLst>
      <p:ext uri="{BB962C8B-B14F-4D97-AF65-F5344CB8AC3E}">
        <p14:creationId xmlns:p14="http://schemas.microsoft.com/office/powerpoint/2010/main" val="658107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43</a:t>
            </a:fld>
            <a:endParaRPr lang="en-US"/>
          </a:p>
        </p:txBody>
      </p:sp>
    </p:spTree>
    <p:extLst>
      <p:ext uri="{BB962C8B-B14F-4D97-AF65-F5344CB8AC3E}">
        <p14:creationId xmlns:p14="http://schemas.microsoft.com/office/powerpoint/2010/main" val="6014131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Role: A role name </a:t>
            </a:r>
            <a:r>
              <a:rPr lang="en-US" sz="1200" b="1" i="0" kern="1200" dirty="0" smtClean="0">
                <a:solidFill>
                  <a:schemeClr val="tx1"/>
                </a:solidFill>
                <a:effectLst/>
                <a:latin typeface="+mn-lt"/>
                <a:ea typeface="+mn-ea"/>
                <a:cs typeface="+mn-cs"/>
              </a:rPr>
              <a:t>explains how an object participates in the relationship</a:t>
            </a:r>
            <a:r>
              <a:rPr lang="en-US" sz="1200" b="0" i="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46</a:t>
            </a:fld>
            <a:endParaRPr lang="en-US"/>
          </a:p>
        </p:txBody>
      </p:sp>
    </p:spTree>
    <p:extLst>
      <p:ext uri="{BB962C8B-B14F-4D97-AF65-F5344CB8AC3E}">
        <p14:creationId xmlns:p14="http://schemas.microsoft.com/office/powerpoint/2010/main" val="40526792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Each relationship instance</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r</a:t>
            </a:r>
            <a:r>
              <a:rPr lang="en-US" sz="1200" b="0" i="1" kern="1200" baseline="-25000" dirty="0" err="1" smtClean="0">
                <a:solidFill>
                  <a:schemeClr val="tx1"/>
                </a:solidFill>
                <a:effectLst/>
                <a:latin typeface="+mn-lt"/>
                <a:ea typeface="+mn-ea"/>
                <a:cs typeface="+mn-cs"/>
              </a:rPr>
              <a:t>i</a:t>
            </a:r>
            <a:r>
              <a:rPr lang="en-US" sz="1200" b="0" i="1"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in</a:t>
            </a:r>
            <a:r>
              <a:rPr lang="en-US" sz="1200" b="0" i="1"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SUPERVISION</a:t>
            </a:r>
            <a:r>
              <a:rPr lang="en-US" sz="1200" b="0" i="1"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associates</a:t>
            </a:r>
            <a:r>
              <a:rPr lang="en-US" sz="1200" b="0" i="1"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two employee entities </a:t>
            </a:r>
            <a:r>
              <a:rPr lang="en-US" sz="1200" b="0" i="1" kern="1200" dirty="0" err="1" smtClean="0">
                <a:solidFill>
                  <a:schemeClr val="tx1"/>
                </a:solidFill>
                <a:effectLst/>
                <a:latin typeface="+mn-lt"/>
                <a:ea typeface="+mn-ea"/>
                <a:cs typeface="+mn-cs"/>
              </a:rPr>
              <a:t>e</a:t>
            </a:r>
            <a:r>
              <a:rPr lang="en-US" sz="1200" b="0" i="1" kern="1200" baseline="-25000" dirty="0" err="1" smtClean="0">
                <a:solidFill>
                  <a:schemeClr val="tx1"/>
                </a:solidFill>
                <a:effectLst/>
                <a:latin typeface="+mn-lt"/>
                <a:ea typeface="+mn-ea"/>
                <a:cs typeface="+mn-cs"/>
              </a:rPr>
              <a:t>j</a:t>
            </a:r>
            <a:r>
              <a:rPr lang="en-US" sz="1200" b="0" i="0" kern="1200" dirty="0" smtClean="0">
                <a:solidFill>
                  <a:schemeClr val="tx1"/>
                </a:solidFill>
                <a:effectLst/>
                <a:latin typeface="+mn-lt"/>
                <a:ea typeface="+mn-ea"/>
                <a:cs typeface="+mn-cs"/>
              </a:rPr>
              <a:t> and </a:t>
            </a:r>
            <a:r>
              <a:rPr lang="en-US" sz="1200" b="0" i="1" kern="1200" dirty="0" err="1" smtClean="0">
                <a:solidFill>
                  <a:schemeClr val="tx1"/>
                </a:solidFill>
                <a:effectLst/>
                <a:latin typeface="+mn-lt"/>
                <a:ea typeface="+mn-ea"/>
                <a:cs typeface="+mn-cs"/>
              </a:rPr>
              <a:t>e</a:t>
            </a:r>
            <a:r>
              <a:rPr lang="en-US" sz="1200" b="0" i="1" kern="1200" baseline="-25000" dirty="0" err="1" smtClean="0">
                <a:solidFill>
                  <a:schemeClr val="tx1"/>
                </a:solidFill>
                <a:effectLst/>
                <a:latin typeface="+mn-lt"/>
                <a:ea typeface="+mn-ea"/>
                <a:cs typeface="+mn-cs"/>
              </a:rPr>
              <a:t>k</a:t>
            </a:r>
            <a:r>
              <a:rPr lang="en-US" sz="1200" b="0" i="0" kern="1200" dirty="0" smtClean="0">
                <a:solidFill>
                  <a:schemeClr val="tx1"/>
                </a:solidFill>
                <a:effectLst/>
                <a:latin typeface="+mn-lt"/>
                <a:ea typeface="+mn-ea"/>
                <a:cs typeface="+mn-cs"/>
              </a:rPr>
              <a:t>, one of which plays the role of supervisor and the other the role of supervisee. In Figure 7.11, the lines marked ‘1’ represent the super-visor role, and those marked ‘2’ represent the supervisee role; hence,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1</a:t>
            </a:r>
            <a:r>
              <a:rPr lang="en-US" sz="1200" b="0" i="0" kern="1200" dirty="0" smtClean="0">
                <a:solidFill>
                  <a:schemeClr val="tx1"/>
                </a:solidFill>
                <a:effectLst/>
                <a:latin typeface="+mn-lt"/>
                <a:ea typeface="+mn-ea"/>
                <a:cs typeface="+mn-cs"/>
              </a:rPr>
              <a:t> supervises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2</a:t>
            </a:r>
            <a:r>
              <a:rPr lang="en-US" sz="1200" b="0" i="0" kern="1200" dirty="0" smtClean="0">
                <a:solidFill>
                  <a:schemeClr val="tx1"/>
                </a:solidFill>
                <a:effectLst/>
                <a:latin typeface="+mn-lt"/>
                <a:ea typeface="+mn-ea"/>
                <a:cs typeface="+mn-cs"/>
              </a:rPr>
              <a:t> and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3</a:t>
            </a:r>
            <a:r>
              <a:rPr lang="en-US" sz="1200" b="0" i="0" kern="1200" dirty="0" smtClean="0">
                <a:solidFill>
                  <a:schemeClr val="tx1"/>
                </a:solidFill>
                <a:effectLst/>
                <a:latin typeface="+mn-lt"/>
                <a:ea typeface="+mn-ea"/>
                <a:cs typeface="+mn-cs"/>
              </a:rPr>
              <a:t>,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4</a:t>
            </a:r>
            <a:r>
              <a:rPr lang="en-US" sz="1200" b="0" i="0" kern="1200" dirty="0" smtClean="0">
                <a:solidFill>
                  <a:schemeClr val="tx1"/>
                </a:solidFill>
                <a:effectLst/>
                <a:latin typeface="+mn-lt"/>
                <a:ea typeface="+mn-ea"/>
                <a:cs typeface="+mn-cs"/>
              </a:rPr>
              <a:t> supervises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6</a:t>
            </a:r>
            <a:r>
              <a:rPr lang="en-US" sz="1200" b="0" i="0" kern="1200" dirty="0" smtClean="0">
                <a:solidFill>
                  <a:schemeClr val="tx1"/>
                </a:solidFill>
                <a:effectLst/>
                <a:latin typeface="+mn-lt"/>
                <a:ea typeface="+mn-ea"/>
                <a:cs typeface="+mn-cs"/>
              </a:rPr>
              <a:t> and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7</a:t>
            </a:r>
            <a:r>
              <a:rPr lang="en-US" sz="1200" b="0" i="0" kern="1200" dirty="0" smtClean="0">
                <a:solidFill>
                  <a:schemeClr val="tx1"/>
                </a:solidFill>
                <a:effectLst/>
                <a:latin typeface="+mn-lt"/>
                <a:ea typeface="+mn-ea"/>
                <a:cs typeface="+mn-cs"/>
              </a:rPr>
              <a:t>, and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5</a:t>
            </a:r>
            <a:r>
              <a:rPr lang="en-US" sz="1200" b="0" i="0" kern="1200" dirty="0" smtClean="0">
                <a:solidFill>
                  <a:schemeClr val="tx1"/>
                </a:solidFill>
                <a:effectLst/>
                <a:latin typeface="+mn-lt"/>
                <a:ea typeface="+mn-ea"/>
                <a:cs typeface="+mn-cs"/>
              </a:rPr>
              <a:t> supervises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1</a:t>
            </a:r>
            <a:r>
              <a:rPr lang="en-US" sz="1200" b="0" i="0" kern="1200" dirty="0" smtClean="0">
                <a:solidFill>
                  <a:schemeClr val="tx1"/>
                </a:solidFill>
                <a:effectLst/>
                <a:latin typeface="+mn-lt"/>
                <a:ea typeface="+mn-ea"/>
                <a:cs typeface="+mn-cs"/>
              </a:rPr>
              <a:t> and </a:t>
            </a:r>
            <a:r>
              <a:rPr lang="en-US" sz="1200" b="0" i="1" kern="1200" dirty="0" smtClean="0">
                <a:solidFill>
                  <a:schemeClr val="tx1"/>
                </a:solidFill>
                <a:effectLst/>
                <a:latin typeface="+mn-lt"/>
                <a:ea typeface="+mn-ea"/>
                <a:cs typeface="+mn-cs"/>
              </a:rPr>
              <a:t>e</a:t>
            </a:r>
            <a:r>
              <a:rPr lang="en-US" sz="1200" b="0" i="0" kern="1200" baseline="-25000" dirty="0" smtClean="0">
                <a:solidFill>
                  <a:schemeClr val="tx1"/>
                </a:solidFill>
                <a:effectLst/>
                <a:latin typeface="+mn-lt"/>
                <a:ea typeface="+mn-ea"/>
                <a:cs typeface="+mn-cs"/>
              </a:rPr>
              <a:t>4</a:t>
            </a:r>
            <a:r>
              <a:rPr lang="en-US" sz="1200" b="0" i="0" kern="1200" dirty="0" smtClean="0">
                <a:solidFill>
                  <a:schemeClr val="tx1"/>
                </a:solidFill>
                <a:effectLst/>
                <a:latin typeface="+mn-lt"/>
                <a:ea typeface="+mn-ea"/>
                <a:cs typeface="+mn-cs"/>
              </a:rPr>
              <a:t>. In this example, each relationship instance must be connected with two lines, one marked with ‘1’ (supervisor) and the other with ‘2’ (supervisee).</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47</a:t>
            </a:fld>
            <a:endParaRPr lang="en-US"/>
          </a:p>
        </p:txBody>
      </p:sp>
    </p:spTree>
    <p:extLst>
      <p:ext uri="{BB962C8B-B14F-4D97-AF65-F5344CB8AC3E}">
        <p14:creationId xmlns:p14="http://schemas.microsoft.com/office/powerpoint/2010/main" val="18832690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We have three entity types ‘Teacher’, ‘Course’, and ‘Class’. The relationship between these entities is defined as the teacher teaching a particular course, also the teacher teaches a particular class. So, here three entity types are associating we can say it is a </a:t>
            </a:r>
            <a:r>
              <a:rPr lang="en-US" sz="1200" b="1" i="0" kern="1200" dirty="0" smtClean="0">
                <a:solidFill>
                  <a:schemeClr val="tx1"/>
                </a:solidFill>
                <a:effectLst/>
                <a:latin typeface="+mn-lt"/>
                <a:ea typeface="+mn-ea"/>
                <a:cs typeface="+mn-cs"/>
              </a:rPr>
              <a:t>ternary relationship.</a:t>
            </a:r>
            <a:endParaRPr lang="en-US" b="1" dirty="0"/>
          </a:p>
        </p:txBody>
      </p:sp>
      <p:sp>
        <p:nvSpPr>
          <p:cNvPr id="4" name="Slide Number Placeholder 3"/>
          <p:cNvSpPr>
            <a:spLocks noGrp="1"/>
          </p:cNvSpPr>
          <p:nvPr>
            <p:ph type="sldNum" sz="quarter" idx="10"/>
          </p:nvPr>
        </p:nvSpPr>
        <p:spPr/>
        <p:txBody>
          <a:bodyPr/>
          <a:lstStyle/>
          <a:p>
            <a:fld id="{E61F412C-B506-463A-AD09-6755EBD4CFEE}" type="slidenum">
              <a:rPr lang="en-US" smtClean="0"/>
              <a:t>48</a:t>
            </a:fld>
            <a:endParaRPr lang="en-US"/>
          </a:p>
        </p:txBody>
      </p:sp>
    </p:spTree>
    <p:extLst>
      <p:ext uri="{BB962C8B-B14F-4D97-AF65-F5344CB8AC3E}">
        <p14:creationId xmlns:p14="http://schemas.microsoft.com/office/powerpoint/2010/main" val="219868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9" name="Google Shape;21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Shortcomings</a:t>
            </a:r>
            <a:r>
              <a:rPr lang="en-US" b="1" baseline="0" dirty="0" smtClean="0"/>
              <a:t> of ER model</a:t>
            </a:r>
          </a:p>
          <a:p>
            <a:r>
              <a:rPr lang="en-US" baseline="0" dirty="0" smtClean="0"/>
              <a:t>1] </a:t>
            </a:r>
            <a:r>
              <a:rPr lang="en-US" b="1" baseline="0" dirty="0" smtClean="0"/>
              <a:t>inadequate  constraints and specifications- </a:t>
            </a:r>
            <a:r>
              <a:rPr lang="en-US" baseline="0" dirty="0" smtClean="0"/>
              <a:t>some information can be lost in ER model as there is no way to represent some constraints.</a:t>
            </a:r>
          </a:p>
          <a:p>
            <a:r>
              <a:rPr lang="en-US" baseline="0" dirty="0" smtClean="0"/>
              <a:t>2] </a:t>
            </a:r>
            <a:r>
              <a:rPr lang="en-US" b="1" baseline="0" dirty="0" smtClean="0"/>
              <a:t>No industry standards- </a:t>
            </a:r>
            <a:r>
              <a:rPr lang="en-US" baseline="0" dirty="0" smtClean="0"/>
              <a:t>ER models has not standardized for universal usage and symbols.</a:t>
            </a:r>
          </a:p>
          <a:p>
            <a:pPr fontAlgn="base"/>
            <a:r>
              <a:rPr lang="en-US" baseline="0" dirty="0" smtClean="0"/>
              <a:t>3]</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It is difficult to show data manipulation in ER model.</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59</a:t>
            </a:fld>
            <a:endParaRPr lang="en-US"/>
          </a:p>
        </p:txBody>
      </p:sp>
    </p:spTree>
    <p:extLst>
      <p:ext uri="{BB962C8B-B14F-4D97-AF65-F5344CB8AC3E}">
        <p14:creationId xmlns:p14="http://schemas.microsoft.com/office/powerpoint/2010/main" val="22681370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Square, Circle, Triangle are the sub class of Shape super class.</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60</a:t>
            </a:fld>
            <a:endParaRPr lang="en-US"/>
          </a:p>
        </p:txBody>
      </p:sp>
    </p:spTree>
    <p:extLst>
      <p:ext uri="{BB962C8B-B14F-4D97-AF65-F5344CB8AC3E}">
        <p14:creationId xmlns:p14="http://schemas.microsoft.com/office/powerpoint/2010/main" val="13897190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the above example, Tiger, Lion, Elephant can all be generalized as Animals.</a:t>
            </a:r>
            <a:endParaRPr lang="en-US" dirty="0"/>
          </a:p>
        </p:txBody>
      </p:sp>
      <p:sp>
        <p:nvSpPr>
          <p:cNvPr id="4" name="Slide Number Placeholder 3"/>
          <p:cNvSpPr>
            <a:spLocks noGrp="1"/>
          </p:cNvSpPr>
          <p:nvPr>
            <p:ph type="sldNum" sz="quarter" idx="10"/>
          </p:nvPr>
        </p:nvSpPr>
        <p:spPr/>
        <p:txBody>
          <a:bodyPr/>
          <a:lstStyle/>
          <a:p>
            <a:fld id="{E61F412C-B506-463A-AD09-6755EBD4CFEE}" type="slidenum">
              <a:rPr lang="en-US" smtClean="0"/>
              <a:t>63</a:t>
            </a:fld>
            <a:endParaRPr lang="en-US"/>
          </a:p>
        </p:txBody>
      </p:sp>
    </p:spTree>
    <p:extLst>
      <p:ext uri="{BB962C8B-B14F-4D97-AF65-F5344CB8AC3E}">
        <p14:creationId xmlns:p14="http://schemas.microsoft.com/office/powerpoint/2010/main" val="7385099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0" i="0" kern="1200" dirty="0" smtClean="0">
                <a:solidFill>
                  <a:schemeClr val="tx1"/>
                </a:solidFill>
                <a:effectLst/>
                <a:latin typeface="+mn-lt"/>
                <a:ea typeface="+mn-ea"/>
                <a:cs typeface="+mn-cs"/>
              </a:rPr>
              <a:t>In aggregation, the relation between two entities is treated as a single entity. </a:t>
            </a:r>
            <a:endParaRPr dirty="0"/>
          </a:p>
        </p:txBody>
      </p:sp>
      <p:sp>
        <p:nvSpPr>
          <p:cNvPr id="305" name="Google Shape;30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3" name="Google Shape;383;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0" i="0" kern="1200" dirty="0" smtClean="0">
                <a:solidFill>
                  <a:schemeClr val="tx1"/>
                </a:solidFill>
                <a:effectLst/>
                <a:latin typeface="+mn-lt"/>
                <a:ea typeface="+mn-ea"/>
                <a:cs typeface="+mn-cs"/>
              </a:rPr>
              <a:t>In a database table, we can add rules to a column known as constraints. These rules control the data that can be stored in a column. For example, if a column has NOT NULL constraint, it means the column cannot store NULL values.</a:t>
            </a:r>
          </a:p>
          <a:p>
            <a:pPr marL="0" lvl="0" indent="0" algn="l" rtl="0">
              <a:spcBef>
                <a:spcPts val="0"/>
              </a:spcBef>
              <a:spcAft>
                <a:spcPts val="0"/>
              </a:spcAft>
              <a:buNone/>
            </a:pPr>
            <a:endParaRPr 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Column:</a:t>
            </a:r>
            <a:r>
              <a:rPr lang="en-US" sz="1200" b="0" i="0" kern="1200" dirty="0" smtClean="0">
                <a:solidFill>
                  <a:schemeClr val="tx1"/>
                </a:solidFill>
                <a:effectLst/>
                <a:latin typeface="+mn-lt"/>
                <a:ea typeface="+mn-ea"/>
                <a:cs typeface="+mn-cs"/>
              </a:rPr>
              <a:t> The column represents the set of values for a specific attribute.</a:t>
            </a:r>
          </a:p>
          <a:p>
            <a:pPr marL="0" lvl="0" indent="0" algn="l" rtl="0">
              <a:spcBef>
                <a:spcPts val="0"/>
              </a:spcBef>
              <a:spcAft>
                <a:spcPts val="0"/>
              </a:spcAft>
              <a:buNone/>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Attribute domain</a:t>
            </a:r>
            <a:r>
              <a:rPr lang="en-US" sz="1200" b="0" i="0" kern="1200" dirty="0" smtClean="0">
                <a:solidFill>
                  <a:schemeClr val="tx1"/>
                </a:solidFill>
                <a:effectLst/>
                <a:latin typeface="+mn-lt"/>
                <a:ea typeface="+mn-ea"/>
                <a:cs typeface="+mn-cs"/>
              </a:rPr>
              <a:t> – Every attribute has some pre-defined value and scope which is known as attribute domain</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b="1" dirty="0" smtClean="0"/>
              <a:t>Key Integrity</a:t>
            </a:r>
            <a:r>
              <a:rPr lang="en-US" b="1" baseline="0" dirty="0" smtClean="0"/>
              <a:t> constraint is also called as entity integrity constraint.</a:t>
            </a:r>
            <a:endParaRPr b="1" dirty="0"/>
          </a:p>
        </p:txBody>
      </p:sp>
      <p:sp>
        <p:nvSpPr>
          <p:cNvPr id="405" name="Google Shape;40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25" name="Google Shape;425;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0" name="Google Shape;440;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i="0" kern="1200" dirty="0" smtClean="0">
                <a:solidFill>
                  <a:schemeClr val="tx1"/>
                </a:solidFill>
                <a:effectLst/>
                <a:latin typeface="+mn-lt"/>
                <a:ea typeface="+mn-ea"/>
                <a:cs typeface="+mn-cs"/>
              </a:rPr>
              <a:t>Rule 4: </a:t>
            </a:r>
            <a:r>
              <a:rPr lang="en-US" sz="1200" b="0" i="0" kern="1200" dirty="0" smtClean="0">
                <a:solidFill>
                  <a:schemeClr val="tx1"/>
                </a:solidFill>
                <a:effectLst/>
                <a:latin typeface="+mn-lt"/>
                <a:ea typeface="+mn-ea"/>
                <a:cs typeface="+mn-cs"/>
              </a:rPr>
              <a:t>The structure description of the entire database must be stored in an online catalog, known as </a:t>
            </a:r>
            <a:r>
              <a:rPr lang="en-US" sz="1200" b="1" i="0" kern="1200" dirty="0" smtClean="0">
                <a:solidFill>
                  <a:schemeClr val="tx1"/>
                </a:solidFill>
                <a:effectLst/>
                <a:latin typeface="+mn-lt"/>
                <a:ea typeface="+mn-ea"/>
                <a:cs typeface="+mn-cs"/>
              </a:rPr>
              <a:t>data dictionary</a:t>
            </a:r>
            <a:r>
              <a:rPr lang="en-US" sz="1200" b="0" i="0" kern="1200" dirty="0" smtClean="0">
                <a:solidFill>
                  <a:schemeClr val="tx1"/>
                </a:solidFill>
                <a:effectLst/>
                <a:latin typeface="+mn-lt"/>
                <a:ea typeface="+mn-ea"/>
                <a:cs typeface="+mn-cs"/>
              </a:rPr>
              <a:t>, which can be accessed by authorized users. Users can use the same query language to access the catalog which they use to access the database itself.</a:t>
            </a:r>
          </a:p>
          <a:p>
            <a:r>
              <a:rPr lang="en-US" dirty="0" smtClean="0"/>
              <a:t>An </a:t>
            </a:r>
            <a:r>
              <a:rPr lang="en-US" b="1" dirty="0" smtClean="0"/>
              <a:t>Active or Dynamic Online Catalog</a:t>
            </a:r>
            <a:r>
              <a:rPr lang="en-US" dirty="0" smtClean="0"/>
              <a:t> is a system component that provides a </a:t>
            </a:r>
            <a:r>
              <a:rPr lang="en-US" b="1" dirty="0" smtClean="0"/>
              <a:t>logical structure</a:t>
            </a:r>
            <a:r>
              <a:rPr lang="en-US" dirty="0" smtClean="0"/>
              <a:t> of a database and serves as an interface between the </a:t>
            </a:r>
            <a:r>
              <a:rPr lang="en-US" b="1" dirty="0" smtClean="0"/>
              <a:t>database management system (DBMS)</a:t>
            </a:r>
            <a:r>
              <a:rPr lang="en-US" dirty="0" smtClean="0"/>
              <a:t> and users. It is also known as the </a:t>
            </a:r>
            <a:r>
              <a:rPr lang="en-US" b="1" dirty="0" smtClean="0"/>
              <a:t>database dictionary</a:t>
            </a:r>
            <a:r>
              <a:rPr lang="en-US" dirty="0" smtClean="0"/>
              <a:t> or </a:t>
            </a:r>
            <a:r>
              <a:rPr lang="en-US" b="1" dirty="0" smtClean="0"/>
              <a:t>data dictionary</a:t>
            </a:r>
            <a:r>
              <a:rPr lang="en-US" dirty="0" smtClean="0"/>
              <a:t>.</a:t>
            </a:r>
          </a:p>
          <a:p>
            <a:r>
              <a:rPr lang="en-US" dirty="0" smtClean="0"/>
              <a:t>It contains metadata about the database, which includes details about the </a:t>
            </a:r>
            <a:r>
              <a:rPr lang="en-US" b="1" dirty="0" smtClean="0"/>
              <a:t>tables</a:t>
            </a:r>
            <a:r>
              <a:rPr lang="en-US" dirty="0" smtClean="0"/>
              <a:t>, </a:t>
            </a:r>
            <a:r>
              <a:rPr lang="en-US" b="1" dirty="0" smtClean="0"/>
              <a:t>columns</a:t>
            </a:r>
            <a:r>
              <a:rPr lang="en-US" dirty="0" smtClean="0"/>
              <a:t>, </a:t>
            </a:r>
            <a:r>
              <a:rPr lang="en-US" b="1" dirty="0" smtClean="0"/>
              <a:t>constraints</a:t>
            </a:r>
            <a:r>
              <a:rPr lang="en-US" dirty="0" smtClean="0"/>
              <a:t>, </a:t>
            </a:r>
            <a:r>
              <a:rPr lang="en-US" b="1" dirty="0" smtClean="0"/>
              <a:t>relationships</a:t>
            </a:r>
            <a:r>
              <a:rPr lang="en-US" dirty="0" smtClean="0"/>
              <a:t>, and other database objects. This catalog is essential for managing and accessing the database in a relational database management system (RDBMS).</a:t>
            </a:r>
          </a:p>
          <a:p>
            <a:pPr marL="0" lvl="0" indent="0" algn="l" rtl="0">
              <a:spcBef>
                <a:spcPts val="0"/>
              </a:spcBef>
              <a:spcAft>
                <a:spcPts val="0"/>
              </a:spcAft>
              <a:buNone/>
            </a:pPr>
            <a:endParaRPr lang="en-US" sz="1200" b="0" i="0" kern="1200" dirty="0" smtClean="0">
              <a:solidFill>
                <a:schemeClr val="tx1"/>
              </a:solidFill>
              <a:effectLst/>
              <a:latin typeface="+mn-lt"/>
              <a:ea typeface="+mn-ea"/>
              <a:cs typeface="+mn-cs"/>
            </a:endParaRPr>
          </a:p>
          <a:p>
            <a:pPr marL="0" lvl="0" indent="0" algn="l" rtl="0">
              <a:spcBef>
                <a:spcPts val="0"/>
              </a:spcBef>
              <a:spcAft>
                <a:spcPts val="0"/>
              </a:spcAft>
              <a:buNone/>
            </a:pPr>
            <a:endParaRPr lang="en-US" sz="1200" b="0" i="0" kern="1200" dirty="0" smtClean="0">
              <a:solidFill>
                <a:schemeClr val="tx1"/>
              </a:solidFill>
              <a:effectLst/>
              <a:latin typeface="+mn-lt"/>
              <a:ea typeface="+mn-ea"/>
              <a:cs typeface="+mn-cs"/>
            </a:endParaRPr>
          </a:p>
          <a:p>
            <a:pPr marL="0" lvl="0" indent="0" algn="l" rtl="0">
              <a:spcBef>
                <a:spcPts val="0"/>
              </a:spcBef>
              <a:spcAft>
                <a:spcPts val="0"/>
              </a:spcAft>
              <a:buNone/>
            </a:pPr>
            <a:endParaRPr lang="en-US" sz="1200" b="0" i="0" kern="1200" dirty="0" smtClean="0">
              <a:solidFill>
                <a:schemeClr val="tx1"/>
              </a:solidFill>
              <a:effectLst/>
              <a:latin typeface="+mn-lt"/>
              <a:ea typeface="+mn-ea"/>
              <a:cs typeface="+mn-cs"/>
            </a:endParaRPr>
          </a:p>
          <a:p>
            <a:pPr marL="0" lvl="0" indent="0" algn="l" rtl="0">
              <a:spcBef>
                <a:spcPts val="0"/>
              </a:spcBef>
              <a:spcAft>
                <a:spcPts val="0"/>
              </a:spcAft>
              <a:buNone/>
            </a:pPr>
            <a:r>
              <a:rPr lang="en-US" sz="1200" b="0" i="0" kern="1200" dirty="0" smtClean="0">
                <a:solidFill>
                  <a:schemeClr val="tx1"/>
                </a:solidFill>
                <a:effectLst/>
                <a:latin typeface="+mn-lt"/>
                <a:ea typeface="+mn-ea"/>
                <a:cs typeface="+mn-cs"/>
              </a:rPr>
              <a:t>View is a virtual table</a:t>
            </a:r>
            <a:r>
              <a:rPr lang="en-US" sz="1200" b="0" i="0" kern="1200" baseline="0" dirty="0" smtClean="0">
                <a:solidFill>
                  <a:schemeClr val="tx1"/>
                </a:solidFill>
                <a:effectLst/>
                <a:latin typeface="+mn-lt"/>
                <a:ea typeface="+mn-ea"/>
                <a:cs typeface="+mn-cs"/>
              </a:rPr>
              <a:t> in the database whose contents are taken from query or taken from one or more tables.</a:t>
            </a:r>
            <a:endParaRPr dirty="0"/>
          </a:p>
        </p:txBody>
      </p:sp>
      <p:sp>
        <p:nvSpPr>
          <p:cNvPr id="446" name="Google Shape;44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58" name="Google Shape;45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sz="24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28/05/2025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pPr/>
              <a:t>28/05/2025</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UNIT-1</a:t>
            </a:r>
            <a:endParaRPr lang="en-US" dirty="0"/>
          </a:p>
        </p:txBody>
      </p:sp>
      <p:sp>
        <p:nvSpPr>
          <p:cNvPr id="3" name="Subtitle 2"/>
          <p:cNvSpPr>
            <a:spLocks noGrp="1"/>
          </p:cNvSpPr>
          <p:nvPr>
            <p:ph type="subTitle" idx="1"/>
          </p:nvPr>
        </p:nvSpPr>
        <p:spPr/>
        <p:txBody>
          <a:bodyPr>
            <a:normAutofit/>
          </a:bodyPr>
          <a:lstStyle/>
          <a:p>
            <a:r>
              <a:rPr lang="en-US" sz="3600" b="1" dirty="0" smtClean="0">
                <a:solidFill>
                  <a:srgbClr val="0070C0"/>
                </a:solidFill>
              </a:rPr>
              <a:t>Data Modeling</a:t>
            </a:r>
            <a:endParaRPr lang="en-US" sz="3600" b="1" dirty="0">
              <a:solidFill>
                <a:srgbClr val="0070C0"/>
              </a:solidFill>
            </a:endParaRPr>
          </a:p>
        </p:txBody>
      </p:sp>
    </p:spTree>
    <p:extLst>
      <p:ext uri="{BB962C8B-B14F-4D97-AF65-F5344CB8AC3E}">
        <p14:creationId xmlns:p14="http://schemas.microsoft.com/office/powerpoint/2010/main" val="7431528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620000" cy="1143000"/>
          </a:xfrm>
        </p:spPr>
        <p:txBody>
          <a:bodyPr/>
          <a:lstStyle/>
          <a:p>
            <a:r>
              <a:rPr lang="en-US" sz="4800" b="1" dirty="0" smtClean="0"/>
              <a:t>Data modeling</a:t>
            </a:r>
            <a:endParaRPr lang="en-US" dirty="0"/>
          </a:p>
        </p:txBody>
      </p:sp>
      <p:sp>
        <p:nvSpPr>
          <p:cNvPr id="3" name="Content Placeholder 2"/>
          <p:cNvSpPr>
            <a:spLocks noGrp="1"/>
          </p:cNvSpPr>
          <p:nvPr>
            <p:ph idx="1"/>
          </p:nvPr>
        </p:nvSpPr>
        <p:spPr>
          <a:xfrm>
            <a:off x="0" y="914400"/>
            <a:ext cx="8229600" cy="5791200"/>
          </a:xfrm>
        </p:spPr>
        <p:txBody>
          <a:bodyPr>
            <a:normAutofit lnSpcReduction="10000"/>
          </a:bodyPr>
          <a:lstStyle/>
          <a:p>
            <a:pPr algn="just"/>
            <a:r>
              <a:rPr lang="en-US" sz="2400" dirty="0"/>
              <a:t>A </a:t>
            </a:r>
            <a:r>
              <a:rPr lang="en-US" sz="2400" b="1" dirty="0"/>
              <a:t>data model </a:t>
            </a:r>
            <a:r>
              <a:rPr lang="en-US" sz="2400" dirty="0"/>
              <a:t>is a collection of conceptual tools for describing data, data </a:t>
            </a:r>
            <a:r>
              <a:rPr lang="en-US" sz="2400" dirty="0" smtClean="0"/>
              <a:t>relationships, data </a:t>
            </a:r>
            <a:r>
              <a:rPr lang="en-US" sz="2400" dirty="0"/>
              <a:t>semantics, and consistency </a:t>
            </a:r>
            <a:r>
              <a:rPr lang="en-US" sz="2400" dirty="0" smtClean="0"/>
              <a:t>constraints.</a:t>
            </a:r>
          </a:p>
          <a:p>
            <a:pPr algn="just"/>
            <a:r>
              <a:rPr lang="en-US" dirty="0"/>
              <a:t>A </a:t>
            </a:r>
            <a:r>
              <a:rPr lang="en-US" b="1" dirty="0"/>
              <a:t>data model</a:t>
            </a:r>
            <a:r>
              <a:rPr lang="en-US" dirty="0"/>
              <a:t> is a conceptual framework that defines how data is structured, stored, and manipulated in a database system. It provides a systematic way to represent real-world entities and their relationships while ensuring data integrity and consistency.</a:t>
            </a:r>
            <a:endParaRPr lang="en-US" sz="2400" dirty="0" smtClean="0"/>
          </a:p>
          <a:p>
            <a:pPr algn="just"/>
            <a:r>
              <a:rPr lang="en-US" sz="2400" dirty="0" smtClean="0"/>
              <a:t>In simple terms,</a:t>
            </a:r>
            <a:r>
              <a:rPr lang="en-US" sz="2400" dirty="0"/>
              <a:t> Data models </a:t>
            </a:r>
            <a:r>
              <a:rPr lang="en-US" sz="2400" b="1" dirty="0"/>
              <a:t>define how the logical structure of a database is </a:t>
            </a:r>
            <a:r>
              <a:rPr lang="en-US" sz="2400" b="1" dirty="0" smtClean="0"/>
              <a:t>modeled.  </a:t>
            </a:r>
            <a:r>
              <a:rPr lang="en-US" sz="2400" dirty="0" smtClean="0"/>
              <a:t>Data </a:t>
            </a:r>
            <a:r>
              <a:rPr lang="en-US" sz="2400" dirty="0"/>
              <a:t>Models are fundamental entities to introduce abstraction in a </a:t>
            </a:r>
            <a:r>
              <a:rPr lang="en-US" sz="2400" dirty="0" smtClean="0"/>
              <a:t>DBMS.</a:t>
            </a:r>
          </a:p>
          <a:p>
            <a:pPr algn="just"/>
            <a:r>
              <a:rPr lang="en-US" sz="2400" b="1" dirty="0">
                <a:solidFill>
                  <a:srgbClr val="7030A0"/>
                </a:solidFill>
              </a:rPr>
              <a:t>Categories of Data Models </a:t>
            </a:r>
            <a:endParaRPr lang="en-US" sz="2400" b="1" dirty="0" smtClean="0">
              <a:solidFill>
                <a:srgbClr val="7030A0"/>
              </a:solidFill>
            </a:endParaRPr>
          </a:p>
          <a:p>
            <a:pPr algn="just"/>
            <a:r>
              <a:rPr lang="en-US" sz="2400" b="1" dirty="0"/>
              <a:t>High-level </a:t>
            </a:r>
            <a:r>
              <a:rPr lang="en-US" sz="2400" dirty="0"/>
              <a:t>or </a:t>
            </a:r>
            <a:r>
              <a:rPr lang="en-US" sz="2400" b="1" dirty="0"/>
              <a:t>conceptual data models </a:t>
            </a:r>
            <a:r>
              <a:rPr lang="en-US" sz="2400" dirty="0"/>
              <a:t>provide concepts that are close to the way many users perceive data, whereas </a:t>
            </a:r>
            <a:r>
              <a:rPr lang="en-US" sz="2400" b="1" dirty="0"/>
              <a:t>low-level </a:t>
            </a:r>
            <a:r>
              <a:rPr lang="en-US" sz="2400" dirty="0"/>
              <a:t>or </a:t>
            </a:r>
            <a:r>
              <a:rPr lang="en-US" sz="2400" b="1" dirty="0"/>
              <a:t>physical data models </a:t>
            </a:r>
            <a:r>
              <a:rPr lang="en-US" sz="2400" dirty="0"/>
              <a:t>provide concepts that describe the details of how data is stored in the </a:t>
            </a:r>
            <a:r>
              <a:rPr lang="en-US" sz="2400" dirty="0" smtClean="0"/>
              <a:t>computer.</a:t>
            </a:r>
            <a:endParaRPr lang="en-US" sz="2400" dirty="0"/>
          </a:p>
        </p:txBody>
      </p:sp>
    </p:spTree>
    <p:extLst>
      <p:ext uri="{BB962C8B-B14F-4D97-AF65-F5344CB8AC3E}">
        <p14:creationId xmlns:p14="http://schemas.microsoft.com/office/powerpoint/2010/main" val="2949028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Data Models</a:t>
            </a:r>
            <a:br>
              <a:rPr lang="en-US" b="1" dirty="0"/>
            </a:br>
            <a:endParaRPr lang="en-US" dirty="0"/>
          </a:p>
        </p:txBody>
      </p:sp>
      <p:sp>
        <p:nvSpPr>
          <p:cNvPr id="3" name="Content Placeholder 2"/>
          <p:cNvSpPr>
            <a:spLocks noGrp="1"/>
          </p:cNvSpPr>
          <p:nvPr>
            <p:ph idx="1"/>
          </p:nvPr>
        </p:nvSpPr>
        <p:spPr/>
        <p:txBody>
          <a:bodyPr/>
          <a:lstStyle/>
          <a:p>
            <a:pPr marL="114300" indent="0">
              <a:lnSpc>
                <a:spcPct val="150000"/>
              </a:lnSpc>
              <a:buNone/>
            </a:pPr>
            <a:r>
              <a:rPr lang="en-US" dirty="0" smtClean="0"/>
              <a:t>1</a:t>
            </a:r>
            <a:r>
              <a:rPr lang="en-US" sz="2800" dirty="0"/>
              <a:t>. Hierarchical Data Model</a:t>
            </a:r>
            <a:br>
              <a:rPr lang="en-US" sz="2800" dirty="0"/>
            </a:br>
            <a:r>
              <a:rPr lang="en-US" sz="2800" dirty="0"/>
              <a:t>2. Network Data Model</a:t>
            </a:r>
            <a:br>
              <a:rPr lang="en-US" sz="2800" dirty="0"/>
            </a:br>
            <a:r>
              <a:rPr lang="en-US" sz="2800" dirty="0"/>
              <a:t>3. Relational Data Model</a:t>
            </a:r>
            <a:br>
              <a:rPr lang="en-US" sz="2800" dirty="0"/>
            </a:br>
            <a:r>
              <a:rPr lang="en-US" sz="2800" dirty="0"/>
              <a:t>4. Object-Oriented Data Model</a:t>
            </a:r>
          </a:p>
          <a:p>
            <a:endParaRPr lang="en-US" dirty="0"/>
          </a:p>
        </p:txBody>
      </p:sp>
    </p:spTree>
    <p:extLst>
      <p:ext uri="{BB962C8B-B14F-4D97-AF65-F5344CB8AC3E}">
        <p14:creationId xmlns:p14="http://schemas.microsoft.com/office/powerpoint/2010/main" val="22265468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Hierarchical Data Model</a:t>
            </a:r>
            <a:br>
              <a:rPr lang="en-US" b="1" dirty="0"/>
            </a:br>
            <a:endParaRPr lang="en-US" dirty="0"/>
          </a:p>
        </p:txBody>
      </p:sp>
      <p:sp>
        <p:nvSpPr>
          <p:cNvPr id="3" name="Content Placeholder 2"/>
          <p:cNvSpPr>
            <a:spLocks noGrp="1"/>
          </p:cNvSpPr>
          <p:nvPr>
            <p:ph idx="1"/>
          </p:nvPr>
        </p:nvSpPr>
        <p:spPr/>
        <p:txBody>
          <a:bodyPr>
            <a:normAutofit/>
          </a:bodyPr>
          <a:lstStyle/>
          <a:p>
            <a:r>
              <a:rPr lang="en-US" dirty="0" smtClean="0"/>
              <a:t>In </a:t>
            </a:r>
            <a:r>
              <a:rPr lang="en-US" dirty="0"/>
              <a:t>this model, data is organized in a tree-like structure, with parent-child relationships where each parent can have multiple children, but each child has only one parent.</a:t>
            </a:r>
          </a:p>
          <a:p>
            <a:r>
              <a:rPr lang="en-US" dirty="0"/>
              <a:t>Example:</a:t>
            </a:r>
            <a:br>
              <a:rPr lang="en-US" dirty="0"/>
            </a:br>
            <a:r>
              <a:rPr lang="en-US" dirty="0"/>
              <a:t>Company (Root)</a:t>
            </a:r>
            <a:br>
              <a:rPr lang="en-US" dirty="0"/>
            </a:br>
            <a:r>
              <a:rPr lang="en-US" dirty="0"/>
              <a:t> ├── HR (Department)</a:t>
            </a:r>
            <a:br>
              <a:rPr lang="en-US" dirty="0"/>
            </a:br>
            <a:r>
              <a:rPr lang="en-US" dirty="0"/>
              <a:t> │     ├── Employee1</a:t>
            </a:r>
            <a:br>
              <a:rPr lang="en-US" dirty="0"/>
            </a:br>
            <a:r>
              <a:rPr lang="en-US" dirty="0"/>
              <a:t> │     ├── Employee2</a:t>
            </a:r>
            <a:br>
              <a:rPr lang="en-US" dirty="0"/>
            </a:br>
            <a:r>
              <a:rPr lang="en-US" dirty="0"/>
              <a:t> ├── IT (Department)</a:t>
            </a:r>
            <a:br>
              <a:rPr lang="en-US" dirty="0"/>
            </a:br>
            <a:r>
              <a:rPr lang="en-US" dirty="0"/>
              <a:t>       ├── Employee3</a:t>
            </a:r>
            <a:br>
              <a:rPr lang="en-US" dirty="0"/>
            </a:br>
            <a:r>
              <a:rPr lang="en-US" dirty="0"/>
              <a:t>       ├── Employee4</a:t>
            </a:r>
          </a:p>
          <a:p>
            <a:endParaRPr lang="en-US" dirty="0"/>
          </a:p>
        </p:txBody>
      </p:sp>
    </p:spTree>
    <p:extLst>
      <p:ext uri="{BB962C8B-B14F-4D97-AF65-F5344CB8AC3E}">
        <p14:creationId xmlns:p14="http://schemas.microsoft.com/office/powerpoint/2010/main" val="36137508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Network Data Model</a:t>
            </a:r>
            <a:br>
              <a:rPr lang="en-US" b="1" dirty="0"/>
            </a:br>
            <a:endParaRPr lang="en-US" dirty="0"/>
          </a:p>
        </p:txBody>
      </p:sp>
      <p:sp>
        <p:nvSpPr>
          <p:cNvPr id="3" name="Content Placeholder 2"/>
          <p:cNvSpPr>
            <a:spLocks noGrp="1"/>
          </p:cNvSpPr>
          <p:nvPr>
            <p:ph idx="1"/>
          </p:nvPr>
        </p:nvSpPr>
        <p:spPr/>
        <p:txBody>
          <a:bodyPr/>
          <a:lstStyle/>
          <a:p>
            <a:r>
              <a:rPr lang="en-US" dirty="0" smtClean="0"/>
              <a:t>The </a:t>
            </a:r>
            <a:r>
              <a:rPr lang="en-US" dirty="0"/>
              <a:t>network model is an extension of the hierarchical model, allowing a more flexible structure where multiple </a:t>
            </a:r>
            <a:r>
              <a:rPr lang="en-US"/>
              <a:t>parent-child </a:t>
            </a:r>
            <a:r>
              <a:rPr lang="en-US" smtClean="0"/>
              <a:t> relationships </a:t>
            </a:r>
            <a:r>
              <a:rPr lang="en-US" dirty="0"/>
              <a:t>(many-to-many) exist.</a:t>
            </a:r>
          </a:p>
          <a:p>
            <a:r>
              <a:rPr lang="en-US" dirty="0"/>
              <a:t>Example:</a:t>
            </a:r>
            <a:br>
              <a:rPr lang="en-US" dirty="0"/>
            </a:br>
            <a:r>
              <a:rPr lang="en-US" dirty="0"/>
              <a:t>Student1 ──&gt; </a:t>
            </a:r>
            <a:r>
              <a:rPr lang="en-US" dirty="0" err="1"/>
              <a:t>CourseA</a:t>
            </a:r>
            <a:r>
              <a:rPr lang="en-US" dirty="0"/>
              <a:t/>
            </a:r>
            <a:br>
              <a:rPr lang="en-US" dirty="0"/>
            </a:br>
            <a:r>
              <a:rPr lang="en-US" dirty="0"/>
              <a:t>Student1 ──&gt; </a:t>
            </a:r>
            <a:r>
              <a:rPr lang="en-US" dirty="0" err="1"/>
              <a:t>CourseB</a:t>
            </a:r>
            <a:r>
              <a:rPr lang="en-US" dirty="0"/>
              <a:t/>
            </a:r>
            <a:br>
              <a:rPr lang="en-US" dirty="0"/>
            </a:br>
            <a:r>
              <a:rPr lang="en-US" dirty="0"/>
              <a:t>Student2 ──&gt; </a:t>
            </a:r>
            <a:r>
              <a:rPr lang="en-US" dirty="0" err="1"/>
              <a:t>CourseA</a:t>
            </a:r>
            <a:r>
              <a:rPr lang="en-US" dirty="0"/>
              <a:t/>
            </a:r>
            <a:br>
              <a:rPr lang="en-US" dirty="0"/>
            </a:br>
            <a:r>
              <a:rPr lang="en-US" dirty="0"/>
              <a:t>Student3 ──&gt; </a:t>
            </a:r>
            <a:r>
              <a:rPr lang="en-US" dirty="0" err="1"/>
              <a:t>CourseC</a:t>
            </a:r>
            <a:endParaRPr lang="en-US" dirty="0"/>
          </a:p>
          <a:p>
            <a:endParaRPr lang="en-US" dirty="0"/>
          </a:p>
        </p:txBody>
      </p:sp>
    </p:spTree>
    <p:extLst>
      <p:ext uri="{BB962C8B-B14F-4D97-AF65-F5344CB8AC3E}">
        <p14:creationId xmlns:p14="http://schemas.microsoft.com/office/powerpoint/2010/main" val="42666892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Relational Data Model</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 </a:t>
            </a:r>
            <a:r>
              <a:rPr lang="en-US" dirty="0"/>
              <a:t>this model, data is stored in tables (relations) with rows (tuples) and columns (attributes). Relationships between tables are maintained using keys.</a:t>
            </a:r>
          </a:p>
          <a:p>
            <a:r>
              <a:rPr lang="en-US" dirty="0"/>
              <a:t>Example Tables:</a:t>
            </a:r>
            <a:br>
              <a:rPr lang="en-US" dirty="0"/>
            </a:br>
            <a:r>
              <a:rPr lang="en-US" dirty="0"/>
              <a:t/>
            </a:r>
            <a:br>
              <a:rPr lang="en-US" dirty="0"/>
            </a:br>
            <a:r>
              <a:rPr lang="en-US" dirty="0"/>
              <a:t>Students Table:</a:t>
            </a:r>
            <a:br>
              <a:rPr lang="en-US" dirty="0"/>
            </a:br>
            <a:r>
              <a:rPr lang="en-US" dirty="0"/>
              <a:t>| </a:t>
            </a:r>
            <a:r>
              <a:rPr lang="en-US" dirty="0" err="1"/>
              <a:t>Student_ID</a:t>
            </a:r>
            <a:r>
              <a:rPr lang="en-US" dirty="0"/>
              <a:t> | Name  | Age |</a:t>
            </a:r>
            <a:br>
              <a:rPr lang="en-US" dirty="0"/>
            </a:br>
            <a:r>
              <a:rPr lang="en-US" dirty="0" smtClean="0"/>
              <a:t>|-----------       -|--- -         |-----|</a:t>
            </a:r>
            <a:r>
              <a:rPr lang="en-US" dirty="0"/>
              <a:t/>
            </a:r>
            <a:br>
              <a:rPr lang="en-US" dirty="0"/>
            </a:br>
            <a:r>
              <a:rPr lang="en-US" dirty="0"/>
              <a:t>| 101       </a:t>
            </a:r>
            <a:r>
              <a:rPr lang="en-US" dirty="0" smtClean="0"/>
              <a:t>         </a:t>
            </a:r>
            <a:r>
              <a:rPr lang="en-US" dirty="0"/>
              <a:t>| Alice | 20  |</a:t>
            </a:r>
            <a:br>
              <a:rPr lang="en-US" dirty="0"/>
            </a:br>
            <a:r>
              <a:rPr lang="en-US" dirty="0"/>
              <a:t>| 102      </a:t>
            </a:r>
            <a:r>
              <a:rPr lang="en-US" dirty="0" smtClean="0"/>
              <a:t>          | </a:t>
            </a:r>
            <a:r>
              <a:rPr lang="en-US" dirty="0"/>
              <a:t>Bob   | 22  |</a:t>
            </a:r>
            <a:br>
              <a:rPr lang="en-US" dirty="0"/>
            </a:br>
            <a:r>
              <a:rPr lang="en-US" dirty="0"/>
              <a:t/>
            </a:r>
            <a:br>
              <a:rPr lang="en-US" dirty="0"/>
            </a:br>
            <a:r>
              <a:rPr lang="en-US" dirty="0"/>
              <a:t>Courses Table:</a:t>
            </a:r>
            <a:br>
              <a:rPr lang="en-US" dirty="0"/>
            </a:br>
            <a:r>
              <a:rPr lang="en-US" dirty="0"/>
              <a:t>| </a:t>
            </a:r>
            <a:r>
              <a:rPr lang="en-US" dirty="0" err="1"/>
              <a:t>Course_ID</a:t>
            </a:r>
            <a:r>
              <a:rPr lang="en-US" dirty="0"/>
              <a:t> | </a:t>
            </a:r>
            <a:r>
              <a:rPr lang="en-US" dirty="0" err="1"/>
              <a:t>Course_Name</a:t>
            </a:r>
            <a:r>
              <a:rPr lang="en-US" dirty="0"/>
              <a:t> | </a:t>
            </a:r>
            <a:r>
              <a:rPr lang="en-US" dirty="0" err="1"/>
              <a:t>Student_ID</a:t>
            </a:r>
            <a:r>
              <a:rPr lang="en-US" dirty="0"/>
              <a:t> |</a:t>
            </a:r>
            <a:br>
              <a:rPr lang="en-US" dirty="0"/>
            </a:br>
            <a:r>
              <a:rPr lang="en-US" dirty="0" smtClean="0"/>
              <a:t>|----------      -|-----------           --|----------      --|</a:t>
            </a:r>
            <a:r>
              <a:rPr lang="en-US" dirty="0"/>
              <a:t/>
            </a:r>
            <a:br>
              <a:rPr lang="en-US" dirty="0"/>
            </a:br>
            <a:r>
              <a:rPr lang="en-US" dirty="0"/>
              <a:t>| CSE101    </a:t>
            </a:r>
            <a:r>
              <a:rPr lang="en-US" dirty="0" smtClean="0"/>
              <a:t>   | </a:t>
            </a:r>
            <a:r>
              <a:rPr lang="en-US" dirty="0"/>
              <a:t>Data Science </a:t>
            </a:r>
            <a:r>
              <a:rPr lang="en-US" dirty="0" smtClean="0"/>
              <a:t>    | </a:t>
            </a:r>
            <a:r>
              <a:rPr lang="en-US" dirty="0"/>
              <a:t>101        |</a:t>
            </a:r>
            <a:br>
              <a:rPr lang="en-US" dirty="0"/>
            </a:br>
            <a:r>
              <a:rPr lang="en-US" dirty="0"/>
              <a:t>| MTH201    | Calculus    </a:t>
            </a:r>
            <a:r>
              <a:rPr lang="en-US" dirty="0" smtClean="0"/>
              <a:t>          </a:t>
            </a:r>
            <a:r>
              <a:rPr lang="en-US" dirty="0"/>
              <a:t>| 102        |</a:t>
            </a:r>
          </a:p>
          <a:p>
            <a:endParaRPr lang="en-US" dirty="0"/>
          </a:p>
        </p:txBody>
      </p:sp>
    </p:spTree>
    <p:extLst>
      <p:ext uri="{BB962C8B-B14F-4D97-AF65-F5344CB8AC3E}">
        <p14:creationId xmlns:p14="http://schemas.microsoft.com/office/powerpoint/2010/main" val="39845787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Object-Oriented Data Model</a:t>
            </a:r>
            <a:br>
              <a:rPr lang="en-US" b="1" dirty="0"/>
            </a:br>
            <a:endParaRPr lang="en-US" dirty="0"/>
          </a:p>
        </p:txBody>
      </p:sp>
      <p:sp>
        <p:nvSpPr>
          <p:cNvPr id="3" name="Content Placeholder 2"/>
          <p:cNvSpPr>
            <a:spLocks noGrp="1"/>
          </p:cNvSpPr>
          <p:nvPr>
            <p:ph idx="1"/>
          </p:nvPr>
        </p:nvSpPr>
        <p:spPr/>
        <p:txBody>
          <a:bodyPr/>
          <a:lstStyle/>
          <a:p>
            <a:r>
              <a:rPr lang="en-US" dirty="0" smtClean="0"/>
              <a:t>This </a:t>
            </a:r>
            <a:r>
              <a:rPr lang="en-US" dirty="0"/>
              <a:t>model combines the features of object-oriented programming (OOP) and databases, treating data as objects.</a:t>
            </a:r>
          </a:p>
          <a:p>
            <a:r>
              <a:rPr lang="en-US" dirty="0"/>
              <a:t>Example:</a:t>
            </a:r>
            <a:br>
              <a:rPr lang="en-US" dirty="0"/>
            </a:br>
            <a:r>
              <a:rPr lang="en-US" dirty="0"/>
              <a:t>Class: Product</a:t>
            </a:r>
            <a:br>
              <a:rPr lang="en-US" dirty="0"/>
            </a:br>
            <a:r>
              <a:rPr lang="en-US" dirty="0"/>
              <a:t>Attributes: </a:t>
            </a:r>
            <a:r>
              <a:rPr lang="en-US" dirty="0" err="1"/>
              <a:t>Product_ID</a:t>
            </a:r>
            <a:r>
              <a:rPr lang="en-US" dirty="0"/>
              <a:t>, Name, Price</a:t>
            </a:r>
            <a:br>
              <a:rPr lang="en-US" dirty="0"/>
            </a:br>
            <a:r>
              <a:rPr lang="en-US" dirty="0"/>
              <a:t>Methods: </a:t>
            </a:r>
            <a:r>
              <a:rPr lang="en-US" dirty="0" err="1"/>
              <a:t>calculateDiscount</a:t>
            </a:r>
            <a:r>
              <a:rPr lang="en-US" dirty="0"/>
              <a:t>()</a:t>
            </a:r>
          </a:p>
          <a:p>
            <a:endParaRPr lang="en-US" dirty="0"/>
          </a:p>
        </p:txBody>
      </p:sp>
    </p:spTree>
    <p:extLst>
      <p:ext uri="{BB962C8B-B14F-4D97-AF65-F5344CB8AC3E}">
        <p14:creationId xmlns:p14="http://schemas.microsoft.com/office/powerpoint/2010/main" val="7371521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Comparison of Data Models</a:t>
            </a:r>
            <a:br>
              <a:rPr lang="en-US" b="1"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56958994"/>
              </p:ext>
            </p:extLst>
          </p:nvPr>
        </p:nvGraphicFramePr>
        <p:xfrm>
          <a:off x="228600" y="1676400"/>
          <a:ext cx="8686800" cy="4808792"/>
        </p:xfrm>
        <a:graphic>
          <a:graphicData uri="http://schemas.openxmlformats.org/drawingml/2006/table">
            <a:tbl>
              <a:tblPr firstRow="1" firstCol="1" bandRow="1">
                <a:tableStyleId>{5C22544A-7EE6-4342-B048-85BDC9FD1C3A}</a:tableStyleId>
              </a:tblPr>
              <a:tblGrid>
                <a:gridCol w="1623701"/>
                <a:gridCol w="1881499"/>
                <a:gridCol w="1706880"/>
                <a:gridCol w="1450612"/>
                <a:gridCol w="2024108"/>
              </a:tblGrid>
              <a:tr h="608552">
                <a:tc>
                  <a:txBody>
                    <a:bodyPr/>
                    <a:lstStyle/>
                    <a:p>
                      <a:pPr marL="0" marR="0">
                        <a:lnSpc>
                          <a:spcPct val="115000"/>
                        </a:lnSpc>
                        <a:spcBef>
                          <a:spcPts val="0"/>
                        </a:spcBef>
                        <a:spcAft>
                          <a:spcPts val="0"/>
                        </a:spcAft>
                      </a:pPr>
                      <a:r>
                        <a:rPr lang="en-US" sz="2400">
                          <a:effectLst/>
                        </a:rPr>
                        <a:t>Feature</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Hierarchical</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Network</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Relational</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Object-Oriented</a:t>
                      </a:r>
                      <a:endParaRPr lang="en-US" sz="2400">
                        <a:effectLst/>
                        <a:latin typeface="Cambria"/>
                        <a:ea typeface="MS Mincho"/>
                        <a:cs typeface="Times New Roman"/>
                      </a:endParaRPr>
                    </a:p>
                  </a:txBody>
                  <a:tcPr marL="68580" marR="68580" marT="0" marB="0"/>
                </a:tc>
              </a:tr>
              <a:tr h="608552">
                <a:tc>
                  <a:txBody>
                    <a:bodyPr/>
                    <a:lstStyle/>
                    <a:p>
                      <a:pPr marL="0" marR="0">
                        <a:lnSpc>
                          <a:spcPct val="115000"/>
                        </a:lnSpc>
                        <a:spcBef>
                          <a:spcPts val="0"/>
                        </a:spcBef>
                        <a:spcAft>
                          <a:spcPts val="0"/>
                        </a:spcAft>
                      </a:pPr>
                      <a:r>
                        <a:rPr lang="en-US" sz="2400">
                          <a:effectLst/>
                        </a:rPr>
                        <a:t>Structure</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Tree</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Graph</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Tables</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Objects</a:t>
                      </a:r>
                      <a:endParaRPr lang="en-US" sz="2400">
                        <a:effectLst/>
                        <a:latin typeface="Cambria"/>
                        <a:ea typeface="MS Mincho"/>
                        <a:cs typeface="Times New Roman"/>
                      </a:endParaRPr>
                    </a:p>
                  </a:txBody>
                  <a:tcPr marL="68580" marR="68580" marT="0" marB="0"/>
                </a:tc>
              </a:tr>
              <a:tr h="1258872">
                <a:tc>
                  <a:txBody>
                    <a:bodyPr/>
                    <a:lstStyle/>
                    <a:p>
                      <a:pPr marL="0" marR="0">
                        <a:lnSpc>
                          <a:spcPct val="115000"/>
                        </a:lnSpc>
                        <a:spcBef>
                          <a:spcPts val="0"/>
                        </a:spcBef>
                        <a:spcAft>
                          <a:spcPts val="0"/>
                        </a:spcAft>
                      </a:pPr>
                      <a:r>
                        <a:rPr lang="en-US" sz="2400">
                          <a:effectLst/>
                        </a:rPr>
                        <a:t>Relationship Type</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1:N</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M:N</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M:N</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Complex Objects</a:t>
                      </a:r>
                      <a:endParaRPr lang="en-US" sz="2400">
                        <a:effectLst/>
                        <a:latin typeface="Cambria"/>
                        <a:ea typeface="MS Mincho"/>
                        <a:cs typeface="Times New Roman"/>
                      </a:endParaRPr>
                    </a:p>
                  </a:txBody>
                  <a:tcPr marL="68580" marR="68580" marT="0" marB="0"/>
                </a:tc>
              </a:tr>
              <a:tr h="608552">
                <a:tc>
                  <a:txBody>
                    <a:bodyPr/>
                    <a:lstStyle/>
                    <a:p>
                      <a:pPr marL="0" marR="0">
                        <a:lnSpc>
                          <a:spcPct val="115000"/>
                        </a:lnSpc>
                        <a:spcBef>
                          <a:spcPts val="0"/>
                        </a:spcBef>
                        <a:spcAft>
                          <a:spcPts val="0"/>
                        </a:spcAft>
                      </a:pPr>
                      <a:r>
                        <a:rPr lang="en-US" sz="2400">
                          <a:effectLst/>
                        </a:rPr>
                        <a:t>Query Flexibility</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Low</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Moderate</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High</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High</a:t>
                      </a:r>
                      <a:endParaRPr lang="en-US" sz="2400">
                        <a:effectLst/>
                        <a:latin typeface="Cambria"/>
                        <a:ea typeface="MS Mincho"/>
                        <a:cs typeface="Times New Roman"/>
                      </a:endParaRPr>
                    </a:p>
                  </a:txBody>
                  <a:tcPr marL="68580" marR="68580" marT="0" marB="0"/>
                </a:tc>
              </a:tr>
              <a:tr h="1258872">
                <a:tc>
                  <a:txBody>
                    <a:bodyPr/>
                    <a:lstStyle/>
                    <a:p>
                      <a:pPr marL="0" marR="0">
                        <a:lnSpc>
                          <a:spcPct val="115000"/>
                        </a:lnSpc>
                        <a:spcBef>
                          <a:spcPts val="0"/>
                        </a:spcBef>
                        <a:spcAft>
                          <a:spcPts val="0"/>
                        </a:spcAft>
                      </a:pPr>
                      <a:r>
                        <a:rPr lang="en-US" sz="2400">
                          <a:effectLst/>
                        </a:rPr>
                        <a:t>Example Use Case</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File Systems</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Banking</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Business</a:t>
                      </a:r>
                      <a:endParaRPr lang="en-US" sz="24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CAD, Multimedia</a:t>
                      </a:r>
                      <a:endParaRPr lang="en-US" sz="2400" dirty="0">
                        <a:effectLst/>
                        <a:latin typeface="Cambria"/>
                        <a:ea typeface="MS Mincho"/>
                        <a:cs typeface="Times New Roman"/>
                      </a:endParaRPr>
                    </a:p>
                  </a:txBody>
                  <a:tcPr marL="68580" marR="68580" marT="0" marB="0"/>
                </a:tc>
              </a:tr>
            </a:tbl>
          </a:graphicData>
        </a:graphic>
      </p:graphicFrame>
    </p:spTree>
    <p:extLst>
      <p:ext uri="{BB962C8B-B14F-4D97-AF65-F5344CB8AC3E}">
        <p14:creationId xmlns:p14="http://schemas.microsoft.com/office/powerpoint/2010/main" val="32423638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Entity-Relationship Model</a:t>
            </a:r>
            <a:endParaRPr lang="en-US" dirty="0"/>
          </a:p>
        </p:txBody>
      </p:sp>
      <p:sp>
        <p:nvSpPr>
          <p:cNvPr id="3" name="Content Placeholder 2"/>
          <p:cNvSpPr>
            <a:spLocks noGrp="1"/>
          </p:cNvSpPr>
          <p:nvPr>
            <p:ph idx="1"/>
          </p:nvPr>
        </p:nvSpPr>
        <p:spPr>
          <a:xfrm>
            <a:off x="457200" y="1600200"/>
            <a:ext cx="7772400" cy="5105400"/>
          </a:xfrm>
        </p:spPr>
        <p:txBody>
          <a:bodyPr/>
          <a:lstStyle/>
          <a:p>
            <a:r>
              <a:rPr lang="en-US" sz="2400" dirty="0"/>
              <a:t>Entity-Relationship (ER) Model is based on the notion of real-world entities and relationships among them. While formulating real-world scenario into the database model, the ER Model creates entity set, relationship set, general attributes and constraints.</a:t>
            </a:r>
          </a:p>
          <a:p>
            <a:r>
              <a:rPr lang="en-US" sz="2400" b="1" dirty="0">
                <a:solidFill>
                  <a:srgbClr val="FF0000"/>
                </a:solidFill>
              </a:rPr>
              <a:t>ER Model is best used for the conceptual design of a database.</a:t>
            </a:r>
          </a:p>
          <a:p>
            <a:r>
              <a:rPr lang="en-US" sz="2400" dirty="0"/>
              <a:t>ER Model is based on −</a:t>
            </a:r>
          </a:p>
          <a:p>
            <a:r>
              <a:rPr lang="en-US" sz="2400" b="1" dirty="0"/>
              <a:t>Entities</a:t>
            </a:r>
            <a:r>
              <a:rPr lang="en-US" sz="2400" dirty="0"/>
              <a:t> and their </a:t>
            </a:r>
            <a:r>
              <a:rPr lang="en-US" sz="2400" i="1" dirty="0"/>
              <a:t>attributes.</a:t>
            </a:r>
            <a:endParaRPr lang="en-US" sz="2400" dirty="0"/>
          </a:p>
          <a:p>
            <a:r>
              <a:rPr lang="en-US" sz="2400" b="1" dirty="0"/>
              <a:t>Relationships</a:t>
            </a:r>
            <a:r>
              <a:rPr lang="en-US" sz="2400" dirty="0"/>
              <a:t> among entities</a:t>
            </a:r>
          </a:p>
          <a:p>
            <a:r>
              <a:rPr lang="en-US" sz="2400" dirty="0" smtClean="0"/>
              <a:t>In </a:t>
            </a:r>
            <a:r>
              <a:rPr lang="en-US" sz="2400" dirty="0"/>
              <a:t>ER modeling, the database structure is portrayed as a diagram called an </a:t>
            </a:r>
            <a:r>
              <a:rPr lang="en-US" sz="2400" b="1" dirty="0" smtClean="0"/>
              <a:t>Entity-relationship </a:t>
            </a:r>
            <a:r>
              <a:rPr lang="en-US" sz="2400" b="1" dirty="0"/>
              <a:t>diagram</a:t>
            </a:r>
          </a:p>
        </p:txBody>
      </p:sp>
    </p:spTree>
    <p:extLst>
      <p:ext uri="{BB962C8B-B14F-4D97-AF65-F5344CB8AC3E}">
        <p14:creationId xmlns:p14="http://schemas.microsoft.com/office/powerpoint/2010/main" val="23379560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222222"/>
              </a:buClr>
              <a:buSzPts val="4400"/>
              <a:buFont typeface="Calibri"/>
              <a:buNone/>
            </a:pPr>
            <a:r>
              <a:rPr lang="en-US" b="1" i="0">
                <a:solidFill>
                  <a:srgbClr val="222222"/>
                </a:solidFill>
                <a:latin typeface="Calibri"/>
                <a:ea typeface="Calibri"/>
                <a:cs typeface="Calibri"/>
                <a:sym typeface="Calibri"/>
              </a:rPr>
              <a:t>Why use ER Diagrams?</a:t>
            </a:r>
            <a:br>
              <a:rPr lang="en-US" b="1" i="0">
                <a:solidFill>
                  <a:srgbClr val="222222"/>
                </a:solidFill>
                <a:latin typeface="Calibri"/>
                <a:ea typeface="Calibri"/>
                <a:cs typeface="Calibri"/>
                <a:sym typeface="Calibri"/>
              </a:rPr>
            </a:br>
            <a:endParaRPr>
              <a:latin typeface="Calibri"/>
              <a:ea typeface="Calibri"/>
              <a:cs typeface="Calibri"/>
              <a:sym typeface="Calibri"/>
            </a:endParaRPr>
          </a:p>
        </p:txBody>
      </p:sp>
      <p:sp>
        <p:nvSpPr>
          <p:cNvPr id="116" name="Google Shape;116;p6"/>
          <p:cNvSpPr txBox="1">
            <a:spLocks noGrp="1"/>
          </p:cNvSpPr>
          <p:nvPr>
            <p:ph type="body" idx="1"/>
          </p:nvPr>
        </p:nvSpPr>
        <p:spPr>
          <a:xfrm>
            <a:off x="288235" y="1258957"/>
            <a:ext cx="7865165" cy="5233918"/>
          </a:xfrm>
          <a:prstGeom prst="rect">
            <a:avLst/>
          </a:prstGeom>
          <a:noFill/>
          <a:ln>
            <a:noFill/>
          </a:ln>
        </p:spPr>
        <p:txBody>
          <a:bodyPr spcFirstLastPara="1" wrap="square" lIns="91425" tIns="45700" rIns="91425" bIns="45700" anchor="t" anchorCtr="0">
            <a:normAutofit fontScale="92500"/>
          </a:bodyPr>
          <a:lstStyle/>
          <a:p>
            <a:pPr marL="228600" lvl="0" indent="-228600" algn="just" rtl="0">
              <a:lnSpc>
                <a:spcPct val="90000"/>
              </a:lnSpc>
              <a:spcBef>
                <a:spcPts val="0"/>
              </a:spcBef>
              <a:spcAft>
                <a:spcPts val="0"/>
              </a:spcAft>
              <a:buClr>
                <a:srgbClr val="000099"/>
              </a:buClr>
              <a:buSzPts val="2800"/>
              <a:buFont typeface="Arial"/>
              <a:buChar char="•"/>
            </a:pPr>
            <a:r>
              <a:rPr lang="en-US" b="1" i="0" dirty="0">
                <a:solidFill>
                  <a:srgbClr val="000099"/>
                </a:solidFill>
              </a:rPr>
              <a:t>Helps you to define terms related to entity relationship modeling</a:t>
            </a:r>
            <a:endParaRPr dirty="0"/>
          </a:p>
          <a:p>
            <a:pPr marL="228600" lvl="0" indent="-228600" algn="just" rtl="0">
              <a:lnSpc>
                <a:spcPct val="90000"/>
              </a:lnSpc>
              <a:spcBef>
                <a:spcPts val="1000"/>
              </a:spcBef>
              <a:spcAft>
                <a:spcPts val="0"/>
              </a:spcAft>
              <a:buClr>
                <a:srgbClr val="C00000"/>
              </a:buClr>
              <a:buSzPts val="2800"/>
              <a:buFont typeface="Arial"/>
              <a:buChar char="•"/>
            </a:pPr>
            <a:r>
              <a:rPr lang="en-US" b="1" i="0" dirty="0">
                <a:solidFill>
                  <a:srgbClr val="C00000"/>
                </a:solidFill>
              </a:rPr>
              <a:t>Provide a preview of how all your tables should connect</a:t>
            </a:r>
            <a:r>
              <a:rPr lang="en-US" b="0" i="0" dirty="0">
                <a:solidFill>
                  <a:srgbClr val="222222"/>
                </a:solidFill>
              </a:rPr>
              <a:t>, </a:t>
            </a:r>
            <a:r>
              <a:rPr lang="en-US" b="1" i="0" dirty="0">
                <a:solidFill>
                  <a:srgbClr val="000099"/>
                </a:solidFill>
              </a:rPr>
              <a:t>what fields are going to be on each table</a:t>
            </a:r>
            <a:endParaRPr dirty="0"/>
          </a:p>
          <a:p>
            <a:pPr marL="228600" lvl="0" indent="-228600" algn="just" rtl="0">
              <a:lnSpc>
                <a:spcPct val="90000"/>
              </a:lnSpc>
              <a:spcBef>
                <a:spcPts val="1000"/>
              </a:spcBef>
              <a:spcAft>
                <a:spcPts val="0"/>
              </a:spcAft>
              <a:buClr>
                <a:srgbClr val="222222"/>
              </a:buClr>
              <a:buSzPts val="2800"/>
              <a:buFont typeface="Arial"/>
              <a:buChar char="•"/>
            </a:pPr>
            <a:r>
              <a:rPr lang="en-US" b="0" i="0" dirty="0">
                <a:solidFill>
                  <a:srgbClr val="222222"/>
                </a:solidFill>
              </a:rPr>
              <a:t>Helps to </a:t>
            </a:r>
            <a:r>
              <a:rPr lang="en-US" b="1" i="0" dirty="0">
                <a:solidFill>
                  <a:srgbClr val="000099"/>
                </a:solidFill>
              </a:rPr>
              <a:t>describe entities, attributes, relationships</a:t>
            </a:r>
            <a:endParaRPr dirty="0"/>
          </a:p>
          <a:p>
            <a:pPr marL="228600" lvl="0" indent="-228600" algn="just" rtl="0">
              <a:lnSpc>
                <a:spcPct val="90000"/>
              </a:lnSpc>
              <a:spcBef>
                <a:spcPts val="1000"/>
              </a:spcBef>
              <a:spcAft>
                <a:spcPts val="0"/>
              </a:spcAft>
              <a:buClr>
                <a:srgbClr val="C00000"/>
              </a:buClr>
              <a:buSzPts val="2800"/>
              <a:buFont typeface="Arial"/>
              <a:buChar char="•"/>
            </a:pPr>
            <a:r>
              <a:rPr lang="en-US" b="1" i="0" dirty="0">
                <a:solidFill>
                  <a:srgbClr val="C00000"/>
                </a:solidFill>
              </a:rPr>
              <a:t>ER diagrams are translatable into relational tables </a:t>
            </a:r>
            <a:r>
              <a:rPr lang="en-US" b="0" i="0" dirty="0">
                <a:solidFill>
                  <a:srgbClr val="222222"/>
                </a:solidFill>
              </a:rPr>
              <a:t>which allows you to build databases quickly</a:t>
            </a:r>
            <a:endParaRPr dirty="0"/>
          </a:p>
          <a:p>
            <a:pPr marL="228600" lvl="0" indent="-228600" algn="just" rtl="0">
              <a:lnSpc>
                <a:spcPct val="90000"/>
              </a:lnSpc>
              <a:spcBef>
                <a:spcPts val="1000"/>
              </a:spcBef>
              <a:spcAft>
                <a:spcPts val="0"/>
              </a:spcAft>
              <a:buClr>
                <a:srgbClr val="222222"/>
              </a:buClr>
              <a:buSzPts val="2800"/>
              <a:buFont typeface="Arial"/>
              <a:buChar char="•"/>
            </a:pPr>
            <a:r>
              <a:rPr lang="en-US" b="0" i="0" dirty="0">
                <a:solidFill>
                  <a:srgbClr val="222222"/>
                </a:solidFill>
              </a:rPr>
              <a:t>ER diagrams can be used by </a:t>
            </a:r>
            <a:r>
              <a:rPr lang="en-US" b="1" i="0" dirty="0">
                <a:solidFill>
                  <a:srgbClr val="000099"/>
                </a:solidFill>
              </a:rPr>
              <a:t>database designers as a blueprint </a:t>
            </a:r>
            <a:r>
              <a:rPr lang="en-US" b="0" i="0" dirty="0">
                <a:solidFill>
                  <a:srgbClr val="222222"/>
                </a:solidFill>
              </a:rPr>
              <a:t>for implementing data in specific software applications</a:t>
            </a:r>
            <a:endParaRPr dirty="0"/>
          </a:p>
          <a:p>
            <a:pPr marL="228600" lvl="0" indent="-228600" algn="just" rtl="0">
              <a:lnSpc>
                <a:spcPct val="90000"/>
              </a:lnSpc>
              <a:spcBef>
                <a:spcPts val="1000"/>
              </a:spcBef>
              <a:spcAft>
                <a:spcPts val="0"/>
              </a:spcAft>
              <a:buClr>
                <a:srgbClr val="222222"/>
              </a:buClr>
              <a:buSzPts val="2800"/>
              <a:buFont typeface="Arial"/>
              <a:buChar char="•"/>
            </a:pPr>
            <a:r>
              <a:rPr lang="en-US" b="0" i="0" dirty="0">
                <a:solidFill>
                  <a:srgbClr val="222222"/>
                </a:solidFill>
              </a:rPr>
              <a:t>The </a:t>
            </a:r>
            <a:r>
              <a:rPr lang="en-US" b="1" i="0" dirty="0">
                <a:solidFill>
                  <a:srgbClr val="000099"/>
                </a:solidFill>
              </a:rPr>
              <a:t>database designer gains a better understanding of the information to be contained in the database </a:t>
            </a:r>
            <a:r>
              <a:rPr lang="en-US" b="0" i="0" dirty="0">
                <a:solidFill>
                  <a:srgbClr val="222222"/>
                </a:solidFill>
              </a:rPr>
              <a:t>with the help of ERP diagram</a:t>
            </a:r>
            <a:endParaRPr dirty="0"/>
          </a:p>
          <a:p>
            <a:pPr marL="228600" lvl="0" indent="-228600" algn="just" rtl="0">
              <a:lnSpc>
                <a:spcPct val="90000"/>
              </a:lnSpc>
              <a:spcBef>
                <a:spcPts val="1000"/>
              </a:spcBef>
              <a:spcAft>
                <a:spcPts val="0"/>
              </a:spcAft>
              <a:buClr>
                <a:srgbClr val="222222"/>
              </a:buClr>
              <a:buSzPts val="2800"/>
              <a:buFont typeface="Arial"/>
              <a:buChar char="•"/>
            </a:pPr>
            <a:r>
              <a:rPr lang="en-US" b="0" i="0" dirty="0">
                <a:solidFill>
                  <a:srgbClr val="222222"/>
                </a:solidFill>
              </a:rPr>
              <a:t>ERD </a:t>
            </a:r>
            <a:r>
              <a:rPr lang="en-US" b="1" i="0" dirty="0">
                <a:solidFill>
                  <a:srgbClr val="C00000"/>
                </a:solidFill>
              </a:rPr>
              <a:t>Diagram allows you to communicate with the logical structure of the database to users</a:t>
            </a:r>
            <a:endParaRPr dirty="0"/>
          </a:p>
          <a:p>
            <a:pPr marL="228600" lvl="0" indent="-50800" algn="l" rtl="0">
              <a:lnSpc>
                <a:spcPct val="90000"/>
              </a:lnSpc>
              <a:spcBef>
                <a:spcPts val="1000"/>
              </a:spcBef>
              <a:spcAft>
                <a:spcPts val="0"/>
              </a:spcAft>
              <a:buClr>
                <a:schemeClr val="dk1"/>
              </a:buClr>
              <a:buSzPts val="2800"/>
              <a:buNone/>
            </a:pPr>
            <a:endParaRPr dirty="0"/>
          </a:p>
        </p:txBody>
      </p:sp>
    </p:spTree>
    <p:extLst>
      <p:ext uri="{BB962C8B-B14F-4D97-AF65-F5344CB8AC3E}">
        <p14:creationId xmlns:p14="http://schemas.microsoft.com/office/powerpoint/2010/main" val="27170147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381000" y="228600"/>
            <a:ext cx="7696200" cy="659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98944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8"/>
          <p:cNvSpPr txBox="1">
            <a:spLocks noGrp="1"/>
          </p:cNvSpPr>
          <p:nvPr>
            <p:ph type="title"/>
          </p:nvPr>
        </p:nvSpPr>
        <p:spPr>
          <a:xfrm>
            <a:off x="141633" y="196822"/>
            <a:ext cx="52578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Calibri"/>
              <a:buNone/>
            </a:pPr>
            <a:r>
              <a:rPr lang="en-US" sz="4000" b="1" i="0" u="none" strike="noStrike" dirty="0">
                <a:latin typeface="Calibri"/>
                <a:ea typeface="Calibri"/>
                <a:cs typeface="Calibri"/>
                <a:sym typeface="Calibri"/>
              </a:rPr>
              <a:t>Entity Relationship (ER) Model</a:t>
            </a:r>
            <a:r>
              <a:rPr lang="en-US" sz="4400" b="1" i="0" u="none" strike="noStrike" dirty="0"/>
              <a:t/>
            </a:r>
            <a:br>
              <a:rPr lang="en-US" sz="4400" b="1" i="0" u="none" strike="noStrike" dirty="0"/>
            </a:br>
            <a:endParaRPr dirty="0"/>
          </a:p>
        </p:txBody>
      </p:sp>
      <p:sp>
        <p:nvSpPr>
          <p:cNvPr id="130" name="Google Shape;130;p8"/>
          <p:cNvSpPr txBox="1">
            <a:spLocks noGrp="1"/>
          </p:cNvSpPr>
          <p:nvPr>
            <p:ph type="body" idx="1"/>
          </p:nvPr>
        </p:nvSpPr>
        <p:spPr>
          <a:xfrm>
            <a:off x="238539" y="975691"/>
            <a:ext cx="4403036" cy="5326684"/>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0099"/>
              </a:buClr>
              <a:buSzPts val="2800"/>
              <a:buFont typeface="Arial"/>
              <a:buChar char="•"/>
            </a:pPr>
            <a:r>
              <a:rPr lang="en-US" b="1" i="0" dirty="0">
                <a:solidFill>
                  <a:srgbClr val="000099"/>
                </a:solidFill>
                <a:latin typeface="Inter"/>
                <a:ea typeface="Inter"/>
                <a:cs typeface="Inter"/>
                <a:sym typeface="Inter"/>
              </a:rPr>
              <a:t>ER diagrams are created based on three basic concepts: entities, attributes, and relationships.</a:t>
            </a:r>
            <a:endParaRPr b="1" dirty="0">
              <a:solidFill>
                <a:srgbClr val="000099"/>
              </a:solidFill>
            </a:endParaRPr>
          </a:p>
        </p:txBody>
      </p:sp>
      <p:pic>
        <p:nvPicPr>
          <p:cNvPr id="131" name="Google Shape;131;p8"/>
          <p:cNvPicPr preferRelativeResize="0"/>
          <p:nvPr/>
        </p:nvPicPr>
        <p:blipFill rotWithShape="1">
          <a:blip r:embed="rId3">
            <a:alphaModFix/>
          </a:blip>
          <a:srcRect/>
          <a:stretch/>
        </p:blipFill>
        <p:spPr>
          <a:xfrm>
            <a:off x="4724401" y="0"/>
            <a:ext cx="4419600" cy="2209800"/>
          </a:xfrm>
          <a:prstGeom prst="rect">
            <a:avLst/>
          </a:prstGeom>
          <a:noFill/>
          <a:ln>
            <a:noFill/>
          </a:ln>
        </p:spPr>
      </p:pic>
      <p:pic>
        <p:nvPicPr>
          <p:cNvPr id="132" name="Google Shape;132;p8" descr="Components of the ER Diagram"/>
          <p:cNvPicPr preferRelativeResize="0"/>
          <p:nvPr/>
        </p:nvPicPr>
        <p:blipFill rotWithShape="1">
          <a:blip r:embed="rId4">
            <a:alphaModFix/>
          </a:blip>
          <a:srcRect/>
          <a:stretch/>
        </p:blipFill>
        <p:spPr>
          <a:xfrm>
            <a:off x="1570703" y="2743200"/>
            <a:ext cx="7573297" cy="4213935"/>
          </a:xfrm>
          <a:prstGeom prst="rect">
            <a:avLst/>
          </a:prstGeom>
          <a:noFill/>
          <a:ln>
            <a:noFill/>
          </a:ln>
        </p:spPr>
      </p:pic>
    </p:spTree>
    <p:extLst>
      <p:ext uri="{BB962C8B-B14F-4D97-AF65-F5344CB8AC3E}">
        <p14:creationId xmlns:p14="http://schemas.microsoft.com/office/powerpoint/2010/main" val="10018436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Entity</a:t>
            </a:r>
            <a:endParaRPr lang="en-US" dirty="0"/>
          </a:p>
        </p:txBody>
      </p:sp>
      <p:sp>
        <p:nvSpPr>
          <p:cNvPr id="3" name="Content Placeholder 2"/>
          <p:cNvSpPr>
            <a:spLocks noGrp="1"/>
          </p:cNvSpPr>
          <p:nvPr>
            <p:ph idx="1"/>
          </p:nvPr>
        </p:nvSpPr>
        <p:spPr/>
        <p:txBody>
          <a:bodyPr>
            <a:normAutofit fontScale="92500"/>
          </a:bodyPr>
          <a:lstStyle/>
          <a:p>
            <a:pPr algn="just"/>
            <a:r>
              <a:rPr lang="en-US" sz="2800" dirty="0" smtClean="0"/>
              <a:t>An </a:t>
            </a:r>
            <a:r>
              <a:rPr lang="en-US" sz="2800" dirty="0"/>
              <a:t>entity in an ER Model is a real-world </a:t>
            </a:r>
            <a:r>
              <a:rPr lang="en-US" sz="2800" dirty="0" smtClean="0"/>
              <a:t>object.</a:t>
            </a:r>
          </a:p>
          <a:p>
            <a:pPr algn="just"/>
            <a:r>
              <a:rPr lang="en-US" sz="2800" dirty="0"/>
              <a:t>An </a:t>
            </a:r>
            <a:r>
              <a:rPr lang="en-US" sz="2800" b="1" dirty="0"/>
              <a:t>entity </a:t>
            </a:r>
            <a:r>
              <a:rPr lang="en-US" sz="2800" dirty="0"/>
              <a:t>is a “thing” or “object” in the real world that is distinguishable from </a:t>
            </a:r>
            <a:r>
              <a:rPr lang="en-US" sz="2800" dirty="0" smtClean="0"/>
              <a:t>all other </a:t>
            </a:r>
            <a:r>
              <a:rPr lang="en-US" sz="2800" dirty="0"/>
              <a:t>objects. </a:t>
            </a:r>
            <a:endParaRPr lang="en-US" sz="2800" dirty="0" smtClean="0"/>
          </a:p>
          <a:p>
            <a:pPr marL="114300" indent="0" algn="just">
              <a:buNone/>
            </a:pPr>
            <a:r>
              <a:rPr lang="en-US" sz="2800" b="1" dirty="0" smtClean="0"/>
              <a:t>    For </a:t>
            </a:r>
            <a:r>
              <a:rPr lang="en-US" sz="2800" b="1" dirty="0"/>
              <a:t>example</a:t>
            </a:r>
            <a:r>
              <a:rPr lang="en-US" sz="2800" dirty="0"/>
              <a:t>, each person in an enterprise is an </a:t>
            </a:r>
            <a:r>
              <a:rPr lang="en-US" sz="2800" dirty="0" smtClean="0"/>
              <a:t>entity.</a:t>
            </a:r>
          </a:p>
          <a:p>
            <a:r>
              <a:rPr lang="en-US" sz="2800" dirty="0"/>
              <a:t>Each entity has </a:t>
            </a:r>
            <a:r>
              <a:rPr lang="en-US" sz="2800" b="1" dirty="0"/>
              <a:t>attributes</a:t>
            </a:r>
            <a:r>
              <a:rPr lang="en-US" sz="2800" dirty="0"/>
              <a:t>—the particular properties that describe it</a:t>
            </a:r>
            <a:r>
              <a:rPr lang="en-US" sz="2800" dirty="0" smtClean="0"/>
              <a:t>.</a:t>
            </a:r>
            <a:r>
              <a:rPr lang="en-US" sz="2800" dirty="0"/>
              <a:t> </a:t>
            </a:r>
            <a:r>
              <a:rPr lang="en-US" sz="2800" dirty="0" smtClean="0"/>
              <a:t> Or Attributes </a:t>
            </a:r>
            <a:r>
              <a:rPr lang="en-US" sz="2800" dirty="0"/>
              <a:t>are descriptive </a:t>
            </a:r>
            <a:r>
              <a:rPr lang="en-US" sz="2800" dirty="0" smtClean="0"/>
              <a:t>properties possessed </a:t>
            </a:r>
            <a:r>
              <a:rPr lang="en-US" sz="2800" dirty="0"/>
              <a:t>by each member of an entity set.</a:t>
            </a:r>
            <a:endParaRPr lang="en-US" sz="2800" dirty="0" smtClean="0"/>
          </a:p>
          <a:p>
            <a:pPr marL="114300" indent="0" algn="just">
              <a:buNone/>
            </a:pPr>
            <a:r>
              <a:rPr lang="en-US" sz="2800" b="1" dirty="0"/>
              <a:t> </a:t>
            </a:r>
            <a:r>
              <a:rPr lang="en-US" sz="2800" b="1" dirty="0" smtClean="0"/>
              <a:t>    </a:t>
            </a:r>
            <a:r>
              <a:rPr lang="en-US" sz="2800" b="1" dirty="0"/>
              <a:t>For example</a:t>
            </a:r>
            <a:r>
              <a:rPr lang="en-US" sz="2800" dirty="0"/>
              <a:t>, an employee entity may be described by the employee’s name, age, address, salary, and job</a:t>
            </a:r>
            <a:r>
              <a:rPr lang="en-US" dirty="0"/>
              <a:t>.</a:t>
            </a:r>
            <a:endParaRPr lang="en-US" dirty="0" smtClean="0"/>
          </a:p>
          <a:p>
            <a:pPr marL="114300" indent="0" algn="just">
              <a:buNone/>
            </a:pPr>
            <a:endParaRPr lang="en-US" dirty="0" smtClean="0"/>
          </a:p>
          <a:p>
            <a:endParaRPr lang="en-US" dirty="0"/>
          </a:p>
        </p:txBody>
      </p:sp>
    </p:spTree>
    <p:extLst>
      <p:ext uri="{BB962C8B-B14F-4D97-AF65-F5344CB8AC3E}">
        <p14:creationId xmlns:p14="http://schemas.microsoft.com/office/powerpoint/2010/main" val="11625433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620000" cy="1143000"/>
          </a:xfrm>
        </p:spPr>
        <p:txBody>
          <a:bodyPr/>
          <a:lstStyle/>
          <a:p>
            <a:pPr lvl="0"/>
            <a:r>
              <a:rPr lang="en-US" b="1" dirty="0"/>
              <a:t>Weak Entity</a:t>
            </a:r>
            <a:endParaRPr lang="en-US" dirty="0"/>
          </a:p>
        </p:txBody>
      </p:sp>
      <p:sp>
        <p:nvSpPr>
          <p:cNvPr id="3" name="Content Placeholder 2"/>
          <p:cNvSpPr>
            <a:spLocks noGrp="1"/>
          </p:cNvSpPr>
          <p:nvPr>
            <p:ph idx="1"/>
          </p:nvPr>
        </p:nvSpPr>
        <p:spPr>
          <a:xfrm>
            <a:off x="381000" y="990600"/>
            <a:ext cx="7696200" cy="5410200"/>
          </a:xfrm>
        </p:spPr>
        <p:txBody>
          <a:bodyPr/>
          <a:lstStyle/>
          <a:p>
            <a:pPr algn="just"/>
            <a:r>
              <a:rPr lang="en-US" b="1" dirty="0" smtClean="0"/>
              <a:t>An </a:t>
            </a:r>
            <a:r>
              <a:rPr lang="en-US" b="1" dirty="0"/>
              <a:t>entity that depends on another entity called a weak entity. </a:t>
            </a:r>
            <a:r>
              <a:rPr lang="en-US" dirty="0"/>
              <a:t>The weak entity doesn't contain any key attribute of its own. The weak entity is represented by a double </a:t>
            </a:r>
            <a:r>
              <a:rPr lang="en-US" dirty="0" smtClean="0"/>
              <a:t>rectangle.</a:t>
            </a:r>
          </a:p>
          <a:p>
            <a:pPr algn="just"/>
            <a:endParaRPr lang="en-US" dirty="0"/>
          </a:p>
        </p:txBody>
      </p:sp>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586154" y="3505200"/>
            <a:ext cx="7391400" cy="1828800"/>
          </a:xfrm>
          <a:prstGeom prst="rect">
            <a:avLst/>
          </a:prstGeom>
          <a:noFill/>
          <a:ln>
            <a:noFill/>
          </a:ln>
        </p:spPr>
      </p:pic>
    </p:spTree>
    <p:extLst>
      <p:ext uri="{BB962C8B-B14F-4D97-AF65-F5344CB8AC3E}">
        <p14:creationId xmlns:p14="http://schemas.microsoft.com/office/powerpoint/2010/main" val="312089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620" y="1524000"/>
            <a:ext cx="91440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58356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13252"/>
            <a:ext cx="7620000" cy="1143000"/>
          </a:xfrm>
        </p:spPr>
        <p:txBody>
          <a:bodyPr/>
          <a:lstStyle/>
          <a:p>
            <a:r>
              <a:rPr lang="en-US" dirty="0" smtClean="0"/>
              <a:t>Weak entity example</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6400"/>
            <a:ext cx="9144001"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04103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0" y="6858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68702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1143000"/>
          </a:xfrm>
        </p:spPr>
        <p:txBody>
          <a:bodyPr/>
          <a:lstStyle/>
          <a:p>
            <a:r>
              <a:rPr lang="en-US" b="1" dirty="0"/>
              <a:t>Total </a:t>
            </a:r>
            <a:r>
              <a:rPr lang="en-US" b="1" dirty="0" smtClean="0"/>
              <a:t> and Partial Participation</a:t>
            </a:r>
            <a:r>
              <a:rPr lang="en-US" b="1" dirty="0"/>
              <a:t> </a:t>
            </a:r>
          </a:p>
        </p:txBody>
      </p:sp>
      <p:sp>
        <p:nvSpPr>
          <p:cNvPr id="3" name="Content Placeholder 2"/>
          <p:cNvSpPr>
            <a:spLocks noGrp="1"/>
          </p:cNvSpPr>
          <p:nvPr>
            <p:ph idx="1"/>
          </p:nvPr>
        </p:nvSpPr>
        <p:spPr>
          <a:xfrm>
            <a:off x="457200" y="1295400"/>
            <a:ext cx="7620000" cy="4800600"/>
          </a:xfrm>
        </p:spPr>
        <p:txBody>
          <a:bodyPr>
            <a:normAutofit/>
          </a:bodyPr>
          <a:lstStyle/>
          <a:p>
            <a:pPr algn="just"/>
            <a:r>
              <a:rPr lang="en-US" sz="3200" b="1" dirty="0"/>
              <a:t>Total Participation </a:t>
            </a:r>
            <a:r>
              <a:rPr lang="en-US" sz="3200" dirty="0"/>
              <a:t>− Each entity is involved in the relationship. Total participation is represented by double lines. </a:t>
            </a:r>
            <a:endParaRPr lang="en-US" sz="3200" dirty="0" smtClean="0"/>
          </a:p>
          <a:p>
            <a:pPr algn="just"/>
            <a:r>
              <a:rPr lang="en-US" sz="3200" b="1" dirty="0" smtClean="0"/>
              <a:t>Partial </a:t>
            </a:r>
            <a:r>
              <a:rPr lang="en-US" sz="3200" b="1" dirty="0"/>
              <a:t>participation </a:t>
            </a:r>
            <a:r>
              <a:rPr lang="en-US" sz="3200" dirty="0"/>
              <a:t>− Not all entities are involved in the relationship. Partial participation is represented by single lines.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5105399"/>
            <a:ext cx="6248400" cy="1752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46748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83" y="1219200"/>
            <a:ext cx="9021417" cy="1661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04" y="2880794"/>
            <a:ext cx="9144000" cy="1842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124" y="4953000"/>
            <a:ext cx="8998760" cy="1706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2667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620000" cy="1143000"/>
          </a:xfrm>
        </p:spPr>
        <p:txBody>
          <a:bodyPr/>
          <a:lstStyle/>
          <a:p>
            <a:r>
              <a:rPr lang="en-US" b="1" dirty="0" smtClean="0"/>
              <a:t>Entity set</a:t>
            </a:r>
            <a:endParaRPr lang="en-US" b="1" dirty="0"/>
          </a:p>
        </p:txBody>
      </p:sp>
      <p:sp>
        <p:nvSpPr>
          <p:cNvPr id="3" name="Content Placeholder 2"/>
          <p:cNvSpPr>
            <a:spLocks noGrp="1"/>
          </p:cNvSpPr>
          <p:nvPr>
            <p:ph idx="1"/>
          </p:nvPr>
        </p:nvSpPr>
        <p:spPr>
          <a:xfrm>
            <a:off x="0" y="762000"/>
            <a:ext cx="3886200" cy="6096000"/>
          </a:xfrm>
        </p:spPr>
        <p:txBody>
          <a:bodyPr>
            <a:normAutofit/>
          </a:bodyPr>
          <a:lstStyle/>
          <a:p>
            <a:pPr lvl="0" algn="just"/>
            <a:r>
              <a:rPr lang="en-US" dirty="0"/>
              <a:t>An entity set is a set of entities of the same type that share the same properties, or attributes. The set of all persons who are customers at a given bank, for example, can be defined as the entity set customer.</a:t>
            </a:r>
          </a:p>
          <a:p>
            <a:pPr lvl="0" algn="just"/>
            <a:r>
              <a:rPr lang="en-US" dirty="0"/>
              <a:t>The individual entities that constitute a set are said to be the extension of the entity set. Thus, all the individual bank customers are the extension of the entity set customer.</a:t>
            </a:r>
          </a:p>
          <a:p>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960" y="922020"/>
            <a:ext cx="5257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85027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Attribute</a:t>
            </a:r>
            <a:r>
              <a:rPr lang="en-US" dirty="0"/>
              <a:t/>
            </a:r>
            <a:br>
              <a:rPr lang="en-US" dirty="0"/>
            </a:br>
            <a:endParaRPr lang="en-US" dirty="0"/>
          </a:p>
        </p:txBody>
      </p:sp>
      <p:sp>
        <p:nvSpPr>
          <p:cNvPr id="3" name="Content Placeholder 2"/>
          <p:cNvSpPr>
            <a:spLocks noGrp="1"/>
          </p:cNvSpPr>
          <p:nvPr>
            <p:ph idx="1"/>
          </p:nvPr>
        </p:nvSpPr>
        <p:spPr>
          <a:xfrm>
            <a:off x="381000" y="1181101"/>
            <a:ext cx="7620000" cy="4800600"/>
          </a:xfrm>
        </p:spPr>
        <p:txBody>
          <a:bodyPr>
            <a:normAutofit/>
          </a:bodyPr>
          <a:lstStyle/>
          <a:p>
            <a:r>
              <a:rPr lang="en-US" sz="2800" dirty="0"/>
              <a:t>The attribute is used to describe the property of an entity</a:t>
            </a:r>
            <a:r>
              <a:rPr lang="en-US" sz="2800" dirty="0" smtClean="0"/>
              <a:t>.</a:t>
            </a:r>
          </a:p>
          <a:p>
            <a:r>
              <a:rPr lang="en-US" sz="2800" b="1" dirty="0"/>
              <a:t>For example,</a:t>
            </a:r>
            <a:r>
              <a:rPr lang="en-US" sz="2800" dirty="0"/>
              <a:t> id, age, contact number, name, etc. can be attributes of a student</a:t>
            </a:r>
            <a:r>
              <a:rPr lang="en-US" sz="2800" dirty="0" smtClean="0"/>
              <a:t>.</a:t>
            </a:r>
          </a:p>
          <a:p>
            <a:endParaRPr lang="en-US"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276599"/>
            <a:ext cx="6629400" cy="3440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99922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7848600" cy="6172200"/>
          </a:xfrm>
        </p:spPr>
        <p:txBody>
          <a:bodyPr/>
          <a:lstStyle/>
          <a:p>
            <a:pPr>
              <a:buFont typeface="Wingdings" pitchFamily="2" charset="2"/>
              <a:buChar char="q"/>
            </a:pPr>
            <a:r>
              <a:rPr lang="en-US" sz="2800" b="1" u="sng" dirty="0"/>
              <a:t> Key </a:t>
            </a:r>
            <a:r>
              <a:rPr lang="en-US" sz="2800" b="1" u="sng" dirty="0" smtClean="0"/>
              <a:t>Attribute</a:t>
            </a:r>
          </a:p>
          <a:p>
            <a:pPr algn="just"/>
            <a:r>
              <a:rPr lang="en-US" sz="2800" dirty="0"/>
              <a:t>The key attribute is used to represent the main characteristics of an entity. It represents a primary key. The key attribute is represented by an ellipse with the text </a:t>
            </a:r>
            <a:r>
              <a:rPr lang="en-US" sz="2800" dirty="0" smtClean="0"/>
              <a:t>underlined.</a:t>
            </a:r>
            <a:endParaRPr lang="en-US" sz="28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743200"/>
            <a:ext cx="70104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63431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7772400" cy="6019800"/>
          </a:xfrm>
        </p:spPr>
        <p:txBody>
          <a:bodyPr>
            <a:normAutofit/>
          </a:bodyPr>
          <a:lstStyle/>
          <a:p>
            <a:pPr>
              <a:buFont typeface="Wingdings" pitchFamily="2" charset="2"/>
              <a:buChar char="q"/>
            </a:pPr>
            <a:r>
              <a:rPr lang="en-US" sz="2800" b="1" dirty="0"/>
              <a:t>Simple </a:t>
            </a:r>
            <a:r>
              <a:rPr lang="en-US" sz="2800" b="1" dirty="0" smtClean="0"/>
              <a:t>attribute</a:t>
            </a:r>
          </a:p>
          <a:p>
            <a:r>
              <a:rPr lang="en-US" sz="2800" dirty="0"/>
              <a:t>Simple attributes can’t be divided any further. For example, a student’s </a:t>
            </a:r>
            <a:r>
              <a:rPr lang="en-US" sz="2800" dirty="0" err="1" smtClean="0"/>
              <a:t>dept_name</a:t>
            </a:r>
            <a:r>
              <a:rPr lang="en-US" sz="2800" dirty="0" smtClean="0"/>
              <a:t>. </a:t>
            </a:r>
            <a:r>
              <a:rPr lang="en-US" sz="2800" dirty="0"/>
              <a:t>It is also called an </a:t>
            </a:r>
            <a:r>
              <a:rPr lang="en-US" sz="2800" b="1" dirty="0">
                <a:solidFill>
                  <a:srgbClr val="7030A0"/>
                </a:solidFill>
              </a:rPr>
              <a:t>atomic value</a:t>
            </a:r>
            <a:r>
              <a:rPr lang="en-US" sz="2800" dirty="0" smtClean="0"/>
              <a:t>.</a:t>
            </a:r>
          </a:p>
          <a:p>
            <a:r>
              <a:rPr lang="en-US" sz="2800" b="1" dirty="0" smtClean="0"/>
              <a:t>Composite attribute</a:t>
            </a:r>
          </a:p>
          <a:p>
            <a:r>
              <a:rPr lang="en-US" sz="2800" dirty="0" smtClean="0"/>
              <a:t>It </a:t>
            </a:r>
            <a:r>
              <a:rPr lang="en-US" sz="2800" dirty="0"/>
              <a:t>is possible to break down composite attribute. For example, a student’s full name may be further divided into first name, second name, and last name.</a:t>
            </a:r>
          </a:p>
        </p:txBody>
      </p:sp>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038600"/>
            <a:ext cx="5333999"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48891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7696200" cy="6096000"/>
          </a:xfrm>
        </p:spPr>
        <p:txBody>
          <a:bodyPr>
            <a:normAutofit/>
          </a:bodyPr>
          <a:lstStyle/>
          <a:p>
            <a:pPr>
              <a:buFont typeface="Wingdings" pitchFamily="2" charset="2"/>
              <a:buChar char="q"/>
            </a:pPr>
            <a:r>
              <a:rPr lang="en-US" sz="2800" b="1" dirty="0" smtClean="0"/>
              <a:t>Derived attribute</a:t>
            </a:r>
          </a:p>
          <a:p>
            <a:pPr marL="114300" indent="0" algn="just">
              <a:buNone/>
            </a:pPr>
            <a:r>
              <a:rPr lang="en-US" sz="2800" dirty="0"/>
              <a:t>This type of attribute does not include in the physical database. However, their values are derived from other attributes present in the database. For example, age should not be stored directly. Instead, it should be derived from the DOB of that employee</a:t>
            </a:r>
            <a:r>
              <a:rPr lang="en-US" sz="2800" dirty="0" smtClean="0"/>
              <a:t>.</a:t>
            </a:r>
          </a:p>
          <a:p>
            <a:pPr marL="114300" indent="0" algn="just">
              <a:buNone/>
            </a:pPr>
            <a:endParaRPr lang="en-US" sz="2800" dirty="0" smtClean="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831" y="3657600"/>
            <a:ext cx="8040414"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67344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7620000" cy="5638800"/>
          </a:xfrm>
        </p:spPr>
        <p:txBody>
          <a:bodyPr/>
          <a:lstStyle/>
          <a:p>
            <a:pPr algn="just">
              <a:buFont typeface="Wingdings" pitchFamily="2" charset="2"/>
              <a:buChar char="q"/>
            </a:pPr>
            <a:r>
              <a:rPr lang="en-US" sz="2800" b="1" dirty="0"/>
              <a:t>Multivalued attribute</a:t>
            </a:r>
          </a:p>
          <a:p>
            <a:pPr marL="114300" indent="0" algn="just">
              <a:buNone/>
            </a:pPr>
            <a:r>
              <a:rPr lang="en-US" sz="2800" dirty="0"/>
              <a:t>Multivalued attributes can have more than one values. For example, a student can have more than one mobile number, email address, etc.</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2590800"/>
            <a:ext cx="8055153"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76840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2400"/>
            <a:ext cx="85344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25089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title"/>
          </p:nvPr>
        </p:nvSpPr>
        <p:spPr>
          <a:xfrm>
            <a:off x="72059" y="501030"/>
            <a:ext cx="3052141"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222222"/>
              </a:buClr>
              <a:buSzPts val="4400"/>
              <a:buFont typeface="Calibri"/>
              <a:buNone/>
            </a:pPr>
            <a:r>
              <a:rPr lang="en-US" b="1" i="0" dirty="0">
                <a:solidFill>
                  <a:srgbClr val="222222"/>
                </a:solidFill>
                <a:latin typeface="Calibri"/>
                <a:ea typeface="Calibri"/>
                <a:cs typeface="Calibri"/>
                <a:sym typeface="Calibri"/>
              </a:rPr>
              <a:t>ER Diagram Symbols</a:t>
            </a:r>
            <a:endParaRPr dirty="0">
              <a:latin typeface="Calibri"/>
              <a:ea typeface="Calibri"/>
              <a:cs typeface="Calibri"/>
              <a:sym typeface="Calibri"/>
            </a:endParaRPr>
          </a:p>
        </p:txBody>
      </p:sp>
      <p:sp>
        <p:nvSpPr>
          <p:cNvPr id="122" name="Google Shape;122;p7"/>
          <p:cNvSpPr txBox="1">
            <a:spLocks noGrp="1"/>
          </p:cNvSpPr>
          <p:nvPr>
            <p:ph type="body" idx="1"/>
          </p:nvPr>
        </p:nvSpPr>
        <p:spPr>
          <a:xfrm>
            <a:off x="316655" y="2425149"/>
            <a:ext cx="8517835" cy="4067727"/>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rgbClr val="222222"/>
              </a:buClr>
              <a:buSzPct val="100000"/>
              <a:buFont typeface="Arial"/>
              <a:buChar char="•"/>
            </a:pPr>
            <a:r>
              <a:rPr lang="en-US" b="1" i="0" dirty="0">
                <a:solidFill>
                  <a:srgbClr val="222222"/>
                </a:solidFill>
              </a:rPr>
              <a:t>Rectangles: </a:t>
            </a:r>
            <a:r>
              <a:rPr lang="en-US" b="0" i="0" dirty="0">
                <a:solidFill>
                  <a:srgbClr val="222222"/>
                </a:solidFill>
              </a:rPr>
              <a:t>This Entity Relationship Diagram symbol represents entity types</a:t>
            </a:r>
            <a:endParaRPr dirty="0"/>
          </a:p>
          <a:p>
            <a:pPr marL="228600" lvl="0" indent="-228600" algn="just" rtl="0">
              <a:lnSpc>
                <a:spcPct val="100000"/>
              </a:lnSpc>
              <a:spcBef>
                <a:spcPts val="1000"/>
              </a:spcBef>
              <a:spcAft>
                <a:spcPts val="0"/>
              </a:spcAft>
              <a:buClr>
                <a:srgbClr val="222222"/>
              </a:buClr>
              <a:buSzPct val="100000"/>
              <a:buChar char="•"/>
            </a:pPr>
            <a:r>
              <a:rPr lang="en-US" b="1" dirty="0">
                <a:solidFill>
                  <a:srgbClr val="222222"/>
                </a:solidFill>
              </a:rPr>
              <a:t>Double Rectangles: </a:t>
            </a:r>
            <a:r>
              <a:rPr lang="en-US" dirty="0">
                <a:solidFill>
                  <a:srgbClr val="222222"/>
                </a:solidFill>
              </a:rPr>
              <a:t>Weak Entity Sets</a:t>
            </a:r>
            <a:endParaRPr dirty="0"/>
          </a:p>
          <a:p>
            <a:pPr marL="228600" lvl="0" indent="-228600" algn="just" rtl="0">
              <a:lnSpc>
                <a:spcPct val="90000"/>
              </a:lnSpc>
              <a:spcBef>
                <a:spcPts val="1000"/>
              </a:spcBef>
              <a:spcAft>
                <a:spcPts val="0"/>
              </a:spcAft>
              <a:buClr>
                <a:srgbClr val="222222"/>
              </a:buClr>
              <a:buSzPct val="100000"/>
              <a:buFont typeface="Arial"/>
              <a:buChar char="•"/>
            </a:pPr>
            <a:r>
              <a:rPr lang="en-US" b="1" i="0" dirty="0">
                <a:solidFill>
                  <a:srgbClr val="222222"/>
                </a:solidFill>
              </a:rPr>
              <a:t>Ellipses : </a:t>
            </a:r>
            <a:r>
              <a:rPr lang="en-US" b="0" i="0" dirty="0">
                <a:solidFill>
                  <a:srgbClr val="222222"/>
                </a:solidFill>
              </a:rPr>
              <a:t>Symbol represent attributes</a:t>
            </a:r>
            <a:endParaRPr dirty="0"/>
          </a:p>
          <a:p>
            <a:pPr marL="228600" lvl="0" indent="-228600" algn="just" rtl="0">
              <a:lnSpc>
                <a:spcPct val="90000"/>
              </a:lnSpc>
              <a:spcBef>
                <a:spcPts val="1000"/>
              </a:spcBef>
              <a:spcAft>
                <a:spcPts val="0"/>
              </a:spcAft>
              <a:buClr>
                <a:srgbClr val="222222"/>
              </a:buClr>
              <a:buSzPct val="100000"/>
              <a:buFont typeface="Arial"/>
              <a:buChar char="•"/>
            </a:pPr>
            <a:r>
              <a:rPr lang="en-US" b="1" i="0" dirty="0">
                <a:solidFill>
                  <a:srgbClr val="222222"/>
                </a:solidFill>
              </a:rPr>
              <a:t>Double Ellipses: </a:t>
            </a:r>
            <a:r>
              <a:rPr lang="en-US" b="0" i="0" dirty="0">
                <a:solidFill>
                  <a:srgbClr val="222222"/>
                </a:solidFill>
              </a:rPr>
              <a:t>Represent multi-valued attributes</a:t>
            </a:r>
            <a:endParaRPr dirty="0"/>
          </a:p>
          <a:p>
            <a:pPr marL="228600" lvl="0" indent="-228600" algn="just" rtl="0">
              <a:lnSpc>
                <a:spcPct val="90000"/>
              </a:lnSpc>
              <a:spcBef>
                <a:spcPts val="1000"/>
              </a:spcBef>
              <a:spcAft>
                <a:spcPts val="0"/>
              </a:spcAft>
              <a:buClr>
                <a:srgbClr val="222222"/>
              </a:buClr>
              <a:buSzPct val="100000"/>
              <a:buChar char="•"/>
            </a:pPr>
            <a:r>
              <a:rPr lang="en-US" b="1" dirty="0">
                <a:solidFill>
                  <a:srgbClr val="222222"/>
                </a:solidFill>
              </a:rPr>
              <a:t>Dashed Ellipses: </a:t>
            </a:r>
            <a:r>
              <a:rPr lang="en-US" dirty="0">
                <a:solidFill>
                  <a:srgbClr val="222222"/>
                </a:solidFill>
              </a:rPr>
              <a:t>Derived Attributes</a:t>
            </a:r>
            <a:endParaRPr b="0" i="0" dirty="0">
              <a:solidFill>
                <a:srgbClr val="222222"/>
              </a:solidFill>
            </a:endParaRPr>
          </a:p>
          <a:p>
            <a:pPr marL="228600" lvl="0" indent="-228600" algn="just" rtl="0">
              <a:lnSpc>
                <a:spcPct val="90000"/>
              </a:lnSpc>
              <a:spcBef>
                <a:spcPts val="1000"/>
              </a:spcBef>
              <a:spcAft>
                <a:spcPts val="0"/>
              </a:spcAft>
              <a:buClr>
                <a:srgbClr val="222222"/>
              </a:buClr>
              <a:buSzPct val="100000"/>
              <a:buFont typeface="Arial"/>
              <a:buChar char="•"/>
            </a:pPr>
            <a:r>
              <a:rPr lang="en-US" b="1" i="0" dirty="0">
                <a:solidFill>
                  <a:srgbClr val="222222"/>
                </a:solidFill>
              </a:rPr>
              <a:t>Diamonds: </a:t>
            </a:r>
            <a:r>
              <a:rPr lang="en-US" b="0" i="0" dirty="0">
                <a:solidFill>
                  <a:srgbClr val="222222"/>
                </a:solidFill>
              </a:rPr>
              <a:t>This symbol represents relationship types</a:t>
            </a:r>
            <a:endParaRPr dirty="0"/>
          </a:p>
          <a:p>
            <a:pPr marL="228600" lvl="0" indent="-228600" algn="just" rtl="0">
              <a:lnSpc>
                <a:spcPct val="90000"/>
              </a:lnSpc>
              <a:spcBef>
                <a:spcPts val="1000"/>
              </a:spcBef>
              <a:spcAft>
                <a:spcPts val="0"/>
              </a:spcAft>
              <a:buClr>
                <a:srgbClr val="222222"/>
              </a:buClr>
              <a:buSzPct val="100000"/>
              <a:buFont typeface="Arial"/>
              <a:buChar char="•"/>
            </a:pPr>
            <a:r>
              <a:rPr lang="en-US" b="1" i="0" dirty="0">
                <a:solidFill>
                  <a:srgbClr val="222222"/>
                </a:solidFill>
              </a:rPr>
              <a:t>Lines: </a:t>
            </a:r>
            <a:r>
              <a:rPr lang="en-US" b="0" i="0" dirty="0">
                <a:solidFill>
                  <a:srgbClr val="222222"/>
                </a:solidFill>
              </a:rPr>
              <a:t>It links attributes to entity types and entity types with other relationship types</a:t>
            </a:r>
            <a:endParaRPr dirty="0"/>
          </a:p>
          <a:p>
            <a:pPr marL="228600" lvl="0" indent="-228600" algn="just" rtl="0">
              <a:lnSpc>
                <a:spcPct val="90000"/>
              </a:lnSpc>
              <a:spcBef>
                <a:spcPts val="1000"/>
              </a:spcBef>
              <a:spcAft>
                <a:spcPts val="0"/>
              </a:spcAft>
              <a:buClr>
                <a:srgbClr val="222222"/>
              </a:buClr>
              <a:buSzPct val="100000"/>
              <a:buFont typeface="Arial"/>
              <a:buChar char="•"/>
            </a:pPr>
            <a:r>
              <a:rPr lang="en-US" b="1" i="0" dirty="0">
                <a:solidFill>
                  <a:srgbClr val="222222"/>
                </a:solidFill>
              </a:rPr>
              <a:t>Primary key: </a:t>
            </a:r>
            <a:r>
              <a:rPr lang="en-US" b="0" i="0" dirty="0">
                <a:solidFill>
                  <a:srgbClr val="222222"/>
                </a:solidFill>
              </a:rPr>
              <a:t>attributes are underlined</a:t>
            </a:r>
            <a:endParaRPr dirty="0"/>
          </a:p>
          <a:p>
            <a:pPr marL="228600" lvl="0" indent="-64135" algn="l" rtl="0">
              <a:lnSpc>
                <a:spcPct val="90000"/>
              </a:lnSpc>
              <a:spcBef>
                <a:spcPts val="1000"/>
              </a:spcBef>
              <a:spcAft>
                <a:spcPts val="0"/>
              </a:spcAft>
              <a:buClr>
                <a:schemeClr val="dk1"/>
              </a:buClr>
              <a:buSzPct val="100000"/>
              <a:buNone/>
            </a:pPr>
            <a:endParaRPr dirty="0"/>
          </a:p>
        </p:txBody>
      </p:sp>
      <p:pic>
        <p:nvPicPr>
          <p:cNvPr id="123" name="Google Shape;123;p7" descr="ER Diagram Symbols"/>
          <p:cNvPicPr preferRelativeResize="0"/>
          <p:nvPr/>
        </p:nvPicPr>
        <p:blipFill rotWithShape="1">
          <a:blip r:embed="rId3">
            <a:alphaModFix/>
          </a:blip>
          <a:srcRect/>
          <a:stretch/>
        </p:blipFill>
        <p:spPr>
          <a:xfrm>
            <a:off x="3737113" y="97426"/>
            <a:ext cx="5406887" cy="2142710"/>
          </a:xfrm>
          <a:prstGeom prst="rect">
            <a:avLst/>
          </a:prstGeom>
          <a:noFill/>
          <a:ln>
            <a:noFill/>
          </a:ln>
        </p:spPr>
      </p:pic>
      <p:pic>
        <p:nvPicPr>
          <p:cNvPr id="124" name="Google Shape;124;p7"/>
          <p:cNvPicPr preferRelativeResize="0"/>
          <p:nvPr/>
        </p:nvPicPr>
        <p:blipFill rotWithShape="1">
          <a:blip r:embed="rId4">
            <a:alphaModFix/>
          </a:blip>
          <a:srcRect/>
          <a:stretch/>
        </p:blipFill>
        <p:spPr>
          <a:xfrm>
            <a:off x="6769946" y="1468611"/>
            <a:ext cx="2064544" cy="771525"/>
          </a:xfrm>
          <a:prstGeom prst="rect">
            <a:avLst/>
          </a:prstGeom>
          <a:noFill/>
          <a:ln>
            <a:noFill/>
          </a:ln>
        </p:spPr>
      </p:pic>
    </p:spTree>
    <p:extLst>
      <p:ext uri="{BB962C8B-B14F-4D97-AF65-F5344CB8AC3E}">
        <p14:creationId xmlns:p14="http://schemas.microsoft.com/office/powerpoint/2010/main" val="33389373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a:t>
            </a:r>
            <a:r>
              <a:rPr lang="en-US" b="1" dirty="0" smtClean="0"/>
              <a:t>keys</a:t>
            </a:r>
            <a:r>
              <a:rPr lang="en-US" dirty="0"/>
              <a:t/>
            </a:r>
            <a:br>
              <a:rPr lang="en-US" dirty="0"/>
            </a:br>
            <a:endParaRPr lang="en-US" dirty="0"/>
          </a:p>
        </p:txBody>
      </p:sp>
      <p:sp>
        <p:nvSpPr>
          <p:cNvPr id="3" name="Content Placeholder 2"/>
          <p:cNvSpPr>
            <a:spLocks noGrp="1"/>
          </p:cNvSpPr>
          <p:nvPr>
            <p:ph idx="1"/>
          </p:nvPr>
        </p:nvSpPr>
        <p:spPr>
          <a:xfrm>
            <a:off x="381000" y="914400"/>
            <a:ext cx="7848600" cy="5334000"/>
          </a:xfrm>
        </p:spPr>
        <p:txBody>
          <a:bodyPr/>
          <a:lstStyle/>
          <a:p>
            <a:pPr fontAlgn="ctr"/>
            <a:r>
              <a:rPr lang="en-US" sz="2800" b="1" dirty="0"/>
              <a:t>KEYS in DBMS</a:t>
            </a:r>
          </a:p>
          <a:p>
            <a:r>
              <a:rPr lang="en-US" sz="2800" dirty="0" smtClean="0"/>
              <a:t>It</a:t>
            </a:r>
            <a:r>
              <a:rPr lang="en-US" sz="2800" dirty="0"/>
              <a:t> is an attribute or set of attributes which helps you to identify a row(tuple) in a relation(table). They allow you to find the relation between two tables</a:t>
            </a:r>
            <a:r>
              <a:rPr lang="en-US" sz="2800" dirty="0" smtClean="0"/>
              <a:t>.</a:t>
            </a:r>
          </a:p>
          <a:p>
            <a:r>
              <a:rPr lang="en-US" sz="2800" b="1" dirty="0" smtClean="0"/>
              <a:t>1</a:t>
            </a:r>
            <a:r>
              <a:rPr lang="en-US" sz="2800" b="1" dirty="0"/>
              <a:t>. Primary </a:t>
            </a:r>
            <a:r>
              <a:rPr lang="en-US" sz="2800" b="1" dirty="0" smtClean="0"/>
              <a:t>key</a:t>
            </a:r>
          </a:p>
          <a:p>
            <a:pPr marL="114300" indent="0">
              <a:buNone/>
            </a:pPr>
            <a:r>
              <a:rPr lang="en-US" sz="2800" dirty="0"/>
              <a:t>It is the first key used to identify one and only one instance of an entity uniquely.</a:t>
            </a:r>
            <a:endParaRPr lang="en-US" sz="2800" b="1" dirty="0"/>
          </a:p>
          <a:p>
            <a:endParaRPr lang="en-US"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8507"/>
          <a:stretch/>
        </p:blipFill>
        <p:spPr bwMode="auto">
          <a:xfrm>
            <a:off x="990600" y="4724400"/>
            <a:ext cx="5638800" cy="2068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43104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7772400" cy="5867400"/>
          </a:xfrm>
        </p:spPr>
        <p:txBody>
          <a:bodyPr/>
          <a:lstStyle/>
          <a:p>
            <a:pPr>
              <a:buFont typeface="Wingdings" pitchFamily="2" charset="2"/>
              <a:buChar char="q"/>
            </a:pPr>
            <a:r>
              <a:rPr lang="en-US" sz="2800" b="1" dirty="0" smtClean="0"/>
              <a:t>2. Super key</a:t>
            </a:r>
          </a:p>
          <a:p>
            <a:pPr marL="114300" indent="0" algn="just">
              <a:buNone/>
            </a:pPr>
            <a:r>
              <a:rPr lang="en-US" sz="2800" dirty="0"/>
              <a:t>Super key is an attribute set that can uniquely identify a tuple. A super key is a superset of a candidate </a:t>
            </a:r>
            <a:r>
              <a:rPr lang="en-US" sz="2800" dirty="0" smtClean="0"/>
              <a:t>key.</a:t>
            </a:r>
          </a:p>
          <a:p>
            <a:pPr algn="just"/>
            <a:r>
              <a:rPr lang="en-US" sz="2800" dirty="0"/>
              <a:t>There can be more than one super key in a table.</a:t>
            </a:r>
          </a:p>
          <a:p>
            <a:pPr>
              <a:buFont typeface="Wingdings" pitchFamily="2" charset="2"/>
              <a:buChar char="q"/>
            </a:pPr>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872154"/>
            <a:ext cx="7010400" cy="3760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36218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7696200" cy="6096000"/>
          </a:xfrm>
        </p:spPr>
        <p:txBody>
          <a:bodyPr>
            <a:normAutofit/>
          </a:bodyPr>
          <a:lstStyle/>
          <a:p>
            <a:pPr algn="just">
              <a:buFont typeface="Wingdings" pitchFamily="2" charset="2"/>
              <a:buChar char="q"/>
            </a:pPr>
            <a:r>
              <a:rPr lang="en-US" sz="2800" b="1" dirty="0"/>
              <a:t> </a:t>
            </a:r>
            <a:r>
              <a:rPr lang="en-US" sz="2800" b="1" dirty="0" smtClean="0"/>
              <a:t>3. Candidate </a:t>
            </a:r>
            <a:r>
              <a:rPr lang="en-US" sz="2800" b="1" dirty="0"/>
              <a:t>key</a:t>
            </a:r>
          </a:p>
          <a:p>
            <a:pPr algn="just"/>
            <a:r>
              <a:rPr lang="en-US" sz="2800" dirty="0" smtClean="0"/>
              <a:t> It is </a:t>
            </a:r>
            <a:r>
              <a:rPr lang="en-US" sz="2800" dirty="0"/>
              <a:t>a set of attributes that uniquely identify tuples in a </a:t>
            </a:r>
            <a:r>
              <a:rPr lang="en-US" sz="2800" dirty="0" smtClean="0"/>
              <a:t>table.   OR</a:t>
            </a:r>
          </a:p>
          <a:p>
            <a:pPr algn="just"/>
            <a:r>
              <a:rPr lang="en-US" sz="2800" dirty="0"/>
              <a:t>The minimal set of attributes that can uniquely identify a tuple is known as a candidate key. For Example, STUD_NO in STUDENT relation.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208514"/>
            <a:ext cx="6477000" cy="3643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12880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Candidate key </a:t>
            </a:r>
            <a:r>
              <a:rPr lang="en-US" dirty="0" err="1" smtClean="0"/>
              <a:t>Vs</a:t>
            </a:r>
            <a:r>
              <a:rPr lang="en-US" dirty="0" smtClean="0"/>
              <a:t> Super key</a:t>
            </a:r>
            <a:endParaRPr lang="en-US" dirty="0"/>
          </a:p>
        </p:txBody>
      </p:sp>
      <p:pic>
        <p:nvPicPr>
          <p:cNvPr id="2051" name="Picture 3"/>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619" y="1295400"/>
            <a:ext cx="9273649"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548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7924800" cy="6477000"/>
          </a:xfrm>
        </p:spPr>
        <p:txBody>
          <a:bodyPr>
            <a:normAutofit lnSpcReduction="10000"/>
          </a:bodyPr>
          <a:lstStyle/>
          <a:p>
            <a:pPr algn="just">
              <a:buFont typeface="Wingdings" pitchFamily="2" charset="2"/>
              <a:buChar char="q"/>
            </a:pPr>
            <a:r>
              <a:rPr lang="en-US" sz="2800" b="1" dirty="0"/>
              <a:t>4. Foreign key</a:t>
            </a:r>
          </a:p>
          <a:p>
            <a:pPr algn="just"/>
            <a:r>
              <a:rPr lang="en-US" sz="2800" dirty="0" smtClean="0"/>
              <a:t>Foreign </a:t>
            </a:r>
            <a:r>
              <a:rPr lang="en-US" sz="2800" dirty="0"/>
              <a:t>keys are the column of the table used to point to the primary key of another table</a:t>
            </a:r>
            <a:r>
              <a:rPr lang="en-US" sz="2800" dirty="0" smtClean="0"/>
              <a:t>.</a:t>
            </a:r>
            <a:r>
              <a:rPr lang="en-US" sz="2800" dirty="0"/>
              <a:t> A foreign key is a key used </a:t>
            </a:r>
            <a:r>
              <a:rPr lang="en-US" sz="2800" b="1" dirty="0"/>
              <a:t>to link two tables together</a:t>
            </a:r>
            <a:r>
              <a:rPr lang="en-US" sz="2800" dirty="0"/>
              <a:t>. </a:t>
            </a:r>
          </a:p>
          <a:p>
            <a:pPr algn="just"/>
            <a:r>
              <a:rPr lang="en-US" sz="2800" dirty="0"/>
              <a:t>Every employee works in a specific department in a company, and employee and department are two different entities. So we can't store the department's information in the employee table. That's why we link these two tables through the primary key of one table.</a:t>
            </a:r>
          </a:p>
          <a:p>
            <a:pPr algn="just"/>
            <a:r>
              <a:rPr lang="en-US" sz="2800" dirty="0"/>
              <a:t>We add the primary key of the DEPARTMENT table, </a:t>
            </a:r>
            <a:r>
              <a:rPr lang="en-US" sz="2800" dirty="0" err="1"/>
              <a:t>Department_Id</a:t>
            </a:r>
            <a:r>
              <a:rPr lang="en-US" sz="2800" dirty="0"/>
              <a:t>, as a new attribute in the EMPLOYEE table.</a:t>
            </a:r>
          </a:p>
          <a:p>
            <a:pPr algn="just"/>
            <a:r>
              <a:rPr lang="en-US" sz="2800" dirty="0"/>
              <a:t>In the EMPLOYEE table, </a:t>
            </a:r>
            <a:r>
              <a:rPr lang="en-US" sz="2800" dirty="0" err="1"/>
              <a:t>Department_Id</a:t>
            </a:r>
            <a:r>
              <a:rPr lang="en-US" sz="2800" dirty="0"/>
              <a:t> is the foreign key, and both the tables are related.</a:t>
            </a:r>
          </a:p>
          <a:p>
            <a:endParaRPr lang="en-US" dirty="0"/>
          </a:p>
        </p:txBody>
      </p:sp>
    </p:spTree>
    <p:extLst>
      <p:ext uri="{BB962C8B-B14F-4D97-AF65-F5344CB8AC3E}">
        <p14:creationId xmlns:p14="http://schemas.microsoft.com/office/powerpoint/2010/main" val="316537786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smtClean="0"/>
              <a:t> </a:t>
            </a:r>
            <a:r>
              <a:rPr lang="en-US" sz="4800" b="1" dirty="0"/>
              <a:t>Foreign </a:t>
            </a:r>
            <a:r>
              <a:rPr lang="en-US" sz="4800" b="1" dirty="0" smtClean="0"/>
              <a:t>key </a:t>
            </a:r>
            <a:r>
              <a:rPr lang="en-US" sz="4800" b="1" dirty="0" err="1" smtClean="0"/>
              <a:t>cntd</a:t>
            </a:r>
            <a:r>
              <a:rPr lang="en-US" sz="4800" b="1" dirty="0" smtClean="0"/>
              <a:t>..</a:t>
            </a:r>
            <a:r>
              <a:rPr lang="en-US" sz="4800" b="1" dirty="0"/>
              <a:t/>
            </a:r>
            <a:br>
              <a:rPr lang="en-US" sz="4800" b="1" dirty="0"/>
            </a:br>
            <a:endParaRPr lang="en-US" dirty="0"/>
          </a:p>
        </p:txBody>
      </p:sp>
      <p:pic>
        <p:nvPicPr>
          <p:cNvPr id="3" name="Picture 2" descr="Foreign Keys in SQ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04999"/>
            <a:ext cx="8382000" cy="4235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9593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868362"/>
          </a:xfrm>
        </p:spPr>
        <p:txBody>
          <a:bodyPr/>
          <a:lstStyle/>
          <a:p>
            <a:r>
              <a:rPr lang="en-US" b="1" dirty="0"/>
              <a:t>Composite key</a:t>
            </a:r>
            <a:br>
              <a:rPr lang="en-US" b="1" dirty="0"/>
            </a:br>
            <a:endParaRPr lang="en-US" b="1" dirty="0"/>
          </a:p>
        </p:txBody>
      </p:sp>
      <p:sp>
        <p:nvSpPr>
          <p:cNvPr id="3" name="Content Placeholder 2"/>
          <p:cNvSpPr>
            <a:spLocks noGrp="1"/>
          </p:cNvSpPr>
          <p:nvPr>
            <p:ph idx="1"/>
          </p:nvPr>
        </p:nvSpPr>
        <p:spPr>
          <a:xfrm>
            <a:off x="304800" y="990600"/>
            <a:ext cx="7772400" cy="5638800"/>
          </a:xfrm>
        </p:spPr>
        <p:txBody>
          <a:bodyPr>
            <a:normAutofit/>
          </a:bodyPr>
          <a:lstStyle/>
          <a:p>
            <a:pPr algn="just"/>
            <a:r>
              <a:rPr lang="en-US" sz="2800" dirty="0"/>
              <a:t>Whenever a primary key consists of more than one attribute, it is known as a composite key. This key is also known as </a:t>
            </a:r>
            <a:r>
              <a:rPr lang="en-US" sz="2800" b="1" dirty="0">
                <a:solidFill>
                  <a:srgbClr val="7030A0"/>
                </a:solidFill>
              </a:rPr>
              <a:t>Concatenated Key</a:t>
            </a:r>
            <a:r>
              <a:rPr lang="en-US" sz="2800" dirty="0" smtClean="0"/>
              <a:t>.</a:t>
            </a:r>
          </a:p>
          <a:p>
            <a:pPr algn="just"/>
            <a:endParaRPr lang="en-US" sz="28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97" y="2895600"/>
            <a:ext cx="7694682"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27763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33542" t="19238" r="9288" b="46782"/>
          <a:stretch/>
        </p:blipFill>
        <p:spPr bwMode="auto">
          <a:xfrm>
            <a:off x="-25400" y="1417320"/>
            <a:ext cx="8986520" cy="4297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52642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Relational Integrity</a:t>
            </a:r>
            <a:endParaRPr lang="en-US" b="1" dirty="0"/>
          </a:p>
        </p:txBody>
      </p:sp>
      <p:sp>
        <p:nvSpPr>
          <p:cNvPr id="3" name="Content Placeholder 2"/>
          <p:cNvSpPr>
            <a:spLocks noGrp="1"/>
          </p:cNvSpPr>
          <p:nvPr>
            <p:ph idx="1"/>
          </p:nvPr>
        </p:nvSpPr>
        <p:spPr/>
        <p:txBody>
          <a:bodyPr>
            <a:normAutofit/>
          </a:bodyPr>
          <a:lstStyle/>
          <a:p>
            <a:pPr algn="just"/>
            <a:r>
              <a:rPr lang="en-US" sz="2800" dirty="0"/>
              <a:t>These integrity constraint  provide a way of ensuring that changes made to the database by authorized users do not results in a loss of data consistency and correctness</a:t>
            </a:r>
            <a:r>
              <a:rPr lang="en-US" sz="2800" dirty="0" smtClean="0"/>
              <a:t>.</a:t>
            </a:r>
          </a:p>
          <a:p>
            <a:pPr algn="just"/>
            <a:r>
              <a:rPr lang="en-US" sz="2800" b="1" dirty="0" smtClean="0"/>
              <a:t>Example:</a:t>
            </a:r>
          </a:p>
          <a:p>
            <a:pPr algn="just"/>
            <a:r>
              <a:rPr lang="en-US" sz="2800" dirty="0" smtClean="0"/>
              <a:t>Bank customer age should not less than 18.</a:t>
            </a:r>
          </a:p>
          <a:p>
            <a:pPr algn="just"/>
            <a:r>
              <a:rPr lang="en-US" sz="2800" dirty="0" smtClean="0"/>
              <a:t>No two customers can have same customer id.</a:t>
            </a:r>
          </a:p>
          <a:p>
            <a:pPr algn="just"/>
            <a:r>
              <a:rPr lang="en-US" sz="2800" dirty="0" smtClean="0"/>
              <a:t>Student can not take admission in branch that is  not available in the college.</a:t>
            </a:r>
            <a:endParaRPr lang="en-US" sz="2800" dirty="0"/>
          </a:p>
        </p:txBody>
      </p:sp>
    </p:spTree>
    <p:extLst>
      <p:ext uri="{BB962C8B-B14F-4D97-AF65-F5344CB8AC3E}">
        <p14:creationId xmlns:p14="http://schemas.microsoft.com/office/powerpoint/2010/main" val="21042249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620000" cy="1143000"/>
          </a:xfrm>
        </p:spPr>
        <p:txBody>
          <a:bodyPr/>
          <a:lstStyle/>
          <a:p>
            <a:r>
              <a:rPr lang="en-US" b="1" dirty="0"/>
              <a:t>Relationship</a:t>
            </a:r>
            <a:endParaRPr lang="en-US" dirty="0"/>
          </a:p>
        </p:txBody>
      </p:sp>
      <p:sp>
        <p:nvSpPr>
          <p:cNvPr id="3" name="Content Placeholder 2"/>
          <p:cNvSpPr>
            <a:spLocks noGrp="1"/>
          </p:cNvSpPr>
          <p:nvPr>
            <p:ph idx="1"/>
          </p:nvPr>
        </p:nvSpPr>
        <p:spPr>
          <a:xfrm>
            <a:off x="152400" y="1143000"/>
            <a:ext cx="8077200" cy="5562600"/>
          </a:xfrm>
        </p:spPr>
        <p:txBody>
          <a:bodyPr>
            <a:normAutofit/>
          </a:bodyPr>
          <a:lstStyle/>
          <a:p>
            <a:pPr algn="just"/>
            <a:r>
              <a:rPr lang="en-US" sz="2800" dirty="0"/>
              <a:t>The logical association among entities is called </a:t>
            </a:r>
            <a:r>
              <a:rPr lang="en-US" sz="2800" b="1" i="1" dirty="0"/>
              <a:t>relationship</a:t>
            </a:r>
            <a:r>
              <a:rPr lang="en-US" sz="2800" dirty="0"/>
              <a:t>. Relationships are mapped with entities in various ways. Mapping cardinalities define the number of association between two entities</a:t>
            </a:r>
            <a:r>
              <a:rPr lang="en-US" sz="2800" dirty="0" smtClean="0"/>
              <a:t>.</a:t>
            </a:r>
          </a:p>
          <a:p>
            <a:pPr algn="just"/>
            <a:endParaRPr lang="en-US" sz="28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5" y="3733800"/>
            <a:ext cx="84582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59994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077200" cy="5410200"/>
          </a:xfrm>
        </p:spPr>
        <p:txBody>
          <a:bodyPr>
            <a:normAutofit fontScale="92500" lnSpcReduction="20000"/>
          </a:bodyPr>
          <a:lstStyle/>
          <a:p>
            <a:pPr algn="just"/>
            <a:r>
              <a:rPr lang="en-US" sz="3200" b="1" dirty="0" smtClean="0">
                <a:solidFill>
                  <a:srgbClr val="7030A0"/>
                </a:solidFill>
              </a:rPr>
              <a:t>One </a:t>
            </a:r>
            <a:r>
              <a:rPr lang="en-US" sz="3200" b="1" dirty="0">
                <a:solidFill>
                  <a:srgbClr val="7030A0"/>
                </a:solidFill>
              </a:rPr>
              <a:t>to one </a:t>
            </a:r>
          </a:p>
          <a:p>
            <a:pPr marL="114300" indent="0" algn="just">
              <a:buNone/>
            </a:pPr>
            <a:r>
              <a:rPr lang="en-US" dirty="0" smtClean="0"/>
              <a:t> </a:t>
            </a:r>
            <a:r>
              <a:rPr lang="en-US" sz="2800" dirty="0" smtClean="0"/>
              <a:t> An </a:t>
            </a:r>
            <a:r>
              <a:rPr lang="en-US" sz="2800" dirty="0"/>
              <a:t>entity in </a:t>
            </a:r>
            <a:r>
              <a:rPr lang="en-US" sz="2800" i="1" dirty="0"/>
              <a:t>A </a:t>
            </a:r>
            <a:r>
              <a:rPr lang="en-US" sz="2800" dirty="0"/>
              <a:t>is associated with </a:t>
            </a:r>
            <a:r>
              <a:rPr lang="en-US" sz="2800" i="1" dirty="0"/>
              <a:t>at most </a:t>
            </a:r>
            <a:r>
              <a:rPr lang="en-US" sz="2800" dirty="0"/>
              <a:t>one entity in </a:t>
            </a:r>
            <a:r>
              <a:rPr lang="en-US" sz="2800" i="1" dirty="0"/>
              <a:t>B</a:t>
            </a:r>
            <a:r>
              <a:rPr lang="en-US" sz="2800" dirty="0"/>
              <a:t>, and </a:t>
            </a:r>
            <a:r>
              <a:rPr lang="en-US" sz="2800" dirty="0" smtClean="0"/>
              <a:t>an entity </a:t>
            </a:r>
            <a:r>
              <a:rPr lang="en-US" sz="2800" dirty="0"/>
              <a:t>in </a:t>
            </a:r>
            <a:r>
              <a:rPr lang="en-US" sz="2800" i="1" dirty="0"/>
              <a:t>B </a:t>
            </a:r>
            <a:r>
              <a:rPr lang="en-US" sz="2800" dirty="0"/>
              <a:t>is </a:t>
            </a:r>
            <a:r>
              <a:rPr lang="en-US" sz="2800" dirty="0" smtClean="0"/>
              <a:t>associated with </a:t>
            </a:r>
            <a:r>
              <a:rPr lang="en-US" sz="2800" i="1" dirty="0" smtClean="0"/>
              <a:t>at most </a:t>
            </a:r>
            <a:r>
              <a:rPr lang="en-US" sz="2800" dirty="0" smtClean="0"/>
              <a:t>one entity in </a:t>
            </a:r>
            <a:r>
              <a:rPr lang="en-US" sz="2800" i="1" dirty="0" smtClean="0"/>
              <a:t>A.</a:t>
            </a:r>
          </a:p>
          <a:p>
            <a:pPr algn="just"/>
            <a:r>
              <a:rPr lang="en-US" sz="3200" b="1" dirty="0">
                <a:solidFill>
                  <a:srgbClr val="7030A0"/>
                </a:solidFill>
              </a:rPr>
              <a:t>One </a:t>
            </a:r>
            <a:r>
              <a:rPr lang="en-US" sz="3200" b="1">
                <a:solidFill>
                  <a:srgbClr val="7030A0"/>
                </a:solidFill>
              </a:rPr>
              <a:t>to </a:t>
            </a:r>
            <a:r>
              <a:rPr lang="en-US" sz="3200" b="1" smtClean="0">
                <a:solidFill>
                  <a:srgbClr val="7030A0"/>
                </a:solidFill>
              </a:rPr>
              <a:t>many</a:t>
            </a:r>
            <a:r>
              <a:rPr lang="en-US" sz="3200" b="1" dirty="0">
                <a:solidFill>
                  <a:srgbClr val="7030A0"/>
                </a:solidFill>
              </a:rPr>
              <a:t>. </a:t>
            </a:r>
            <a:r>
              <a:rPr lang="en-US" sz="2800" dirty="0"/>
              <a:t>An entity in </a:t>
            </a:r>
            <a:r>
              <a:rPr lang="en-US" sz="2800" i="1" dirty="0"/>
              <a:t>A </a:t>
            </a:r>
            <a:r>
              <a:rPr lang="en-US" sz="2800" dirty="0"/>
              <a:t>is associated with any number (zero or more) </a:t>
            </a:r>
            <a:r>
              <a:rPr lang="en-US" sz="2800" dirty="0" smtClean="0"/>
              <a:t>of entities </a:t>
            </a:r>
            <a:r>
              <a:rPr lang="en-US" sz="2800" dirty="0"/>
              <a:t>in </a:t>
            </a:r>
            <a:r>
              <a:rPr lang="en-US" sz="2800" i="1" dirty="0"/>
              <a:t>B</a:t>
            </a:r>
            <a:r>
              <a:rPr lang="en-US" sz="2800" dirty="0"/>
              <a:t>. An entity in </a:t>
            </a:r>
            <a:r>
              <a:rPr lang="en-US" sz="2800" i="1" dirty="0"/>
              <a:t>B</a:t>
            </a:r>
            <a:r>
              <a:rPr lang="en-US" sz="2800" dirty="0"/>
              <a:t>, however, can be associated with </a:t>
            </a:r>
            <a:r>
              <a:rPr lang="en-US" sz="2800" i="1" dirty="0"/>
              <a:t>at most </a:t>
            </a:r>
            <a:r>
              <a:rPr lang="en-US" sz="2800" dirty="0"/>
              <a:t>one </a:t>
            </a:r>
            <a:r>
              <a:rPr lang="en-US" sz="2800" dirty="0" smtClean="0"/>
              <a:t>entity in </a:t>
            </a:r>
            <a:r>
              <a:rPr lang="en-US" sz="2800" i="1" dirty="0"/>
              <a:t>A</a:t>
            </a:r>
            <a:r>
              <a:rPr lang="en-US" sz="2800" dirty="0"/>
              <a:t>. </a:t>
            </a:r>
            <a:endParaRPr lang="en-US" sz="2800" dirty="0" smtClean="0"/>
          </a:p>
          <a:p>
            <a:pPr algn="just"/>
            <a:r>
              <a:rPr lang="en-US" sz="3200" b="1" dirty="0" smtClean="0">
                <a:solidFill>
                  <a:srgbClr val="7030A0"/>
                </a:solidFill>
              </a:rPr>
              <a:t> </a:t>
            </a:r>
            <a:r>
              <a:rPr lang="en-US" sz="3200" b="1" dirty="0">
                <a:solidFill>
                  <a:srgbClr val="7030A0"/>
                </a:solidFill>
              </a:rPr>
              <a:t>Many to </a:t>
            </a:r>
            <a:r>
              <a:rPr lang="en-US" sz="3200" b="1" dirty="0" smtClean="0">
                <a:solidFill>
                  <a:srgbClr val="7030A0"/>
                </a:solidFill>
              </a:rPr>
              <a:t>one </a:t>
            </a:r>
            <a:r>
              <a:rPr lang="en-US" sz="2800" dirty="0"/>
              <a:t>An entity in </a:t>
            </a:r>
            <a:r>
              <a:rPr lang="en-US" sz="2800" i="1" dirty="0"/>
              <a:t>A </a:t>
            </a:r>
            <a:r>
              <a:rPr lang="en-US" sz="2800" dirty="0"/>
              <a:t>is associated with </a:t>
            </a:r>
            <a:r>
              <a:rPr lang="en-US" sz="2800" i="1" dirty="0"/>
              <a:t>at most </a:t>
            </a:r>
            <a:r>
              <a:rPr lang="en-US" sz="2800" dirty="0"/>
              <a:t>one entity in </a:t>
            </a:r>
            <a:r>
              <a:rPr lang="en-US" sz="2800" i="1" dirty="0"/>
              <a:t>B</a:t>
            </a:r>
            <a:r>
              <a:rPr lang="en-US" sz="2800" dirty="0"/>
              <a:t>. </a:t>
            </a:r>
            <a:r>
              <a:rPr lang="en-US" sz="2800" dirty="0" smtClean="0"/>
              <a:t>An entity </a:t>
            </a:r>
            <a:r>
              <a:rPr lang="en-US" sz="2800" dirty="0"/>
              <a:t>in </a:t>
            </a:r>
            <a:r>
              <a:rPr lang="en-US" sz="2800" i="1" dirty="0"/>
              <a:t>B</a:t>
            </a:r>
            <a:r>
              <a:rPr lang="en-US" sz="2800" dirty="0"/>
              <a:t>, however, can be associated with any number (zero or more) </a:t>
            </a:r>
            <a:r>
              <a:rPr lang="en-US" sz="2800" dirty="0" smtClean="0"/>
              <a:t>of entities </a:t>
            </a:r>
            <a:r>
              <a:rPr lang="en-US" sz="2800" dirty="0"/>
              <a:t>in </a:t>
            </a:r>
            <a:r>
              <a:rPr lang="en-US" sz="2800" i="1" dirty="0" smtClean="0"/>
              <a:t>A.</a:t>
            </a:r>
          </a:p>
          <a:p>
            <a:pPr algn="just"/>
            <a:r>
              <a:rPr lang="en-US" sz="3200" b="1" dirty="0" smtClean="0">
                <a:solidFill>
                  <a:srgbClr val="7030A0"/>
                </a:solidFill>
              </a:rPr>
              <a:t>Many </a:t>
            </a:r>
            <a:r>
              <a:rPr lang="en-US" sz="3200" b="1" dirty="0">
                <a:solidFill>
                  <a:srgbClr val="7030A0"/>
                </a:solidFill>
              </a:rPr>
              <a:t>to many</a:t>
            </a:r>
            <a:r>
              <a:rPr lang="en-US" sz="2800" dirty="0"/>
              <a:t>. An entity in </a:t>
            </a:r>
            <a:r>
              <a:rPr lang="en-US" sz="2800" i="1" dirty="0"/>
              <a:t>A </a:t>
            </a:r>
            <a:r>
              <a:rPr lang="en-US" sz="2800" dirty="0"/>
              <a:t>is associated with any number (zero or more) </a:t>
            </a:r>
            <a:r>
              <a:rPr lang="en-US" sz="2800" dirty="0" smtClean="0"/>
              <a:t>of entities </a:t>
            </a:r>
            <a:r>
              <a:rPr lang="en-US" sz="2800" dirty="0"/>
              <a:t>in </a:t>
            </a:r>
            <a:r>
              <a:rPr lang="en-US" sz="2800" i="1" dirty="0"/>
              <a:t>B</a:t>
            </a:r>
            <a:r>
              <a:rPr lang="en-US" sz="2800" dirty="0"/>
              <a:t>, and an entity in </a:t>
            </a:r>
            <a:r>
              <a:rPr lang="en-US" sz="2800" i="1" dirty="0"/>
              <a:t>B </a:t>
            </a:r>
            <a:r>
              <a:rPr lang="en-US" sz="2800" dirty="0"/>
              <a:t>is associated with any number (zero or </a:t>
            </a:r>
            <a:r>
              <a:rPr lang="en-US" sz="2800" dirty="0" smtClean="0"/>
              <a:t>more) of </a:t>
            </a:r>
            <a:r>
              <a:rPr lang="en-US" sz="2800" dirty="0"/>
              <a:t>entities in </a:t>
            </a:r>
            <a:r>
              <a:rPr lang="en-US" sz="2800" i="1" dirty="0"/>
              <a:t>A</a:t>
            </a:r>
            <a:r>
              <a:rPr lang="en-US" sz="2800" dirty="0"/>
              <a:t>. </a:t>
            </a:r>
          </a:p>
        </p:txBody>
      </p:sp>
      <p:sp>
        <p:nvSpPr>
          <p:cNvPr id="4" name="Title 1"/>
          <p:cNvSpPr>
            <a:spLocks noGrp="1"/>
          </p:cNvSpPr>
          <p:nvPr>
            <p:ph type="title"/>
          </p:nvPr>
        </p:nvSpPr>
        <p:spPr>
          <a:xfrm>
            <a:off x="228600" y="0"/>
            <a:ext cx="8382000" cy="1143000"/>
          </a:xfrm>
        </p:spPr>
        <p:txBody>
          <a:bodyPr/>
          <a:lstStyle/>
          <a:p>
            <a:r>
              <a:rPr lang="en-US" b="1" dirty="0" smtClean="0"/>
              <a:t>Relationship-</a:t>
            </a:r>
            <a:r>
              <a:rPr lang="en-US" sz="4800" dirty="0"/>
              <a:t> Mapping cardinalities </a:t>
            </a:r>
            <a:endParaRPr lang="en-US" dirty="0"/>
          </a:p>
        </p:txBody>
      </p:sp>
    </p:spTree>
    <p:extLst>
      <p:ext uri="{BB962C8B-B14F-4D97-AF65-F5344CB8AC3E}">
        <p14:creationId xmlns:p14="http://schemas.microsoft.com/office/powerpoint/2010/main" val="36709702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endParaRPr lang="en-US" dirty="0"/>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685800" y="228600"/>
            <a:ext cx="6790681" cy="6635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9240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6"/>
          <p:cNvSpPr txBox="1">
            <a:spLocks noGrp="1"/>
          </p:cNvSpPr>
          <p:nvPr>
            <p:ph type="title"/>
          </p:nvPr>
        </p:nvSpPr>
        <p:spPr>
          <a:xfrm>
            <a:off x="139148" y="261903"/>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i="0">
                <a:latin typeface="Calibri"/>
                <a:ea typeface="Calibri"/>
                <a:cs typeface="Calibri"/>
                <a:sym typeface="Calibri"/>
              </a:rPr>
              <a:t>Component of ER Diagram</a:t>
            </a:r>
            <a:endParaRPr/>
          </a:p>
        </p:txBody>
      </p:sp>
      <p:sp>
        <p:nvSpPr>
          <p:cNvPr id="190" name="Google Shape;190;p16"/>
          <p:cNvSpPr txBox="1">
            <a:spLocks noGrp="1"/>
          </p:cNvSpPr>
          <p:nvPr>
            <p:ph type="body" idx="1"/>
          </p:nvPr>
        </p:nvSpPr>
        <p:spPr>
          <a:xfrm>
            <a:off x="4901855" y="2217290"/>
            <a:ext cx="3556346" cy="438926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ts val="2800"/>
              <a:buChar char="•"/>
            </a:pPr>
            <a:r>
              <a:rPr lang="en-US" b="1" i="0" dirty="0"/>
              <a:t>1. One to One Relationship</a:t>
            </a:r>
            <a:endParaRPr dirty="0"/>
          </a:p>
          <a:p>
            <a:pPr marL="228600" lvl="0" indent="-228600" algn="just" rtl="0">
              <a:lnSpc>
                <a:spcPct val="90000"/>
              </a:lnSpc>
              <a:spcBef>
                <a:spcPts val="1000"/>
              </a:spcBef>
              <a:spcAft>
                <a:spcPts val="0"/>
              </a:spcAft>
              <a:buClr>
                <a:schemeClr val="dk1"/>
              </a:buClr>
              <a:buSzPts val="2800"/>
              <a:buChar char="•"/>
            </a:pPr>
            <a:r>
              <a:rPr lang="en-US" b="0" i="0" dirty="0"/>
              <a:t>When a </a:t>
            </a:r>
            <a:r>
              <a:rPr lang="en-US" b="1" i="0" dirty="0">
                <a:solidFill>
                  <a:srgbClr val="000099"/>
                </a:solidFill>
              </a:rPr>
              <a:t>single instance of an entity is associated with a single instance of another entity </a:t>
            </a:r>
            <a:r>
              <a:rPr lang="en-US" b="0" i="0" dirty="0"/>
              <a:t>then it is called </a:t>
            </a:r>
            <a:r>
              <a:rPr lang="en-US" b="1" i="0" dirty="0">
                <a:solidFill>
                  <a:srgbClr val="C00000"/>
                </a:solidFill>
              </a:rPr>
              <a:t>one to one relationship. </a:t>
            </a:r>
            <a:endParaRPr dirty="0"/>
          </a:p>
          <a:p>
            <a:pPr marL="228600" lvl="0" indent="-228600" algn="just" rtl="0">
              <a:lnSpc>
                <a:spcPct val="90000"/>
              </a:lnSpc>
              <a:spcBef>
                <a:spcPts val="1000"/>
              </a:spcBef>
              <a:spcAft>
                <a:spcPts val="0"/>
              </a:spcAft>
              <a:buClr>
                <a:schemeClr val="dk1"/>
              </a:buClr>
              <a:buSzPts val="2800"/>
              <a:buChar char="•"/>
            </a:pPr>
            <a:r>
              <a:rPr lang="en-US" b="0" i="0" dirty="0"/>
              <a:t>For example, </a:t>
            </a:r>
            <a:r>
              <a:rPr lang="en-US" b="1" i="0" dirty="0">
                <a:solidFill>
                  <a:srgbClr val="C00000"/>
                </a:solidFill>
              </a:rPr>
              <a:t>a person has only one passport and a passport is given to one person.</a:t>
            </a:r>
            <a:endParaRPr dirty="0"/>
          </a:p>
          <a:p>
            <a:pPr marL="0" lvl="0" indent="0" algn="just" rtl="0">
              <a:lnSpc>
                <a:spcPct val="90000"/>
              </a:lnSpc>
              <a:spcBef>
                <a:spcPts val="1000"/>
              </a:spcBef>
              <a:spcAft>
                <a:spcPts val="0"/>
              </a:spcAft>
              <a:buClr>
                <a:schemeClr val="dk1"/>
              </a:buClr>
              <a:buSzPts val="2800"/>
              <a:buNone/>
            </a:pPr>
            <a:r>
              <a:rPr lang="en-US" b="0" i="0" dirty="0"/>
              <a:t/>
            </a:r>
            <a:br>
              <a:rPr lang="en-US" b="0" i="0" dirty="0"/>
            </a:br>
            <a:endParaRPr b="1" i="0" dirty="0"/>
          </a:p>
        </p:txBody>
      </p:sp>
      <p:sp>
        <p:nvSpPr>
          <p:cNvPr id="191" name="Google Shape;191;p16"/>
          <p:cNvSpPr txBox="1"/>
          <p:nvPr/>
        </p:nvSpPr>
        <p:spPr>
          <a:xfrm>
            <a:off x="253449" y="1481450"/>
            <a:ext cx="4535970" cy="5114649"/>
          </a:xfrm>
          <a:prstGeom prst="rect">
            <a:avLst/>
          </a:prstGeom>
          <a:noFill/>
          <a:ln>
            <a:noFill/>
          </a:ln>
        </p:spPr>
        <p:txBody>
          <a:bodyPr spcFirstLastPara="1" wrap="square" lIns="91425" tIns="45700" rIns="91425" bIns="45700" anchor="t" anchorCtr="0">
            <a:normAutofit lnSpcReduction="10000"/>
          </a:bodyPr>
          <a:lstStyle/>
          <a:p>
            <a:pPr marL="228600" marR="0" lvl="0" indent="-228600" algn="just" rtl="0">
              <a:lnSpc>
                <a:spcPct val="90000"/>
              </a:lnSpc>
              <a:spcBef>
                <a:spcPts val="1000"/>
              </a:spcBef>
              <a:spcAft>
                <a:spcPts val="0"/>
              </a:spcAft>
              <a:buClr>
                <a:schemeClr val="dk1"/>
              </a:buClr>
              <a:buSzPts val="2800"/>
              <a:buFont typeface="Arial"/>
              <a:buChar char="•"/>
            </a:pPr>
            <a:r>
              <a:rPr lang="en-US" sz="2800" b="0" i="0" u="none" strike="noStrike" cap="none" dirty="0" smtClean="0">
                <a:solidFill>
                  <a:schemeClr val="dk1"/>
                </a:solidFill>
                <a:latin typeface="Calibri"/>
                <a:ea typeface="Calibri"/>
                <a:cs typeface="Calibri"/>
                <a:sym typeface="Calibri"/>
              </a:rPr>
              <a:t>A </a:t>
            </a:r>
            <a:r>
              <a:rPr lang="en-US" sz="2800" b="0" i="0" u="none" strike="noStrike" cap="none" dirty="0">
                <a:solidFill>
                  <a:schemeClr val="dk1"/>
                </a:solidFill>
                <a:latin typeface="Calibri"/>
                <a:ea typeface="Calibri"/>
                <a:cs typeface="Calibri"/>
                <a:sym typeface="Calibri"/>
              </a:rPr>
              <a:t>relationship is used to describe the relation between entities.</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A relationship is represented by diamond shape in ER diagram. </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There are four types of relationships/</a:t>
            </a:r>
            <a:r>
              <a:rPr lang="en-US" sz="2800" b="1" i="0" u="none" strike="noStrike" cap="none" dirty="0">
                <a:solidFill>
                  <a:srgbClr val="222222"/>
                </a:solidFill>
                <a:latin typeface="Calibri"/>
                <a:ea typeface="Calibri"/>
                <a:cs typeface="Calibri"/>
                <a:sym typeface="Calibri"/>
              </a:rPr>
              <a:t>Cardinality</a:t>
            </a:r>
            <a:endParaRPr sz="2800" b="0" i="0" u="none" strike="noStrike" cap="none" dirty="0">
              <a:solidFill>
                <a:schemeClr val="dk1"/>
              </a:solidFill>
              <a:latin typeface="Calibri"/>
              <a:ea typeface="Calibri"/>
              <a:cs typeface="Calibri"/>
              <a:sym typeface="Calibri"/>
            </a:endParaRPr>
          </a:p>
          <a:p>
            <a:pPr marL="1371600" marR="0" lvl="0" indent="-457200" algn="just" rtl="0">
              <a:lnSpc>
                <a:spcPct val="90000"/>
              </a:lnSpc>
              <a:spcBef>
                <a:spcPts val="1000"/>
              </a:spcBef>
              <a:spcAft>
                <a:spcPts val="0"/>
              </a:spcAft>
              <a:buClr>
                <a:srgbClr val="000099"/>
              </a:buClr>
              <a:buSzPts val="2800"/>
              <a:buFont typeface="Calibri"/>
              <a:buAutoNum type="arabicPeriod"/>
            </a:pPr>
            <a:r>
              <a:rPr lang="en-US" sz="2800" b="1" i="0" u="none" strike="noStrike" cap="none" dirty="0">
                <a:solidFill>
                  <a:srgbClr val="000099"/>
                </a:solidFill>
                <a:latin typeface="Calibri"/>
                <a:ea typeface="Calibri"/>
                <a:cs typeface="Calibri"/>
                <a:sym typeface="Calibri"/>
              </a:rPr>
              <a:t>One to One</a:t>
            </a:r>
            <a:endParaRPr dirty="0"/>
          </a:p>
          <a:p>
            <a:pPr marL="1371600" marR="0" lvl="0" indent="-457200" algn="just" rtl="0">
              <a:lnSpc>
                <a:spcPct val="90000"/>
              </a:lnSpc>
              <a:spcBef>
                <a:spcPts val="1000"/>
              </a:spcBef>
              <a:spcAft>
                <a:spcPts val="0"/>
              </a:spcAft>
              <a:buClr>
                <a:srgbClr val="000099"/>
              </a:buClr>
              <a:buSzPts val="2800"/>
              <a:buFont typeface="Calibri"/>
              <a:buAutoNum type="arabicPeriod"/>
            </a:pPr>
            <a:r>
              <a:rPr lang="en-US" sz="2800" b="1" i="0" u="none" strike="noStrike" cap="none" dirty="0">
                <a:solidFill>
                  <a:srgbClr val="000099"/>
                </a:solidFill>
                <a:latin typeface="Calibri"/>
                <a:ea typeface="Calibri"/>
                <a:cs typeface="Calibri"/>
                <a:sym typeface="Calibri"/>
              </a:rPr>
              <a:t>One to Many</a:t>
            </a:r>
            <a:endParaRPr dirty="0"/>
          </a:p>
          <a:p>
            <a:pPr marL="1371600" marR="0" lvl="0" indent="-457200" algn="just" rtl="0">
              <a:lnSpc>
                <a:spcPct val="90000"/>
              </a:lnSpc>
              <a:spcBef>
                <a:spcPts val="1000"/>
              </a:spcBef>
              <a:spcAft>
                <a:spcPts val="0"/>
              </a:spcAft>
              <a:buClr>
                <a:srgbClr val="000099"/>
              </a:buClr>
              <a:buSzPts val="2800"/>
              <a:buFont typeface="Calibri"/>
              <a:buAutoNum type="arabicPeriod"/>
            </a:pPr>
            <a:r>
              <a:rPr lang="en-US" sz="2800" b="1" i="0" u="none" strike="noStrike" cap="none" dirty="0">
                <a:solidFill>
                  <a:srgbClr val="000099"/>
                </a:solidFill>
                <a:latin typeface="Calibri"/>
                <a:ea typeface="Calibri"/>
                <a:cs typeface="Calibri"/>
                <a:sym typeface="Calibri"/>
              </a:rPr>
              <a:t>Many to One</a:t>
            </a:r>
            <a:endParaRPr dirty="0"/>
          </a:p>
          <a:p>
            <a:pPr marL="1371600" marR="0" lvl="0" indent="-457200" algn="just" rtl="0">
              <a:lnSpc>
                <a:spcPct val="90000"/>
              </a:lnSpc>
              <a:spcBef>
                <a:spcPts val="1000"/>
              </a:spcBef>
              <a:spcAft>
                <a:spcPts val="0"/>
              </a:spcAft>
              <a:buClr>
                <a:srgbClr val="000099"/>
              </a:buClr>
              <a:buSzPts val="2800"/>
              <a:buFont typeface="Calibri"/>
              <a:buAutoNum type="arabicPeriod"/>
            </a:pPr>
            <a:r>
              <a:rPr lang="en-US" sz="2800" b="1" i="0" u="none" strike="noStrike" cap="none" dirty="0">
                <a:solidFill>
                  <a:srgbClr val="000099"/>
                </a:solidFill>
                <a:latin typeface="Calibri"/>
                <a:ea typeface="Calibri"/>
                <a:cs typeface="Calibri"/>
                <a:sym typeface="Calibri"/>
              </a:rPr>
              <a:t>Many to Many</a:t>
            </a:r>
            <a:endParaRPr dirty="0"/>
          </a:p>
        </p:txBody>
      </p:sp>
      <p:pic>
        <p:nvPicPr>
          <p:cNvPr id="192" name="Google Shape;192;p16" descr="ER diagram one to one relationship example"/>
          <p:cNvPicPr preferRelativeResize="0"/>
          <p:nvPr/>
        </p:nvPicPr>
        <p:blipFill rotWithShape="1">
          <a:blip r:embed="rId3">
            <a:alphaModFix/>
          </a:blip>
          <a:srcRect/>
          <a:stretch/>
        </p:blipFill>
        <p:spPr>
          <a:xfrm>
            <a:off x="5078894" y="873090"/>
            <a:ext cx="3571875" cy="1428750"/>
          </a:xfrm>
          <a:prstGeom prst="rect">
            <a:avLst/>
          </a:prstGeom>
          <a:noFill/>
          <a:ln>
            <a:noFill/>
          </a:ln>
        </p:spPr>
      </p:pic>
    </p:spTree>
    <p:extLst>
      <p:ext uri="{BB962C8B-B14F-4D97-AF65-F5344CB8AC3E}">
        <p14:creationId xmlns:p14="http://schemas.microsoft.com/office/powerpoint/2010/main" val="40776078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8" name="Google Shape;198;p17"/>
          <p:cNvSpPr txBox="1">
            <a:spLocks noGrp="1"/>
          </p:cNvSpPr>
          <p:nvPr>
            <p:ph type="body" idx="1"/>
          </p:nvPr>
        </p:nvSpPr>
        <p:spPr>
          <a:xfrm>
            <a:off x="4546687" y="1639059"/>
            <a:ext cx="3835314" cy="438926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ts val="2800"/>
              <a:buChar char="•"/>
            </a:pPr>
            <a:r>
              <a:rPr lang="en-US" b="1" dirty="0"/>
              <a:t>3</a:t>
            </a:r>
            <a:r>
              <a:rPr lang="en-US" b="1" i="0" dirty="0"/>
              <a:t>. Many-to-one relationship</a:t>
            </a:r>
            <a:endParaRPr b="0" i="0" dirty="0"/>
          </a:p>
          <a:p>
            <a:pPr marL="228600" lvl="0" indent="-228600" algn="just" rtl="0">
              <a:lnSpc>
                <a:spcPct val="90000"/>
              </a:lnSpc>
              <a:spcBef>
                <a:spcPts val="1000"/>
              </a:spcBef>
              <a:spcAft>
                <a:spcPts val="0"/>
              </a:spcAft>
              <a:buClr>
                <a:schemeClr val="dk1"/>
              </a:buClr>
              <a:buSzPts val="2800"/>
              <a:buChar char="•"/>
            </a:pPr>
            <a:r>
              <a:rPr lang="en-US" b="0" i="0" dirty="0"/>
              <a:t>When </a:t>
            </a:r>
            <a:r>
              <a:rPr lang="en-US" b="1" i="0" dirty="0"/>
              <a:t>more than one instance of the entity on the left, and only one instance of an entity on the right associates with the relationship </a:t>
            </a:r>
            <a:r>
              <a:rPr lang="en-US" b="0" i="0" dirty="0"/>
              <a:t>then it is known as a many-to-one relationship.</a:t>
            </a:r>
            <a:endParaRPr dirty="0"/>
          </a:p>
          <a:p>
            <a:pPr marL="228600" lvl="0" indent="-228600" algn="just" rtl="0">
              <a:lnSpc>
                <a:spcPct val="90000"/>
              </a:lnSpc>
              <a:spcBef>
                <a:spcPts val="1000"/>
              </a:spcBef>
              <a:spcAft>
                <a:spcPts val="0"/>
              </a:spcAft>
              <a:buClr>
                <a:schemeClr val="dk1"/>
              </a:buClr>
              <a:buSzPts val="2800"/>
              <a:buChar char="•"/>
            </a:pPr>
            <a:r>
              <a:rPr lang="en-US" b="0" i="0" dirty="0"/>
              <a:t>For example – </a:t>
            </a:r>
            <a:r>
              <a:rPr lang="en-US" b="1" i="0" dirty="0">
                <a:solidFill>
                  <a:srgbClr val="C00000"/>
                </a:solidFill>
              </a:rPr>
              <a:t>many students can study in a single college but a student cannot study in many colleges at the same time.</a:t>
            </a:r>
            <a:endParaRPr dirty="0"/>
          </a:p>
        </p:txBody>
      </p:sp>
      <p:sp>
        <p:nvSpPr>
          <p:cNvPr id="199" name="Google Shape;199;p17"/>
          <p:cNvSpPr txBox="1"/>
          <p:nvPr/>
        </p:nvSpPr>
        <p:spPr>
          <a:xfrm>
            <a:off x="253448" y="1176650"/>
            <a:ext cx="4293238" cy="5114649"/>
          </a:xfrm>
          <a:prstGeom prst="rect">
            <a:avLst/>
          </a:prstGeom>
          <a:noFill/>
          <a:ln>
            <a:noFill/>
          </a:ln>
        </p:spPr>
        <p:txBody>
          <a:bodyPr spcFirstLastPara="1" wrap="square" lIns="91425" tIns="45700" rIns="91425" bIns="45700" anchor="t" anchorCtr="0">
            <a:normAutofit fontScale="85000" lnSpcReduction="10000"/>
          </a:bodyPr>
          <a:lstStyle/>
          <a:p>
            <a:pPr marL="228600" marR="0" lvl="0" indent="-228600" algn="just" rtl="0">
              <a:lnSpc>
                <a:spcPct val="90000"/>
              </a:lnSpc>
              <a:spcBef>
                <a:spcPts val="0"/>
              </a:spcBef>
              <a:spcAft>
                <a:spcPts val="0"/>
              </a:spcAft>
              <a:buClr>
                <a:schemeClr val="dk1"/>
              </a:buClr>
              <a:buSzPts val="2800"/>
              <a:buFont typeface="Arial"/>
              <a:buChar char="•"/>
            </a:pPr>
            <a:r>
              <a:rPr lang="en-US" sz="2800" b="1" i="0" u="none" strike="noStrike" cap="none" dirty="0">
                <a:solidFill>
                  <a:schemeClr val="dk1"/>
                </a:solidFill>
                <a:latin typeface="Calibri"/>
                <a:ea typeface="Calibri"/>
                <a:cs typeface="Calibri"/>
                <a:sym typeface="Calibri"/>
              </a:rPr>
              <a:t>Attribute</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1" i="0" u="none" strike="noStrike" cap="none" dirty="0">
                <a:solidFill>
                  <a:schemeClr val="dk1"/>
                </a:solidFill>
                <a:latin typeface="Calibri"/>
                <a:ea typeface="Calibri"/>
                <a:cs typeface="Calibri"/>
                <a:sym typeface="Calibri"/>
              </a:rPr>
              <a:t>2. One to Many Relationship</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When </a:t>
            </a:r>
            <a:r>
              <a:rPr lang="en-US" sz="2800" b="1" i="0" u="none" strike="noStrike" cap="none" dirty="0">
                <a:solidFill>
                  <a:srgbClr val="000099"/>
                </a:solidFill>
                <a:latin typeface="Calibri"/>
                <a:ea typeface="Calibri"/>
                <a:cs typeface="Calibri"/>
                <a:sym typeface="Calibri"/>
              </a:rPr>
              <a:t>only one instance of the entity on the left, and more than one instance of an entity on the right associates with the relationship </a:t>
            </a:r>
            <a:r>
              <a:rPr lang="en-US" sz="2800" b="0" i="0" u="none" strike="noStrike" cap="none" dirty="0">
                <a:solidFill>
                  <a:schemeClr val="dk1"/>
                </a:solidFill>
                <a:latin typeface="Calibri"/>
                <a:ea typeface="Calibri"/>
                <a:cs typeface="Calibri"/>
                <a:sym typeface="Calibri"/>
              </a:rPr>
              <a:t>then this is known as a one-to-many relationship.</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1" i="0" u="none" strike="noStrike" cap="none" dirty="0">
                <a:solidFill>
                  <a:schemeClr val="dk1"/>
                </a:solidFill>
                <a:latin typeface="Calibri"/>
                <a:ea typeface="Calibri"/>
                <a:cs typeface="Calibri"/>
                <a:sym typeface="Calibri"/>
              </a:rPr>
              <a:t>For example,</a:t>
            </a:r>
            <a:r>
              <a:rPr lang="en-US" sz="2800" b="0" i="0" u="none" strike="noStrike" cap="none" dirty="0">
                <a:solidFill>
                  <a:schemeClr val="dk1"/>
                </a:solidFill>
                <a:latin typeface="Calibri"/>
                <a:ea typeface="Calibri"/>
                <a:cs typeface="Calibri"/>
                <a:sym typeface="Calibri"/>
              </a:rPr>
              <a:t> </a:t>
            </a:r>
            <a:r>
              <a:rPr lang="en-US" sz="2800" b="1" i="0" u="none" strike="noStrike" cap="none" dirty="0">
                <a:solidFill>
                  <a:srgbClr val="C00000"/>
                </a:solidFill>
                <a:latin typeface="Calibri"/>
                <a:ea typeface="Calibri"/>
                <a:cs typeface="Calibri"/>
                <a:sym typeface="Calibri"/>
              </a:rPr>
              <a:t>Scientist can invent many inventions, but the invention is done by the only specific scientist.</a:t>
            </a:r>
            <a:endParaRPr dirty="0"/>
          </a:p>
          <a:p>
            <a:pPr marL="228600" marR="0" lvl="0" indent="-228600" algn="just" rtl="0">
              <a:lnSpc>
                <a:spcPct val="90000"/>
              </a:lnSpc>
              <a:spcBef>
                <a:spcPts val="1000"/>
              </a:spcBef>
              <a:spcAft>
                <a:spcPts val="0"/>
              </a:spcAft>
              <a:buClr>
                <a:srgbClr val="222426"/>
              </a:buClr>
              <a:buSzPts val="2800"/>
              <a:buFont typeface="Arial"/>
              <a:buChar char="•"/>
            </a:pPr>
            <a:r>
              <a:rPr lang="en-US" sz="2800" b="0" i="0" u="none" strike="noStrike" cap="none" dirty="0">
                <a:solidFill>
                  <a:srgbClr val="222426"/>
                </a:solidFill>
                <a:latin typeface="Calibri"/>
                <a:ea typeface="Calibri"/>
                <a:cs typeface="Calibri"/>
                <a:sym typeface="Calibri"/>
              </a:rPr>
              <a:t/>
            </a:r>
            <a:br>
              <a:rPr lang="en-US" sz="2800" b="0" i="0" u="none" strike="noStrike" cap="none" dirty="0">
                <a:solidFill>
                  <a:srgbClr val="222426"/>
                </a:solidFill>
                <a:latin typeface="Calibri"/>
                <a:ea typeface="Calibri"/>
                <a:cs typeface="Calibri"/>
                <a:sym typeface="Calibri"/>
              </a:rPr>
            </a:br>
            <a:endParaRPr sz="2800" b="1" i="0" u="none" strike="noStrike" cap="none" dirty="0">
              <a:solidFill>
                <a:srgbClr val="000099"/>
              </a:solidFill>
              <a:latin typeface="Calibri"/>
              <a:ea typeface="Calibri"/>
              <a:cs typeface="Calibri"/>
              <a:sym typeface="Calibri"/>
            </a:endParaRPr>
          </a:p>
        </p:txBody>
      </p:sp>
      <p:pic>
        <p:nvPicPr>
          <p:cNvPr id="200" name="Google Shape;200;p17" descr="DBMS ER model concept"/>
          <p:cNvPicPr preferRelativeResize="0"/>
          <p:nvPr/>
        </p:nvPicPr>
        <p:blipFill rotWithShape="1">
          <a:blip r:embed="rId3">
            <a:alphaModFix/>
          </a:blip>
          <a:srcRect/>
          <a:stretch/>
        </p:blipFill>
        <p:spPr>
          <a:xfrm>
            <a:off x="496180" y="5386424"/>
            <a:ext cx="4050506" cy="904875"/>
          </a:xfrm>
          <a:prstGeom prst="rect">
            <a:avLst/>
          </a:prstGeom>
          <a:noFill/>
          <a:ln>
            <a:noFill/>
          </a:ln>
        </p:spPr>
      </p:pic>
      <p:pic>
        <p:nvPicPr>
          <p:cNvPr id="201" name="Google Shape;201;p17" descr="ER diagram many to one relationship example"/>
          <p:cNvPicPr preferRelativeResize="0"/>
          <p:nvPr/>
        </p:nvPicPr>
        <p:blipFill rotWithShape="1">
          <a:blip r:embed="rId4">
            <a:alphaModFix/>
          </a:blip>
          <a:srcRect/>
          <a:stretch/>
        </p:blipFill>
        <p:spPr>
          <a:xfrm>
            <a:off x="4569949" y="7620"/>
            <a:ext cx="4193051" cy="1668780"/>
          </a:xfrm>
          <a:prstGeom prst="rect">
            <a:avLst/>
          </a:prstGeom>
          <a:noFill/>
          <a:ln>
            <a:noFill/>
          </a:ln>
        </p:spPr>
      </p:pic>
    </p:spTree>
    <p:extLst>
      <p:ext uri="{BB962C8B-B14F-4D97-AF65-F5344CB8AC3E}">
        <p14:creationId xmlns:p14="http://schemas.microsoft.com/office/powerpoint/2010/main" val="17662419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8"/>
          <p:cNvSpPr txBox="1">
            <a:spLocks noGrp="1"/>
          </p:cNvSpPr>
          <p:nvPr>
            <p:ph type="title"/>
          </p:nvPr>
        </p:nvSpPr>
        <p:spPr>
          <a:xfrm>
            <a:off x="121757" y="210308"/>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i="0">
                <a:latin typeface="Calibri"/>
                <a:ea typeface="Calibri"/>
                <a:cs typeface="Calibri"/>
                <a:sym typeface="Calibri"/>
              </a:rPr>
              <a:t>Component of ER Diagram</a:t>
            </a:r>
            <a:endParaRPr/>
          </a:p>
        </p:txBody>
      </p:sp>
      <p:sp>
        <p:nvSpPr>
          <p:cNvPr id="207" name="Google Shape;207;p18"/>
          <p:cNvSpPr txBox="1">
            <a:spLocks noGrp="1"/>
          </p:cNvSpPr>
          <p:nvPr>
            <p:ph type="body" idx="1"/>
          </p:nvPr>
        </p:nvSpPr>
        <p:spPr>
          <a:xfrm>
            <a:off x="306096" y="1253331"/>
            <a:ext cx="78867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b="1" i="0"/>
              <a:t>4. Many to Many Relationship</a:t>
            </a:r>
            <a:endParaRPr/>
          </a:p>
          <a:p>
            <a:pPr marL="228600" lvl="0" indent="-228600" algn="just" rtl="0">
              <a:lnSpc>
                <a:spcPct val="90000"/>
              </a:lnSpc>
              <a:spcBef>
                <a:spcPts val="1000"/>
              </a:spcBef>
              <a:spcAft>
                <a:spcPts val="0"/>
              </a:spcAft>
              <a:buClr>
                <a:schemeClr val="dk1"/>
              </a:buClr>
              <a:buSzPts val="2800"/>
              <a:buChar char="•"/>
            </a:pPr>
            <a:r>
              <a:rPr lang="en-US" b="0" i="0"/>
              <a:t>When </a:t>
            </a:r>
            <a:r>
              <a:rPr lang="en-US" b="1" i="0">
                <a:solidFill>
                  <a:srgbClr val="000099"/>
                </a:solidFill>
              </a:rPr>
              <a:t>more than one instances of an entity is associated with more than one instances of another entity</a:t>
            </a:r>
            <a:r>
              <a:rPr lang="en-US" b="0" i="0"/>
              <a:t> then it is called many to many relationship. </a:t>
            </a:r>
            <a:endParaRPr/>
          </a:p>
          <a:p>
            <a:pPr marL="228600" lvl="0" indent="-228600" algn="just" rtl="0">
              <a:lnSpc>
                <a:spcPct val="90000"/>
              </a:lnSpc>
              <a:spcBef>
                <a:spcPts val="1000"/>
              </a:spcBef>
              <a:spcAft>
                <a:spcPts val="0"/>
              </a:spcAft>
              <a:buClr>
                <a:srgbClr val="333333"/>
              </a:buClr>
              <a:buSzPts val="2800"/>
              <a:buChar char="•"/>
            </a:pPr>
            <a:r>
              <a:rPr lang="en-US" b="1" i="0">
                <a:solidFill>
                  <a:srgbClr val="333333"/>
                </a:solidFill>
              </a:rPr>
              <a:t>For example,</a:t>
            </a:r>
            <a:r>
              <a:rPr lang="en-US" b="0" i="0">
                <a:solidFill>
                  <a:srgbClr val="333333"/>
                </a:solidFill>
              </a:rPr>
              <a:t> </a:t>
            </a:r>
            <a:r>
              <a:rPr lang="en-US" b="1" i="0">
                <a:solidFill>
                  <a:srgbClr val="C00000"/>
                </a:solidFill>
              </a:rPr>
              <a:t>Employee can assign by many projects and project can have many employees.</a:t>
            </a:r>
            <a:endParaRPr b="1">
              <a:solidFill>
                <a:srgbClr val="C00000"/>
              </a:solidFill>
            </a:endParaRPr>
          </a:p>
        </p:txBody>
      </p:sp>
      <p:pic>
        <p:nvPicPr>
          <p:cNvPr id="208" name="Google Shape;208;p18" descr="DBMS ER model concept"/>
          <p:cNvPicPr preferRelativeResize="0"/>
          <p:nvPr/>
        </p:nvPicPr>
        <p:blipFill rotWithShape="1">
          <a:blip r:embed="rId3">
            <a:alphaModFix/>
          </a:blip>
          <a:srcRect/>
          <a:stretch/>
        </p:blipFill>
        <p:spPr>
          <a:xfrm>
            <a:off x="2039854" y="4089747"/>
            <a:ext cx="4050506" cy="904875"/>
          </a:xfrm>
          <a:prstGeom prst="rect">
            <a:avLst/>
          </a:prstGeom>
          <a:noFill/>
          <a:ln>
            <a:noFill/>
          </a:ln>
        </p:spPr>
      </p:pic>
    </p:spTree>
    <p:extLst>
      <p:ext uri="{BB962C8B-B14F-4D97-AF65-F5344CB8AC3E}">
        <p14:creationId xmlns:p14="http://schemas.microsoft.com/office/powerpoint/2010/main" val="7955998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One-and-only-one Example</a:t>
            </a:r>
            <a:endParaRPr 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80" y="2057400"/>
            <a:ext cx="9176780" cy="3764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987686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620000" cy="1143000"/>
          </a:xfrm>
        </p:spPr>
        <p:txBody>
          <a:bodyPr/>
          <a:lstStyle/>
          <a:p>
            <a:r>
              <a:rPr lang="en-US" dirty="0" smtClean="0"/>
              <a:t>examples</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77785"/>
            <a:ext cx="911087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4" y="3486977"/>
            <a:ext cx="9094305" cy="233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87859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0278"/>
            <a:ext cx="9144000" cy="330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457200" y="274638"/>
            <a:ext cx="7620000" cy="1143000"/>
          </a:xfrm>
        </p:spPr>
        <p:txBody>
          <a:bodyPr/>
          <a:lstStyle/>
          <a:p>
            <a:r>
              <a:rPr lang="en-US" b="1" dirty="0"/>
              <a:t> </a:t>
            </a:r>
            <a:r>
              <a:rPr lang="en-US" b="1" dirty="0" smtClean="0"/>
              <a:t>ER Diagram example</a:t>
            </a:r>
            <a:endParaRPr lang="en-US" dirty="0"/>
          </a:p>
        </p:txBody>
      </p:sp>
    </p:spTree>
    <p:extLst>
      <p:ext uri="{BB962C8B-B14F-4D97-AF65-F5344CB8AC3E}">
        <p14:creationId xmlns:p14="http://schemas.microsoft.com/office/powerpoint/2010/main" val="245600474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862"/>
            <a:ext cx="9144000" cy="1143000"/>
          </a:xfrm>
        </p:spPr>
        <p:txBody>
          <a:bodyPr/>
          <a:lstStyle/>
          <a:p>
            <a:r>
              <a:rPr lang="en-US" sz="4400" b="1" dirty="0"/>
              <a:t>Role Names </a:t>
            </a:r>
            <a:r>
              <a:rPr lang="en-US" sz="4400" b="1" dirty="0" smtClean="0"/>
              <a:t>&amp; </a:t>
            </a:r>
            <a:r>
              <a:rPr lang="en-US" sz="4400" b="1" dirty="0"/>
              <a:t>Recursive Relationships </a:t>
            </a:r>
            <a:endParaRPr lang="en-US" sz="4400" dirty="0"/>
          </a:p>
        </p:txBody>
      </p:sp>
      <p:sp>
        <p:nvSpPr>
          <p:cNvPr id="3" name="Content Placeholder 2"/>
          <p:cNvSpPr>
            <a:spLocks noGrp="1"/>
          </p:cNvSpPr>
          <p:nvPr>
            <p:ph idx="1"/>
          </p:nvPr>
        </p:nvSpPr>
        <p:spPr>
          <a:xfrm>
            <a:off x="0" y="1219200"/>
            <a:ext cx="8458200" cy="5486400"/>
          </a:xfrm>
        </p:spPr>
        <p:txBody>
          <a:bodyPr>
            <a:noAutofit/>
          </a:bodyPr>
          <a:lstStyle/>
          <a:p>
            <a:pPr algn="just"/>
            <a:r>
              <a:rPr lang="en-US" sz="2800" dirty="0" smtClean="0"/>
              <a:t>I</a:t>
            </a:r>
            <a:r>
              <a:rPr lang="en-US" sz="2600" dirty="0" smtClean="0"/>
              <a:t>n </a:t>
            </a:r>
            <a:r>
              <a:rPr lang="en-US" sz="2600" dirty="0"/>
              <a:t>some cases the </a:t>
            </a:r>
            <a:r>
              <a:rPr lang="en-US" sz="2600" i="1" dirty="0"/>
              <a:t>same</a:t>
            </a:r>
            <a:r>
              <a:rPr lang="en-US" sz="2600" dirty="0"/>
              <a:t> entity type participates more than once in a relationship type in </a:t>
            </a:r>
            <a:r>
              <a:rPr lang="en-US" sz="2600" i="1" dirty="0"/>
              <a:t>different roles</a:t>
            </a:r>
            <a:r>
              <a:rPr lang="en-US" sz="2600" dirty="0"/>
              <a:t>. In such cases the role name becomes essential for distinguishing the meaning of the role that each participating entity plays. Such relationship types are called </a:t>
            </a:r>
            <a:r>
              <a:rPr lang="en-US" sz="2600" b="1" dirty="0"/>
              <a:t>recursive relationships</a:t>
            </a:r>
            <a:r>
              <a:rPr lang="en-US" sz="2600" dirty="0"/>
              <a:t>. </a:t>
            </a:r>
            <a:r>
              <a:rPr lang="en-US" sz="2600" b="1" dirty="0" smtClean="0"/>
              <a:t>Ex: </a:t>
            </a:r>
            <a:r>
              <a:rPr lang="en-US" sz="2600" dirty="0" smtClean="0"/>
              <a:t>The</a:t>
            </a:r>
            <a:r>
              <a:rPr lang="en-US" sz="2600" dirty="0"/>
              <a:t> SUPERVISION relationship type relates an employee to a supervisor, where both employee and supervisor entities are members of the same EMPLOYEE entity set. Hence, the EMPLOYEE entity type </a:t>
            </a:r>
            <a:r>
              <a:rPr lang="en-US" sz="2600" i="1" dirty="0"/>
              <a:t>participates twice</a:t>
            </a:r>
            <a:r>
              <a:rPr lang="en-US" sz="2600" dirty="0"/>
              <a:t> in </a:t>
            </a:r>
            <a:r>
              <a:rPr lang="en-US" sz="2600" dirty="0" smtClean="0"/>
              <a:t>SUPERVISION </a:t>
            </a:r>
            <a:r>
              <a:rPr lang="en-US" sz="2600" dirty="0"/>
              <a:t>: once in the role of </a:t>
            </a:r>
            <a:r>
              <a:rPr lang="en-US" sz="2600" i="1" dirty="0"/>
              <a:t>supervisor</a:t>
            </a:r>
            <a:r>
              <a:rPr lang="en-US" sz="2600" dirty="0"/>
              <a:t> (or </a:t>
            </a:r>
            <a:r>
              <a:rPr lang="en-US" sz="2600" i="1" dirty="0"/>
              <a:t>boss</a:t>
            </a:r>
            <a:r>
              <a:rPr lang="en-US" sz="2600" dirty="0"/>
              <a:t>), and once in the role of </a:t>
            </a:r>
            <a:r>
              <a:rPr lang="en-US" sz="2600" i="1" dirty="0"/>
              <a:t>supervisee </a:t>
            </a:r>
            <a:r>
              <a:rPr lang="en-US" sz="2600" dirty="0"/>
              <a:t>(or</a:t>
            </a:r>
            <a:r>
              <a:rPr lang="en-US" sz="2600" i="1" dirty="0"/>
              <a:t> subordinate</a:t>
            </a:r>
            <a:r>
              <a:rPr lang="en-US" sz="2600" dirty="0"/>
              <a:t>).</a:t>
            </a:r>
          </a:p>
        </p:txBody>
      </p:sp>
    </p:spTree>
    <p:extLst>
      <p:ext uri="{BB962C8B-B14F-4D97-AF65-F5344CB8AC3E}">
        <p14:creationId xmlns:p14="http://schemas.microsoft.com/office/powerpoint/2010/main" val="372298741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25" y="838200"/>
            <a:ext cx="8321675" cy="4901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7490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675" y="6626"/>
            <a:ext cx="7620000" cy="1143000"/>
          </a:xfrm>
        </p:spPr>
        <p:txBody>
          <a:bodyPr/>
          <a:lstStyle/>
          <a:p>
            <a:r>
              <a:rPr lang="en-US" b="1" dirty="0" smtClean="0"/>
              <a:t>Degree of Relationships</a:t>
            </a:r>
            <a:endParaRPr lang="en-US" b="1" dirty="0"/>
          </a:p>
        </p:txBody>
      </p:sp>
      <p:sp>
        <p:nvSpPr>
          <p:cNvPr id="3" name="Content Placeholder 2"/>
          <p:cNvSpPr>
            <a:spLocks noGrp="1"/>
          </p:cNvSpPr>
          <p:nvPr>
            <p:ph idx="1"/>
          </p:nvPr>
        </p:nvSpPr>
        <p:spPr>
          <a:xfrm>
            <a:off x="457199" y="1219200"/>
            <a:ext cx="7610475" cy="5067300"/>
          </a:xfrm>
        </p:spPr>
        <p:txBody>
          <a:bodyPr>
            <a:normAutofit/>
          </a:bodyPr>
          <a:lstStyle/>
          <a:p>
            <a:pPr algn="just"/>
            <a:r>
              <a:rPr lang="en-US" sz="3000" dirty="0"/>
              <a:t>In DBMS, a degree of relationship </a:t>
            </a:r>
            <a:r>
              <a:rPr lang="en-US" sz="3000" b="1" dirty="0"/>
              <a:t>represents the number of entity types that associate in a relationship</a:t>
            </a:r>
            <a:r>
              <a:rPr lang="en-US" sz="3000" dirty="0" smtClean="0"/>
              <a:t>.</a:t>
            </a:r>
          </a:p>
          <a:p>
            <a:pPr algn="just"/>
            <a:r>
              <a:rPr lang="en-US" sz="3000" dirty="0" smtClean="0"/>
              <a:t>For Ex. Binary relationship type, Ternary relationship type.</a:t>
            </a:r>
            <a:endParaRPr lang="en-US" sz="3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886200"/>
            <a:ext cx="6391275"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96900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9"/>
          <p:cNvSpPr txBox="1">
            <a:spLocks noGrp="1"/>
          </p:cNvSpPr>
          <p:nvPr>
            <p:ph type="title"/>
          </p:nvPr>
        </p:nvSpPr>
        <p:spPr>
          <a:xfrm>
            <a:off x="248478" y="38100"/>
            <a:ext cx="8324022"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22222"/>
              </a:buClr>
              <a:buSzPts val="3600"/>
              <a:buFont typeface="Calibri"/>
              <a:buNone/>
            </a:pPr>
            <a:r>
              <a:rPr lang="en-US" sz="3600" b="1" i="0">
                <a:solidFill>
                  <a:srgbClr val="222222"/>
                </a:solidFill>
                <a:latin typeface="Calibri"/>
                <a:ea typeface="Calibri"/>
                <a:cs typeface="Calibri"/>
                <a:sym typeface="Calibri"/>
              </a:rPr>
              <a:t>How to Create an Entity Relationship Diagram (ERD)</a:t>
            </a:r>
            <a:br>
              <a:rPr lang="en-US" sz="3600" b="1" i="0">
                <a:solidFill>
                  <a:srgbClr val="222222"/>
                </a:solidFill>
                <a:latin typeface="Calibri"/>
                <a:ea typeface="Calibri"/>
                <a:cs typeface="Calibri"/>
                <a:sym typeface="Calibri"/>
              </a:rPr>
            </a:br>
            <a:endParaRPr sz="3600">
              <a:latin typeface="Calibri"/>
              <a:ea typeface="Calibri"/>
              <a:cs typeface="Calibri"/>
              <a:sym typeface="Calibri"/>
            </a:endParaRPr>
          </a:p>
        </p:txBody>
      </p:sp>
      <p:sp>
        <p:nvSpPr>
          <p:cNvPr id="214" name="Google Shape;214;p19"/>
          <p:cNvSpPr txBox="1">
            <a:spLocks noGrp="1"/>
          </p:cNvSpPr>
          <p:nvPr>
            <p:ph type="body" idx="1"/>
          </p:nvPr>
        </p:nvSpPr>
        <p:spPr>
          <a:xfrm>
            <a:off x="437323" y="2663687"/>
            <a:ext cx="4522304" cy="3513276"/>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90000"/>
              </a:lnSpc>
              <a:spcBef>
                <a:spcPts val="0"/>
              </a:spcBef>
              <a:spcAft>
                <a:spcPts val="0"/>
              </a:spcAft>
              <a:buClr>
                <a:srgbClr val="000099"/>
              </a:buClr>
              <a:buSzPts val="3200"/>
              <a:buChar char="•"/>
            </a:pPr>
            <a:r>
              <a:rPr lang="en-US" sz="3200" b="1">
                <a:solidFill>
                  <a:srgbClr val="000099"/>
                </a:solidFill>
              </a:rPr>
              <a:t>In a university, a Student enrolls in Courses. </a:t>
            </a:r>
            <a:r>
              <a:rPr lang="en-US" sz="3200" b="1">
                <a:solidFill>
                  <a:srgbClr val="C00000"/>
                </a:solidFill>
              </a:rPr>
              <a:t>A student must be assigned to at least one or more Courses.</a:t>
            </a:r>
            <a:r>
              <a:rPr lang="en-US" sz="3200"/>
              <a:t> </a:t>
            </a:r>
            <a:r>
              <a:rPr lang="en-US" sz="3200" b="1">
                <a:solidFill>
                  <a:srgbClr val="000099"/>
                </a:solidFill>
              </a:rPr>
              <a:t>Each course is taught by a single Professor.</a:t>
            </a:r>
            <a:r>
              <a:rPr lang="en-US" sz="3200"/>
              <a:t> </a:t>
            </a:r>
            <a:r>
              <a:rPr lang="en-US" sz="3200" b="1">
                <a:solidFill>
                  <a:srgbClr val="C00000"/>
                </a:solidFill>
              </a:rPr>
              <a:t>To maintain instruction quality, a Professor can deliver only one course.</a:t>
            </a:r>
            <a:endParaRPr/>
          </a:p>
        </p:txBody>
      </p:sp>
      <p:pic>
        <p:nvPicPr>
          <p:cNvPr id="215" name="Google Shape;215;p19" descr="Steps to Create an ER Diagram"/>
          <p:cNvPicPr preferRelativeResize="0"/>
          <p:nvPr/>
        </p:nvPicPr>
        <p:blipFill rotWithShape="1">
          <a:blip r:embed="rId3">
            <a:alphaModFix/>
          </a:blip>
          <a:srcRect/>
          <a:stretch/>
        </p:blipFill>
        <p:spPr>
          <a:xfrm>
            <a:off x="248478" y="1027907"/>
            <a:ext cx="6369430" cy="1362075"/>
          </a:xfrm>
          <a:prstGeom prst="rect">
            <a:avLst/>
          </a:prstGeom>
          <a:noFill/>
          <a:ln>
            <a:noFill/>
          </a:ln>
        </p:spPr>
      </p:pic>
      <p:pic>
        <p:nvPicPr>
          <p:cNvPr id="216" name="Google Shape;216;p19"/>
          <p:cNvPicPr preferRelativeResize="0"/>
          <p:nvPr/>
        </p:nvPicPr>
        <p:blipFill rotWithShape="1">
          <a:blip r:embed="rId4">
            <a:alphaModFix/>
          </a:blip>
          <a:srcRect/>
          <a:stretch/>
        </p:blipFill>
        <p:spPr>
          <a:xfrm>
            <a:off x="6708913" y="1027906"/>
            <a:ext cx="2117035" cy="5266877"/>
          </a:xfrm>
          <a:prstGeom prst="rect">
            <a:avLst/>
          </a:prstGeom>
          <a:noFill/>
          <a:ln>
            <a:noFill/>
          </a:ln>
        </p:spPr>
      </p:pic>
    </p:spTree>
    <p:extLst>
      <p:ext uri="{BB962C8B-B14F-4D97-AF65-F5344CB8AC3E}">
        <p14:creationId xmlns:p14="http://schemas.microsoft.com/office/powerpoint/2010/main" val="125262472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0"/>
          <p:cNvSpPr txBox="1">
            <a:spLocks noGrp="1"/>
          </p:cNvSpPr>
          <p:nvPr>
            <p:ph type="title"/>
          </p:nvPr>
        </p:nvSpPr>
        <p:spPr>
          <a:xfrm>
            <a:off x="248478" y="0"/>
            <a:ext cx="8247822"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22222"/>
              </a:buClr>
              <a:buSzPts val="3600"/>
              <a:buFont typeface="Calibri"/>
              <a:buNone/>
            </a:pPr>
            <a:r>
              <a:rPr lang="en-US" sz="3600" b="1" i="0" dirty="0">
                <a:solidFill>
                  <a:srgbClr val="222222"/>
                </a:solidFill>
                <a:latin typeface="Calibri"/>
                <a:ea typeface="Calibri"/>
                <a:cs typeface="Calibri"/>
                <a:sym typeface="Calibri"/>
              </a:rPr>
              <a:t>How to Create an Entity Relationship Diagram (ERD)</a:t>
            </a:r>
            <a:br>
              <a:rPr lang="en-US" sz="3600" b="1" i="0" dirty="0">
                <a:solidFill>
                  <a:srgbClr val="222222"/>
                </a:solidFill>
                <a:latin typeface="Calibri"/>
                <a:ea typeface="Calibri"/>
                <a:cs typeface="Calibri"/>
                <a:sym typeface="Calibri"/>
              </a:rPr>
            </a:br>
            <a:endParaRPr sz="3600" dirty="0">
              <a:latin typeface="Calibri"/>
              <a:ea typeface="Calibri"/>
              <a:cs typeface="Calibri"/>
              <a:sym typeface="Calibri"/>
            </a:endParaRPr>
          </a:p>
        </p:txBody>
      </p:sp>
      <p:sp>
        <p:nvSpPr>
          <p:cNvPr id="222" name="Google Shape;222;p20"/>
          <p:cNvSpPr txBox="1">
            <a:spLocks noGrp="1"/>
          </p:cNvSpPr>
          <p:nvPr>
            <p:ph type="body" idx="1"/>
          </p:nvPr>
        </p:nvSpPr>
        <p:spPr>
          <a:xfrm>
            <a:off x="139149" y="2610678"/>
            <a:ext cx="3428999" cy="4015409"/>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t>In a university, a </a:t>
            </a:r>
            <a:r>
              <a:rPr lang="en-US" b="1" dirty="0">
                <a:solidFill>
                  <a:srgbClr val="000099"/>
                </a:solidFill>
              </a:rPr>
              <a:t>Student</a:t>
            </a:r>
            <a:r>
              <a:rPr lang="en-US" dirty="0"/>
              <a:t> enrolls in </a:t>
            </a:r>
            <a:r>
              <a:rPr lang="en-US" b="1" dirty="0">
                <a:solidFill>
                  <a:srgbClr val="000099"/>
                </a:solidFill>
              </a:rPr>
              <a:t>Courses.</a:t>
            </a:r>
            <a:r>
              <a:rPr lang="en-US" dirty="0"/>
              <a:t> A student must be assigned to at least one or more Courses. Each course is taught by a single </a:t>
            </a:r>
            <a:r>
              <a:rPr lang="en-US" b="1" dirty="0">
                <a:solidFill>
                  <a:srgbClr val="000099"/>
                </a:solidFill>
              </a:rPr>
              <a:t>Professor</a:t>
            </a:r>
            <a:r>
              <a:rPr lang="en-US" dirty="0">
                <a:solidFill>
                  <a:srgbClr val="000099"/>
                </a:solidFill>
              </a:rPr>
              <a:t>.</a:t>
            </a:r>
            <a:r>
              <a:rPr lang="en-US" dirty="0"/>
              <a:t> To maintain instruction quality, a Professor can deliver only one course.</a:t>
            </a:r>
            <a:endParaRPr dirty="0"/>
          </a:p>
        </p:txBody>
      </p:sp>
      <p:pic>
        <p:nvPicPr>
          <p:cNvPr id="223" name="Google Shape;223;p20" descr="Steps to Create an ER Diagram"/>
          <p:cNvPicPr preferRelativeResize="0"/>
          <p:nvPr/>
        </p:nvPicPr>
        <p:blipFill rotWithShape="1">
          <a:blip r:embed="rId3">
            <a:alphaModFix/>
          </a:blip>
          <a:srcRect/>
          <a:stretch/>
        </p:blipFill>
        <p:spPr>
          <a:xfrm>
            <a:off x="248478" y="1027907"/>
            <a:ext cx="6369430" cy="1362075"/>
          </a:xfrm>
          <a:prstGeom prst="rect">
            <a:avLst/>
          </a:prstGeom>
          <a:noFill/>
          <a:ln>
            <a:noFill/>
          </a:ln>
        </p:spPr>
      </p:pic>
      <p:sp>
        <p:nvSpPr>
          <p:cNvPr id="224" name="Google Shape;224;p20"/>
          <p:cNvSpPr txBox="1"/>
          <p:nvPr/>
        </p:nvSpPr>
        <p:spPr>
          <a:xfrm>
            <a:off x="3433194" y="2411066"/>
            <a:ext cx="1748406" cy="4294533"/>
          </a:xfrm>
          <a:prstGeom prst="rect">
            <a:avLst/>
          </a:prstGeom>
          <a:noFill/>
          <a:ln>
            <a:noFill/>
          </a:ln>
        </p:spPr>
        <p:txBody>
          <a:bodyPr spcFirstLastPara="1" wrap="square" lIns="91425" tIns="45700" rIns="91425" bIns="45700" anchor="t" anchorCtr="0">
            <a:normAutofit fontScale="92500"/>
          </a:bodyPr>
          <a:lstStyle/>
          <a:p>
            <a:pPr marL="228600" marR="0" lvl="0" indent="-228600" algn="l" rtl="0">
              <a:lnSpc>
                <a:spcPct val="90000"/>
              </a:lnSpc>
              <a:spcBef>
                <a:spcPts val="0"/>
              </a:spcBef>
              <a:spcAft>
                <a:spcPts val="0"/>
              </a:spcAft>
              <a:buClr>
                <a:srgbClr val="222222"/>
              </a:buClr>
              <a:buSzPts val="2800"/>
              <a:buFont typeface="Arial"/>
              <a:buChar char="•"/>
            </a:pPr>
            <a:r>
              <a:rPr lang="en-US" sz="2800" b="1" i="0" u="none" strike="noStrike" cap="none" dirty="0">
                <a:solidFill>
                  <a:srgbClr val="222222"/>
                </a:solidFill>
                <a:latin typeface="Calibri"/>
                <a:ea typeface="Calibri"/>
                <a:cs typeface="Calibri"/>
                <a:sym typeface="Calibri"/>
              </a:rPr>
              <a:t>Step 1) Entity Identification</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We have three entities</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Student</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Course</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Professor</a:t>
            </a:r>
            <a:endParaRPr sz="1800" b="0" i="0" u="none" strike="noStrike" cap="none" dirty="0">
              <a:solidFill>
                <a:srgbClr val="222222"/>
              </a:solidFill>
              <a:latin typeface="Calibri"/>
              <a:ea typeface="Calibri"/>
              <a:cs typeface="Calibri"/>
              <a:sym typeface="Calibri"/>
            </a:endParaRPr>
          </a:p>
        </p:txBody>
      </p:sp>
      <p:pic>
        <p:nvPicPr>
          <p:cNvPr id="225" name="Google Shape;225;p20"/>
          <p:cNvPicPr preferRelativeResize="0"/>
          <p:nvPr/>
        </p:nvPicPr>
        <p:blipFill rotWithShape="1">
          <a:blip r:embed="rId4">
            <a:alphaModFix/>
          </a:blip>
          <a:srcRect/>
          <a:stretch/>
        </p:blipFill>
        <p:spPr>
          <a:xfrm>
            <a:off x="5000626" y="3265381"/>
            <a:ext cx="4143375" cy="1362075"/>
          </a:xfrm>
          <a:prstGeom prst="rect">
            <a:avLst/>
          </a:prstGeom>
          <a:noFill/>
          <a:ln>
            <a:noFill/>
          </a:ln>
        </p:spPr>
      </p:pic>
    </p:spTree>
    <p:extLst>
      <p:ext uri="{BB962C8B-B14F-4D97-AF65-F5344CB8AC3E}">
        <p14:creationId xmlns:p14="http://schemas.microsoft.com/office/powerpoint/2010/main" val="275005622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1"/>
          <p:cNvSpPr txBox="1">
            <a:spLocks noGrp="1"/>
          </p:cNvSpPr>
          <p:nvPr>
            <p:ph type="title"/>
          </p:nvPr>
        </p:nvSpPr>
        <p:spPr>
          <a:xfrm>
            <a:off x="248478" y="0"/>
            <a:ext cx="8895522"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22222"/>
              </a:buClr>
              <a:buSzPts val="3600"/>
              <a:buFont typeface="Calibri"/>
              <a:buNone/>
            </a:pPr>
            <a:r>
              <a:rPr lang="en-US" sz="3600" b="1" i="0" dirty="0">
                <a:solidFill>
                  <a:srgbClr val="222222"/>
                </a:solidFill>
                <a:latin typeface="Calibri"/>
                <a:ea typeface="Calibri"/>
                <a:cs typeface="Calibri"/>
                <a:sym typeface="Calibri"/>
              </a:rPr>
              <a:t>How to Create an Entity Relationship Diagram </a:t>
            </a:r>
            <a:r>
              <a:rPr lang="en-US" sz="3600" b="1" i="0" dirty="0" smtClean="0">
                <a:solidFill>
                  <a:srgbClr val="222222"/>
                </a:solidFill>
                <a:latin typeface="Calibri"/>
                <a:ea typeface="Calibri"/>
                <a:cs typeface="Calibri"/>
                <a:sym typeface="Calibri"/>
              </a:rPr>
              <a:t>(</a:t>
            </a:r>
            <a:r>
              <a:rPr lang="en-US" sz="3600" b="1" i="0" dirty="0">
                <a:solidFill>
                  <a:srgbClr val="222222"/>
                </a:solidFill>
                <a:latin typeface="Calibri"/>
                <a:ea typeface="Calibri"/>
                <a:cs typeface="Calibri"/>
                <a:sym typeface="Calibri"/>
              </a:rPr>
              <a:t/>
            </a:r>
            <a:br>
              <a:rPr lang="en-US" sz="3600" b="1" i="0" dirty="0">
                <a:solidFill>
                  <a:srgbClr val="222222"/>
                </a:solidFill>
                <a:latin typeface="Calibri"/>
                <a:ea typeface="Calibri"/>
                <a:cs typeface="Calibri"/>
                <a:sym typeface="Calibri"/>
              </a:rPr>
            </a:br>
            <a:endParaRPr sz="3600" dirty="0">
              <a:latin typeface="Calibri"/>
              <a:ea typeface="Calibri"/>
              <a:cs typeface="Calibri"/>
              <a:sym typeface="Calibri"/>
            </a:endParaRPr>
          </a:p>
        </p:txBody>
      </p:sp>
      <p:sp>
        <p:nvSpPr>
          <p:cNvPr id="231" name="Google Shape;231;p21"/>
          <p:cNvSpPr txBox="1">
            <a:spLocks noGrp="1"/>
          </p:cNvSpPr>
          <p:nvPr>
            <p:ph type="body" idx="1"/>
          </p:nvPr>
        </p:nvSpPr>
        <p:spPr>
          <a:xfrm>
            <a:off x="225618" y="2138402"/>
            <a:ext cx="3506195" cy="449099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t>In a university, a </a:t>
            </a:r>
            <a:r>
              <a:rPr lang="en-US" b="1" dirty="0">
                <a:solidFill>
                  <a:srgbClr val="000099"/>
                </a:solidFill>
              </a:rPr>
              <a:t>Student</a:t>
            </a:r>
            <a:r>
              <a:rPr lang="en-US" dirty="0"/>
              <a:t> enrolls in </a:t>
            </a:r>
            <a:r>
              <a:rPr lang="en-US" b="1" dirty="0">
                <a:solidFill>
                  <a:srgbClr val="000099"/>
                </a:solidFill>
              </a:rPr>
              <a:t>Courses.</a:t>
            </a:r>
            <a:r>
              <a:rPr lang="en-US" dirty="0"/>
              <a:t> A student must be assigned to at least one or more Courses. Each course is taught by a single </a:t>
            </a:r>
            <a:r>
              <a:rPr lang="en-US" b="1" dirty="0">
                <a:solidFill>
                  <a:srgbClr val="000099"/>
                </a:solidFill>
              </a:rPr>
              <a:t>Professor</a:t>
            </a:r>
            <a:r>
              <a:rPr lang="en-US" dirty="0">
                <a:solidFill>
                  <a:srgbClr val="000099"/>
                </a:solidFill>
              </a:rPr>
              <a:t>.</a:t>
            </a:r>
            <a:r>
              <a:rPr lang="en-US" dirty="0"/>
              <a:t> To maintain instruction quality, a Professor can deliver only one course.</a:t>
            </a:r>
            <a:endParaRPr dirty="0"/>
          </a:p>
        </p:txBody>
      </p:sp>
      <p:pic>
        <p:nvPicPr>
          <p:cNvPr id="232" name="Google Shape;232;p21" descr="Steps to Create an ER Diagram"/>
          <p:cNvPicPr preferRelativeResize="0"/>
          <p:nvPr/>
        </p:nvPicPr>
        <p:blipFill rotWithShape="1">
          <a:blip r:embed="rId3">
            <a:alphaModFix/>
          </a:blip>
          <a:srcRect/>
          <a:stretch/>
        </p:blipFill>
        <p:spPr>
          <a:xfrm>
            <a:off x="248478" y="609600"/>
            <a:ext cx="6369430" cy="1362075"/>
          </a:xfrm>
          <a:prstGeom prst="rect">
            <a:avLst/>
          </a:prstGeom>
          <a:noFill/>
          <a:ln>
            <a:noFill/>
          </a:ln>
        </p:spPr>
      </p:pic>
      <p:sp>
        <p:nvSpPr>
          <p:cNvPr id="233" name="Google Shape;233;p21"/>
          <p:cNvSpPr txBox="1"/>
          <p:nvPr/>
        </p:nvSpPr>
        <p:spPr>
          <a:xfrm>
            <a:off x="3731813" y="1915636"/>
            <a:ext cx="4876800" cy="3513276"/>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222222"/>
              </a:buClr>
              <a:buSzPts val="2800"/>
              <a:buFont typeface="Arial"/>
              <a:buChar char="•"/>
            </a:pPr>
            <a:r>
              <a:rPr lang="en-US" sz="2800" b="1" i="0" u="none" strike="noStrike" cap="none" dirty="0">
                <a:solidFill>
                  <a:srgbClr val="222222"/>
                </a:solidFill>
                <a:latin typeface="Calibri"/>
                <a:ea typeface="Calibri"/>
                <a:cs typeface="Calibri"/>
                <a:sym typeface="Calibri"/>
              </a:rPr>
              <a:t>Step 2) Relationship Identification</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We have the following two relationships</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The student is </a:t>
            </a:r>
            <a:r>
              <a:rPr lang="en-US" sz="2800" b="1" i="0" u="none" strike="noStrike" cap="none" dirty="0">
                <a:solidFill>
                  <a:srgbClr val="222222"/>
                </a:solidFill>
                <a:latin typeface="Calibri"/>
                <a:ea typeface="Calibri"/>
                <a:cs typeface="Calibri"/>
                <a:sym typeface="Calibri"/>
              </a:rPr>
              <a:t>assigned</a:t>
            </a:r>
            <a:r>
              <a:rPr lang="en-US" sz="2800" b="0" i="0" u="none" strike="noStrike" cap="none" dirty="0">
                <a:solidFill>
                  <a:srgbClr val="222222"/>
                </a:solidFill>
                <a:latin typeface="Calibri"/>
                <a:ea typeface="Calibri"/>
                <a:cs typeface="Calibri"/>
                <a:sym typeface="Calibri"/>
              </a:rPr>
              <a:t> a course</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Professor </a:t>
            </a:r>
            <a:r>
              <a:rPr lang="en-US" sz="2800" b="1" i="0" u="none" strike="noStrike" cap="none" dirty="0">
                <a:solidFill>
                  <a:srgbClr val="222222"/>
                </a:solidFill>
                <a:latin typeface="Calibri"/>
                <a:ea typeface="Calibri"/>
                <a:cs typeface="Calibri"/>
                <a:sym typeface="Calibri"/>
              </a:rPr>
              <a:t>delivers</a:t>
            </a:r>
            <a:r>
              <a:rPr lang="en-US" sz="2800" b="0" i="0" u="none" strike="noStrike" cap="none" dirty="0">
                <a:solidFill>
                  <a:srgbClr val="222222"/>
                </a:solidFill>
                <a:latin typeface="Calibri"/>
                <a:ea typeface="Calibri"/>
                <a:cs typeface="Calibri"/>
                <a:sym typeface="Calibri"/>
              </a:rPr>
              <a:t> a course</a:t>
            </a:r>
            <a:endParaRPr dirty="0"/>
          </a:p>
          <a:p>
            <a:pPr marL="228600" marR="0" lvl="0" indent="-101600" algn="l" rtl="0">
              <a:lnSpc>
                <a:spcPct val="90000"/>
              </a:lnSpc>
              <a:spcBef>
                <a:spcPts val="1000"/>
              </a:spcBef>
              <a:spcAft>
                <a:spcPts val="0"/>
              </a:spcAft>
              <a:buClr>
                <a:schemeClr val="dk1"/>
              </a:buClr>
              <a:buSzPts val="2000"/>
              <a:buFont typeface="Arial"/>
              <a:buNone/>
            </a:pPr>
            <a:endParaRPr sz="2000" b="0" i="0" u="none" strike="noStrike" cap="none" dirty="0">
              <a:solidFill>
                <a:srgbClr val="222222"/>
              </a:solidFill>
              <a:latin typeface="Calibri"/>
              <a:ea typeface="Calibri"/>
              <a:cs typeface="Calibri"/>
              <a:sym typeface="Calibri"/>
            </a:endParaRPr>
          </a:p>
        </p:txBody>
      </p:sp>
      <p:pic>
        <p:nvPicPr>
          <p:cNvPr id="234" name="Google Shape;234;p21"/>
          <p:cNvPicPr preferRelativeResize="0"/>
          <p:nvPr/>
        </p:nvPicPr>
        <p:blipFill rotWithShape="1">
          <a:blip r:embed="rId4">
            <a:alphaModFix/>
          </a:blip>
          <a:srcRect/>
          <a:stretch/>
        </p:blipFill>
        <p:spPr>
          <a:xfrm>
            <a:off x="3747053" y="4618380"/>
            <a:ext cx="5396947" cy="2239620"/>
          </a:xfrm>
          <a:prstGeom prst="rect">
            <a:avLst/>
          </a:prstGeom>
          <a:noFill/>
          <a:ln>
            <a:noFill/>
          </a:ln>
        </p:spPr>
      </p:pic>
    </p:spTree>
    <p:extLst>
      <p:ext uri="{BB962C8B-B14F-4D97-AF65-F5344CB8AC3E}">
        <p14:creationId xmlns:p14="http://schemas.microsoft.com/office/powerpoint/2010/main" val="111786106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2"/>
          <p:cNvSpPr txBox="1">
            <a:spLocks noGrp="1"/>
          </p:cNvSpPr>
          <p:nvPr>
            <p:ph type="title"/>
          </p:nvPr>
        </p:nvSpPr>
        <p:spPr>
          <a:xfrm>
            <a:off x="248478" y="-161289"/>
            <a:ext cx="8895523"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22222"/>
              </a:buClr>
              <a:buSzPts val="3600"/>
              <a:buFont typeface="Calibri"/>
              <a:buNone/>
            </a:pPr>
            <a:r>
              <a:rPr lang="en-US" sz="3600" b="1" i="0" dirty="0">
                <a:solidFill>
                  <a:srgbClr val="222222"/>
                </a:solidFill>
                <a:latin typeface="Calibri"/>
                <a:ea typeface="Calibri"/>
                <a:cs typeface="Calibri"/>
                <a:sym typeface="Calibri"/>
              </a:rPr>
              <a:t>How to Create an Entity Relationship </a:t>
            </a:r>
            <a:r>
              <a:rPr lang="en-US" sz="3600" b="1" i="0" dirty="0" smtClean="0">
                <a:solidFill>
                  <a:srgbClr val="222222"/>
                </a:solidFill>
                <a:latin typeface="Calibri"/>
                <a:ea typeface="Calibri"/>
                <a:cs typeface="Calibri"/>
                <a:sym typeface="Calibri"/>
              </a:rPr>
              <a:t>Diagram</a:t>
            </a:r>
            <a:r>
              <a:rPr lang="en-US" sz="3600" b="1" i="0" dirty="0">
                <a:solidFill>
                  <a:srgbClr val="222222"/>
                </a:solidFill>
                <a:latin typeface="Calibri"/>
                <a:ea typeface="Calibri"/>
                <a:cs typeface="Calibri"/>
                <a:sym typeface="Calibri"/>
              </a:rPr>
              <a:t/>
            </a:r>
            <a:br>
              <a:rPr lang="en-US" sz="3600" b="1" i="0" dirty="0">
                <a:solidFill>
                  <a:srgbClr val="222222"/>
                </a:solidFill>
                <a:latin typeface="Calibri"/>
                <a:ea typeface="Calibri"/>
                <a:cs typeface="Calibri"/>
                <a:sym typeface="Calibri"/>
              </a:rPr>
            </a:br>
            <a:endParaRPr sz="3600" dirty="0">
              <a:latin typeface="Calibri"/>
              <a:ea typeface="Calibri"/>
              <a:cs typeface="Calibri"/>
              <a:sym typeface="Calibri"/>
            </a:endParaRPr>
          </a:p>
        </p:txBody>
      </p:sp>
      <p:sp>
        <p:nvSpPr>
          <p:cNvPr id="240" name="Google Shape;240;p22"/>
          <p:cNvSpPr txBox="1">
            <a:spLocks noGrp="1"/>
          </p:cNvSpPr>
          <p:nvPr>
            <p:ph type="body" idx="1"/>
          </p:nvPr>
        </p:nvSpPr>
        <p:spPr>
          <a:xfrm>
            <a:off x="198121" y="1716564"/>
            <a:ext cx="3428999" cy="4015409"/>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t>In a university, a Student enrolls in Courses. </a:t>
            </a:r>
            <a:r>
              <a:rPr lang="en-US" b="1" dirty="0">
                <a:solidFill>
                  <a:srgbClr val="000099"/>
                </a:solidFill>
              </a:rPr>
              <a:t>A student must be assigned to at least one or more Courses. </a:t>
            </a:r>
            <a:r>
              <a:rPr lang="en-US" dirty="0"/>
              <a:t>Each course is taught by a single Professor. To maintain instruction quality, a </a:t>
            </a:r>
            <a:r>
              <a:rPr lang="en-US" b="1" dirty="0">
                <a:solidFill>
                  <a:srgbClr val="000099"/>
                </a:solidFill>
              </a:rPr>
              <a:t>Professor can deliver only one course.</a:t>
            </a:r>
            <a:endParaRPr dirty="0"/>
          </a:p>
        </p:txBody>
      </p:sp>
      <p:pic>
        <p:nvPicPr>
          <p:cNvPr id="241" name="Google Shape;241;p22" descr="Steps to Create an ER Diagram"/>
          <p:cNvPicPr preferRelativeResize="0"/>
          <p:nvPr/>
        </p:nvPicPr>
        <p:blipFill rotWithShape="1">
          <a:blip r:embed="rId3">
            <a:alphaModFix/>
          </a:blip>
          <a:srcRect t="16492"/>
          <a:stretch/>
        </p:blipFill>
        <p:spPr>
          <a:xfrm>
            <a:off x="685800" y="571500"/>
            <a:ext cx="6369430" cy="1137444"/>
          </a:xfrm>
          <a:prstGeom prst="rect">
            <a:avLst/>
          </a:prstGeom>
          <a:noFill/>
          <a:ln>
            <a:noFill/>
          </a:ln>
        </p:spPr>
      </p:pic>
      <p:sp>
        <p:nvSpPr>
          <p:cNvPr id="242" name="Google Shape;242;p22"/>
          <p:cNvSpPr txBox="1"/>
          <p:nvPr/>
        </p:nvSpPr>
        <p:spPr>
          <a:xfrm>
            <a:off x="3870515" y="1701482"/>
            <a:ext cx="4587685" cy="3513276"/>
          </a:xfrm>
          <a:prstGeom prst="rect">
            <a:avLst/>
          </a:prstGeom>
          <a:noFill/>
          <a:ln>
            <a:noFill/>
          </a:ln>
        </p:spPr>
        <p:txBody>
          <a:bodyPr spcFirstLastPara="1" wrap="square" lIns="91425" tIns="45700" rIns="91425" bIns="45700" anchor="t" anchorCtr="0">
            <a:normAutofit lnSpcReduction="10000"/>
          </a:bodyPr>
          <a:lstStyle/>
          <a:p>
            <a:pPr marL="228600" marR="0" lvl="0" indent="-228600" algn="l" rtl="0">
              <a:lnSpc>
                <a:spcPct val="90000"/>
              </a:lnSpc>
              <a:spcBef>
                <a:spcPts val="0"/>
              </a:spcBef>
              <a:spcAft>
                <a:spcPts val="0"/>
              </a:spcAft>
              <a:buClr>
                <a:srgbClr val="222222"/>
              </a:buClr>
              <a:buSzPts val="2800"/>
              <a:buFont typeface="Arial"/>
              <a:buChar char="•"/>
            </a:pPr>
            <a:r>
              <a:rPr lang="en-US" sz="2800" b="1" i="0" u="none" strike="noStrike" cap="none" dirty="0">
                <a:solidFill>
                  <a:srgbClr val="222222"/>
                </a:solidFill>
                <a:latin typeface="Calibri"/>
                <a:ea typeface="Calibri"/>
                <a:cs typeface="Calibri"/>
                <a:sym typeface="Calibri"/>
              </a:rPr>
              <a:t>Step 3) Cardinality Identification</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For them problem statement we know that,</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A student can be assigned </a:t>
            </a:r>
            <a:r>
              <a:rPr lang="en-US" sz="2800" b="1" i="0" u="none" strike="noStrike" cap="none" dirty="0">
                <a:solidFill>
                  <a:srgbClr val="222222"/>
                </a:solidFill>
                <a:latin typeface="Calibri"/>
                <a:ea typeface="Calibri"/>
                <a:cs typeface="Calibri"/>
                <a:sym typeface="Calibri"/>
              </a:rPr>
              <a:t>multiple</a:t>
            </a:r>
            <a:r>
              <a:rPr lang="en-US" sz="2800" b="0" i="0" u="none" strike="noStrike" cap="none" dirty="0">
                <a:solidFill>
                  <a:srgbClr val="222222"/>
                </a:solidFill>
                <a:latin typeface="Calibri"/>
                <a:ea typeface="Calibri"/>
                <a:cs typeface="Calibri"/>
                <a:sym typeface="Calibri"/>
              </a:rPr>
              <a:t> courses</a:t>
            </a:r>
            <a:endParaRPr dirty="0"/>
          </a:p>
          <a:p>
            <a:pPr marL="228600" marR="0" lvl="0" indent="-228600" algn="l" rtl="0">
              <a:lnSpc>
                <a:spcPct val="90000"/>
              </a:lnSpc>
              <a:spcBef>
                <a:spcPts val="1000"/>
              </a:spcBef>
              <a:spcAft>
                <a:spcPts val="0"/>
              </a:spcAft>
              <a:buClr>
                <a:srgbClr val="222222"/>
              </a:buClr>
              <a:buSzPts val="2800"/>
              <a:buFont typeface="Arial"/>
              <a:buChar char="•"/>
            </a:pPr>
            <a:r>
              <a:rPr lang="en-US" sz="2800" b="0" i="0" u="none" strike="noStrike" cap="none" dirty="0">
                <a:solidFill>
                  <a:srgbClr val="222222"/>
                </a:solidFill>
                <a:latin typeface="Calibri"/>
                <a:ea typeface="Calibri"/>
                <a:cs typeface="Calibri"/>
                <a:sym typeface="Calibri"/>
              </a:rPr>
              <a:t>A Professor can deliver only </a:t>
            </a:r>
            <a:r>
              <a:rPr lang="en-US" sz="2800" b="1" i="0" u="none" strike="noStrike" cap="none" dirty="0">
                <a:solidFill>
                  <a:srgbClr val="222222"/>
                </a:solidFill>
                <a:latin typeface="Calibri"/>
                <a:ea typeface="Calibri"/>
                <a:cs typeface="Calibri"/>
                <a:sym typeface="Calibri"/>
              </a:rPr>
              <a:t>one</a:t>
            </a:r>
            <a:r>
              <a:rPr lang="en-US" sz="2800" b="0" i="0" u="none" strike="noStrike" cap="none" dirty="0">
                <a:solidFill>
                  <a:srgbClr val="222222"/>
                </a:solidFill>
                <a:latin typeface="Calibri"/>
                <a:ea typeface="Calibri"/>
                <a:cs typeface="Calibri"/>
                <a:sym typeface="Calibri"/>
              </a:rPr>
              <a:t> course</a:t>
            </a:r>
            <a:endParaRPr dirty="0"/>
          </a:p>
          <a:p>
            <a:pPr marL="228600" marR="0" lvl="0" indent="-101600" algn="l" rtl="0">
              <a:lnSpc>
                <a:spcPct val="90000"/>
              </a:lnSpc>
              <a:spcBef>
                <a:spcPts val="1000"/>
              </a:spcBef>
              <a:spcAft>
                <a:spcPts val="0"/>
              </a:spcAft>
              <a:buClr>
                <a:schemeClr val="dk1"/>
              </a:buClr>
              <a:buSzPts val="2000"/>
              <a:buFont typeface="Arial"/>
              <a:buNone/>
            </a:pPr>
            <a:endParaRPr sz="2000" b="0" i="0" u="none" strike="noStrike" cap="none" dirty="0">
              <a:solidFill>
                <a:srgbClr val="222222"/>
              </a:solidFill>
              <a:latin typeface="Calibri"/>
              <a:ea typeface="Calibri"/>
              <a:cs typeface="Calibri"/>
              <a:sym typeface="Calibri"/>
            </a:endParaRPr>
          </a:p>
        </p:txBody>
      </p:sp>
      <p:pic>
        <p:nvPicPr>
          <p:cNvPr id="243" name="Google Shape;243;p22"/>
          <p:cNvPicPr preferRelativeResize="0"/>
          <p:nvPr/>
        </p:nvPicPr>
        <p:blipFill rotWithShape="1">
          <a:blip r:embed="rId4">
            <a:alphaModFix/>
          </a:blip>
          <a:srcRect/>
          <a:stretch/>
        </p:blipFill>
        <p:spPr>
          <a:xfrm>
            <a:off x="3657600" y="4953000"/>
            <a:ext cx="5486400" cy="1905000"/>
          </a:xfrm>
          <a:prstGeom prst="rect">
            <a:avLst/>
          </a:prstGeom>
          <a:noFill/>
          <a:ln>
            <a:noFill/>
          </a:ln>
        </p:spPr>
      </p:pic>
    </p:spTree>
    <p:extLst>
      <p:ext uri="{BB962C8B-B14F-4D97-AF65-F5344CB8AC3E}">
        <p14:creationId xmlns:p14="http://schemas.microsoft.com/office/powerpoint/2010/main" val="359020374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3"/>
          <p:cNvSpPr txBox="1">
            <a:spLocks noGrp="1"/>
          </p:cNvSpPr>
          <p:nvPr>
            <p:ph type="title"/>
          </p:nvPr>
        </p:nvSpPr>
        <p:spPr>
          <a:xfrm>
            <a:off x="139148" y="0"/>
            <a:ext cx="8395251"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22222"/>
              </a:buClr>
              <a:buSzPts val="3600"/>
              <a:buFont typeface="Calibri"/>
              <a:buNone/>
            </a:pPr>
            <a:r>
              <a:rPr lang="en-US" sz="3600" b="1" i="0" dirty="0">
                <a:solidFill>
                  <a:srgbClr val="222222"/>
                </a:solidFill>
                <a:latin typeface="Calibri"/>
                <a:ea typeface="Calibri"/>
                <a:cs typeface="Calibri"/>
                <a:sym typeface="Calibri"/>
              </a:rPr>
              <a:t>How to Create an Entity Relationship </a:t>
            </a:r>
            <a:r>
              <a:rPr lang="en-US" sz="3600" b="1" i="0" dirty="0" smtClean="0">
                <a:solidFill>
                  <a:srgbClr val="222222"/>
                </a:solidFill>
                <a:latin typeface="Calibri"/>
                <a:ea typeface="Calibri"/>
                <a:cs typeface="Calibri"/>
                <a:sym typeface="Calibri"/>
              </a:rPr>
              <a:t>Diagram</a:t>
            </a:r>
            <a:r>
              <a:rPr lang="en-US" sz="3600" b="1" i="0" dirty="0">
                <a:solidFill>
                  <a:srgbClr val="222222"/>
                </a:solidFill>
                <a:latin typeface="Calibri"/>
                <a:ea typeface="Calibri"/>
                <a:cs typeface="Calibri"/>
                <a:sym typeface="Calibri"/>
              </a:rPr>
              <a:t/>
            </a:r>
            <a:br>
              <a:rPr lang="en-US" sz="3600" b="1" i="0" dirty="0">
                <a:solidFill>
                  <a:srgbClr val="222222"/>
                </a:solidFill>
                <a:latin typeface="Calibri"/>
                <a:ea typeface="Calibri"/>
                <a:cs typeface="Calibri"/>
                <a:sym typeface="Calibri"/>
              </a:rPr>
            </a:br>
            <a:endParaRPr sz="3600" dirty="0">
              <a:latin typeface="Calibri"/>
              <a:ea typeface="Calibri"/>
              <a:cs typeface="Calibri"/>
              <a:sym typeface="Calibri"/>
            </a:endParaRPr>
          </a:p>
        </p:txBody>
      </p:sp>
      <p:sp>
        <p:nvSpPr>
          <p:cNvPr id="249" name="Google Shape;249;p23"/>
          <p:cNvSpPr txBox="1">
            <a:spLocks noGrp="1"/>
          </p:cNvSpPr>
          <p:nvPr>
            <p:ph type="body" idx="1"/>
          </p:nvPr>
        </p:nvSpPr>
        <p:spPr>
          <a:xfrm>
            <a:off x="139149" y="2234608"/>
            <a:ext cx="8766312" cy="1940235"/>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just" rtl="0">
              <a:lnSpc>
                <a:spcPct val="90000"/>
              </a:lnSpc>
              <a:spcBef>
                <a:spcPts val="0"/>
              </a:spcBef>
              <a:spcAft>
                <a:spcPts val="0"/>
              </a:spcAft>
              <a:buClr>
                <a:srgbClr val="222222"/>
              </a:buClr>
              <a:buSzPct val="100000"/>
              <a:buChar char="•"/>
            </a:pPr>
            <a:r>
              <a:rPr lang="en-US" b="1" i="0" dirty="0">
                <a:solidFill>
                  <a:srgbClr val="222222"/>
                </a:solidFill>
              </a:rPr>
              <a:t>Step 4) Identify Attributes</a:t>
            </a:r>
            <a:endParaRPr dirty="0"/>
          </a:p>
          <a:p>
            <a:pPr marL="228600" lvl="0" indent="-228600" algn="just" rtl="0">
              <a:lnSpc>
                <a:spcPct val="90000"/>
              </a:lnSpc>
              <a:spcBef>
                <a:spcPts val="1000"/>
              </a:spcBef>
              <a:spcAft>
                <a:spcPts val="0"/>
              </a:spcAft>
              <a:buClr>
                <a:srgbClr val="222222"/>
              </a:buClr>
              <a:buSzPct val="100000"/>
              <a:buChar char="•"/>
            </a:pPr>
            <a:r>
              <a:rPr lang="en-US" b="0" i="0" dirty="0">
                <a:solidFill>
                  <a:srgbClr val="222222"/>
                </a:solidFill>
              </a:rPr>
              <a:t>You need to study the files, forms, reports, data currently maintained by the organization to identify attributes. You can also conduct interviews with various stakeholders to identify entities. Initially, it’s important to identify the attributes without mapping them to a particular entity.</a:t>
            </a:r>
            <a:endParaRPr dirty="0"/>
          </a:p>
          <a:p>
            <a:pPr marL="228600" lvl="0" indent="-228600" algn="just" rtl="0">
              <a:lnSpc>
                <a:spcPct val="90000"/>
              </a:lnSpc>
              <a:spcBef>
                <a:spcPts val="1000"/>
              </a:spcBef>
              <a:spcAft>
                <a:spcPts val="0"/>
              </a:spcAft>
              <a:buClr>
                <a:srgbClr val="222222"/>
              </a:buClr>
              <a:buSzPct val="100000"/>
              <a:buChar char="•"/>
            </a:pPr>
            <a:r>
              <a:rPr lang="en-US" b="0" i="0" dirty="0">
                <a:solidFill>
                  <a:srgbClr val="222222"/>
                </a:solidFill>
              </a:rPr>
              <a:t>Once, you have a list of Attributes, you need to map them to the identified entities. Once the mapping is done, identify the primary Keys. If a unique key is not readily available, create one.</a:t>
            </a:r>
            <a:endParaRPr dirty="0"/>
          </a:p>
        </p:txBody>
      </p:sp>
      <p:pic>
        <p:nvPicPr>
          <p:cNvPr id="250" name="Google Shape;250;p23" descr="Steps to Create an ER Diagram"/>
          <p:cNvPicPr preferRelativeResize="0"/>
          <p:nvPr/>
        </p:nvPicPr>
        <p:blipFill rotWithShape="1">
          <a:blip r:embed="rId3">
            <a:alphaModFix/>
          </a:blip>
          <a:srcRect/>
          <a:stretch/>
        </p:blipFill>
        <p:spPr>
          <a:xfrm>
            <a:off x="162009" y="685800"/>
            <a:ext cx="4939747" cy="1216191"/>
          </a:xfrm>
          <a:prstGeom prst="rect">
            <a:avLst/>
          </a:prstGeom>
          <a:noFill/>
          <a:ln>
            <a:noFill/>
          </a:ln>
        </p:spPr>
      </p:pic>
      <p:graphicFrame>
        <p:nvGraphicFramePr>
          <p:cNvPr id="251" name="Google Shape;251;p23"/>
          <p:cNvGraphicFramePr/>
          <p:nvPr>
            <p:extLst>
              <p:ext uri="{D42A27DB-BD31-4B8C-83A1-F6EECF244321}">
                <p14:modId xmlns:p14="http://schemas.microsoft.com/office/powerpoint/2010/main" val="2549380993"/>
              </p:ext>
            </p:extLst>
          </p:nvPr>
        </p:nvGraphicFramePr>
        <p:xfrm>
          <a:off x="5629087" y="990600"/>
          <a:ext cx="3514913" cy="2286040"/>
        </p:xfrm>
        <a:graphic>
          <a:graphicData uri="http://schemas.openxmlformats.org/drawingml/2006/table">
            <a:tbl>
              <a:tblPr>
                <a:noFill/>
              </a:tblPr>
              <a:tblGrid>
                <a:gridCol w="950625"/>
                <a:gridCol w="1282144"/>
                <a:gridCol w="1282144"/>
              </a:tblGrid>
              <a:tr h="330250">
                <a:tc>
                  <a:txBody>
                    <a:bodyPr/>
                    <a:lstStyle/>
                    <a:p>
                      <a:pPr marL="0" marR="0" lvl="0" indent="0" algn="l" rtl="0">
                        <a:spcBef>
                          <a:spcPts val="0"/>
                        </a:spcBef>
                        <a:spcAft>
                          <a:spcPts val="0"/>
                        </a:spcAft>
                        <a:buNone/>
                      </a:pPr>
                      <a:r>
                        <a:rPr lang="en-US" sz="1800" u="none" strike="noStrike" cap="none"/>
                        <a:t>Entity</a:t>
                      </a:r>
                      <a:endParaRPr/>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800" u="none" strike="noStrike" cap="none"/>
                        <a:t>Primary Key</a:t>
                      </a:r>
                      <a:endParaRPr/>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800" u="none" strike="noStrike" cap="none"/>
                        <a:t>Attribute</a:t>
                      </a:r>
                      <a:endParaRPr/>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9F9F9"/>
                    </a:solidFill>
                  </a:tcPr>
                </a:tc>
              </a:tr>
              <a:tr h="330250">
                <a:tc>
                  <a:txBody>
                    <a:bodyPr/>
                    <a:lstStyle/>
                    <a:p>
                      <a:pPr marL="0" marR="0" lvl="0" indent="0" algn="l" rtl="0">
                        <a:spcBef>
                          <a:spcPts val="0"/>
                        </a:spcBef>
                        <a:spcAft>
                          <a:spcPts val="0"/>
                        </a:spcAft>
                        <a:buNone/>
                      </a:pPr>
                      <a:r>
                        <a:rPr lang="en-US" sz="1800" u="none" strike="noStrike" cap="none"/>
                        <a:t>Student</a:t>
                      </a:r>
                      <a:endParaRPr/>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a:t>Student_ID</a:t>
                      </a:r>
                      <a:endParaRPr sz="1800"/>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a:t>StudentName</a:t>
                      </a:r>
                      <a:endParaRPr sz="1800"/>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30250">
                <a:tc>
                  <a:txBody>
                    <a:bodyPr/>
                    <a:lstStyle/>
                    <a:p>
                      <a:pPr marL="0" marR="0" lvl="0" indent="0" algn="l" rtl="0">
                        <a:spcBef>
                          <a:spcPts val="0"/>
                        </a:spcBef>
                        <a:spcAft>
                          <a:spcPts val="0"/>
                        </a:spcAft>
                        <a:buNone/>
                      </a:pPr>
                      <a:r>
                        <a:rPr lang="en-US" sz="1800"/>
                        <a:t>Professor</a:t>
                      </a:r>
                      <a:endParaRPr/>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800"/>
                        <a:t>Employee_ID</a:t>
                      </a:r>
                      <a:endParaRPr sz="1800"/>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800"/>
                        <a:t>ProfessorName</a:t>
                      </a:r>
                      <a:endParaRPr sz="1800"/>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9F9F9"/>
                    </a:solidFill>
                  </a:tcPr>
                </a:tc>
              </a:tr>
              <a:tr h="330250">
                <a:tc>
                  <a:txBody>
                    <a:bodyPr/>
                    <a:lstStyle/>
                    <a:p>
                      <a:pPr marL="0" marR="0" lvl="0" indent="0" algn="l" rtl="0">
                        <a:spcBef>
                          <a:spcPts val="0"/>
                        </a:spcBef>
                        <a:spcAft>
                          <a:spcPts val="0"/>
                        </a:spcAft>
                        <a:buNone/>
                      </a:pPr>
                      <a:r>
                        <a:rPr lang="en-US" sz="1800"/>
                        <a:t>Course</a:t>
                      </a:r>
                      <a:endParaRPr/>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a:t>Course_ID</a:t>
                      </a:r>
                      <a:endParaRPr sz="1800"/>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dirty="0" err="1"/>
                        <a:t>CourseName</a:t>
                      </a:r>
                      <a:endParaRPr sz="1800" dirty="0"/>
                    </a:p>
                  </a:txBody>
                  <a:tcPr marL="68588" marR="68588"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bl>
          </a:graphicData>
        </a:graphic>
      </p:graphicFrame>
      <p:pic>
        <p:nvPicPr>
          <p:cNvPr id="252" name="Google Shape;252;p23"/>
          <p:cNvPicPr preferRelativeResize="0"/>
          <p:nvPr/>
        </p:nvPicPr>
        <p:blipFill rotWithShape="1">
          <a:blip r:embed="rId4">
            <a:alphaModFix/>
          </a:blip>
          <a:srcRect/>
          <a:stretch/>
        </p:blipFill>
        <p:spPr>
          <a:xfrm>
            <a:off x="1725060" y="3908150"/>
            <a:ext cx="5972175" cy="2425700"/>
          </a:xfrm>
          <a:prstGeom prst="rect">
            <a:avLst/>
          </a:prstGeom>
          <a:noFill/>
          <a:ln>
            <a:noFill/>
          </a:ln>
        </p:spPr>
      </p:pic>
    </p:spTree>
    <p:extLst>
      <p:ext uri="{BB962C8B-B14F-4D97-AF65-F5344CB8AC3E}">
        <p14:creationId xmlns:p14="http://schemas.microsoft.com/office/powerpoint/2010/main" val="5742219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4"/>
          <p:cNvSpPr txBox="1">
            <a:spLocks noGrp="1"/>
          </p:cNvSpPr>
          <p:nvPr>
            <p:ph type="title"/>
          </p:nvPr>
        </p:nvSpPr>
        <p:spPr>
          <a:xfrm>
            <a:off x="457200" y="15240"/>
            <a:ext cx="80391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22222"/>
              </a:buClr>
              <a:buSzPts val="3600"/>
              <a:buFont typeface="Calibri"/>
              <a:buNone/>
            </a:pPr>
            <a:r>
              <a:rPr lang="en-US" sz="3600" b="1" i="0" dirty="0">
                <a:solidFill>
                  <a:srgbClr val="222222"/>
                </a:solidFill>
                <a:latin typeface="Calibri"/>
                <a:ea typeface="Calibri"/>
                <a:cs typeface="Calibri"/>
                <a:sym typeface="Calibri"/>
              </a:rPr>
              <a:t>How to Create an Entity Relationship Diagram (ERD)</a:t>
            </a:r>
            <a:br>
              <a:rPr lang="en-US" sz="3600" b="1" i="0" dirty="0">
                <a:solidFill>
                  <a:srgbClr val="222222"/>
                </a:solidFill>
                <a:latin typeface="Calibri"/>
                <a:ea typeface="Calibri"/>
                <a:cs typeface="Calibri"/>
                <a:sym typeface="Calibri"/>
              </a:rPr>
            </a:br>
            <a:endParaRPr sz="3600" dirty="0">
              <a:latin typeface="Calibri"/>
              <a:ea typeface="Calibri"/>
              <a:cs typeface="Calibri"/>
              <a:sym typeface="Calibri"/>
            </a:endParaRPr>
          </a:p>
        </p:txBody>
      </p:sp>
      <p:sp>
        <p:nvSpPr>
          <p:cNvPr id="258" name="Google Shape;258;p24"/>
          <p:cNvSpPr txBox="1">
            <a:spLocks noGrp="1"/>
          </p:cNvSpPr>
          <p:nvPr>
            <p:ph type="body" idx="1"/>
          </p:nvPr>
        </p:nvSpPr>
        <p:spPr>
          <a:xfrm>
            <a:off x="139149" y="2234608"/>
            <a:ext cx="8766312" cy="194023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22222"/>
              </a:buClr>
              <a:buSzPts val="2800"/>
              <a:buChar char="•"/>
            </a:pPr>
            <a:r>
              <a:rPr lang="en-US" b="1" i="0">
                <a:solidFill>
                  <a:srgbClr val="222222"/>
                </a:solidFill>
                <a:latin typeface="Source Sans Pro"/>
                <a:ea typeface="Source Sans Pro"/>
                <a:cs typeface="Source Sans Pro"/>
                <a:sym typeface="Source Sans Pro"/>
              </a:rPr>
              <a:t>Step 5) Create the ERD Diagram</a:t>
            </a:r>
            <a:endParaRPr/>
          </a:p>
        </p:txBody>
      </p:sp>
      <p:pic>
        <p:nvPicPr>
          <p:cNvPr id="259" name="Google Shape;259;p24" descr="Steps to Create an ER Diagram"/>
          <p:cNvPicPr preferRelativeResize="0"/>
          <p:nvPr/>
        </p:nvPicPr>
        <p:blipFill rotWithShape="1">
          <a:blip r:embed="rId3">
            <a:alphaModFix/>
          </a:blip>
          <a:srcRect/>
          <a:stretch/>
        </p:blipFill>
        <p:spPr>
          <a:xfrm>
            <a:off x="139149" y="1032497"/>
            <a:ext cx="4939747" cy="1216191"/>
          </a:xfrm>
          <a:prstGeom prst="rect">
            <a:avLst/>
          </a:prstGeom>
          <a:noFill/>
          <a:ln>
            <a:noFill/>
          </a:ln>
        </p:spPr>
      </p:pic>
      <p:graphicFrame>
        <p:nvGraphicFramePr>
          <p:cNvPr id="260" name="Google Shape;260;p24"/>
          <p:cNvGraphicFramePr/>
          <p:nvPr/>
        </p:nvGraphicFramePr>
        <p:xfrm>
          <a:off x="5277679" y="1032496"/>
          <a:ext cx="3514913" cy="2286040"/>
        </p:xfrm>
        <a:graphic>
          <a:graphicData uri="http://schemas.openxmlformats.org/drawingml/2006/table">
            <a:tbl>
              <a:tblPr>
                <a:noFill/>
              </a:tblPr>
              <a:tblGrid>
                <a:gridCol w="950625"/>
                <a:gridCol w="1282144"/>
                <a:gridCol w="1282144"/>
              </a:tblGrid>
              <a:tr h="330250">
                <a:tc>
                  <a:txBody>
                    <a:bodyPr/>
                    <a:lstStyle/>
                    <a:p>
                      <a:pPr marL="0" marR="0" lvl="0" indent="0" algn="l" rtl="0">
                        <a:spcBef>
                          <a:spcPts val="0"/>
                        </a:spcBef>
                        <a:spcAft>
                          <a:spcPts val="0"/>
                        </a:spcAft>
                        <a:buNone/>
                      </a:pPr>
                      <a:r>
                        <a:rPr lang="en-US" sz="1800"/>
                        <a:t>Entity</a:t>
                      </a:r>
                      <a:endParaRPr/>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800"/>
                        <a:t>Primary Key</a:t>
                      </a:r>
                      <a:endParaRPr/>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800"/>
                        <a:t>Attribute</a:t>
                      </a:r>
                      <a:endParaRPr/>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r>
              <a:tr h="330250">
                <a:tc>
                  <a:txBody>
                    <a:bodyPr/>
                    <a:lstStyle/>
                    <a:p>
                      <a:pPr marL="0" marR="0" lvl="0" indent="0" algn="l" rtl="0">
                        <a:spcBef>
                          <a:spcPts val="0"/>
                        </a:spcBef>
                        <a:spcAft>
                          <a:spcPts val="0"/>
                        </a:spcAft>
                        <a:buNone/>
                      </a:pPr>
                      <a:r>
                        <a:rPr lang="en-US" sz="1800"/>
                        <a:t>Student</a:t>
                      </a:r>
                      <a:endParaRPr/>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a:t>Student_ID</a:t>
                      </a:r>
                      <a:endParaRPr sz="1800"/>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a:t>StudentName</a:t>
                      </a:r>
                      <a:endParaRPr sz="1800"/>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FFFFF"/>
                    </a:solidFill>
                  </a:tcPr>
                </a:tc>
              </a:tr>
              <a:tr h="330250">
                <a:tc>
                  <a:txBody>
                    <a:bodyPr/>
                    <a:lstStyle/>
                    <a:p>
                      <a:pPr marL="0" marR="0" lvl="0" indent="0" algn="l" rtl="0">
                        <a:spcBef>
                          <a:spcPts val="0"/>
                        </a:spcBef>
                        <a:spcAft>
                          <a:spcPts val="0"/>
                        </a:spcAft>
                        <a:buNone/>
                      </a:pPr>
                      <a:r>
                        <a:rPr lang="en-US" sz="1800"/>
                        <a:t>Professor</a:t>
                      </a:r>
                      <a:endParaRPr/>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800"/>
                        <a:t>Employee_ID</a:t>
                      </a:r>
                      <a:endParaRPr sz="1800"/>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800"/>
                        <a:t>ProfessorName</a:t>
                      </a:r>
                      <a:endParaRPr sz="1800"/>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r>
              <a:tr h="330250">
                <a:tc>
                  <a:txBody>
                    <a:bodyPr/>
                    <a:lstStyle/>
                    <a:p>
                      <a:pPr marL="0" marR="0" lvl="0" indent="0" algn="l" rtl="0">
                        <a:spcBef>
                          <a:spcPts val="0"/>
                        </a:spcBef>
                        <a:spcAft>
                          <a:spcPts val="0"/>
                        </a:spcAft>
                        <a:buNone/>
                      </a:pPr>
                      <a:r>
                        <a:rPr lang="en-US" sz="1800"/>
                        <a:t>Course</a:t>
                      </a:r>
                      <a:endParaRPr/>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a:t>Course_ID</a:t>
                      </a:r>
                      <a:endParaRPr sz="1800"/>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a:t>CourseName</a:t>
                      </a:r>
                      <a:endParaRPr sz="1800"/>
                    </a:p>
                  </a:txBody>
                  <a:tcPr marL="68588" marR="68588"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pic>
        <p:nvPicPr>
          <p:cNvPr id="261" name="Google Shape;261;p24"/>
          <p:cNvPicPr preferRelativeResize="0"/>
          <p:nvPr/>
        </p:nvPicPr>
        <p:blipFill rotWithShape="1">
          <a:blip r:embed="rId4">
            <a:alphaModFix/>
          </a:blip>
          <a:srcRect/>
          <a:stretch/>
        </p:blipFill>
        <p:spPr>
          <a:xfrm>
            <a:off x="1301405" y="3039455"/>
            <a:ext cx="6143625" cy="2385626"/>
          </a:xfrm>
          <a:prstGeom prst="rect">
            <a:avLst/>
          </a:prstGeom>
          <a:noFill/>
          <a:ln>
            <a:noFill/>
          </a:ln>
        </p:spPr>
      </p:pic>
    </p:spTree>
    <p:extLst>
      <p:ext uri="{BB962C8B-B14F-4D97-AF65-F5344CB8AC3E}">
        <p14:creationId xmlns:p14="http://schemas.microsoft.com/office/powerpoint/2010/main" val="24923543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5"/>
          <p:cNvSpPr txBox="1">
            <a:spLocks noGrp="1"/>
          </p:cNvSpPr>
          <p:nvPr>
            <p:ph type="title"/>
          </p:nvPr>
        </p:nvSpPr>
        <p:spPr>
          <a:xfrm>
            <a:off x="381000" y="0"/>
            <a:ext cx="813434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dirty="0">
                <a:latin typeface="Calibri"/>
                <a:ea typeface="Calibri"/>
                <a:cs typeface="Calibri"/>
                <a:sym typeface="Calibri"/>
              </a:rPr>
              <a:t>Sample ER Diagram for Student Database</a:t>
            </a:r>
            <a:endParaRPr dirty="0"/>
          </a:p>
        </p:txBody>
      </p:sp>
      <p:sp>
        <p:nvSpPr>
          <p:cNvPr id="267" name="Google Shape;267;p2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268" name="Google Shape;268;p25" descr="DBMS Reduction of ER diagram to Table"/>
          <p:cNvPicPr preferRelativeResize="0"/>
          <p:nvPr/>
        </p:nvPicPr>
        <p:blipFill rotWithShape="1">
          <a:blip r:embed="rId3">
            <a:alphaModFix/>
          </a:blip>
          <a:srcRect/>
          <a:stretch/>
        </p:blipFill>
        <p:spPr>
          <a:xfrm>
            <a:off x="628649" y="1089370"/>
            <a:ext cx="7968698" cy="4992688"/>
          </a:xfrm>
          <a:prstGeom prst="rect">
            <a:avLst/>
          </a:prstGeom>
          <a:noFill/>
          <a:ln>
            <a:noFill/>
          </a:ln>
        </p:spPr>
      </p:pic>
    </p:spTree>
    <p:extLst>
      <p:ext uri="{BB962C8B-B14F-4D97-AF65-F5344CB8AC3E}">
        <p14:creationId xmlns:p14="http://schemas.microsoft.com/office/powerpoint/2010/main" val="250458007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6"/>
          <p:cNvSpPr txBox="1">
            <a:spLocks noGrp="1"/>
          </p:cNvSpPr>
          <p:nvPr>
            <p:ph type="title"/>
          </p:nvPr>
        </p:nvSpPr>
        <p:spPr>
          <a:xfrm>
            <a:off x="141632" y="293891"/>
            <a:ext cx="2452481" cy="173369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b="1" dirty="0">
                <a:latin typeface="Calibri"/>
                <a:ea typeface="Calibri"/>
                <a:cs typeface="Calibri"/>
                <a:sym typeface="Calibri"/>
              </a:rPr>
              <a:t>ER to Table Conversion</a:t>
            </a:r>
            <a:endParaRPr sz="4000" dirty="0"/>
          </a:p>
        </p:txBody>
      </p:sp>
      <p:pic>
        <p:nvPicPr>
          <p:cNvPr id="275" name="Google Shape;275;p26" descr="DBMS Reduction of ER diagram to Table"/>
          <p:cNvPicPr preferRelativeResize="0"/>
          <p:nvPr/>
        </p:nvPicPr>
        <p:blipFill rotWithShape="1">
          <a:blip r:embed="rId3">
            <a:alphaModFix/>
          </a:blip>
          <a:srcRect/>
          <a:stretch/>
        </p:blipFill>
        <p:spPr>
          <a:xfrm>
            <a:off x="2385391" y="293892"/>
            <a:ext cx="6269108" cy="5811839"/>
          </a:xfrm>
          <a:prstGeom prst="rect">
            <a:avLst/>
          </a:prstGeom>
          <a:noFill/>
          <a:ln>
            <a:noFill/>
          </a:ln>
        </p:spPr>
      </p:pic>
    </p:spTree>
    <p:extLst>
      <p:ext uri="{BB962C8B-B14F-4D97-AF65-F5344CB8AC3E}">
        <p14:creationId xmlns:p14="http://schemas.microsoft.com/office/powerpoint/2010/main" val="72591372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Online Food ordering system</a:t>
            </a:r>
            <a:endParaRPr lang="en-US" dirty="0"/>
          </a:p>
        </p:txBody>
      </p:sp>
      <p:sp>
        <p:nvSpPr>
          <p:cNvPr id="3" name="Content Placeholder 2"/>
          <p:cNvSpPr>
            <a:spLocks noGrp="1"/>
          </p:cNvSpPr>
          <p:nvPr>
            <p:ph idx="1"/>
          </p:nvPr>
        </p:nvSpPr>
        <p:spPr/>
        <p:txBody>
          <a:bodyPr/>
          <a:lstStyle/>
          <a:p>
            <a:pPr lvl="0" algn="just"/>
            <a:r>
              <a:rPr lang="en-US" dirty="0"/>
              <a:t>Customers register on the platform by providing their name, phone number, email, and delivery </a:t>
            </a:r>
            <a:r>
              <a:rPr lang="en-US" dirty="0" smtClean="0"/>
              <a:t>address.</a:t>
            </a:r>
            <a:r>
              <a:rPr lang="en-US" dirty="0"/>
              <a:t> Restaurants register their business, including the restaurant name, location, and contact number.</a:t>
            </a:r>
          </a:p>
          <a:p>
            <a:pPr lvl="0" algn="just"/>
            <a:r>
              <a:rPr lang="en-US" dirty="0"/>
              <a:t>Each restaurant creates a menu consisting of dishes with names and prices.</a:t>
            </a:r>
          </a:p>
          <a:p>
            <a:pPr lvl="0" algn="just"/>
            <a:r>
              <a:rPr lang="en-US" dirty="0" smtClean="0"/>
              <a:t>Customer places </a:t>
            </a:r>
            <a:r>
              <a:rPr lang="en-US" dirty="0"/>
              <a:t>an order by selecting dishes from a specific restaurant</a:t>
            </a:r>
            <a:r>
              <a:rPr lang="en-US" dirty="0" smtClean="0"/>
              <a:t>.</a:t>
            </a:r>
          </a:p>
          <a:p>
            <a:pPr lvl="0" algn="just"/>
            <a:r>
              <a:rPr lang="en-US" dirty="0"/>
              <a:t>After the order is placed, a delivery agent is assigned to pick up the order from the restaurant and deliver it to the customer.</a:t>
            </a:r>
          </a:p>
          <a:p>
            <a:endParaRPr lang="en-US" dirty="0"/>
          </a:p>
        </p:txBody>
      </p:sp>
    </p:spTree>
    <p:extLst>
      <p:ext uri="{BB962C8B-B14F-4D97-AF65-F5344CB8AC3E}">
        <p14:creationId xmlns:p14="http://schemas.microsoft.com/office/powerpoint/2010/main" val="88257045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ER Model</a:t>
            </a:r>
            <a:r>
              <a:rPr lang="en-US" dirty="0"/>
              <a:t/>
            </a:r>
            <a:br>
              <a:rPr lang="en-US" dirty="0"/>
            </a:br>
            <a:endParaRPr lang="en-US" dirty="0"/>
          </a:p>
        </p:txBody>
      </p:sp>
      <p:sp>
        <p:nvSpPr>
          <p:cNvPr id="3" name="Content Placeholder 2"/>
          <p:cNvSpPr>
            <a:spLocks noGrp="1"/>
          </p:cNvSpPr>
          <p:nvPr>
            <p:ph idx="1"/>
          </p:nvPr>
        </p:nvSpPr>
        <p:spPr>
          <a:xfrm>
            <a:off x="304800" y="914400"/>
            <a:ext cx="8077200" cy="5943600"/>
          </a:xfrm>
        </p:spPr>
        <p:txBody>
          <a:bodyPr>
            <a:normAutofit/>
          </a:bodyPr>
          <a:lstStyle/>
          <a:p>
            <a:pPr algn="just" fontAlgn="base"/>
            <a:r>
              <a:rPr lang="en-US" b="1" dirty="0" smtClean="0"/>
              <a:t>Conceptually </a:t>
            </a:r>
            <a:r>
              <a:rPr lang="en-US" b="1" dirty="0"/>
              <a:t>it is very simple:</a:t>
            </a:r>
            <a:r>
              <a:rPr lang="en-US" dirty="0"/>
              <a:t> ER model is very simple because if we know relationship between entities and attributes, then we can easily draw an ER diagram.</a:t>
            </a:r>
          </a:p>
          <a:p>
            <a:pPr algn="just" fontAlgn="base"/>
            <a:r>
              <a:rPr lang="en-US" b="1" dirty="0" smtClean="0"/>
              <a:t>Better </a:t>
            </a:r>
            <a:r>
              <a:rPr lang="en-US" b="1" dirty="0"/>
              <a:t>visual representation:</a:t>
            </a:r>
            <a:r>
              <a:rPr lang="en-US" dirty="0"/>
              <a:t> ER model is a diagrammatic representation of any logical structure of database. By seeing ER diagram, we can easily understand relationship among entities and relationship.</a:t>
            </a:r>
          </a:p>
          <a:p>
            <a:pPr algn="just" fontAlgn="base"/>
            <a:r>
              <a:rPr lang="en-US" b="1" dirty="0" smtClean="0"/>
              <a:t>Effective </a:t>
            </a:r>
            <a:r>
              <a:rPr lang="en-US" b="1" dirty="0"/>
              <a:t>communication tool: </a:t>
            </a:r>
            <a:r>
              <a:rPr lang="en-US" dirty="0"/>
              <a:t>It is an effective communication tool for database designer.</a:t>
            </a:r>
          </a:p>
          <a:p>
            <a:pPr algn="just" fontAlgn="base"/>
            <a:r>
              <a:rPr lang="en-US" b="1" dirty="0" smtClean="0"/>
              <a:t>Highly </a:t>
            </a:r>
            <a:r>
              <a:rPr lang="en-US" b="1" dirty="0"/>
              <a:t>integrated with relational model:</a:t>
            </a:r>
            <a:r>
              <a:rPr lang="en-US" dirty="0"/>
              <a:t> ER model can be easily converted into relational model by simply converting ER model into tables.</a:t>
            </a:r>
          </a:p>
          <a:p>
            <a:pPr algn="just" fontAlgn="base"/>
            <a:r>
              <a:rPr lang="en-US" b="1" dirty="0" smtClean="0"/>
              <a:t>Easy </a:t>
            </a:r>
            <a:r>
              <a:rPr lang="en-US" b="1" dirty="0"/>
              <a:t>conversion to any data model:</a:t>
            </a:r>
            <a:r>
              <a:rPr lang="en-US" dirty="0"/>
              <a:t> ER model can be easily converted into another data model like hierarchical data model, network data model and so on.</a:t>
            </a:r>
          </a:p>
          <a:p>
            <a:endParaRPr lang="en-US" dirty="0"/>
          </a:p>
        </p:txBody>
      </p:sp>
    </p:spTree>
    <p:extLst>
      <p:ext uri="{BB962C8B-B14F-4D97-AF65-F5344CB8AC3E}">
        <p14:creationId xmlns:p14="http://schemas.microsoft.com/office/powerpoint/2010/main" val="40434684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7620000" cy="1143000"/>
          </a:xfrm>
        </p:spPr>
        <p:txBody>
          <a:bodyPr/>
          <a:lstStyle/>
          <a:p>
            <a:r>
              <a:rPr lang="en-US" b="1" dirty="0" smtClean="0"/>
              <a:t>Extended ER Model</a:t>
            </a:r>
            <a:endParaRPr lang="en-US" b="1" dirty="0"/>
          </a:p>
        </p:txBody>
      </p:sp>
      <p:sp>
        <p:nvSpPr>
          <p:cNvPr id="3" name="Content Placeholder 2"/>
          <p:cNvSpPr>
            <a:spLocks noGrp="1"/>
          </p:cNvSpPr>
          <p:nvPr>
            <p:ph idx="1"/>
          </p:nvPr>
        </p:nvSpPr>
        <p:spPr>
          <a:xfrm>
            <a:off x="228600" y="1143000"/>
            <a:ext cx="8077200" cy="5486400"/>
          </a:xfrm>
        </p:spPr>
        <p:txBody>
          <a:bodyPr>
            <a:normAutofit fontScale="92500" lnSpcReduction="20000"/>
          </a:bodyPr>
          <a:lstStyle/>
          <a:p>
            <a:pPr algn="just"/>
            <a:r>
              <a:rPr lang="en-US" sz="2800" dirty="0"/>
              <a:t>ER Diagram can be used to represent only basic features of data model. </a:t>
            </a:r>
            <a:endParaRPr lang="en-US" sz="2800" dirty="0" smtClean="0"/>
          </a:p>
          <a:p>
            <a:pPr algn="just"/>
            <a:r>
              <a:rPr lang="en-US" sz="2800" dirty="0" smtClean="0"/>
              <a:t>Enhanced </a:t>
            </a:r>
            <a:r>
              <a:rPr lang="en-US" sz="2800" dirty="0"/>
              <a:t>entity-relationship diagrams are advanced database diagrams very similar to regular ER diagrams which represent requirements and complexities of </a:t>
            </a:r>
            <a:r>
              <a:rPr lang="en-US" sz="2800" dirty="0" smtClean="0"/>
              <a:t>complex databases</a:t>
            </a:r>
            <a:r>
              <a:rPr lang="en-US" sz="2800" dirty="0"/>
              <a:t>. </a:t>
            </a:r>
            <a:br>
              <a:rPr lang="en-US" sz="2800" dirty="0"/>
            </a:br>
            <a:r>
              <a:rPr lang="en-US" sz="2800" dirty="0"/>
              <a:t>It is a diagrammatic technique for displaying the Sub Class and Super Class; Specialization and Generalization; Union or Category; Aggregation etc. </a:t>
            </a:r>
            <a:endParaRPr lang="en-US" sz="2800" dirty="0" smtClean="0"/>
          </a:p>
          <a:p>
            <a:r>
              <a:rPr lang="en-US" sz="2800" b="1" dirty="0"/>
              <a:t>In addition to ER model concepts EE-R includes −</a:t>
            </a:r>
          </a:p>
          <a:p>
            <a:r>
              <a:rPr lang="en-US" sz="3000" b="1" dirty="0">
                <a:solidFill>
                  <a:srgbClr val="7030A0"/>
                </a:solidFill>
              </a:rPr>
              <a:t>Subclasses and Super classes.</a:t>
            </a:r>
          </a:p>
          <a:p>
            <a:r>
              <a:rPr lang="en-US" sz="3000" b="1" dirty="0">
                <a:solidFill>
                  <a:srgbClr val="7030A0"/>
                </a:solidFill>
              </a:rPr>
              <a:t>Specialization and Generalization.</a:t>
            </a:r>
          </a:p>
          <a:p>
            <a:r>
              <a:rPr lang="en-US" sz="3000" b="1" dirty="0">
                <a:solidFill>
                  <a:srgbClr val="7030A0"/>
                </a:solidFill>
              </a:rPr>
              <a:t>Category or union type.</a:t>
            </a:r>
          </a:p>
          <a:p>
            <a:r>
              <a:rPr lang="en-US" sz="3000" b="1" dirty="0">
                <a:solidFill>
                  <a:srgbClr val="7030A0"/>
                </a:solidFill>
              </a:rPr>
              <a:t>Aggregation</a:t>
            </a:r>
          </a:p>
          <a:p>
            <a:pPr algn="just"/>
            <a:endParaRPr lang="en-US" sz="3000" b="1" dirty="0" smtClean="0">
              <a:solidFill>
                <a:srgbClr val="7030A0"/>
              </a:solidFill>
            </a:endParaRPr>
          </a:p>
          <a:p>
            <a:pPr algn="just"/>
            <a:endParaRPr lang="en-US" sz="2800" dirty="0"/>
          </a:p>
          <a:p>
            <a:pPr algn="just"/>
            <a:endParaRPr lang="en-US" sz="2800" dirty="0"/>
          </a:p>
        </p:txBody>
      </p:sp>
    </p:spTree>
    <p:extLst>
      <p:ext uri="{BB962C8B-B14F-4D97-AF65-F5344CB8AC3E}">
        <p14:creationId xmlns:p14="http://schemas.microsoft.com/office/powerpoint/2010/main" val="93336359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05800" cy="1143000"/>
          </a:xfrm>
        </p:spPr>
        <p:txBody>
          <a:bodyPr/>
          <a:lstStyle/>
          <a:p>
            <a:r>
              <a:rPr lang="en-US" sz="4800" b="1" dirty="0"/>
              <a:t>Super classes </a:t>
            </a:r>
            <a:r>
              <a:rPr lang="en-US" sz="4800" b="1" dirty="0" smtClean="0"/>
              <a:t>and Subclasses- </a:t>
            </a:r>
            <a:r>
              <a:rPr lang="en-US" sz="4800" b="1" dirty="0" smtClean="0">
                <a:solidFill>
                  <a:srgbClr val="002060"/>
                </a:solidFill>
              </a:rPr>
              <a:t>Inheritance relationship</a:t>
            </a:r>
            <a:r>
              <a:rPr lang="en-US" sz="4800" dirty="0"/>
              <a:t/>
            </a:r>
            <a:br>
              <a:rPr lang="en-US" sz="4800" dirty="0"/>
            </a:br>
            <a:endParaRPr lang="en-US" dirty="0"/>
          </a:p>
        </p:txBody>
      </p:sp>
      <p:sp>
        <p:nvSpPr>
          <p:cNvPr id="3" name="Content Placeholder 2"/>
          <p:cNvSpPr>
            <a:spLocks noGrp="1"/>
          </p:cNvSpPr>
          <p:nvPr>
            <p:ph idx="1"/>
          </p:nvPr>
        </p:nvSpPr>
        <p:spPr>
          <a:xfrm>
            <a:off x="457200" y="1371600"/>
            <a:ext cx="7620000" cy="5029200"/>
          </a:xfrm>
        </p:spPr>
        <p:txBody>
          <a:bodyPr>
            <a:normAutofit/>
          </a:bodyPr>
          <a:lstStyle/>
          <a:p>
            <a:r>
              <a:rPr lang="en-US" sz="2800" dirty="0"/>
              <a:t>Super class and sub class relationship  leads to concept of inheritance.</a:t>
            </a:r>
          </a:p>
          <a:p>
            <a:r>
              <a:rPr lang="en-US" sz="2800" dirty="0"/>
              <a:t>The relationship between sub class and super class is denoted with </a:t>
            </a:r>
            <a:r>
              <a:rPr lang="en-US" sz="2800" dirty="0" smtClean="0"/>
              <a:t>           symbol</a:t>
            </a:r>
            <a:r>
              <a:rPr lang="en-US" sz="2800" dirty="0"/>
              <a:t>.</a:t>
            </a:r>
          </a:p>
        </p:txBody>
      </p:sp>
      <p:sp>
        <p:nvSpPr>
          <p:cNvPr id="5" name="Oval 4"/>
          <p:cNvSpPr/>
          <p:nvPr/>
        </p:nvSpPr>
        <p:spPr>
          <a:xfrm>
            <a:off x="3962400" y="2819400"/>
            <a:ext cx="685800" cy="762000"/>
          </a:xfrm>
          <a:prstGeom prst="ellipse">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p:cNvSpPr txBox="1"/>
          <p:nvPr/>
        </p:nvSpPr>
        <p:spPr>
          <a:xfrm>
            <a:off x="4133850" y="2908012"/>
            <a:ext cx="342900" cy="584775"/>
          </a:xfrm>
          <a:prstGeom prst="rect">
            <a:avLst/>
          </a:prstGeom>
          <a:noFill/>
        </p:spPr>
        <p:txBody>
          <a:bodyPr wrap="square" rtlCol="0">
            <a:spAutoFit/>
          </a:bodyPr>
          <a:lstStyle/>
          <a:p>
            <a:r>
              <a:rPr lang="en-US" sz="3200" b="1" dirty="0" smtClean="0"/>
              <a:t>d</a:t>
            </a:r>
            <a:endParaRPr lang="en-US" sz="3200" b="1"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177539"/>
            <a:ext cx="4343400" cy="3680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614155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val="0"/>
              </a:ext>
            </a:extLst>
          </a:blip>
          <a:srcRect b="3720"/>
          <a:stretch/>
        </p:blipFill>
        <p:spPr bwMode="auto">
          <a:xfrm>
            <a:off x="-28359" y="914401"/>
            <a:ext cx="9172357" cy="512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813612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7620000" cy="1143000"/>
          </a:xfrm>
        </p:spPr>
        <p:txBody>
          <a:bodyPr/>
          <a:lstStyle/>
          <a:p>
            <a:r>
              <a:rPr lang="en-US" b="1" dirty="0"/>
              <a:t>Specialization</a:t>
            </a:r>
            <a:endParaRPr lang="en-US" dirty="0"/>
          </a:p>
        </p:txBody>
      </p:sp>
      <p:sp>
        <p:nvSpPr>
          <p:cNvPr id="3" name="Content Placeholder 2"/>
          <p:cNvSpPr>
            <a:spLocks noGrp="1"/>
          </p:cNvSpPr>
          <p:nvPr>
            <p:ph idx="1"/>
          </p:nvPr>
        </p:nvSpPr>
        <p:spPr>
          <a:xfrm>
            <a:off x="0" y="1066800"/>
            <a:ext cx="5029200" cy="5791200"/>
          </a:xfrm>
        </p:spPr>
        <p:txBody>
          <a:bodyPr>
            <a:normAutofit/>
          </a:bodyPr>
          <a:lstStyle/>
          <a:p>
            <a:pPr algn="just"/>
            <a:r>
              <a:rPr lang="en-US" sz="3200" dirty="0" smtClean="0"/>
              <a:t>Specialization </a:t>
            </a:r>
            <a:r>
              <a:rPr lang="en-US" sz="3200" dirty="0"/>
              <a:t>is a process that defines a </a:t>
            </a:r>
            <a:r>
              <a:rPr lang="en-US" sz="3200" dirty="0" smtClean="0"/>
              <a:t>entities </a:t>
            </a:r>
            <a:r>
              <a:rPr lang="en-US" sz="3200" dirty="0"/>
              <a:t>which is divided into sub groups based on their characteristic.</a:t>
            </a:r>
          </a:p>
          <a:p>
            <a:pPr algn="just"/>
            <a:r>
              <a:rPr lang="en-US" sz="3200" dirty="0"/>
              <a:t>It is a </a:t>
            </a:r>
            <a:r>
              <a:rPr lang="en-US" sz="3200" b="1" dirty="0"/>
              <a:t>top down approach</a:t>
            </a:r>
            <a:r>
              <a:rPr lang="en-US" sz="3200" dirty="0"/>
              <a:t>, in which one higher entity can be broken down into two lower level entity.</a:t>
            </a:r>
          </a:p>
          <a:p>
            <a:endParaRPr lang="en-US" sz="32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9250" y="1524000"/>
            <a:ext cx="3864750"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5432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620000" cy="1143000"/>
          </a:xfrm>
        </p:spPr>
        <p:txBody>
          <a:bodyPr/>
          <a:lstStyle/>
          <a:p>
            <a:r>
              <a:rPr lang="en-US" b="1" dirty="0"/>
              <a:t>Generalization</a:t>
            </a:r>
            <a:endParaRPr lang="en-US" dirty="0"/>
          </a:p>
        </p:txBody>
      </p:sp>
      <p:sp>
        <p:nvSpPr>
          <p:cNvPr id="3" name="Content Placeholder 2"/>
          <p:cNvSpPr>
            <a:spLocks noGrp="1"/>
          </p:cNvSpPr>
          <p:nvPr>
            <p:ph idx="1"/>
          </p:nvPr>
        </p:nvSpPr>
        <p:spPr>
          <a:xfrm>
            <a:off x="228600" y="838200"/>
            <a:ext cx="5005387" cy="6019800"/>
          </a:xfrm>
        </p:spPr>
        <p:txBody>
          <a:bodyPr/>
          <a:lstStyle/>
          <a:p>
            <a:pPr algn="just"/>
            <a:r>
              <a:rPr lang="en-US" sz="3200" dirty="0"/>
              <a:t>Generalization is the process of generalizing the entities which contain the properties of all the generalized </a:t>
            </a:r>
            <a:r>
              <a:rPr lang="en-US" sz="3200" dirty="0" smtClean="0"/>
              <a:t>entities,</a:t>
            </a:r>
            <a:r>
              <a:rPr lang="en-US" sz="3200" dirty="0"/>
              <a:t> i.e., subclasses are combined to make a superclass.</a:t>
            </a:r>
          </a:p>
          <a:p>
            <a:r>
              <a:rPr lang="en-US" sz="3200" dirty="0"/>
              <a:t>It is a </a:t>
            </a:r>
            <a:r>
              <a:rPr lang="en-US" sz="3200" b="1" dirty="0"/>
              <a:t>bottom approach</a:t>
            </a:r>
            <a:r>
              <a:rPr lang="en-US" sz="3200" dirty="0"/>
              <a:t>, in which two lower level entities combine to form a higher level entity</a:t>
            </a:r>
            <a:r>
              <a:rPr lang="en-US" sz="3200" dirty="0" smtClean="0"/>
              <a:t>.</a:t>
            </a:r>
          </a:p>
          <a:p>
            <a:endParaRPr lang="en-US" sz="32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708" y="1691640"/>
            <a:ext cx="3952292"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231037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808547266"/>
              </p:ext>
            </p:extLst>
          </p:nvPr>
        </p:nvGraphicFramePr>
        <p:xfrm>
          <a:off x="0" y="685800"/>
          <a:ext cx="8382000" cy="5570959"/>
        </p:xfrm>
        <a:graphic>
          <a:graphicData uri="http://schemas.openxmlformats.org/drawingml/2006/table">
            <a:tbl>
              <a:tblPr>
                <a:tableStyleId>{BDBED569-4797-4DF1-A0F4-6AAB3CD982D8}</a:tableStyleId>
              </a:tblPr>
              <a:tblGrid>
                <a:gridCol w="4191000"/>
                <a:gridCol w="4191000"/>
              </a:tblGrid>
              <a:tr h="583263">
                <a:tc>
                  <a:txBody>
                    <a:bodyPr/>
                    <a:lstStyle/>
                    <a:p>
                      <a:pPr algn="l" fontAlgn="base"/>
                      <a:r>
                        <a:rPr lang="en-US" sz="2800" b="1" dirty="0">
                          <a:effectLst/>
                        </a:rPr>
                        <a:t>GENERALIZATION</a:t>
                      </a:r>
                    </a:p>
                  </a:txBody>
                  <a:tcPr marL="95250" marR="95250" marT="95250" marB="95250" anchor="ctr"/>
                </a:tc>
                <a:tc>
                  <a:txBody>
                    <a:bodyPr/>
                    <a:lstStyle/>
                    <a:p>
                      <a:pPr algn="l" fontAlgn="base"/>
                      <a:r>
                        <a:rPr lang="en-US" sz="2800" b="1" dirty="0">
                          <a:effectLst/>
                        </a:rPr>
                        <a:t>SPECIALIZATION</a:t>
                      </a:r>
                    </a:p>
                  </a:txBody>
                  <a:tcPr marL="95250" marR="95250" marT="95250" marB="95250" anchor="ctr"/>
                </a:tc>
              </a:tr>
              <a:tr h="1046677">
                <a:tc>
                  <a:txBody>
                    <a:bodyPr/>
                    <a:lstStyle/>
                    <a:p>
                      <a:pPr algn="l" fontAlgn="base"/>
                      <a:r>
                        <a:rPr lang="en-US" sz="2400" dirty="0">
                          <a:effectLst/>
                        </a:rPr>
                        <a:t>Generalization works in Bottom-Up approach.</a:t>
                      </a:r>
                      <a:endParaRPr lang="en-US" sz="2400" b="0" dirty="0">
                        <a:effectLst/>
                      </a:endParaRPr>
                    </a:p>
                  </a:txBody>
                  <a:tcPr marL="95250" marR="95250" marT="133350" marB="133350" anchor="ctr"/>
                </a:tc>
                <a:tc>
                  <a:txBody>
                    <a:bodyPr/>
                    <a:lstStyle/>
                    <a:p>
                      <a:pPr algn="l" fontAlgn="base"/>
                      <a:r>
                        <a:rPr lang="en-US" sz="2400">
                          <a:effectLst/>
                        </a:rPr>
                        <a:t>Specialization works in top-down approach.</a:t>
                      </a:r>
                      <a:endParaRPr lang="en-US" sz="2400" b="0">
                        <a:effectLst/>
                      </a:endParaRPr>
                    </a:p>
                  </a:txBody>
                  <a:tcPr marL="95250" marR="95250" marT="133350" marB="133350" anchor="ctr"/>
                </a:tc>
              </a:tr>
              <a:tr h="1046677">
                <a:tc>
                  <a:txBody>
                    <a:bodyPr/>
                    <a:lstStyle/>
                    <a:p>
                      <a:pPr algn="l" fontAlgn="base"/>
                      <a:r>
                        <a:rPr lang="en-US" sz="2400">
                          <a:effectLst/>
                        </a:rPr>
                        <a:t>In Generalization, size of schema gets reduced.</a:t>
                      </a:r>
                      <a:endParaRPr lang="en-US" sz="2400" b="0">
                        <a:effectLst/>
                      </a:endParaRPr>
                    </a:p>
                  </a:txBody>
                  <a:tcPr marL="95250" marR="95250" marT="133350" marB="133350" anchor="ctr"/>
                </a:tc>
                <a:tc>
                  <a:txBody>
                    <a:bodyPr/>
                    <a:lstStyle/>
                    <a:p>
                      <a:pPr algn="l" fontAlgn="base"/>
                      <a:r>
                        <a:rPr lang="en-US" sz="2400" dirty="0">
                          <a:effectLst/>
                        </a:rPr>
                        <a:t>In Specialization, size of schema gets increased.</a:t>
                      </a:r>
                      <a:endParaRPr lang="en-US" sz="2400" b="0" dirty="0">
                        <a:effectLst/>
                      </a:endParaRPr>
                    </a:p>
                  </a:txBody>
                  <a:tcPr marL="95250" marR="95250" marT="133350" marB="133350" anchor="ctr"/>
                </a:tc>
              </a:tr>
              <a:tr h="1046677">
                <a:tc>
                  <a:txBody>
                    <a:bodyPr/>
                    <a:lstStyle/>
                    <a:p>
                      <a:pPr algn="l" fontAlgn="base"/>
                      <a:r>
                        <a:rPr lang="en-US" sz="2400">
                          <a:effectLst/>
                        </a:rPr>
                        <a:t>Generalization is normally applied to group of entities.</a:t>
                      </a:r>
                      <a:endParaRPr lang="en-US" sz="2400" b="0">
                        <a:effectLst/>
                      </a:endParaRPr>
                    </a:p>
                  </a:txBody>
                  <a:tcPr marL="95250" marR="95250" marT="133350" marB="133350" anchor="ctr"/>
                </a:tc>
                <a:tc>
                  <a:txBody>
                    <a:bodyPr/>
                    <a:lstStyle/>
                    <a:p>
                      <a:pPr algn="l" fontAlgn="base"/>
                      <a:r>
                        <a:rPr lang="en-US" sz="2400" dirty="0">
                          <a:effectLst/>
                        </a:rPr>
                        <a:t>We can apply Specialization to a single entity.</a:t>
                      </a:r>
                      <a:endParaRPr lang="en-US" sz="2400" b="0" dirty="0">
                        <a:effectLst/>
                      </a:endParaRPr>
                    </a:p>
                  </a:txBody>
                  <a:tcPr marL="95250" marR="95250" marT="133350" marB="133350" anchor="ctr"/>
                </a:tc>
              </a:tr>
              <a:tr h="1813708">
                <a:tc>
                  <a:txBody>
                    <a:bodyPr/>
                    <a:lstStyle/>
                    <a:p>
                      <a:pPr algn="l" fontAlgn="base"/>
                      <a:r>
                        <a:rPr lang="en-US" sz="2400" dirty="0">
                          <a:effectLst/>
                        </a:rPr>
                        <a:t>Generalization can be defined as a process of creating groupings from various entity sets</a:t>
                      </a:r>
                      <a:endParaRPr lang="en-US" sz="2400" b="0" dirty="0">
                        <a:effectLst/>
                      </a:endParaRPr>
                    </a:p>
                  </a:txBody>
                  <a:tcPr marL="95250" marR="95250" marT="133350" marB="133350" anchor="ctr"/>
                </a:tc>
                <a:tc>
                  <a:txBody>
                    <a:bodyPr/>
                    <a:lstStyle/>
                    <a:p>
                      <a:pPr algn="l" fontAlgn="base"/>
                      <a:r>
                        <a:rPr lang="en-US" sz="2400" dirty="0">
                          <a:effectLst/>
                        </a:rPr>
                        <a:t>Specialization can be defined as process of creating subgrouping within an entity set</a:t>
                      </a:r>
                      <a:endParaRPr lang="en-US" sz="2400" b="0" dirty="0">
                        <a:effectLst/>
                      </a:endParaRPr>
                    </a:p>
                  </a:txBody>
                  <a:tcPr marL="95250" marR="95250" marT="133350" marB="133350" anchor="ctr"/>
                </a:tc>
              </a:tr>
            </a:tbl>
          </a:graphicData>
        </a:graphic>
      </p:graphicFrame>
    </p:spTree>
    <p:extLst>
      <p:ext uri="{BB962C8B-B14F-4D97-AF65-F5344CB8AC3E}">
        <p14:creationId xmlns:p14="http://schemas.microsoft.com/office/powerpoint/2010/main" val="202714438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1"/>
          <p:cNvSpPr txBox="1">
            <a:spLocks noGrp="1"/>
          </p:cNvSpPr>
          <p:nvPr>
            <p:ph type="title"/>
          </p:nvPr>
        </p:nvSpPr>
        <p:spPr>
          <a:xfrm>
            <a:off x="38100" y="0"/>
            <a:ext cx="5098774" cy="1325563"/>
          </a:xfrm>
          <a:prstGeom prst="rect">
            <a:avLst/>
          </a:prstGeom>
          <a:noFill/>
          <a:ln>
            <a:noFill/>
          </a:ln>
        </p:spPr>
        <p:txBody>
          <a:bodyPr spcFirstLastPara="1" wrap="square" lIns="91425" tIns="45700" rIns="91425" bIns="45700" anchor="ctr" anchorCtr="0">
            <a:normAutofit/>
          </a:bodyPr>
          <a:lstStyle/>
          <a:p>
            <a:pPr>
              <a:lnSpc>
                <a:spcPct val="90000"/>
              </a:lnSpc>
              <a:spcBef>
                <a:spcPts val="0"/>
              </a:spcBef>
              <a:buClr>
                <a:schemeClr val="dk1"/>
              </a:buClr>
              <a:buSzPts val="3600"/>
            </a:pPr>
            <a:r>
              <a:rPr lang="en-US" sz="4400" b="1" dirty="0">
                <a:solidFill>
                  <a:srgbClr val="222426"/>
                </a:solidFill>
              </a:rPr>
              <a:t>Aggregation</a:t>
            </a:r>
            <a:r>
              <a:rPr lang="en-US" sz="3600" dirty="0"/>
              <a:t/>
            </a:r>
            <a:br>
              <a:rPr lang="en-US" sz="3600" dirty="0"/>
            </a:br>
            <a:endParaRPr sz="3600" b="1" dirty="0">
              <a:latin typeface="Calibri"/>
              <a:ea typeface="Calibri"/>
              <a:cs typeface="Calibri"/>
              <a:sym typeface="Calibri"/>
            </a:endParaRPr>
          </a:p>
        </p:txBody>
      </p:sp>
      <p:sp>
        <p:nvSpPr>
          <p:cNvPr id="308" name="Google Shape;308;p31"/>
          <p:cNvSpPr txBox="1">
            <a:spLocks noGrp="1"/>
          </p:cNvSpPr>
          <p:nvPr>
            <p:ph type="body" idx="1"/>
          </p:nvPr>
        </p:nvSpPr>
        <p:spPr>
          <a:xfrm>
            <a:off x="30480" y="762000"/>
            <a:ext cx="5684520" cy="3124200"/>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90000"/>
              </a:lnSpc>
              <a:spcBef>
                <a:spcPts val="1000"/>
              </a:spcBef>
              <a:spcAft>
                <a:spcPts val="0"/>
              </a:spcAft>
              <a:buClr>
                <a:srgbClr val="222426"/>
              </a:buClr>
              <a:buSzPct val="100000"/>
              <a:buChar char="•"/>
            </a:pPr>
            <a:r>
              <a:rPr lang="en-US" b="1" i="0" dirty="0" smtClean="0">
                <a:solidFill>
                  <a:srgbClr val="222426"/>
                </a:solidFill>
              </a:rPr>
              <a:t>Aggregation</a:t>
            </a:r>
            <a:r>
              <a:rPr lang="en-US" b="0" i="0" dirty="0">
                <a:solidFill>
                  <a:srgbClr val="222426"/>
                </a:solidFill>
              </a:rPr>
              <a:t> is a process in which a </a:t>
            </a:r>
            <a:r>
              <a:rPr lang="en-US" b="1" i="0" dirty="0">
                <a:solidFill>
                  <a:srgbClr val="000099"/>
                </a:solidFill>
              </a:rPr>
              <a:t>single entity alone is not able to make sense in a relationship so the relationship of two entities acts as one entity.</a:t>
            </a:r>
            <a:endParaRPr dirty="0"/>
          </a:p>
          <a:p>
            <a:pPr marL="228600" lvl="0" indent="-228600" algn="just" rtl="0">
              <a:lnSpc>
                <a:spcPct val="90000"/>
              </a:lnSpc>
              <a:spcBef>
                <a:spcPts val="1000"/>
              </a:spcBef>
              <a:spcAft>
                <a:spcPts val="0"/>
              </a:spcAft>
              <a:buClr>
                <a:srgbClr val="222222"/>
              </a:buClr>
              <a:buSzPct val="100000"/>
              <a:buChar char="•"/>
            </a:pPr>
            <a:r>
              <a:rPr lang="en-US" b="0" i="0" dirty="0">
                <a:solidFill>
                  <a:srgbClr val="222222"/>
                </a:solidFill>
                <a:latin typeface="Calibri"/>
                <a:ea typeface="Calibri"/>
                <a:cs typeface="Calibri"/>
                <a:sym typeface="Calibri"/>
              </a:rPr>
              <a:t>Aggregation can be defined as a procedure for </a:t>
            </a:r>
            <a:r>
              <a:rPr lang="en-US" b="1" i="0" dirty="0">
                <a:solidFill>
                  <a:srgbClr val="000099"/>
                </a:solidFill>
                <a:latin typeface="Calibri"/>
                <a:ea typeface="Calibri"/>
                <a:cs typeface="Calibri"/>
                <a:sym typeface="Calibri"/>
              </a:rPr>
              <a:t>combining multiple entities into a single one.</a:t>
            </a:r>
            <a:r>
              <a:rPr lang="en-US" b="0" i="0" dirty="0">
                <a:solidFill>
                  <a:srgbClr val="222222"/>
                </a:solidFill>
                <a:latin typeface="Calibri"/>
                <a:ea typeface="Calibri"/>
                <a:cs typeface="Calibri"/>
                <a:sym typeface="Calibri"/>
              </a:rPr>
              <a:t> In database management, it is a design system performed to model relationships between a group of entities and another relationship. Its main motive is treating these relationships as a single one. </a:t>
            </a:r>
            <a:endParaRPr b="1" i="0" dirty="0">
              <a:solidFill>
                <a:srgbClr val="000099"/>
              </a:solidFill>
            </a:endParaRPr>
          </a:p>
        </p:txBody>
      </p:sp>
      <p:pic>
        <p:nvPicPr>
          <p:cNvPr id="309" name="Google Shape;309;p31" descr="DBMS Aggregration Example"/>
          <p:cNvPicPr preferRelativeResize="0"/>
          <p:nvPr/>
        </p:nvPicPr>
        <p:blipFill rotWithShape="1">
          <a:blip r:embed="rId3">
            <a:alphaModFix/>
          </a:blip>
          <a:srcRect/>
          <a:stretch/>
        </p:blipFill>
        <p:spPr>
          <a:xfrm>
            <a:off x="5572125" y="0"/>
            <a:ext cx="3571875" cy="4762500"/>
          </a:xfrm>
          <a:prstGeom prst="rect">
            <a:avLst/>
          </a:prstGeom>
          <a:noFill/>
          <a:ln>
            <a:noFill/>
          </a:ln>
        </p:spPr>
      </p:pic>
      <p:sp>
        <p:nvSpPr>
          <p:cNvPr id="310" name="Google Shape;310;p31"/>
          <p:cNvSpPr txBox="1"/>
          <p:nvPr/>
        </p:nvSpPr>
        <p:spPr>
          <a:xfrm>
            <a:off x="30480" y="3886200"/>
            <a:ext cx="8351520" cy="2597424"/>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rgbClr val="222426"/>
              </a:buClr>
              <a:buSzPct val="100000"/>
              <a:buFont typeface="Arial"/>
              <a:buChar char="•"/>
            </a:pPr>
            <a:r>
              <a:rPr lang="en-US" sz="2400" b="0" i="0" u="none" strike="noStrike" cap="none" dirty="0">
                <a:solidFill>
                  <a:srgbClr val="222426"/>
                </a:solidFill>
                <a:latin typeface="Calibri"/>
                <a:ea typeface="Calibri"/>
                <a:cs typeface="Calibri"/>
                <a:sym typeface="Calibri"/>
              </a:rPr>
              <a:t>In real world, we know that a manager not only manages the employee working under them but he has to manage the project as well. In such scenario if entity “Manager” makes a “manages” relationship with either “Employee” or “Project” entity alone then it will not make any sense because he has to manage both. In these cases the relationship of two entities acts as one entity. In our example, the relationship “Works-On” between “Employee” &amp; “Project” acts as one entity that has a relationship “Manages” with the entity “Manager”.</a:t>
            </a: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1981853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2"/>
          <p:cNvSpPr txBox="1">
            <a:spLocks noGrp="1"/>
          </p:cNvSpPr>
          <p:nvPr>
            <p:ph type="title"/>
          </p:nvPr>
        </p:nvSpPr>
        <p:spPr>
          <a:xfrm>
            <a:off x="159026" y="206375"/>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b="1" i="0" u="none" strike="noStrike">
                <a:latin typeface="Calibri"/>
                <a:ea typeface="Calibri"/>
                <a:cs typeface="Calibri"/>
                <a:sym typeface="Calibri"/>
              </a:rPr>
              <a:t>Extended ER Model</a:t>
            </a:r>
            <a:endParaRPr sz="3600" b="1">
              <a:latin typeface="Calibri"/>
              <a:ea typeface="Calibri"/>
              <a:cs typeface="Calibri"/>
              <a:sym typeface="Calibri"/>
            </a:endParaRPr>
          </a:p>
        </p:txBody>
      </p:sp>
      <p:sp>
        <p:nvSpPr>
          <p:cNvPr id="316" name="Google Shape;316;p32"/>
          <p:cNvSpPr txBox="1">
            <a:spLocks noGrp="1"/>
          </p:cNvSpPr>
          <p:nvPr>
            <p:ph type="body" idx="1"/>
          </p:nvPr>
        </p:nvSpPr>
        <p:spPr>
          <a:xfrm>
            <a:off x="320537" y="1333155"/>
            <a:ext cx="3337063" cy="27750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b="1" i="0" dirty="0">
                <a:solidFill>
                  <a:srgbClr val="000000"/>
                </a:solidFill>
              </a:rPr>
              <a:t>Category or Union</a:t>
            </a:r>
            <a:endParaRPr dirty="0"/>
          </a:p>
          <a:p>
            <a:pPr marL="228600" lvl="0" indent="-228600" algn="just" rtl="0">
              <a:lnSpc>
                <a:spcPct val="90000"/>
              </a:lnSpc>
              <a:spcBef>
                <a:spcPts val="1000"/>
              </a:spcBef>
              <a:spcAft>
                <a:spcPts val="0"/>
              </a:spcAft>
              <a:buClr>
                <a:srgbClr val="000000"/>
              </a:buClr>
              <a:buSzPts val="2800"/>
              <a:buChar char="•"/>
            </a:pPr>
            <a:r>
              <a:rPr lang="en-US" b="0" i="0" dirty="0">
                <a:solidFill>
                  <a:srgbClr val="000000"/>
                </a:solidFill>
              </a:rPr>
              <a:t>Relationship of one super or sub class with more than one super class.</a:t>
            </a:r>
            <a:endParaRPr dirty="0"/>
          </a:p>
        </p:txBody>
      </p:sp>
      <p:sp>
        <p:nvSpPr>
          <p:cNvPr id="317" name="Google Shape;317;p32"/>
          <p:cNvSpPr txBox="1"/>
          <p:nvPr/>
        </p:nvSpPr>
        <p:spPr>
          <a:xfrm>
            <a:off x="159026" y="5035617"/>
            <a:ext cx="7765774" cy="900459"/>
          </a:xfrm>
          <a:prstGeom prst="rect">
            <a:avLst/>
          </a:prstGeom>
          <a:noFill/>
          <a:ln>
            <a:noFill/>
          </a:ln>
        </p:spPr>
        <p:txBody>
          <a:bodyPr spcFirstLastPara="1" wrap="square" lIns="91425" tIns="45700" rIns="91425" bIns="45700" anchor="t" anchorCtr="0">
            <a:normAutofit/>
          </a:bodyPr>
          <a:lstStyle/>
          <a:p>
            <a:pPr marL="228600" marR="0" lvl="0" indent="-228600" algn="just" rtl="0">
              <a:lnSpc>
                <a:spcPct val="90000"/>
              </a:lnSpc>
              <a:spcBef>
                <a:spcPts val="0"/>
              </a:spcBef>
              <a:spcAft>
                <a:spcPts val="0"/>
              </a:spcAft>
              <a:buClr>
                <a:srgbClr val="000000"/>
              </a:buClr>
              <a:buSzPts val="2800"/>
              <a:buFont typeface="Arial"/>
              <a:buChar char="•"/>
            </a:pPr>
            <a:r>
              <a:rPr lang="en-US" sz="2800" b="0" i="0" u="none" strike="noStrike" cap="none" dirty="0">
                <a:solidFill>
                  <a:srgbClr val="000000"/>
                </a:solidFill>
                <a:latin typeface="Nunito"/>
                <a:ea typeface="Nunito"/>
                <a:cs typeface="Nunito"/>
                <a:sym typeface="Nunito"/>
              </a:rPr>
              <a:t>Owner is the subset of two super class: Vehicle and House.</a:t>
            </a:r>
            <a:endParaRPr sz="2800" b="0" i="0" u="none" strike="noStrike" cap="none" dirty="0">
              <a:solidFill>
                <a:schemeClr val="dk1"/>
              </a:solidFill>
              <a:latin typeface="Calibri"/>
              <a:ea typeface="Calibri"/>
              <a:cs typeface="Calibri"/>
              <a:sym typeface="Calibri"/>
            </a:endParaRPr>
          </a:p>
        </p:txBody>
      </p:sp>
      <p:pic>
        <p:nvPicPr>
          <p:cNvPr id="318" name="Google Shape;318;p32"/>
          <p:cNvPicPr preferRelativeResize="0"/>
          <p:nvPr/>
        </p:nvPicPr>
        <p:blipFill rotWithShape="1">
          <a:blip r:embed="rId3">
            <a:alphaModFix/>
          </a:blip>
          <a:srcRect/>
          <a:stretch/>
        </p:blipFill>
        <p:spPr>
          <a:xfrm>
            <a:off x="3657600" y="2233612"/>
            <a:ext cx="4822031" cy="2563675"/>
          </a:xfrm>
          <a:prstGeom prst="rect">
            <a:avLst/>
          </a:prstGeom>
          <a:noFill/>
          <a:ln>
            <a:noFill/>
          </a:ln>
        </p:spPr>
      </p:pic>
    </p:spTree>
    <p:extLst>
      <p:ext uri="{BB962C8B-B14F-4D97-AF65-F5344CB8AC3E}">
        <p14:creationId xmlns:p14="http://schemas.microsoft.com/office/powerpoint/2010/main" val="662578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Inheritance relationship </a:t>
            </a:r>
            <a:r>
              <a:rPr lang="en-US" dirty="0" err="1" smtClean="0"/>
              <a:t>vs</a:t>
            </a:r>
            <a:r>
              <a:rPr lang="en-US" dirty="0" smtClean="0"/>
              <a:t> Union relationship</a:t>
            </a:r>
            <a:endParaRPr lang="en-US" dirty="0"/>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2639855021"/>
              </p:ext>
            </p:extLst>
          </p:nvPr>
        </p:nvGraphicFramePr>
        <p:xfrm>
          <a:off x="304800" y="1904999"/>
          <a:ext cx="7924800" cy="4648200"/>
        </p:xfrm>
        <a:graphic>
          <a:graphicData uri="http://schemas.openxmlformats.org/drawingml/2006/table">
            <a:tbl>
              <a:tblPr firstRow="1" firstCol="1" bandRow="1">
                <a:tableStyleId>{5C22544A-7EE6-4342-B048-85BDC9FD1C3A}</a:tableStyleId>
              </a:tblPr>
              <a:tblGrid>
                <a:gridCol w="1600200"/>
                <a:gridCol w="3352800"/>
                <a:gridCol w="2971800"/>
              </a:tblGrid>
              <a:tr h="832485">
                <a:tc>
                  <a:txBody>
                    <a:bodyPr/>
                    <a:lstStyle/>
                    <a:p>
                      <a:pPr marL="0" marR="0">
                        <a:lnSpc>
                          <a:spcPct val="115000"/>
                        </a:lnSpc>
                        <a:spcBef>
                          <a:spcPts val="0"/>
                        </a:spcBef>
                        <a:spcAft>
                          <a:spcPts val="0"/>
                        </a:spcAft>
                      </a:pPr>
                      <a:r>
                        <a:rPr lang="en-US" sz="2000" dirty="0">
                          <a:effectLst/>
                        </a:rPr>
                        <a:t>Feature</a:t>
                      </a:r>
                      <a:endParaRPr lang="en-US" sz="1800" dirty="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Superclass-Subclass Relationship</a:t>
                      </a:r>
                      <a:endParaRPr lang="en-US" sz="18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Union Extended Relationship</a:t>
                      </a:r>
                      <a:endParaRPr lang="en-US" sz="1800">
                        <a:effectLst/>
                        <a:latin typeface="Cambria"/>
                        <a:ea typeface="MS Mincho"/>
                        <a:cs typeface="Times New Roman"/>
                      </a:endParaRPr>
                    </a:p>
                  </a:txBody>
                  <a:tcPr marL="68580" marR="68580" marT="0" marB="0"/>
                </a:tc>
              </a:tr>
              <a:tr h="763143">
                <a:tc>
                  <a:txBody>
                    <a:bodyPr/>
                    <a:lstStyle/>
                    <a:p>
                      <a:pPr marL="0" marR="0">
                        <a:lnSpc>
                          <a:spcPct val="115000"/>
                        </a:lnSpc>
                        <a:spcBef>
                          <a:spcPts val="0"/>
                        </a:spcBef>
                        <a:spcAft>
                          <a:spcPts val="0"/>
                        </a:spcAft>
                      </a:pPr>
                      <a:r>
                        <a:rPr lang="en-US" sz="1800" dirty="0">
                          <a:effectLst/>
                        </a:rPr>
                        <a:t>Purpose</a:t>
                      </a:r>
                      <a:endParaRPr lang="en-US" sz="1800" dirty="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a:effectLst/>
                        </a:rPr>
                        <a:t>Represents specialization/generalization.</a:t>
                      </a:r>
                      <a:endParaRPr lang="en-US" sz="18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a:effectLst/>
                        </a:rPr>
                        <a:t>Represents a union of two or more entities.</a:t>
                      </a:r>
                      <a:endParaRPr lang="en-US" sz="1800">
                        <a:effectLst/>
                        <a:latin typeface="Cambria"/>
                        <a:ea typeface="MS Mincho"/>
                        <a:cs typeface="Times New Roman"/>
                      </a:endParaRPr>
                    </a:p>
                  </a:txBody>
                  <a:tcPr marL="68580" marR="68580" marT="0" marB="0"/>
                </a:tc>
              </a:tr>
              <a:tr h="763143">
                <a:tc>
                  <a:txBody>
                    <a:bodyPr/>
                    <a:lstStyle/>
                    <a:p>
                      <a:pPr marL="0" marR="0">
                        <a:lnSpc>
                          <a:spcPct val="115000"/>
                        </a:lnSpc>
                        <a:spcBef>
                          <a:spcPts val="0"/>
                        </a:spcBef>
                        <a:spcAft>
                          <a:spcPts val="0"/>
                        </a:spcAft>
                      </a:pPr>
                      <a:r>
                        <a:rPr lang="en-US" sz="1800">
                          <a:effectLst/>
                        </a:rPr>
                        <a:t>Nature of Relationship</a:t>
                      </a:r>
                      <a:endParaRPr lang="en-US" sz="18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dirty="0">
                          <a:effectLst/>
                        </a:rPr>
                        <a:t>"Is-a" relationship (inheritance).</a:t>
                      </a:r>
                      <a:endParaRPr lang="en-US" sz="1800" dirty="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a:effectLst/>
                        </a:rPr>
                        <a:t>"Has-a" or "union" relationship.</a:t>
                      </a:r>
                      <a:endParaRPr lang="en-US" sz="1800">
                        <a:effectLst/>
                        <a:latin typeface="Cambria"/>
                        <a:ea typeface="MS Mincho"/>
                        <a:cs typeface="Times New Roman"/>
                      </a:endParaRPr>
                    </a:p>
                  </a:txBody>
                  <a:tcPr marL="68580" marR="68580" marT="0" marB="0"/>
                </a:tc>
              </a:tr>
              <a:tr h="763143">
                <a:tc>
                  <a:txBody>
                    <a:bodyPr/>
                    <a:lstStyle/>
                    <a:p>
                      <a:pPr marL="0" marR="0">
                        <a:lnSpc>
                          <a:spcPct val="115000"/>
                        </a:lnSpc>
                        <a:spcBef>
                          <a:spcPts val="0"/>
                        </a:spcBef>
                        <a:spcAft>
                          <a:spcPts val="0"/>
                        </a:spcAft>
                      </a:pPr>
                      <a:r>
                        <a:rPr lang="en-US" sz="1800">
                          <a:effectLst/>
                        </a:rPr>
                        <a:t>Entity Inheritance</a:t>
                      </a:r>
                      <a:endParaRPr lang="en-US" sz="18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dirty="0">
                          <a:effectLst/>
                        </a:rPr>
                        <a:t>Subclasses inherit attributes and relationships.</a:t>
                      </a:r>
                      <a:endParaRPr lang="en-US" sz="1800" dirty="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a:effectLst/>
                        </a:rPr>
                        <a:t>Union entity combines attributes of sources.</a:t>
                      </a:r>
                      <a:endParaRPr lang="en-US" sz="1800">
                        <a:effectLst/>
                        <a:latin typeface="Cambria"/>
                        <a:ea typeface="MS Mincho"/>
                        <a:cs typeface="Times New Roman"/>
                      </a:endParaRPr>
                    </a:p>
                  </a:txBody>
                  <a:tcPr marL="68580" marR="68580" marT="0" marB="0"/>
                </a:tc>
              </a:tr>
              <a:tr h="763143">
                <a:tc>
                  <a:txBody>
                    <a:bodyPr/>
                    <a:lstStyle/>
                    <a:p>
                      <a:pPr marL="0" marR="0">
                        <a:lnSpc>
                          <a:spcPct val="115000"/>
                        </a:lnSpc>
                        <a:spcBef>
                          <a:spcPts val="0"/>
                        </a:spcBef>
                        <a:spcAft>
                          <a:spcPts val="0"/>
                        </a:spcAft>
                      </a:pPr>
                      <a:r>
                        <a:rPr lang="en-US" sz="1800">
                          <a:effectLst/>
                        </a:rPr>
                        <a:t>Usage</a:t>
                      </a:r>
                      <a:endParaRPr lang="en-US" sz="18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dirty="0">
                          <a:effectLst/>
                        </a:rPr>
                        <a:t>For entities with shared attributes and specialization.</a:t>
                      </a:r>
                      <a:endParaRPr lang="en-US" sz="1800" dirty="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dirty="0">
                          <a:effectLst/>
                        </a:rPr>
                        <a:t>For combining unrelated entities into one.</a:t>
                      </a:r>
                      <a:endParaRPr lang="en-US" sz="1800" dirty="0">
                        <a:effectLst/>
                        <a:latin typeface="Cambria"/>
                        <a:ea typeface="MS Mincho"/>
                        <a:cs typeface="Times New Roman"/>
                      </a:endParaRPr>
                    </a:p>
                  </a:txBody>
                  <a:tcPr marL="68580" marR="68580" marT="0" marB="0"/>
                </a:tc>
              </a:tr>
              <a:tr h="763143">
                <a:tc>
                  <a:txBody>
                    <a:bodyPr/>
                    <a:lstStyle/>
                    <a:p>
                      <a:pPr marL="0" marR="0">
                        <a:lnSpc>
                          <a:spcPct val="115000"/>
                        </a:lnSpc>
                        <a:spcBef>
                          <a:spcPts val="0"/>
                        </a:spcBef>
                        <a:spcAft>
                          <a:spcPts val="0"/>
                        </a:spcAft>
                      </a:pPr>
                      <a:r>
                        <a:rPr lang="en-US" sz="1800">
                          <a:effectLst/>
                        </a:rPr>
                        <a:t>Example</a:t>
                      </a:r>
                      <a:endParaRPr lang="en-US" sz="18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a:effectLst/>
                        </a:rPr>
                        <a:t>`Person` → `Student`, `Teacher`.</a:t>
                      </a:r>
                      <a:endParaRPr lang="en-US" sz="1800">
                        <a:effectLst/>
                        <a:latin typeface="Cambria"/>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800" dirty="0">
                          <a:effectLst/>
                        </a:rPr>
                        <a:t>`Contract` → `Employee`, `Vendor`.</a:t>
                      </a:r>
                      <a:endParaRPr lang="en-US" sz="1800" dirty="0">
                        <a:effectLst/>
                        <a:latin typeface="Cambria"/>
                        <a:ea typeface="MS Mincho"/>
                        <a:cs typeface="Times New Roman"/>
                      </a:endParaRPr>
                    </a:p>
                  </a:txBody>
                  <a:tcPr marL="68580" marR="68580" marT="0" marB="0"/>
                </a:tc>
              </a:tr>
            </a:tbl>
          </a:graphicData>
        </a:graphic>
      </p:graphicFrame>
    </p:spTree>
    <p:extLst>
      <p:ext uri="{BB962C8B-B14F-4D97-AF65-F5344CB8AC3E}">
        <p14:creationId xmlns:p14="http://schemas.microsoft.com/office/powerpoint/2010/main" val="112608973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 Diagram practice example</a:t>
            </a:r>
            <a:endParaRPr lang="en-US" dirty="0"/>
          </a:p>
        </p:txBody>
      </p:sp>
      <p:pic>
        <p:nvPicPr>
          <p:cNvPr id="4" name="Content Placeholder 3" descr="C:\Users\DELL-PC\Downloads\WhatsApp Image 2022-08-30 at 10.30.14 AM.jpe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0537" y="2405062"/>
            <a:ext cx="7553325" cy="3190875"/>
          </a:xfrm>
          <a:prstGeom prst="rect">
            <a:avLst/>
          </a:prstGeom>
          <a:noFill/>
          <a:ln>
            <a:noFill/>
          </a:ln>
        </p:spPr>
      </p:pic>
    </p:spTree>
    <p:extLst>
      <p:ext uri="{BB962C8B-B14F-4D97-AF65-F5344CB8AC3E}">
        <p14:creationId xmlns:p14="http://schemas.microsoft.com/office/powerpoint/2010/main" val="32148531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i="0" u="none" strike="noStrike">
                <a:latin typeface="Calibri"/>
                <a:ea typeface="Calibri"/>
                <a:cs typeface="Calibri"/>
                <a:sym typeface="Calibri"/>
              </a:rPr>
              <a:t>Relational Model</a:t>
            </a:r>
            <a:endParaRPr b="1">
              <a:latin typeface="Calibri"/>
              <a:ea typeface="Calibri"/>
              <a:cs typeface="Calibri"/>
              <a:sym typeface="Calibri"/>
            </a:endParaRPr>
          </a:p>
        </p:txBody>
      </p:sp>
      <p:sp>
        <p:nvSpPr>
          <p:cNvPr id="386" name="Google Shape;386;p41"/>
          <p:cNvSpPr txBox="1">
            <a:spLocks noGrp="1"/>
          </p:cNvSpPr>
          <p:nvPr>
            <p:ph type="body" idx="1"/>
          </p:nvPr>
        </p:nvSpPr>
        <p:spPr>
          <a:xfrm>
            <a:off x="0" y="1825624"/>
            <a:ext cx="8229600" cy="465137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sz="2800" b="0" i="0" dirty="0"/>
              <a:t>Relational Model was </a:t>
            </a:r>
            <a:r>
              <a:rPr lang="en-US" sz="2800" b="1" i="0" dirty="0">
                <a:solidFill>
                  <a:srgbClr val="000099"/>
                </a:solidFill>
              </a:rPr>
              <a:t>proposed by E.F. </a:t>
            </a:r>
            <a:r>
              <a:rPr lang="en-US" sz="2800" b="1" i="0" dirty="0" err="1">
                <a:solidFill>
                  <a:srgbClr val="000099"/>
                </a:solidFill>
              </a:rPr>
              <a:t>Codd</a:t>
            </a:r>
            <a:r>
              <a:rPr lang="en-US" sz="2800" b="1" i="0" dirty="0">
                <a:solidFill>
                  <a:srgbClr val="000099"/>
                </a:solidFill>
              </a:rPr>
              <a:t> to model data in the form of relations or tables. </a:t>
            </a:r>
            <a:endParaRPr sz="2800" dirty="0"/>
          </a:p>
          <a:p>
            <a:pPr marL="228600" lvl="0" indent="-228600" algn="just" rtl="0">
              <a:lnSpc>
                <a:spcPct val="90000"/>
              </a:lnSpc>
              <a:spcBef>
                <a:spcPts val="1000"/>
              </a:spcBef>
              <a:spcAft>
                <a:spcPts val="0"/>
              </a:spcAft>
              <a:buClr>
                <a:schemeClr val="dk1"/>
              </a:buClr>
              <a:buSzPts val="2800"/>
              <a:buChar char="•"/>
            </a:pPr>
            <a:r>
              <a:rPr lang="en-US" sz="2800" b="0" i="0" dirty="0"/>
              <a:t>After designing the conceptual model of Database using ER diagram, we need to convert the conceptual model in the relational model which can be implemented using any RDBMS languages like Oracle SQL, MySQL etc.</a:t>
            </a:r>
            <a:endParaRPr sz="2800" dirty="0"/>
          </a:p>
          <a:p>
            <a:pPr marL="228600" lvl="0" indent="-228600" algn="just" rtl="0">
              <a:lnSpc>
                <a:spcPct val="90000"/>
              </a:lnSpc>
              <a:spcBef>
                <a:spcPts val="1000"/>
              </a:spcBef>
              <a:spcAft>
                <a:spcPts val="0"/>
              </a:spcAft>
              <a:buClr>
                <a:srgbClr val="000099"/>
              </a:buClr>
              <a:buSzPts val="2800"/>
              <a:buChar char="•"/>
            </a:pPr>
            <a:r>
              <a:rPr lang="en-US" sz="2800" b="1" i="0" dirty="0">
                <a:solidFill>
                  <a:srgbClr val="000099"/>
                </a:solidFill>
              </a:rPr>
              <a:t>Relational Model represents how data is stored in Relational Databases</a:t>
            </a:r>
            <a:r>
              <a:rPr lang="en-US" sz="2800" b="0" i="0" dirty="0"/>
              <a:t>.  A relational database stores data in the form of relations (tables).</a:t>
            </a:r>
            <a:endParaRPr sz="2800" dirty="0"/>
          </a:p>
        </p:txBody>
      </p:sp>
    </p:spTree>
    <p:extLst>
      <p:ext uri="{BB962C8B-B14F-4D97-AF65-F5344CB8AC3E}">
        <p14:creationId xmlns:p14="http://schemas.microsoft.com/office/powerpoint/2010/main" val="56031178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2"/>
          <p:cNvSpPr txBox="1">
            <a:spLocks noGrp="1"/>
          </p:cNvSpPr>
          <p:nvPr>
            <p:ph type="title"/>
          </p:nvPr>
        </p:nvSpPr>
        <p:spPr>
          <a:xfrm>
            <a:off x="152400" y="0"/>
            <a:ext cx="4953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i="0" u="none" strike="noStrike" dirty="0">
                <a:latin typeface="Calibri"/>
                <a:ea typeface="Calibri"/>
                <a:cs typeface="Calibri"/>
                <a:sym typeface="Calibri"/>
              </a:rPr>
              <a:t>Relational Model</a:t>
            </a:r>
            <a:endParaRPr b="1" dirty="0">
              <a:latin typeface="Calibri"/>
              <a:ea typeface="Calibri"/>
              <a:cs typeface="Calibri"/>
              <a:sym typeface="Calibri"/>
            </a:endParaRPr>
          </a:p>
        </p:txBody>
      </p:sp>
      <p:sp>
        <p:nvSpPr>
          <p:cNvPr id="392" name="Google Shape;392;p42"/>
          <p:cNvSpPr txBox="1">
            <a:spLocks noGrp="1"/>
          </p:cNvSpPr>
          <p:nvPr>
            <p:ph type="body" idx="1"/>
          </p:nvPr>
        </p:nvSpPr>
        <p:spPr>
          <a:xfrm>
            <a:off x="101876" y="1690688"/>
            <a:ext cx="7213324" cy="4802187"/>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rgbClr val="273239"/>
              </a:buClr>
              <a:buSzPts val="2800"/>
              <a:buChar char="•"/>
            </a:pPr>
            <a:r>
              <a:rPr lang="en-US" b="0" i="0" dirty="0">
                <a:solidFill>
                  <a:srgbClr val="273239"/>
                </a:solidFill>
              </a:rPr>
              <a:t>Consider a relation STUDENT with attributes</a:t>
            </a:r>
            <a:endParaRPr dirty="0"/>
          </a:p>
          <a:p>
            <a:pPr marL="228600" lvl="0" indent="-228600" algn="just" rtl="0">
              <a:lnSpc>
                <a:spcPct val="90000"/>
              </a:lnSpc>
              <a:spcBef>
                <a:spcPts val="1000"/>
              </a:spcBef>
              <a:spcAft>
                <a:spcPts val="0"/>
              </a:spcAft>
              <a:buClr>
                <a:srgbClr val="273239"/>
              </a:buClr>
              <a:buSzPts val="2800"/>
              <a:buChar char="•"/>
            </a:pPr>
            <a:r>
              <a:rPr lang="en-US" b="0" i="0" dirty="0">
                <a:solidFill>
                  <a:srgbClr val="273239"/>
                </a:solidFill>
              </a:rPr>
              <a:t> ROLL_NO, NAME, ADDRESS, PHONE and </a:t>
            </a:r>
            <a:endParaRPr lang="en-US" b="0" i="0" dirty="0" smtClean="0">
              <a:solidFill>
                <a:srgbClr val="273239"/>
              </a:solidFill>
            </a:endParaRPr>
          </a:p>
          <a:p>
            <a:pPr marL="0" lvl="0" indent="0" algn="just" rtl="0">
              <a:lnSpc>
                <a:spcPct val="90000"/>
              </a:lnSpc>
              <a:spcBef>
                <a:spcPts val="1000"/>
              </a:spcBef>
              <a:spcAft>
                <a:spcPts val="0"/>
              </a:spcAft>
              <a:buClr>
                <a:srgbClr val="273239"/>
              </a:buClr>
              <a:buSzPts val="2800"/>
              <a:buNone/>
            </a:pPr>
            <a:r>
              <a:rPr lang="en-US" dirty="0">
                <a:solidFill>
                  <a:srgbClr val="273239"/>
                </a:solidFill>
              </a:rPr>
              <a:t> </a:t>
            </a:r>
            <a:r>
              <a:rPr lang="en-US" dirty="0" smtClean="0">
                <a:solidFill>
                  <a:srgbClr val="273239"/>
                </a:solidFill>
              </a:rPr>
              <a:t>     </a:t>
            </a:r>
            <a:r>
              <a:rPr lang="en-US" b="0" i="0" dirty="0" smtClean="0">
                <a:solidFill>
                  <a:srgbClr val="273239"/>
                </a:solidFill>
              </a:rPr>
              <a:t>AGE </a:t>
            </a:r>
            <a:r>
              <a:rPr lang="en-US" b="0" i="0" dirty="0">
                <a:solidFill>
                  <a:srgbClr val="273239"/>
                </a:solidFill>
              </a:rPr>
              <a:t>shown in Table.</a:t>
            </a:r>
            <a:endParaRPr dirty="0"/>
          </a:p>
          <a:p>
            <a:pPr marL="228600" lvl="0" indent="-228600" algn="ctr" rtl="0">
              <a:lnSpc>
                <a:spcPct val="90000"/>
              </a:lnSpc>
              <a:spcBef>
                <a:spcPts val="1000"/>
              </a:spcBef>
              <a:spcAft>
                <a:spcPts val="0"/>
              </a:spcAft>
              <a:buClr>
                <a:srgbClr val="273239"/>
              </a:buClr>
              <a:buSzPts val="2800"/>
              <a:buChar char="•"/>
            </a:pPr>
            <a:r>
              <a:rPr lang="en-US" b="1" i="0" dirty="0">
                <a:solidFill>
                  <a:srgbClr val="273239"/>
                </a:solidFill>
              </a:rPr>
              <a:t>IMPORTANT TERMINOLOGIES</a:t>
            </a:r>
            <a:endParaRPr b="0" i="0" dirty="0">
              <a:solidFill>
                <a:srgbClr val="273239"/>
              </a:solidFill>
            </a:endParaRPr>
          </a:p>
          <a:p>
            <a:pPr marL="228600" lvl="0" indent="-228600" algn="l" rtl="0">
              <a:lnSpc>
                <a:spcPct val="90000"/>
              </a:lnSpc>
              <a:spcBef>
                <a:spcPts val="1000"/>
              </a:spcBef>
              <a:spcAft>
                <a:spcPts val="0"/>
              </a:spcAft>
              <a:buClr>
                <a:srgbClr val="273239"/>
              </a:buClr>
              <a:buSzPts val="2800"/>
              <a:buFont typeface="Arial"/>
              <a:buChar char="•"/>
            </a:pPr>
            <a:r>
              <a:rPr lang="en-US" b="1" i="0" dirty="0">
                <a:solidFill>
                  <a:srgbClr val="273239"/>
                </a:solidFill>
              </a:rPr>
              <a:t>Attribute:</a:t>
            </a:r>
            <a:r>
              <a:rPr lang="en-US" b="0" i="0" dirty="0">
                <a:solidFill>
                  <a:srgbClr val="273239"/>
                </a:solidFill>
              </a:rPr>
              <a:t> Attributes are the properties that define a relation. e.g.; </a:t>
            </a:r>
            <a:r>
              <a:rPr lang="en-US" b="1" i="0" dirty="0">
                <a:solidFill>
                  <a:srgbClr val="273239"/>
                </a:solidFill>
              </a:rPr>
              <a:t>ROLL_NO</a:t>
            </a:r>
            <a:r>
              <a:rPr lang="en-US" b="0" i="0" dirty="0">
                <a:solidFill>
                  <a:srgbClr val="273239"/>
                </a:solidFill>
              </a:rPr>
              <a:t>, </a:t>
            </a:r>
            <a:r>
              <a:rPr lang="en-US" b="1" i="0" dirty="0">
                <a:solidFill>
                  <a:srgbClr val="273239"/>
                </a:solidFill>
              </a:rPr>
              <a:t>NAME</a:t>
            </a:r>
            <a:endParaRPr b="0" i="0" dirty="0">
              <a:solidFill>
                <a:srgbClr val="273239"/>
              </a:solidFill>
            </a:endParaRPr>
          </a:p>
          <a:p>
            <a:pPr marL="228600" lvl="0" indent="-228600" algn="l" rtl="0">
              <a:lnSpc>
                <a:spcPct val="90000"/>
              </a:lnSpc>
              <a:spcBef>
                <a:spcPts val="1000"/>
              </a:spcBef>
              <a:spcAft>
                <a:spcPts val="0"/>
              </a:spcAft>
              <a:buClr>
                <a:srgbClr val="273239"/>
              </a:buClr>
              <a:buSzPts val="2800"/>
              <a:buFont typeface="Arial"/>
              <a:buChar char="•"/>
            </a:pPr>
            <a:r>
              <a:rPr lang="en-US" b="1" i="0" dirty="0">
                <a:solidFill>
                  <a:srgbClr val="273239"/>
                </a:solidFill>
              </a:rPr>
              <a:t>Relation Schema:</a:t>
            </a:r>
            <a:r>
              <a:rPr lang="en-US" b="0" i="0" dirty="0">
                <a:solidFill>
                  <a:srgbClr val="273239"/>
                </a:solidFill>
              </a:rPr>
              <a:t> </a:t>
            </a:r>
            <a:r>
              <a:rPr lang="en-US" b="1" i="0" dirty="0">
                <a:solidFill>
                  <a:srgbClr val="000099"/>
                </a:solidFill>
              </a:rPr>
              <a:t>A relation schema represents name of the relation with its attributes. e.g.; STUDENT (ROLL_NO, NAME, ADDRESS, PHONE and AGE) is relation schema for STUDENT.</a:t>
            </a:r>
            <a:r>
              <a:rPr lang="en-US" b="0" i="0" dirty="0">
                <a:solidFill>
                  <a:srgbClr val="273239"/>
                </a:solidFill>
              </a:rPr>
              <a:t> If a schema has more than 1 relation, it is called Relational Schema.</a:t>
            </a:r>
            <a:endParaRPr dirty="0"/>
          </a:p>
          <a:p>
            <a:pPr marL="228600" lvl="0" indent="-228600" algn="l" rtl="0">
              <a:lnSpc>
                <a:spcPct val="90000"/>
              </a:lnSpc>
              <a:spcBef>
                <a:spcPts val="1000"/>
              </a:spcBef>
              <a:spcAft>
                <a:spcPts val="0"/>
              </a:spcAft>
              <a:buClr>
                <a:srgbClr val="273239"/>
              </a:buClr>
              <a:buSzPts val="2800"/>
              <a:buFont typeface="Arial"/>
              <a:buChar char="•"/>
            </a:pPr>
            <a:r>
              <a:rPr lang="en-US" b="1" i="0" dirty="0">
                <a:solidFill>
                  <a:srgbClr val="273239"/>
                </a:solidFill>
              </a:rPr>
              <a:t>Tuple:</a:t>
            </a:r>
            <a:r>
              <a:rPr lang="en-US" b="0" i="0" dirty="0">
                <a:solidFill>
                  <a:srgbClr val="273239"/>
                </a:solidFill>
              </a:rPr>
              <a:t> </a:t>
            </a:r>
            <a:r>
              <a:rPr lang="en-US" b="1" i="0" dirty="0">
                <a:solidFill>
                  <a:srgbClr val="000099"/>
                </a:solidFill>
              </a:rPr>
              <a:t>Each row in the relation is known as tuple</a:t>
            </a:r>
            <a:r>
              <a:rPr lang="en-US" b="1" i="0" dirty="0" smtClean="0">
                <a:solidFill>
                  <a:srgbClr val="000099"/>
                </a:solidFill>
              </a:rPr>
              <a:t>.</a:t>
            </a:r>
          </a:p>
          <a:p>
            <a:pPr marL="228600" lvl="0" indent="-228600" algn="l" rtl="0">
              <a:lnSpc>
                <a:spcPct val="90000"/>
              </a:lnSpc>
              <a:spcBef>
                <a:spcPts val="1000"/>
              </a:spcBef>
              <a:spcAft>
                <a:spcPts val="0"/>
              </a:spcAft>
              <a:buClr>
                <a:srgbClr val="273239"/>
              </a:buClr>
              <a:buSzPts val="2800"/>
              <a:buFont typeface="Arial"/>
              <a:buChar char="•"/>
            </a:pPr>
            <a:r>
              <a:rPr lang="en-US" b="1" i="0" dirty="0" smtClean="0">
                <a:solidFill>
                  <a:srgbClr val="000099"/>
                </a:solidFill>
              </a:rPr>
              <a:t> </a:t>
            </a:r>
            <a:r>
              <a:rPr lang="en-US" b="0" i="0" dirty="0">
                <a:solidFill>
                  <a:srgbClr val="273239"/>
                </a:solidFill>
              </a:rPr>
              <a:t>The above relation contains 4 tuples, one of which is shown as:</a:t>
            </a:r>
            <a:endParaRPr dirty="0"/>
          </a:p>
          <a:p>
            <a:pPr marL="228600" lvl="0" indent="-50800" algn="l" rtl="0">
              <a:lnSpc>
                <a:spcPct val="90000"/>
              </a:lnSpc>
              <a:spcBef>
                <a:spcPts val="1000"/>
              </a:spcBef>
              <a:spcAft>
                <a:spcPts val="0"/>
              </a:spcAft>
              <a:buClr>
                <a:schemeClr val="dk1"/>
              </a:buClr>
              <a:buSzPts val="2800"/>
              <a:buFont typeface="Arial"/>
              <a:buNone/>
            </a:pPr>
            <a:endParaRPr b="0" i="0" dirty="0">
              <a:solidFill>
                <a:srgbClr val="273239"/>
              </a:solidFill>
              <a:latin typeface="Arial"/>
              <a:ea typeface="Arial"/>
              <a:cs typeface="Arial"/>
              <a:sym typeface="Arial"/>
            </a:endParaRPr>
          </a:p>
          <a:p>
            <a:pPr marL="228600" lvl="0" indent="-50800" algn="just" rtl="0">
              <a:lnSpc>
                <a:spcPct val="90000"/>
              </a:lnSpc>
              <a:spcBef>
                <a:spcPts val="1000"/>
              </a:spcBef>
              <a:spcAft>
                <a:spcPts val="0"/>
              </a:spcAft>
              <a:buClr>
                <a:schemeClr val="dk1"/>
              </a:buClr>
              <a:buSzPts val="2800"/>
              <a:buNone/>
            </a:pPr>
            <a:endParaRPr dirty="0"/>
          </a:p>
        </p:txBody>
      </p:sp>
      <p:graphicFrame>
        <p:nvGraphicFramePr>
          <p:cNvPr id="393" name="Google Shape;393;p42"/>
          <p:cNvGraphicFramePr/>
          <p:nvPr/>
        </p:nvGraphicFramePr>
        <p:xfrm>
          <a:off x="5856632" y="115094"/>
          <a:ext cx="3078638" cy="3048000"/>
        </p:xfrm>
        <a:graphic>
          <a:graphicData uri="http://schemas.openxmlformats.org/drawingml/2006/table">
            <a:tbl>
              <a:tblPr>
                <a:noFill/>
              </a:tblPr>
              <a:tblGrid>
                <a:gridCol w="474600"/>
                <a:gridCol w="705675"/>
                <a:gridCol w="685800"/>
                <a:gridCol w="824944"/>
                <a:gridCol w="387619"/>
              </a:tblGrid>
              <a:tr h="447375">
                <a:tc>
                  <a:txBody>
                    <a:bodyPr/>
                    <a:lstStyle/>
                    <a:p>
                      <a:pPr marL="0" marR="0" lvl="0" indent="0" algn="l" rtl="0">
                        <a:spcBef>
                          <a:spcPts val="0"/>
                        </a:spcBef>
                        <a:spcAft>
                          <a:spcPts val="0"/>
                        </a:spcAft>
                        <a:buNone/>
                      </a:pPr>
                      <a:r>
                        <a:rPr lang="en-US" sz="1250" b="1"/>
                        <a:t>ROLL_NO</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NAME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ADDRESS</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PHONE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AGE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0"/>
                        <a:t>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RAM</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9455123451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2</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RAMESH</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GURGAON</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9652431543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SUJIT</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ROHTAK</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9156253131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20</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4</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SURESH</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 </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dirty="0"/>
                        <a:t>18</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bl>
          </a:graphicData>
        </a:graphic>
      </p:graphicFrame>
      <p:graphicFrame>
        <p:nvGraphicFramePr>
          <p:cNvPr id="394" name="Google Shape;394;p42"/>
          <p:cNvGraphicFramePr/>
          <p:nvPr>
            <p:extLst>
              <p:ext uri="{D42A27DB-BD31-4B8C-83A1-F6EECF244321}">
                <p14:modId xmlns:p14="http://schemas.microsoft.com/office/powerpoint/2010/main" val="3214440177"/>
              </p:ext>
            </p:extLst>
          </p:nvPr>
        </p:nvGraphicFramePr>
        <p:xfrm>
          <a:off x="6751143" y="5257800"/>
          <a:ext cx="2392857" cy="723900"/>
        </p:xfrm>
        <a:graphic>
          <a:graphicData uri="http://schemas.openxmlformats.org/drawingml/2006/table">
            <a:tbl>
              <a:tblPr>
                <a:noFill/>
              </a:tblPr>
              <a:tblGrid>
                <a:gridCol w="255938"/>
                <a:gridCol w="447263"/>
                <a:gridCol w="566531"/>
                <a:gridCol w="785194"/>
                <a:gridCol w="337931"/>
              </a:tblGrid>
              <a:tr h="723900">
                <a:tc>
                  <a:txBody>
                    <a:bodyPr/>
                    <a:lstStyle/>
                    <a:p>
                      <a:pPr marL="0" marR="0" lvl="0" indent="0" algn="l" rtl="0">
                        <a:spcBef>
                          <a:spcPts val="0"/>
                        </a:spcBef>
                        <a:spcAft>
                          <a:spcPts val="0"/>
                        </a:spcAft>
                        <a:buNone/>
                      </a:pPr>
                      <a:r>
                        <a:rPr lang="en-US" sz="1250" b="0" dirty="0"/>
                        <a:t>1</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RAM</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dirty="0"/>
                        <a:t>9455123451</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dirty="0"/>
                        <a:t>18</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bl>
          </a:graphicData>
        </a:graphic>
      </p:graphicFrame>
    </p:spTree>
    <p:extLst>
      <p:ext uri="{BB962C8B-B14F-4D97-AF65-F5344CB8AC3E}">
        <p14:creationId xmlns:p14="http://schemas.microsoft.com/office/powerpoint/2010/main" val="319452880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3"/>
          <p:cNvSpPr txBox="1">
            <a:spLocks noGrp="1"/>
          </p:cNvSpPr>
          <p:nvPr>
            <p:ph type="title"/>
          </p:nvPr>
        </p:nvSpPr>
        <p:spPr>
          <a:xfrm>
            <a:off x="330476" y="122411"/>
            <a:ext cx="495714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i="0" u="none" strike="noStrike">
                <a:latin typeface="Calibri"/>
                <a:ea typeface="Calibri"/>
                <a:cs typeface="Calibri"/>
                <a:sym typeface="Calibri"/>
              </a:rPr>
              <a:t>Relational Model</a:t>
            </a:r>
            <a:endParaRPr b="1">
              <a:latin typeface="Calibri"/>
              <a:ea typeface="Calibri"/>
              <a:cs typeface="Calibri"/>
              <a:sym typeface="Calibri"/>
            </a:endParaRPr>
          </a:p>
        </p:txBody>
      </p:sp>
      <p:sp>
        <p:nvSpPr>
          <p:cNvPr id="400" name="Google Shape;400;p43"/>
          <p:cNvSpPr txBox="1">
            <a:spLocks noGrp="1"/>
          </p:cNvSpPr>
          <p:nvPr>
            <p:ph type="body" idx="1"/>
          </p:nvPr>
        </p:nvSpPr>
        <p:spPr>
          <a:xfrm>
            <a:off x="101876" y="1060175"/>
            <a:ext cx="5652881" cy="5432701"/>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90000"/>
              </a:lnSpc>
              <a:spcBef>
                <a:spcPts val="0"/>
              </a:spcBef>
              <a:spcAft>
                <a:spcPts val="0"/>
              </a:spcAft>
              <a:buClr>
                <a:schemeClr val="dk1"/>
              </a:buClr>
              <a:buSzPct val="100000"/>
              <a:buFont typeface="Arial"/>
              <a:buChar char="•"/>
            </a:pPr>
            <a:r>
              <a:rPr lang="en-US" b="1" i="0" dirty="0"/>
              <a:t>Relation Instance:</a:t>
            </a:r>
            <a:r>
              <a:rPr lang="en-US" b="0" i="0" dirty="0"/>
              <a:t> </a:t>
            </a:r>
            <a:r>
              <a:rPr lang="en-US" b="1" i="0" dirty="0">
                <a:solidFill>
                  <a:srgbClr val="000099"/>
                </a:solidFill>
              </a:rPr>
              <a:t>The set of tuples of a relation at a particular instance of time is called as relation instance.</a:t>
            </a:r>
            <a:r>
              <a:rPr lang="en-US" b="0" i="0" dirty="0"/>
              <a:t> Table shows the relation instance of STUDENT at a particular time. It can change whenever there is insertion, deletion or </a:t>
            </a:r>
            <a:r>
              <a:rPr lang="en-US" b="0" i="0" dirty="0" err="1"/>
              <a:t>updation</a:t>
            </a:r>
            <a:r>
              <a:rPr lang="en-US" b="0" i="0" dirty="0"/>
              <a:t> in the database.</a:t>
            </a:r>
            <a:endParaRPr dirty="0"/>
          </a:p>
          <a:p>
            <a:pPr marL="228600" lvl="0" indent="-228600" algn="just" rtl="0">
              <a:lnSpc>
                <a:spcPct val="90000"/>
              </a:lnSpc>
              <a:spcBef>
                <a:spcPts val="1000"/>
              </a:spcBef>
              <a:spcAft>
                <a:spcPts val="0"/>
              </a:spcAft>
              <a:buClr>
                <a:schemeClr val="dk1"/>
              </a:buClr>
              <a:buSzPct val="100000"/>
              <a:buFont typeface="Arial"/>
              <a:buChar char="•"/>
            </a:pPr>
            <a:r>
              <a:rPr lang="en-US" b="1" i="0" dirty="0"/>
              <a:t>Degree:</a:t>
            </a:r>
            <a:r>
              <a:rPr lang="en-US" b="0" i="0" dirty="0"/>
              <a:t> </a:t>
            </a:r>
            <a:r>
              <a:rPr lang="en-US" b="1" i="0" dirty="0">
                <a:solidFill>
                  <a:srgbClr val="000099"/>
                </a:solidFill>
              </a:rPr>
              <a:t>The number of attributes in the relation is known as degree of the relation. </a:t>
            </a:r>
            <a:r>
              <a:rPr lang="en-US" b="0" i="0" dirty="0"/>
              <a:t>The </a:t>
            </a:r>
            <a:r>
              <a:rPr lang="en-US" b="1" i="0" dirty="0"/>
              <a:t>STUDENT</a:t>
            </a:r>
            <a:r>
              <a:rPr lang="en-US" b="0" i="0" dirty="0"/>
              <a:t> relation defined above has degree 5.</a:t>
            </a:r>
            <a:endParaRPr dirty="0"/>
          </a:p>
          <a:p>
            <a:pPr marL="228600" lvl="0" indent="-228600" algn="just" rtl="0">
              <a:lnSpc>
                <a:spcPct val="90000"/>
              </a:lnSpc>
              <a:spcBef>
                <a:spcPts val="1000"/>
              </a:spcBef>
              <a:spcAft>
                <a:spcPts val="0"/>
              </a:spcAft>
              <a:buClr>
                <a:schemeClr val="dk1"/>
              </a:buClr>
              <a:buSzPct val="100000"/>
              <a:buFont typeface="Arial"/>
              <a:buChar char="•"/>
            </a:pPr>
            <a:r>
              <a:rPr lang="en-US" b="1" i="0" dirty="0"/>
              <a:t>Cardinality: </a:t>
            </a:r>
            <a:r>
              <a:rPr lang="en-US" b="1" i="0" dirty="0">
                <a:solidFill>
                  <a:srgbClr val="000099"/>
                </a:solidFill>
              </a:rPr>
              <a:t>The number of tuples in a relation is known as cardinality. </a:t>
            </a:r>
            <a:r>
              <a:rPr lang="en-US" b="0" i="0" dirty="0"/>
              <a:t>The </a:t>
            </a:r>
            <a:r>
              <a:rPr lang="en-US" b="1" i="0" dirty="0"/>
              <a:t>STUDENT</a:t>
            </a:r>
            <a:r>
              <a:rPr lang="en-US" b="0" i="0" dirty="0"/>
              <a:t> relation defined above has cardinality 4.</a:t>
            </a:r>
            <a:endParaRPr dirty="0"/>
          </a:p>
          <a:p>
            <a:pPr marL="228600" lvl="0" indent="-228600" algn="just" rtl="0">
              <a:lnSpc>
                <a:spcPct val="90000"/>
              </a:lnSpc>
              <a:spcBef>
                <a:spcPts val="1000"/>
              </a:spcBef>
              <a:spcAft>
                <a:spcPts val="0"/>
              </a:spcAft>
              <a:buClr>
                <a:schemeClr val="dk1"/>
              </a:buClr>
              <a:buSzPct val="100000"/>
              <a:buChar char="•"/>
            </a:pPr>
            <a:r>
              <a:rPr lang="en-US" b="1" i="0" dirty="0" smtClean="0"/>
              <a:t>NULL </a:t>
            </a:r>
            <a:r>
              <a:rPr lang="en-US" b="1" i="0" dirty="0"/>
              <a:t>Values:</a:t>
            </a:r>
            <a:r>
              <a:rPr lang="en-US" b="0" i="0" dirty="0"/>
              <a:t> </a:t>
            </a:r>
            <a:r>
              <a:rPr lang="en-US" b="1" i="0" dirty="0">
                <a:solidFill>
                  <a:srgbClr val="000099"/>
                </a:solidFill>
              </a:rPr>
              <a:t>The value which is not known or unavailable is called NULL value. </a:t>
            </a:r>
            <a:r>
              <a:rPr lang="en-US" b="0" i="0" dirty="0"/>
              <a:t>It is represented by blank space. e.g.; PHONE of STUDENT having ROLL_NO 4 is NULL. </a:t>
            </a:r>
            <a:endParaRPr dirty="0"/>
          </a:p>
          <a:p>
            <a:pPr marL="228600" lvl="0" indent="-77470" algn="just" rtl="0">
              <a:lnSpc>
                <a:spcPct val="90000"/>
              </a:lnSpc>
              <a:spcBef>
                <a:spcPts val="1000"/>
              </a:spcBef>
              <a:spcAft>
                <a:spcPts val="0"/>
              </a:spcAft>
              <a:buClr>
                <a:schemeClr val="dk1"/>
              </a:buClr>
              <a:buSzPct val="100000"/>
              <a:buFont typeface="Arial"/>
              <a:buNone/>
            </a:pPr>
            <a:endParaRPr b="0" i="0" dirty="0"/>
          </a:p>
          <a:p>
            <a:pPr marL="228600" lvl="0" indent="-77470" algn="l" rtl="0">
              <a:lnSpc>
                <a:spcPct val="90000"/>
              </a:lnSpc>
              <a:spcBef>
                <a:spcPts val="1000"/>
              </a:spcBef>
              <a:spcAft>
                <a:spcPts val="0"/>
              </a:spcAft>
              <a:buClr>
                <a:schemeClr val="dk1"/>
              </a:buClr>
              <a:buSzPct val="100000"/>
              <a:buFont typeface="Arial"/>
              <a:buNone/>
            </a:pPr>
            <a:endParaRPr b="0" i="0" dirty="0">
              <a:solidFill>
                <a:srgbClr val="273239"/>
              </a:solidFill>
              <a:latin typeface="Arial"/>
              <a:ea typeface="Arial"/>
              <a:cs typeface="Arial"/>
              <a:sym typeface="Arial"/>
            </a:endParaRPr>
          </a:p>
          <a:p>
            <a:pPr marL="228600" lvl="0" indent="-77470" algn="just" rtl="0">
              <a:lnSpc>
                <a:spcPct val="90000"/>
              </a:lnSpc>
              <a:spcBef>
                <a:spcPts val="1000"/>
              </a:spcBef>
              <a:spcAft>
                <a:spcPts val="0"/>
              </a:spcAft>
              <a:buClr>
                <a:schemeClr val="dk1"/>
              </a:buClr>
              <a:buSzPct val="100000"/>
              <a:buNone/>
            </a:pPr>
            <a:endParaRPr dirty="0"/>
          </a:p>
        </p:txBody>
      </p:sp>
      <p:graphicFrame>
        <p:nvGraphicFramePr>
          <p:cNvPr id="401" name="Google Shape;401;p43"/>
          <p:cNvGraphicFramePr/>
          <p:nvPr/>
        </p:nvGraphicFramePr>
        <p:xfrm>
          <a:off x="5856632" y="115094"/>
          <a:ext cx="3078638" cy="3048000"/>
        </p:xfrm>
        <a:graphic>
          <a:graphicData uri="http://schemas.openxmlformats.org/drawingml/2006/table">
            <a:tbl>
              <a:tblPr>
                <a:noFill/>
              </a:tblPr>
              <a:tblGrid>
                <a:gridCol w="474600"/>
                <a:gridCol w="705675"/>
                <a:gridCol w="685800"/>
                <a:gridCol w="824944"/>
                <a:gridCol w="387619"/>
              </a:tblGrid>
              <a:tr h="447375">
                <a:tc>
                  <a:txBody>
                    <a:bodyPr/>
                    <a:lstStyle/>
                    <a:p>
                      <a:pPr marL="0" marR="0" lvl="0" indent="0" algn="l" rtl="0">
                        <a:spcBef>
                          <a:spcPts val="0"/>
                        </a:spcBef>
                        <a:spcAft>
                          <a:spcPts val="0"/>
                        </a:spcAft>
                        <a:buNone/>
                      </a:pPr>
                      <a:r>
                        <a:rPr lang="en-US" sz="1250" b="1"/>
                        <a:t>ROLL_NO</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NAME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ADDRESS</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PHONE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AGE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0"/>
                        <a:t>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RAM</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9455123451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2</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RAMESH</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GURGAON</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9652431543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SUJIT</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ROHTAK</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9156253131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20</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4</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SURESH</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 </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bl>
          </a:graphicData>
        </a:graphic>
      </p:graphicFrame>
      <p:graphicFrame>
        <p:nvGraphicFramePr>
          <p:cNvPr id="402" name="Google Shape;402;p43"/>
          <p:cNvGraphicFramePr/>
          <p:nvPr>
            <p:extLst>
              <p:ext uri="{D42A27DB-BD31-4B8C-83A1-F6EECF244321}">
                <p14:modId xmlns:p14="http://schemas.microsoft.com/office/powerpoint/2010/main" val="2288160499"/>
              </p:ext>
            </p:extLst>
          </p:nvPr>
        </p:nvGraphicFramePr>
        <p:xfrm>
          <a:off x="6629400" y="3962400"/>
          <a:ext cx="663431" cy="2476500"/>
        </p:xfrm>
        <a:graphic>
          <a:graphicData uri="http://schemas.openxmlformats.org/drawingml/2006/table">
            <a:tbl>
              <a:tblPr>
                <a:noFill/>
              </a:tblPr>
              <a:tblGrid>
                <a:gridCol w="663431"/>
              </a:tblGrid>
              <a:tr h="607634">
                <a:tc>
                  <a:txBody>
                    <a:bodyPr/>
                    <a:lstStyle/>
                    <a:p>
                      <a:pPr marL="0" marR="0" lvl="0" indent="0" algn="l" rtl="0">
                        <a:spcBef>
                          <a:spcPts val="0"/>
                        </a:spcBef>
                        <a:spcAft>
                          <a:spcPts val="0"/>
                        </a:spcAft>
                        <a:buNone/>
                      </a:pPr>
                      <a:r>
                        <a:rPr lang="en-US" sz="1250" b="1"/>
                        <a:t>ROLL_NO</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428918">
                <a:tc>
                  <a:txBody>
                    <a:bodyPr/>
                    <a:lstStyle/>
                    <a:p>
                      <a:pPr marL="0" marR="0" lvl="0" indent="0" algn="l" rtl="0">
                        <a:spcBef>
                          <a:spcPts val="0"/>
                        </a:spcBef>
                        <a:spcAft>
                          <a:spcPts val="0"/>
                        </a:spcAft>
                        <a:buNone/>
                      </a:pPr>
                      <a:r>
                        <a:rPr lang="en-US" sz="1250" b="0"/>
                        <a:t>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428918">
                <a:tc>
                  <a:txBody>
                    <a:bodyPr/>
                    <a:lstStyle/>
                    <a:p>
                      <a:pPr marL="0" marR="0" lvl="0" indent="0" algn="l" rtl="0">
                        <a:spcBef>
                          <a:spcPts val="0"/>
                        </a:spcBef>
                        <a:spcAft>
                          <a:spcPts val="0"/>
                        </a:spcAft>
                        <a:buNone/>
                      </a:pPr>
                      <a:r>
                        <a:rPr lang="en-US" sz="1250" b="0"/>
                        <a:t>2</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428918">
                <a:tc>
                  <a:txBody>
                    <a:bodyPr/>
                    <a:lstStyle/>
                    <a:p>
                      <a:pPr marL="0" marR="0" lvl="0" indent="0" algn="l" rtl="0">
                        <a:spcBef>
                          <a:spcPts val="0"/>
                        </a:spcBef>
                        <a:spcAft>
                          <a:spcPts val="0"/>
                        </a:spcAft>
                        <a:buNone/>
                      </a:pPr>
                      <a:r>
                        <a:rPr lang="en-US" sz="1250" b="0"/>
                        <a:t>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428918">
                <a:tc>
                  <a:txBody>
                    <a:bodyPr/>
                    <a:lstStyle/>
                    <a:p>
                      <a:pPr marL="0" marR="0" lvl="0" indent="0" algn="l" rtl="0">
                        <a:spcBef>
                          <a:spcPts val="0"/>
                        </a:spcBef>
                        <a:spcAft>
                          <a:spcPts val="0"/>
                        </a:spcAft>
                        <a:buNone/>
                      </a:pPr>
                      <a:r>
                        <a:rPr lang="en-US" sz="1250" b="0" dirty="0"/>
                        <a:t>4</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bl>
          </a:graphicData>
        </a:graphic>
      </p:graphicFrame>
    </p:spTree>
    <p:extLst>
      <p:ext uri="{BB962C8B-B14F-4D97-AF65-F5344CB8AC3E}">
        <p14:creationId xmlns:p14="http://schemas.microsoft.com/office/powerpoint/2010/main" val="421406092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9144000" cy="4056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4146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4"/>
          <p:cNvSpPr txBox="1">
            <a:spLocks noGrp="1"/>
          </p:cNvSpPr>
          <p:nvPr>
            <p:ph type="title"/>
          </p:nvPr>
        </p:nvSpPr>
        <p:spPr>
          <a:xfrm>
            <a:off x="228600" y="-91439"/>
            <a:ext cx="4210878" cy="10800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i="0" u="none" strike="noStrike" dirty="0">
                <a:latin typeface="Calibri"/>
                <a:ea typeface="Calibri"/>
                <a:cs typeface="Calibri"/>
                <a:sym typeface="Calibri"/>
              </a:rPr>
              <a:t>Relational Model</a:t>
            </a:r>
            <a:endParaRPr b="1" dirty="0">
              <a:latin typeface="Calibri"/>
              <a:ea typeface="Calibri"/>
              <a:cs typeface="Calibri"/>
              <a:sym typeface="Calibri"/>
            </a:endParaRPr>
          </a:p>
        </p:txBody>
      </p:sp>
      <p:sp>
        <p:nvSpPr>
          <p:cNvPr id="408" name="Google Shape;408;p44"/>
          <p:cNvSpPr txBox="1">
            <a:spLocks noGrp="1"/>
          </p:cNvSpPr>
          <p:nvPr>
            <p:ph type="body" idx="1"/>
          </p:nvPr>
        </p:nvSpPr>
        <p:spPr>
          <a:xfrm>
            <a:off x="73303" y="3223800"/>
            <a:ext cx="8232498" cy="3535345"/>
          </a:xfrm>
          <a:prstGeom prst="rect">
            <a:avLst/>
          </a:prstGeom>
          <a:noFill/>
          <a:ln>
            <a:noFill/>
          </a:ln>
        </p:spPr>
        <p:txBody>
          <a:bodyPr spcFirstLastPara="1" wrap="square" lIns="91425" tIns="45700" rIns="91425" bIns="45700" anchor="t" anchorCtr="0">
            <a:normAutofit fontScale="92500"/>
          </a:bodyPr>
          <a:lstStyle/>
          <a:p>
            <a:pPr marL="228600" lvl="0" indent="-228600" algn="just" rtl="0">
              <a:lnSpc>
                <a:spcPct val="90000"/>
              </a:lnSpc>
              <a:spcBef>
                <a:spcPts val="0"/>
              </a:spcBef>
              <a:spcAft>
                <a:spcPts val="0"/>
              </a:spcAft>
              <a:buClr>
                <a:schemeClr val="dk1"/>
              </a:buClr>
              <a:buSzPct val="100000"/>
              <a:buChar char="•"/>
            </a:pPr>
            <a:r>
              <a:rPr lang="en-US" b="1" i="0" dirty="0"/>
              <a:t>Domain Constraints:</a:t>
            </a:r>
            <a:r>
              <a:rPr lang="en-US" b="0" i="0" dirty="0"/>
              <a:t> </a:t>
            </a:r>
            <a:r>
              <a:rPr lang="en-US" b="1" i="0" dirty="0">
                <a:solidFill>
                  <a:srgbClr val="000099"/>
                </a:solidFill>
              </a:rPr>
              <a:t>These are attribute level constraints. </a:t>
            </a:r>
            <a:r>
              <a:rPr lang="en-US" b="0" i="0" dirty="0"/>
              <a:t>An attribute can only take values which lie inside the domain range. e.g,; If a constrains AGE&gt;0 is applied on STUDENT relation, </a:t>
            </a:r>
            <a:r>
              <a:rPr lang="en-US" b="1" i="0" dirty="0">
                <a:solidFill>
                  <a:srgbClr val="C00000"/>
                </a:solidFill>
              </a:rPr>
              <a:t>inserting negative value of AGE will result in failure. </a:t>
            </a:r>
            <a:endParaRPr dirty="0"/>
          </a:p>
          <a:p>
            <a:pPr marL="228600" lvl="0" indent="-228600" algn="just" rtl="0">
              <a:lnSpc>
                <a:spcPct val="90000"/>
              </a:lnSpc>
              <a:spcBef>
                <a:spcPts val="1000"/>
              </a:spcBef>
              <a:spcAft>
                <a:spcPts val="0"/>
              </a:spcAft>
              <a:buClr>
                <a:schemeClr val="dk1"/>
              </a:buClr>
              <a:buSzPct val="100000"/>
              <a:buChar char="•"/>
            </a:pPr>
            <a:r>
              <a:rPr lang="en-US" b="1" i="0" dirty="0"/>
              <a:t>Key Integrity:</a:t>
            </a:r>
            <a:r>
              <a:rPr lang="en-US" b="0" i="0" dirty="0"/>
              <a:t> Every relation in the database should have at least one set of attributes which defines a tuple uniquely. Those set of attributes is called key. e.g.; </a:t>
            </a:r>
            <a:r>
              <a:rPr lang="en-US" b="1" i="0" dirty="0">
                <a:solidFill>
                  <a:srgbClr val="C00000"/>
                </a:solidFill>
              </a:rPr>
              <a:t>ROLL_NO in STUDENT is a key. No two students can have same roll number. </a:t>
            </a:r>
            <a:r>
              <a:rPr lang="en-US" b="0" i="0" dirty="0"/>
              <a:t>So a key has two properties: </a:t>
            </a:r>
            <a:endParaRPr dirty="0"/>
          </a:p>
          <a:p>
            <a:pPr marL="228600" lvl="0" indent="-228600" algn="just" rtl="0">
              <a:lnSpc>
                <a:spcPct val="90000"/>
              </a:lnSpc>
              <a:spcBef>
                <a:spcPts val="1000"/>
              </a:spcBef>
              <a:spcAft>
                <a:spcPts val="0"/>
              </a:spcAft>
              <a:buClr>
                <a:srgbClr val="000099"/>
              </a:buClr>
              <a:buSzPct val="100000"/>
              <a:buFont typeface="Arial"/>
              <a:buChar char="•"/>
            </a:pPr>
            <a:r>
              <a:rPr lang="en-US" b="1" i="0" dirty="0">
                <a:solidFill>
                  <a:srgbClr val="000099"/>
                </a:solidFill>
              </a:rPr>
              <a:t>It should be unique for all tuples.</a:t>
            </a:r>
            <a:endParaRPr dirty="0"/>
          </a:p>
          <a:p>
            <a:pPr marL="228600" lvl="0" indent="-228600" algn="just" rtl="0">
              <a:lnSpc>
                <a:spcPct val="90000"/>
              </a:lnSpc>
              <a:spcBef>
                <a:spcPts val="1000"/>
              </a:spcBef>
              <a:spcAft>
                <a:spcPts val="0"/>
              </a:spcAft>
              <a:buClr>
                <a:srgbClr val="000099"/>
              </a:buClr>
              <a:buSzPct val="100000"/>
              <a:buFont typeface="Arial"/>
              <a:buChar char="•"/>
            </a:pPr>
            <a:r>
              <a:rPr lang="en-US" b="1" i="0" dirty="0">
                <a:solidFill>
                  <a:srgbClr val="000099"/>
                </a:solidFill>
              </a:rPr>
              <a:t>It can’t have NULL values.</a:t>
            </a:r>
            <a:endParaRPr dirty="0"/>
          </a:p>
          <a:p>
            <a:pPr marL="228600" lvl="0" indent="-64135" algn="just" rtl="0">
              <a:lnSpc>
                <a:spcPct val="90000"/>
              </a:lnSpc>
              <a:spcBef>
                <a:spcPts val="1000"/>
              </a:spcBef>
              <a:spcAft>
                <a:spcPts val="0"/>
              </a:spcAft>
              <a:buClr>
                <a:schemeClr val="dk1"/>
              </a:buClr>
              <a:buSzPct val="100000"/>
              <a:buFont typeface="Arial"/>
              <a:buNone/>
            </a:pPr>
            <a:endParaRPr b="0" i="0" dirty="0"/>
          </a:p>
          <a:p>
            <a:pPr marL="228600" lvl="0" indent="-64135" algn="l" rtl="0">
              <a:lnSpc>
                <a:spcPct val="90000"/>
              </a:lnSpc>
              <a:spcBef>
                <a:spcPts val="1000"/>
              </a:spcBef>
              <a:spcAft>
                <a:spcPts val="0"/>
              </a:spcAft>
              <a:buClr>
                <a:schemeClr val="dk1"/>
              </a:buClr>
              <a:buSzPct val="100000"/>
              <a:buFont typeface="Arial"/>
              <a:buNone/>
            </a:pPr>
            <a:endParaRPr b="0" i="0" dirty="0">
              <a:solidFill>
                <a:srgbClr val="273239"/>
              </a:solidFill>
              <a:latin typeface="Arial"/>
              <a:ea typeface="Arial"/>
              <a:cs typeface="Arial"/>
              <a:sym typeface="Arial"/>
            </a:endParaRPr>
          </a:p>
          <a:p>
            <a:pPr marL="228600" lvl="0" indent="-64135" algn="just" rtl="0">
              <a:lnSpc>
                <a:spcPct val="90000"/>
              </a:lnSpc>
              <a:spcBef>
                <a:spcPts val="1000"/>
              </a:spcBef>
              <a:spcAft>
                <a:spcPts val="0"/>
              </a:spcAft>
              <a:buClr>
                <a:schemeClr val="dk1"/>
              </a:buClr>
              <a:buSzPct val="100000"/>
              <a:buNone/>
            </a:pPr>
            <a:endParaRPr dirty="0"/>
          </a:p>
        </p:txBody>
      </p:sp>
      <p:graphicFrame>
        <p:nvGraphicFramePr>
          <p:cNvPr id="409" name="Google Shape;409;p44"/>
          <p:cNvGraphicFramePr/>
          <p:nvPr>
            <p:extLst>
              <p:ext uri="{D42A27DB-BD31-4B8C-83A1-F6EECF244321}">
                <p14:modId xmlns:p14="http://schemas.microsoft.com/office/powerpoint/2010/main" val="3293590993"/>
              </p:ext>
            </p:extLst>
          </p:nvPr>
        </p:nvGraphicFramePr>
        <p:xfrm>
          <a:off x="5948073" y="16238"/>
          <a:ext cx="3078638" cy="3048000"/>
        </p:xfrm>
        <a:graphic>
          <a:graphicData uri="http://schemas.openxmlformats.org/drawingml/2006/table">
            <a:tbl>
              <a:tblPr>
                <a:noFill/>
              </a:tblPr>
              <a:tblGrid>
                <a:gridCol w="474600"/>
                <a:gridCol w="705675"/>
                <a:gridCol w="685800"/>
                <a:gridCol w="824944"/>
                <a:gridCol w="387619"/>
              </a:tblGrid>
              <a:tr h="447375">
                <a:tc>
                  <a:txBody>
                    <a:bodyPr/>
                    <a:lstStyle/>
                    <a:p>
                      <a:pPr marL="0" marR="0" lvl="0" indent="0" algn="l" rtl="0">
                        <a:spcBef>
                          <a:spcPts val="0"/>
                        </a:spcBef>
                        <a:spcAft>
                          <a:spcPts val="0"/>
                        </a:spcAft>
                        <a:buNone/>
                      </a:pPr>
                      <a:r>
                        <a:rPr lang="en-US" sz="1250" b="1" dirty="0"/>
                        <a:t>ROLL_NO</a:t>
                      </a:r>
                      <a:endParaRPr sz="1250" b="0"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NAME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ADDRESS</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PHONE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AGE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0"/>
                        <a:t>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RAM</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9455123451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2</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RAMESH</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GURGAON</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9652431543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SUJIT</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ROHTAK</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dirty="0"/>
                        <a:t>9156253131</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20</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315800">
                <a:tc>
                  <a:txBody>
                    <a:bodyPr/>
                    <a:lstStyle/>
                    <a:p>
                      <a:pPr marL="0" marR="0" lvl="0" indent="0" algn="l" rtl="0">
                        <a:spcBef>
                          <a:spcPts val="0"/>
                        </a:spcBef>
                        <a:spcAft>
                          <a:spcPts val="0"/>
                        </a:spcAft>
                        <a:buNone/>
                      </a:pPr>
                      <a:r>
                        <a:rPr lang="en-US" sz="1250" b="0"/>
                        <a:t>4</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SURESH</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 </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dirty="0"/>
                        <a:t>18</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bl>
          </a:graphicData>
        </a:graphic>
      </p:graphicFrame>
      <p:sp>
        <p:nvSpPr>
          <p:cNvPr id="410" name="Google Shape;410;p44"/>
          <p:cNvSpPr txBox="1"/>
          <p:nvPr/>
        </p:nvSpPr>
        <p:spPr>
          <a:xfrm>
            <a:off x="73302" y="988582"/>
            <a:ext cx="5783331" cy="2075656"/>
          </a:xfrm>
          <a:prstGeom prst="rect">
            <a:avLst/>
          </a:prstGeom>
          <a:noFill/>
          <a:ln>
            <a:noFill/>
          </a:ln>
        </p:spPr>
        <p:txBody>
          <a:bodyPr spcFirstLastPara="1" wrap="square" lIns="91425" tIns="45700" rIns="91425" bIns="45700" anchor="t" anchorCtr="0">
            <a:normAutofit fontScale="70000" lnSpcReduction="20000"/>
          </a:bodyPr>
          <a:lstStyle/>
          <a:p>
            <a:pPr marL="228600" marR="0" lvl="0" indent="-228600" algn="ctr" rtl="0">
              <a:lnSpc>
                <a:spcPct val="90000"/>
              </a:lnSpc>
              <a:spcBef>
                <a:spcPts val="0"/>
              </a:spcBef>
              <a:spcAft>
                <a:spcPts val="0"/>
              </a:spcAft>
              <a:buClr>
                <a:schemeClr val="dk1"/>
              </a:buClr>
              <a:buSzPct val="100000"/>
              <a:buFont typeface="Arial"/>
              <a:buChar char="•"/>
            </a:pPr>
            <a:r>
              <a:rPr lang="en-US" sz="2800" b="1" i="0" u="none" strike="noStrike" cap="none" dirty="0">
                <a:solidFill>
                  <a:schemeClr val="dk1"/>
                </a:solidFill>
                <a:latin typeface="Calibri"/>
                <a:ea typeface="Calibri"/>
                <a:cs typeface="Calibri"/>
                <a:sym typeface="Calibri"/>
              </a:rPr>
              <a:t>Constraints in Relational Model</a:t>
            </a:r>
            <a:endParaRPr sz="2800" b="0" i="0" u="none" strike="noStrike" cap="none" dirty="0">
              <a:solidFill>
                <a:schemeClr val="dk1"/>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0099"/>
              </a:buClr>
              <a:buSzPct val="100000"/>
              <a:buFont typeface="Arial"/>
              <a:buChar char="•"/>
            </a:pPr>
            <a:r>
              <a:rPr lang="en-US" sz="2800" b="1" i="0" u="none" strike="noStrike" cap="none" dirty="0">
                <a:solidFill>
                  <a:srgbClr val="000099"/>
                </a:solidFill>
                <a:latin typeface="Calibri"/>
                <a:ea typeface="Calibri"/>
                <a:cs typeface="Calibri"/>
                <a:sym typeface="Calibri"/>
              </a:rPr>
              <a:t>While designing Relational Model, we define some conditions which must hold for data present in database are called Constraints. These constraints are checked before performing any operation (insertion, deletion and </a:t>
            </a:r>
            <a:r>
              <a:rPr lang="en-US" sz="2800" b="1" i="0" u="none" strike="noStrike" cap="none" dirty="0" err="1">
                <a:solidFill>
                  <a:srgbClr val="000099"/>
                </a:solidFill>
                <a:latin typeface="Calibri"/>
                <a:ea typeface="Calibri"/>
                <a:cs typeface="Calibri"/>
                <a:sym typeface="Calibri"/>
              </a:rPr>
              <a:t>updation</a:t>
            </a:r>
            <a:r>
              <a:rPr lang="en-US" sz="2800" b="1" i="0" u="none" strike="noStrike" cap="none" dirty="0">
                <a:solidFill>
                  <a:srgbClr val="000099"/>
                </a:solidFill>
                <a:latin typeface="Calibri"/>
                <a:ea typeface="Calibri"/>
                <a:cs typeface="Calibri"/>
                <a:sym typeface="Calibri"/>
              </a:rPr>
              <a:t>) in database. If there is a violation in any of constrains, operation will fail. </a:t>
            </a:r>
            <a:endParaRPr dirty="0"/>
          </a:p>
          <a:p>
            <a:pPr marL="228600" marR="0" lvl="0" indent="-77470" algn="just" rtl="0">
              <a:lnSpc>
                <a:spcPct val="90000"/>
              </a:lnSpc>
              <a:spcBef>
                <a:spcPts val="1000"/>
              </a:spcBef>
              <a:spcAft>
                <a:spcPts val="0"/>
              </a:spcAft>
              <a:buClr>
                <a:schemeClr val="dk1"/>
              </a:buClr>
              <a:buSzPct val="100000"/>
              <a:buFont typeface="Arial"/>
              <a:buNone/>
            </a:pPr>
            <a:endParaRPr sz="2800" b="1" i="0" u="none" strike="noStrike" cap="none" dirty="0">
              <a:solidFill>
                <a:srgbClr val="000099"/>
              </a:solidFill>
              <a:latin typeface="Calibri"/>
              <a:ea typeface="Calibri"/>
              <a:cs typeface="Calibri"/>
              <a:sym typeface="Calibri"/>
            </a:endParaRPr>
          </a:p>
          <a:p>
            <a:pPr marL="228600" marR="0" lvl="0" indent="-77470" algn="l" rtl="0">
              <a:lnSpc>
                <a:spcPct val="90000"/>
              </a:lnSpc>
              <a:spcBef>
                <a:spcPts val="1000"/>
              </a:spcBef>
              <a:spcAft>
                <a:spcPts val="0"/>
              </a:spcAft>
              <a:buClr>
                <a:schemeClr val="dk1"/>
              </a:buClr>
              <a:buSzPct val="100000"/>
              <a:buFont typeface="Arial"/>
              <a:buNone/>
            </a:pPr>
            <a:endParaRPr sz="2800" b="0" i="0" u="none" strike="noStrike" cap="none" dirty="0">
              <a:solidFill>
                <a:srgbClr val="273239"/>
              </a:solidFill>
              <a:latin typeface="Arial"/>
              <a:ea typeface="Arial"/>
              <a:cs typeface="Arial"/>
              <a:sym typeface="Arial"/>
            </a:endParaRPr>
          </a:p>
          <a:p>
            <a:pPr marL="228600" marR="0" lvl="0" indent="-77470" algn="just" rtl="0">
              <a:lnSpc>
                <a:spcPct val="90000"/>
              </a:lnSpc>
              <a:spcBef>
                <a:spcPts val="1000"/>
              </a:spcBef>
              <a:spcAft>
                <a:spcPts val="0"/>
              </a:spcAft>
              <a:buClr>
                <a:schemeClr val="dk1"/>
              </a:buClr>
              <a:buSzPct val="100000"/>
              <a:buFont typeface="Arial"/>
              <a:buNone/>
            </a:pPr>
            <a:endParaRPr sz="28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4921860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5"/>
          <p:cNvSpPr txBox="1">
            <a:spLocks noGrp="1"/>
          </p:cNvSpPr>
          <p:nvPr>
            <p:ph type="title"/>
          </p:nvPr>
        </p:nvSpPr>
        <p:spPr>
          <a:xfrm>
            <a:off x="69574" y="135664"/>
            <a:ext cx="2763079" cy="98763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i="0" u="none" strike="noStrike" dirty="0">
                <a:latin typeface="Calibri"/>
                <a:ea typeface="Calibri"/>
                <a:cs typeface="Calibri"/>
                <a:sym typeface="Calibri"/>
              </a:rPr>
              <a:t>Relational Model</a:t>
            </a:r>
            <a:endParaRPr b="1" dirty="0">
              <a:latin typeface="Calibri"/>
              <a:ea typeface="Calibri"/>
              <a:cs typeface="Calibri"/>
              <a:sym typeface="Calibri"/>
            </a:endParaRPr>
          </a:p>
        </p:txBody>
      </p:sp>
      <p:sp>
        <p:nvSpPr>
          <p:cNvPr id="416" name="Google Shape;416;p45"/>
          <p:cNvSpPr txBox="1">
            <a:spLocks noGrp="1"/>
          </p:cNvSpPr>
          <p:nvPr>
            <p:ph type="body" idx="1"/>
          </p:nvPr>
        </p:nvSpPr>
        <p:spPr>
          <a:xfrm>
            <a:off x="176561" y="5410200"/>
            <a:ext cx="8357839" cy="1699827"/>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just" rtl="0">
              <a:lnSpc>
                <a:spcPct val="90000"/>
              </a:lnSpc>
              <a:spcBef>
                <a:spcPts val="0"/>
              </a:spcBef>
              <a:spcAft>
                <a:spcPts val="0"/>
              </a:spcAft>
              <a:buClr>
                <a:srgbClr val="C00000"/>
              </a:buClr>
              <a:buSzPct val="100000"/>
              <a:buChar char="•"/>
            </a:pPr>
            <a:r>
              <a:rPr lang="en-US" b="1" i="0" dirty="0">
                <a:solidFill>
                  <a:srgbClr val="C00000"/>
                </a:solidFill>
              </a:rPr>
              <a:t>BRANCH_CODE of STUDENT can only take the values which are present in BRANCH_CODE of BRANCH which is called referential integrity constraint. </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The relation which is referencing to other relation is called REFERENCING RELATION (STUDENT in this case) </a:t>
            </a:r>
            <a:r>
              <a:rPr lang="en-US" b="0" i="0" dirty="0"/>
              <a:t>and </a:t>
            </a:r>
            <a:r>
              <a:rPr lang="en-US" b="1" i="0" dirty="0">
                <a:solidFill>
                  <a:srgbClr val="C00000"/>
                </a:solidFill>
              </a:rPr>
              <a:t>the relation to which other relations refer is called REFERENCED RELATION (BRANCH in this case). </a:t>
            </a:r>
            <a:endParaRPr dirty="0"/>
          </a:p>
          <a:p>
            <a:pPr marL="228600" lvl="0" indent="-64135" algn="l" rtl="0">
              <a:lnSpc>
                <a:spcPct val="90000"/>
              </a:lnSpc>
              <a:spcBef>
                <a:spcPts val="1000"/>
              </a:spcBef>
              <a:spcAft>
                <a:spcPts val="0"/>
              </a:spcAft>
              <a:buClr>
                <a:schemeClr val="dk1"/>
              </a:buClr>
              <a:buSzPct val="100000"/>
              <a:buFont typeface="Arial"/>
              <a:buNone/>
            </a:pPr>
            <a:endParaRPr b="1" i="0" dirty="0">
              <a:solidFill>
                <a:srgbClr val="C00000"/>
              </a:solidFill>
              <a:latin typeface="Arial"/>
              <a:ea typeface="Arial"/>
              <a:cs typeface="Arial"/>
              <a:sym typeface="Arial"/>
            </a:endParaRPr>
          </a:p>
          <a:p>
            <a:pPr marL="228600" lvl="0" indent="-64135" algn="just" rtl="0">
              <a:lnSpc>
                <a:spcPct val="90000"/>
              </a:lnSpc>
              <a:spcBef>
                <a:spcPts val="1000"/>
              </a:spcBef>
              <a:spcAft>
                <a:spcPts val="0"/>
              </a:spcAft>
              <a:buClr>
                <a:schemeClr val="dk1"/>
              </a:buClr>
              <a:buSzPct val="100000"/>
              <a:buNone/>
            </a:pPr>
            <a:endParaRPr dirty="0"/>
          </a:p>
        </p:txBody>
      </p:sp>
      <p:graphicFrame>
        <p:nvGraphicFramePr>
          <p:cNvPr id="417" name="Google Shape;417;p45"/>
          <p:cNvGraphicFramePr/>
          <p:nvPr/>
        </p:nvGraphicFramePr>
        <p:xfrm>
          <a:off x="208723" y="2095563"/>
          <a:ext cx="4490007" cy="3238500"/>
        </p:xfrm>
        <a:graphic>
          <a:graphicData uri="http://schemas.openxmlformats.org/drawingml/2006/table">
            <a:tbl>
              <a:tblPr>
                <a:noFill/>
              </a:tblPr>
              <a:tblGrid>
                <a:gridCol w="733013"/>
                <a:gridCol w="636113"/>
                <a:gridCol w="815006"/>
                <a:gridCol w="874650"/>
                <a:gridCol w="496950"/>
                <a:gridCol w="934275"/>
              </a:tblGrid>
              <a:tr h="0">
                <a:tc>
                  <a:txBody>
                    <a:bodyPr/>
                    <a:lstStyle/>
                    <a:p>
                      <a:pPr marL="0" marR="0" lvl="0" indent="0" algn="l" rtl="0">
                        <a:spcBef>
                          <a:spcPts val="0"/>
                        </a:spcBef>
                        <a:spcAft>
                          <a:spcPts val="0"/>
                        </a:spcAft>
                        <a:buNone/>
                      </a:pPr>
                      <a:r>
                        <a:rPr lang="en-US" sz="1250" b="1" dirty="0"/>
                        <a:t>ROLL_NO</a:t>
                      </a:r>
                      <a:endParaRPr sz="1250" b="0"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NAME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ADDRESS</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PHONE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t>AGE</a:t>
                      </a:r>
                      <a:endParaRPr sz="1250" b="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solidFill>
                            <a:srgbClr val="000099"/>
                          </a:solidFill>
                        </a:rPr>
                        <a:t>BRANCH_CODE</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0"/>
                        <a:t>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dirty="0"/>
                        <a:t>RAM</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9455123451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solidFill>
                            <a:srgbClr val="000099"/>
                          </a:solidFill>
                        </a:rPr>
                        <a:t>CS</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0"/>
                        <a:t>2</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RAMESH</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dirty="0"/>
                        <a:t>GURGAON</a:t>
                      </a:r>
                      <a:endParaRPr dirty="0"/>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9652431543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solidFill>
                            <a:srgbClr val="000099"/>
                          </a:solidFill>
                        </a:rPr>
                        <a:t>CS</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0"/>
                        <a:t>3</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SUJIT</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ROHTAK</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9156253131</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20</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solidFill>
                            <a:srgbClr val="000099"/>
                          </a:solidFill>
                        </a:rPr>
                        <a:t>ECE</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0"/>
                        <a:t>4</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SURESH</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DELHI</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 </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18</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1">
                          <a:solidFill>
                            <a:srgbClr val="000099"/>
                          </a:solidFill>
                        </a:rPr>
                        <a:t>IT</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bl>
          </a:graphicData>
        </a:graphic>
      </p:graphicFrame>
      <p:graphicFrame>
        <p:nvGraphicFramePr>
          <p:cNvPr id="418" name="Google Shape;418;p45"/>
          <p:cNvGraphicFramePr/>
          <p:nvPr/>
        </p:nvGraphicFramePr>
        <p:xfrm>
          <a:off x="5331723" y="1989569"/>
          <a:ext cx="3742706" cy="2667000"/>
        </p:xfrm>
        <a:graphic>
          <a:graphicData uri="http://schemas.openxmlformats.org/drawingml/2006/table">
            <a:tbl>
              <a:tblPr>
                <a:noFill/>
              </a:tblPr>
              <a:tblGrid>
                <a:gridCol w="931800"/>
                <a:gridCol w="2810906"/>
              </a:tblGrid>
              <a:tr h="0">
                <a:tc>
                  <a:txBody>
                    <a:bodyPr/>
                    <a:lstStyle/>
                    <a:p>
                      <a:pPr marL="0" marR="0" lvl="0" indent="0" algn="l" rtl="0">
                        <a:spcBef>
                          <a:spcPts val="0"/>
                        </a:spcBef>
                        <a:spcAft>
                          <a:spcPts val="0"/>
                        </a:spcAft>
                        <a:buNone/>
                      </a:pPr>
                      <a:r>
                        <a:rPr lang="en-US" sz="1250" b="1" dirty="0">
                          <a:solidFill>
                            <a:srgbClr val="000099"/>
                          </a:solidFill>
                        </a:rPr>
                        <a:t>BRANCH_CODE</a:t>
                      </a:r>
                      <a:endParaRPr sz="1250" b="0" dirty="0">
                        <a:solidFill>
                          <a:srgbClr val="000099"/>
                        </a:solidFill>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BRANCH_NAME</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1">
                          <a:solidFill>
                            <a:srgbClr val="000099"/>
                          </a:solidFill>
                        </a:rPr>
                        <a:t>CS</a:t>
                      </a:r>
                      <a:endParaRPr sz="1250" b="0">
                        <a:solidFill>
                          <a:srgbClr val="000099"/>
                        </a:solidFill>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COMPUTER SCIENCE</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1">
                          <a:solidFill>
                            <a:srgbClr val="000099"/>
                          </a:solidFill>
                        </a:rPr>
                        <a:t>IT</a:t>
                      </a:r>
                      <a:endParaRPr sz="1250" b="0">
                        <a:solidFill>
                          <a:srgbClr val="000099"/>
                        </a:solidFill>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INFORMATION TECHNOLOGY</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1">
                          <a:solidFill>
                            <a:srgbClr val="000099"/>
                          </a:solidFill>
                        </a:rPr>
                        <a:t>ECE</a:t>
                      </a:r>
                      <a:endParaRPr sz="1250" b="0">
                        <a:solidFill>
                          <a:srgbClr val="000099"/>
                        </a:solidFill>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ELECTRONICS AND COMMUNICATION ENGINEERING</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r h="0">
                <a:tc>
                  <a:txBody>
                    <a:bodyPr/>
                    <a:lstStyle/>
                    <a:p>
                      <a:pPr marL="0" marR="0" lvl="0" indent="0" algn="l" rtl="0">
                        <a:spcBef>
                          <a:spcPts val="0"/>
                        </a:spcBef>
                        <a:spcAft>
                          <a:spcPts val="0"/>
                        </a:spcAft>
                        <a:buNone/>
                      </a:pPr>
                      <a:r>
                        <a:rPr lang="en-US" sz="1250" b="1" dirty="0">
                          <a:solidFill>
                            <a:srgbClr val="000099"/>
                          </a:solidFill>
                        </a:rPr>
                        <a:t>CV</a:t>
                      </a:r>
                      <a:endParaRPr sz="1250" b="0" dirty="0">
                        <a:solidFill>
                          <a:srgbClr val="000099"/>
                        </a:solidFill>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50" b="0"/>
                        <a:t>CIVIL ENGINEERING</a:t>
                      </a:r>
                      <a:endParaRPr/>
                    </a:p>
                  </a:txBody>
                  <a:tcPr marL="71438" marR="71438" marT="133350" marB="1333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r>
            </a:tbl>
          </a:graphicData>
        </a:graphic>
      </p:graphicFrame>
      <p:sp>
        <p:nvSpPr>
          <p:cNvPr id="419" name="Google Shape;419;p45"/>
          <p:cNvSpPr txBox="1"/>
          <p:nvPr/>
        </p:nvSpPr>
        <p:spPr>
          <a:xfrm>
            <a:off x="1789043" y="114652"/>
            <a:ext cx="6745357" cy="1513889"/>
          </a:xfrm>
          <a:prstGeom prst="rect">
            <a:avLst/>
          </a:prstGeom>
          <a:noFill/>
          <a:ln>
            <a:noFill/>
          </a:ln>
        </p:spPr>
        <p:txBody>
          <a:bodyPr spcFirstLastPara="1" wrap="square" lIns="91425" tIns="45700" rIns="91425" bIns="45700" anchor="t" anchorCtr="0">
            <a:normAutofit fontScale="62500" lnSpcReduction="20000"/>
          </a:bodyPr>
          <a:lstStyle/>
          <a:p>
            <a:pPr marL="228600" marR="0" lvl="0" indent="-228600" algn="ctr" rtl="0">
              <a:lnSpc>
                <a:spcPct val="90000"/>
              </a:lnSpc>
              <a:spcBef>
                <a:spcPts val="0"/>
              </a:spcBef>
              <a:spcAft>
                <a:spcPts val="0"/>
              </a:spcAft>
              <a:buClr>
                <a:schemeClr val="dk1"/>
              </a:buClr>
              <a:buSzPct val="100000"/>
              <a:buFont typeface="Arial"/>
              <a:buChar char="•"/>
            </a:pPr>
            <a:r>
              <a:rPr lang="en-US" sz="2800" b="1" i="0" u="none" strike="noStrike" cap="none" dirty="0">
                <a:solidFill>
                  <a:schemeClr val="dk1"/>
                </a:solidFill>
                <a:latin typeface="Calibri"/>
                <a:ea typeface="Calibri"/>
                <a:cs typeface="Calibri"/>
                <a:sym typeface="Calibri"/>
              </a:rPr>
              <a:t>Constraints in Relational Model</a:t>
            </a:r>
            <a:endParaRPr sz="2800" b="0" i="0" u="none" strike="noStrike" cap="none" dirty="0">
              <a:solidFill>
                <a:schemeClr val="dk1"/>
              </a:solidFill>
              <a:latin typeface="Calibri"/>
              <a:ea typeface="Calibri"/>
              <a:cs typeface="Calibri"/>
              <a:sym typeface="Calibri"/>
            </a:endParaRPr>
          </a:p>
          <a:p>
            <a:pPr marL="228600" lvl="0" indent="-228600" algn="just">
              <a:lnSpc>
                <a:spcPct val="90000"/>
              </a:lnSpc>
              <a:spcBef>
                <a:spcPts val="1000"/>
              </a:spcBef>
              <a:buClr>
                <a:schemeClr val="dk1"/>
              </a:buClr>
              <a:buSzPct val="100000"/>
              <a:buFont typeface="Arial"/>
              <a:buChar char="•"/>
            </a:pPr>
            <a:r>
              <a:rPr lang="en-US" sz="3400" b="1" i="0" u="none" strike="noStrike" cap="none" dirty="0">
                <a:solidFill>
                  <a:schemeClr val="dk1"/>
                </a:solidFill>
                <a:latin typeface="Calibri"/>
                <a:ea typeface="Calibri"/>
                <a:cs typeface="Calibri"/>
                <a:sym typeface="Calibri"/>
              </a:rPr>
              <a:t>Referential Integrity:</a:t>
            </a:r>
            <a:r>
              <a:rPr lang="en-US" sz="3400" b="0" i="0" u="none" strike="noStrike" cap="none" dirty="0">
                <a:solidFill>
                  <a:schemeClr val="dk1"/>
                </a:solidFill>
                <a:latin typeface="Calibri"/>
                <a:ea typeface="Calibri"/>
                <a:cs typeface="Calibri"/>
                <a:sym typeface="Calibri"/>
              </a:rPr>
              <a:t> </a:t>
            </a:r>
            <a:r>
              <a:rPr lang="en-US" sz="3400" dirty="0">
                <a:solidFill>
                  <a:schemeClr val="dk1"/>
                </a:solidFill>
                <a:ea typeface="Calibri"/>
                <a:cs typeface="Calibri"/>
                <a:sym typeface="Calibri"/>
              </a:rPr>
              <a:t>Referential Integrity is a concept in relational database management systems (RDBMS) that ensures the consistency and accuracy of data across related tables. </a:t>
            </a:r>
            <a:r>
              <a:rPr lang="en-US" sz="3400" b="0" i="0" u="none" strike="noStrike" cap="none" dirty="0">
                <a:solidFill>
                  <a:schemeClr val="dk1"/>
                </a:solidFill>
                <a:latin typeface="Calibri"/>
                <a:ea typeface="Calibri"/>
                <a:cs typeface="Calibri"/>
                <a:sym typeface="Calibri"/>
              </a:rPr>
              <a:t>Let us suppose we have 2 relations </a:t>
            </a:r>
            <a:endParaRPr sz="2000" dirty="0"/>
          </a:p>
          <a:p>
            <a:pPr marL="228600" marR="0" lvl="0" indent="-64135" algn="just" rtl="0">
              <a:lnSpc>
                <a:spcPct val="90000"/>
              </a:lnSpc>
              <a:spcBef>
                <a:spcPts val="1000"/>
              </a:spcBef>
              <a:spcAft>
                <a:spcPts val="0"/>
              </a:spcAft>
              <a:buClr>
                <a:schemeClr val="dk1"/>
              </a:buClr>
              <a:buSzPct val="100000"/>
              <a:buFont typeface="Arial"/>
              <a:buNone/>
            </a:pPr>
            <a:endParaRPr sz="2800" b="0" i="0" u="none" strike="noStrike" cap="none" dirty="0">
              <a:solidFill>
                <a:schemeClr val="dk1"/>
              </a:solidFill>
              <a:latin typeface="Calibri"/>
              <a:ea typeface="Calibri"/>
              <a:cs typeface="Calibri"/>
              <a:sym typeface="Calibri"/>
            </a:endParaRPr>
          </a:p>
          <a:p>
            <a:pPr marL="228600" marR="0" lvl="0" indent="-64135" algn="l" rtl="0">
              <a:lnSpc>
                <a:spcPct val="90000"/>
              </a:lnSpc>
              <a:spcBef>
                <a:spcPts val="1000"/>
              </a:spcBef>
              <a:spcAft>
                <a:spcPts val="0"/>
              </a:spcAft>
              <a:buClr>
                <a:schemeClr val="dk1"/>
              </a:buClr>
              <a:buSzPct val="100000"/>
              <a:buFont typeface="Arial"/>
              <a:buNone/>
            </a:pPr>
            <a:endParaRPr sz="2800" b="0" i="0" u="none" strike="noStrike" cap="none" dirty="0">
              <a:solidFill>
                <a:srgbClr val="273239"/>
              </a:solidFill>
              <a:latin typeface="Arial"/>
              <a:ea typeface="Arial"/>
              <a:cs typeface="Arial"/>
              <a:sym typeface="Arial"/>
            </a:endParaRPr>
          </a:p>
          <a:p>
            <a:pPr marL="228600" marR="0" lvl="0" indent="-64135" algn="just" rtl="0">
              <a:lnSpc>
                <a:spcPct val="90000"/>
              </a:lnSpc>
              <a:spcBef>
                <a:spcPts val="1000"/>
              </a:spcBef>
              <a:spcAft>
                <a:spcPts val="0"/>
              </a:spcAft>
              <a:buClr>
                <a:schemeClr val="dk1"/>
              </a:buClr>
              <a:buSzPct val="100000"/>
              <a:buFont typeface="Arial"/>
              <a:buNone/>
            </a:pPr>
            <a:endParaRPr sz="2800" b="0" i="0" u="none" strike="noStrike" cap="none" dirty="0">
              <a:solidFill>
                <a:schemeClr val="dk1"/>
              </a:solidFill>
              <a:latin typeface="Calibri"/>
              <a:ea typeface="Calibri"/>
              <a:cs typeface="Calibri"/>
              <a:sym typeface="Calibri"/>
            </a:endParaRPr>
          </a:p>
        </p:txBody>
      </p:sp>
      <p:sp>
        <p:nvSpPr>
          <p:cNvPr id="420" name="Google Shape;420;p45"/>
          <p:cNvSpPr txBox="1"/>
          <p:nvPr/>
        </p:nvSpPr>
        <p:spPr>
          <a:xfrm>
            <a:off x="496646" y="1667676"/>
            <a:ext cx="1620699" cy="459636"/>
          </a:xfrm>
          <a:prstGeom prst="rect">
            <a:avLst/>
          </a:prstGeom>
          <a:noFill/>
          <a:ln>
            <a:noFill/>
          </a:ln>
        </p:spPr>
        <p:txBody>
          <a:bodyPr spcFirstLastPara="1" wrap="square" lIns="91425" tIns="45700" rIns="91425" bIns="45700" anchor="t" anchorCtr="0">
            <a:normAutofit fontScale="77500" lnSpcReduction="20000"/>
          </a:bodyPr>
          <a:lstStyle/>
          <a:p>
            <a:pPr marL="0" marR="0" lvl="0" indent="0" algn="l" rtl="0">
              <a:lnSpc>
                <a:spcPct val="90000"/>
              </a:lnSpc>
              <a:spcBef>
                <a:spcPts val="0"/>
              </a:spcBef>
              <a:spcAft>
                <a:spcPts val="0"/>
              </a:spcAft>
              <a:buClr>
                <a:srgbClr val="000099"/>
              </a:buClr>
              <a:buSzPts val="2800"/>
              <a:buFont typeface="Arial"/>
              <a:buNone/>
            </a:pPr>
            <a:r>
              <a:rPr lang="en-US" sz="2800" b="1" i="0" u="none" strike="noStrike" cap="none">
                <a:solidFill>
                  <a:srgbClr val="000099"/>
                </a:solidFill>
                <a:latin typeface="Arial"/>
                <a:ea typeface="Arial"/>
                <a:cs typeface="Arial"/>
                <a:sym typeface="Arial"/>
              </a:rPr>
              <a:t>STUDENT</a:t>
            </a:r>
            <a:r>
              <a:rPr lang="en-US" sz="2800" b="0" i="0" u="none" strike="noStrike" cap="none">
                <a:solidFill>
                  <a:srgbClr val="000099"/>
                </a:solidFill>
                <a:latin typeface="Arial"/>
                <a:ea typeface="Arial"/>
                <a:cs typeface="Arial"/>
                <a:sym typeface="Arial"/>
              </a:rPr>
              <a:t> </a:t>
            </a:r>
            <a:endParaRPr sz="2800" b="0" i="0" u="none" strike="noStrike" cap="none">
              <a:solidFill>
                <a:srgbClr val="000099"/>
              </a:solidFill>
              <a:latin typeface="Calibri"/>
              <a:ea typeface="Calibri"/>
              <a:cs typeface="Calibri"/>
              <a:sym typeface="Calibri"/>
            </a:endParaRPr>
          </a:p>
          <a:p>
            <a:pPr marL="228600" marR="0" lvl="0" indent="-50800" algn="l" rtl="0">
              <a:lnSpc>
                <a:spcPct val="90000"/>
              </a:lnSpc>
              <a:spcBef>
                <a:spcPts val="1000"/>
              </a:spcBef>
              <a:spcAft>
                <a:spcPts val="0"/>
              </a:spcAft>
              <a:buClr>
                <a:schemeClr val="dk1"/>
              </a:buClr>
              <a:buSzPts val="2800"/>
              <a:buFont typeface="Arial"/>
              <a:buNone/>
            </a:pPr>
            <a:endParaRPr sz="2800" b="0" i="0" u="none" strike="noStrike" cap="none">
              <a:solidFill>
                <a:srgbClr val="273239"/>
              </a:solidFill>
              <a:latin typeface="Arial"/>
              <a:ea typeface="Arial"/>
              <a:cs typeface="Arial"/>
              <a:sym typeface="Arial"/>
            </a:endParaRPr>
          </a:p>
          <a:p>
            <a:pPr marL="228600" marR="0" lvl="0" indent="-50800" algn="just" rtl="0">
              <a:lnSpc>
                <a:spcPct val="90000"/>
              </a:lnSpc>
              <a:spcBef>
                <a:spcPts val="100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421" name="Google Shape;421;p45"/>
          <p:cNvSpPr txBox="1"/>
          <p:nvPr/>
        </p:nvSpPr>
        <p:spPr>
          <a:xfrm>
            <a:off x="6444906" y="1573931"/>
            <a:ext cx="1620699" cy="459636"/>
          </a:xfrm>
          <a:prstGeom prst="rect">
            <a:avLst/>
          </a:prstGeom>
          <a:noFill/>
          <a:ln>
            <a:noFill/>
          </a:ln>
        </p:spPr>
        <p:txBody>
          <a:bodyPr spcFirstLastPara="1" wrap="square" lIns="91425" tIns="45700" rIns="91425" bIns="45700" anchor="t" anchorCtr="0">
            <a:normAutofit fontScale="85000" lnSpcReduction="10000"/>
          </a:bodyPr>
          <a:lstStyle/>
          <a:p>
            <a:pPr marL="0" marR="0" lvl="0" indent="0" algn="l" rtl="0">
              <a:lnSpc>
                <a:spcPct val="90000"/>
              </a:lnSpc>
              <a:spcBef>
                <a:spcPts val="0"/>
              </a:spcBef>
              <a:spcAft>
                <a:spcPts val="0"/>
              </a:spcAft>
              <a:buClr>
                <a:srgbClr val="000099"/>
              </a:buClr>
              <a:buSzPts val="2800"/>
              <a:buFont typeface="Arial"/>
              <a:buNone/>
            </a:pPr>
            <a:r>
              <a:rPr lang="en-US" sz="2800" b="1" i="0" u="none" strike="noStrike" cap="none">
                <a:solidFill>
                  <a:srgbClr val="000099"/>
                </a:solidFill>
                <a:latin typeface="Arial"/>
                <a:ea typeface="Arial"/>
                <a:cs typeface="Arial"/>
                <a:sym typeface="Arial"/>
              </a:rPr>
              <a:t>BRANCH</a:t>
            </a:r>
            <a:r>
              <a:rPr lang="en-US" sz="2800" b="0" i="0" u="none" strike="noStrike" cap="none">
                <a:solidFill>
                  <a:srgbClr val="000099"/>
                </a:solidFill>
                <a:latin typeface="Arial"/>
                <a:ea typeface="Arial"/>
                <a:cs typeface="Arial"/>
                <a:sym typeface="Arial"/>
              </a:rPr>
              <a:t> </a:t>
            </a:r>
            <a:endParaRPr sz="2800" b="0" i="0" u="none" strike="noStrike" cap="none">
              <a:solidFill>
                <a:srgbClr val="000099"/>
              </a:solidFill>
              <a:latin typeface="Arial"/>
              <a:ea typeface="Arial"/>
              <a:cs typeface="Arial"/>
              <a:sym typeface="Arial"/>
            </a:endParaRPr>
          </a:p>
          <a:p>
            <a:pPr marL="228600" marR="0" lvl="0" indent="-50800" algn="just" rtl="0">
              <a:lnSpc>
                <a:spcPct val="90000"/>
              </a:lnSpc>
              <a:spcBef>
                <a:spcPts val="100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cxnSp>
        <p:nvCxnSpPr>
          <p:cNvPr id="422" name="Google Shape;422;p45"/>
          <p:cNvCxnSpPr/>
          <p:nvPr/>
        </p:nvCxnSpPr>
        <p:spPr>
          <a:xfrm rot="10800000" flipH="1">
            <a:off x="4539839" y="2127435"/>
            <a:ext cx="893700" cy="90900"/>
          </a:xfrm>
          <a:prstGeom prst="bentConnector3">
            <a:avLst>
              <a:gd name="adj1" fmla="val 50000"/>
            </a:avLst>
          </a:prstGeom>
          <a:noFill/>
          <a:ln w="57150" cap="flat" cmpd="sng">
            <a:solidFill>
              <a:schemeClr val="accent1"/>
            </a:solidFill>
            <a:prstDash val="solid"/>
            <a:miter lim="800000"/>
            <a:headEnd type="triangle" w="med" len="med"/>
            <a:tailEnd type="triangle" w="med" len="med"/>
          </a:ln>
        </p:spPr>
      </p:cxnSp>
    </p:spTree>
    <p:extLst>
      <p:ext uri="{BB962C8B-B14F-4D97-AF65-F5344CB8AC3E}">
        <p14:creationId xmlns:p14="http://schemas.microsoft.com/office/powerpoint/2010/main" val="270862154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6"/>
          <p:cNvSpPr txBox="1">
            <a:spLocks noGrp="1"/>
          </p:cNvSpPr>
          <p:nvPr>
            <p:ph type="title"/>
          </p:nvPr>
        </p:nvSpPr>
        <p:spPr>
          <a:xfrm>
            <a:off x="69573" y="135664"/>
            <a:ext cx="1551125" cy="98763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Calibri"/>
              <a:buNone/>
            </a:pPr>
            <a:r>
              <a:rPr lang="en-US" sz="3200" b="1" i="0" u="none" strike="noStrike" dirty="0">
                <a:latin typeface="Calibri"/>
                <a:ea typeface="Calibri"/>
                <a:cs typeface="Calibri"/>
                <a:sym typeface="Calibri"/>
              </a:rPr>
              <a:t>Relational Model</a:t>
            </a:r>
            <a:endParaRPr sz="3200" b="1" dirty="0">
              <a:latin typeface="Calibri"/>
              <a:ea typeface="Calibri"/>
              <a:cs typeface="Calibri"/>
              <a:sym typeface="Calibri"/>
            </a:endParaRPr>
          </a:p>
        </p:txBody>
      </p:sp>
      <p:sp>
        <p:nvSpPr>
          <p:cNvPr id="428" name="Google Shape;428;p46"/>
          <p:cNvSpPr txBox="1">
            <a:spLocks noGrp="1"/>
          </p:cNvSpPr>
          <p:nvPr>
            <p:ph type="body" idx="1"/>
          </p:nvPr>
        </p:nvSpPr>
        <p:spPr>
          <a:xfrm>
            <a:off x="1490871" y="135663"/>
            <a:ext cx="6967330" cy="6722337"/>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ctr" rtl="0">
              <a:lnSpc>
                <a:spcPct val="90000"/>
              </a:lnSpc>
              <a:spcBef>
                <a:spcPts val="0"/>
              </a:spcBef>
              <a:spcAft>
                <a:spcPts val="0"/>
              </a:spcAft>
              <a:buClr>
                <a:srgbClr val="273239"/>
              </a:buClr>
              <a:buSzPct val="100000"/>
              <a:buChar char="•"/>
            </a:pPr>
            <a:r>
              <a:rPr lang="en-US" b="1" i="0" dirty="0">
                <a:solidFill>
                  <a:srgbClr val="273239"/>
                </a:solidFill>
                <a:latin typeface="Arial"/>
                <a:ea typeface="Arial"/>
                <a:cs typeface="Arial"/>
                <a:sym typeface="Arial"/>
              </a:rPr>
              <a:t>ANOMALIES</a:t>
            </a:r>
            <a:endParaRPr b="0" i="0" dirty="0">
              <a:solidFill>
                <a:srgbClr val="273239"/>
              </a:solidFill>
              <a:latin typeface="Arial"/>
              <a:ea typeface="Arial"/>
              <a:cs typeface="Arial"/>
              <a:sym typeface="Arial"/>
            </a:endParaRPr>
          </a:p>
          <a:p>
            <a:pPr marL="228600" lvl="0" indent="-228600" algn="just" rtl="0">
              <a:lnSpc>
                <a:spcPct val="90000"/>
              </a:lnSpc>
              <a:spcBef>
                <a:spcPts val="1000"/>
              </a:spcBef>
              <a:spcAft>
                <a:spcPts val="0"/>
              </a:spcAft>
              <a:buClr>
                <a:schemeClr val="dk1"/>
              </a:buClr>
              <a:buSzPct val="100000"/>
              <a:buChar char="•"/>
            </a:pPr>
            <a:r>
              <a:rPr lang="en-US" sz="2600" b="0" i="0" dirty="0"/>
              <a:t>An anomaly is an irregularity, or something which deviates from the expected or normal state. When designing databases, we identify three types of anomalies: Insert, Update and Delete</a:t>
            </a:r>
            <a:r>
              <a:rPr lang="en-US" b="0" i="0" dirty="0"/>
              <a:t>. </a:t>
            </a:r>
            <a:endParaRPr dirty="0"/>
          </a:p>
          <a:p>
            <a:pPr marL="228600" lvl="0" indent="-228600" algn="just" rtl="0">
              <a:lnSpc>
                <a:spcPct val="90000"/>
              </a:lnSpc>
              <a:spcBef>
                <a:spcPts val="1000"/>
              </a:spcBef>
              <a:spcAft>
                <a:spcPts val="0"/>
              </a:spcAft>
              <a:buClr>
                <a:srgbClr val="000099"/>
              </a:buClr>
              <a:buSzPct val="100000"/>
              <a:buChar char="•"/>
            </a:pPr>
            <a:r>
              <a:rPr lang="en-US" sz="3400" b="1" i="0" u="sng" dirty="0">
                <a:solidFill>
                  <a:srgbClr val="000099"/>
                </a:solidFill>
              </a:rPr>
              <a:t>Insertion Anomaly in Referencing Relation: </a:t>
            </a:r>
            <a:endParaRPr dirty="0"/>
          </a:p>
          <a:p>
            <a:pPr marL="228600" lvl="0" indent="-228600" algn="just" rtl="0">
              <a:lnSpc>
                <a:spcPct val="90000"/>
              </a:lnSpc>
              <a:spcBef>
                <a:spcPts val="1000"/>
              </a:spcBef>
              <a:spcAft>
                <a:spcPts val="0"/>
              </a:spcAft>
              <a:buClr>
                <a:srgbClr val="273239"/>
              </a:buClr>
              <a:buSzPct val="100000"/>
              <a:buChar char="•"/>
            </a:pPr>
            <a:r>
              <a:rPr lang="en-US" b="0" i="0" dirty="0">
                <a:solidFill>
                  <a:srgbClr val="273239"/>
                </a:solidFill>
              </a:rPr>
              <a:t>We can’t insert a row in </a:t>
            </a:r>
            <a:r>
              <a:rPr lang="en-US" b="1" i="0" dirty="0">
                <a:solidFill>
                  <a:srgbClr val="000099"/>
                </a:solidFill>
              </a:rPr>
              <a:t>REFERENCING RELATION </a:t>
            </a:r>
            <a:r>
              <a:rPr lang="en-US" b="1" i="0" dirty="0">
                <a:solidFill>
                  <a:srgbClr val="C00000"/>
                </a:solidFill>
              </a:rPr>
              <a:t>if referencing attribute’s value is not present in referenced attribute value</a:t>
            </a:r>
            <a:r>
              <a:rPr lang="en-US" b="0" i="0" dirty="0">
                <a:solidFill>
                  <a:srgbClr val="273239"/>
                </a:solidFill>
              </a:rPr>
              <a:t>. </a:t>
            </a:r>
            <a:r>
              <a:rPr lang="en-US" b="1" i="0" dirty="0"/>
              <a:t>e.g.; Insertion of a student with BRANCH_CODE ‘ME’ in STUDENT relation will result in error because ‘ME’ is not present in BRANCH_CODE of BRANCH. </a:t>
            </a:r>
            <a:endParaRPr dirty="0"/>
          </a:p>
          <a:p>
            <a:pPr marL="228600" lvl="0" indent="-228600" algn="just" rtl="0">
              <a:lnSpc>
                <a:spcPct val="90000"/>
              </a:lnSpc>
              <a:spcBef>
                <a:spcPts val="1000"/>
              </a:spcBef>
              <a:spcAft>
                <a:spcPts val="0"/>
              </a:spcAft>
              <a:buClr>
                <a:srgbClr val="000099"/>
              </a:buClr>
              <a:buSzPct val="100000"/>
              <a:buChar char="•"/>
            </a:pPr>
            <a:r>
              <a:rPr lang="en-US" sz="3400" b="1" i="0" u="sng" dirty="0">
                <a:solidFill>
                  <a:srgbClr val="000099"/>
                </a:solidFill>
              </a:rPr>
              <a:t>Deletion/ </a:t>
            </a:r>
            <a:r>
              <a:rPr lang="en-US" sz="3400" b="1" i="0" u="sng" dirty="0" err="1">
                <a:solidFill>
                  <a:srgbClr val="000099"/>
                </a:solidFill>
              </a:rPr>
              <a:t>Updation</a:t>
            </a:r>
            <a:r>
              <a:rPr lang="en-US" sz="3400" b="1" i="0" u="sng" dirty="0">
                <a:solidFill>
                  <a:srgbClr val="000099"/>
                </a:solidFill>
              </a:rPr>
              <a:t> Anomaly in Referenced Relation: </a:t>
            </a:r>
            <a:endParaRPr dirty="0"/>
          </a:p>
          <a:p>
            <a:pPr marL="228600" lvl="0" indent="-228600" algn="just" rtl="0">
              <a:lnSpc>
                <a:spcPct val="90000"/>
              </a:lnSpc>
              <a:spcBef>
                <a:spcPts val="1000"/>
              </a:spcBef>
              <a:spcAft>
                <a:spcPts val="0"/>
              </a:spcAft>
              <a:buClr>
                <a:srgbClr val="C00000"/>
              </a:buClr>
              <a:buSzPct val="100000"/>
              <a:buChar char="•"/>
            </a:pPr>
            <a:r>
              <a:rPr lang="en-US" b="1" i="0" dirty="0">
                <a:solidFill>
                  <a:srgbClr val="C00000"/>
                </a:solidFill>
              </a:rPr>
              <a:t>We can’t delete or update a row from REFERENCED RELATION if value of REFERENCED ATTRIBUTE is used in value of REFERENCING ATTRIBUTE</a:t>
            </a:r>
            <a:r>
              <a:rPr lang="en-US" b="0" i="0" dirty="0">
                <a:solidFill>
                  <a:srgbClr val="273239"/>
                </a:solidFill>
              </a:rPr>
              <a:t>. </a:t>
            </a:r>
            <a:r>
              <a:rPr lang="en-US" b="1" i="0" dirty="0">
                <a:solidFill>
                  <a:srgbClr val="000099"/>
                </a:solidFill>
              </a:rPr>
              <a:t>e.g; if we try to delete tuple from BRANCH having BRANCH_CODE ‘CS’, </a:t>
            </a:r>
            <a:r>
              <a:rPr lang="en-US" b="1" i="0" dirty="0">
                <a:solidFill>
                  <a:srgbClr val="C00000"/>
                </a:solidFill>
              </a:rPr>
              <a:t>it will result in error because ‘CS’ is referenced by BRANCH_CODE of STUDENT, </a:t>
            </a:r>
            <a:r>
              <a:rPr lang="en-US" b="1" i="0" dirty="0"/>
              <a:t>but if we try to delete the row from BRANCH with BRANCH_CODE CV, it will be deleted as the value is not been used by referencing relation. </a:t>
            </a:r>
            <a:r>
              <a:rPr lang="en-US" b="0" i="0" dirty="0"/>
              <a:t>It can be handled by following method: </a:t>
            </a:r>
            <a:endParaRPr dirty="0"/>
          </a:p>
          <a:p>
            <a:pPr marL="228600" lvl="0" indent="-228600" algn="just" rtl="0">
              <a:lnSpc>
                <a:spcPct val="90000"/>
              </a:lnSpc>
              <a:spcBef>
                <a:spcPts val="1000"/>
              </a:spcBef>
              <a:spcAft>
                <a:spcPts val="0"/>
              </a:spcAft>
              <a:buClr>
                <a:srgbClr val="000099"/>
              </a:buClr>
              <a:buSzPct val="100000"/>
              <a:buChar char="•"/>
            </a:pPr>
            <a:r>
              <a:rPr lang="en-US" b="1" i="0" u="sng" dirty="0">
                <a:solidFill>
                  <a:srgbClr val="000099"/>
                </a:solidFill>
              </a:rPr>
              <a:t>ON DELETE CASCADE:</a:t>
            </a:r>
            <a:r>
              <a:rPr lang="en-US" b="0" i="0" u="sng" dirty="0">
                <a:solidFill>
                  <a:srgbClr val="000099"/>
                </a:solidFill>
              </a:rPr>
              <a:t> </a:t>
            </a:r>
            <a:r>
              <a:rPr lang="en-US" b="0" i="0" dirty="0"/>
              <a:t>It will delete the tuples from REFERENCING RELATION if  value used by REFERENCING ATTRIBUTE is deleted from REFERENCED RELATION. </a:t>
            </a:r>
            <a:r>
              <a:rPr lang="en-US" b="1" i="0" dirty="0">
                <a:solidFill>
                  <a:srgbClr val="000099"/>
                </a:solidFill>
              </a:rPr>
              <a:t>e.g;, if we delete a row from BRANCH with BRANCH_CODE ‘CS’, the rows in STUDENT relation with BRANCH_CODE CS (ROLL_NO 1 and 2 in this case) will be deleted. </a:t>
            </a:r>
            <a:endParaRPr dirty="0"/>
          </a:p>
          <a:p>
            <a:pPr marL="228600" lvl="0" indent="-228600" algn="just" rtl="0">
              <a:lnSpc>
                <a:spcPct val="90000"/>
              </a:lnSpc>
              <a:spcBef>
                <a:spcPts val="1000"/>
              </a:spcBef>
              <a:spcAft>
                <a:spcPts val="0"/>
              </a:spcAft>
              <a:buClr>
                <a:srgbClr val="000099"/>
              </a:buClr>
              <a:buSzPct val="100000"/>
              <a:buChar char="•"/>
            </a:pPr>
            <a:r>
              <a:rPr lang="en-US" b="1" i="0" u="sng" dirty="0">
                <a:solidFill>
                  <a:srgbClr val="000099"/>
                </a:solidFill>
              </a:rPr>
              <a:t>ON UPDATE CASCADE:</a:t>
            </a:r>
            <a:r>
              <a:rPr lang="en-US" b="0" i="0" u="sng" dirty="0">
                <a:solidFill>
                  <a:srgbClr val="000099"/>
                </a:solidFill>
              </a:rPr>
              <a:t> </a:t>
            </a:r>
            <a:r>
              <a:rPr lang="en-US" b="0" i="0" dirty="0"/>
              <a:t>It will update the REFERENCING ATTRIBUTE in REFERENCING RELATION if attribute value used by REFERENCING ATTRIBUTE is updated in REFERENCED RELATION</a:t>
            </a:r>
            <a:r>
              <a:rPr lang="en-US" b="0" i="0" dirty="0">
                <a:solidFill>
                  <a:srgbClr val="273239"/>
                </a:solidFill>
              </a:rPr>
              <a:t>. </a:t>
            </a:r>
            <a:r>
              <a:rPr lang="en-US" b="1" i="0" dirty="0">
                <a:solidFill>
                  <a:srgbClr val="000099"/>
                </a:solidFill>
              </a:rPr>
              <a:t>e.g;, if we update a row from BRANCH with BRANCH_CODE ‘CS’ to ‘CSE’, the rows in STUDENT relation with BRANCH_CODE CS (ROLL_NO 1 and 2 in this case) will be updated with BRANCH_CODE ‘CSE’. </a:t>
            </a:r>
            <a:endParaRPr dirty="0"/>
          </a:p>
          <a:p>
            <a:pPr marL="228600" lvl="0" indent="-104140" algn="l" rtl="0">
              <a:lnSpc>
                <a:spcPct val="90000"/>
              </a:lnSpc>
              <a:spcBef>
                <a:spcPts val="1000"/>
              </a:spcBef>
              <a:spcAft>
                <a:spcPts val="0"/>
              </a:spcAft>
              <a:buClr>
                <a:schemeClr val="dk1"/>
              </a:buClr>
              <a:buSzPct val="100000"/>
              <a:buNone/>
            </a:pPr>
            <a:endParaRPr dirty="0"/>
          </a:p>
        </p:txBody>
      </p:sp>
      <p:sp>
        <p:nvSpPr>
          <p:cNvPr id="429" name="Google Shape;429;p46"/>
          <p:cNvSpPr txBox="1"/>
          <p:nvPr/>
        </p:nvSpPr>
        <p:spPr>
          <a:xfrm>
            <a:off x="0" y="1800198"/>
            <a:ext cx="1620699" cy="1287559"/>
          </a:xfrm>
          <a:prstGeom prst="rect">
            <a:avLst/>
          </a:prstGeom>
          <a:noFill/>
          <a:ln>
            <a:noFill/>
          </a:ln>
        </p:spPr>
        <p:txBody>
          <a:bodyPr spcFirstLastPara="1" wrap="square" lIns="91425" tIns="45700" rIns="91425" bIns="45700" anchor="t" anchorCtr="0">
            <a:normAutofit fontScale="77500" lnSpcReduction="20000"/>
          </a:bodyPr>
          <a:lstStyle/>
          <a:p>
            <a:pPr marL="0" marR="0" lvl="0" indent="0" algn="l" rtl="0">
              <a:lnSpc>
                <a:spcPct val="90000"/>
              </a:lnSpc>
              <a:spcBef>
                <a:spcPts val="0"/>
              </a:spcBef>
              <a:spcAft>
                <a:spcPts val="0"/>
              </a:spcAft>
              <a:buClr>
                <a:srgbClr val="C00000"/>
              </a:buClr>
              <a:buSzPct val="100000"/>
              <a:buFont typeface="Arial"/>
              <a:buNone/>
            </a:pPr>
            <a:r>
              <a:rPr lang="en-US" sz="2800" b="1" i="0" u="none" strike="noStrike" cap="none">
                <a:solidFill>
                  <a:srgbClr val="C00000"/>
                </a:solidFill>
                <a:latin typeface="Calibri"/>
                <a:ea typeface="Calibri"/>
                <a:cs typeface="Calibri"/>
                <a:sym typeface="Calibri"/>
              </a:rPr>
              <a:t>REFERENCING RELATION (STUDENT in this case)</a:t>
            </a:r>
            <a:endParaRPr sz="2800" b="1" i="0" u="none" strike="noStrike" cap="none">
              <a:solidFill>
                <a:srgbClr val="C00000"/>
              </a:solidFill>
              <a:latin typeface="Calibri"/>
              <a:ea typeface="Calibri"/>
              <a:cs typeface="Calibri"/>
              <a:sym typeface="Calibri"/>
            </a:endParaRPr>
          </a:p>
          <a:p>
            <a:pPr marL="228600" marR="0" lvl="0" indent="-64135" algn="just" rtl="0">
              <a:lnSpc>
                <a:spcPct val="90000"/>
              </a:lnSpc>
              <a:spcBef>
                <a:spcPts val="1000"/>
              </a:spcBef>
              <a:spcAft>
                <a:spcPts val="0"/>
              </a:spcAft>
              <a:buClr>
                <a:schemeClr val="dk1"/>
              </a:buClr>
              <a:buSzPct val="100000"/>
              <a:buFont typeface="Arial"/>
              <a:buNone/>
            </a:pPr>
            <a:endParaRPr sz="2800" b="0" i="0" u="none" strike="noStrike" cap="none">
              <a:solidFill>
                <a:schemeClr val="dk1"/>
              </a:solidFill>
              <a:latin typeface="Calibri"/>
              <a:ea typeface="Calibri"/>
              <a:cs typeface="Calibri"/>
              <a:sym typeface="Calibri"/>
            </a:endParaRPr>
          </a:p>
        </p:txBody>
      </p:sp>
      <p:sp>
        <p:nvSpPr>
          <p:cNvPr id="430" name="Google Shape;430;p46"/>
          <p:cNvSpPr txBox="1"/>
          <p:nvPr/>
        </p:nvSpPr>
        <p:spPr>
          <a:xfrm>
            <a:off x="69573" y="3496831"/>
            <a:ext cx="1620699" cy="1635427"/>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l" rtl="0">
              <a:lnSpc>
                <a:spcPct val="90000"/>
              </a:lnSpc>
              <a:spcBef>
                <a:spcPts val="0"/>
              </a:spcBef>
              <a:spcAft>
                <a:spcPts val="0"/>
              </a:spcAft>
              <a:buClr>
                <a:srgbClr val="C00000"/>
              </a:buClr>
              <a:buSzPts val="2800"/>
              <a:buFont typeface="Arial"/>
              <a:buNone/>
            </a:pPr>
            <a:r>
              <a:rPr lang="en-US" sz="2800" b="1" i="0" u="none" strike="noStrike" cap="none">
                <a:solidFill>
                  <a:srgbClr val="C00000"/>
                </a:solidFill>
                <a:latin typeface="Calibri"/>
                <a:ea typeface="Calibri"/>
                <a:cs typeface="Calibri"/>
                <a:sym typeface="Calibri"/>
              </a:rPr>
              <a:t>REFERENCED RELATION (BRANCH in this case)</a:t>
            </a:r>
            <a:endParaRPr sz="2800" b="1" i="0" u="none" strike="noStrike" cap="none">
              <a:solidFill>
                <a:srgbClr val="C00000"/>
              </a:solidFill>
              <a:latin typeface="Calibri"/>
              <a:ea typeface="Calibri"/>
              <a:cs typeface="Calibri"/>
              <a:sym typeface="Calibri"/>
            </a:endParaRPr>
          </a:p>
        </p:txBody>
      </p:sp>
    </p:spTree>
    <p:extLst>
      <p:ext uri="{BB962C8B-B14F-4D97-AF65-F5344CB8AC3E}">
        <p14:creationId xmlns:p14="http://schemas.microsoft.com/office/powerpoint/2010/main" val="283524437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i="0" u="none" strike="noStrike">
                <a:latin typeface="Calibri"/>
                <a:ea typeface="Calibri"/>
                <a:cs typeface="Calibri"/>
                <a:sym typeface="Calibri"/>
              </a:rPr>
              <a:t>Codd's Rules</a:t>
            </a:r>
            <a:endParaRPr sz="4000" b="1">
              <a:latin typeface="Calibri"/>
              <a:ea typeface="Calibri"/>
              <a:cs typeface="Calibri"/>
              <a:sym typeface="Calibri"/>
            </a:endParaRPr>
          </a:p>
        </p:txBody>
      </p:sp>
      <p:sp>
        <p:nvSpPr>
          <p:cNvPr id="436" name="Google Shape;436;p47"/>
          <p:cNvSpPr txBox="1">
            <a:spLocks noGrp="1"/>
          </p:cNvSpPr>
          <p:nvPr>
            <p:ph type="body" idx="1"/>
          </p:nvPr>
        </p:nvSpPr>
        <p:spPr>
          <a:xfrm>
            <a:off x="228600" y="1444487"/>
            <a:ext cx="4472609" cy="5048387"/>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90000"/>
              </a:lnSpc>
              <a:spcBef>
                <a:spcPts val="0"/>
              </a:spcBef>
              <a:spcAft>
                <a:spcPts val="0"/>
              </a:spcAft>
              <a:buClr>
                <a:srgbClr val="212529"/>
              </a:buClr>
              <a:buSzPct val="100000"/>
              <a:buChar char="•"/>
            </a:pPr>
            <a:r>
              <a:rPr lang="en-US" b="0" i="0">
                <a:solidFill>
                  <a:srgbClr val="212529"/>
                </a:solidFill>
              </a:rPr>
              <a:t>E.F Codd was a Computer Scientist who invented the </a:t>
            </a:r>
            <a:r>
              <a:rPr lang="en-US" b="1" i="0">
                <a:solidFill>
                  <a:srgbClr val="212529"/>
                </a:solidFill>
              </a:rPr>
              <a:t>Relational model</a:t>
            </a:r>
            <a:r>
              <a:rPr lang="en-US" b="0" i="0">
                <a:solidFill>
                  <a:srgbClr val="212529"/>
                </a:solidFill>
              </a:rPr>
              <a:t> for Database management. Based on relational model, the </a:t>
            </a:r>
            <a:r>
              <a:rPr lang="en-US" b="1" i="0">
                <a:solidFill>
                  <a:srgbClr val="212529"/>
                </a:solidFill>
              </a:rPr>
              <a:t>Relational database</a:t>
            </a:r>
            <a:r>
              <a:rPr lang="en-US" b="0" i="0">
                <a:solidFill>
                  <a:srgbClr val="212529"/>
                </a:solidFill>
              </a:rPr>
              <a:t> was created.</a:t>
            </a:r>
            <a:endParaRPr/>
          </a:p>
          <a:p>
            <a:pPr marL="228600" lvl="0" indent="-228600" algn="just" rtl="0">
              <a:lnSpc>
                <a:spcPct val="90000"/>
              </a:lnSpc>
              <a:spcBef>
                <a:spcPts val="1000"/>
              </a:spcBef>
              <a:spcAft>
                <a:spcPts val="0"/>
              </a:spcAft>
              <a:buClr>
                <a:srgbClr val="000000"/>
              </a:buClr>
              <a:buSzPct val="100000"/>
              <a:buChar char="•"/>
            </a:pPr>
            <a:r>
              <a:rPr lang="en-US" b="0" i="0">
                <a:solidFill>
                  <a:srgbClr val="000000"/>
                </a:solidFill>
              </a:rPr>
              <a:t>Dr Edgar F. Codd, after his extensive research on the Relational Model of database systems, came up with </a:t>
            </a:r>
            <a:r>
              <a:rPr lang="en-US" b="1" i="0">
                <a:solidFill>
                  <a:srgbClr val="000099"/>
                </a:solidFill>
              </a:rPr>
              <a:t>twelve rules </a:t>
            </a:r>
            <a:r>
              <a:rPr lang="en-US" b="0" i="0">
                <a:solidFill>
                  <a:srgbClr val="000000"/>
                </a:solidFill>
              </a:rPr>
              <a:t>of his own, which according to him, </a:t>
            </a:r>
            <a:r>
              <a:rPr lang="en-US" b="1" i="0">
                <a:solidFill>
                  <a:srgbClr val="000099"/>
                </a:solidFill>
              </a:rPr>
              <a:t>a database must obey in order to be regarded as a true relational database.</a:t>
            </a:r>
            <a:endParaRPr/>
          </a:p>
          <a:p>
            <a:pPr marL="228600" lvl="0" indent="-228600" algn="just" rtl="0">
              <a:lnSpc>
                <a:spcPct val="90000"/>
              </a:lnSpc>
              <a:spcBef>
                <a:spcPts val="1000"/>
              </a:spcBef>
              <a:spcAft>
                <a:spcPts val="0"/>
              </a:spcAft>
              <a:buClr>
                <a:srgbClr val="000000"/>
              </a:buClr>
              <a:buSzPct val="100000"/>
              <a:buChar char="•"/>
            </a:pPr>
            <a:r>
              <a:rPr lang="en-US" b="0" i="0">
                <a:solidFill>
                  <a:srgbClr val="000000"/>
                </a:solidFill>
              </a:rPr>
              <a:t>These rules can be </a:t>
            </a:r>
            <a:r>
              <a:rPr lang="en-US" b="1" i="0">
                <a:solidFill>
                  <a:srgbClr val="000099"/>
                </a:solidFill>
              </a:rPr>
              <a:t>applied on any database system that manages stored data using only its relational capabilities. </a:t>
            </a:r>
            <a:endParaRPr/>
          </a:p>
          <a:p>
            <a:pPr marL="228600" lvl="0" indent="-228600" algn="just" rtl="0">
              <a:lnSpc>
                <a:spcPct val="90000"/>
              </a:lnSpc>
              <a:spcBef>
                <a:spcPts val="1000"/>
              </a:spcBef>
              <a:spcAft>
                <a:spcPts val="0"/>
              </a:spcAft>
              <a:buClr>
                <a:srgbClr val="000000"/>
              </a:buClr>
              <a:buSzPct val="100000"/>
              <a:buChar char="•"/>
            </a:pPr>
            <a:r>
              <a:rPr lang="en-US" b="0" i="0">
                <a:solidFill>
                  <a:srgbClr val="000000"/>
                </a:solidFill>
              </a:rPr>
              <a:t>This is a foundation rule, which acts as a </a:t>
            </a:r>
            <a:r>
              <a:rPr lang="en-US" b="1" i="0">
                <a:solidFill>
                  <a:srgbClr val="000099"/>
                </a:solidFill>
              </a:rPr>
              <a:t>base for all the other rules.</a:t>
            </a:r>
            <a:endParaRPr b="1">
              <a:solidFill>
                <a:srgbClr val="000099"/>
              </a:solidFill>
            </a:endParaRPr>
          </a:p>
        </p:txBody>
      </p:sp>
      <p:pic>
        <p:nvPicPr>
          <p:cNvPr id="437" name="Google Shape;437;p47" descr="12 Codd's Rules"/>
          <p:cNvPicPr preferRelativeResize="0"/>
          <p:nvPr/>
        </p:nvPicPr>
        <p:blipFill rotWithShape="1">
          <a:blip r:embed="rId3">
            <a:alphaModFix/>
          </a:blip>
          <a:srcRect/>
          <a:stretch/>
        </p:blipFill>
        <p:spPr>
          <a:xfrm>
            <a:off x="4386263" y="-1"/>
            <a:ext cx="4628529" cy="6492875"/>
          </a:xfrm>
          <a:prstGeom prst="rect">
            <a:avLst/>
          </a:prstGeom>
          <a:noFill/>
          <a:ln>
            <a:noFill/>
          </a:ln>
        </p:spPr>
      </p:pic>
    </p:spTree>
    <p:extLst>
      <p:ext uri="{BB962C8B-B14F-4D97-AF65-F5344CB8AC3E}">
        <p14:creationId xmlns:p14="http://schemas.microsoft.com/office/powerpoint/2010/main" val="333513620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8"/>
          <p:cNvSpPr txBox="1">
            <a:spLocks noGrp="1"/>
          </p:cNvSpPr>
          <p:nvPr>
            <p:ph type="title"/>
          </p:nvPr>
        </p:nvSpPr>
        <p:spPr>
          <a:xfrm>
            <a:off x="278297" y="118924"/>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i="0" u="none" strike="noStrike">
                <a:latin typeface="Calibri"/>
                <a:ea typeface="Calibri"/>
                <a:cs typeface="Calibri"/>
                <a:sym typeface="Calibri"/>
              </a:rPr>
              <a:t>Codd's Rules</a:t>
            </a:r>
            <a:endParaRPr sz="4000" b="1">
              <a:latin typeface="Calibri"/>
              <a:ea typeface="Calibri"/>
              <a:cs typeface="Calibri"/>
              <a:sym typeface="Calibri"/>
            </a:endParaRPr>
          </a:p>
        </p:txBody>
      </p:sp>
      <p:sp>
        <p:nvSpPr>
          <p:cNvPr id="443" name="Google Shape;443;p48"/>
          <p:cNvSpPr txBox="1">
            <a:spLocks noGrp="1"/>
          </p:cNvSpPr>
          <p:nvPr>
            <p:ph type="body" idx="1"/>
          </p:nvPr>
        </p:nvSpPr>
        <p:spPr>
          <a:xfrm>
            <a:off x="99392" y="1086677"/>
            <a:ext cx="8282608" cy="5552662"/>
          </a:xfrm>
          <a:prstGeom prst="rect">
            <a:avLst/>
          </a:prstGeom>
          <a:noFill/>
          <a:ln>
            <a:noFill/>
          </a:ln>
        </p:spPr>
        <p:txBody>
          <a:bodyPr spcFirstLastPara="1" wrap="square" lIns="91425" tIns="45700" rIns="91425" bIns="45700" anchor="t" anchorCtr="0">
            <a:normAutofit fontScale="92500"/>
          </a:bodyPr>
          <a:lstStyle/>
          <a:p>
            <a:pPr marL="228600" lvl="0" indent="-228600" algn="just" rtl="0">
              <a:lnSpc>
                <a:spcPct val="90000"/>
              </a:lnSpc>
              <a:spcBef>
                <a:spcPts val="0"/>
              </a:spcBef>
              <a:spcAft>
                <a:spcPts val="0"/>
              </a:spcAft>
              <a:buClr>
                <a:srgbClr val="000099"/>
              </a:buClr>
              <a:buSzPct val="100000"/>
              <a:buChar char="•"/>
            </a:pPr>
            <a:r>
              <a:rPr lang="en-US" b="1" i="0" dirty="0">
                <a:solidFill>
                  <a:srgbClr val="000099"/>
                </a:solidFill>
              </a:rPr>
              <a:t>Rule 0: The Foundation Rule</a:t>
            </a:r>
            <a:endParaRPr dirty="0"/>
          </a:p>
          <a:p>
            <a:pPr marL="228600" lvl="0" indent="-228600" algn="just" rtl="0">
              <a:lnSpc>
                <a:spcPct val="90000"/>
              </a:lnSpc>
              <a:spcBef>
                <a:spcPts val="1000"/>
              </a:spcBef>
              <a:spcAft>
                <a:spcPts val="0"/>
              </a:spcAft>
              <a:buClr>
                <a:schemeClr val="dk1"/>
              </a:buClr>
              <a:buSzPct val="100000"/>
              <a:buChar char="•"/>
            </a:pPr>
            <a:r>
              <a:rPr lang="en-US" b="0" i="0" dirty="0"/>
              <a:t>The database </a:t>
            </a:r>
            <a:r>
              <a:rPr lang="en-US" b="1" i="0" dirty="0">
                <a:solidFill>
                  <a:srgbClr val="C00000"/>
                </a:solidFill>
              </a:rPr>
              <a:t>must be in relational form. </a:t>
            </a:r>
            <a:r>
              <a:rPr lang="en-US" b="0" i="0" dirty="0"/>
              <a:t>So that the system can handle the database through its relational capabilities.</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Rule 1: Information Rule</a:t>
            </a:r>
            <a:endParaRPr dirty="0"/>
          </a:p>
          <a:p>
            <a:pPr marL="228600" lvl="0" indent="-228600" algn="just" rtl="0">
              <a:lnSpc>
                <a:spcPct val="90000"/>
              </a:lnSpc>
              <a:spcBef>
                <a:spcPts val="1000"/>
              </a:spcBef>
              <a:spcAft>
                <a:spcPts val="0"/>
              </a:spcAft>
              <a:buClr>
                <a:schemeClr val="dk1"/>
              </a:buClr>
              <a:buSzPct val="100000"/>
              <a:buChar char="•"/>
            </a:pPr>
            <a:r>
              <a:rPr lang="en-US" b="0" i="0" dirty="0"/>
              <a:t>A database contains various information, and this </a:t>
            </a:r>
            <a:r>
              <a:rPr lang="en-US" b="1" i="0" dirty="0">
                <a:solidFill>
                  <a:srgbClr val="C00000"/>
                </a:solidFill>
              </a:rPr>
              <a:t>information must be stored in each cell of a table in the form of rows and columns.</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Rule 2: Guaranteed Access Rule</a:t>
            </a:r>
            <a:endParaRPr dirty="0"/>
          </a:p>
          <a:p>
            <a:pPr marL="228600" lvl="0" indent="-228600" algn="just" rtl="0">
              <a:lnSpc>
                <a:spcPct val="90000"/>
              </a:lnSpc>
              <a:spcBef>
                <a:spcPts val="1000"/>
              </a:spcBef>
              <a:spcAft>
                <a:spcPts val="0"/>
              </a:spcAft>
              <a:buClr>
                <a:schemeClr val="dk1"/>
              </a:buClr>
              <a:buSzPct val="100000"/>
              <a:buChar char="•"/>
            </a:pPr>
            <a:r>
              <a:rPr lang="en-US" b="0" i="0" dirty="0"/>
              <a:t>Every single or precise data (atomic value) may be </a:t>
            </a:r>
            <a:r>
              <a:rPr lang="en-US" b="1" i="0" dirty="0">
                <a:solidFill>
                  <a:srgbClr val="C00000"/>
                </a:solidFill>
              </a:rPr>
              <a:t>accessed logically from a relational database using the combination of primary key value, table name, and column name.</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Rule 3: Systematic Treatment of Null Values</a:t>
            </a:r>
            <a:endParaRPr dirty="0"/>
          </a:p>
          <a:p>
            <a:pPr marL="228600" lvl="0" indent="-228600" algn="just" rtl="0">
              <a:lnSpc>
                <a:spcPct val="90000"/>
              </a:lnSpc>
              <a:spcBef>
                <a:spcPts val="1000"/>
              </a:spcBef>
              <a:spcAft>
                <a:spcPts val="0"/>
              </a:spcAft>
              <a:buClr>
                <a:schemeClr val="dk1"/>
              </a:buClr>
              <a:buSzPct val="100000"/>
              <a:buChar char="•"/>
            </a:pPr>
            <a:r>
              <a:rPr lang="en-US" b="0" i="0" dirty="0"/>
              <a:t>This rule defines the systematic treatment of Null values in database records. The null value has various meanings in the database, like missing the data, no value in a cell, inappropriate information, unknown data and </a:t>
            </a:r>
            <a:r>
              <a:rPr lang="en-US" b="1" i="0" dirty="0">
                <a:solidFill>
                  <a:srgbClr val="C00000"/>
                </a:solidFill>
              </a:rPr>
              <a:t>the primary key should not be null.</a:t>
            </a:r>
            <a:endParaRPr dirty="0"/>
          </a:p>
          <a:p>
            <a:pPr marL="228600" lvl="0" indent="-64135" algn="just" rtl="0">
              <a:lnSpc>
                <a:spcPct val="90000"/>
              </a:lnSpc>
              <a:spcBef>
                <a:spcPts val="1000"/>
              </a:spcBef>
              <a:spcAft>
                <a:spcPts val="0"/>
              </a:spcAft>
              <a:buClr>
                <a:schemeClr val="dk1"/>
              </a:buClr>
              <a:buSzPct val="100000"/>
              <a:buNone/>
            </a:pPr>
            <a:endParaRPr b="0" i="0" dirty="0">
              <a:solidFill>
                <a:srgbClr val="333333"/>
              </a:solidFill>
              <a:latin typeface="Inter"/>
              <a:ea typeface="Inter"/>
              <a:cs typeface="Inter"/>
              <a:sym typeface="Inter"/>
            </a:endParaRPr>
          </a:p>
        </p:txBody>
      </p:sp>
    </p:spTree>
    <p:extLst>
      <p:ext uri="{BB962C8B-B14F-4D97-AF65-F5344CB8AC3E}">
        <p14:creationId xmlns:p14="http://schemas.microsoft.com/office/powerpoint/2010/main" val="31609769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9"/>
          <p:cNvSpPr txBox="1">
            <a:spLocks noGrp="1"/>
          </p:cNvSpPr>
          <p:nvPr>
            <p:ph type="title"/>
          </p:nvPr>
        </p:nvSpPr>
        <p:spPr>
          <a:xfrm>
            <a:off x="304800" y="-91440"/>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i="0" u="none" strike="noStrike" dirty="0" err="1">
                <a:latin typeface="Calibri"/>
                <a:ea typeface="Calibri"/>
                <a:cs typeface="Calibri"/>
                <a:sym typeface="Calibri"/>
              </a:rPr>
              <a:t>Codd's</a:t>
            </a:r>
            <a:r>
              <a:rPr lang="en-US" sz="4000" b="1" i="0" u="none" strike="noStrike" dirty="0">
                <a:latin typeface="Calibri"/>
                <a:ea typeface="Calibri"/>
                <a:cs typeface="Calibri"/>
                <a:sym typeface="Calibri"/>
              </a:rPr>
              <a:t> Rules</a:t>
            </a:r>
            <a:endParaRPr sz="4000" b="1" dirty="0">
              <a:latin typeface="Calibri"/>
              <a:ea typeface="Calibri"/>
              <a:cs typeface="Calibri"/>
              <a:sym typeface="Calibri"/>
            </a:endParaRPr>
          </a:p>
        </p:txBody>
      </p:sp>
      <p:sp>
        <p:nvSpPr>
          <p:cNvPr id="449" name="Google Shape;449;p49"/>
          <p:cNvSpPr txBox="1">
            <a:spLocks noGrp="1"/>
          </p:cNvSpPr>
          <p:nvPr>
            <p:ph type="body" idx="1"/>
          </p:nvPr>
        </p:nvSpPr>
        <p:spPr>
          <a:xfrm>
            <a:off x="0" y="838200"/>
            <a:ext cx="8458200" cy="6019799"/>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just" rtl="0">
              <a:lnSpc>
                <a:spcPct val="90000"/>
              </a:lnSpc>
              <a:spcBef>
                <a:spcPts val="0"/>
              </a:spcBef>
              <a:spcAft>
                <a:spcPts val="0"/>
              </a:spcAft>
              <a:buClr>
                <a:srgbClr val="000099"/>
              </a:buClr>
              <a:buSzPct val="100000"/>
              <a:buChar char="•"/>
            </a:pPr>
            <a:r>
              <a:rPr lang="en-US" b="1" i="0" dirty="0">
                <a:solidFill>
                  <a:srgbClr val="000099"/>
                </a:solidFill>
              </a:rPr>
              <a:t>Rule 4: Active/Dynamic Online Catalog based on the relational model</a:t>
            </a:r>
            <a:endParaRPr dirty="0"/>
          </a:p>
          <a:p>
            <a:pPr marL="228600" lvl="0" indent="-228600" algn="just" rtl="0">
              <a:lnSpc>
                <a:spcPct val="90000"/>
              </a:lnSpc>
              <a:spcBef>
                <a:spcPts val="1000"/>
              </a:spcBef>
              <a:spcAft>
                <a:spcPts val="0"/>
              </a:spcAft>
              <a:buClr>
                <a:schemeClr val="dk1"/>
              </a:buClr>
              <a:buSzPct val="100000"/>
              <a:buChar char="•"/>
            </a:pPr>
            <a:r>
              <a:rPr lang="en-US" b="0" i="0" dirty="0"/>
              <a:t>It </a:t>
            </a:r>
            <a:r>
              <a:rPr lang="en-US" b="1" i="0" dirty="0">
                <a:solidFill>
                  <a:srgbClr val="C00000"/>
                </a:solidFill>
              </a:rPr>
              <a:t>represents the entire logical structure of the descriptive database that must be stored online and is known as a database dictionary. </a:t>
            </a:r>
            <a:r>
              <a:rPr lang="en-US" b="0" i="0" dirty="0"/>
              <a:t>It authorizes users to access the database and implement a similar query language to access the database.</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Rule 5: Comprehensive Data Sub Language Rule</a:t>
            </a:r>
            <a:endParaRPr dirty="0"/>
          </a:p>
          <a:p>
            <a:pPr marL="228600" lvl="0" indent="-228600" algn="just" rtl="0">
              <a:lnSpc>
                <a:spcPct val="90000"/>
              </a:lnSpc>
              <a:spcBef>
                <a:spcPts val="1000"/>
              </a:spcBef>
              <a:spcAft>
                <a:spcPts val="0"/>
              </a:spcAft>
              <a:buClr>
                <a:schemeClr val="dk1"/>
              </a:buClr>
              <a:buSzPct val="100000"/>
              <a:buChar char="•"/>
            </a:pPr>
            <a:r>
              <a:rPr lang="en-US" b="0" i="0" dirty="0"/>
              <a:t>The relational database supports various languages, and if we want to access the database, the language must be the explicit, linear or well-defined syntax, character strings and supports the comprehensive: data definition, view definition, data manipulation, integrity constraints, and limit transaction management operations. </a:t>
            </a:r>
            <a:r>
              <a:rPr lang="en-US" b="1" i="0" dirty="0">
                <a:solidFill>
                  <a:srgbClr val="C00000"/>
                </a:solidFill>
              </a:rPr>
              <a:t>If the database allows access to the data without any language, it is considered a violation of the database.</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Rule 6: View Updating Rule</a:t>
            </a:r>
            <a:endParaRPr dirty="0"/>
          </a:p>
          <a:p>
            <a:pPr marL="228600" lvl="0" indent="-228600" algn="just" rtl="0">
              <a:lnSpc>
                <a:spcPct val="90000"/>
              </a:lnSpc>
              <a:spcBef>
                <a:spcPts val="1000"/>
              </a:spcBef>
              <a:spcAft>
                <a:spcPts val="0"/>
              </a:spcAft>
              <a:buClr>
                <a:srgbClr val="C00000"/>
              </a:buClr>
              <a:buSzPct val="100000"/>
              <a:buChar char="•"/>
            </a:pPr>
            <a:r>
              <a:rPr lang="en-US" b="1" i="0" dirty="0">
                <a:solidFill>
                  <a:srgbClr val="C00000"/>
                </a:solidFill>
              </a:rPr>
              <a:t>All views table can be theoretically updated and must be practically updated by the database systems.</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Rule 7: Relational Level Operation (High-Level Insert, Update and delete) Rule</a:t>
            </a:r>
            <a:endParaRPr dirty="0"/>
          </a:p>
          <a:p>
            <a:pPr marL="228600" lvl="0" indent="-228600" algn="just" rtl="0">
              <a:lnSpc>
                <a:spcPct val="90000"/>
              </a:lnSpc>
              <a:spcBef>
                <a:spcPts val="1000"/>
              </a:spcBef>
              <a:spcAft>
                <a:spcPts val="0"/>
              </a:spcAft>
              <a:buClr>
                <a:srgbClr val="C00000"/>
              </a:buClr>
              <a:buSzPct val="100000"/>
              <a:buChar char="•"/>
            </a:pPr>
            <a:r>
              <a:rPr lang="en-US" b="1" i="0" dirty="0">
                <a:solidFill>
                  <a:srgbClr val="C00000"/>
                </a:solidFill>
              </a:rPr>
              <a:t>A database system should follow high-level relational operations such as insert, update, and delete in each level or a single row. It also supports union, intersection and minus operation in the database system.</a:t>
            </a:r>
            <a:endParaRPr dirty="0"/>
          </a:p>
          <a:p>
            <a:pPr marL="228600" lvl="0" indent="-77470" algn="just" rtl="0">
              <a:lnSpc>
                <a:spcPct val="90000"/>
              </a:lnSpc>
              <a:spcBef>
                <a:spcPts val="1000"/>
              </a:spcBef>
              <a:spcAft>
                <a:spcPts val="0"/>
              </a:spcAft>
              <a:buClr>
                <a:schemeClr val="dk1"/>
              </a:buClr>
              <a:buSzPct val="100000"/>
              <a:buNone/>
            </a:pPr>
            <a:endParaRPr b="0" i="0" dirty="0">
              <a:solidFill>
                <a:srgbClr val="333333"/>
              </a:solidFill>
              <a:latin typeface="Inter"/>
              <a:ea typeface="Inter"/>
              <a:cs typeface="Inter"/>
              <a:sym typeface="Inter"/>
            </a:endParaRPr>
          </a:p>
        </p:txBody>
      </p:sp>
    </p:spTree>
    <p:extLst>
      <p:ext uri="{BB962C8B-B14F-4D97-AF65-F5344CB8AC3E}">
        <p14:creationId xmlns:p14="http://schemas.microsoft.com/office/powerpoint/2010/main" val="357680910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50"/>
          <p:cNvSpPr txBox="1">
            <a:spLocks noGrp="1"/>
          </p:cNvSpPr>
          <p:nvPr>
            <p:ph type="title"/>
          </p:nvPr>
        </p:nvSpPr>
        <p:spPr>
          <a:xfrm>
            <a:off x="278297" y="118924"/>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i="0" u="none" strike="noStrike">
                <a:latin typeface="Calibri"/>
                <a:ea typeface="Calibri"/>
                <a:cs typeface="Calibri"/>
                <a:sym typeface="Calibri"/>
              </a:rPr>
              <a:t>Codd's Rules</a:t>
            </a:r>
            <a:endParaRPr sz="4000" b="1">
              <a:latin typeface="Calibri"/>
              <a:ea typeface="Calibri"/>
              <a:cs typeface="Calibri"/>
              <a:sym typeface="Calibri"/>
            </a:endParaRPr>
          </a:p>
        </p:txBody>
      </p:sp>
      <p:sp>
        <p:nvSpPr>
          <p:cNvPr id="455" name="Google Shape;455;p50"/>
          <p:cNvSpPr txBox="1">
            <a:spLocks noGrp="1"/>
          </p:cNvSpPr>
          <p:nvPr>
            <p:ph type="body" idx="1"/>
          </p:nvPr>
        </p:nvSpPr>
        <p:spPr>
          <a:xfrm>
            <a:off x="99392" y="1086676"/>
            <a:ext cx="8206408" cy="5771323"/>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90000"/>
              </a:lnSpc>
              <a:spcBef>
                <a:spcPts val="0"/>
              </a:spcBef>
              <a:spcAft>
                <a:spcPts val="0"/>
              </a:spcAft>
              <a:buClr>
                <a:srgbClr val="000099"/>
              </a:buClr>
              <a:buSzPct val="100000"/>
              <a:buChar char="•"/>
            </a:pPr>
            <a:r>
              <a:rPr lang="en-US" b="1" i="0" dirty="0">
                <a:solidFill>
                  <a:srgbClr val="000099"/>
                </a:solidFill>
              </a:rPr>
              <a:t>Rule 8: Physical Data Independence Rule</a:t>
            </a:r>
            <a:endParaRPr dirty="0"/>
          </a:p>
          <a:p>
            <a:pPr marL="228600" lvl="0" indent="-228600" algn="just" rtl="0">
              <a:lnSpc>
                <a:spcPct val="90000"/>
              </a:lnSpc>
              <a:spcBef>
                <a:spcPts val="1000"/>
              </a:spcBef>
              <a:spcAft>
                <a:spcPts val="0"/>
              </a:spcAft>
              <a:buClr>
                <a:schemeClr val="dk1"/>
              </a:buClr>
              <a:buSzPct val="100000"/>
              <a:buChar char="•"/>
            </a:pPr>
            <a:r>
              <a:rPr lang="en-US" b="0" i="0" dirty="0"/>
              <a:t>All stored data in a database or an application must be physically independent to access the database. </a:t>
            </a:r>
            <a:r>
              <a:rPr lang="en-US" b="1" i="0" dirty="0">
                <a:solidFill>
                  <a:srgbClr val="C00000"/>
                </a:solidFill>
              </a:rPr>
              <a:t>Each data should not depend on other data or an application. If data is updated or the physical structure of the database is changed, it will not show any effect on external applications that are accessing the data from the database.</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Rule 9: Logical Data Independence Rule</a:t>
            </a:r>
            <a:endParaRPr dirty="0"/>
          </a:p>
          <a:p>
            <a:pPr marL="228600" lvl="0" indent="-228600" algn="just" rtl="0">
              <a:lnSpc>
                <a:spcPct val="90000"/>
              </a:lnSpc>
              <a:spcBef>
                <a:spcPts val="1000"/>
              </a:spcBef>
              <a:spcAft>
                <a:spcPts val="0"/>
              </a:spcAft>
              <a:buClr>
                <a:schemeClr val="dk1"/>
              </a:buClr>
              <a:buSzPct val="100000"/>
              <a:buChar char="•"/>
            </a:pPr>
            <a:r>
              <a:rPr lang="en-US" b="0" i="0" dirty="0"/>
              <a:t>It is similar to physical data independence. </a:t>
            </a:r>
            <a:r>
              <a:rPr lang="en-US" b="1" i="0" dirty="0">
                <a:solidFill>
                  <a:srgbClr val="C00000"/>
                </a:solidFill>
              </a:rPr>
              <a:t>It means, if any changes occurred to the logical level (table structures), it should not affect the user's view (application). For example, suppose a table either split into two tables, or two table joins to create a single table, these changes should not be impacted on the user view application.</a:t>
            </a:r>
            <a:endParaRPr dirty="0"/>
          </a:p>
          <a:p>
            <a:pPr marL="228600" lvl="0" indent="-228600" algn="just" rtl="0">
              <a:lnSpc>
                <a:spcPct val="90000"/>
              </a:lnSpc>
              <a:spcBef>
                <a:spcPts val="1000"/>
              </a:spcBef>
              <a:spcAft>
                <a:spcPts val="0"/>
              </a:spcAft>
              <a:buClr>
                <a:srgbClr val="000099"/>
              </a:buClr>
              <a:buSzPct val="100000"/>
              <a:buChar char="•"/>
            </a:pPr>
            <a:r>
              <a:rPr lang="en-US" b="1" i="0" dirty="0">
                <a:solidFill>
                  <a:srgbClr val="000099"/>
                </a:solidFill>
              </a:rPr>
              <a:t>Rule 10: Integrity Independence Rule</a:t>
            </a:r>
            <a:endParaRPr dirty="0"/>
          </a:p>
          <a:p>
            <a:pPr marL="228600" lvl="0" indent="-228600" algn="just" rtl="0">
              <a:lnSpc>
                <a:spcPct val="90000"/>
              </a:lnSpc>
              <a:spcBef>
                <a:spcPts val="1000"/>
              </a:spcBef>
              <a:spcAft>
                <a:spcPts val="0"/>
              </a:spcAft>
              <a:buClr>
                <a:schemeClr val="dk1"/>
              </a:buClr>
              <a:buSzPct val="100000"/>
              <a:buChar char="•"/>
            </a:pPr>
            <a:r>
              <a:rPr lang="en-US" b="0" i="0" dirty="0"/>
              <a:t>The database should be able to enforce its own integrity rather than using other programs. Key and Check constraints, trigger etc, should be stored in Data Dictionary. </a:t>
            </a:r>
            <a:r>
              <a:rPr lang="en-US" b="1" i="0" dirty="0">
                <a:solidFill>
                  <a:srgbClr val="C00000"/>
                </a:solidFill>
              </a:rPr>
              <a:t>All entered values should not be changed or rely on any external factor or application to maintain integrity.</a:t>
            </a:r>
            <a:r>
              <a:rPr lang="en-US" b="0" i="0" dirty="0"/>
              <a:t> This also make </a:t>
            </a:r>
            <a:r>
              <a:rPr lang="en-US" b="1" i="0" dirty="0"/>
              <a:t>RDBMS</a:t>
            </a:r>
            <a:r>
              <a:rPr lang="en-US" b="0" i="0" dirty="0"/>
              <a:t> independent of front-end.</a:t>
            </a:r>
            <a:endParaRPr dirty="0"/>
          </a:p>
          <a:p>
            <a:pPr marL="228600" lvl="0" indent="-77470" algn="just" rtl="0">
              <a:lnSpc>
                <a:spcPct val="90000"/>
              </a:lnSpc>
              <a:spcBef>
                <a:spcPts val="1000"/>
              </a:spcBef>
              <a:spcAft>
                <a:spcPts val="0"/>
              </a:spcAft>
              <a:buClr>
                <a:schemeClr val="dk1"/>
              </a:buClr>
              <a:buSzPct val="100000"/>
              <a:buNone/>
            </a:pPr>
            <a:endParaRPr b="0" i="0" dirty="0">
              <a:solidFill>
                <a:srgbClr val="333333"/>
              </a:solidFill>
              <a:latin typeface="Inter"/>
              <a:ea typeface="Inter"/>
              <a:cs typeface="Inter"/>
              <a:sym typeface="Inter"/>
            </a:endParaRPr>
          </a:p>
        </p:txBody>
      </p:sp>
    </p:spTree>
    <p:extLst>
      <p:ext uri="{BB962C8B-B14F-4D97-AF65-F5344CB8AC3E}">
        <p14:creationId xmlns:p14="http://schemas.microsoft.com/office/powerpoint/2010/main" val="289367113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1"/>
          <p:cNvSpPr txBox="1">
            <a:spLocks noGrp="1"/>
          </p:cNvSpPr>
          <p:nvPr>
            <p:ph type="title"/>
          </p:nvPr>
        </p:nvSpPr>
        <p:spPr>
          <a:xfrm>
            <a:off x="278297" y="118924"/>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b="1" i="0" u="none" strike="noStrike">
                <a:latin typeface="Calibri"/>
                <a:ea typeface="Calibri"/>
                <a:cs typeface="Calibri"/>
                <a:sym typeface="Calibri"/>
              </a:rPr>
              <a:t>Codd's Rules</a:t>
            </a:r>
            <a:endParaRPr sz="4000" b="1">
              <a:latin typeface="Calibri"/>
              <a:ea typeface="Calibri"/>
              <a:cs typeface="Calibri"/>
              <a:sym typeface="Calibri"/>
            </a:endParaRPr>
          </a:p>
        </p:txBody>
      </p:sp>
      <p:sp>
        <p:nvSpPr>
          <p:cNvPr id="461" name="Google Shape;461;p51"/>
          <p:cNvSpPr txBox="1">
            <a:spLocks noGrp="1"/>
          </p:cNvSpPr>
          <p:nvPr>
            <p:ph type="body" idx="1"/>
          </p:nvPr>
        </p:nvSpPr>
        <p:spPr>
          <a:xfrm>
            <a:off x="99392" y="1086677"/>
            <a:ext cx="8206408" cy="5552662"/>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rgbClr val="000099"/>
              </a:buClr>
              <a:buSzPts val="2800"/>
              <a:buChar char="•"/>
            </a:pPr>
            <a:r>
              <a:rPr lang="en-US" b="1" i="0" dirty="0">
                <a:solidFill>
                  <a:srgbClr val="000099"/>
                </a:solidFill>
              </a:rPr>
              <a:t>Rule 11: Distribution Independence Rule</a:t>
            </a:r>
            <a:endParaRPr dirty="0"/>
          </a:p>
          <a:p>
            <a:pPr marL="228600" lvl="0" indent="-228600" algn="just" rtl="0">
              <a:lnSpc>
                <a:spcPct val="90000"/>
              </a:lnSpc>
              <a:spcBef>
                <a:spcPts val="1000"/>
              </a:spcBef>
              <a:spcAft>
                <a:spcPts val="0"/>
              </a:spcAft>
              <a:buClr>
                <a:schemeClr val="dk1"/>
              </a:buClr>
              <a:buSzPts val="2800"/>
              <a:buChar char="•"/>
            </a:pPr>
            <a:r>
              <a:rPr lang="en-US" b="0" i="0" dirty="0"/>
              <a:t>The distribution independence rule represents a </a:t>
            </a:r>
            <a:r>
              <a:rPr lang="en-US" b="1" i="0" dirty="0">
                <a:solidFill>
                  <a:srgbClr val="C00000"/>
                </a:solidFill>
              </a:rPr>
              <a:t>database that must work properly, even if it is stored in different locations and used by different end-users. </a:t>
            </a:r>
            <a:r>
              <a:rPr lang="en-US" b="0" i="0" dirty="0"/>
              <a:t>Suppose a user accesses the database through an application; in that case, they should not be aware that another user uses particular data, and the data they always get is only located on one site. This lays the foundation of </a:t>
            </a:r>
            <a:r>
              <a:rPr lang="en-US" b="1" i="0" dirty="0"/>
              <a:t>distributed database</a:t>
            </a:r>
            <a:r>
              <a:rPr lang="en-US" b="0" i="0" dirty="0"/>
              <a:t>.</a:t>
            </a:r>
            <a:endParaRPr dirty="0"/>
          </a:p>
          <a:p>
            <a:pPr marL="228600" lvl="0" indent="-228600" algn="just" rtl="0">
              <a:lnSpc>
                <a:spcPct val="90000"/>
              </a:lnSpc>
              <a:spcBef>
                <a:spcPts val="1000"/>
              </a:spcBef>
              <a:spcAft>
                <a:spcPts val="0"/>
              </a:spcAft>
              <a:buClr>
                <a:srgbClr val="000099"/>
              </a:buClr>
              <a:buSzPts val="2800"/>
              <a:buChar char="•"/>
            </a:pPr>
            <a:r>
              <a:rPr lang="en-US" b="1" i="0" dirty="0">
                <a:solidFill>
                  <a:srgbClr val="000099"/>
                </a:solidFill>
              </a:rPr>
              <a:t>Rule 12: Non Subversion Rule</a:t>
            </a:r>
            <a:endParaRPr dirty="0"/>
          </a:p>
          <a:p>
            <a:pPr marL="228600" lvl="0" algn="just">
              <a:lnSpc>
                <a:spcPct val="90000"/>
              </a:lnSpc>
              <a:spcBef>
                <a:spcPts val="1000"/>
              </a:spcBef>
              <a:buClr>
                <a:schemeClr val="dk1"/>
              </a:buClr>
              <a:buSzPts val="2800"/>
            </a:pPr>
            <a:r>
              <a:rPr lang="en-US" b="0" i="0" dirty="0"/>
              <a:t>The non-subversion rule defines RDBMS as a </a:t>
            </a:r>
            <a:r>
              <a:rPr lang="en-US" b="0" i="0" u="none" strike="noStrike" dirty="0"/>
              <a:t>SQL</a:t>
            </a:r>
            <a:r>
              <a:rPr lang="en-US" b="0" i="0" dirty="0"/>
              <a:t> language to store and manipulate the data in the database. </a:t>
            </a:r>
            <a:r>
              <a:rPr lang="en-US" b="1" i="0" dirty="0">
                <a:solidFill>
                  <a:srgbClr val="C00000"/>
                </a:solidFill>
              </a:rPr>
              <a:t>If a system has a low-level or separate language other than SQL to access the database system, it should not subvert or bypass integrity to transform data</a:t>
            </a:r>
            <a:r>
              <a:rPr lang="en-US" b="1" i="0" dirty="0" smtClean="0">
                <a:solidFill>
                  <a:srgbClr val="C00000"/>
                </a:solidFill>
              </a:rPr>
              <a:t>. That is </a:t>
            </a:r>
            <a:r>
              <a:rPr lang="en-US" dirty="0"/>
              <a:t>If a system has an interface that provides access to low-level records, then the interface must not be able to subvert the system and bypass security and integrity constraints.</a:t>
            </a:r>
            <a:endParaRPr dirty="0"/>
          </a:p>
          <a:p>
            <a:pPr marL="0" lvl="0" indent="0" algn="just" rtl="0">
              <a:lnSpc>
                <a:spcPct val="90000"/>
              </a:lnSpc>
              <a:spcBef>
                <a:spcPts val="1000"/>
              </a:spcBef>
              <a:spcAft>
                <a:spcPts val="0"/>
              </a:spcAft>
              <a:buClr>
                <a:schemeClr val="dk1"/>
              </a:buClr>
              <a:buSzPts val="2800"/>
              <a:buNone/>
            </a:pPr>
            <a:r>
              <a:rPr lang="en-US" dirty="0"/>
              <a:t/>
            </a:r>
            <a:br>
              <a:rPr lang="en-US" dirty="0"/>
            </a:br>
            <a:endParaRPr b="0" i="0" dirty="0"/>
          </a:p>
        </p:txBody>
      </p:sp>
    </p:spTree>
    <p:extLst>
      <p:ext uri="{BB962C8B-B14F-4D97-AF65-F5344CB8AC3E}">
        <p14:creationId xmlns:p14="http://schemas.microsoft.com/office/powerpoint/2010/main" val="254379266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Custom 3">
      <a:dk1>
        <a:sysClr val="windowText" lastClr="000000"/>
      </a:dk1>
      <a:lt1>
        <a:sysClr val="window" lastClr="FFFFFF"/>
      </a:lt1>
      <a:dk2>
        <a:srgbClr val="303030"/>
      </a:dk2>
      <a:lt2>
        <a:srgbClr val="DEDEE0"/>
      </a:lt2>
      <a:accent1>
        <a:srgbClr val="730E00"/>
      </a:accent1>
      <a:accent2>
        <a:srgbClr val="726056"/>
      </a:accent2>
      <a:accent3>
        <a:srgbClr val="AC956E"/>
      </a:accent3>
      <a:accent4>
        <a:srgbClr val="808DA9"/>
      </a:accent4>
      <a:accent5>
        <a:srgbClr val="424E5B"/>
      </a:accent5>
      <a:accent6>
        <a:srgbClr val="730E00"/>
      </a:accent6>
      <a:hlink>
        <a:srgbClr val="730E00"/>
      </a:hlink>
      <a:folHlink>
        <a:srgbClr val="D89243"/>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5578</TotalTime>
  <Words>4283</Words>
  <Application>Microsoft Office PowerPoint</Application>
  <PresentationFormat>On-screen Show (4:3)</PresentationFormat>
  <Paragraphs>625</Paragraphs>
  <Slides>80</Slides>
  <Notes>50</Notes>
  <HiddenSlides>1</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Adjacency</vt:lpstr>
      <vt:lpstr>UNIT-1</vt:lpstr>
      <vt:lpstr>Data modeling</vt:lpstr>
      <vt:lpstr>Types of Data Models </vt:lpstr>
      <vt:lpstr>1. Hierarchical Data Model </vt:lpstr>
      <vt:lpstr>2. Network Data Model </vt:lpstr>
      <vt:lpstr>3. Relational Data Model </vt:lpstr>
      <vt:lpstr>4. Object-Oriented Data Model </vt:lpstr>
      <vt:lpstr>Comparison of Data Models </vt:lpstr>
      <vt:lpstr>Entity-Relationship Model</vt:lpstr>
      <vt:lpstr>Why use ER Diagrams? </vt:lpstr>
      <vt:lpstr>PowerPoint Presentation</vt:lpstr>
      <vt:lpstr>Entity Relationship (ER) Model </vt:lpstr>
      <vt:lpstr>Entity</vt:lpstr>
      <vt:lpstr>Weak Entity</vt:lpstr>
      <vt:lpstr>PowerPoint Presentation</vt:lpstr>
      <vt:lpstr>Weak entity example</vt:lpstr>
      <vt:lpstr>PowerPoint Presentation</vt:lpstr>
      <vt:lpstr>Total  and Partial Participation </vt:lpstr>
      <vt:lpstr>Examples</vt:lpstr>
      <vt:lpstr>Entity set</vt:lpstr>
      <vt:lpstr> Attribute </vt:lpstr>
      <vt:lpstr>PowerPoint Presentation</vt:lpstr>
      <vt:lpstr>PowerPoint Presentation</vt:lpstr>
      <vt:lpstr>PowerPoint Presentation</vt:lpstr>
      <vt:lpstr>PowerPoint Presentation</vt:lpstr>
      <vt:lpstr>PowerPoint Presentation</vt:lpstr>
      <vt:lpstr>ER Diagram Symbols</vt:lpstr>
      <vt:lpstr>Types of keys </vt:lpstr>
      <vt:lpstr>PowerPoint Presentation</vt:lpstr>
      <vt:lpstr>PowerPoint Presentation</vt:lpstr>
      <vt:lpstr>Candidate key Vs Super key</vt:lpstr>
      <vt:lpstr>PowerPoint Presentation</vt:lpstr>
      <vt:lpstr> Foreign key cntd.. </vt:lpstr>
      <vt:lpstr>Composite key </vt:lpstr>
      <vt:lpstr>PowerPoint Presentation</vt:lpstr>
      <vt:lpstr>Relational Integrity</vt:lpstr>
      <vt:lpstr>Relationship</vt:lpstr>
      <vt:lpstr>Relationship- Mapping cardinalities </vt:lpstr>
      <vt:lpstr> </vt:lpstr>
      <vt:lpstr>Component of ER Diagram</vt:lpstr>
      <vt:lpstr>PowerPoint Presentation</vt:lpstr>
      <vt:lpstr>Component of ER Diagram</vt:lpstr>
      <vt:lpstr>One-and-only-one Example</vt:lpstr>
      <vt:lpstr>examples</vt:lpstr>
      <vt:lpstr> ER Diagram example</vt:lpstr>
      <vt:lpstr>Role Names &amp; Recursive Relationships </vt:lpstr>
      <vt:lpstr>PowerPoint Presentation</vt:lpstr>
      <vt:lpstr>Degree of Relationships</vt:lpstr>
      <vt:lpstr>How to Create an Entity Relationship Diagram (ERD) </vt:lpstr>
      <vt:lpstr>How to Create an Entity Relationship Diagram (ERD) </vt:lpstr>
      <vt:lpstr>How to Create an Entity Relationship Diagram ( </vt:lpstr>
      <vt:lpstr>How to Create an Entity Relationship Diagram </vt:lpstr>
      <vt:lpstr>How to Create an Entity Relationship Diagram </vt:lpstr>
      <vt:lpstr>How to Create an Entity Relationship Diagram (ERD) </vt:lpstr>
      <vt:lpstr>Sample ER Diagram for Student Database</vt:lpstr>
      <vt:lpstr>ER to Table Conversion</vt:lpstr>
      <vt:lpstr>Online Food ordering system</vt:lpstr>
      <vt:lpstr>Advantages of ER Model </vt:lpstr>
      <vt:lpstr>Extended ER Model</vt:lpstr>
      <vt:lpstr>Super classes and Subclasses- Inheritance relationship </vt:lpstr>
      <vt:lpstr>PowerPoint Presentation</vt:lpstr>
      <vt:lpstr>Specialization</vt:lpstr>
      <vt:lpstr>Generalization</vt:lpstr>
      <vt:lpstr>PowerPoint Presentation</vt:lpstr>
      <vt:lpstr>Aggregation </vt:lpstr>
      <vt:lpstr>Extended ER Model</vt:lpstr>
      <vt:lpstr>Inheritance relationship vs Union relationship</vt:lpstr>
      <vt:lpstr>ER Diagram practice example</vt:lpstr>
      <vt:lpstr>Relational Model</vt:lpstr>
      <vt:lpstr>Relational Model</vt:lpstr>
      <vt:lpstr>Relational Model</vt:lpstr>
      <vt:lpstr>PowerPoint Presentation</vt:lpstr>
      <vt:lpstr>Relational Model</vt:lpstr>
      <vt:lpstr>Relational Model</vt:lpstr>
      <vt:lpstr>Relational Model</vt:lpstr>
      <vt:lpstr>Codd's Rules</vt:lpstr>
      <vt:lpstr>Codd's Rules</vt:lpstr>
      <vt:lpstr>Codd's Rules</vt:lpstr>
      <vt:lpstr>Codd's Rules</vt:lpstr>
      <vt:lpstr>Codd's Rules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Amruta</dc:creator>
  <cp:lastModifiedBy>DELL-PC</cp:lastModifiedBy>
  <cp:revision>296</cp:revision>
  <dcterms:created xsi:type="dcterms:W3CDTF">2006-08-16T00:00:00Z</dcterms:created>
  <dcterms:modified xsi:type="dcterms:W3CDTF">2025-05-28T04:52:37Z</dcterms:modified>
</cp:coreProperties>
</file>