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58" r:id="rId4"/>
    <p:sldId id="259" r:id="rId5"/>
    <p:sldId id="297" r:id="rId6"/>
    <p:sldId id="298" r:id="rId7"/>
    <p:sldId id="299" r:id="rId8"/>
    <p:sldId id="296" r:id="rId9"/>
    <p:sldId id="294" r:id="rId10"/>
    <p:sldId id="295" r:id="rId11"/>
    <p:sldId id="300" r:id="rId12"/>
    <p:sldId id="301" r:id="rId13"/>
    <p:sldId id="302" r:id="rId14"/>
    <p:sldId id="303" r:id="rId15"/>
    <p:sldId id="304" r:id="rId16"/>
    <p:sldId id="305" r:id="rId17"/>
    <p:sldId id="306" r:id="rId18"/>
    <p:sldId id="307" r:id="rId19"/>
    <p:sldId id="260" r:id="rId20"/>
    <p:sldId id="265" r:id="rId21"/>
    <p:sldId id="266" r:id="rId22"/>
    <p:sldId id="267" r:id="rId23"/>
    <p:sldId id="312" r:id="rId24"/>
    <p:sldId id="313" r:id="rId25"/>
    <p:sldId id="311" r:id="rId26"/>
    <p:sldId id="310" r:id="rId27"/>
    <p:sldId id="268" r:id="rId28"/>
    <p:sldId id="275" r:id="rId29"/>
    <p:sldId id="276" r:id="rId30"/>
    <p:sldId id="277" r:id="rId31"/>
    <p:sldId id="278" r:id="rId32"/>
    <p:sldId id="280" r:id="rId33"/>
    <p:sldId id="285" r:id="rId34"/>
    <p:sldId id="286" r:id="rId35"/>
    <p:sldId id="287" r:id="rId36"/>
    <p:sldId id="288" r:id="rId37"/>
    <p:sldId id="289" r:id="rId38"/>
    <p:sldId id="290" r:id="rId39"/>
    <p:sldId id="291" r:id="rId40"/>
    <p:sldId id="292" r:id="rId41"/>
    <p:sldId id="29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njeetsingh Suryawanshi" initials="RS" lastIdx="1" clrIdx="0">
    <p:extLst>
      <p:ext uri="{19B8F6BF-5375-455C-9EA6-DF929625EA0E}">
        <p15:presenceInfo xmlns:p15="http://schemas.microsoft.com/office/powerpoint/2012/main" xmlns="" userId="40528e31ba9b729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724" autoAdjust="0"/>
  </p:normalViewPr>
  <p:slideViewPr>
    <p:cSldViewPr snapToGrid="0">
      <p:cViewPr>
        <p:scale>
          <a:sx n="74" d="100"/>
          <a:sy n="74" d="100"/>
        </p:scale>
        <p:origin x="-468" y="24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2A45F0-599E-45E3-B4AE-5381528A8C3A}" type="datetimeFigureOut">
              <a:rPr lang="en-US" smtClean="0"/>
              <a:t>15/09/2023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477C44-5FD3-42A8-AE45-45F7B7A2135A}" type="slidenum">
              <a:rPr lang="en-US" smtClean="0"/>
              <a:t>‹#›</a:t>
            </a:fld>
            <a:endParaRPr lang="en-US"/>
          </a:p>
        </p:txBody>
      </p:sp>
    </p:spTree>
    <p:extLst>
      <p:ext uri="{BB962C8B-B14F-4D97-AF65-F5344CB8AC3E}">
        <p14:creationId xmlns:p14="http://schemas.microsoft.com/office/powerpoint/2010/main" val="2864711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How do computers know the time when turned off?</a:t>
            </a:r>
          </a:p>
          <a:p>
            <a:r>
              <a:rPr lang="en-US" sz="1200" b="0" i="0" kern="1200" dirty="0" smtClean="0">
                <a:solidFill>
                  <a:schemeClr val="tx1"/>
                </a:solidFill>
                <a:effectLst/>
                <a:latin typeface="+mn-lt"/>
                <a:ea typeface="+mn-ea"/>
                <a:cs typeface="+mn-cs"/>
              </a:rPr>
              <a:t>A special kind of system memory </a:t>
            </a:r>
            <a:r>
              <a:rPr lang="en-US" sz="1200" b="0" i="0" kern="1200" smtClean="0">
                <a:solidFill>
                  <a:schemeClr val="tx1"/>
                </a:solidFill>
                <a:effectLst/>
                <a:latin typeface="+mn-lt"/>
                <a:ea typeface="+mn-ea"/>
                <a:cs typeface="+mn-cs"/>
              </a:rPr>
              <a:t>called CMOS(Complementary Metal-Oxide-Semiconductor) </a:t>
            </a:r>
            <a:r>
              <a:rPr lang="en-US" sz="1200" b="0" i="0" kern="1200" dirty="0" smtClean="0">
                <a:solidFill>
                  <a:schemeClr val="tx1"/>
                </a:solidFill>
                <a:effectLst/>
                <a:latin typeface="+mn-lt"/>
                <a:ea typeface="+mn-ea"/>
                <a:cs typeface="+mn-cs"/>
              </a:rPr>
              <a:t>stores the date and time settings and a computer chip called the Real-Time clock (RTC) then keeps track of time. When the PC is powered off, a battery on the motherboard keeps the CMOS memory and the RTC chip activated so it does not lose time.</a:t>
            </a:r>
          </a:p>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3</a:t>
            </a:fld>
            <a:endParaRPr lang="en-US"/>
          </a:p>
        </p:txBody>
      </p:sp>
    </p:spTree>
    <p:extLst>
      <p:ext uri="{BB962C8B-B14F-4D97-AF65-F5344CB8AC3E}">
        <p14:creationId xmlns:p14="http://schemas.microsoft.com/office/powerpoint/2010/main" val="1506221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4</a:t>
            </a:fld>
            <a:endParaRPr lang="en-US"/>
          </a:p>
        </p:txBody>
      </p:sp>
    </p:spTree>
    <p:extLst>
      <p:ext uri="{BB962C8B-B14F-4D97-AF65-F5344CB8AC3E}">
        <p14:creationId xmlns:p14="http://schemas.microsoft.com/office/powerpoint/2010/main" val="3935980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5</a:t>
            </a:fld>
            <a:endParaRPr lang="en-US"/>
          </a:p>
        </p:txBody>
      </p:sp>
    </p:spTree>
    <p:extLst>
      <p:ext uri="{BB962C8B-B14F-4D97-AF65-F5344CB8AC3E}">
        <p14:creationId xmlns:p14="http://schemas.microsoft.com/office/powerpoint/2010/main" val="3935980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400" dirty="0" smtClean="0"/>
              <a:t>Consists of 7 levels</a:t>
            </a:r>
          </a:p>
          <a:p>
            <a:pPr>
              <a:spcAft>
                <a:spcPts val="1200"/>
              </a:spcAft>
            </a:pPr>
            <a:r>
              <a:rPr lang="en-GB" sz="2400" dirty="0" smtClean="0"/>
              <a:t>Levels do not imply a hierarchical relationship but designate different design architectures that share three common characteristics:</a:t>
            </a:r>
          </a:p>
          <a:p>
            <a:pPr marL="571500" lvl="1" indent="-342900">
              <a:spcAft>
                <a:spcPts val="1200"/>
              </a:spcAft>
              <a:buSzPct val="100000"/>
              <a:buFont typeface="+mj-lt"/>
              <a:buAutoNum type="arabicParenR"/>
            </a:pPr>
            <a:r>
              <a:rPr lang="en-GB" sz="2400" dirty="0" smtClean="0"/>
              <a:t>Set of physical disk drives viewed by the operating system as a single logical drive</a:t>
            </a:r>
          </a:p>
          <a:p>
            <a:pPr marL="571500" lvl="1" indent="-342900">
              <a:spcAft>
                <a:spcPts val="1200"/>
              </a:spcAft>
              <a:buSzPct val="100000"/>
              <a:buFont typeface="+mj-lt"/>
              <a:buAutoNum type="arabicParenR"/>
            </a:pPr>
            <a:r>
              <a:rPr lang="en-GB" sz="2400" dirty="0" smtClean="0"/>
              <a:t>Data are distributed across the physical drives of an array in a scheme known as striping</a:t>
            </a:r>
          </a:p>
          <a:p>
            <a:pPr marL="571500" lvl="1" indent="-342900">
              <a:spcAft>
                <a:spcPts val="1200"/>
              </a:spcAft>
              <a:buSzPct val="100000"/>
              <a:buFont typeface="+mj-lt"/>
              <a:buAutoNum type="arabicParenR"/>
            </a:pPr>
            <a:r>
              <a:rPr lang="en-GB" sz="2400" dirty="0" smtClean="0"/>
              <a:t>Redundant disk capacity is used to store parity information, which guarantees data recoverability in case of a disk failure</a:t>
            </a:r>
          </a:p>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6</a:t>
            </a:fld>
            <a:endParaRPr lang="en-US"/>
          </a:p>
        </p:txBody>
      </p:sp>
    </p:spTree>
    <p:extLst>
      <p:ext uri="{BB962C8B-B14F-4D97-AF65-F5344CB8AC3E}">
        <p14:creationId xmlns:p14="http://schemas.microsoft.com/office/powerpoint/2010/main" val="3935980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400" dirty="0" smtClean="0"/>
              <a:t>Consists of 7 levels</a:t>
            </a:r>
          </a:p>
          <a:p>
            <a:pPr>
              <a:spcAft>
                <a:spcPts val="1200"/>
              </a:spcAft>
            </a:pPr>
            <a:r>
              <a:rPr lang="en-GB" sz="2400" dirty="0" smtClean="0"/>
              <a:t>Levels do not imply a hierarchical relationship but designate different design architectures that share three common characteristics:</a:t>
            </a:r>
          </a:p>
          <a:p>
            <a:pPr marL="571500" lvl="1" indent="-342900">
              <a:spcAft>
                <a:spcPts val="1200"/>
              </a:spcAft>
              <a:buSzPct val="100000"/>
              <a:buFont typeface="+mj-lt"/>
              <a:buAutoNum type="arabicParenR"/>
            </a:pPr>
            <a:r>
              <a:rPr lang="en-GB" sz="2400" dirty="0" smtClean="0"/>
              <a:t>Set of physical disk drives viewed by the operating system as a single logical drive</a:t>
            </a:r>
          </a:p>
          <a:p>
            <a:pPr marL="571500" lvl="1" indent="-342900">
              <a:spcAft>
                <a:spcPts val="1200"/>
              </a:spcAft>
              <a:buSzPct val="100000"/>
              <a:buFont typeface="+mj-lt"/>
              <a:buAutoNum type="arabicParenR"/>
            </a:pPr>
            <a:r>
              <a:rPr lang="en-GB" sz="2400" dirty="0" smtClean="0"/>
              <a:t>Data are distributed across the physical drives of an array in a scheme known as striping</a:t>
            </a:r>
          </a:p>
          <a:p>
            <a:pPr marL="571500" lvl="1" indent="-342900">
              <a:spcAft>
                <a:spcPts val="1200"/>
              </a:spcAft>
              <a:buSzPct val="100000"/>
              <a:buFont typeface="+mj-lt"/>
              <a:buAutoNum type="arabicParenR"/>
            </a:pPr>
            <a:r>
              <a:rPr lang="en-GB" sz="2400" dirty="0" smtClean="0"/>
              <a:t>Redundant disk capacity is used to store parity information, which guarantees data recoverability in case of a disk failure</a:t>
            </a:r>
          </a:p>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7</a:t>
            </a:fld>
            <a:endParaRPr lang="en-US"/>
          </a:p>
        </p:txBody>
      </p:sp>
    </p:spTree>
    <p:extLst>
      <p:ext uri="{BB962C8B-B14F-4D97-AF65-F5344CB8AC3E}">
        <p14:creationId xmlns:p14="http://schemas.microsoft.com/office/powerpoint/2010/main" val="3935980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KORTH- 405 page</a:t>
            </a:r>
          </a:p>
          <a:p>
            <a:r>
              <a:rPr lang="en-GB" sz="2400" dirty="0" smtClean="0"/>
              <a:t>Consists of 7 levels</a:t>
            </a:r>
          </a:p>
          <a:p>
            <a:pPr>
              <a:spcAft>
                <a:spcPts val="1200"/>
              </a:spcAft>
            </a:pPr>
            <a:r>
              <a:rPr lang="en-GB" sz="2400" dirty="0" smtClean="0"/>
              <a:t>Levels do not imply a hierarchical relationship but designate different design architectures that share three common characteristics:</a:t>
            </a:r>
          </a:p>
          <a:p>
            <a:pPr marL="571500" lvl="1" indent="-342900">
              <a:spcAft>
                <a:spcPts val="1200"/>
              </a:spcAft>
              <a:buSzPct val="100000"/>
              <a:buFont typeface="+mj-lt"/>
              <a:buAutoNum type="arabicParenR"/>
            </a:pPr>
            <a:r>
              <a:rPr lang="en-GB" sz="2400" dirty="0" smtClean="0"/>
              <a:t>Set of physical disk drives viewed by the operating system as a single logical drive</a:t>
            </a:r>
          </a:p>
          <a:p>
            <a:pPr marL="571500" lvl="1" indent="-342900">
              <a:spcAft>
                <a:spcPts val="1200"/>
              </a:spcAft>
              <a:buSzPct val="100000"/>
              <a:buFont typeface="+mj-lt"/>
              <a:buAutoNum type="arabicParenR"/>
            </a:pPr>
            <a:r>
              <a:rPr lang="en-GB" sz="2400" dirty="0" smtClean="0"/>
              <a:t>Data are distributed across the physical drives of an array in a scheme known as striping</a:t>
            </a:r>
          </a:p>
          <a:p>
            <a:pPr marL="571500" lvl="1" indent="-342900">
              <a:spcAft>
                <a:spcPts val="1200"/>
              </a:spcAft>
              <a:buSzPct val="100000"/>
              <a:buFont typeface="+mj-lt"/>
              <a:buAutoNum type="arabicParenR"/>
            </a:pPr>
            <a:r>
              <a:rPr lang="en-GB" sz="2400" dirty="0" smtClean="0"/>
              <a:t>Redundant disk capacity is used to store parity information, which guarantees data recoverability in case of a disk failure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8</a:t>
            </a:fld>
            <a:endParaRPr lang="en-US"/>
          </a:p>
        </p:txBody>
      </p:sp>
    </p:spTree>
    <p:extLst>
      <p:ext uri="{BB962C8B-B14F-4D97-AF65-F5344CB8AC3E}">
        <p14:creationId xmlns:p14="http://schemas.microsoft.com/office/powerpoint/2010/main" val="1500442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5BBECF-5663-7E4B-A431-896C1B22399A}" type="slidenum">
              <a:rPr lang="en-US"/>
              <a:pPr/>
              <a:t>9</a:t>
            </a:fld>
            <a:endParaRPr lang="en-US" dirty="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endParaRPr lang="en-US" sz="1200" b="0" kern="1200" baseline="0" dirty="0" smtClean="0">
              <a:solidFill>
                <a:schemeClr val="tx1"/>
              </a:solidFill>
              <a:latin typeface="Times New Roman" pitchFamily="-110" charset="0"/>
              <a:ea typeface="+mn-ea"/>
              <a:cs typeface="+mn-cs"/>
            </a:endParaRPr>
          </a:p>
          <a:p>
            <a:r>
              <a:rPr lang="en-US" sz="1200" b="1" kern="1200" baseline="0" dirty="0" smtClean="0">
                <a:solidFill>
                  <a:schemeClr val="tx1"/>
                </a:solidFill>
                <a:latin typeface="Times New Roman" pitchFamily="-110" charset="0"/>
                <a:ea typeface="+mn-ea"/>
                <a:cs typeface="+mn-cs"/>
              </a:rPr>
              <a:t>[ Chapter 6 of William </a:t>
            </a:r>
            <a:r>
              <a:rPr lang="en-US" sz="1200" b="1" kern="1200" baseline="0" dirty="0" err="1" smtClean="0">
                <a:solidFill>
                  <a:schemeClr val="tx1"/>
                </a:solidFill>
                <a:latin typeface="Times New Roman" pitchFamily="-110" charset="0"/>
                <a:ea typeface="+mn-ea"/>
                <a:cs typeface="+mn-cs"/>
              </a:rPr>
              <a:t>stallings</a:t>
            </a:r>
            <a:r>
              <a:rPr lang="en-US" sz="1200" b="1" kern="1200" baseline="0" dirty="0" smtClean="0">
                <a:solidFill>
                  <a:schemeClr val="tx1"/>
                </a:solidFill>
                <a:latin typeface="Times New Roman" pitchFamily="-110" charset="0"/>
                <a:ea typeface="+mn-ea"/>
                <a:cs typeface="+mn-cs"/>
              </a:rPr>
              <a:t>]</a:t>
            </a:r>
          </a:p>
          <a:p>
            <a:r>
              <a:rPr lang="en-US" sz="1200" b="0" kern="1200" baseline="0" dirty="0" smtClean="0">
                <a:solidFill>
                  <a:schemeClr val="tx1"/>
                </a:solidFill>
                <a:latin typeface="Times New Roman" pitchFamily="-110" charset="0"/>
                <a:ea typeface="+mn-ea"/>
                <a:cs typeface="+mn-cs"/>
              </a:rPr>
              <a:t>RAID is a technology that is used to increase performance and/or reliability in data storage.</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1. RAID is a set of physical disk drives viewed by the operating system as a single</a:t>
            </a:r>
          </a:p>
          <a:p>
            <a:r>
              <a:rPr lang="en-US" sz="1200" b="0" kern="1200" baseline="0" dirty="0" smtClean="0">
                <a:solidFill>
                  <a:schemeClr val="tx1"/>
                </a:solidFill>
                <a:latin typeface="Times New Roman" pitchFamily="-110" charset="0"/>
                <a:ea typeface="+mn-ea"/>
                <a:cs typeface="+mn-cs"/>
              </a:rPr>
              <a:t>logical drive.</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2. Data are distributed across the physical drives of an array in a scheme known</a:t>
            </a:r>
          </a:p>
          <a:p>
            <a:r>
              <a:rPr lang="en-US" sz="1200" b="0" kern="1200" baseline="0" dirty="0" smtClean="0">
                <a:solidFill>
                  <a:schemeClr val="tx1"/>
                </a:solidFill>
                <a:latin typeface="Times New Roman" pitchFamily="-110" charset="0"/>
                <a:ea typeface="+mn-ea"/>
                <a:cs typeface="+mn-cs"/>
              </a:rPr>
              <a:t>as striping, described subsequently.</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3. Redundant disk capacity is used to store parity information, which guarantees</a:t>
            </a:r>
          </a:p>
          <a:p>
            <a:r>
              <a:rPr lang="en-US" sz="1200" b="0" kern="1200" baseline="0" dirty="0" smtClean="0">
                <a:solidFill>
                  <a:schemeClr val="tx1"/>
                </a:solidFill>
                <a:latin typeface="Times New Roman" pitchFamily="-110" charset="0"/>
                <a:ea typeface="+mn-ea"/>
                <a:cs typeface="+mn-cs"/>
              </a:rPr>
              <a:t>data recoverability in case of a disk failure</a:t>
            </a:r>
            <a:r>
              <a:rPr lang="en-US" sz="1200" kern="1200" baseline="0" dirty="0" smtClean="0">
                <a:solidFill>
                  <a:schemeClr val="tx1"/>
                </a:solidFill>
                <a:latin typeface="Times New Roman" pitchFamily="-110" charset="0"/>
                <a:ea typeface="+mn-ea"/>
                <a:cs typeface="+mn-cs"/>
              </a:rPr>
              <a: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details of the second and third characteristics differ for the different RAID</a:t>
            </a:r>
          </a:p>
          <a:p>
            <a:r>
              <a:rPr lang="en-US" sz="1200" kern="1200" baseline="0" dirty="0" smtClean="0">
                <a:solidFill>
                  <a:schemeClr val="tx1"/>
                </a:solidFill>
                <a:latin typeface="Times New Roman" pitchFamily="-110" charset="0"/>
                <a:ea typeface="+mn-ea"/>
                <a:cs typeface="+mn-cs"/>
              </a:rPr>
              <a:t>levels. RAID 0 and RAID 1 do not support the third characteristic.</a:t>
            </a:r>
          </a:p>
          <a:p>
            <a:endParaRPr lang="en-US" sz="1200"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 The term RAID  was originally coined in a paper by a group of researchers</a:t>
            </a:r>
          </a:p>
          <a:p>
            <a:r>
              <a:rPr lang="en-US" sz="1200" b="0" i="0" u="none" strike="noStrike" kern="1200" baseline="0" dirty="0" smtClean="0">
                <a:solidFill>
                  <a:schemeClr val="tx1"/>
                </a:solidFill>
                <a:latin typeface="Times New Roman" pitchFamily="-110" charset="0"/>
                <a:ea typeface="+mn-ea"/>
                <a:cs typeface="+mn-cs"/>
              </a:rPr>
              <a:t>at the University of California at Berkeley [PATT88].  The paper outlined various</a:t>
            </a:r>
          </a:p>
          <a:p>
            <a:r>
              <a:rPr lang="en-US" sz="1200" b="0" i="0" u="none" strike="noStrike" kern="1200" baseline="0" dirty="0" smtClean="0">
                <a:solidFill>
                  <a:schemeClr val="tx1"/>
                </a:solidFill>
                <a:latin typeface="Times New Roman" pitchFamily="-110" charset="0"/>
                <a:ea typeface="+mn-ea"/>
                <a:cs typeface="+mn-cs"/>
              </a:rPr>
              <a:t>RAID configurations and applications and introduced the definitions of the</a:t>
            </a:r>
          </a:p>
          <a:p>
            <a:r>
              <a:rPr lang="en-US" sz="1200" b="0" i="0" u="none" strike="noStrike" kern="1200" baseline="0" dirty="0" smtClean="0">
                <a:solidFill>
                  <a:schemeClr val="tx1"/>
                </a:solidFill>
                <a:latin typeface="Times New Roman" pitchFamily="-110" charset="0"/>
                <a:ea typeface="+mn-ea"/>
                <a:cs typeface="+mn-cs"/>
              </a:rPr>
              <a:t>RAID levels that are still used. The RAID strategy employs multiple disk drives</a:t>
            </a:r>
          </a:p>
          <a:p>
            <a:r>
              <a:rPr lang="en-US" sz="1200" b="0" i="0" u="none" strike="noStrike" kern="1200" baseline="0" dirty="0" smtClean="0">
                <a:solidFill>
                  <a:schemeClr val="tx1"/>
                </a:solidFill>
                <a:latin typeface="Times New Roman" pitchFamily="-110" charset="0"/>
                <a:ea typeface="+mn-ea"/>
                <a:cs typeface="+mn-cs"/>
              </a:rPr>
              <a:t>and distributes data in such a way as to enable simultaneous access to data from</a:t>
            </a:r>
          </a:p>
          <a:p>
            <a:r>
              <a:rPr lang="en-US" sz="1200" b="0" i="0" u="none" strike="noStrike" kern="1200" baseline="0" dirty="0" smtClean="0">
                <a:solidFill>
                  <a:schemeClr val="tx1"/>
                </a:solidFill>
                <a:latin typeface="Times New Roman" pitchFamily="-110" charset="0"/>
                <a:ea typeface="+mn-ea"/>
                <a:cs typeface="+mn-cs"/>
              </a:rPr>
              <a:t>multiple drives, thereby improving I/O performance and allowing easier incremental</a:t>
            </a:r>
          </a:p>
          <a:p>
            <a:r>
              <a:rPr lang="en-US" sz="1200" b="0" i="0" u="none" strike="noStrike" kern="1200" baseline="0" dirty="0" smtClean="0">
                <a:solidFill>
                  <a:schemeClr val="tx1"/>
                </a:solidFill>
                <a:latin typeface="Times New Roman" pitchFamily="-110" charset="0"/>
                <a:ea typeface="+mn-ea"/>
                <a:cs typeface="+mn-cs"/>
              </a:rPr>
              <a:t>increases in capacity.</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D6CA8D-032B-EF4D-ADE1-BBAE35C05B9E}" type="slidenum">
              <a:rPr lang="en-US"/>
              <a:pPr/>
              <a:t>10</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b="0" i="0" u="none" strike="noStrike" kern="1200" baseline="0" dirty="0" smtClean="0">
                <a:solidFill>
                  <a:schemeClr val="tx1"/>
                </a:solidFill>
                <a:latin typeface="Times New Roman" pitchFamily="-110" charset="0"/>
                <a:ea typeface="+mn-ea"/>
                <a:cs typeface="+mn-cs"/>
              </a:rPr>
              <a:t>The unique contribution of the RAID proposal is to address effectively the</a:t>
            </a:r>
          </a:p>
          <a:p>
            <a:r>
              <a:rPr lang="en-US" sz="1200" b="0" i="0" u="none" strike="noStrike" kern="1200" baseline="0" dirty="0" smtClean="0">
                <a:solidFill>
                  <a:schemeClr val="tx1"/>
                </a:solidFill>
                <a:latin typeface="Times New Roman" pitchFamily="-110" charset="0"/>
                <a:ea typeface="+mn-ea"/>
                <a:cs typeface="+mn-cs"/>
              </a:rPr>
              <a:t>need for redundancy. Although allowing multiple heads and actuators to operate</a:t>
            </a:r>
          </a:p>
          <a:p>
            <a:r>
              <a:rPr lang="en-US" sz="1200" b="0" i="0" u="none" strike="noStrike" kern="1200" baseline="0" dirty="0" smtClean="0">
                <a:solidFill>
                  <a:schemeClr val="tx1"/>
                </a:solidFill>
                <a:latin typeface="Times New Roman" pitchFamily="-110" charset="0"/>
                <a:ea typeface="+mn-ea"/>
                <a:cs typeface="+mn-cs"/>
              </a:rPr>
              <a:t>simultaneously achieves higher I/O and transfer rates, the use of multiple devices</a:t>
            </a:r>
          </a:p>
          <a:p>
            <a:r>
              <a:rPr lang="en-US" sz="1200" b="0" i="0" u="none" strike="noStrike" kern="1200" baseline="0" dirty="0" smtClean="0">
                <a:solidFill>
                  <a:schemeClr val="tx1"/>
                </a:solidFill>
                <a:latin typeface="Times New Roman" pitchFamily="-110" charset="0"/>
                <a:ea typeface="+mn-ea"/>
                <a:cs typeface="+mn-cs"/>
              </a:rPr>
              <a:t>increases the probability of failure. To compensate for this decreased reliability,</a:t>
            </a:r>
          </a:p>
          <a:p>
            <a:r>
              <a:rPr lang="en-US" sz="1200" b="0" i="0" u="none" strike="noStrike" kern="1200" baseline="0" dirty="0" smtClean="0">
                <a:solidFill>
                  <a:schemeClr val="tx1"/>
                </a:solidFill>
                <a:latin typeface="Times New Roman" pitchFamily="-110" charset="0"/>
                <a:ea typeface="+mn-ea"/>
                <a:cs typeface="+mn-cs"/>
              </a:rPr>
              <a:t>RAID makes use of stored parity information that enables the recovery of data lost</a:t>
            </a:r>
          </a:p>
          <a:p>
            <a:r>
              <a:rPr lang="en-US" sz="1200" b="0" i="0" u="none" strike="noStrike" kern="1200" baseline="0" dirty="0" smtClean="0">
                <a:solidFill>
                  <a:schemeClr val="tx1"/>
                </a:solidFill>
                <a:latin typeface="Times New Roman" pitchFamily="-110" charset="0"/>
                <a:ea typeface="+mn-ea"/>
                <a:cs typeface="+mn-cs"/>
              </a:rPr>
              <a:t>due to a disk failure.</a:t>
            </a:r>
          </a:p>
          <a:p>
            <a:endParaRPr lang="en-US" sz="1200" b="0" i="0" u="none" strike="noStrike"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We now examine each of the RAID levels. Table 6.3 provides a rough guide</a:t>
            </a:r>
          </a:p>
          <a:p>
            <a:r>
              <a:rPr lang="en-US" sz="1200" b="0" i="0" u="none" strike="noStrike" kern="1200" baseline="0" dirty="0" smtClean="0">
                <a:solidFill>
                  <a:schemeClr val="tx1"/>
                </a:solidFill>
                <a:latin typeface="Times New Roman" pitchFamily="-110" charset="0"/>
                <a:ea typeface="+mn-ea"/>
                <a:cs typeface="+mn-cs"/>
              </a:rPr>
              <a:t>to the seven levels. In the table, I/O performance is shown both in terms of data</a:t>
            </a:r>
          </a:p>
          <a:p>
            <a:r>
              <a:rPr lang="en-US" sz="1200" b="0" i="0" u="none" strike="noStrike" kern="1200" baseline="0" dirty="0" smtClean="0">
                <a:solidFill>
                  <a:schemeClr val="tx1"/>
                </a:solidFill>
                <a:latin typeface="Times New Roman" pitchFamily="-110" charset="0"/>
                <a:ea typeface="+mn-ea"/>
                <a:cs typeface="+mn-cs"/>
              </a:rPr>
              <a:t>transfer capacity, or ability to move data, and I/O request rate, or ability to satisfy</a:t>
            </a:r>
          </a:p>
          <a:p>
            <a:r>
              <a:rPr lang="en-US" sz="1200" b="0" i="0" u="none" strike="noStrike" kern="1200" baseline="0" dirty="0" smtClean="0">
                <a:solidFill>
                  <a:schemeClr val="tx1"/>
                </a:solidFill>
                <a:latin typeface="Times New Roman" pitchFamily="-110" charset="0"/>
                <a:ea typeface="+mn-ea"/>
                <a:cs typeface="+mn-cs"/>
              </a:rPr>
              <a:t>I/O requests, since these RAID levels inherently perform differently relative to</a:t>
            </a:r>
          </a:p>
          <a:p>
            <a:r>
              <a:rPr lang="en-US" sz="1200" b="0" i="0" u="none" strike="noStrike" kern="1200" baseline="0" dirty="0" smtClean="0">
                <a:solidFill>
                  <a:schemeClr val="tx1"/>
                </a:solidFill>
                <a:latin typeface="Times New Roman" pitchFamily="-110" charset="0"/>
                <a:ea typeface="+mn-ea"/>
                <a:cs typeface="+mn-cs"/>
              </a:rPr>
              <a:t>these two metrics. Each RAID level’s strong point is highlighted by darker shading.</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What is File Organization?</a:t>
            </a:r>
            <a:r>
              <a:rPr lang="en-US" sz="1200" b="0" i="0" kern="1200" dirty="0" smtClean="0">
                <a:solidFill>
                  <a:schemeClr val="tx1"/>
                </a:solidFill>
                <a:effectLst/>
                <a:latin typeface="+mn-lt"/>
                <a:ea typeface="+mn-ea"/>
                <a:cs typeface="+mn-cs"/>
              </a:rPr>
              <a:t> </a:t>
            </a:r>
            <a:r>
              <a:rPr lang="en-US" dirty="0" smtClean="0"/>
              <a:t/>
            </a:r>
            <a:br>
              <a:rPr lang="en-US" dirty="0" smtClean="0"/>
            </a:br>
            <a:r>
              <a:rPr lang="en-US" sz="1200" b="0" i="0" kern="1200" dirty="0" smtClean="0">
                <a:solidFill>
                  <a:schemeClr val="tx1"/>
                </a:solidFill>
                <a:effectLst/>
                <a:latin typeface="+mn-lt"/>
                <a:ea typeface="+mn-ea"/>
                <a:cs typeface="+mn-cs"/>
              </a:rPr>
              <a:t>File Organization refers to the logical relationships among various records that constitute the file, particularly with respect to the means of identification and access to any specific record. In simple terms, Storing the files in certain order is called file Organization. </a:t>
            </a:r>
            <a:r>
              <a:rPr lang="en-US" sz="1200" b="1" i="0" kern="1200" dirty="0" smtClean="0">
                <a:solidFill>
                  <a:schemeClr val="tx1"/>
                </a:solidFill>
                <a:effectLst/>
                <a:latin typeface="+mn-lt"/>
                <a:ea typeface="+mn-ea"/>
                <a:cs typeface="+mn-cs"/>
              </a:rPr>
              <a:t>File Structure</a:t>
            </a:r>
            <a:r>
              <a:rPr lang="en-US" sz="1200" b="0" i="0" kern="1200" dirty="0" smtClean="0">
                <a:solidFill>
                  <a:schemeClr val="tx1"/>
                </a:solidFill>
                <a:effectLst/>
                <a:latin typeface="+mn-lt"/>
                <a:ea typeface="+mn-ea"/>
                <a:cs typeface="+mn-cs"/>
              </a:rPr>
              <a:t> refers to the format of the label and data blocks and of any logical control record. </a:t>
            </a:r>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19</a:t>
            </a:fld>
            <a:endParaRPr lang="en-US"/>
          </a:p>
        </p:txBody>
      </p:sp>
    </p:spTree>
    <p:extLst>
      <p:ext uri="{BB962C8B-B14F-4D97-AF65-F5344CB8AC3E}">
        <p14:creationId xmlns:p14="http://schemas.microsoft.com/office/powerpoint/2010/main" val="2792339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Limitations:</a:t>
            </a:r>
          </a:p>
          <a:p>
            <a:pPr fontAlgn="base"/>
            <a:r>
              <a:rPr lang="en-US" sz="1200" b="0" i="0" kern="1200" dirty="0" smtClean="0">
                <a:solidFill>
                  <a:schemeClr val="tx1"/>
                </a:solidFill>
                <a:effectLst/>
                <a:latin typeface="+mn-lt"/>
                <a:ea typeface="+mn-ea"/>
                <a:cs typeface="+mn-cs"/>
              </a:rPr>
              <a:t>Time wastage as we cannot jump on a particular record that is required, but we have to move in a sequential manner which takes our time.</a:t>
            </a:r>
          </a:p>
          <a:p>
            <a:pPr fontAlgn="base"/>
            <a:r>
              <a:rPr lang="en-US" sz="1200" b="0" i="0" kern="1200" dirty="0" smtClean="0">
                <a:solidFill>
                  <a:schemeClr val="tx1"/>
                </a:solidFill>
                <a:effectLst/>
                <a:latin typeface="+mn-lt"/>
                <a:ea typeface="+mn-ea"/>
                <a:cs typeface="+mn-cs"/>
              </a:rPr>
              <a:t>Sorted file method is inefficient as it takes time and space for sorting records. </a:t>
            </a:r>
          </a:p>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20</a:t>
            </a:fld>
            <a:endParaRPr lang="en-US"/>
          </a:p>
        </p:txBody>
      </p:sp>
    </p:spTree>
    <p:extLst>
      <p:ext uri="{BB962C8B-B14F-4D97-AF65-F5344CB8AC3E}">
        <p14:creationId xmlns:p14="http://schemas.microsoft.com/office/powerpoint/2010/main" val="8269454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In cluster file organization, two or more related tables/records are stored within same file known as clusters. These files will have two or more tables in the same data block and the key attributes which are used to map these table together are stored only once. </a:t>
            </a:r>
          </a:p>
          <a:p>
            <a:pPr fontAlgn="base"/>
            <a:r>
              <a:rPr lang="en-US" sz="1200" b="0" i="0" kern="1200" dirty="0" smtClean="0">
                <a:solidFill>
                  <a:schemeClr val="tx1"/>
                </a:solidFill>
                <a:effectLst/>
                <a:latin typeface="+mn-lt"/>
                <a:ea typeface="+mn-ea"/>
                <a:cs typeface="+mn-cs"/>
              </a:rPr>
              <a:t>Thus it </a:t>
            </a:r>
            <a:r>
              <a:rPr lang="en-US" sz="1200" b="1" i="0" kern="1200" dirty="0" smtClean="0">
                <a:solidFill>
                  <a:schemeClr val="tx1"/>
                </a:solidFill>
                <a:effectLst/>
                <a:latin typeface="+mn-lt"/>
                <a:ea typeface="+mn-ea"/>
                <a:cs typeface="+mn-cs"/>
              </a:rPr>
              <a:t>lowers the cost of searching and retrieving various records </a:t>
            </a:r>
            <a:r>
              <a:rPr lang="en-US" sz="1200" b="0" i="0" kern="1200" dirty="0" smtClean="0">
                <a:solidFill>
                  <a:schemeClr val="tx1"/>
                </a:solidFill>
                <a:effectLst/>
                <a:latin typeface="+mn-lt"/>
                <a:ea typeface="+mn-ea"/>
                <a:cs typeface="+mn-cs"/>
              </a:rPr>
              <a:t>in different files as they are now combined and kept in a single cluster. </a:t>
            </a:r>
          </a:p>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23</a:t>
            </a:fld>
            <a:endParaRPr lang="en-US"/>
          </a:p>
        </p:txBody>
      </p:sp>
    </p:spTree>
    <p:extLst>
      <p:ext uri="{BB962C8B-B14F-4D97-AF65-F5344CB8AC3E}">
        <p14:creationId xmlns:p14="http://schemas.microsoft.com/office/powerpoint/2010/main" val="244117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Pros of ISAM:</a:t>
            </a:r>
          </a:p>
          <a:p>
            <a:r>
              <a:rPr lang="en-US" sz="1200" b="0" i="0" kern="1200" dirty="0" smtClean="0">
                <a:solidFill>
                  <a:schemeClr val="tx1"/>
                </a:solidFill>
                <a:effectLst/>
                <a:latin typeface="+mn-lt"/>
                <a:ea typeface="+mn-ea"/>
                <a:cs typeface="+mn-cs"/>
              </a:rPr>
              <a:t>In this method, each record has the address of its data block, searching a record in a huge database is quick and easy.</a:t>
            </a:r>
          </a:p>
          <a:p>
            <a:r>
              <a:rPr lang="en-US" sz="1200" b="0" i="0" kern="1200" dirty="0" smtClean="0">
                <a:solidFill>
                  <a:schemeClr val="tx1"/>
                </a:solidFill>
                <a:effectLst/>
                <a:latin typeface="+mn-lt"/>
                <a:ea typeface="+mn-ea"/>
                <a:cs typeface="+mn-cs"/>
              </a:rPr>
              <a:t>This method supports range retrieval and partial retrieval of records. Since the index is based on the primary key values, we can retrieve the data for the given range of value. In the same way, the partial value can also be easily searched, i.e., the student name starting with 'JA' can be easily searched.</a:t>
            </a:r>
          </a:p>
          <a:p>
            <a:r>
              <a:rPr lang="en-US" sz="1200" b="0" i="0" kern="1200" dirty="0" smtClean="0">
                <a:solidFill>
                  <a:schemeClr val="tx1"/>
                </a:solidFill>
                <a:effectLst/>
                <a:latin typeface="+mn-lt"/>
                <a:ea typeface="+mn-ea"/>
                <a:cs typeface="+mn-cs"/>
              </a:rPr>
              <a:t>Cons of ISAM</a:t>
            </a:r>
          </a:p>
          <a:p>
            <a:r>
              <a:rPr lang="en-US" sz="1200" b="0" i="0" kern="1200" dirty="0" smtClean="0">
                <a:solidFill>
                  <a:schemeClr val="tx1"/>
                </a:solidFill>
                <a:effectLst/>
                <a:latin typeface="+mn-lt"/>
                <a:ea typeface="+mn-ea"/>
                <a:cs typeface="+mn-cs"/>
              </a:rPr>
              <a:t>This method requires extra space in the disk to store the index value.</a:t>
            </a:r>
          </a:p>
          <a:p>
            <a:r>
              <a:rPr lang="en-US" sz="1200" b="0" i="0" kern="1200" dirty="0" smtClean="0">
                <a:solidFill>
                  <a:schemeClr val="tx1"/>
                </a:solidFill>
                <a:effectLst/>
                <a:latin typeface="+mn-lt"/>
                <a:ea typeface="+mn-ea"/>
                <a:cs typeface="+mn-cs"/>
              </a:rPr>
              <a:t>When the new records are inserted, then these files have to be reconstructed to maintain the sequence.</a:t>
            </a:r>
          </a:p>
          <a:p>
            <a:r>
              <a:rPr lang="en-US" sz="1200" b="0" i="0" kern="1200" dirty="0" smtClean="0">
                <a:solidFill>
                  <a:schemeClr val="tx1"/>
                </a:solidFill>
                <a:effectLst/>
                <a:latin typeface="+mn-lt"/>
                <a:ea typeface="+mn-ea"/>
                <a:cs typeface="+mn-cs"/>
              </a:rPr>
              <a:t>When the record is deleted, then the space used by it needs to be released. Otherwise, the performance of the database will slow down.</a:t>
            </a:r>
          </a:p>
          <a:p>
            <a:endParaRPr lang="en-US" dirty="0"/>
          </a:p>
        </p:txBody>
      </p:sp>
      <p:sp>
        <p:nvSpPr>
          <p:cNvPr id="4" name="Slide Number Placeholder 3"/>
          <p:cNvSpPr>
            <a:spLocks noGrp="1"/>
          </p:cNvSpPr>
          <p:nvPr>
            <p:ph type="sldNum" sz="quarter" idx="10"/>
          </p:nvPr>
        </p:nvSpPr>
        <p:spPr/>
        <p:txBody>
          <a:bodyPr/>
          <a:lstStyle/>
          <a:p>
            <a:fld id="{D2477C44-5FD3-42A8-AE45-45F7B7A2135A}" type="slidenum">
              <a:rPr lang="en-US" smtClean="0"/>
              <a:t>26</a:t>
            </a:fld>
            <a:endParaRPr lang="en-US"/>
          </a:p>
        </p:txBody>
      </p:sp>
    </p:spTree>
    <p:extLst>
      <p:ext uri="{BB962C8B-B14F-4D97-AF65-F5344CB8AC3E}">
        <p14:creationId xmlns:p14="http://schemas.microsoft.com/office/powerpoint/2010/main" val="1227010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1FCEAF-4B62-618F-5D54-CA9756C2DC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16BF786D-B7FB-3D47-1DB2-749959023A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FA9EB765-CC5D-77BE-067A-F78172C9D0BA}"/>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5" name="Footer Placeholder 4">
            <a:extLst>
              <a:ext uri="{FF2B5EF4-FFF2-40B4-BE49-F238E27FC236}">
                <a16:creationId xmlns:a16="http://schemas.microsoft.com/office/drawing/2014/main" xmlns="" id="{39028AE1-BD4A-3B77-E43E-6DB31D60E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DDE6336-81C5-2F4E-608F-6D74C9473653}"/>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184589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11CD9D-D230-EDE9-CB5D-B76BEC3940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DD01A1B-C573-8E60-BCF8-031D847321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F469E62-2F64-6654-887B-1F2783E3130B}"/>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5" name="Footer Placeholder 4">
            <a:extLst>
              <a:ext uri="{FF2B5EF4-FFF2-40B4-BE49-F238E27FC236}">
                <a16:creationId xmlns:a16="http://schemas.microsoft.com/office/drawing/2014/main" xmlns="" id="{6EEE50EA-45AF-3F2E-E222-A21D4EC72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63C4FEE-EAF0-98C8-8512-551224330A5A}"/>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3059348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4CC301-E896-3B88-84F0-1B8562142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03207F6-10E2-5C0E-FAC7-943AF6A929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43FBB26-A047-997C-CF2A-88B5261125E5}"/>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5" name="Footer Placeholder 4">
            <a:extLst>
              <a:ext uri="{FF2B5EF4-FFF2-40B4-BE49-F238E27FC236}">
                <a16:creationId xmlns:a16="http://schemas.microsoft.com/office/drawing/2014/main" xmlns="" id="{8F8420EB-937F-8325-04D5-3678B1834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BA81F68-2FAA-7B24-15AD-8A91F2E45CFE}"/>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3887480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BE7CA9-5DE7-88A0-2538-F78F16B433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FE40414-D480-E88B-7104-B10D99A339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9C833C67-82BD-1663-92B9-1CB3FBA477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AF4DBB21-D5B5-BCF8-09B0-5A1206560FB4}"/>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6" name="Footer Placeholder 5">
            <a:extLst>
              <a:ext uri="{FF2B5EF4-FFF2-40B4-BE49-F238E27FC236}">
                <a16:creationId xmlns:a16="http://schemas.microsoft.com/office/drawing/2014/main" xmlns="" id="{2C63F456-3E18-101C-E0DD-CBDD2F6872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1F2E4D0-1912-40CF-22AC-FD7FE871C47A}"/>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3916345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5E303B-83CE-7155-82DE-48D07DEE0A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417F9305-77CA-F81F-B487-059F8B6300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6650491-56F8-0CF0-6996-7B40C4C85A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433841D0-F274-15DB-90A2-9FE15DD707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9572FB4-CB4E-19A8-2264-BCE4CCD7CB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7B5B209-EB35-DF52-9F02-02517C40C44F}"/>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8" name="Footer Placeholder 7">
            <a:extLst>
              <a:ext uri="{FF2B5EF4-FFF2-40B4-BE49-F238E27FC236}">
                <a16:creationId xmlns:a16="http://schemas.microsoft.com/office/drawing/2014/main" xmlns="" id="{2B92BBF5-6A00-B57C-4391-FF38FC4D9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23C01B09-B1C1-2876-7CED-D0351AED199B}"/>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1906995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DCAFDB-925A-F924-480C-CC93D431F5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B1CE281D-E2E2-B8E4-4B60-DE556BCC2FC0}"/>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4" name="Footer Placeholder 3">
            <a:extLst>
              <a:ext uri="{FF2B5EF4-FFF2-40B4-BE49-F238E27FC236}">
                <a16:creationId xmlns:a16="http://schemas.microsoft.com/office/drawing/2014/main" xmlns="" id="{0D62B875-B257-7AFD-C6DB-CA9FF6EBF2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6F35EB78-2A21-292B-1609-16B92A01AB8A}"/>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182843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5301245-FFE7-D349-F124-C5DB7CF81AF3}"/>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3" name="Footer Placeholder 2">
            <a:extLst>
              <a:ext uri="{FF2B5EF4-FFF2-40B4-BE49-F238E27FC236}">
                <a16:creationId xmlns:a16="http://schemas.microsoft.com/office/drawing/2014/main" xmlns="" id="{CB574060-F62F-F0D1-65FC-A075F09E60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DC3BE967-2C2E-17FB-8903-F5DCA6474D75}"/>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2176246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EBA16A-0396-EDE3-D131-FA5A83D04A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7F11C3E8-EC1C-8BB4-A204-742F5FE29E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0A4DDE9-A3D0-B823-0E99-44E14B3D37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C584894-6B67-A4EC-3F73-1DC0D530BDE6}"/>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6" name="Footer Placeholder 5">
            <a:extLst>
              <a:ext uri="{FF2B5EF4-FFF2-40B4-BE49-F238E27FC236}">
                <a16:creationId xmlns:a16="http://schemas.microsoft.com/office/drawing/2014/main" xmlns="" id="{F5719814-8288-E758-5EC5-BF9D991019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43AC73D-913A-32B3-CEA4-F78794F2A5BD}"/>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1338488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2BCEB3-AD08-F7FA-9717-A70F358554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7524214A-869C-3F20-FDB9-C00AA687D7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4501A13-A0BF-C068-3419-A308D02FE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71E4515-2505-2C0C-2E17-7F4AAED0BF69}"/>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6" name="Footer Placeholder 5">
            <a:extLst>
              <a:ext uri="{FF2B5EF4-FFF2-40B4-BE49-F238E27FC236}">
                <a16:creationId xmlns:a16="http://schemas.microsoft.com/office/drawing/2014/main" xmlns="" id="{8F9696D7-E43C-EFA2-B76A-ED616E3F6C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945E067-7209-CB63-049C-A70634441324}"/>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4030317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93F89E-CD37-6131-324F-97CED23436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0385E39E-9AFE-1D55-52E1-446AF4F9B9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6D25C01-A38E-2A74-723A-C8BEC1D92E45}"/>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5" name="Footer Placeholder 4">
            <a:extLst>
              <a:ext uri="{FF2B5EF4-FFF2-40B4-BE49-F238E27FC236}">
                <a16:creationId xmlns:a16="http://schemas.microsoft.com/office/drawing/2014/main" xmlns="" id="{1C2828FE-34F0-D085-0AF1-38CB56790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70B500C-EBD7-1934-2266-A395F0F47C89}"/>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222407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DCFAC68-617E-8729-6258-0ADE2CF0F5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8D1E3158-5292-4E12-9708-53CC5133C7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CE34FAA-B105-840B-30D5-F48B2A492B6E}"/>
              </a:ext>
            </a:extLst>
          </p:cNvPr>
          <p:cNvSpPr>
            <a:spLocks noGrp="1"/>
          </p:cNvSpPr>
          <p:nvPr>
            <p:ph type="dt" sz="half" idx="10"/>
          </p:nvPr>
        </p:nvSpPr>
        <p:spPr/>
        <p:txBody>
          <a:bodyPr/>
          <a:lstStyle/>
          <a:p>
            <a:fld id="{F41D51C9-B5B1-44B1-821B-99D0A6EA5510}" type="datetimeFigureOut">
              <a:rPr lang="en-US" smtClean="0"/>
              <a:t>15/09/2023</a:t>
            </a:fld>
            <a:endParaRPr lang="en-US"/>
          </a:p>
        </p:txBody>
      </p:sp>
      <p:sp>
        <p:nvSpPr>
          <p:cNvPr id="5" name="Footer Placeholder 4">
            <a:extLst>
              <a:ext uri="{FF2B5EF4-FFF2-40B4-BE49-F238E27FC236}">
                <a16:creationId xmlns:a16="http://schemas.microsoft.com/office/drawing/2014/main" xmlns="" id="{B25A9264-FE73-E390-7F47-11E6D4E50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0864EC2-A583-37C6-78CF-8CD8CDD2BCB7}"/>
              </a:ext>
            </a:extLst>
          </p:cNvPr>
          <p:cNvSpPr>
            <a:spLocks noGrp="1"/>
          </p:cNvSpPr>
          <p:nvPr>
            <p:ph type="sldNum" sz="quarter" idx="12"/>
          </p:nvPr>
        </p:nvSpPr>
        <p:spPr/>
        <p:txBody>
          <a:bodyPr/>
          <a:lstStyle/>
          <a:p>
            <a:fld id="{7BA07307-F409-4581-8864-1D35D8FE051C}" type="slidenum">
              <a:rPr lang="en-US" smtClean="0"/>
              <a:t>‹#›</a:t>
            </a:fld>
            <a:endParaRPr lang="en-US"/>
          </a:p>
        </p:txBody>
      </p:sp>
    </p:spTree>
    <p:extLst>
      <p:ext uri="{BB962C8B-B14F-4D97-AF65-F5344CB8AC3E}">
        <p14:creationId xmlns:p14="http://schemas.microsoft.com/office/powerpoint/2010/main" val="2091077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1F80E48-E5FE-3B90-5C87-4CE293E01E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331D5E0-7D2F-C88B-BC59-2F2B0ED7A7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27B6127-3FC4-B02C-CA63-8855AC1BC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1D51C9-B5B1-44B1-821B-99D0A6EA5510}" type="datetimeFigureOut">
              <a:rPr lang="en-US" smtClean="0"/>
              <a:t>15/09/2023</a:t>
            </a:fld>
            <a:endParaRPr lang="en-US"/>
          </a:p>
        </p:txBody>
      </p:sp>
      <p:sp>
        <p:nvSpPr>
          <p:cNvPr id="5" name="Footer Placeholder 4">
            <a:extLst>
              <a:ext uri="{FF2B5EF4-FFF2-40B4-BE49-F238E27FC236}">
                <a16:creationId xmlns:a16="http://schemas.microsoft.com/office/drawing/2014/main" xmlns="" id="{7943EB70-BBC5-4709-1F85-39DF8169BC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3B07A0B-4EBA-4D35-AE2F-CA46D836B1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A07307-F409-4581-8864-1D35D8FE051C}" type="slidenum">
              <a:rPr lang="en-US" smtClean="0"/>
              <a:t>‹#›</a:t>
            </a:fld>
            <a:endParaRPr lang="en-US"/>
          </a:p>
        </p:txBody>
      </p:sp>
    </p:spTree>
    <p:extLst>
      <p:ext uri="{BB962C8B-B14F-4D97-AF65-F5344CB8AC3E}">
        <p14:creationId xmlns:p14="http://schemas.microsoft.com/office/powerpoint/2010/main" val="1934218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694263-533E-BCE4-1091-9A234478A866}"/>
              </a:ext>
            </a:extLst>
          </p:cNvPr>
          <p:cNvSpPr>
            <a:spLocks noGrp="1"/>
          </p:cNvSpPr>
          <p:nvPr>
            <p:ph type="ctrTitle"/>
          </p:nvPr>
        </p:nvSpPr>
        <p:spPr>
          <a:xfrm>
            <a:off x="678873" y="1122363"/>
            <a:ext cx="9989127" cy="2387600"/>
          </a:xfrm>
        </p:spPr>
        <p:txBody>
          <a:bodyPr>
            <a:normAutofit/>
          </a:bodyPr>
          <a:lstStyle/>
          <a:p>
            <a:r>
              <a:rPr lang="en-US" sz="4800" b="1" i="0" u="none" strike="noStrike" baseline="0" dirty="0"/>
              <a:t>Unit 4 Chapter 1 Storage and Querying</a:t>
            </a:r>
            <a:endParaRPr lang="en-US" sz="4800" dirty="0"/>
          </a:p>
        </p:txBody>
      </p:sp>
    </p:spTree>
    <p:extLst>
      <p:ext uri="{BB962C8B-B14F-4D97-AF65-F5344CB8AC3E}">
        <p14:creationId xmlns:p14="http://schemas.microsoft.com/office/powerpoint/2010/main" val="1187325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CF37F1-ED21-67AD-D373-37796728C2EF}"/>
              </a:ext>
            </a:extLst>
          </p:cNvPr>
          <p:cNvSpPr>
            <a:spLocks noGrp="1"/>
          </p:cNvSpPr>
          <p:nvPr>
            <p:ph type="title"/>
          </p:nvPr>
        </p:nvSpPr>
        <p:spPr/>
        <p:txBody>
          <a:bodyPr/>
          <a:lstStyle/>
          <a:p>
            <a:r>
              <a:rPr lang="en-US" b="1" dirty="0"/>
              <a:t>Syllabus Topics</a:t>
            </a:r>
          </a:p>
        </p:txBody>
      </p:sp>
      <p:sp>
        <p:nvSpPr>
          <p:cNvPr id="3" name="Content Placeholder 2">
            <a:extLst>
              <a:ext uri="{FF2B5EF4-FFF2-40B4-BE49-F238E27FC236}">
                <a16:creationId xmlns:a16="http://schemas.microsoft.com/office/drawing/2014/main" xmlns="" id="{4A8A05F1-99E5-FAB9-ADEF-E8F99CEF8E8F}"/>
              </a:ext>
            </a:extLst>
          </p:cNvPr>
          <p:cNvSpPr>
            <a:spLocks noGrp="1"/>
          </p:cNvSpPr>
          <p:nvPr>
            <p:ph idx="1"/>
          </p:nvPr>
        </p:nvSpPr>
        <p:spPr/>
        <p:txBody>
          <a:bodyPr>
            <a:normAutofit/>
          </a:bodyPr>
          <a:lstStyle/>
          <a:p>
            <a:pPr algn="l"/>
            <a:r>
              <a:rPr lang="en-US" sz="3200" b="1" i="0" u="none" strike="noStrike" baseline="0" dirty="0"/>
              <a:t>Storage and Querying</a:t>
            </a:r>
            <a:r>
              <a:rPr lang="en-US" sz="3200" b="0" i="0" u="none" strike="noStrike" baseline="0" dirty="0"/>
              <a:t>: </a:t>
            </a:r>
          </a:p>
          <a:p>
            <a:pPr algn="l"/>
            <a:r>
              <a:rPr lang="en-US" sz="3200" b="0" i="0" u="none" strike="noStrike" baseline="0" dirty="0"/>
              <a:t>Storage and File structures</a:t>
            </a:r>
          </a:p>
          <a:p>
            <a:pPr algn="l"/>
            <a:r>
              <a:rPr lang="en-US" sz="3200" b="0" i="0" u="none" strike="noStrike" baseline="0" dirty="0"/>
              <a:t> Indexed Files </a:t>
            </a:r>
          </a:p>
          <a:p>
            <a:pPr algn="l"/>
            <a:r>
              <a:rPr lang="en-US" sz="3200" b="0" i="0" u="none" strike="noStrike" baseline="0" dirty="0"/>
              <a:t>Single Level and Multi Level Indexes</a:t>
            </a:r>
          </a:p>
          <a:p>
            <a:pPr algn="l"/>
            <a:r>
              <a:rPr lang="en-US" sz="3200" b="0" i="0" u="none" strike="noStrike" baseline="0" dirty="0"/>
              <a:t> Query Processing</a:t>
            </a:r>
          </a:p>
          <a:p>
            <a:pPr algn="l"/>
            <a:r>
              <a:rPr lang="en-US" sz="3200" b="0" i="0" u="none" strike="noStrike" baseline="0" dirty="0"/>
              <a:t>Query Optimization</a:t>
            </a:r>
            <a:endParaRPr lang="en-US" sz="3200" dirty="0"/>
          </a:p>
        </p:txBody>
      </p:sp>
    </p:spTree>
    <p:extLst>
      <p:ext uri="{BB962C8B-B14F-4D97-AF65-F5344CB8AC3E}">
        <p14:creationId xmlns:p14="http://schemas.microsoft.com/office/powerpoint/2010/main" val="665345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84D445-1064-32E1-15A2-604F03306128}"/>
              </a:ext>
            </a:extLst>
          </p:cNvPr>
          <p:cNvSpPr>
            <a:spLocks noGrp="1"/>
          </p:cNvSpPr>
          <p:nvPr>
            <p:ph type="title"/>
          </p:nvPr>
        </p:nvSpPr>
        <p:spPr>
          <a:xfrm>
            <a:off x="851079" y="0"/>
            <a:ext cx="10515600" cy="1325563"/>
          </a:xfrm>
        </p:spPr>
        <p:txBody>
          <a:bodyPr/>
          <a:lstStyle/>
          <a:p>
            <a:r>
              <a:rPr lang="en-US" sz="4000" b="1" i="0" dirty="0" smtClean="0">
                <a:effectLst/>
                <a:latin typeface="+mn-lt"/>
              </a:rPr>
              <a:t> Overview of physical Storage System</a:t>
            </a:r>
            <a:endParaRPr lang="en-US" dirty="0"/>
          </a:p>
        </p:txBody>
      </p:sp>
      <p:sp>
        <p:nvSpPr>
          <p:cNvPr id="3" name="Content Placeholder 2">
            <a:extLst>
              <a:ext uri="{FF2B5EF4-FFF2-40B4-BE49-F238E27FC236}">
                <a16:creationId xmlns:a16="http://schemas.microsoft.com/office/drawing/2014/main" xmlns="" id="{7E4DB1D5-132C-9A3B-60D0-06EB687F377A}"/>
              </a:ext>
            </a:extLst>
          </p:cNvPr>
          <p:cNvSpPr>
            <a:spLocks noGrp="1"/>
          </p:cNvSpPr>
          <p:nvPr>
            <p:ph idx="1"/>
          </p:nvPr>
        </p:nvSpPr>
        <p:spPr>
          <a:xfrm>
            <a:off x="290945" y="1122218"/>
            <a:ext cx="7904885" cy="5583382"/>
          </a:xfrm>
        </p:spPr>
        <p:txBody>
          <a:bodyPr>
            <a:normAutofit fontScale="85000" lnSpcReduction="20000"/>
          </a:bodyPr>
          <a:lstStyle/>
          <a:p>
            <a:pPr algn="just"/>
            <a:r>
              <a:rPr lang="en-US" b="0" i="0" dirty="0">
                <a:effectLst/>
              </a:rPr>
              <a:t>A database system provides an ultimate view of the stored data.</a:t>
            </a:r>
          </a:p>
          <a:p>
            <a:pPr algn="just"/>
            <a:r>
              <a:rPr lang="en-US" b="0" i="0" dirty="0">
                <a:effectLst/>
              </a:rPr>
              <a:t> However, data in the form of bits, bytes get stored in different storage devices.</a:t>
            </a:r>
          </a:p>
          <a:p>
            <a:pPr algn="just"/>
            <a:r>
              <a:rPr lang="en-US" b="1" i="0" dirty="0">
                <a:effectLst/>
              </a:rPr>
              <a:t>Types of Data Storage</a:t>
            </a:r>
          </a:p>
          <a:p>
            <a:pPr algn="just">
              <a:buFont typeface="Arial" panose="020B0604020202020204" pitchFamily="34" charset="0"/>
              <a:buChar char="•"/>
            </a:pPr>
            <a:r>
              <a:rPr lang="en-US" b="1" i="0" dirty="0">
                <a:solidFill>
                  <a:srgbClr val="0000CC"/>
                </a:solidFill>
                <a:effectLst/>
              </a:rPr>
              <a:t>Primary Storage: </a:t>
            </a:r>
            <a:r>
              <a:rPr lang="en-US" i="0" dirty="0">
                <a:effectLst/>
              </a:rPr>
              <a:t>The</a:t>
            </a:r>
            <a:r>
              <a:rPr lang="en-US" b="0" i="0" dirty="0">
                <a:effectLst/>
              </a:rPr>
              <a:t> memory storage that is directly accessible to the CPU comes under this category. </a:t>
            </a:r>
          </a:p>
          <a:p>
            <a:pPr algn="just">
              <a:buFont typeface="Arial" panose="020B0604020202020204" pitchFamily="34" charset="0"/>
              <a:buChar char="•"/>
            </a:pPr>
            <a:r>
              <a:rPr lang="en-US" b="0" i="0" dirty="0">
                <a:effectLst/>
              </a:rPr>
              <a:t>CPU's internal memory (registers), fast memory (cache), and main memory (RAM) </a:t>
            </a:r>
          </a:p>
          <a:p>
            <a:pPr algn="just"/>
            <a:r>
              <a:rPr lang="en-US" b="1" i="0" dirty="0">
                <a:solidFill>
                  <a:srgbClr val="0000CC"/>
                </a:solidFill>
                <a:effectLst/>
              </a:rPr>
              <a:t>Secondary Storage: </a:t>
            </a:r>
            <a:r>
              <a:rPr lang="en-US" b="0" i="0" dirty="0">
                <a:effectLst/>
              </a:rPr>
              <a:t>Secondary storage includes memory devices that are not a part of the CPU chipset or motherboard. Magnetic disks, hard disks, flash drives.</a:t>
            </a:r>
          </a:p>
          <a:p>
            <a:pPr algn="just"/>
            <a:r>
              <a:rPr lang="en-US" b="1" i="0" dirty="0">
                <a:solidFill>
                  <a:srgbClr val="0000CC"/>
                </a:solidFill>
                <a:effectLst/>
              </a:rPr>
              <a:t>Tertiary Storage:</a:t>
            </a:r>
            <a:r>
              <a:rPr lang="en-US" b="1" i="0" dirty="0">
                <a:effectLst/>
              </a:rPr>
              <a:t> </a:t>
            </a:r>
            <a:r>
              <a:rPr lang="en-US" b="0" i="0" dirty="0">
                <a:effectLst/>
              </a:rPr>
              <a:t>Tertiary storage is used to store huge volumes of data.</a:t>
            </a:r>
          </a:p>
          <a:p>
            <a:pPr algn="just"/>
            <a:r>
              <a:rPr lang="en-US" b="0" i="0" dirty="0">
                <a:effectLst/>
              </a:rPr>
              <a:t>Since such storage devices are external to the computer system, they are the slowest in speed.</a:t>
            </a:r>
            <a:r>
              <a:rPr lang="en-US" b="1" i="0" dirty="0">
                <a:effectLst/>
              </a:rPr>
              <a:t> </a:t>
            </a:r>
            <a:r>
              <a:rPr lang="en-US" dirty="0"/>
              <a:t>O</a:t>
            </a:r>
            <a:r>
              <a:rPr lang="en-US" b="0" i="0" dirty="0">
                <a:effectLst/>
              </a:rPr>
              <a:t>ptical disks (DVD, CD, etc.), magnetic tapes.</a:t>
            </a:r>
          </a:p>
          <a:p>
            <a:pPr algn="just"/>
            <a:endParaRPr lang="en-US" b="0" i="0" dirty="0">
              <a:solidFill>
                <a:srgbClr val="000000"/>
              </a:solidFill>
              <a:effectLst/>
            </a:endParaRPr>
          </a:p>
        </p:txBody>
      </p:sp>
      <p:pic>
        <p:nvPicPr>
          <p:cNvPr id="1028" name="Picture 4" descr="Memory Types">
            <a:extLst>
              <a:ext uri="{FF2B5EF4-FFF2-40B4-BE49-F238E27FC236}">
                <a16:creationId xmlns:a16="http://schemas.microsoft.com/office/drawing/2014/main" xmlns="" id="{373F790B-097B-3582-0E56-F0837D743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0520" y="1551709"/>
            <a:ext cx="3705225"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283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4DB1D5-132C-9A3B-60D0-06EB687F377A}"/>
              </a:ext>
            </a:extLst>
          </p:cNvPr>
          <p:cNvSpPr>
            <a:spLocks noGrp="1"/>
          </p:cNvSpPr>
          <p:nvPr>
            <p:ph idx="1"/>
          </p:nvPr>
        </p:nvSpPr>
        <p:spPr>
          <a:xfrm>
            <a:off x="296213" y="931962"/>
            <a:ext cx="7574143" cy="5926038"/>
          </a:xfrm>
        </p:spPr>
        <p:txBody>
          <a:bodyPr>
            <a:normAutofit/>
          </a:bodyPr>
          <a:lstStyle/>
          <a:p>
            <a:pPr lvl="0"/>
            <a:r>
              <a:rPr lang="en-US" dirty="0"/>
              <a:t>The </a:t>
            </a:r>
            <a:r>
              <a:rPr lang="en-US" b="1" dirty="0">
                <a:solidFill>
                  <a:srgbClr val="0000CC"/>
                </a:solidFill>
              </a:rPr>
              <a:t>cache</a:t>
            </a:r>
            <a:r>
              <a:rPr lang="en-US" dirty="0"/>
              <a:t> is the fastest and most costly form of storage. Cache memory is small; its use is managed by the computer system hardware.</a:t>
            </a:r>
          </a:p>
          <a:p>
            <a:r>
              <a:rPr lang="en-US" b="1" dirty="0">
                <a:solidFill>
                  <a:srgbClr val="0000CC"/>
                </a:solidFill>
              </a:rPr>
              <a:t>Main memory</a:t>
            </a:r>
            <a:r>
              <a:rPr lang="en-US" b="1" dirty="0"/>
              <a:t>. </a:t>
            </a:r>
            <a:r>
              <a:rPr lang="en-US" dirty="0"/>
              <a:t>The storage medium used for data that are available to be operated on is main memory. The general-purpose machine instructions operate on main memory. Although main memory may contain many megabytes of data, or even gigabytes of data in large server systems, it is generally too small (or too expensive) for storing the entire database. </a:t>
            </a:r>
            <a:endParaRPr lang="en-US" b="0" i="0" dirty="0">
              <a:solidFill>
                <a:srgbClr val="000000"/>
              </a:solidFill>
              <a:effectLst/>
            </a:endParaRPr>
          </a:p>
        </p:txBody>
      </p:sp>
      <p:pic>
        <p:nvPicPr>
          <p:cNvPr id="4" name="Picture 2" descr="Storage System in DBMS">
            <a:extLst>
              <a:ext uri="{FF2B5EF4-FFF2-40B4-BE49-F238E27FC236}">
                <a16:creationId xmlns:a16="http://schemas.microsoft.com/office/drawing/2014/main" xmlns="" id="{FA346FC0-557D-B8B5-1C21-D8C83744C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830" y="365125"/>
            <a:ext cx="3705225" cy="574473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xmlns="" id="{1884D445-1064-32E1-15A2-604F03306128}"/>
              </a:ext>
            </a:extLst>
          </p:cNvPr>
          <p:cNvSpPr>
            <a:spLocks noGrp="1"/>
          </p:cNvSpPr>
          <p:nvPr>
            <p:ph type="title"/>
          </p:nvPr>
        </p:nvSpPr>
        <p:spPr>
          <a:xfrm>
            <a:off x="838200" y="-297657"/>
            <a:ext cx="10515600" cy="1325563"/>
          </a:xfrm>
        </p:spPr>
        <p:txBody>
          <a:bodyPr/>
          <a:lstStyle/>
          <a:p>
            <a:r>
              <a:rPr lang="en-US" sz="4000" b="1" i="0" dirty="0" smtClean="0">
                <a:effectLst/>
                <a:latin typeface="+mn-lt"/>
              </a:rPr>
              <a:t> Overview of physical Storage System</a:t>
            </a:r>
            <a:endParaRPr lang="en-US" dirty="0"/>
          </a:p>
        </p:txBody>
      </p:sp>
    </p:spTree>
    <p:extLst>
      <p:ext uri="{BB962C8B-B14F-4D97-AF65-F5344CB8AC3E}">
        <p14:creationId xmlns:p14="http://schemas.microsoft.com/office/powerpoint/2010/main" val="3347551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4DB1D5-132C-9A3B-60D0-06EB687F377A}"/>
              </a:ext>
            </a:extLst>
          </p:cNvPr>
          <p:cNvSpPr>
            <a:spLocks noGrp="1"/>
          </p:cNvSpPr>
          <p:nvPr>
            <p:ph idx="1"/>
          </p:nvPr>
        </p:nvSpPr>
        <p:spPr>
          <a:xfrm>
            <a:off x="296213" y="931962"/>
            <a:ext cx="7574143" cy="5926038"/>
          </a:xfrm>
        </p:spPr>
        <p:txBody>
          <a:bodyPr>
            <a:normAutofit fontScale="85000" lnSpcReduction="20000"/>
          </a:bodyPr>
          <a:lstStyle/>
          <a:p>
            <a:pPr algn="just"/>
            <a:r>
              <a:rPr lang="en-US" i="1" dirty="0" smtClean="0"/>
              <a:t> </a:t>
            </a:r>
            <a:r>
              <a:rPr lang="en-US" b="1" dirty="0">
                <a:solidFill>
                  <a:srgbClr val="0000CC"/>
                </a:solidFill>
              </a:rPr>
              <a:t>Flash memory</a:t>
            </a:r>
            <a:r>
              <a:rPr lang="en-US" dirty="0">
                <a:solidFill>
                  <a:srgbClr val="0000CC"/>
                </a:solidFill>
              </a:rPr>
              <a:t>. </a:t>
            </a:r>
            <a:r>
              <a:rPr lang="en-US" dirty="0"/>
              <a:t>Also known as </a:t>
            </a:r>
            <a:r>
              <a:rPr lang="en-US" i="1" dirty="0"/>
              <a:t>electrically erasable programmable read-only </a:t>
            </a:r>
            <a:r>
              <a:rPr lang="en-US" i="1" dirty="0" smtClean="0"/>
              <a:t>memory </a:t>
            </a:r>
            <a:r>
              <a:rPr lang="en-US" dirty="0" smtClean="0"/>
              <a:t>(</a:t>
            </a:r>
            <a:r>
              <a:rPr lang="en-US" i="1" dirty="0" smtClean="0"/>
              <a:t>EEPROM</a:t>
            </a:r>
            <a:r>
              <a:rPr lang="en-US" dirty="0"/>
              <a:t>), flash memory differs from main memory in that data </a:t>
            </a:r>
            <a:r>
              <a:rPr lang="en-US" dirty="0" smtClean="0"/>
              <a:t>survive power </a:t>
            </a:r>
            <a:r>
              <a:rPr lang="en-US" dirty="0"/>
              <a:t>failure</a:t>
            </a:r>
            <a:r>
              <a:rPr lang="en-US" dirty="0" smtClean="0"/>
              <a:t>.</a:t>
            </a:r>
          </a:p>
          <a:p>
            <a:pPr algn="just"/>
            <a:r>
              <a:rPr lang="en-US" dirty="0" smtClean="0"/>
              <a:t> </a:t>
            </a:r>
            <a:r>
              <a:rPr lang="en-US" dirty="0"/>
              <a:t>Reading data from flash memory takes less than 100 </a:t>
            </a:r>
            <a:r>
              <a:rPr lang="en-US" dirty="0" smtClean="0"/>
              <a:t>nanoseconds (a </a:t>
            </a:r>
            <a:r>
              <a:rPr lang="en-US" dirty="0"/>
              <a:t>nanosecond is 1</a:t>
            </a:r>
            <a:r>
              <a:rPr lang="en-US" i="1" dirty="0"/>
              <a:t>/</a:t>
            </a:r>
            <a:r>
              <a:rPr lang="en-US" dirty="0"/>
              <a:t>1000 of a microsecond), which is roughly as fast </a:t>
            </a:r>
            <a:r>
              <a:rPr lang="en-US" dirty="0" smtClean="0"/>
              <a:t>as reading </a:t>
            </a:r>
            <a:r>
              <a:rPr lang="en-US" dirty="0"/>
              <a:t>data from main memory. </a:t>
            </a:r>
            <a:endParaRPr lang="en-US" dirty="0" smtClean="0"/>
          </a:p>
          <a:p>
            <a:pPr algn="just"/>
            <a:r>
              <a:rPr lang="en-US" dirty="0" smtClean="0"/>
              <a:t>However</a:t>
            </a:r>
            <a:r>
              <a:rPr lang="en-US" dirty="0"/>
              <a:t>, writing data to flash memory </a:t>
            </a:r>
            <a:r>
              <a:rPr lang="en-US" dirty="0" smtClean="0"/>
              <a:t>is more </a:t>
            </a:r>
            <a:r>
              <a:rPr lang="en-US" dirty="0"/>
              <a:t>complicated—data can be written once, which takes about 4 to 10 </a:t>
            </a:r>
            <a:r>
              <a:rPr lang="en-US" dirty="0" smtClean="0"/>
              <a:t>microseconds, but </a:t>
            </a:r>
            <a:r>
              <a:rPr lang="en-US" dirty="0"/>
              <a:t>cannot be overwritten directly. To overwrite memory that </a:t>
            </a:r>
            <a:r>
              <a:rPr lang="en-US" dirty="0" smtClean="0"/>
              <a:t>has been </a:t>
            </a:r>
            <a:r>
              <a:rPr lang="en-US" dirty="0"/>
              <a:t>written already, we have to erase an entire bank of memory at once; </a:t>
            </a:r>
            <a:r>
              <a:rPr lang="en-US" dirty="0" smtClean="0"/>
              <a:t>it is </a:t>
            </a:r>
            <a:r>
              <a:rPr lang="en-US" dirty="0"/>
              <a:t>then ready to be written again. </a:t>
            </a:r>
            <a:endParaRPr lang="en-US" dirty="0" smtClean="0"/>
          </a:p>
          <a:p>
            <a:pPr algn="just"/>
            <a:r>
              <a:rPr lang="en-US" dirty="0" smtClean="0"/>
              <a:t>A </a:t>
            </a:r>
            <a:r>
              <a:rPr lang="en-US" dirty="0"/>
              <a:t>drawback of flash memory is that it </a:t>
            </a:r>
            <a:r>
              <a:rPr lang="en-US" dirty="0" smtClean="0"/>
              <a:t>can support </a:t>
            </a:r>
            <a:r>
              <a:rPr lang="en-US" dirty="0"/>
              <a:t>only a limited number of erase cycles, ranging from 10,000 to 1 million.</a:t>
            </a:r>
          </a:p>
          <a:p>
            <a:r>
              <a:rPr lang="en-US" dirty="0"/>
              <a:t>Flash memory has found popularity as a replacement for magnetic </a:t>
            </a:r>
            <a:r>
              <a:rPr lang="en-US" dirty="0" smtClean="0"/>
              <a:t>disks for </a:t>
            </a:r>
            <a:r>
              <a:rPr lang="en-US" dirty="0"/>
              <a:t>storing small volumes of data (5 to 10 megabytes) in low-cost </a:t>
            </a:r>
            <a:r>
              <a:rPr lang="en-US" dirty="0" smtClean="0"/>
              <a:t>computer systems</a:t>
            </a:r>
            <a:r>
              <a:rPr lang="en-US" dirty="0"/>
              <a:t>,</a:t>
            </a:r>
            <a:endParaRPr lang="en-US" b="0" i="0" dirty="0">
              <a:solidFill>
                <a:srgbClr val="000000"/>
              </a:solidFill>
              <a:effectLst/>
            </a:endParaRPr>
          </a:p>
        </p:txBody>
      </p:sp>
      <p:pic>
        <p:nvPicPr>
          <p:cNvPr id="4" name="Picture 2" descr="Storage System in DBMS">
            <a:extLst>
              <a:ext uri="{FF2B5EF4-FFF2-40B4-BE49-F238E27FC236}">
                <a16:creationId xmlns:a16="http://schemas.microsoft.com/office/drawing/2014/main" xmlns="" id="{FA346FC0-557D-B8B5-1C21-D8C83744C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830" y="365125"/>
            <a:ext cx="3705225" cy="574473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xmlns="" id="{1884D445-1064-32E1-15A2-604F03306128}"/>
              </a:ext>
            </a:extLst>
          </p:cNvPr>
          <p:cNvSpPr>
            <a:spLocks noGrp="1"/>
          </p:cNvSpPr>
          <p:nvPr>
            <p:ph type="title"/>
          </p:nvPr>
        </p:nvSpPr>
        <p:spPr>
          <a:xfrm>
            <a:off x="838200" y="-297657"/>
            <a:ext cx="10515600" cy="1325563"/>
          </a:xfrm>
        </p:spPr>
        <p:txBody>
          <a:bodyPr/>
          <a:lstStyle/>
          <a:p>
            <a:r>
              <a:rPr lang="en-US" sz="4000" b="1" i="0" dirty="0" smtClean="0">
                <a:effectLst/>
                <a:latin typeface="+mn-lt"/>
              </a:rPr>
              <a:t> Overview of physical Storage System</a:t>
            </a:r>
            <a:endParaRPr lang="en-US" dirty="0"/>
          </a:p>
        </p:txBody>
      </p:sp>
    </p:spTree>
    <p:extLst>
      <p:ext uri="{BB962C8B-B14F-4D97-AF65-F5344CB8AC3E}">
        <p14:creationId xmlns:p14="http://schemas.microsoft.com/office/powerpoint/2010/main" val="1479897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4DB1D5-132C-9A3B-60D0-06EB687F377A}"/>
              </a:ext>
            </a:extLst>
          </p:cNvPr>
          <p:cNvSpPr>
            <a:spLocks noGrp="1"/>
          </p:cNvSpPr>
          <p:nvPr>
            <p:ph idx="1"/>
          </p:nvPr>
        </p:nvSpPr>
        <p:spPr>
          <a:xfrm>
            <a:off x="296213" y="931962"/>
            <a:ext cx="7574143" cy="5926038"/>
          </a:xfrm>
        </p:spPr>
        <p:txBody>
          <a:bodyPr>
            <a:normAutofit/>
          </a:bodyPr>
          <a:lstStyle/>
          <a:p>
            <a:pPr algn="just"/>
            <a:r>
              <a:rPr lang="en-US" sz="2400" b="1" dirty="0">
                <a:solidFill>
                  <a:srgbClr val="0000CC"/>
                </a:solidFill>
              </a:rPr>
              <a:t>Magnetic-disk storage</a:t>
            </a:r>
            <a:r>
              <a:rPr lang="en-US" sz="2400" dirty="0">
                <a:solidFill>
                  <a:srgbClr val="0000CC"/>
                </a:solidFill>
              </a:rPr>
              <a:t>. </a:t>
            </a:r>
            <a:r>
              <a:rPr lang="en-US" sz="2400" dirty="0"/>
              <a:t>The primary medium for the long-term on-line </a:t>
            </a:r>
            <a:r>
              <a:rPr lang="en-US" sz="2400" dirty="0" smtClean="0"/>
              <a:t>storage of </a:t>
            </a:r>
            <a:r>
              <a:rPr lang="en-US" sz="2400" dirty="0"/>
              <a:t>data is the magnetic disk. Usually, the entire database is stored on </a:t>
            </a:r>
            <a:r>
              <a:rPr lang="en-US" sz="2400" dirty="0" smtClean="0"/>
              <a:t>magnetic disk</a:t>
            </a:r>
            <a:r>
              <a:rPr lang="en-US" sz="2400" dirty="0"/>
              <a:t>. The system must move the data from disk to main memory so </a:t>
            </a:r>
            <a:r>
              <a:rPr lang="en-US" sz="2400" dirty="0" smtClean="0"/>
              <a:t>that they </a:t>
            </a:r>
            <a:r>
              <a:rPr lang="en-US" sz="2400" dirty="0"/>
              <a:t>can be accessed. After the system has performed the designated </a:t>
            </a:r>
            <a:r>
              <a:rPr lang="en-US" sz="2400" dirty="0" smtClean="0"/>
              <a:t>operations, the </a:t>
            </a:r>
            <a:r>
              <a:rPr lang="en-US" sz="2400" dirty="0"/>
              <a:t>data that have been modified must be written to disk</a:t>
            </a:r>
            <a:r>
              <a:rPr lang="en-US" sz="2400" dirty="0" smtClean="0"/>
              <a:t>.</a:t>
            </a:r>
          </a:p>
          <a:p>
            <a:pPr algn="just"/>
            <a:r>
              <a:rPr lang="en-US" sz="2400" b="1" dirty="0">
                <a:solidFill>
                  <a:srgbClr val="0000CC"/>
                </a:solidFill>
              </a:rPr>
              <a:t>Optical storage. </a:t>
            </a:r>
            <a:r>
              <a:rPr lang="en-US" sz="2400" dirty="0"/>
              <a:t>The most popular forms of optical storage are the </a:t>
            </a:r>
            <a:r>
              <a:rPr lang="en-US" sz="2400" i="1" dirty="0" smtClean="0"/>
              <a:t>compact disk </a:t>
            </a:r>
            <a:r>
              <a:rPr lang="en-US" sz="2400" dirty="0"/>
              <a:t>(CD), which can hold about 640 megabytes of data, and the </a:t>
            </a:r>
            <a:r>
              <a:rPr lang="en-US" sz="2400" i="1" dirty="0"/>
              <a:t>digital </a:t>
            </a:r>
            <a:r>
              <a:rPr lang="en-US" sz="2400" i="1" dirty="0" smtClean="0"/>
              <a:t>video disk </a:t>
            </a:r>
            <a:r>
              <a:rPr lang="en-US" sz="2400" dirty="0"/>
              <a:t>(DVD) which can hold 4.7 or 8.5 gigabytes of data per side of the disk (</a:t>
            </a:r>
            <a:r>
              <a:rPr lang="en-US" sz="2400" dirty="0" smtClean="0"/>
              <a:t>or up </a:t>
            </a:r>
            <a:r>
              <a:rPr lang="en-US" sz="2400" dirty="0"/>
              <a:t>to 17 gigabytes on a two-sided disk). Data are stored optically on a </a:t>
            </a:r>
            <a:r>
              <a:rPr lang="en-US" sz="2400" dirty="0" smtClean="0"/>
              <a:t>disk, and </a:t>
            </a:r>
            <a:r>
              <a:rPr lang="en-US" sz="2400" dirty="0"/>
              <a:t>are read by a laser</a:t>
            </a:r>
            <a:endParaRPr lang="en-US" sz="2400" b="0" i="0" dirty="0">
              <a:solidFill>
                <a:srgbClr val="000000"/>
              </a:solidFill>
              <a:effectLst/>
            </a:endParaRPr>
          </a:p>
        </p:txBody>
      </p:sp>
      <p:pic>
        <p:nvPicPr>
          <p:cNvPr id="4" name="Picture 2" descr="Storage System in DBMS">
            <a:extLst>
              <a:ext uri="{FF2B5EF4-FFF2-40B4-BE49-F238E27FC236}">
                <a16:creationId xmlns:a16="http://schemas.microsoft.com/office/drawing/2014/main" xmlns="" id="{FA346FC0-557D-B8B5-1C21-D8C83744C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830" y="365125"/>
            <a:ext cx="3705225" cy="574473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xmlns="" id="{1884D445-1064-32E1-15A2-604F03306128}"/>
              </a:ext>
            </a:extLst>
          </p:cNvPr>
          <p:cNvSpPr>
            <a:spLocks noGrp="1"/>
          </p:cNvSpPr>
          <p:nvPr>
            <p:ph type="title"/>
          </p:nvPr>
        </p:nvSpPr>
        <p:spPr>
          <a:xfrm>
            <a:off x="838200" y="-297657"/>
            <a:ext cx="10515600" cy="1325563"/>
          </a:xfrm>
        </p:spPr>
        <p:txBody>
          <a:bodyPr/>
          <a:lstStyle/>
          <a:p>
            <a:r>
              <a:rPr lang="en-US" sz="4000" b="1" i="0" dirty="0" smtClean="0">
                <a:effectLst/>
                <a:latin typeface="+mn-lt"/>
              </a:rPr>
              <a:t> Overview of physical Storage System</a:t>
            </a:r>
            <a:endParaRPr lang="en-US" dirty="0"/>
          </a:p>
        </p:txBody>
      </p:sp>
    </p:spTree>
    <p:extLst>
      <p:ext uri="{BB962C8B-B14F-4D97-AF65-F5344CB8AC3E}">
        <p14:creationId xmlns:p14="http://schemas.microsoft.com/office/powerpoint/2010/main" val="177168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4DB1D5-132C-9A3B-60D0-06EB687F377A}"/>
              </a:ext>
            </a:extLst>
          </p:cNvPr>
          <p:cNvSpPr>
            <a:spLocks noGrp="1"/>
          </p:cNvSpPr>
          <p:nvPr>
            <p:ph idx="1"/>
          </p:nvPr>
        </p:nvSpPr>
        <p:spPr>
          <a:xfrm>
            <a:off x="296213" y="931962"/>
            <a:ext cx="7574143" cy="5926038"/>
          </a:xfrm>
        </p:spPr>
        <p:txBody>
          <a:bodyPr>
            <a:normAutofit/>
          </a:bodyPr>
          <a:lstStyle/>
          <a:p>
            <a:r>
              <a:rPr lang="en-US" sz="2400" b="1" dirty="0"/>
              <a:t>Tape storage</a:t>
            </a:r>
            <a:r>
              <a:rPr lang="en-US" sz="2400" dirty="0"/>
              <a:t>. Tape storage is used primarily for backup and archival data.</a:t>
            </a:r>
          </a:p>
          <a:p>
            <a:r>
              <a:rPr lang="en-US" sz="2400" dirty="0"/>
              <a:t>Although magnetic tape is much cheaper than disks, access to data is </a:t>
            </a:r>
            <a:r>
              <a:rPr lang="en-US" sz="2400" dirty="0" smtClean="0"/>
              <a:t>much slower</a:t>
            </a:r>
            <a:r>
              <a:rPr lang="en-US" sz="2400" dirty="0"/>
              <a:t>, because the tape must be accessed sequentially from the beginning.</a:t>
            </a:r>
          </a:p>
          <a:p>
            <a:r>
              <a:rPr lang="en-US" sz="2400" dirty="0"/>
              <a:t>For this reason, tape storage is referred to as </a:t>
            </a:r>
            <a:r>
              <a:rPr lang="en-US" sz="2400" b="1" dirty="0"/>
              <a:t>sequential-access </a:t>
            </a:r>
            <a:r>
              <a:rPr lang="en-US" sz="2400" dirty="0"/>
              <a:t>storage. In </a:t>
            </a:r>
            <a:r>
              <a:rPr lang="en-US" sz="2400" dirty="0" smtClean="0"/>
              <a:t>contrast, disk </a:t>
            </a:r>
            <a:r>
              <a:rPr lang="en-US" sz="2400" dirty="0"/>
              <a:t>storage is referred to as </a:t>
            </a:r>
            <a:r>
              <a:rPr lang="en-US" sz="2400" b="1" dirty="0"/>
              <a:t>direct-access </a:t>
            </a:r>
            <a:r>
              <a:rPr lang="en-US" sz="2400" dirty="0"/>
              <a:t>storage because it is </a:t>
            </a:r>
            <a:r>
              <a:rPr lang="en-US" sz="2400" dirty="0" smtClean="0"/>
              <a:t>possible to </a:t>
            </a:r>
            <a:r>
              <a:rPr lang="en-US" sz="2400" dirty="0"/>
              <a:t>read data from any location on disk.</a:t>
            </a:r>
          </a:p>
          <a:p>
            <a:r>
              <a:rPr lang="en-US" sz="2400" dirty="0"/>
              <a:t>Tapes have a high capacity (40 gigabyte to 300 gigabytes tapes are </a:t>
            </a:r>
            <a:r>
              <a:rPr lang="en-US" sz="2400" dirty="0" smtClean="0"/>
              <a:t>currently available</a:t>
            </a:r>
            <a:r>
              <a:rPr lang="en-US" sz="2400" dirty="0"/>
              <a:t>), and can be removed from the tape drive, so they are well suited </a:t>
            </a:r>
            <a:r>
              <a:rPr lang="en-US" sz="2400" dirty="0" smtClean="0"/>
              <a:t>to cheap </a:t>
            </a:r>
            <a:r>
              <a:rPr lang="en-US" sz="2400" dirty="0"/>
              <a:t>archival storage</a:t>
            </a:r>
            <a:endParaRPr lang="en-US" sz="2400" b="0" i="0" dirty="0">
              <a:solidFill>
                <a:srgbClr val="000000"/>
              </a:solidFill>
              <a:effectLst/>
            </a:endParaRPr>
          </a:p>
        </p:txBody>
      </p:sp>
      <p:pic>
        <p:nvPicPr>
          <p:cNvPr id="4" name="Picture 2" descr="Storage System in DBMS">
            <a:extLst>
              <a:ext uri="{FF2B5EF4-FFF2-40B4-BE49-F238E27FC236}">
                <a16:creationId xmlns:a16="http://schemas.microsoft.com/office/drawing/2014/main" xmlns="" id="{FA346FC0-557D-B8B5-1C21-D8C83744C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830" y="365125"/>
            <a:ext cx="3705225" cy="574473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xmlns="" id="{1884D445-1064-32E1-15A2-604F03306128}"/>
              </a:ext>
            </a:extLst>
          </p:cNvPr>
          <p:cNvSpPr>
            <a:spLocks noGrp="1"/>
          </p:cNvSpPr>
          <p:nvPr>
            <p:ph type="title"/>
          </p:nvPr>
        </p:nvSpPr>
        <p:spPr>
          <a:xfrm>
            <a:off x="838200" y="-297657"/>
            <a:ext cx="10515600" cy="1325563"/>
          </a:xfrm>
        </p:spPr>
        <p:txBody>
          <a:bodyPr/>
          <a:lstStyle/>
          <a:p>
            <a:r>
              <a:rPr lang="en-US" sz="4000" b="1" i="0" dirty="0" smtClean="0">
                <a:effectLst/>
                <a:latin typeface="+mn-lt"/>
              </a:rPr>
              <a:t> Overview of physical Storage System</a:t>
            </a:r>
            <a:endParaRPr lang="en-US" dirty="0"/>
          </a:p>
        </p:txBody>
      </p:sp>
    </p:spTree>
    <p:extLst>
      <p:ext uri="{BB962C8B-B14F-4D97-AF65-F5344CB8AC3E}">
        <p14:creationId xmlns:p14="http://schemas.microsoft.com/office/powerpoint/2010/main" val="1741989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RAID-</a:t>
            </a:r>
            <a:r>
              <a:rPr lang="en-US" b="1" dirty="0">
                <a:solidFill>
                  <a:srgbClr val="000000"/>
                </a:solidFill>
                <a:cs typeface="Heebo" pitchFamily="2" charset="-79"/>
              </a:rPr>
              <a:t>Redundant Array of Independent Disks</a:t>
            </a:r>
            <a:br>
              <a:rPr lang="en-US" b="1" dirty="0">
                <a:solidFill>
                  <a:srgbClr val="000000"/>
                </a:solidFill>
                <a:cs typeface="Heebo" pitchFamily="2" charset="-79"/>
              </a:rPr>
            </a:br>
            <a:endParaRPr lang="en-US" dirty="0"/>
          </a:p>
        </p:txBody>
      </p:sp>
      <p:sp>
        <p:nvSpPr>
          <p:cNvPr id="4" name="Content Placeholder 2">
            <a:extLst>
              <a:ext uri="{FF2B5EF4-FFF2-40B4-BE49-F238E27FC236}">
                <a16:creationId xmlns:a16="http://schemas.microsoft.com/office/drawing/2014/main" xmlns="" id="{7E4DB1D5-132C-9A3B-60D0-06EB687F377A}"/>
              </a:ext>
            </a:extLst>
          </p:cNvPr>
          <p:cNvSpPr>
            <a:spLocks noGrp="1"/>
          </p:cNvSpPr>
          <p:nvPr>
            <p:ph idx="1"/>
          </p:nvPr>
        </p:nvSpPr>
        <p:spPr/>
        <p:txBody>
          <a:bodyPr>
            <a:normAutofit/>
          </a:bodyPr>
          <a:lstStyle/>
          <a:p>
            <a:pPr algn="just"/>
            <a:r>
              <a:rPr lang="en-US" b="0" i="0" dirty="0" smtClean="0">
                <a:solidFill>
                  <a:srgbClr val="000000"/>
                </a:solidFill>
                <a:effectLst/>
              </a:rPr>
              <a:t>RAID </a:t>
            </a:r>
            <a:r>
              <a:rPr lang="en-US" b="0" i="0" dirty="0">
                <a:solidFill>
                  <a:srgbClr val="000000"/>
                </a:solidFill>
                <a:effectLst/>
              </a:rPr>
              <a:t>or </a:t>
            </a:r>
            <a:r>
              <a:rPr lang="en-US" b="1" i="0" dirty="0">
                <a:solidFill>
                  <a:srgbClr val="0000CC"/>
                </a:solidFill>
                <a:effectLst/>
              </a:rPr>
              <a:t>Redundant Array of Independent Disks</a:t>
            </a:r>
            <a:r>
              <a:rPr lang="en-US" b="0" i="0" dirty="0">
                <a:solidFill>
                  <a:srgbClr val="000000"/>
                </a:solidFill>
                <a:effectLst/>
              </a:rPr>
              <a:t>, is a technology to connect multiple secondary storage devices and use them as a single storage media.</a:t>
            </a:r>
          </a:p>
          <a:p>
            <a:pPr algn="just"/>
            <a:r>
              <a:rPr lang="en-US" b="0" i="0" dirty="0">
                <a:solidFill>
                  <a:srgbClr val="000000"/>
                </a:solidFill>
                <a:effectLst/>
              </a:rPr>
              <a:t>RAID consists of an array of disks in which multiple disks are connected together to achieve different goals. RAID levels define the use of disk arrays</a:t>
            </a:r>
          </a:p>
          <a:p>
            <a:pPr algn="just"/>
            <a:endParaRPr lang="en-US" b="0" i="0" dirty="0">
              <a:solidFill>
                <a:srgbClr val="000000"/>
              </a:solidFill>
              <a:effectLst/>
            </a:endParaRPr>
          </a:p>
        </p:txBody>
      </p:sp>
    </p:spTree>
    <p:extLst>
      <p:ext uri="{BB962C8B-B14F-4D97-AF65-F5344CB8AC3E}">
        <p14:creationId xmlns:p14="http://schemas.microsoft.com/office/powerpoint/2010/main" val="4003386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a:xfrm>
            <a:off x="406400" y="1066800"/>
            <a:ext cx="4340352" cy="1162050"/>
          </a:xfrm>
        </p:spPr>
        <p:txBody>
          <a:bodyPr>
            <a:normAutofit/>
          </a:bodyPr>
          <a:lstStyle/>
          <a:p>
            <a:pPr algn="ctr"/>
            <a:r>
              <a:rPr lang="en-GB" sz="4000" dirty="0"/>
              <a:t>RAID</a:t>
            </a:r>
          </a:p>
        </p:txBody>
      </p:sp>
      <p:sp>
        <p:nvSpPr>
          <p:cNvPr id="20485" name="Rectangle 5"/>
          <p:cNvSpPr>
            <a:spLocks noGrp="1" noChangeArrowheads="1"/>
          </p:cNvSpPr>
          <p:nvPr>
            <p:ph idx="4294967295"/>
          </p:nvPr>
        </p:nvSpPr>
        <p:spPr>
          <a:xfrm>
            <a:off x="4267201" y="381000"/>
            <a:ext cx="6942665" cy="6455229"/>
          </a:xfrm>
          <a:prstGeom prst="rect">
            <a:avLst/>
          </a:prstGeom>
        </p:spPr>
        <p:txBody>
          <a:bodyPr>
            <a:normAutofit/>
          </a:bodyPr>
          <a:lstStyle/>
          <a:p>
            <a:r>
              <a:rPr lang="en-GB" sz="2400" dirty="0" smtClean="0"/>
              <a:t>Consists of 7 levels</a:t>
            </a:r>
          </a:p>
          <a:p>
            <a:pPr>
              <a:spcAft>
                <a:spcPts val="1200"/>
              </a:spcAft>
            </a:pPr>
            <a:r>
              <a:rPr lang="en-GB" sz="2400" dirty="0" smtClean="0"/>
              <a:t>Levels do not imply a hierarchical relationship but designate different design architectures that share three common characteristics:</a:t>
            </a:r>
          </a:p>
          <a:p>
            <a:pPr marL="571500" lvl="1" indent="-342900">
              <a:spcAft>
                <a:spcPts val="1200"/>
              </a:spcAft>
              <a:buSzPct val="100000"/>
              <a:buFont typeface="+mj-lt"/>
              <a:buAutoNum type="arabicParenR"/>
            </a:pPr>
            <a:r>
              <a:rPr lang="en-GB" sz="2400" dirty="0"/>
              <a:t>Set of physical </a:t>
            </a:r>
            <a:r>
              <a:rPr lang="en-GB" sz="2400" dirty="0" smtClean="0"/>
              <a:t>disk drives viewed by the operating system as a single logical drive</a:t>
            </a:r>
          </a:p>
          <a:p>
            <a:pPr marL="571500" lvl="1" indent="-342900">
              <a:spcAft>
                <a:spcPts val="1200"/>
              </a:spcAft>
              <a:buSzPct val="100000"/>
              <a:buFont typeface="+mj-lt"/>
              <a:buAutoNum type="arabicParenR"/>
            </a:pPr>
            <a:r>
              <a:rPr lang="en-GB" sz="2400" dirty="0" smtClean="0"/>
              <a:t>Data are distributed across the physical drives of an array in a scheme known as striping</a:t>
            </a:r>
          </a:p>
          <a:p>
            <a:pPr marL="571500" lvl="1" indent="-342900">
              <a:spcAft>
                <a:spcPts val="1200"/>
              </a:spcAft>
              <a:buSzPct val="100000"/>
              <a:buFont typeface="+mj-lt"/>
              <a:buAutoNum type="arabicParenR"/>
            </a:pPr>
            <a:r>
              <a:rPr lang="en-GB" sz="2400" dirty="0" smtClean="0"/>
              <a:t>Redundant disk capacity is used to store parity information, which guarantees data recoverability in case of a disk failure</a:t>
            </a:r>
          </a:p>
        </p:txBody>
      </p:sp>
      <p:sp>
        <p:nvSpPr>
          <p:cNvPr id="4" name="Text Placeholder 3"/>
          <p:cNvSpPr>
            <a:spLocks noGrp="1"/>
          </p:cNvSpPr>
          <p:nvPr>
            <p:ph type="body" sz="half" idx="2"/>
          </p:nvPr>
        </p:nvSpPr>
        <p:spPr>
          <a:xfrm>
            <a:off x="-72571" y="3788230"/>
            <a:ext cx="4340352" cy="2392363"/>
          </a:xfrm>
        </p:spPr>
        <p:txBody>
          <a:bodyPr>
            <a:normAutofit/>
          </a:bodyPr>
          <a:lstStyle/>
          <a:p>
            <a:pPr algn="ctr">
              <a:lnSpc>
                <a:spcPct val="130000"/>
              </a:lnSpc>
              <a:spcBef>
                <a:spcPts val="3200"/>
              </a:spcBef>
              <a:spcAft>
                <a:spcPts val="1800"/>
              </a:spcAft>
            </a:pPr>
            <a:r>
              <a:rPr lang="en-US" sz="2400" u="sng" dirty="0" smtClean="0"/>
              <a:t>R</a:t>
            </a:r>
            <a:r>
              <a:rPr lang="en-US" sz="2400" dirty="0" smtClean="0"/>
              <a:t>edundant </a:t>
            </a:r>
            <a:r>
              <a:rPr lang="en-US" sz="2400" u="sng" dirty="0" smtClean="0"/>
              <a:t>A</a:t>
            </a:r>
            <a:r>
              <a:rPr lang="en-US" sz="2400" dirty="0" smtClean="0"/>
              <a:t>rray of </a:t>
            </a:r>
            <a:r>
              <a:rPr lang="en-US" sz="2400" u="sng" dirty="0" smtClean="0"/>
              <a:t>I</a:t>
            </a:r>
            <a:r>
              <a:rPr lang="en-US" sz="2400" dirty="0" smtClean="0"/>
              <a:t>ndependent </a:t>
            </a:r>
            <a:r>
              <a:rPr lang="en-US" sz="2400" u="sng" dirty="0" smtClean="0"/>
              <a:t>D</a:t>
            </a:r>
            <a:r>
              <a:rPr lang="en-US" sz="2400" dirty="0" smtClean="0"/>
              <a:t>isks</a:t>
            </a:r>
            <a:endParaRPr lang="en-US" sz="2400" dirty="0"/>
          </a:p>
        </p:txBody>
      </p:sp>
      <p:sp>
        <p:nvSpPr>
          <p:cNvPr id="3" name="Footer Placeholder 2"/>
          <p:cNvSpPr>
            <a:spLocks noGrp="1"/>
          </p:cNvSpPr>
          <p:nvPr>
            <p:ph type="ftr" sz="quarter" idx="11"/>
          </p:nvPr>
        </p:nvSpPr>
        <p:spPr>
          <a:xfrm>
            <a:off x="335360" y="6492876"/>
            <a:ext cx="11856640" cy="365125"/>
          </a:xfrm>
        </p:spPr>
        <p:txBody>
          <a:bodyPr/>
          <a:lstStyle/>
          <a:p>
            <a:pPr algn="r"/>
            <a:r>
              <a:rPr lang="en-US" dirty="0" smtClean="0"/>
              <a:t>© 2016 Pearson Education, Inc., Hoboken, NJ. All rights reserved.</a:t>
            </a:r>
            <a:endParaRPr lang="en-US" dirty="0"/>
          </a:p>
        </p:txBody>
      </p:sp>
    </p:spTree>
    <p:extLst>
      <p:ext uri="{BB962C8B-B14F-4D97-AF65-F5344CB8AC3E}">
        <p14:creationId xmlns:p14="http://schemas.microsoft.com/office/powerpoint/2010/main" val="1231609888"/>
      </p:ext>
    </p:extLst>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15414" y="6211670"/>
            <a:ext cx="5871693" cy="538609"/>
          </a:xfrm>
          <a:prstGeom prst="rect">
            <a:avLst/>
          </a:prstGeom>
          <a:noFill/>
        </p:spPr>
        <p:txBody>
          <a:bodyPr wrap="square" rtlCol="0">
            <a:spAutoFit/>
          </a:bodyPr>
          <a:lstStyle/>
          <a:p>
            <a:r>
              <a:rPr lang="en-US" sz="1100" i="1" dirty="0" smtClean="0">
                <a:latin typeface="+mn-lt"/>
              </a:rPr>
              <a:t>N</a:t>
            </a:r>
            <a:r>
              <a:rPr lang="en-US" sz="1100" dirty="0" smtClean="0">
                <a:latin typeface="+mn-lt"/>
              </a:rPr>
              <a:t> = number of data disks;    </a:t>
            </a:r>
            <a:r>
              <a:rPr lang="en-US" sz="1100" i="1" dirty="0" smtClean="0">
                <a:latin typeface="+mn-lt"/>
              </a:rPr>
              <a:t>m</a:t>
            </a:r>
            <a:r>
              <a:rPr lang="en-US" sz="1100" dirty="0" smtClean="0">
                <a:latin typeface="+mn-lt"/>
              </a:rPr>
              <a:t> proportional to log </a:t>
            </a:r>
            <a:r>
              <a:rPr lang="en-US" sz="1100" i="1" dirty="0" smtClean="0">
                <a:latin typeface="+mn-lt"/>
              </a:rPr>
              <a:t>N</a:t>
            </a:r>
            <a:endParaRPr lang="en-US" sz="1100" dirty="0" smtClean="0">
              <a:latin typeface="+mn-lt"/>
            </a:endParaRPr>
          </a:p>
          <a:p>
            <a:endParaRPr lang="en-US" dirty="0"/>
          </a:p>
        </p:txBody>
      </p:sp>
      <p:pic>
        <p:nvPicPr>
          <p:cNvPr id="2" name="Picture 1"/>
          <p:cNvPicPr>
            <a:picLocks noChangeAspect="1"/>
          </p:cNvPicPr>
          <p:nvPr/>
        </p:nvPicPr>
        <p:blipFill>
          <a:blip r:embed="rId3"/>
          <a:stretch>
            <a:fillRect/>
          </a:stretch>
        </p:blipFill>
        <p:spPr>
          <a:xfrm>
            <a:off x="815414" y="1052736"/>
            <a:ext cx="10396445" cy="5322110"/>
          </a:xfrm>
          <a:prstGeom prst="rect">
            <a:avLst/>
          </a:prstGeom>
        </p:spPr>
      </p:pic>
      <p:sp>
        <p:nvSpPr>
          <p:cNvPr id="3" name="TextBox 2"/>
          <p:cNvSpPr txBox="1"/>
          <p:nvPr/>
        </p:nvSpPr>
        <p:spPr>
          <a:xfrm>
            <a:off x="815413" y="0"/>
            <a:ext cx="10753195" cy="1231106"/>
          </a:xfrm>
          <a:prstGeom prst="rect">
            <a:avLst/>
          </a:prstGeom>
          <a:noFill/>
        </p:spPr>
        <p:txBody>
          <a:bodyPr wrap="square" rtlCol="0">
            <a:spAutoFit/>
          </a:bodyPr>
          <a:lstStyle/>
          <a:p>
            <a:pPr algn="ctr"/>
            <a:endParaRPr lang="en-US" sz="2800" dirty="0" smtClean="0">
              <a:latin typeface="+mj-lt"/>
            </a:endParaRPr>
          </a:p>
          <a:p>
            <a:pPr algn="ctr"/>
            <a:r>
              <a:rPr lang="en-US" sz="2800" dirty="0" smtClean="0">
                <a:latin typeface="+mj-lt"/>
              </a:rPr>
              <a:t>RAID </a:t>
            </a:r>
            <a:r>
              <a:rPr lang="en-US" sz="2800" dirty="0">
                <a:latin typeface="+mj-lt"/>
              </a:rPr>
              <a:t>Levels</a:t>
            </a:r>
          </a:p>
          <a:p>
            <a:endParaRPr lang="en-US" dirty="0"/>
          </a:p>
        </p:txBody>
      </p:sp>
      <p:sp>
        <p:nvSpPr>
          <p:cNvPr id="5" name="Footer Placeholder 4"/>
          <p:cNvSpPr>
            <a:spLocks noGrp="1"/>
          </p:cNvSpPr>
          <p:nvPr>
            <p:ph type="ftr" sz="quarter" idx="11"/>
          </p:nvPr>
        </p:nvSpPr>
        <p:spPr>
          <a:xfrm>
            <a:off x="815413" y="6505766"/>
            <a:ext cx="8163859" cy="365125"/>
          </a:xfrm>
        </p:spPr>
        <p:txBody>
          <a:bodyPr/>
          <a:lstStyle/>
          <a:p>
            <a:r>
              <a:rPr lang="en-US" dirty="0" smtClean="0"/>
              <a:t>© 2016 Pearson Education, Inc., Hoboken, NJ. All rights reserved.</a:t>
            </a:r>
            <a:endParaRPr lang="en-US" dirty="0"/>
          </a:p>
        </p:txBody>
      </p:sp>
    </p:spTree>
    <p:extLst>
      <p:ext uri="{BB962C8B-B14F-4D97-AF65-F5344CB8AC3E}">
        <p14:creationId xmlns:p14="http://schemas.microsoft.com/office/powerpoint/2010/main" val="2524518724"/>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618186" y="1300766"/>
            <a:ext cx="10753859" cy="4005330"/>
          </a:xfrm>
          <a:prstGeom prst="rect">
            <a:avLst/>
          </a:prstGeom>
          <a:noFill/>
          <a:ln>
            <a:noFill/>
          </a:ln>
        </p:spPr>
      </p:pic>
      <p:sp>
        <p:nvSpPr>
          <p:cNvPr id="3"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t>DBMS</a:t>
            </a:r>
            <a:endParaRPr lang="en-US" b="1" dirty="0"/>
          </a:p>
        </p:txBody>
      </p:sp>
    </p:spTree>
    <p:extLst>
      <p:ext uri="{BB962C8B-B14F-4D97-AF65-F5344CB8AC3E}">
        <p14:creationId xmlns:p14="http://schemas.microsoft.com/office/powerpoint/2010/main" val="2451534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875764" y="978794"/>
            <a:ext cx="10406128" cy="4198513"/>
          </a:xfrm>
          <a:prstGeom prst="rect">
            <a:avLst/>
          </a:prstGeom>
          <a:noFill/>
          <a:ln>
            <a:noFill/>
          </a:ln>
        </p:spPr>
      </p:pic>
    </p:spTree>
    <p:extLst>
      <p:ext uri="{BB962C8B-B14F-4D97-AF65-F5344CB8AC3E}">
        <p14:creationId xmlns:p14="http://schemas.microsoft.com/office/powerpoint/2010/main" val="761339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335" y="190233"/>
            <a:ext cx="11768656" cy="6429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0704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155" y="425003"/>
            <a:ext cx="10937006" cy="4430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8218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126" y="103030"/>
            <a:ext cx="10256103" cy="619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269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618" y="1323975"/>
            <a:ext cx="10159607" cy="533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8976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975" y="1176338"/>
            <a:ext cx="9916732" cy="5421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877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703" y="1147763"/>
            <a:ext cx="9865217" cy="5679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7921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p:txBody>
          <a:bodyPr/>
          <a:lstStyle/>
          <a:p>
            <a:r>
              <a:rPr lang="en-US" sz="4000" b="1" i="0" dirty="0">
                <a:effectLst/>
                <a:latin typeface="+mn-lt"/>
                <a:cs typeface="Heebo" pitchFamily="2" charset="-79"/>
              </a:rPr>
              <a:t>File Structures</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346363" y="2353036"/>
            <a:ext cx="11513128" cy="4139839"/>
          </a:xfrm>
        </p:spPr>
        <p:txBody>
          <a:bodyPr>
            <a:normAutofit fontScale="92500" lnSpcReduction="20000"/>
          </a:bodyPr>
          <a:lstStyle/>
          <a:p>
            <a:pPr algn="just">
              <a:buFont typeface="Arial" panose="020B0604020202020204" pitchFamily="34" charset="0"/>
              <a:buChar char="•"/>
            </a:pPr>
            <a:r>
              <a:rPr lang="en-US" b="0" i="0" dirty="0">
                <a:solidFill>
                  <a:srgbClr val="000000"/>
                </a:solidFill>
                <a:effectLst/>
              </a:rPr>
              <a:t>The </a:t>
            </a:r>
            <a:r>
              <a:rPr lang="en-US" b="1" i="0" dirty="0">
                <a:solidFill>
                  <a:srgbClr val="000000"/>
                </a:solidFill>
                <a:effectLst/>
              </a:rPr>
              <a:t>File</a:t>
            </a:r>
            <a:r>
              <a:rPr lang="en-US" b="0" i="0" dirty="0">
                <a:solidFill>
                  <a:srgbClr val="000000"/>
                </a:solidFill>
                <a:effectLst/>
              </a:rPr>
              <a:t> is a collection of records. Using the primary key, we can access the records. </a:t>
            </a:r>
            <a:endParaRPr lang="en-US" b="0" i="0" dirty="0" smtClean="0">
              <a:solidFill>
                <a:srgbClr val="000000"/>
              </a:solidFill>
              <a:effectLst/>
            </a:endParaRPr>
          </a:p>
          <a:p>
            <a:pPr marL="0" indent="0" algn="ctr">
              <a:buNone/>
            </a:pPr>
            <a:r>
              <a:rPr lang="en-US" b="1" dirty="0">
                <a:solidFill>
                  <a:srgbClr val="0000CC"/>
                </a:solidFill>
              </a:rPr>
              <a:t>OR</a:t>
            </a:r>
          </a:p>
          <a:p>
            <a:pPr algn="just"/>
            <a:r>
              <a:rPr lang="en-US" dirty="0"/>
              <a:t>A file is named collection of related information that is recorded on </a:t>
            </a:r>
            <a:r>
              <a:rPr lang="en-US" dirty="0" smtClean="0"/>
              <a:t>secondary </a:t>
            </a:r>
            <a:r>
              <a:rPr lang="en-US" smtClean="0"/>
              <a:t>or tertiary  </a:t>
            </a:r>
            <a:r>
              <a:rPr lang="en-US" dirty="0"/>
              <a:t>storage such as magnetic disks, magnetic tapes and optical disks.</a:t>
            </a:r>
            <a:endParaRPr lang="en-US" b="1" dirty="0">
              <a:solidFill>
                <a:srgbClr val="0000CC"/>
              </a:solidFill>
            </a:endParaRPr>
          </a:p>
          <a:p>
            <a:pPr algn="just">
              <a:buFont typeface="Arial" panose="020B0604020202020204" pitchFamily="34" charset="0"/>
              <a:buChar char="•"/>
            </a:pPr>
            <a:r>
              <a:rPr lang="en-US" b="1" i="0" dirty="0" smtClean="0">
                <a:solidFill>
                  <a:srgbClr val="0000CC"/>
                </a:solidFill>
                <a:effectLst/>
              </a:rPr>
              <a:t>The </a:t>
            </a:r>
            <a:r>
              <a:rPr lang="en-US" b="1" i="0" dirty="0">
                <a:solidFill>
                  <a:srgbClr val="0000CC"/>
                </a:solidFill>
                <a:effectLst/>
              </a:rPr>
              <a:t>type and frequency of access can be determined by the type of file organization which was used for a given set of records</a:t>
            </a:r>
            <a:r>
              <a:rPr lang="en-US" b="1" i="0" dirty="0" smtClean="0">
                <a:solidFill>
                  <a:srgbClr val="0000CC"/>
                </a:solidFill>
                <a:effectLst/>
              </a:rPr>
              <a:t>.</a:t>
            </a:r>
          </a:p>
          <a:p>
            <a:pPr algn="just">
              <a:buFont typeface="Arial" panose="020B0604020202020204" pitchFamily="34" charset="0"/>
              <a:buChar char="•"/>
            </a:pPr>
            <a:r>
              <a:rPr lang="en-US" b="1" i="0" dirty="0" smtClean="0">
                <a:solidFill>
                  <a:srgbClr val="0000CC"/>
                </a:solidFill>
                <a:effectLst/>
              </a:rPr>
              <a:t>File </a:t>
            </a:r>
            <a:r>
              <a:rPr lang="en-US" b="1" i="0" dirty="0">
                <a:solidFill>
                  <a:srgbClr val="0000CC"/>
                </a:solidFill>
                <a:effectLst/>
              </a:rPr>
              <a:t>organization is a logical relationship among various records</a:t>
            </a:r>
            <a:r>
              <a:rPr lang="en-US" b="0" i="0" dirty="0">
                <a:effectLst/>
              </a:rPr>
              <a:t>. </a:t>
            </a:r>
          </a:p>
          <a:p>
            <a:pPr algn="just">
              <a:buFont typeface="Arial" panose="020B0604020202020204" pitchFamily="34" charset="0"/>
              <a:buChar char="•"/>
            </a:pPr>
            <a:r>
              <a:rPr lang="en-US" b="0" i="0" dirty="0">
                <a:effectLst/>
              </a:rPr>
              <a:t>This </a:t>
            </a:r>
            <a:r>
              <a:rPr lang="en-US" b="1" i="0" dirty="0">
                <a:solidFill>
                  <a:srgbClr val="C00000"/>
                </a:solidFill>
                <a:effectLst/>
              </a:rPr>
              <a:t>method defines how file records are mapped onto disk blocks.</a:t>
            </a:r>
          </a:p>
          <a:p>
            <a:pPr algn="just">
              <a:buFont typeface="Arial" panose="020B0604020202020204" pitchFamily="34" charset="0"/>
              <a:buChar char="•"/>
            </a:pPr>
            <a:r>
              <a:rPr lang="en-US" b="0" i="0" dirty="0">
                <a:effectLst/>
              </a:rPr>
              <a:t>File organization is </a:t>
            </a:r>
            <a:r>
              <a:rPr lang="en-US" b="1" i="0" dirty="0">
                <a:solidFill>
                  <a:srgbClr val="0000CC"/>
                </a:solidFill>
                <a:effectLst/>
              </a:rPr>
              <a:t>used to describe the way in which the records are stored in terms of blocks, and the blocks are placed on the storage medium.</a:t>
            </a:r>
          </a:p>
          <a:p>
            <a:endParaRPr lang="en-US" dirty="0"/>
          </a:p>
        </p:txBody>
      </p:sp>
      <p:pic>
        <p:nvPicPr>
          <p:cNvPr id="2050" name="Picture 2" descr="DBMS File Organization">
            <a:extLst>
              <a:ext uri="{FF2B5EF4-FFF2-40B4-BE49-F238E27FC236}">
                <a16:creationId xmlns:a16="http://schemas.microsoft.com/office/drawing/2014/main" xmlns="" id="{B7D0A8B8-5BC5-03AA-3978-F19D1CE5D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7418" y="172604"/>
            <a:ext cx="7564582" cy="2180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635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a:xfrm>
            <a:off x="838200" y="365125"/>
            <a:ext cx="10515600" cy="549275"/>
          </a:xfrm>
        </p:spPr>
        <p:txBody>
          <a:bodyPr>
            <a:normAutofit fontScale="90000"/>
          </a:bodyPr>
          <a:lstStyle/>
          <a:p>
            <a:r>
              <a:rPr lang="en-US" sz="4000" b="1" i="0" dirty="0">
                <a:effectLst/>
                <a:latin typeface="+mn-lt"/>
                <a:cs typeface="Heebo" pitchFamily="2" charset="-79"/>
              </a:rPr>
              <a:t>File </a:t>
            </a:r>
            <a:r>
              <a:rPr lang="en-US" sz="4000" b="1" i="0" dirty="0" smtClean="0">
                <a:effectLst/>
                <a:latin typeface="+mn-lt"/>
                <a:cs typeface="Heebo" pitchFamily="2" charset="-79"/>
              </a:rPr>
              <a:t>Structures- Sequential method</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180109" y="678874"/>
            <a:ext cx="6400800" cy="6021820"/>
          </a:xfrm>
        </p:spPr>
        <p:txBody>
          <a:bodyPr>
            <a:normAutofit fontScale="92500"/>
          </a:bodyPr>
          <a:lstStyle/>
          <a:p>
            <a:pPr algn="just"/>
            <a:r>
              <a:rPr lang="en-US" b="1" i="0" dirty="0">
                <a:effectLst/>
              </a:rPr>
              <a:t>Pile File Method:</a:t>
            </a:r>
          </a:p>
          <a:p>
            <a:pPr algn="just">
              <a:buFont typeface="Arial" panose="020B0604020202020204" pitchFamily="34" charset="0"/>
              <a:buChar char="•"/>
            </a:pPr>
            <a:r>
              <a:rPr lang="en-US" b="0" i="0" dirty="0">
                <a:effectLst/>
              </a:rPr>
              <a:t>In this method, </a:t>
            </a:r>
            <a:r>
              <a:rPr lang="en-US" b="1" i="0" dirty="0">
                <a:solidFill>
                  <a:srgbClr val="0000CC"/>
                </a:solidFill>
                <a:effectLst/>
              </a:rPr>
              <a:t>we store the record in a sequence, i.e., one after another. </a:t>
            </a:r>
            <a:r>
              <a:rPr lang="en-US" b="0" i="0" dirty="0">
                <a:effectLst/>
              </a:rPr>
              <a:t>Here, the record will be inserted in the order in which they are inserted into tables.</a:t>
            </a:r>
          </a:p>
          <a:p>
            <a:pPr algn="just"/>
            <a:r>
              <a:rPr lang="en-US" b="1" i="0" dirty="0">
                <a:effectLst/>
              </a:rPr>
              <a:t>Sorted File Method:</a:t>
            </a:r>
          </a:p>
          <a:p>
            <a:pPr algn="just">
              <a:buFont typeface="Arial" panose="020B0604020202020204" pitchFamily="34" charset="0"/>
              <a:buChar char="•"/>
            </a:pPr>
            <a:r>
              <a:rPr lang="en-US" b="0" i="0" dirty="0">
                <a:effectLst/>
              </a:rPr>
              <a:t>In this method, </a:t>
            </a:r>
            <a:r>
              <a:rPr lang="en-US" b="1" i="0" dirty="0">
                <a:solidFill>
                  <a:srgbClr val="0000CC"/>
                </a:solidFill>
                <a:effectLst/>
              </a:rPr>
              <a:t>the new record is always inserted at the file's end, and then it will sort the sequence in ascending or descending order.</a:t>
            </a:r>
            <a:r>
              <a:rPr lang="en-US" b="0" i="0" dirty="0">
                <a:effectLst/>
              </a:rPr>
              <a:t> Sorting of records is </a:t>
            </a:r>
            <a:r>
              <a:rPr lang="en-US" b="1" i="0" dirty="0">
                <a:effectLst/>
              </a:rPr>
              <a:t>based on any primary key or any other key.</a:t>
            </a:r>
          </a:p>
          <a:p>
            <a:pPr algn="just">
              <a:buFont typeface="Arial" panose="020B0604020202020204" pitchFamily="34" charset="0"/>
              <a:buChar char="•"/>
            </a:pPr>
            <a:r>
              <a:rPr lang="en-US" b="0" i="0" dirty="0">
                <a:effectLst/>
              </a:rPr>
              <a:t>In the case of modification of any record, it will update the record and then sort the file, and lastly, </a:t>
            </a:r>
            <a:r>
              <a:rPr lang="en-US" b="1" i="0" dirty="0">
                <a:solidFill>
                  <a:srgbClr val="0000CC"/>
                </a:solidFill>
                <a:effectLst/>
              </a:rPr>
              <a:t>the updated record is placed in the right place.</a:t>
            </a:r>
          </a:p>
          <a:p>
            <a:endParaRPr lang="en-US" dirty="0"/>
          </a:p>
        </p:txBody>
      </p:sp>
      <p:pic>
        <p:nvPicPr>
          <p:cNvPr id="5122" name="Picture 2" descr="DBMS Sequential File Organization">
            <a:extLst>
              <a:ext uri="{FF2B5EF4-FFF2-40B4-BE49-F238E27FC236}">
                <a16:creationId xmlns:a16="http://schemas.microsoft.com/office/drawing/2014/main" xmlns="" id="{9F2DA062-B86F-6EAB-9B1C-48D0197F5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4873" y="1205345"/>
            <a:ext cx="5001492" cy="117965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DBMS Sequential File Organization">
            <a:extLst>
              <a:ext uri="{FF2B5EF4-FFF2-40B4-BE49-F238E27FC236}">
                <a16:creationId xmlns:a16="http://schemas.microsoft.com/office/drawing/2014/main" xmlns="" id="{60191572-DB3A-E8DA-FBC9-B05105286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4873" y="3429000"/>
            <a:ext cx="5001492" cy="2599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1914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a:xfrm>
            <a:off x="838200" y="365125"/>
            <a:ext cx="10515600" cy="549275"/>
          </a:xfrm>
        </p:spPr>
        <p:txBody>
          <a:bodyPr>
            <a:normAutofit fontScale="90000"/>
          </a:bodyPr>
          <a:lstStyle/>
          <a:p>
            <a:r>
              <a:rPr lang="en-US" sz="4000" b="1" i="0" dirty="0">
                <a:solidFill>
                  <a:srgbClr val="303030"/>
                </a:solidFill>
                <a:effectLst/>
                <a:latin typeface="+mn-lt"/>
                <a:cs typeface="Heebo" pitchFamily="2" charset="-79"/>
              </a:rPr>
              <a:t>File Structures</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180109" y="678874"/>
            <a:ext cx="6400800" cy="5814001"/>
          </a:xfrm>
        </p:spPr>
        <p:txBody>
          <a:bodyPr>
            <a:normAutofit/>
          </a:bodyPr>
          <a:lstStyle/>
          <a:p>
            <a:pPr algn="just"/>
            <a:r>
              <a:rPr lang="en-US" b="1" i="0" dirty="0">
                <a:effectLst/>
              </a:rPr>
              <a:t>Heap file organization</a:t>
            </a:r>
          </a:p>
          <a:p>
            <a:pPr algn="just">
              <a:buFont typeface="Arial" panose="020B0604020202020204" pitchFamily="34" charset="0"/>
              <a:buChar char="•"/>
            </a:pPr>
            <a:r>
              <a:rPr lang="en-US" b="1" i="0" dirty="0">
                <a:solidFill>
                  <a:srgbClr val="0000CC"/>
                </a:solidFill>
                <a:effectLst/>
              </a:rPr>
              <a:t>It works with data blocks.</a:t>
            </a:r>
          </a:p>
          <a:p>
            <a:pPr algn="just">
              <a:buFont typeface="Arial" panose="020B0604020202020204" pitchFamily="34" charset="0"/>
              <a:buChar char="•"/>
            </a:pPr>
            <a:r>
              <a:rPr lang="en-US" b="1" i="0" dirty="0">
                <a:solidFill>
                  <a:srgbClr val="C00000"/>
                </a:solidFill>
                <a:effectLst/>
              </a:rPr>
              <a:t>When the records are inserted</a:t>
            </a:r>
            <a:r>
              <a:rPr lang="en-US" b="1" i="0" dirty="0">
                <a:solidFill>
                  <a:srgbClr val="000000"/>
                </a:solidFill>
                <a:effectLst/>
              </a:rPr>
              <a:t>, it doesn't require the sorting and ordering of records.</a:t>
            </a:r>
          </a:p>
          <a:p>
            <a:pPr algn="just">
              <a:buFont typeface="Arial" panose="020B0604020202020204" pitchFamily="34" charset="0"/>
              <a:buChar char="•"/>
            </a:pPr>
            <a:r>
              <a:rPr lang="en-US" b="1" i="0" dirty="0">
                <a:solidFill>
                  <a:srgbClr val="0000CC"/>
                </a:solidFill>
                <a:effectLst/>
              </a:rPr>
              <a:t>When the data block is full, the new record is stored in some other block. </a:t>
            </a:r>
          </a:p>
          <a:p>
            <a:pPr algn="just">
              <a:buFont typeface="Arial" panose="020B0604020202020204" pitchFamily="34" charset="0"/>
              <a:buChar char="•"/>
            </a:pPr>
            <a:r>
              <a:rPr lang="en-US" b="1" i="0" dirty="0">
                <a:solidFill>
                  <a:srgbClr val="000000"/>
                </a:solidFill>
                <a:effectLst/>
              </a:rPr>
              <a:t>This new data block need not to be the very next data block</a:t>
            </a:r>
            <a:r>
              <a:rPr lang="en-US" b="0" i="0" dirty="0">
                <a:solidFill>
                  <a:srgbClr val="000000"/>
                </a:solidFill>
                <a:effectLst/>
              </a:rPr>
              <a:t>, </a:t>
            </a:r>
            <a:r>
              <a:rPr lang="en-US" b="1" i="0" dirty="0">
                <a:solidFill>
                  <a:srgbClr val="0000CC"/>
                </a:solidFill>
                <a:effectLst/>
              </a:rPr>
              <a:t>but it can select any data block in the memory to store new records. </a:t>
            </a:r>
            <a:endParaRPr lang="en-US" b="1" dirty="0">
              <a:solidFill>
                <a:srgbClr val="0000CC"/>
              </a:solidFill>
            </a:endParaRPr>
          </a:p>
        </p:txBody>
      </p:sp>
      <p:pic>
        <p:nvPicPr>
          <p:cNvPr id="1028" name="Picture 4" descr="DBMS Heap file organization">
            <a:extLst>
              <a:ext uri="{FF2B5EF4-FFF2-40B4-BE49-F238E27FC236}">
                <a16:creationId xmlns:a16="http://schemas.microsoft.com/office/drawing/2014/main" xmlns="" id="{D5BC6ACB-FE95-D7CB-FE42-4902B44E3B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4873" y="117909"/>
            <a:ext cx="5237018" cy="357187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xmlns="" id="{BF67228E-48A4-404E-A963-FCACEDF9A591}"/>
              </a:ext>
            </a:extLst>
          </p:cNvPr>
          <p:cNvSpPr txBox="1">
            <a:spLocks/>
          </p:cNvSpPr>
          <p:nvPr/>
        </p:nvSpPr>
        <p:spPr>
          <a:xfrm>
            <a:off x="6774873" y="3856038"/>
            <a:ext cx="5237020" cy="28352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0000CC"/>
                </a:solidFill>
                <a:effectLst/>
              </a:rPr>
              <a:t>suppose we want to insert a new record R2 in a heap. </a:t>
            </a:r>
          </a:p>
          <a:p>
            <a:pPr algn="just"/>
            <a:r>
              <a:rPr lang="en-US" b="1" i="0" dirty="0">
                <a:solidFill>
                  <a:srgbClr val="C00000"/>
                </a:solidFill>
                <a:effectLst/>
              </a:rPr>
              <a:t>If the data block 3 is full then it will be inserted in any of the database selected by the DBMS, let's say data block 1.</a:t>
            </a:r>
            <a:endParaRPr lang="en-US" b="1" dirty="0">
              <a:solidFill>
                <a:srgbClr val="C00000"/>
              </a:solidFill>
            </a:endParaRPr>
          </a:p>
        </p:txBody>
      </p:sp>
    </p:spTree>
    <p:extLst>
      <p:ext uri="{BB962C8B-B14F-4D97-AF65-F5344CB8AC3E}">
        <p14:creationId xmlns:p14="http://schemas.microsoft.com/office/powerpoint/2010/main" val="1350251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a:xfrm>
            <a:off x="838200" y="365125"/>
            <a:ext cx="10515600" cy="549275"/>
          </a:xfrm>
        </p:spPr>
        <p:txBody>
          <a:bodyPr>
            <a:normAutofit fontScale="90000"/>
          </a:bodyPr>
          <a:lstStyle/>
          <a:p>
            <a:r>
              <a:rPr lang="en-US" sz="4000" b="1" i="0" dirty="0">
                <a:solidFill>
                  <a:srgbClr val="303030"/>
                </a:solidFill>
                <a:effectLst/>
                <a:latin typeface="+mn-lt"/>
                <a:cs typeface="Heebo" pitchFamily="2" charset="-79"/>
              </a:rPr>
              <a:t>File Structures</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180109" y="678874"/>
            <a:ext cx="6400800" cy="5814001"/>
          </a:xfrm>
        </p:spPr>
        <p:txBody>
          <a:bodyPr>
            <a:normAutofit/>
          </a:bodyPr>
          <a:lstStyle/>
          <a:p>
            <a:pPr algn="just"/>
            <a:r>
              <a:rPr lang="en-US" b="1" i="0" dirty="0">
                <a:effectLst/>
              </a:rPr>
              <a:t>Hash File Organization</a:t>
            </a:r>
          </a:p>
          <a:p>
            <a:pPr algn="just"/>
            <a:r>
              <a:rPr lang="en-US" b="0" i="0" dirty="0">
                <a:effectLst/>
              </a:rPr>
              <a:t>Hash File Organization </a:t>
            </a:r>
            <a:r>
              <a:rPr lang="en-US" b="1" i="0" dirty="0">
                <a:solidFill>
                  <a:srgbClr val="0000CC"/>
                </a:solidFill>
                <a:effectLst/>
              </a:rPr>
              <a:t>uses the computation of hash function on some fields of the records. The hash function's output determines the location of disk block where the records are to be placed.</a:t>
            </a:r>
          </a:p>
          <a:p>
            <a:pPr algn="just"/>
            <a:r>
              <a:rPr lang="en-US" b="0" i="0" dirty="0">
                <a:effectLst/>
              </a:rPr>
              <a:t>When a record has to be </a:t>
            </a:r>
            <a:r>
              <a:rPr lang="en-US" b="0" i="0" dirty="0">
                <a:solidFill>
                  <a:srgbClr val="333333"/>
                </a:solidFill>
                <a:effectLst/>
                <a:latin typeface="inter-regular"/>
              </a:rPr>
              <a:t>retrieved</a:t>
            </a:r>
            <a:r>
              <a:rPr lang="en-US" b="0" i="0" dirty="0">
                <a:effectLst/>
              </a:rPr>
              <a:t> using the hash key columns, then the address is generated, and </a:t>
            </a:r>
            <a:r>
              <a:rPr lang="en-US" b="1" i="0" dirty="0">
                <a:solidFill>
                  <a:srgbClr val="0000CC"/>
                </a:solidFill>
                <a:effectLst/>
              </a:rPr>
              <a:t>the whole record is retrieved using that address. </a:t>
            </a:r>
          </a:p>
        </p:txBody>
      </p:sp>
      <p:sp>
        <p:nvSpPr>
          <p:cNvPr id="4" name="Content Placeholder 2">
            <a:extLst>
              <a:ext uri="{FF2B5EF4-FFF2-40B4-BE49-F238E27FC236}">
                <a16:creationId xmlns:a16="http://schemas.microsoft.com/office/drawing/2014/main" xmlns="" id="{BF67228E-48A4-404E-A963-FCACEDF9A591}"/>
              </a:ext>
            </a:extLst>
          </p:cNvPr>
          <p:cNvSpPr txBox="1">
            <a:spLocks/>
          </p:cNvSpPr>
          <p:nvPr/>
        </p:nvSpPr>
        <p:spPr>
          <a:xfrm>
            <a:off x="6774873" y="3856038"/>
            <a:ext cx="5237020" cy="28352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0" i="0" dirty="0">
                <a:effectLst/>
              </a:rPr>
              <a:t>In the same way, </a:t>
            </a:r>
            <a:r>
              <a:rPr lang="en-US" b="1" i="0" dirty="0">
                <a:solidFill>
                  <a:srgbClr val="0000CC"/>
                </a:solidFill>
                <a:effectLst/>
              </a:rPr>
              <a:t>when a new record has to be inserted, then the address is generated using the hash key and record is directly inserted. </a:t>
            </a:r>
            <a:r>
              <a:rPr lang="en-US" b="1" i="0" dirty="0">
                <a:solidFill>
                  <a:srgbClr val="C00000"/>
                </a:solidFill>
                <a:effectLst/>
              </a:rPr>
              <a:t>The same process is applied in the case of delete and update.</a:t>
            </a:r>
            <a:endParaRPr lang="en-US" b="1" dirty="0">
              <a:solidFill>
                <a:srgbClr val="C00000"/>
              </a:solidFill>
            </a:endParaRPr>
          </a:p>
        </p:txBody>
      </p:sp>
      <p:pic>
        <p:nvPicPr>
          <p:cNvPr id="2050" name="Picture 2" descr="DBMS Hash File Organization">
            <a:extLst>
              <a:ext uri="{FF2B5EF4-FFF2-40B4-BE49-F238E27FC236}">
                <a16:creationId xmlns:a16="http://schemas.microsoft.com/office/drawing/2014/main" xmlns="" id="{67F38EE1-AC20-8475-2876-298C96EBA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455" y="166686"/>
            <a:ext cx="4585855" cy="3463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660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a:xfrm>
            <a:off x="838200" y="365125"/>
            <a:ext cx="10515600" cy="549275"/>
          </a:xfrm>
        </p:spPr>
        <p:txBody>
          <a:bodyPr>
            <a:normAutofit fontScale="90000"/>
          </a:bodyPr>
          <a:lstStyle/>
          <a:p>
            <a:r>
              <a:rPr lang="en-US" sz="4000" b="1" i="0" dirty="0">
                <a:solidFill>
                  <a:srgbClr val="303030"/>
                </a:solidFill>
                <a:effectLst/>
                <a:latin typeface="+mn-lt"/>
                <a:cs typeface="Heebo" pitchFamily="2" charset="-79"/>
              </a:rPr>
              <a:t>File Structures</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180109" y="678874"/>
            <a:ext cx="11637820" cy="5814001"/>
          </a:xfrm>
        </p:spPr>
        <p:txBody>
          <a:bodyPr>
            <a:normAutofit/>
          </a:bodyPr>
          <a:lstStyle/>
          <a:p>
            <a:pPr algn="just"/>
            <a:r>
              <a:rPr lang="en-US" b="1" i="0" dirty="0">
                <a:effectLst/>
              </a:rPr>
              <a:t>Cluster file organization</a:t>
            </a:r>
          </a:p>
          <a:p>
            <a:pPr algn="just">
              <a:buFont typeface="Arial" panose="020B0604020202020204" pitchFamily="34" charset="0"/>
              <a:buChar char="•"/>
            </a:pPr>
            <a:r>
              <a:rPr lang="en-US" b="0" i="0" dirty="0">
                <a:solidFill>
                  <a:srgbClr val="000000"/>
                </a:solidFill>
                <a:effectLst/>
              </a:rPr>
              <a:t>When the </a:t>
            </a:r>
            <a:r>
              <a:rPr lang="en-US" b="1" i="0" dirty="0">
                <a:solidFill>
                  <a:srgbClr val="0000CC"/>
                </a:solidFill>
                <a:effectLst/>
              </a:rPr>
              <a:t>two or more </a:t>
            </a:r>
            <a:r>
              <a:rPr lang="en-US" b="1" i="0" dirty="0" smtClean="0">
                <a:solidFill>
                  <a:srgbClr val="0000CC"/>
                </a:solidFill>
                <a:effectLst/>
              </a:rPr>
              <a:t>tables/records </a:t>
            </a:r>
            <a:r>
              <a:rPr lang="en-US" b="1" i="0" dirty="0">
                <a:solidFill>
                  <a:srgbClr val="0000CC"/>
                </a:solidFill>
                <a:effectLst/>
              </a:rPr>
              <a:t>are stored in the same file, it is known as clusters.</a:t>
            </a:r>
            <a:r>
              <a:rPr lang="en-US" b="0" i="0" dirty="0">
                <a:solidFill>
                  <a:srgbClr val="000000"/>
                </a:solidFill>
                <a:effectLst/>
              </a:rPr>
              <a:t> </a:t>
            </a:r>
          </a:p>
          <a:p>
            <a:pPr algn="just">
              <a:buFont typeface="Arial" panose="020B0604020202020204" pitchFamily="34" charset="0"/>
              <a:buChar char="•"/>
            </a:pPr>
            <a:r>
              <a:rPr lang="en-US" b="0" i="0" dirty="0">
                <a:solidFill>
                  <a:srgbClr val="000000"/>
                </a:solidFill>
                <a:effectLst/>
              </a:rPr>
              <a:t>These files </a:t>
            </a:r>
            <a:r>
              <a:rPr lang="en-US" b="1" i="0" dirty="0">
                <a:solidFill>
                  <a:srgbClr val="0000CC"/>
                </a:solidFill>
                <a:effectLst/>
              </a:rPr>
              <a:t>will have two or more tables in the same data block, and key attributes which are used to map these tables together </a:t>
            </a:r>
            <a:r>
              <a:rPr lang="en-US" b="0" i="0" dirty="0">
                <a:solidFill>
                  <a:srgbClr val="000000"/>
                </a:solidFill>
                <a:effectLst/>
              </a:rPr>
              <a:t>are stored only once.</a:t>
            </a:r>
          </a:p>
          <a:p>
            <a:pPr algn="just">
              <a:buFont typeface="Arial" panose="020B0604020202020204" pitchFamily="34" charset="0"/>
              <a:buChar char="•"/>
            </a:pPr>
            <a:r>
              <a:rPr lang="en-US" b="0" i="0" dirty="0">
                <a:solidFill>
                  <a:srgbClr val="000000"/>
                </a:solidFill>
                <a:effectLst/>
              </a:rPr>
              <a:t>The cluster file organization is </a:t>
            </a:r>
            <a:r>
              <a:rPr lang="en-US" b="1" i="0" dirty="0">
                <a:solidFill>
                  <a:srgbClr val="0000CC"/>
                </a:solidFill>
                <a:effectLst/>
              </a:rPr>
              <a:t>used when there is a frequent need for joining the tables with the same condition. </a:t>
            </a:r>
            <a:endParaRPr lang="en-US" b="0" i="0" dirty="0">
              <a:solidFill>
                <a:srgbClr val="000000"/>
              </a:solidFill>
              <a:effectLst/>
            </a:endParaRPr>
          </a:p>
          <a:p>
            <a:pPr algn="just">
              <a:buFont typeface="Arial" panose="020B0604020202020204" pitchFamily="34" charset="0"/>
              <a:buChar char="•"/>
            </a:pPr>
            <a:r>
              <a:rPr lang="en-US" b="0" i="0" dirty="0">
                <a:effectLst/>
              </a:rPr>
              <a:t>In this method, </a:t>
            </a:r>
            <a:r>
              <a:rPr lang="en-US" b="1" i="0" dirty="0">
                <a:solidFill>
                  <a:srgbClr val="0000CC"/>
                </a:solidFill>
                <a:effectLst/>
              </a:rPr>
              <a:t>we can directly insert, update or delete any record. </a:t>
            </a:r>
            <a:r>
              <a:rPr lang="en-US" b="0" i="0" dirty="0">
                <a:effectLst/>
              </a:rPr>
              <a:t>Data is sorted based on the key with which searching is done. Cluster key is a type of key with which joining of the table is performed.</a:t>
            </a:r>
          </a:p>
        </p:txBody>
      </p:sp>
    </p:spTree>
    <p:extLst>
      <p:ext uri="{BB962C8B-B14F-4D97-AF65-F5344CB8AC3E}">
        <p14:creationId xmlns:p14="http://schemas.microsoft.com/office/powerpoint/2010/main" val="4039485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a:xfrm>
            <a:off x="838200" y="365125"/>
            <a:ext cx="10515600" cy="549275"/>
          </a:xfrm>
        </p:spPr>
        <p:txBody>
          <a:bodyPr>
            <a:normAutofit fontScale="90000"/>
          </a:bodyPr>
          <a:lstStyle/>
          <a:p>
            <a:r>
              <a:rPr lang="en-US" sz="4000" b="1" i="0" dirty="0">
                <a:solidFill>
                  <a:srgbClr val="303030"/>
                </a:solidFill>
                <a:effectLst/>
                <a:latin typeface="+mn-lt"/>
                <a:cs typeface="Heebo" pitchFamily="2" charset="-79"/>
              </a:rPr>
              <a:t>File Structures</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180108" y="678874"/>
            <a:ext cx="6659273" cy="5814001"/>
          </a:xfrm>
        </p:spPr>
        <p:txBody>
          <a:bodyPr>
            <a:normAutofit fontScale="92500" lnSpcReduction="10000"/>
          </a:bodyPr>
          <a:lstStyle/>
          <a:p>
            <a:pPr algn="just"/>
            <a:r>
              <a:rPr lang="en-US" b="0" i="0" dirty="0">
                <a:effectLst/>
              </a:rPr>
              <a:t>In the given example, we are retrieving the record for only particular departments. </a:t>
            </a:r>
          </a:p>
          <a:p>
            <a:pPr algn="just"/>
            <a:r>
              <a:rPr lang="en-US" b="0" i="0" dirty="0">
                <a:effectLst/>
              </a:rPr>
              <a:t>Types of Cluster file organization:</a:t>
            </a:r>
          </a:p>
          <a:p>
            <a:pPr algn="just"/>
            <a:r>
              <a:rPr lang="en-US" b="1" i="0" dirty="0">
                <a:effectLst/>
              </a:rPr>
              <a:t>1. Indexed Clusters:</a:t>
            </a:r>
          </a:p>
          <a:p>
            <a:pPr algn="just"/>
            <a:r>
              <a:rPr lang="en-US" b="0" i="0" dirty="0">
                <a:effectLst/>
              </a:rPr>
              <a:t>In indexed cluster, </a:t>
            </a:r>
            <a:r>
              <a:rPr lang="en-US" b="1" i="0" dirty="0">
                <a:solidFill>
                  <a:srgbClr val="0000CC"/>
                </a:solidFill>
                <a:effectLst/>
              </a:rPr>
              <a:t>records are grouped based on the cluster key and stored together</a:t>
            </a:r>
            <a:r>
              <a:rPr lang="en-US" b="0" i="0" dirty="0">
                <a:effectLst/>
              </a:rPr>
              <a:t>. The EMPLOYEE and DEPARTMENT relationship is an example of an indexed cluster. </a:t>
            </a:r>
            <a:r>
              <a:rPr lang="en-US" b="1" i="0" dirty="0">
                <a:solidFill>
                  <a:srgbClr val="0000CC"/>
                </a:solidFill>
                <a:effectLst/>
              </a:rPr>
              <a:t>Here, all the records are grouped based on the cluster key- DEP_ID </a:t>
            </a:r>
            <a:r>
              <a:rPr lang="en-US" b="0" i="0" dirty="0">
                <a:effectLst/>
              </a:rPr>
              <a:t>and all the records are grouped.</a:t>
            </a:r>
          </a:p>
          <a:p>
            <a:pPr algn="just"/>
            <a:r>
              <a:rPr lang="en-US" b="1" i="0" dirty="0">
                <a:effectLst/>
              </a:rPr>
              <a:t>2. Hash Clusters:</a:t>
            </a:r>
          </a:p>
          <a:p>
            <a:pPr algn="just"/>
            <a:r>
              <a:rPr lang="en-US" b="0" i="0" dirty="0">
                <a:effectLst/>
              </a:rPr>
              <a:t>It is similar to the indexed cluster. In hash cluster, instead of storing the records based on the cluster key, </a:t>
            </a:r>
            <a:r>
              <a:rPr lang="en-US" b="1" i="0" dirty="0">
                <a:solidFill>
                  <a:srgbClr val="0000CC"/>
                </a:solidFill>
                <a:effectLst/>
              </a:rPr>
              <a:t>it generate the value of the hash key for the cluster key and store the records with the same hash key value.</a:t>
            </a:r>
          </a:p>
          <a:p>
            <a:pPr algn="just"/>
            <a:endParaRPr lang="en-US" b="0" i="0" dirty="0">
              <a:solidFill>
                <a:srgbClr val="000000"/>
              </a:solidFill>
              <a:effectLst/>
              <a:latin typeface="inter-regular"/>
            </a:endParaRPr>
          </a:p>
        </p:txBody>
      </p:sp>
      <p:pic>
        <p:nvPicPr>
          <p:cNvPr id="5122" name="Picture 2" descr="DBMS Cluster file organization">
            <a:extLst>
              <a:ext uri="{FF2B5EF4-FFF2-40B4-BE49-F238E27FC236}">
                <a16:creationId xmlns:a16="http://schemas.microsoft.com/office/drawing/2014/main" xmlns="" id="{DAE093F4-BE5B-4191-C81B-871E644C06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6630" y="3034146"/>
            <a:ext cx="4962525" cy="332509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DBMS Cluster file organization">
            <a:extLst>
              <a:ext uri="{FF2B5EF4-FFF2-40B4-BE49-F238E27FC236}">
                <a16:creationId xmlns:a16="http://schemas.microsoft.com/office/drawing/2014/main" xmlns="" id="{4D0F92B3-29BB-219D-D48F-52C75B6E64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9382" y="365125"/>
            <a:ext cx="5237020" cy="2446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3340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641"/>
          </a:xfrm>
        </p:spPr>
        <p:txBody>
          <a:bodyPr/>
          <a:lstStyle/>
          <a:p>
            <a:r>
              <a:rPr lang="en-US" dirty="0" smtClean="0"/>
              <a:t>Indexing</a:t>
            </a:r>
            <a:endParaRPr lang="en-US" dirty="0"/>
          </a:p>
        </p:txBody>
      </p:sp>
      <p:sp>
        <p:nvSpPr>
          <p:cNvPr id="3" name="Content Placeholder 2"/>
          <p:cNvSpPr>
            <a:spLocks noGrp="1"/>
          </p:cNvSpPr>
          <p:nvPr>
            <p:ph idx="1"/>
          </p:nvPr>
        </p:nvSpPr>
        <p:spPr>
          <a:xfrm>
            <a:off x="746975" y="1159099"/>
            <a:ext cx="10606825" cy="5017864"/>
          </a:xfrm>
        </p:spPr>
        <p:txBody>
          <a:bodyPr>
            <a:normAutofit fontScale="92500"/>
          </a:bodyPr>
          <a:lstStyle/>
          <a:p>
            <a:pPr lvl="0" algn="just"/>
            <a:r>
              <a:rPr lang="en-US" dirty="0"/>
              <a:t>Indexing is used to optimize the performance of a database by minimizing the number of disk accesses required when a query is processed.</a:t>
            </a:r>
          </a:p>
          <a:p>
            <a:pPr algn="just"/>
            <a:r>
              <a:rPr lang="en-US" dirty="0" smtClean="0"/>
              <a:t>Index </a:t>
            </a:r>
            <a:r>
              <a:rPr lang="en-US" dirty="0"/>
              <a:t>structure:</a:t>
            </a:r>
          </a:p>
          <a:p>
            <a:pPr algn="just"/>
            <a:endParaRPr lang="en-US" dirty="0" smtClean="0"/>
          </a:p>
          <a:p>
            <a:pPr algn="just"/>
            <a:r>
              <a:rPr lang="en-US" dirty="0" smtClean="0"/>
              <a:t>Indexes </a:t>
            </a:r>
            <a:r>
              <a:rPr lang="en-US" dirty="0"/>
              <a:t>can be created using some database columns.</a:t>
            </a:r>
          </a:p>
          <a:p>
            <a:pPr lvl="0" algn="just"/>
            <a:r>
              <a:rPr lang="en-US" dirty="0">
                <a:solidFill>
                  <a:srgbClr val="FF0000"/>
                </a:solidFill>
              </a:rPr>
              <a:t>The first column of the database is the search key that contains a copy of the primary key or candidate key of the table</a:t>
            </a:r>
            <a:r>
              <a:rPr lang="en-US" dirty="0"/>
              <a:t>. The values of the primary key are stored in sorted order so that the corresponding data can be accessed easily.</a:t>
            </a:r>
          </a:p>
          <a:p>
            <a:pPr lvl="0" algn="just"/>
            <a:r>
              <a:rPr lang="en-US" dirty="0"/>
              <a:t>The second column of the database is the </a:t>
            </a:r>
            <a:r>
              <a:rPr lang="en-US" dirty="0">
                <a:solidFill>
                  <a:srgbClr val="FF0000"/>
                </a:solidFill>
              </a:rPr>
              <a:t>data reference. It contains a set of pointers holding the address of the disk block where the value of the particular key can be found.</a:t>
            </a:r>
          </a:p>
          <a:p>
            <a:endParaRPr lang="en-US" dirty="0"/>
          </a:p>
        </p:txBody>
      </p:sp>
      <p:pic>
        <p:nvPicPr>
          <p:cNvPr id="4" name="Picture 3" descr="DBMS Indexing in DBMS"/>
          <p:cNvPicPr/>
          <p:nvPr/>
        </p:nvPicPr>
        <p:blipFill>
          <a:blip r:embed="rId2">
            <a:extLst>
              <a:ext uri="{28A0092B-C50C-407E-A947-70E740481C1C}">
                <a14:useLocalDpi xmlns:a14="http://schemas.microsoft.com/office/drawing/2010/main" val="0"/>
              </a:ext>
            </a:extLst>
          </a:blip>
          <a:srcRect/>
          <a:stretch>
            <a:fillRect/>
          </a:stretch>
        </p:blipFill>
        <p:spPr bwMode="auto">
          <a:xfrm>
            <a:off x="3851990" y="1851002"/>
            <a:ext cx="4029880" cy="1095375"/>
          </a:xfrm>
          <a:prstGeom prst="rect">
            <a:avLst/>
          </a:prstGeom>
          <a:noFill/>
          <a:ln>
            <a:noFill/>
          </a:ln>
        </p:spPr>
      </p:pic>
    </p:spTree>
    <p:extLst>
      <p:ext uri="{BB962C8B-B14F-4D97-AF65-F5344CB8AC3E}">
        <p14:creationId xmlns:p14="http://schemas.microsoft.com/office/powerpoint/2010/main" val="2313550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a:xfrm>
            <a:off x="838200" y="365125"/>
            <a:ext cx="10515600" cy="549275"/>
          </a:xfrm>
        </p:spPr>
        <p:txBody>
          <a:bodyPr>
            <a:normAutofit fontScale="90000"/>
          </a:bodyPr>
          <a:lstStyle/>
          <a:p>
            <a:r>
              <a:rPr lang="en-US" sz="4000" b="1" i="0" dirty="0">
                <a:solidFill>
                  <a:srgbClr val="303030"/>
                </a:solidFill>
                <a:effectLst/>
                <a:latin typeface="+mn-lt"/>
                <a:cs typeface="Heebo" pitchFamily="2" charset="-79"/>
              </a:rPr>
              <a:t>File Structures</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180109" y="678874"/>
            <a:ext cx="6400800" cy="5814001"/>
          </a:xfrm>
        </p:spPr>
        <p:txBody>
          <a:bodyPr>
            <a:normAutofit/>
          </a:bodyPr>
          <a:lstStyle/>
          <a:p>
            <a:pPr algn="just"/>
            <a:r>
              <a:rPr lang="en-US" b="1" i="0" dirty="0">
                <a:effectLst/>
              </a:rPr>
              <a:t>Indexed sequential access method (ISAM)</a:t>
            </a:r>
          </a:p>
          <a:p>
            <a:pPr algn="just"/>
            <a:r>
              <a:rPr lang="en-US" b="0" i="0" dirty="0">
                <a:effectLst/>
              </a:rPr>
              <a:t>ISAM method is an advanced sequential file organization. In this method, </a:t>
            </a:r>
            <a:r>
              <a:rPr lang="en-US" b="1" i="0" dirty="0">
                <a:effectLst/>
              </a:rPr>
              <a:t>records are stored in the file using the primary key. </a:t>
            </a:r>
          </a:p>
          <a:p>
            <a:pPr algn="just"/>
            <a:r>
              <a:rPr lang="en-US" b="0" i="0" dirty="0">
                <a:effectLst/>
              </a:rPr>
              <a:t>An </a:t>
            </a:r>
            <a:r>
              <a:rPr lang="en-US" b="1" i="0" dirty="0">
                <a:solidFill>
                  <a:srgbClr val="0000CC"/>
                </a:solidFill>
                <a:effectLst/>
              </a:rPr>
              <a:t>index value is generated for each primary key and mapped with the record. </a:t>
            </a:r>
            <a:r>
              <a:rPr lang="en-US" b="1" i="0" dirty="0">
                <a:solidFill>
                  <a:srgbClr val="C00000"/>
                </a:solidFill>
                <a:effectLst/>
              </a:rPr>
              <a:t>This index contains the address of the record in the file.</a:t>
            </a:r>
          </a:p>
        </p:txBody>
      </p:sp>
      <p:sp>
        <p:nvSpPr>
          <p:cNvPr id="4" name="Content Placeholder 2">
            <a:extLst>
              <a:ext uri="{FF2B5EF4-FFF2-40B4-BE49-F238E27FC236}">
                <a16:creationId xmlns:a16="http://schemas.microsoft.com/office/drawing/2014/main" xmlns="" id="{BF67228E-48A4-404E-A963-FCACEDF9A591}"/>
              </a:ext>
            </a:extLst>
          </p:cNvPr>
          <p:cNvSpPr txBox="1">
            <a:spLocks/>
          </p:cNvSpPr>
          <p:nvPr/>
        </p:nvSpPr>
        <p:spPr>
          <a:xfrm>
            <a:off x="6580909" y="4213945"/>
            <a:ext cx="5237020" cy="2486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b="1" i="0" dirty="0">
                <a:effectLst/>
              </a:rPr>
              <a:t>If any record has to be retrieved based on its index value, then the address of the data block is fetched and the record is retrieved from the memory.</a:t>
            </a:r>
          </a:p>
        </p:txBody>
      </p:sp>
      <p:pic>
        <p:nvPicPr>
          <p:cNvPr id="4098" name="Picture 2" descr="DBMS Indexed sequential access method">
            <a:extLst>
              <a:ext uri="{FF2B5EF4-FFF2-40B4-BE49-F238E27FC236}">
                <a16:creationId xmlns:a16="http://schemas.microsoft.com/office/drawing/2014/main" xmlns="" id="{26A7161D-73D1-0C63-8440-4F6904F46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0909" y="365125"/>
            <a:ext cx="539115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189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7DAECD-E68E-C1DE-A4A0-3780569C2B08}"/>
              </a:ext>
            </a:extLst>
          </p:cNvPr>
          <p:cNvSpPr>
            <a:spLocks noGrp="1"/>
          </p:cNvSpPr>
          <p:nvPr>
            <p:ph type="title"/>
          </p:nvPr>
        </p:nvSpPr>
        <p:spPr>
          <a:xfrm>
            <a:off x="838200" y="365125"/>
            <a:ext cx="10515600" cy="549275"/>
          </a:xfrm>
        </p:spPr>
        <p:txBody>
          <a:bodyPr>
            <a:normAutofit fontScale="90000"/>
          </a:bodyPr>
          <a:lstStyle/>
          <a:p>
            <a:r>
              <a:rPr lang="en-US" sz="4000" b="1" i="0" dirty="0">
                <a:solidFill>
                  <a:srgbClr val="303030"/>
                </a:solidFill>
                <a:effectLst/>
                <a:latin typeface="+mn-lt"/>
                <a:cs typeface="Heebo" pitchFamily="2" charset="-79"/>
              </a:rPr>
              <a:t>File Structures</a:t>
            </a:r>
            <a:r>
              <a:rPr lang="en-US" b="0" i="0" dirty="0">
                <a:solidFill>
                  <a:srgbClr val="303030"/>
                </a:solidFill>
                <a:effectLst/>
                <a:latin typeface="Heebo" pitchFamily="2" charset="-79"/>
                <a:cs typeface="Heebo" pitchFamily="2" charset="-79"/>
              </a:rPr>
              <a:t/>
            </a:r>
            <a:br>
              <a:rPr lang="en-US" b="0" i="0" dirty="0">
                <a:solidFill>
                  <a:srgbClr val="303030"/>
                </a:solidFill>
                <a:effectLst/>
                <a:latin typeface="Heebo" pitchFamily="2" charset="-79"/>
                <a:cs typeface="Heebo" pitchFamily="2" charset="-79"/>
              </a:rPr>
            </a:br>
            <a:endParaRPr lang="en-US" dirty="0"/>
          </a:p>
        </p:txBody>
      </p:sp>
      <p:sp>
        <p:nvSpPr>
          <p:cNvPr id="3" name="Content Placeholder 2">
            <a:extLst>
              <a:ext uri="{FF2B5EF4-FFF2-40B4-BE49-F238E27FC236}">
                <a16:creationId xmlns:a16="http://schemas.microsoft.com/office/drawing/2014/main" xmlns="" id="{78BF2B2A-C247-ADB4-0A20-771D936B64D1}"/>
              </a:ext>
            </a:extLst>
          </p:cNvPr>
          <p:cNvSpPr>
            <a:spLocks noGrp="1"/>
          </p:cNvSpPr>
          <p:nvPr>
            <p:ph idx="1"/>
          </p:nvPr>
        </p:nvSpPr>
        <p:spPr>
          <a:xfrm>
            <a:off x="180109" y="678874"/>
            <a:ext cx="6400800" cy="5814001"/>
          </a:xfrm>
        </p:spPr>
        <p:txBody>
          <a:bodyPr>
            <a:normAutofit lnSpcReduction="10000"/>
          </a:bodyPr>
          <a:lstStyle/>
          <a:p>
            <a:pPr algn="just"/>
            <a:r>
              <a:rPr lang="en-US" b="1" i="0" dirty="0">
                <a:effectLst/>
              </a:rPr>
              <a:t>B+ File Organization</a:t>
            </a:r>
          </a:p>
          <a:p>
            <a:pPr algn="just">
              <a:buFont typeface="Arial" panose="020B0604020202020204" pitchFamily="34" charset="0"/>
              <a:buChar char="•"/>
            </a:pPr>
            <a:r>
              <a:rPr lang="en-US" b="0" i="0" dirty="0">
                <a:effectLst/>
              </a:rPr>
              <a:t>B+ tree file organization is the </a:t>
            </a:r>
            <a:r>
              <a:rPr lang="en-US" b="1" i="0" dirty="0">
                <a:solidFill>
                  <a:srgbClr val="0000CC"/>
                </a:solidFill>
                <a:effectLst/>
              </a:rPr>
              <a:t>advanced method of an indexed sequential access method. It uses a tree-like structure </a:t>
            </a:r>
            <a:r>
              <a:rPr lang="en-US" b="0" i="0" dirty="0">
                <a:effectLst/>
              </a:rPr>
              <a:t>to store records in File.</a:t>
            </a:r>
          </a:p>
          <a:p>
            <a:pPr algn="just">
              <a:buFont typeface="Arial" panose="020B0604020202020204" pitchFamily="34" charset="0"/>
              <a:buChar char="•"/>
            </a:pPr>
            <a:r>
              <a:rPr lang="en-US" b="0" i="0" dirty="0">
                <a:effectLst/>
              </a:rPr>
              <a:t>It uses the same concept of key-index where the primary key is used to sort the records. </a:t>
            </a:r>
            <a:r>
              <a:rPr lang="en-US" b="1" i="0" dirty="0">
                <a:solidFill>
                  <a:srgbClr val="0000CC"/>
                </a:solidFill>
                <a:effectLst/>
              </a:rPr>
              <a:t>For each primary key, the value of the index is generated and mapped with the record.</a:t>
            </a:r>
          </a:p>
          <a:p>
            <a:pPr algn="just">
              <a:buFont typeface="Arial" panose="020B0604020202020204" pitchFamily="34" charset="0"/>
              <a:buChar char="•"/>
            </a:pPr>
            <a:r>
              <a:rPr lang="en-US" b="0" i="0" dirty="0">
                <a:effectLst/>
              </a:rPr>
              <a:t>In this method, </a:t>
            </a:r>
            <a:r>
              <a:rPr lang="en-US" b="1" i="0" dirty="0">
                <a:solidFill>
                  <a:srgbClr val="0000CC"/>
                </a:solidFill>
                <a:effectLst/>
              </a:rPr>
              <a:t>all the records are stored only at the leaf node</a:t>
            </a:r>
            <a:r>
              <a:rPr lang="en-US" b="0" i="0" dirty="0">
                <a:effectLst/>
              </a:rPr>
              <a:t>. </a:t>
            </a:r>
            <a:r>
              <a:rPr lang="en-US" b="1" i="0" dirty="0">
                <a:solidFill>
                  <a:srgbClr val="C00000"/>
                </a:solidFill>
                <a:effectLst/>
              </a:rPr>
              <a:t>Intermediate nodes act as a pointer to the leaf nodes. They do not contain any records.</a:t>
            </a:r>
          </a:p>
        </p:txBody>
      </p:sp>
      <p:sp>
        <p:nvSpPr>
          <p:cNvPr id="4" name="Content Placeholder 2">
            <a:extLst>
              <a:ext uri="{FF2B5EF4-FFF2-40B4-BE49-F238E27FC236}">
                <a16:creationId xmlns:a16="http://schemas.microsoft.com/office/drawing/2014/main" xmlns="" id="{BF67228E-48A4-404E-A963-FCACEDF9A591}"/>
              </a:ext>
            </a:extLst>
          </p:cNvPr>
          <p:cNvSpPr txBox="1">
            <a:spLocks/>
          </p:cNvSpPr>
          <p:nvPr/>
        </p:nvSpPr>
        <p:spPr>
          <a:xfrm>
            <a:off x="6774873" y="2662236"/>
            <a:ext cx="5237020" cy="402907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b="0" i="0" dirty="0">
                <a:solidFill>
                  <a:srgbClr val="000000"/>
                </a:solidFill>
                <a:effectLst/>
                <a:latin typeface="inter-regular"/>
              </a:rPr>
              <a:t>There is one root node of the tree, i.e., 25. There is an intermediary layer with nodes. </a:t>
            </a:r>
            <a:r>
              <a:rPr lang="en-US" b="1" i="0" dirty="0">
                <a:solidFill>
                  <a:srgbClr val="0000CC"/>
                </a:solidFill>
                <a:effectLst/>
                <a:latin typeface="inter-regular"/>
              </a:rPr>
              <a:t>They do not store the actual record. They have only pointers to the leaf node.</a:t>
            </a:r>
          </a:p>
          <a:p>
            <a:pPr algn="just">
              <a:buFont typeface="Arial" panose="020B0604020202020204" pitchFamily="34" charset="0"/>
              <a:buChar char="•"/>
            </a:pPr>
            <a:r>
              <a:rPr lang="en-US" b="0" i="0" dirty="0">
                <a:solidFill>
                  <a:srgbClr val="000000"/>
                </a:solidFill>
                <a:effectLst/>
                <a:latin typeface="inter-regular"/>
              </a:rPr>
              <a:t>The nodes to the left of the root node contain the prior value of the root and nodes to the right contain next value of the root, i.e., 15 and 30 respectively.</a:t>
            </a:r>
          </a:p>
          <a:p>
            <a:pPr algn="just">
              <a:buFont typeface="Arial" panose="020B0604020202020204" pitchFamily="34" charset="0"/>
              <a:buChar char="•"/>
            </a:pPr>
            <a:r>
              <a:rPr lang="en-US" b="1" i="0" dirty="0">
                <a:solidFill>
                  <a:srgbClr val="0000CC"/>
                </a:solidFill>
                <a:effectLst/>
                <a:latin typeface="inter-regular"/>
              </a:rPr>
              <a:t>There is only one leaf node which has only values, i.e., 10, 12, 17, 20, 24, 27 and 29.</a:t>
            </a:r>
          </a:p>
        </p:txBody>
      </p:sp>
      <p:pic>
        <p:nvPicPr>
          <p:cNvPr id="3074" name="Picture 2" descr="DBMS B+ File Organization">
            <a:extLst>
              <a:ext uri="{FF2B5EF4-FFF2-40B4-BE49-F238E27FC236}">
                <a16:creationId xmlns:a16="http://schemas.microsoft.com/office/drawing/2014/main" xmlns="" id="{4F9E7074-7B7B-59CA-7B7F-BE7FF2514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7719" y="166686"/>
            <a:ext cx="4731327"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257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29046-7D1F-EFF3-1A66-3283377A9C70}"/>
              </a:ext>
            </a:extLst>
          </p:cNvPr>
          <p:cNvSpPr>
            <a:spLocks noGrp="1"/>
          </p:cNvSpPr>
          <p:nvPr>
            <p:ph type="title"/>
          </p:nvPr>
        </p:nvSpPr>
        <p:spPr>
          <a:xfrm>
            <a:off x="162359" y="140278"/>
            <a:ext cx="10515600" cy="912668"/>
          </a:xfrm>
        </p:spPr>
        <p:txBody>
          <a:bodyPr>
            <a:normAutofit/>
          </a:bodyPr>
          <a:lstStyle/>
          <a:p>
            <a:pPr algn="l"/>
            <a:r>
              <a:rPr lang="en-US" sz="4000" b="1" i="0" dirty="0">
                <a:effectLst/>
                <a:latin typeface="+mn-lt"/>
              </a:rPr>
              <a:t>Types of Indexes</a:t>
            </a:r>
          </a:p>
        </p:txBody>
      </p:sp>
      <p:sp>
        <p:nvSpPr>
          <p:cNvPr id="3" name="Content Placeholder 2">
            <a:extLst>
              <a:ext uri="{FF2B5EF4-FFF2-40B4-BE49-F238E27FC236}">
                <a16:creationId xmlns:a16="http://schemas.microsoft.com/office/drawing/2014/main" xmlns="" id="{BCF3B584-1A3D-6B08-DB0B-035221963269}"/>
              </a:ext>
            </a:extLst>
          </p:cNvPr>
          <p:cNvSpPr>
            <a:spLocks noGrp="1"/>
          </p:cNvSpPr>
          <p:nvPr>
            <p:ph idx="1"/>
          </p:nvPr>
        </p:nvSpPr>
        <p:spPr>
          <a:xfrm>
            <a:off x="364318" y="2672029"/>
            <a:ext cx="11669423" cy="4927311"/>
          </a:xfrm>
        </p:spPr>
        <p:txBody>
          <a:bodyPr>
            <a:normAutofit/>
          </a:bodyPr>
          <a:lstStyle/>
          <a:p>
            <a:pPr algn="just"/>
            <a:r>
              <a:rPr lang="en-US" b="1" i="0" dirty="0" smtClean="0">
                <a:effectLst/>
              </a:rPr>
              <a:t>Ordered Indexing</a:t>
            </a:r>
          </a:p>
          <a:p>
            <a:pPr>
              <a:lnSpc>
                <a:spcPct val="100000"/>
              </a:lnSpc>
            </a:pPr>
            <a:r>
              <a:rPr lang="en-US" sz="2400" dirty="0"/>
              <a:t>The </a:t>
            </a:r>
            <a:r>
              <a:rPr lang="en-US" sz="2400" dirty="0">
                <a:solidFill>
                  <a:srgbClr val="FF0000"/>
                </a:solidFill>
              </a:rPr>
              <a:t>indices are usually sorted </a:t>
            </a:r>
            <a:r>
              <a:rPr lang="en-US" sz="2400" dirty="0"/>
              <a:t>to </a:t>
            </a:r>
            <a:endParaRPr lang="en-US" sz="2400" dirty="0" smtClean="0"/>
          </a:p>
          <a:p>
            <a:pPr marL="0" indent="0">
              <a:lnSpc>
                <a:spcPct val="100000"/>
              </a:lnSpc>
              <a:buNone/>
            </a:pPr>
            <a:r>
              <a:rPr lang="en-US" sz="2400" dirty="0"/>
              <a:t> </a:t>
            </a:r>
            <a:r>
              <a:rPr lang="en-US" sz="2400" dirty="0" smtClean="0"/>
              <a:t>   make </a:t>
            </a:r>
            <a:r>
              <a:rPr lang="en-US" sz="2400" dirty="0"/>
              <a:t>searching faster. The indices which are sorted are known as ordered indices.</a:t>
            </a:r>
          </a:p>
          <a:p>
            <a:r>
              <a:rPr lang="en-US" sz="2400" b="1" dirty="0"/>
              <a:t>Example</a:t>
            </a:r>
            <a:r>
              <a:rPr lang="en-US" sz="2400" dirty="0"/>
              <a:t>: Suppose we have an employee table with thousands of record and each of which is 10 bytes long. If their IDs start with 1, 2, 3....and so on and we have to search student with ID-543.</a:t>
            </a:r>
          </a:p>
          <a:p>
            <a:r>
              <a:rPr lang="en-US" sz="2400" dirty="0"/>
              <a:t>In the case of a database with no index, we have to search the disk block from starting till it reaches 543. The DBMS will read the record after reading 543*10=5430 bytes.</a:t>
            </a:r>
          </a:p>
          <a:p>
            <a:r>
              <a:rPr lang="en-US" sz="2400" dirty="0"/>
              <a:t>In the case of an index, we will search using indexes and the DBMS will read the record after reading 542*2= 1084 bytes which are very less compared to the previous case.</a:t>
            </a:r>
          </a:p>
          <a:p>
            <a:pPr algn="just"/>
            <a:endParaRPr lang="en-US" b="1" i="0" dirty="0">
              <a:effectLst/>
            </a:endParaRPr>
          </a:p>
          <a:p>
            <a:pPr algn="l"/>
            <a:endParaRPr lang="en-US" b="0" i="0" dirty="0">
              <a:effectLst/>
              <a:latin typeface="Source Sans Pro" panose="020B0503030403020204" pitchFamily="34" charset="0"/>
            </a:endParaRPr>
          </a:p>
          <a:p>
            <a:pPr algn="just"/>
            <a:endParaRPr lang="en-US" b="1" i="0" dirty="0">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3984" y="-38100"/>
            <a:ext cx="69246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8272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29046-7D1F-EFF3-1A66-3283377A9C70}"/>
              </a:ext>
            </a:extLst>
          </p:cNvPr>
          <p:cNvSpPr>
            <a:spLocks noGrp="1"/>
          </p:cNvSpPr>
          <p:nvPr>
            <p:ph type="title"/>
          </p:nvPr>
        </p:nvSpPr>
        <p:spPr>
          <a:xfrm>
            <a:off x="162359" y="140278"/>
            <a:ext cx="10515600" cy="912668"/>
          </a:xfrm>
        </p:spPr>
        <p:txBody>
          <a:bodyPr>
            <a:normAutofit/>
          </a:bodyPr>
          <a:lstStyle/>
          <a:p>
            <a:pPr algn="l"/>
            <a:r>
              <a:rPr lang="en-US" sz="4000" b="1" i="0" dirty="0">
                <a:effectLst/>
                <a:latin typeface="+mn-lt"/>
              </a:rPr>
              <a:t>Types of Indexes</a:t>
            </a:r>
          </a:p>
        </p:txBody>
      </p:sp>
      <p:sp>
        <p:nvSpPr>
          <p:cNvPr id="3" name="Content Placeholder 2">
            <a:extLst>
              <a:ext uri="{FF2B5EF4-FFF2-40B4-BE49-F238E27FC236}">
                <a16:creationId xmlns:a16="http://schemas.microsoft.com/office/drawing/2014/main" xmlns="" id="{BCF3B584-1A3D-6B08-DB0B-035221963269}"/>
              </a:ext>
            </a:extLst>
          </p:cNvPr>
          <p:cNvSpPr>
            <a:spLocks noGrp="1"/>
          </p:cNvSpPr>
          <p:nvPr>
            <p:ph idx="1"/>
          </p:nvPr>
        </p:nvSpPr>
        <p:spPr>
          <a:xfrm>
            <a:off x="141668" y="978794"/>
            <a:ext cx="12050331" cy="5265563"/>
          </a:xfrm>
        </p:spPr>
        <p:txBody>
          <a:bodyPr>
            <a:normAutofit fontScale="92500" lnSpcReduction="10000"/>
          </a:bodyPr>
          <a:lstStyle/>
          <a:p>
            <a:pPr algn="just"/>
            <a:r>
              <a:rPr lang="en-US" sz="2400" b="1" dirty="0"/>
              <a:t>Primary Indexing:</a:t>
            </a:r>
            <a:r>
              <a:rPr lang="en-US" sz="2400" dirty="0"/>
              <a:t> </a:t>
            </a:r>
          </a:p>
          <a:p>
            <a:pPr algn="just"/>
            <a:r>
              <a:rPr lang="en-US" sz="2400" dirty="0"/>
              <a:t>If the index is created on the basis of the  </a:t>
            </a:r>
            <a:r>
              <a:rPr lang="en-US" sz="2400" dirty="0" smtClean="0"/>
              <a:t>primary </a:t>
            </a:r>
            <a:r>
              <a:rPr lang="en-US" sz="2400" dirty="0"/>
              <a:t>key of the table, then it is known as  </a:t>
            </a:r>
            <a:r>
              <a:rPr lang="en-US" sz="2400" dirty="0" smtClean="0"/>
              <a:t> primary </a:t>
            </a:r>
            <a:r>
              <a:rPr lang="en-US" sz="2400" dirty="0"/>
              <a:t>indexing. </a:t>
            </a:r>
            <a:endParaRPr lang="en-US" sz="2400" dirty="0" smtClean="0"/>
          </a:p>
          <a:p>
            <a:pPr algn="just"/>
            <a:r>
              <a:rPr lang="en-US" sz="2400" dirty="0" smtClean="0"/>
              <a:t>These </a:t>
            </a:r>
            <a:r>
              <a:rPr lang="en-US" sz="2400" dirty="0"/>
              <a:t>primary keys </a:t>
            </a:r>
            <a:r>
              <a:rPr lang="en-US" sz="2400" dirty="0" smtClean="0"/>
              <a:t>are unique </a:t>
            </a:r>
            <a:r>
              <a:rPr lang="en-US" sz="2400" dirty="0"/>
              <a:t>to each record and contain </a:t>
            </a:r>
            <a:r>
              <a:rPr lang="en-US" sz="2400" dirty="0" smtClean="0"/>
              <a:t>1:1 relation </a:t>
            </a:r>
            <a:r>
              <a:rPr lang="en-US" sz="2400" dirty="0"/>
              <a:t>between the records.</a:t>
            </a:r>
          </a:p>
          <a:p>
            <a:pPr algn="just"/>
            <a:r>
              <a:rPr lang="en-US" sz="2400" dirty="0"/>
              <a:t>As primary keys are stored </a:t>
            </a:r>
            <a:r>
              <a:rPr lang="en-US" sz="2400" dirty="0" smtClean="0"/>
              <a:t>in </a:t>
            </a:r>
            <a:r>
              <a:rPr lang="en-US" sz="2400" dirty="0"/>
              <a:t>sorted </a:t>
            </a:r>
            <a:r>
              <a:rPr lang="en-US" sz="2400" dirty="0" smtClean="0"/>
              <a:t>order, the </a:t>
            </a:r>
            <a:r>
              <a:rPr lang="en-US" sz="2400" dirty="0"/>
              <a:t>performance of the searching operation is quite efficient.</a:t>
            </a:r>
          </a:p>
          <a:p>
            <a:pPr algn="just"/>
            <a:endParaRPr lang="en-US" b="0" i="1" dirty="0" smtClean="0">
              <a:effectLst/>
            </a:endParaRPr>
          </a:p>
          <a:p>
            <a:pPr algn="just"/>
            <a:r>
              <a:rPr lang="en-US" b="0" i="1" dirty="0" smtClean="0">
                <a:effectLst/>
              </a:rPr>
              <a:t>Characteristics </a:t>
            </a:r>
            <a:r>
              <a:rPr lang="en-US" b="0" i="1" dirty="0">
                <a:effectLst/>
              </a:rPr>
              <a:t>of Primary Indexing:</a:t>
            </a:r>
            <a:endParaRPr lang="en-US" b="0" i="0" dirty="0">
              <a:effectLst/>
            </a:endParaRPr>
          </a:p>
          <a:p>
            <a:pPr algn="just">
              <a:buFont typeface="Arial" panose="020B0604020202020204" pitchFamily="34" charset="0"/>
              <a:buChar char="•"/>
            </a:pPr>
            <a:r>
              <a:rPr lang="en-US" b="0" i="0" dirty="0">
                <a:effectLst/>
              </a:rPr>
              <a:t>Search Keys are unique.</a:t>
            </a:r>
          </a:p>
          <a:p>
            <a:pPr algn="just">
              <a:buFont typeface="Arial" panose="020B0604020202020204" pitchFamily="34" charset="0"/>
              <a:buChar char="•"/>
            </a:pPr>
            <a:r>
              <a:rPr lang="en-US" b="0" i="0" dirty="0">
                <a:effectLst/>
              </a:rPr>
              <a:t>Search Keys are in sorted order.</a:t>
            </a:r>
          </a:p>
          <a:p>
            <a:pPr algn="just">
              <a:buFont typeface="Arial" panose="020B0604020202020204" pitchFamily="34" charset="0"/>
              <a:buChar char="•"/>
            </a:pPr>
            <a:r>
              <a:rPr lang="en-US" b="0" i="0" dirty="0">
                <a:effectLst/>
              </a:rPr>
              <a:t>Search Keys cannot be null as it </a:t>
            </a:r>
            <a:endParaRPr lang="en-US" b="0" i="0" dirty="0" smtClean="0">
              <a:effectLst/>
            </a:endParaRPr>
          </a:p>
          <a:p>
            <a:pPr marL="0" indent="0" algn="just">
              <a:buNone/>
            </a:pPr>
            <a:r>
              <a:rPr lang="en-US" dirty="0"/>
              <a:t> </a:t>
            </a:r>
            <a:r>
              <a:rPr lang="en-US" dirty="0" smtClean="0"/>
              <a:t> </a:t>
            </a:r>
            <a:r>
              <a:rPr lang="en-US" b="0" i="0" dirty="0" smtClean="0">
                <a:effectLst/>
              </a:rPr>
              <a:t>points </a:t>
            </a:r>
            <a:r>
              <a:rPr lang="en-US" b="0" i="0" dirty="0">
                <a:effectLst/>
              </a:rPr>
              <a:t>to a block of data.</a:t>
            </a:r>
          </a:p>
          <a:p>
            <a:pPr algn="just">
              <a:buFont typeface="Arial" panose="020B0604020202020204" pitchFamily="34" charset="0"/>
              <a:buChar char="•"/>
            </a:pPr>
            <a:r>
              <a:rPr lang="en-US" b="0" i="0" dirty="0">
                <a:effectLst/>
              </a:rPr>
              <a:t>Fast and Efficient Searching.</a:t>
            </a:r>
          </a:p>
          <a:p>
            <a:pPr algn="just"/>
            <a:endParaRPr lang="en-US" b="1" i="0" dirty="0">
              <a:effectLst/>
            </a:endParaRPr>
          </a:p>
        </p:txBody>
      </p:sp>
      <p:pic>
        <p:nvPicPr>
          <p:cNvPr id="5" name="Picture 4">
            <a:extLst>
              <a:ext uri="{FF2B5EF4-FFF2-40B4-BE49-F238E27FC236}">
                <a16:creationId xmlns:a16="http://schemas.microsoft.com/office/drawing/2014/main" xmlns="" id="{4C60F985-04A9-1AC0-00A5-49024B2ED01A}"/>
              </a:ext>
            </a:extLst>
          </p:cNvPr>
          <p:cNvPicPr>
            <a:picLocks noChangeAspect="1"/>
          </p:cNvPicPr>
          <p:nvPr/>
        </p:nvPicPr>
        <p:blipFill>
          <a:blip r:embed="rId2"/>
          <a:stretch>
            <a:fillRect/>
          </a:stretch>
        </p:blipFill>
        <p:spPr>
          <a:xfrm>
            <a:off x="5600753" y="2875086"/>
            <a:ext cx="6230638" cy="3288723"/>
          </a:xfrm>
          <a:prstGeom prst="rect">
            <a:avLst/>
          </a:prstGeom>
        </p:spPr>
      </p:pic>
    </p:spTree>
    <p:extLst>
      <p:ext uri="{BB962C8B-B14F-4D97-AF65-F5344CB8AC3E}">
        <p14:creationId xmlns:p14="http://schemas.microsoft.com/office/powerpoint/2010/main" val="2561763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29046-7D1F-EFF3-1A66-3283377A9C70}"/>
              </a:ext>
            </a:extLst>
          </p:cNvPr>
          <p:cNvSpPr>
            <a:spLocks noGrp="1"/>
          </p:cNvSpPr>
          <p:nvPr>
            <p:ph type="title"/>
          </p:nvPr>
        </p:nvSpPr>
        <p:spPr>
          <a:xfrm>
            <a:off x="162359" y="140278"/>
            <a:ext cx="10515600" cy="912668"/>
          </a:xfrm>
        </p:spPr>
        <p:txBody>
          <a:bodyPr>
            <a:normAutofit/>
          </a:bodyPr>
          <a:lstStyle/>
          <a:p>
            <a:pPr algn="l"/>
            <a:r>
              <a:rPr lang="en-US" sz="4000" b="1" i="0" dirty="0">
                <a:effectLst/>
                <a:latin typeface="+mn-lt"/>
              </a:rPr>
              <a:t>Types of Indexes</a:t>
            </a:r>
          </a:p>
        </p:txBody>
      </p:sp>
      <p:sp>
        <p:nvSpPr>
          <p:cNvPr id="3" name="Content Placeholder 2">
            <a:extLst>
              <a:ext uri="{FF2B5EF4-FFF2-40B4-BE49-F238E27FC236}">
                <a16:creationId xmlns:a16="http://schemas.microsoft.com/office/drawing/2014/main" xmlns="" id="{BCF3B584-1A3D-6B08-DB0B-035221963269}"/>
              </a:ext>
            </a:extLst>
          </p:cNvPr>
          <p:cNvSpPr>
            <a:spLocks noGrp="1"/>
          </p:cNvSpPr>
          <p:nvPr>
            <p:ph idx="1"/>
          </p:nvPr>
        </p:nvSpPr>
        <p:spPr>
          <a:xfrm>
            <a:off x="360219" y="1052946"/>
            <a:ext cx="7426036" cy="5664776"/>
          </a:xfrm>
        </p:spPr>
        <p:txBody>
          <a:bodyPr>
            <a:normAutofit/>
          </a:bodyPr>
          <a:lstStyle/>
          <a:p>
            <a:pPr algn="just"/>
            <a:r>
              <a:rPr lang="en-US" b="0" i="0" dirty="0">
                <a:effectLst/>
              </a:rPr>
              <a:t>The primary Indexing in DBMS is also further divided into two types.</a:t>
            </a:r>
          </a:p>
          <a:p>
            <a:pPr algn="just">
              <a:buFont typeface="Arial" panose="020B0604020202020204" pitchFamily="34" charset="0"/>
              <a:buChar char="•"/>
            </a:pPr>
            <a:r>
              <a:rPr lang="en-US" b="0" i="0" dirty="0">
                <a:effectLst/>
              </a:rPr>
              <a:t>Dense Index</a:t>
            </a:r>
          </a:p>
          <a:p>
            <a:pPr algn="just">
              <a:buFont typeface="Arial" panose="020B0604020202020204" pitchFamily="34" charset="0"/>
              <a:buChar char="•"/>
            </a:pPr>
            <a:r>
              <a:rPr lang="en-US" b="0" i="0" dirty="0">
                <a:effectLst/>
              </a:rPr>
              <a:t>Sparse Index</a:t>
            </a:r>
          </a:p>
          <a:p>
            <a:pPr algn="just"/>
            <a:r>
              <a:rPr lang="en-US" b="1" i="0" dirty="0">
                <a:effectLst/>
              </a:rPr>
              <a:t>Dense Index</a:t>
            </a:r>
          </a:p>
          <a:p>
            <a:pPr algn="just"/>
            <a:r>
              <a:rPr lang="en-US" b="0" i="0" dirty="0">
                <a:effectLst/>
              </a:rPr>
              <a:t>In a dense index</a:t>
            </a:r>
            <a:r>
              <a:rPr lang="en-US" b="0" i="0" dirty="0">
                <a:solidFill>
                  <a:srgbClr val="222222"/>
                </a:solidFill>
                <a:effectLst/>
              </a:rPr>
              <a:t>, </a:t>
            </a:r>
            <a:r>
              <a:rPr lang="en-US" b="1" i="0" dirty="0">
                <a:solidFill>
                  <a:srgbClr val="0000CC"/>
                </a:solidFill>
                <a:effectLst/>
              </a:rPr>
              <a:t>a record is created for every search key valued in the database. </a:t>
            </a:r>
          </a:p>
          <a:p>
            <a:pPr algn="just"/>
            <a:r>
              <a:rPr lang="en-US" b="0" i="0" dirty="0">
                <a:effectLst/>
              </a:rPr>
              <a:t>This helps you to search faster but needs more space to store index records. </a:t>
            </a:r>
          </a:p>
          <a:p>
            <a:pPr algn="just"/>
            <a:r>
              <a:rPr lang="en-US" b="0" i="0" dirty="0">
                <a:effectLst/>
              </a:rPr>
              <a:t>In this Indexing, </a:t>
            </a:r>
            <a:r>
              <a:rPr lang="en-US" b="1" i="0" dirty="0">
                <a:solidFill>
                  <a:srgbClr val="0000CC"/>
                </a:solidFill>
                <a:effectLst/>
              </a:rPr>
              <a:t>method records contain search key value and points to the real record on the disk.</a:t>
            </a:r>
          </a:p>
          <a:p>
            <a:pPr algn="just"/>
            <a:endParaRPr lang="en-US" b="1" i="0" dirty="0">
              <a:effectLst/>
            </a:endParaRPr>
          </a:p>
        </p:txBody>
      </p:sp>
      <p:pic>
        <p:nvPicPr>
          <p:cNvPr id="5122" name="Picture 2" descr="Dense Index">
            <a:extLst>
              <a:ext uri="{FF2B5EF4-FFF2-40B4-BE49-F238E27FC236}">
                <a16:creationId xmlns:a16="http://schemas.microsoft.com/office/drawing/2014/main" xmlns="" id="{B2551997-D005-C376-2F4B-4BFB80318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3664" y="2175164"/>
            <a:ext cx="3984047" cy="417021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xmlns="" id="{A6C18D33-56F4-5CE5-A825-E28BCDD46DF0}"/>
              </a:ext>
            </a:extLst>
          </p:cNvPr>
          <p:cNvPicPr>
            <a:picLocks noChangeAspect="1"/>
          </p:cNvPicPr>
          <p:nvPr/>
        </p:nvPicPr>
        <p:blipFill>
          <a:blip r:embed="rId3"/>
          <a:stretch>
            <a:fillRect/>
          </a:stretch>
        </p:blipFill>
        <p:spPr>
          <a:xfrm>
            <a:off x="7984115" y="140278"/>
            <a:ext cx="4045526" cy="2034886"/>
          </a:xfrm>
          <a:prstGeom prst="rect">
            <a:avLst/>
          </a:prstGeom>
        </p:spPr>
      </p:pic>
    </p:spTree>
    <p:extLst>
      <p:ext uri="{BB962C8B-B14F-4D97-AF65-F5344CB8AC3E}">
        <p14:creationId xmlns:p14="http://schemas.microsoft.com/office/powerpoint/2010/main" val="3629723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29046-7D1F-EFF3-1A66-3283377A9C70}"/>
              </a:ext>
            </a:extLst>
          </p:cNvPr>
          <p:cNvSpPr>
            <a:spLocks noGrp="1"/>
          </p:cNvSpPr>
          <p:nvPr>
            <p:ph type="title"/>
          </p:nvPr>
        </p:nvSpPr>
        <p:spPr>
          <a:xfrm>
            <a:off x="162359" y="140278"/>
            <a:ext cx="10515600" cy="912668"/>
          </a:xfrm>
        </p:spPr>
        <p:txBody>
          <a:bodyPr>
            <a:normAutofit/>
          </a:bodyPr>
          <a:lstStyle/>
          <a:p>
            <a:pPr algn="l"/>
            <a:r>
              <a:rPr lang="en-US" sz="4000" b="1" i="0" dirty="0">
                <a:effectLst/>
                <a:latin typeface="+mn-lt"/>
              </a:rPr>
              <a:t>Types of Indexes</a:t>
            </a:r>
          </a:p>
        </p:txBody>
      </p:sp>
      <p:sp>
        <p:nvSpPr>
          <p:cNvPr id="3" name="Content Placeholder 2">
            <a:extLst>
              <a:ext uri="{FF2B5EF4-FFF2-40B4-BE49-F238E27FC236}">
                <a16:creationId xmlns:a16="http://schemas.microsoft.com/office/drawing/2014/main" xmlns="" id="{BCF3B584-1A3D-6B08-DB0B-035221963269}"/>
              </a:ext>
            </a:extLst>
          </p:cNvPr>
          <p:cNvSpPr>
            <a:spLocks noGrp="1"/>
          </p:cNvSpPr>
          <p:nvPr>
            <p:ph idx="1"/>
          </p:nvPr>
        </p:nvSpPr>
        <p:spPr>
          <a:xfrm>
            <a:off x="360218" y="1052946"/>
            <a:ext cx="7467599" cy="5664776"/>
          </a:xfrm>
        </p:spPr>
        <p:txBody>
          <a:bodyPr>
            <a:normAutofit/>
          </a:bodyPr>
          <a:lstStyle/>
          <a:p>
            <a:pPr algn="just"/>
            <a:r>
              <a:rPr lang="en-US" b="1" i="0" dirty="0">
                <a:effectLst/>
              </a:rPr>
              <a:t>Sparse Index</a:t>
            </a:r>
          </a:p>
          <a:p>
            <a:pPr algn="just"/>
            <a:r>
              <a:rPr lang="en-US" b="0" i="0" dirty="0">
                <a:effectLst/>
              </a:rPr>
              <a:t>Sparse Index helps you to resolve the issues of dense Indexing in DBMS. </a:t>
            </a:r>
          </a:p>
          <a:p>
            <a:pPr algn="just"/>
            <a:r>
              <a:rPr lang="en-US" b="0" i="0" dirty="0">
                <a:effectLst/>
              </a:rPr>
              <a:t>In this method of indexing technique</a:t>
            </a:r>
            <a:r>
              <a:rPr lang="en-US" b="0" i="0" dirty="0">
                <a:solidFill>
                  <a:srgbClr val="222222"/>
                </a:solidFill>
                <a:effectLst/>
              </a:rPr>
              <a:t>, </a:t>
            </a:r>
            <a:r>
              <a:rPr lang="en-US" b="1" i="0" dirty="0">
                <a:solidFill>
                  <a:srgbClr val="0000CC"/>
                </a:solidFill>
                <a:effectLst/>
              </a:rPr>
              <a:t>a range of index columns stores the same data block address, and when data needs to be retrieved, the block address will be fetched.</a:t>
            </a:r>
          </a:p>
          <a:p>
            <a:pPr algn="just"/>
            <a:r>
              <a:rPr lang="en-US" b="0" i="0" dirty="0">
                <a:effectLst/>
              </a:rPr>
              <a:t>Sparse Index stores index records for only some search-key values</a:t>
            </a:r>
            <a:r>
              <a:rPr lang="en-US" b="0" i="0" dirty="0">
                <a:solidFill>
                  <a:srgbClr val="222222"/>
                </a:solidFill>
                <a:effectLst/>
              </a:rPr>
              <a:t>. </a:t>
            </a:r>
            <a:r>
              <a:rPr lang="en-US" b="1" i="0" dirty="0">
                <a:solidFill>
                  <a:srgbClr val="0000CC"/>
                </a:solidFill>
                <a:effectLst/>
              </a:rPr>
              <a:t>It needs less space, less maintenance overhead for insertion, and deletions </a:t>
            </a:r>
            <a:r>
              <a:rPr lang="en-US" b="1" i="0" dirty="0">
                <a:solidFill>
                  <a:srgbClr val="C00000"/>
                </a:solidFill>
                <a:effectLst/>
              </a:rPr>
              <a:t>but It is slower compared to the dense Index for locating records.</a:t>
            </a:r>
          </a:p>
        </p:txBody>
      </p:sp>
      <p:pic>
        <p:nvPicPr>
          <p:cNvPr id="6146" name="Picture 2" descr="Sparse Index">
            <a:extLst>
              <a:ext uri="{FF2B5EF4-FFF2-40B4-BE49-F238E27FC236}">
                <a16:creationId xmlns:a16="http://schemas.microsoft.com/office/drawing/2014/main" xmlns="" id="{1CFF9FC8-5562-6BFF-C50B-BDFEA3082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7309" y="2424546"/>
            <a:ext cx="3352800" cy="34909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xmlns="" id="{1A9ED352-0C39-0802-B19B-B21EB7C80923}"/>
              </a:ext>
            </a:extLst>
          </p:cNvPr>
          <p:cNvPicPr>
            <a:picLocks noChangeAspect="1"/>
          </p:cNvPicPr>
          <p:nvPr/>
        </p:nvPicPr>
        <p:blipFill>
          <a:blip r:embed="rId3"/>
          <a:stretch>
            <a:fillRect/>
          </a:stretch>
        </p:blipFill>
        <p:spPr>
          <a:xfrm>
            <a:off x="8257309" y="57150"/>
            <a:ext cx="3574473" cy="2131867"/>
          </a:xfrm>
          <a:prstGeom prst="rect">
            <a:avLst/>
          </a:prstGeom>
        </p:spPr>
      </p:pic>
    </p:spTree>
    <p:extLst>
      <p:ext uri="{BB962C8B-B14F-4D97-AF65-F5344CB8AC3E}">
        <p14:creationId xmlns:p14="http://schemas.microsoft.com/office/powerpoint/2010/main" val="1253209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29046-7D1F-EFF3-1A66-3283377A9C70}"/>
              </a:ext>
            </a:extLst>
          </p:cNvPr>
          <p:cNvSpPr>
            <a:spLocks noGrp="1"/>
          </p:cNvSpPr>
          <p:nvPr>
            <p:ph type="title"/>
          </p:nvPr>
        </p:nvSpPr>
        <p:spPr>
          <a:xfrm>
            <a:off x="162359" y="140278"/>
            <a:ext cx="10515600" cy="912668"/>
          </a:xfrm>
        </p:spPr>
        <p:txBody>
          <a:bodyPr>
            <a:normAutofit/>
          </a:bodyPr>
          <a:lstStyle/>
          <a:p>
            <a:pPr algn="l"/>
            <a:r>
              <a:rPr lang="en-US" sz="4000" b="1" i="0" dirty="0">
                <a:effectLst/>
                <a:latin typeface="+mn-lt"/>
              </a:rPr>
              <a:t>Types of Indexes</a:t>
            </a:r>
          </a:p>
        </p:txBody>
      </p:sp>
      <p:sp>
        <p:nvSpPr>
          <p:cNvPr id="3" name="Content Placeholder 2">
            <a:extLst>
              <a:ext uri="{FF2B5EF4-FFF2-40B4-BE49-F238E27FC236}">
                <a16:creationId xmlns:a16="http://schemas.microsoft.com/office/drawing/2014/main" xmlns="" id="{BCF3B584-1A3D-6B08-DB0B-035221963269}"/>
              </a:ext>
            </a:extLst>
          </p:cNvPr>
          <p:cNvSpPr>
            <a:spLocks noGrp="1"/>
          </p:cNvSpPr>
          <p:nvPr>
            <p:ph idx="1"/>
          </p:nvPr>
        </p:nvSpPr>
        <p:spPr>
          <a:xfrm>
            <a:off x="360218" y="1052946"/>
            <a:ext cx="7467599" cy="5664776"/>
          </a:xfrm>
        </p:spPr>
        <p:txBody>
          <a:bodyPr>
            <a:normAutofit fontScale="92500" lnSpcReduction="10000"/>
          </a:bodyPr>
          <a:lstStyle/>
          <a:p>
            <a:pPr algn="just"/>
            <a:r>
              <a:rPr lang="en-US" b="1" i="0" dirty="0">
                <a:effectLst/>
              </a:rPr>
              <a:t>Cluster Indexing:</a:t>
            </a:r>
            <a:r>
              <a:rPr lang="en-US" b="0" i="0" dirty="0">
                <a:effectLst/>
              </a:rPr>
              <a:t> </a:t>
            </a:r>
          </a:p>
          <a:p>
            <a:pPr algn="just"/>
            <a:r>
              <a:rPr lang="en-US" b="0" i="0" dirty="0">
                <a:effectLst/>
              </a:rPr>
              <a:t>Clustered Indexing is used </a:t>
            </a:r>
            <a:r>
              <a:rPr lang="en-US" b="1" i="0" dirty="0">
                <a:solidFill>
                  <a:srgbClr val="0000CC"/>
                </a:solidFill>
                <a:effectLst/>
              </a:rPr>
              <a:t>when there are multiple related records found at one place. </a:t>
            </a:r>
            <a:endParaRPr lang="en-US" b="0" i="0" dirty="0">
              <a:effectLst/>
            </a:endParaRPr>
          </a:p>
          <a:p>
            <a:pPr algn="just"/>
            <a:r>
              <a:rPr lang="en-US" b="0" i="0" dirty="0">
                <a:effectLst/>
              </a:rPr>
              <a:t>The important thing to note here is that the </a:t>
            </a:r>
            <a:r>
              <a:rPr lang="en-US" b="1" i="0" dirty="0">
                <a:solidFill>
                  <a:srgbClr val="0000CC"/>
                </a:solidFill>
                <a:effectLst/>
              </a:rPr>
              <a:t>index table of clustered indexing is created using </a:t>
            </a:r>
            <a:r>
              <a:rPr lang="en-US" b="1" i="1" dirty="0">
                <a:solidFill>
                  <a:srgbClr val="0000CC"/>
                </a:solidFill>
                <a:effectLst/>
              </a:rPr>
              <a:t>non-key</a:t>
            </a:r>
            <a:r>
              <a:rPr lang="en-US" b="1" i="0" dirty="0">
                <a:solidFill>
                  <a:srgbClr val="0000CC"/>
                </a:solidFill>
                <a:effectLst/>
              </a:rPr>
              <a:t> values which may or may not be unique. </a:t>
            </a:r>
          </a:p>
          <a:p>
            <a:pPr algn="just"/>
            <a:r>
              <a:rPr lang="en-US" b="0" i="0" dirty="0">
                <a:effectLst/>
              </a:rPr>
              <a:t>To achieve faster retrieval, we group columns having similar characteristics. </a:t>
            </a:r>
            <a:r>
              <a:rPr lang="en-US" b="1" i="0" dirty="0">
                <a:solidFill>
                  <a:srgbClr val="0000CC"/>
                </a:solidFill>
                <a:effectLst/>
              </a:rPr>
              <a:t>The indexes are created using these groups and this process is known as Clustering Index.</a:t>
            </a:r>
          </a:p>
          <a:p>
            <a:pPr algn="just"/>
            <a:r>
              <a:rPr lang="en-US" b="0" i="0" dirty="0">
                <a:solidFill>
                  <a:srgbClr val="222222"/>
                </a:solidFill>
                <a:effectLst/>
              </a:rPr>
              <a:t>Let’s assume that a company recruited many employees in various departments. </a:t>
            </a:r>
            <a:r>
              <a:rPr lang="en-US" b="1" i="0" dirty="0">
                <a:solidFill>
                  <a:srgbClr val="0000CC"/>
                </a:solidFill>
                <a:effectLst/>
              </a:rPr>
              <a:t>In this case, clustering indexing in DBMS should be created for all employees who belong to the same dept.</a:t>
            </a:r>
          </a:p>
          <a:p>
            <a:pPr algn="just"/>
            <a:r>
              <a:rPr lang="en-US" b="0" i="0" dirty="0">
                <a:solidFill>
                  <a:srgbClr val="222222"/>
                </a:solidFill>
                <a:effectLst/>
              </a:rPr>
              <a:t>Here, </a:t>
            </a:r>
            <a:r>
              <a:rPr lang="en-US" b="1" i="0" dirty="0">
                <a:solidFill>
                  <a:srgbClr val="C00000"/>
                </a:solidFill>
                <a:effectLst/>
              </a:rPr>
              <a:t>Department _no is a non-unique key.</a:t>
            </a:r>
          </a:p>
        </p:txBody>
      </p:sp>
      <p:pic>
        <p:nvPicPr>
          <p:cNvPr id="4" name="Picture 3">
            <a:extLst>
              <a:ext uri="{FF2B5EF4-FFF2-40B4-BE49-F238E27FC236}">
                <a16:creationId xmlns:a16="http://schemas.microsoft.com/office/drawing/2014/main" xmlns="" id="{1A9ED352-0C39-0802-B19B-B21EB7C80923}"/>
              </a:ext>
            </a:extLst>
          </p:cNvPr>
          <p:cNvPicPr>
            <a:picLocks noChangeAspect="1"/>
          </p:cNvPicPr>
          <p:nvPr/>
        </p:nvPicPr>
        <p:blipFill>
          <a:blip r:embed="rId2"/>
          <a:stretch>
            <a:fillRect/>
          </a:stretch>
        </p:blipFill>
        <p:spPr>
          <a:xfrm>
            <a:off x="8257309" y="57151"/>
            <a:ext cx="3574473" cy="1716232"/>
          </a:xfrm>
          <a:prstGeom prst="rect">
            <a:avLst/>
          </a:prstGeom>
        </p:spPr>
      </p:pic>
      <p:pic>
        <p:nvPicPr>
          <p:cNvPr id="7170" name="Picture 2" descr="DBMS Indexing in DBMS">
            <a:extLst>
              <a:ext uri="{FF2B5EF4-FFF2-40B4-BE49-F238E27FC236}">
                <a16:creationId xmlns:a16="http://schemas.microsoft.com/office/drawing/2014/main" xmlns="" id="{76508F76-8DBA-5FAB-AA76-0E027F219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5675" y="1965614"/>
            <a:ext cx="3821691"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052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6" y="1451551"/>
            <a:ext cx="6075219" cy="5196609"/>
          </a:xfrm>
        </p:spPr>
        <p:txBody>
          <a:bodyPr>
            <a:normAutofit/>
          </a:bodyPr>
          <a:lstStyle/>
          <a:p>
            <a:pPr algn="just"/>
            <a:r>
              <a:rPr lang="en-US" b="1" i="0" dirty="0">
                <a:solidFill>
                  <a:srgbClr val="222222"/>
                </a:solidFill>
                <a:effectLst/>
              </a:rPr>
              <a:t>Query Processing </a:t>
            </a:r>
            <a:r>
              <a:rPr lang="en-US" b="0" i="0" dirty="0">
                <a:solidFill>
                  <a:srgbClr val="222222"/>
                </a:solidFill>
                <a:effectLst/>
              </a:rPr>
              <a:t>would mean the entire process or activity which involves query </a:t>
            </a:r>
            <a:r>
              <a:rPr lang="en-US" b="1" i="0" dirty="0">
                <a:solidFill>
                  <a:srgbClr val="0000CC"/>
                </a:solidFill>
                <a:effectLst/>
              </a:rPr>
              <a:t>translation into low level instructions, query optimization to save resources, cost estimation or evaluation of query, and extraction of data from the database.</a:t>
            </a:r>
          </a:p>
          <a:p>
            <a:pPr algn="just"/>
            <a:r>
              <a:rPr lang="en-US" b="1" i="0" dirty="0">
                <a:solidFill>
                  <a:srgbClr val="000000"/>
                </a:solidFill>
                <a:effectLst/>
              </a:rPr>
              <a:t>Query Processing</a:t>
            </a:r>
            <a:r>
              <a:rPr lang="en-US" b="0" i="0" dirty="0">
                <a:solidFill>
                  <a:srgbClr val="000000"/>
                </a:solidFill>
                <a:effectLst/>
              </a:rPr>
              <a:t> is a </a:t>
            </a:r>
            <a:r>
              <a:rPr lang="en-US" b="1" i="0" dirty="0">
                <a:solidFill>
                  <a:srgbClr val="0000CC"/>
                </a:solidFill>
                <a:effectLst/>
              </a:rPr>
              <a:t>translation of high-level queries into low-level expression.</a:t>
            </a:r>
            <a:r>
              <a:rPr lang="en-US" b="0" i="0" dirty="0">
                <a:solidFill>
                  <a:srgbClr val="000000"/>
                </a:solidFill>
                <a:effectLst/>
              </a:rPr>
              <a:t> </a:t>
            </a:r>
          </a:p>
          <a:p>
            <a:pPr algn="just"/>
            <a:r>
              <a:rPr lang="en-US" b="0" i="0" dirty="0">
                <a:solidFill>
                  <a:srgbClr val="000000"/>
                </a:solidFill>
                <a:effectLst/>
              </a:rPr>
              <a:t>It requires the </a:t>
            </a:r>
            <a:r>
              <a:rPr lang="en-US" b="1" i="0" dirty="0">
                <a:solidFill>
                  <a:srgbClr val="0000CC"/>
                </a:solidFill>
                <a:effectLst/>
              </a:rPr>
              <a:t>basic concepts of relational algebra and file structure.</a:t>
            </a:r>
          </a:p>
          <a:p>
            <a:endParaRPr lang="en-US" b="0" i="0" dirty="0">
              <a:solidFill>
                <a:srgbClr val="222222"/>
              </a:solidFill>
              <a:effectLst/>
              <a:latin typeface="Trebuchet MS" panose="020B0603020202020204" pitchFamily="34" charset="0"/>
            </a:endParaRPr>
          </a:p>
          <a:p>
            <a:endParaRPr lang="en-US" dirty="0"/>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3032" y="1163783"/>
            <a:ext cx="5238750" cy="5196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225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6" y="1163783"/>
            <a:ext cx="6532419" cy="5484377"/>
          </a:xfrm>
        </p:spPr>
        <p:txBody>
          <a:bodyPr>
            <a:normAutofit fontScale="92500" lnSpcReduction="20000"/>
          </a:bodyPr>
          <a:lstStyle/>
          <a:p>
            <a:pPr algn="just"/>
            <a:r>
              <a:rPr lang="en-US" b="1" i="0" dirty="0">
                <a:effectLst/>
              </a:rPr>
              <a:t>Parsing and Translation</a:t>
            </a:r>
          </a:p>
          <a:p>
            <a:pPr algn="just"/>
            <a:r>
              <a:rPr lang="en-US" b="0" i="0" dirty="0">
                <a:effectLst/>
              </a:rPr>
              <a:t>The fired queries undergo </a:t>
            </a:r>
            <a:r>
              <a:rPr lang="en-US" b="1" i="0" dirty="0">
                <a:solidFill>
                  <a:srgbClr val="0000CC"/>
                </a:solidFill>
                <a:effectLst/>
              </a:rPr>
              <a:t>lexical, syntactic, and semantic analysis. </a:t>
            </a:r>
          </a:p>
          <a:p>
            <a:pPr algn="just"/>
            <a:r>
              <a:rPr lang="en-US" b="0" i="0" dirty="0">
                <a:effectLst/>
              </a:rPr>
              <a:t>The query gets </a:t>
            </a:r>
            <a:r>
              <a:rPr lang="en-US" b="1" i="0" dirty="0">
                <a:solidFill>
                  <a:srgbClr val="0000CC"/>
                </a:solidFill>
                <a:effectLst/>
              </a:rPr>
              <a:t>broken down into different tokens and white spaces are removed along </a:t>
            </a:r>
            <a:r>
              <a:rPr lang="en-US" b="0" i="0" dirty="0">
                <a:effectLst/>
              </a:rPr>
              <a:t>with the comments (</a:t>
            </a:r>
            <a:r>
              <a:rPr lang="en-US" b="1" i="0" dirty="0">
                <a:effectLst/>
              </a:rPr>
              <a:t>Lexical Analysis</a:t>
            </a:r>
            <a:r>
              <a:rPr lang="en-US" b="0" i="0" dirty="0">
                <a:effectLst/>
              </a:rPr>
              <a:t>).</a:t>
            </a:r>
            <a:endParaRPr lang="en-US" dirty="0"/>
          </a:p>
          <a:p>
            <a:pPr algn="just"/>
            <a:r>
              <a:rPr lang="en-US" b="0" i="0" dirty="0">
                <a:effectLst/>
              </a:rPr>
              <a:t>The query processor </a:t>
            </a:r>
            <a:r>
              <a:rPr lang="en-US" b="1" i="0" dirty="0">
                <a:solidFill>
                  <a:srgbClr val="0000CC"/>
                </a:solidFill>
                <a:effectLst/>
              </a:rPr>
              <a:t>first checks the query if the rules of SQL have been correctly followed or not </a:t>
            </a:r>
            <a:r>
              <a:rPr lang="en-US" b="0" i="0" dirty="0">
                <a:effectLst/>
              </a:rPr>
              <a:t>(</a:t>
            </a:r>
            <a:r>
              <a:rPr lang="en-US" b="1" i="0" dirty="0">
                <a:effectLst/>
              </a:rPr>
              <a:t>Syntactic Analysis</a:t>
            </a:r>
            <a:r>
              <a:rPr lang="en-US" b="0" i="0" dirty="0">
                <a:effectLst/>
              </a:rPr>
              <a:t>).</a:t>
            </a:r>
          </a:p>
          <a:p>
            <a:pPr algn="just"/>
            <a:r>
              <a:rPr lang="en-US" b="0" i="0" dirty="0">
                <a:effectLst/>
              </a:rPr>
              <a:t>Finally, </a:t>
            </a:r>
            <a:r>
              <a:rPr lang="en-US" b="1" i="0" dirty="0">
                <a:solidFill>
                  <a:srgbClr val="0000CC"/>
                </a:solidFill>
                <a:effectLst/>
              </a:rPr>
              <a:t>the query processor checks if the meaning of the query is right or not. </a:t>
            </a:r>
            <a:r>
              <a:rPr lang="en-US" b="0" i="0" dirty="0">
                <a:effectLst/>
              </a:rPr>
              <a:t>Things like </a:t>
            </a:r>
            <a:r>
              <a:rPr lang="en-US" b="1" i="0" dirty="0">
                <a:solidFill>
                  <a:srgbClr val="C00000"/>
                </a:solidFill>
                <a:effectLst/>
              </a:rPr>
              <a:t>if the table(s) mentioned in the query are present in the DB or not? </a:t>
            </a:r>
            <a:r>
              <a:rPr lang="en-US" b="0" i="0" dirty="0">
                <a:effectLst/>
              </a:rPr>
              <a:t>if the </a:t>
            </a:r>
            <a:r>
              <a:rPr lang="en-US" b="1" i="0" dirty="0">
                <a:solidFill>
                  <a:srgbClr val="0000CC"/>
                </a:solidFill>
                <a:effectLst/>
              </a:rPr>
              <a:t>column(s) referred from all the table(s) are actually present in them or not</a:t>
            </a:r>
            <a:r>
              <a:rPr lang="en-US" b="0" i="0" dirty="0">
                <a:effectLst/>
              </a:rPr>
              <a:t>? (</a:t>
            </a:r>
            <a:r>
              <a:rPr lang="en-US" b="1" i="0" dirty="0">
                <a:effectLst/>
              </a:rPr>
              <a:t>Semantic Analysis</a:t>
            </a:r>
            <a:r>
              <a:rPr lang="en-US" b="0" i="0" dirty="0">
                <a:effectLst/>
              </a:rPr>
              <a:t>)</a:t>
            </a:r>
          </a:p>
          <a:p>
            <a:endParaRPr lang="en-US" dirty="0"/>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4254" y="1163783"/>
            <a:ext cx="4807527" cy="5196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4052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7" y="1163783"/>
            <a:ext cx="6463146" cy="5484377"/>
          </a:xfrm>
        </p:spPr>
        <p:txBody>
          <a:bodyPr>
            <a:normAutofit fontScale="92500" lnSpcReduction="20000"/>
          </a:bodyPr>
          <a:lstStyle/>
          <a:p>
            <a:pPr algn="just"/>
            <a:r>
              <a:rPr lang="en-US" b="1" i="0" dirty="0">
                <a:effectLst/>
              </a:rPr>
              <a:t>Parsing and Translation Example</a:t>
            </a:r>
          </a:p>
          <a:p>
            <a:pPr algn="just"/>
            <a:r>
              <a:rPr lang="en-US" b="0" i="0" dirty="0">
                <a:effectLst/>
              </a:rPr>
              <a:t>The above query would be divided into the following </a:t>
            </a:r>
            <a:r>
              <a:rPr lang="en-US" b="1" i="0" dirty="0" err="1">
                <a:solidFill>
                  <a:srgbClr val="0000CC"/>
                </a:solidFill>
                <a:effectLst/>
              </a:rPr>
              <a:t>tokens</a:t>
            </a:r>
            <a:r>
              <a:rPr lang="en-US" b="0" i="0" dirty="0" err="1">
                <a:effectLst/>
              </a:rPr>
              <a:t>:</a:t>
            </a:r>
            <a:r>
              <a:rPr lang="en-US" b="1" i="0" dirty="0" err="1">
                <a:effectLst/>
              </a:rPr>
              <a:t>Lexical</a:t>
            </a:r>
            <a:r>
              <a:rPr lang="en-US" b="1" i="0" dirty="0">
                <a:effectLst/>
              </a:rPr>
              <a:t> Analysis</a:t>
            </a:r>
            <a:r>
              <a:rPr lang="en-US" b="0" i="0" dirty="0">
                <a:effectLst/>
              </a:rPr>
              <a:t>) </a:t>
            </a:r>
          </a:p>
          <a:p>
            <a:pPr algn="just"/>
            <a:r>
              <a:rPr lang="en-US" b="1" i="0" u="sng" dirty="0">
                <a:effectLst/>
              </a:rPr>
              <a:t>SELECT</a:t>
            </a:r>
            <a:r>
              <a:rPr lang="en-US" b="0" i="0" dirty="0">
                <a:effectLst/>
              </a:rPr>
              <a:t>, </a:t>
            </a:r>
            <a:r>
              <a:rPr lang="en-US" b="1" i="0" u="sng" dirty="0" err="1">
                <a:effectLst/>
              </a:rPr>
              <a:t>emp_name</a:t>
            </a:r>
            <a:r>
              <a:rPr lang="en-US" b="0" i="0" dirty="0">
                <a:effectLst/>
              </a:rPr>
              <a:t>, </a:t>
            </a:r>
            <a:r>
              <a:rPr lang="en-US" b="1" i="0" u="sng" dirty="0">
                <a:effectLst/>
              </a:rPr>
              <a:t>FROM</a:t>
            </a:r>
            <a:r>
              <a:rPr lang="en-US" b="0" i="0" dirty="0">
                <a:effectLst/>
              </a:rPr>
              <a:t>, </a:t>
            </a:r>
            <a:r>
              <a:rPr lang="en-US" b="1" i="0" u="sng" dirty="0">
                <a:effectLst/>
              </a:rPr>
              <a:t>employee</a:t>
            </a:r>
            <a:r>
              <a:rPr lang="en-US" b="0" i="0" dirty="0">
                <a:effectLst/>
              </a:rPr>
              <a:t>, </a:t>
            </a:r>
            <a:r>
              <a:rPr lang="en-US" b="1" i="0" dirty="0">
                <a:effectLst/>
              </a:rPr>
              <a:t>WHERE</a:t>
            </a:r>
            <a:r>
              <a:rPr lang="en-US" b="0" i="0" dirty="0">
                <a:effectLst/>
              </a:rPr>
              <a:t>, </a:t>
            </a:r>
            <a:r>
              <a:rPr lang="en-US" b="1" i="0" dirty="0">
                <a:effectLst/>
              </a:rPr>
              <a:t>salary</a:t>
            </a:r>
            <a:r>
              <a:rPr lang="en-US" b="0" i="0" dirty="0">
                <a:effectLst/>
              </a:rPr>
              <a:t>, </a:t>
            </a:r>
            <a:r>
              <a:rPr lang="en-US" b="1" i="0" dirty="0">
                <a:effectLst/>
              </a:rPr>
              <a:t>&gt;</a:t>
            </a:r>
            <a:r>
              <a:rPr lang="en-US" b="0" i="0" dirty="0">
                <a:effectLst/>
              </a:rPr>
              <a:t>, </a:t>
            </a:r>
            <a:r>
              <a:rPr lang="en-US" b="1" i="0" dirty="0">
                <a:effectLst/>
              </a:rPr>
              <a:t>10000</a:t>
            </a:r>
            <a:r>
              <a:rPr lang="en-US" b="0" i="0" dirty="0">
                <a:effectLst/>
              </a:rPr>
              <a:t>.</a:t>
            </a:r>
          </a:p>
          <a:p>
            <a:pPr algn="just"/>
            <a:r>
              <a:rPr lang="en-US" b="0" i="0" dirty="0">
                <a:effectLst/>
              </a:rPr>
              <a:t>Check for </a:t>
            </a:r>
            <a:r>
              <a:rPr lang="en-US" b="1" i="0" dirty="0">
                <a:solidFill>
                  <a:srgbClr val="0000CC"/>
                </a:solidFill>
                <a:effectLst/>
              </a:rPr>
              <a:t>Query syntax</a:t>
            </a:r>
            <a:r>
              <a:rPr lang="en-US" b="0" i="0" dirty="0">
                <a:effectLst/>
              </a:rPr>
              <a:t>: (</a:t>
            </a:r>
            <a:r>
              <a:rPr lang="en-US" b="1" i="0" dirty="0">
                <a:effectLst/>
              </a:rPr>
              <a:t>Syntactic Analysis</a:t>
            </a:r>
            <a:r>
              <a:rPr lang="en-US" b="0" i="0" dirty="0">
                <a:effectLst/>
              </a:rPr>
              <a:t>).</a:t>
            </a:r>
          </a:p>
          <a:p>
            <a:pPr algn="just">
              <a:buFont typeface="Arial" panose="020B0604020202020204" pitchFamily="34" charset="0"/>
              <a:buChar char="•"/>
            </a:pPr>
            <a:r>
              <a:rPr lang="en-US" b="0" i="0" dirty="0">
                <a:effectLst/>
              </a:rPr>
              <a:t>The </a:t>
            </a:r>
            <a:r>
              <a:rPr lang="en-US" b="1" i="0" dirty="0">
                <a:solidFill>
                  <a:srgbClr val="0000CC"/>
                </a:solidFill>
                <a:effectLst/>
              </a:rPr>
              <a:t>name of the queried table </a:t>
            </a:r>
            <a:r>
              <a:rPr lang="en-US" b="0" i="0" dirty="0">
                <a:effectLst/>
              </a:rPr>
              <a:t>is looked into the data dictionary table.</a:t>
            </a:r>
          </a:p>
          <a:p>
            <a:pPr algn="just">
              <a:buFont typeface="Arial" panose="020B0604020202020204" pitchFamily="34" charset="0"/>
              <a:buChar char="•"/>
            </a:pPr>
            <a:r>
              <a:rPr lang="en-US" b="0" i="0" dirty="0">
                <a:effectLst/>
              </a:rPr>
              <a:t>The </a:t>
            </a:r>
            <a:r>
              <a:rPr lang="en-US" b="1" i="0" dirty="0">
                <a:solidFill>
                  <a:srgbClr val="0000CC"/>
                </a:solidFill>
                <a:effectLst/>
              </a:rPr>
              <a:t>name of the columns </a:t>
            </a:r>
            <a:r>
              <a:rPr lang="en-US" b="0" i="0" dirty="0">
                <a:effectLst/>
              </a:rPr>
              <a:t>mentioned (</a:t>
            </a:r>
            <a:r>
              <a:rPr lang="en-US" b="0" i="0" dirty="0" err="1">
                <a:effectLst/>
              </a:rPr>
              <a:t>emp_name</a:t>
            </a:r>
            <a:r>
              <a:rPr lang="en-US" b="0" i="0" dirty="0">
                <a:effectLst/>
              </a:rPr>
              <a:t> and salary) in the tokens are validated for existence.</a:t>
            </a:r>
          </a:p>
          <a:p>
            <a:pPr algn="just">
              <a:buFont typeface="Arial" panose="020B0604020202020204" pitchFamily="34" charset="0"/>
              <a:buChar char="•"/>
            </a:pPr>
            <a:r>
              <a:rPr lang="en-US" b="0" i="0" dirty="0">
                <a:effectLst/>
              </a:rPr>
              <a:t>The </a:t>
            </a:r>
            <a:r>
              <a:rPr lang="en-US" b="1" i="0" dirty="0">
                <a:solidFill>
                  <a:srgbClr val="0000CC"/>
                </a:solidFill>
                <a:effectLst/>
              </a:rPr>
              <a:t>type of column(s) being compared </a:t>
            </a:r>
            <a:r>
              <a:rPr lang="en-US" b="0" i="0" dirty="0">
                <a:effectLst/>
              </a:rPr>
              <a:t>have to be of the same type (salary and the value 10000 should have the same data type). (</a:t>
            </a:r>
            <a:r>
              <a:rPr lang="en-US" b="1" i="0" dirty="0">
                <a:effectLst/>
              </a:rPr>
              <a:t>Semantic Analysis</a:t>
            </a:r>
            <a:r>
              <a:rPr lang="en-US" b="0" i="0" dirty="0">
                <a:effectLst/>
              </a:rPr>
              <a:t>)</a:t>
            </a:r>
          </a:p>
          <a:p>
            <a:pPr algn="just"/>
            <a:endParaRPr lang="en-US" dirty="0"/>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2738" y="2119745"/>
            <a:ext cx="4807527" cy="452841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xmlns="" id="{1B85D7B2-9F0E-4AB3-44E6-5EC16A29DF06}"/>
              </a:ext>
            </a:extLst>
          </p:cNvPr>
          <p:cNvSpPr txBox="1">
            <a:spLocks/>
          </p:cNvSpPr>
          <p:nvPr/>
        </p:nvSpPr>
        <p:spPr>
          <a:xfrm>
            <a:off x="9147896" y="128733"/>
            <a:ext cx="2857068" cy="244056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b="1" i="0" dirty="0">
                <a:solidFill>
                  <a:srgbClr val="0000CC"/>
                </a:solidFill>
                <a:effectLst/>
              </a:rPr>
              <a:t>SELECT</a:t>
            </a:r>
          </a:p>
          <a:p>
            <a:pPr marL="0" indent="0" algn="just">
              <a:buNone/>
            </a:pPr>
            <a:r>
              <a:rPr lang="en-US" b="1" i="0" dirty="0">
                <a:solidFill>
                  <a:srgbClr val="0000CC"/>
                </a:solidFill>
                <a:effectLst/>
              </a:rPr>
              <a:t>    </a:t>
            </a:r>
            <a:r>
              <a:rPr lang="en-US" b="1" i="0" dirty="0" err="1">
                <a:solidFill>
                  <a:srgbClr val="0000CC"/>
                </a:solidFill>
                <a:effectLst/>
              </a:rPr>
              <a:t>emp_name</a:t>
            </a:r>
            <a:endParaRPr lang="en-US" b="1" i="0" dirty="0">
              <a:solidFill>
                <a:srgbClr val="0000CC"/>
              </a:solidFill>
              <a:effectLst/>
            </a:endParaRPr>
          </a:p>
          <a:p>
            <a:pPr marL="0" indent="0" algn="just">
              <a:buNone/>
            </a:pPr>
            <a:r>
              <a:rPr lang="en-US" b="1" i="0" dirty="0">
                <a:solidFill>
                  <a:srgbClr val="0000CC"/>
                </a:solidFill>
                <a:effectLst/>
              </a:rPr>
              <a:t>FROM</a:t>
            </a:r>
          </a:p>
          <a:p>
            <a:pPr marL="0" indent="0" algn="just">
              <a:buNone/>
            </a:pPr>
            <a:r>
              <a:rPr lang="en-US" b="1" i="0" dirty="0">
                <a:solidFill>
                  <a:srgbClr val="0000CC"/>
                </a:solidFill>
                <a:effectLst/>
              </a:rPr>
              <a:t>    employee</a:t>
            </a:r>
          </a:p>
          <a:p>
            <a:pPr marL="0" indent="0" algn="just">
              <a:buNone/>
            </a:pPr>
            <a:r>
              <a:rPr lang="en-US" b="1" i="0" dirty="0">
                <a:solidFill>
                  <a:srgbClr val="0000CC"/>
                </a:solidFill>
                <a:effectLst/>
              </a:rPr>
              <a:t>WHERE</a:t>
            </a:r>
          </a:p>
          <a:p>
            <a:pPr marL="0" indent="0" algn="just">
              <a:buNone/>
            </a:pPr>
            <a:r>
              <a:rPr lang="en-US" b="1" i="0" dirty="0">
                <a:solidFill>
                  <a:srgbClr val="0000CC"/>
                </a:solidFill>
                <a:effectLst/>
              </a:rPr>
              <a:t>    salary&gt;10000;</a:t>
            </a:r>
          </a:p>
        </p:txBody>
      </p:sp>
    </p:spTree>
    <p:extLst>
      <p:ext uri="{BB962C8B-B14F-4D97-AF65-F5344CB8AC3E}">
        <p14:creationId xmlns:p14="http://schemas.microsoft.com/office/powerpoint/2010/main" val="103962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7" y="1163783"/>
            <a:ext cx="6463146" cy="5484377"/>
          </a:xfrm>
        </p:spPr>
        <p:txBody>
          <a:bodyPr>
            <a:normAutofit/>
          </a:bodyPr>
          <a:lstStyle/>
          <a:p>
            <a:pPr algn="just"/>
            <a:r>
              <a:rPr lang="en-US" b="1" i="0" dirty="0">
                <a:effectLst/>
              </a:rPr>
              <a:t>Parsing and Translation Example</a:t>
            </a:r>
          </a:p>
          <a:p>
            <a:pPr algn="just"/>
            <a:r>
              <a:rPr lang="en-US" b="0" i="0" dirty="0">
                <a:effectLst/>
              </a:rPr>
              <a:t>The next step is to </a:t>
            </a:r>
            <a:r>
              <a:rPr lang="en-US" b="1" i="0" dirty="0">
                <a:solidFill>
                  <a:srgbClr val="0000CC"/>
                </a:solidFill>
                <a:effectLst/>
              </a:rPr>
              <a:t>translate the generated set of tokens into a relational algebra query. </a:t>
            </a:r>
            <a:r>
              <a:rPr lang="en-US" b="0" i="0" dirty="0">
                <a:effectLst/>
              </a:rPr>
              <a:t>These are easy to handle for the optimizer in further processes.</a:t>
            </a:r>
          </a:p>
          <a:p>
            <a:pPr algn="just">
              <a:buFont typeface="Arial" panose="020B0604020202020204" pitchFamily="34" charset="0"/>
              <a:buChar char="•"/>
            </a:pPr>
            <a:r>
              <a:rPr lang="en-US" b="1" i="0" dirty="0" err="1">
                <a:solidFill>
                  <a:srgbClr val="C00000"/>
                </a:solidFill>
                <a:effectLst/>
              </a:rPr>
              <a:t>σ</a:t>
            </a:r>
            <a:r>
              <a:rPr lang="en-US" b="1" i="0" baseline="-25000" dirty="0" err="1">
                <a:solidFill>
                  <a:srgbClr val="C00000"/>
                </a:solidFill>
                <a:effectLst/>
              </a:rPr>
              <a:t>salary</a:t>
            </a:r>
            <a:r>
              <a:rPr lang="en-US" b="1" i="0" baseline="-25000" dirty="0">
                <a:solidFill>
                  <a:srgbClr val="C00000"/>
                </a:solidFill>
                <a:effectLst/>
              </a:rPr>
              <a:t>&gt;10000</a:t>
            </a:r>
            <a:r>
              <a:rPr lang="en-US" b="1" i="0" dirty="0">
                <a:solidFill>
                  <a:srgbClr val="C00000"/>
                </a:solidFill>
                <a:effectLst/>
              </a:rPr>
              <a:t> (π</a:t>
            </a:r>
            <a:r>
              <a:rPr lang="en-US" b="1" i="0" baseline="-25000" dirty="0">
                <a:solidFill>
                  <a:srgbClr val="C00000"/>
                </a:solidFill>
                <a:effectLst/>
              </a:rPr>
              <a:t>salary</a:t>
            </a:r>
            <a:r>
              <a:rPr lang="en-US" b="1" i="0" dirty="0">
                <a:solidFill>
                  <a:srgbClr val="C00000"/>
                </a:solidFill>
                <a:effectLst/>
              </a:rPr>
              <a:t> (Employee))</a:t>
            </a:r>
            <a:endParaRPr lang="en-US" b="0" i="0" dirty="0">
              <a:solidFill>
                <a:srgbClr val="C00000"/>
              </a:solidFill>
              <a:effectLst/>
            </a:endParaRPr>
          </a:p>
          <a:p>
            <a:pPr algn="just">
              <a:buFont typeface="Arial" panose="020B0604020202020204" pitchFamily="34" charset="0"/>
              <a:buChar char="•"/>
            </a:pPr>
            <a:r>
              <a:rPr lang="en-US" b="1" i="0" dirty="0">
                <a:solidFill>
                  <a:srgbClr val="C00000"/>
                </a:solidFill>
                <a:effectLst/>
              </a:rPr>
              <a:t>π</a:t>
            </a:r>
            <a:r>
              <a:rPr lang="en-US" b="1" i="0" baseline="-25000" dirty="0">
                <a:solidFill>
                  <a:srgbClr val="C00000"/>
                </a:solidFill>
                <a:effectLst/>
              </a:rPr>
              <a:t>salary</a:t>
            </a:r>
            <a:r>
              <a:rPr lang="en-US" b="1" i="0" dirty="0">
                <a:solidFill>
                  <a:srgbClr val="C00000"/>
                </a:solidFill>
                <a:effectLst/>
              </a:rPr>
              <a:t> (</a:t>
            </a:r>
            <a:r>
              <a:rPr lang="en-US" b="1" i="0" dirty="0" err="1">
                <a:solidFill>
                  <a:srgbClr val="C00000"/>
                </a:solidFill>
                <a:effectLst/>
              </a:rPr>
              <a:t>σ</a:t>
            </a:r>
            <a:r>
              <a:rPr lang="en-US" b="1" i="0" baseline="-25000" dirty="0" err="1">
                <a:solidFill>
                  <a:srgbClr val="C00000"/>
                </a:solidFill>
                <a:effectLst/>
              </a:rPr>
              <a:t>salary</a:t>
            </a:r>
            <a:r>
              <a:rPr lang="en-US" b="1" i="0" baseline="-25000" dirty="0">
                <a:solidFill>
                  <a:srgbClr val="C00000"/>
                </a:solidFill>
                <a:effectLst/>
              </a:rPr>
              <a:t>&gt;10000</a:t>
            </a:r>
            <a:r>
              <a:rPr lang="en-US" b="1" i="0" dirty="0">
                <a:solidFill>
                  <a:srgbClr val="C00000"/>
                </a:solidFill>
                <a:effectLst/>
              </a:rPr>
              <a:t> (Employee))</a:t>
            </a:r>
            <a:endParaRPr lang="en-US" b="0" i="0" dirty="0">
              <a:solidFill>
                <a:srgbClr val="C00000"/>
              </a:solidFill>
              <a:effectLst/>
            </a:endParaRPr>
          </a:p>
          <a:p>
            <a:pPr algn="just"/>
            <a:r>
              <a:rPr lang="en-US" b="0" i="0" dirty="0">
                <a:effectLst/>
              </a:rPr>
              <a:t>After </a:t>
            </a:r>
            <a:r>
              <a:rPr lang="en-US" b="1" i="0" dirty="0">
                <a:solidFill>
                  <a:srgbClr val="0000CC"/>
                </a:solidFill>
                <a:effectLst/>
              </a:rPr>
              <a:t>translating the given query, we can execute each relational algebra operation by using different algorithms.</a:t>
            </a:r>
          </a:p>
          <a:p>
            <a:pPr algn="just"/>
            <a:r>
              <a:rPr lang="en-US" b="0" i="0" dirty="0">
                <a:effectLst/>
              </a:rPr>
              <a:t>So, in this way, a query processing begins its working.</a:t>
            </a:r>
            <a:endParaRPr lang="en-US" dirty="0"/>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2738" y="2119745"/>
            <a:ext cx="4807527" cy="452841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xmlns="" id="{1B85D7B2-9F0E-4AB3-44E6-5EC16A29DF06}"/>
              </a:ext>
            </a:extLst>
          </p:cNvPr>
          <p:cNvSpPr txBox="1">
            <a:spLocks/>
          </p:cNvSpPr>
          <p:nvPr/>
        </p:nvSpPr>
        <p:spPr>
          <a:xfrm>
            <a:off x="9147896" y="128733"/>
            <a:ext cx="2857068" cy="244056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b="1" i="0" dirty="0">
                <a:solidFill>
                  <a:srgbClr val="0000CC"/>
                </a:solidFill>
                <a:effectLst/>
              </a:rPr>
              <a:t>SELECT</a:t>
            </a:r>
          </a:p>
          <a:p>
            <a:pPr marL="0" indent="0" algn="just">
              <a:buNone/>
            </a:pPr>
            <a:r>
              <a:rPr lang="en-US" b="1" i="0" dirty="0">
                <a:solidFill>
                  <a:srgbClr val="0000CC"/>
                </a:solidFill>
                <a:effectLst/>
              </a:rPr>
              <a:t>    </a:t>
            </a:r>
            <a:r>
              <a:rPr lang="en-US" b="1" i="0" dirty="0" err="1">
                <a:solidFill>
                  <a:srgbClr val="0000CC"/>
                </a:solidFill>
                <a:effectLst/>
              </a:rPr>
              <a:t>emp_name</a:t>
            </a:r>
            <a:endParaRPr lang="en-US" b="1" i="0" dirty="0">
              <a:solidFill>
                <a:srgbClr val="0000CC"/>
              </a:solidFill>
              <a:effectLst/>
            </a:endParaRPr>
          </a:p>
          <a:p>
            <a:pPr marL="0" indent="0" algn="just">
              <a:buNone/>
            </a:pPr>
            <a:r>
              <a:rPr lang="en-US" b="1" i="0" dirty="0">
                <a:solidFill>
                  <a:srgbClr val="0000CC"/>
                </a:solidFill>
                <a:effectLst/>
              </a:rPr>
              <a:t>FROM</a:t>
            </a:r>
          </a:p>
          <a:p>
            <a:pPr marL="0" indent="0" algn="just">
              <a:buNone/>
            </a:pPr>
            <a:r>
              <a:rPr lang="en-US" b="1" i="0" dirty="0">
                <a:solidFill>
                  <a:srgbClr val="0000CC"/>
                </a:solidFill>
                <a:effectLst/>
              </a:rPr>
              <a:t>    employee</a:t>
            </a:r>
          </a:p>
          <a:p>
            <a:pPr marL="0" indent="0" algn="just">
              <a:buNone/>
            </a:pPr>
            <a:r>
              <a:rPr lang="en-US" b="1" i="0" dirty="0">
                <a:solidFill>
                  <a:srgbClr val="0000CC"/>
                </a:solidFill>
                <a:effectLst/>
              </a:rPr>
              <a:t>WHERE</a:t>
            </a:r>
          </a:p>
          <a:p>
            <a:pPr marL="0" indent="0" algn="just">
              <a:buNone/>
            </a:pPr>
            <a:r>
              <a:rPr lang="en-US" b="1" i="0" dirty="0">
                <a:solidFill>
                  <a:srgbClr val="0000CC"/>
                </a:solidFill>
                <a:effectLst/>
              </a:rPr>
              <a:t>    salary&gt;10000;</a:t>
            </a:r>
          </a:p>
        </p:txBody>
      </p:sp>
    </p:spTree>
    <p:extLst>
      <p:ext uri="{BB962C8B-B14F-4D97-AF65-F5344CB8AC3E}">
        <p14:creationId xmlns:p14="http://schemas.microsoft.com/office/powerpoint/2010/main" val="3398009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6" y="1163783"/>
            <a:ext cx="7114309" cy="5484377"/>
          </a:xfrm>
        </p:spPr>
        <p:txBody>
          <a:bodyPr>
            <a:normAutofit fontScale="92500" lnSpcReduction="10000"/>
          </a:bodyPr>
          <a:lstStyle/>
          <a:p>
            <a:pPr algn="just"/>
            <a:r>
              <a:rPr lang="en-US" b="1" i="0" dirty="0">
                <a:effectLst/>
              </a:rPr>
              <a:t>Query Optimization</a:t>
            </a:r>
          </a:p>
          <a:p>
            <a:pPr algn="just"/>
            <a:r>
              <a:rPr lang="en-US" b="0" i="0" dirty="0">
                <a:effectLst/>
              </a:rPr>
              <a:t>In the next step, </a:t>
            </a:r>
            <a:r>
              <a:rPr lang="en-US" b="1" i="0" dirty="0">
                <a:solidFill>
                  <a:srgbClr val="0000CC"/>
                </a:solidFill>
                <a:effectLst/>
              </a:rPr>
              <a:t>DMBS picks up the most efficient evaluation plan </a:t>
            </a:r>
            <a:r>
              <a:rPr lang="en-US" b="0" i="0" dirty="0">
                <a:effectLst/>
              </a:rPr>
              <a:t>based on the cost each plan has.</a:t>
            </a:r>
          </a:p>
          <a:p>
            <a:pPr algn="just"/>
            <a:r>
              <a:rPr lang="en-US" b="0" i="0" dirty="0">
                <a:effectLst/>
              </a:rPr>
              <a:t>The aim here is to minimize the query evaluation time. The </a:t>
            </a:r>
            <a:r>
              <a:rPr lang="en-US" b="1" i="0" dirty="0">
                <a:solidFill>
                  <a:srgbClr val="0000CC"/>
                </a:solidFill>
                <a:effectLst/>
              </a:rPr>
              <a:t>optimizer also evaluates the usage of index present in the table and the columns being used. </a:t>
            </a:r>
          </a:p>
          <a:p>
            <a:pPr algn="just"/>
            <a:r>
              <a:rPr lang="en-US" b="0" i="0" dirty="0">
                <a:effectLst/>
              </a:rPr>
              <a:t>It also </a:t>
            </a:r>
            <a:r>
              <a:rPr lang="en-US" b="1" i="0" dirty="0">
                <a:solidFill>
                  <a:srgbClr val="0000CC"/>
                </a:solidFill>
                <a:effectLst/>
              </a:rPr>
              <a:t>finds out the best order of subqueries to be executed </a:t>
            </a:r>
            <a:r>
              <a:rPr lang="en-US" b="0" i="0" dirty="0">
                <a:effectLst/>
              </a:rPr>
              <a:t>so as to ensure only the best of the plans gets executed.</a:t>
            </a:r>
          </a:p>
          <a:p>
            <a:pPr algn="just"/>
            <a:r>
              <a:rPr lang="en-US" b="0" i="0" dirty="0">
                <a:effectLst/>
              </a:rPr>
              <a:t>Simply put, for any query, there are multiple evaluation plans to execute it. </a:t>
            </a:r>
            <a:r>
              <a:rPr lang="en-US" b="1" i="0" dirty="0">
                <a:solidFill>
                  <a:srgbClr val="0000CC"/>
                </a:solidFill>
                <a:effectLst/>
              </a:rPr>
              <a:t>Choosing the one which costs the least is called </a:t>
            </a:r>
            <a:r>
              <a:rPr lang="en-US" b="1" i="0" dirty="0">
                <a:effectLst/>
              </a:rPr>
              <a:t>Query Optimization. </a:t>
            </a:r>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5309" y="1052945"/>
            <a:ext cx="4308765" cy="5098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338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7" y="1163783"/>
            <a:ext cx="6477000" cy="5484377"/>
          </a:xfrm>
        </p:spPr>
        <p:txBody>
          <a:bodyPr>
            <a:normAutofit/>
          </a:bodyPr>
          <a:lstStyle/>
          <a:p>
            <a:pPr algn="just"/>
            <a:r>
              <a:rPr lang="en-US" b="1" i="0" dirty="0">
                <a:effectLst/>
              </a:rPr>
              <a:t>Query Optimization</a:t>
            </a:r>
          </a:p>
          <a:p>
            <a:pPr algn="just"/>
            <a:r>
              <a:rPr lang="en-US" b="0" i="0" dirty="0">
                <a:effectLst/>
              </a:rPr>
              <a:t>Some of the factors weighed in by the optimizer to calculate the cost of a query evaluation plan is:</a:t>
            </a:r>
          </a:p>
          <a:p>
            <a:pPr algn="just">
              <a:buFont typeface="Arial" panose="020B0604020202020204" pitchFamily="34" charset="0"/>
              <a:buChar char="•"/>
            </a:pPr>
            <a:r>
              <a:rPr lang="en-US" b="1" i="0" dirty="0">
                <a:effectLst/>
              </a:rPr>
              <a:t>CPU time</a:t>
            </a:r>
          </a:p>
          <a:p>
            <a:pPr algn="just">
              <a:buFont typeface="Arial" panose="020B0604020202020204" pitchFamily="34" charset="0"/>
              <a:buChar char="•"/>
            </a:pPr>
            <a:r>
              <a:rPr lang="en-US" b="1" i="0" dirty="0">
                <a:effectLst/>
              </a:rPr>
              <a:t>Number of tuples to be scanned</a:t>
            </a:r>
          </a:p>
          <a:p>
            <a:pPr algn="just">
              <a:buFont typeface="Arial" panose="020B0604020202020204" pitchFamily="34" charset="0"/>
              <a:buChar char="•"/>
            </a:pPr>
            <a:r>
              <a:rPr lang="en-US" b="1" i="0" dirty="0">
                <a:effectLst/>
              </a:rPr>
              <a:t>Disk access time</a:t>
            </a:r>
          </a:p>
          <a:p>
            <a:pPr algn="just">
              <a:buFont typeface="Arial" panose="020B0604020202020204" pitchFamily="34" charset="0"/>
              <a:buChar char="•"/>
            </a:pPr>
            <a:r>
              <a:rPr lang="en-US" b="1" i="0" dirty="0">
                <a:effectLst/>
              </a:rPr>
              <a:t>number of operations</a:t>
            </a:r>
          </a:p>
          <a:p>
            <a:pPr algn="just"/>
            <a:endParaRPr lang="en-US" b="1" i="0" dirty="0">
              <a:effectLst/>
            </a:endParaRPr>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1964" y="1052945"/>
            <a:ext cx="4752110" cy="4528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056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7" y="1163783"/>
            <a:ext cx="6477000" cy="5484377"/>
          </a:xfrm>
        </p:spPr>
        <p:txBody>
          <a:bodyPr>
            <a:normAutofit/>
          </a:bodyPr>
          <a:lstStyle/>
          <a:p>
            <a:pPr algn="just"/>
            <a:r>
              <a:rPr lang="en-US" b="1" i="0" dirty="0">
                <a:effectLst/>
              </a:rPr>
              <a:t>Execution Plan</a:t>
            </a:r>
          </a:p>
          <a:p>
            <a:pPr algn="just"/>
            <a:r>
              <a:rPr lang="en-US" b="0" i="0" dirty="0">
                <a:effectLst/>
              </a:rPr>
              <a:t>A query can be expressed in many ways.</a:t>
            </a:r>
          </a:p>
          <a:p>
            <a:pPr algn="just"/>
            <a:r>
              <a:rPr lang="en-US" b="0" i="0" dirty="0">
                <a:effectLst/>
              </a:rPr>
              <a:t>The query processor module, at this stage, using the information collected in </a:t>
            </a:r>
            <a:r>
              <a:rPr lang="en-US" b="1" i="0" dirty="0">
                <a:effectLst/>
              </a:rPr>
              <a:t>Optimization </a:t>
            </a:r>
            <a:r>
              <a:rPr lang="en-US" b="0" i="0" dirty="0">
                <a:effectLst/>
              </a:rPr>
              <a:t>step </a:t>
            </a:r>
            <a:r>
              <a:rPr lang="en-US" b="1" i="0" dirty="0">
                <a:solidFill>
                  <a:srgbClr val="0000CC"/>
                </a:solidFill>
                <a:effectLst/>
              </a:rPr>
              <a:t>to find different relational algebra expressions that are equivalent and return the result </a:t>
            </a:r>
            <a:r>
              <a:rPr lang="en-US" b="0" i="0" dirty="0">
                <a:effectLst/>
              </a:rPr>
              <a:t>of the one which we have written already.</a:t>
            </a:r>
          </a:p>
          <a:p>
            <a:pPr algn="just"/>
            <a:r>
              <a:rPr lang="en-US" b="0" i="0" dirty="0">
                <a:effectLst/>
              </a:rPr>
              <a:t>So far, </a:t>
            </a:r>
            <a:r>
              <a:rPr lang="en-US" b="1" i="0" dirty="0">
                <a:solidFill>
                  <a:srgbClr val="0000CC"/>
                </a:solidFill>
                <a:effectLst/>
              </a:rPr>
              <a:t>we have got two execution plans</a:t>
            </a:r>
            <a:r>
              <a:rPr lang="en-US" b="0" i="0" dirty="0">
                <a:effectLst/>
              </a:rPr>
              <a:t>. Only condition is that both plans should give the same result.</a:t>
            </a:r>
            <a:endParaRPr lang="en-US" b="1" i="0" dirty="0">
              <a:effectLst/>
            </a:endParaRPr>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1964" y="1052945"/>
            <a:ext cx="4752110" cy="4528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1255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4000" b="1" i="0" u="none" strike="noStrike" baseline="0" dirty="0">
                <a:latin typeface="+mn-lt"/>
              </a:rPr>
              <a:t>Query Processing and Query Optimization</a:t>
            </a:r>
            <a:endParaRPr lang="en-US" sz="40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7" y="1163783"/>
            <a:ext cx="6477000" cy="5484377"/>
          </a:xfrm>
        </p:spPr>
        <p:txBody>
          <a:bodyPr>
            <a:normAutofit/>
          </a:bodyPr>
          <a:lstStyle/>
          <a:p>
            <a:pPr algn="just"/>
            <a:r>
              <a:rPr lang="en-US" b="1" i="0" dirty="0">
                <a:effectLst/>
              </a:rPr>
              <a:t>Query execution engine</a:t>
            </a:r>
            <a:r>
              <a:rPr lang="en-US" b="0" i="0" dirty="0">
                <a:effectLst/>
              </a:rPr>
              <a:t> </a:t>
            </a:r>
          </a:p>
          <a:p>
            <a:pPr algn="just"/>
            <a:r>
              <a:rPr lang="en-US" b="0" i="0" dirty="0">
                <a:effectLst/>
              </a:rPr>
              <a:t>A </a:t>
            </a:r>
            <a:r>
              <a:rPr lang="en-US" b="1" i="0" dirty="0">
                <a:effectLst/>
              </a:rPr>
              <a:t>query execution engine</a:t>
            </a:r>
            <a:r>
              <a:rPr lang="en-US" b="0" i="0" dirty="0">
                <a:effectLst/>
              </a:rPr>
              <a:t> is </a:t>
            </a:r>
            <a:r>
              <a:rPr lang="en-US" b="1" i="0" dirty="0">
                <a:solidFill>
                  <a:srgbClr val="0000CC"/>
                </a:solidFill>
                <a:effectLst/>
              </a:rPr>
              <a:t>responsible for generating the output of the given query. </a:t>
            </a:r>
          </a:p>
          <a:p>
            <a:pPr algn="just"/>
            <a:r>
              <a:rPr lang="en-US" b="0" i="0" dirty="0">
                <a:effectLst/>
              </a:rPr>
              <a:t>At this stage, </a:t>
            </a:r>
            <a:r>
              <a:rPr lang="en-US" b="1" i="0" dirty="0">
                <a:solidFill>
                  <a:srgbClr val="0000CC"/>
                </a:solidFill>
                <a:effectLst/>
              </a:rPr>
              <a:t>we choose one execution plan</a:t>
            </a:r>
            <a:r>
              <a:rPr lang="en-US" b="0" i="0" dirty="0">
                <a:effectLst/>
              </a:rPr>
              <a:t> of the several we have developed. </a:t>
            </a:r>
          </a:p>
          <a:p>
            <a:pPr algn="just"/>
            <a:r>
              <a:rPr lang="en-US" b="0" i="0" dirty="0">
                <a:effectLst/>
              </a:rPr>
              <a:t>This </a:t>
            </a:r>
            <a:r>
              <a:rPr lang="en-US" b="1" i="0" dirty="0">
                <a:solidFill>
                  <a:srgbClr val="0000CC"/>
                </a:solidFill>
                <a:effectLst/>
              </a:rPr>
              <a:t>Execution plan accesses data from the database to give the final result.</a:t>
            </a:r>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1964" y="1052945"/>
            <a:ext cx="4752110" cy="4528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721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555DBA-D9A2-C8F1-06FD-1D5C238ABF32}"/>
              </a:ext>
            </a:extLst>
          </p:cNvPr>
          <p:cNvSpPr>
            <a:spLocks noGrp="1"/>
          </p:cNvSpPr>
          <p:nvPr>
            <p:ph type="title"/>
          </p:nvPr>
        </p:nvSpPr>
        <p:spPr>
          <a:xfrm>
            <a:off x="187036" y="209839"/>
            <a:ext cx="10515600" cy="953944"/>
          </a:xfrm>
        </p:spPr>
        <p:txBody>
          <a:bodyPr>
            <a:normAutofit/>
          </a:bodyPr>
          <a:lstStyle/>
          <a:p>
            <a:r>
              <a:rPr lang="en-US" sz="2400" b="1" i="0" u="none" strike="noStrike" baseline="0" dirty="0">
                <a:latin typeface="+mn-lt"/>
              </a:rPr>
              <a:t>Query Processing and Query Optimization</a:t>
            </a:r>
            <a:endParaRPr lang="en-US" sz="2400" b="1" dirty="0">
              <a:latin typeface="+mn-lt"/>
            </a:endParaRPr>
          </a:p>
        </p:txBody>
      </p:sp>
      <p:sp>
        <p:nvSpPr>
          <p:cNvPr id="3" name="Content Placeholder 2">
            <a:extLst>
              <a:ext uri="{FF2B5EF4-FFF2-40B4-BE49-F238E27FC236}">
                <a16:creationId xmlns:a16="http://schemas.microsoft.com/office/drawing/2014/main" xmlns="" id="{3B0C1136-5A5C-9592-D2B9-63607B130B7A}"/>
              </a:ext>
            </a:extLst>
          </p:cNvPr>
          <p:cNvSpPr>
            <a:spLocks noGrp="1"/>
          </p:cNvSpPr>
          <p:nvPr>
            <p:ph idx="1"/>
          </p:nvPr>
        </p:nvSpPr>
        <p:spPr>
          <a:xfrm>
            <a:off x="187037" y="1163783"/>
            <a:ext cx="6477000" cy="5484377"/>
          </a:xfrm>
        </p:spPr>
        <p:txBody>
          <a:bodyPr>
            <a:normAutofit/>
          </a:bodyPr>
          <a:lstStyle/>
          <a:p>
            <a:pPr algn="just"/>
            <a:r>
              <a:rPr lang="en-US" b="1" i="0" dirty="0">
                <a:solidFill>
                  <a:srgbClr val="0000CC"/>
                </a:solidFill>
                <a:effectLst/>
              </a:rPr>
              <a:t>Summary</a:t>
            </a:r>
          </a:p>
        </p:txBody>
      </p:sp>
      <p:pic>
        <p:nvPicPr>
          <p:cNvPr id="13314" name="Picture 2">
            <a:extLst>
              <a:ext uri="{FF2B5EF4-FFF2-40B4-BE49-F238E27FC236}">
                <a16:creationId xmlns:a16="http://schemas.microsoft.com/office/drawing/2014/main" xmlns="" id="{438886F8-7ACA-EC1B-74B1-5E51C18FA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553" y="1662545"/>
            <a:ext cx="5233555" cy="49856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xmlns="" id="{37389EF5-87AB-E716-8C4E-C3A1B2A63DAA}"/>
              </a:ext>
            </a:extLst>
          </p:cNvPr>
          <p:cNvPicPr>
            <a:picLocks noChangeAspect="1"/>
          </p:cNvPicPr>
          <p:nvPr/>
        </p:nvPicPr>
        <p:blipFill>
          <a:blip r:embed="rId3"/>
          <a:stretch>
            <a:fillRect/>
          </a:stretch>
        </p:blipFill>
        <p:spPr>
          <a:xfrm>
            <a:off x="5607624" y="0"/>
            <a:ext cx="6584376" cy="6539345"/>
          </a:xfrm>
          <a:prstGeom prst="rect">
            <a:avLst/>
          </a:prstGeom>
        </p:spPr>
      </p:pic>
    </p:spTree>
    <p:extLst>
      <p:ext uri="{BB962C8B-B14F-4D97-AF65-F5344CB8AC3E}">
        <p14:creationId xmlns:p14="http://schemas.microsoft.com/office/powerpoint/2010/main" val="960615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1736</TotalTime>
  <Words>3326</Words>
  <Application>Microsoft Office PowerPoint</Application>
  <PresentationFormat>Custom</PresentationFormat>
  <Paragraphs>292</Paragraphs>
  <Slides>41</Slides>
  <Notes>12</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Unit 4 Chapter 1 Storage and Querying</vt:lpstr>
      <vt:lpstr>Syllabus Topics</vt:lpstr>
      <vt:lpstr> Overview of physical Storage System</vt:lpstr>
      <vt:lpstr> Overview of physical Storage System</vt:lpstr>
      <vt:lpstr> Overview of physical Storage System</vt:lpstr>
      <vt:lpstr> Overview of physical Storage System</vt:lpstr>
      <vt:lpstr> Overview of physical Storage System</vt:lpstr>
      <vt:lpstr>RAID-Redundant Array of Independent Disks </vt:lpstr>
      <vt:lpstr>RAID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Structures </vt:lpstr>
      <vt:lpstr>File Structures- Sequential method </vt:lpstr>
      <vt:lpstr>File Structures </vt:lpstr>
      <vt:lpstr>File Structures </vt:lpstr>
      <vt:lpstr>File Structures </vt:lpstr>
      <vt:lpstr>File Structures </vt:lpstr>
      <vt:lpstr>Indexing</vt:lpstr>
      <vt:lpstr>File Structures </vt:lpstr>
      <vt:lpstr>File Structures </vt:lpstr>
      <vt:lpstr>Types of Indexes</vt:lpstr>
      <vt:lpstr>Types of Indexes</vt:lpstr>
      <vt:lpstr>Types of Indexes</vt:lpstr>
      <vt:lpstr>Types of Indexes</vt:lpstr>
      <vt:lpstr>Types of Indexes</vt:lpstr>
      <vt:lpstr>Query Processing and Query Optimization</vt:lpstr>
      <vt:lpstr>Query Processing and Query Optimization</vt:lpstr>
      <vt:lpstr>Query Processing and Query Optimization</vt:lpstr>
      <vt:lpstr>Query Processing and Query Optimization</vt:lpstr>
      <vt:lpstr>Query Processing and Query Optimization</vt:lpstr>
      <vt:lpstr>Query Processing and Query Optimization</vt:lpstr>
      <vt:lpstr>Query Processing and Query Optimization</vt:lpstr>
      <vt:lpstr>Query Processing and Query Optimization</vt:lpstr>
      <vt:lpstr>Query Processing and Query Optimization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Chapter 1 Storage and Querying</dc:title>
  <dc:creator>Ranjeetsingh Suryawanshi</dc:creator>
  <cp:lastModifiedBy>DELL-PC</cp:lastModifiedBy>
  <cp:revision>104</cp:revision>
  <dcterms:created xsi:type="dcterms:W3CDTF">2022-10-07T07:50:27Z</dcterms:created>
  <dcterms:modified xsi:type="dcterms:W3CDTF">2023-09-15T05:32:18Z</dcterms:modified>
</cp:coreProperties>
</file>