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56" r:id="rId2"/>
    <p:sldId id="281" r:id="rId3"/>
    <p:sldId id="282" r:id="rId4"/>
    <p:sldId id="283" r:id="rId5"/>
    <p:sldId id="347" r:id="rId6"/>
    <p:sldId id="345" r:id="rId7"/>
    <p:sldId id="284" r:id="rId8"/>
    <p:sldId id="348" r:id="rId9"/>
    <p:sldId id="346" r:id="rId10"/>
    <p:sldId id="286" r:id="rId11"/>
    <p:sldId id="287" r:id="rId12"/>
    <p:sldId id="288" r:id="rId13"/>
    <p:sldId id="381" r:id="rId14"/>
    <p:sldId id="382" r:id="rId15"/>
    <p:sldId id="378" r:id="rId16"/>
    <p:sldId id="375" r:id="rId17"/>
    <p:sldId id="403" r:id="rId18"/>
    <p:sldId id="350" r:id="rId19"/>
    <p:sldId id="376" r:id="rId20"/>
    <p:sldId id="377" r:id="rId21"/>
    <p:sldId id="404" r:id="rId22"/>
    <p:sldId id="405" r:id="rId23"/>
    <p:sldId id="292" r:id="rId24"/>
    <p:sldId id="293" r:id="rId25"/>
    <p:sldId id="349" r:id="rId26"/>
    <p:sldId id="294" r:id="rId27"/>
    <p:sldId id="295" r:id="rId28"/>
    <p:sldId id="296" r:id="rId29"/>
    <p:sldId id="297" r:id="rId30"/>
    <p:sldId id="298" r:id="rId31"/>
    <p:sldId id="370" r:id="rId32"/>
    <p:sldId id="383" r:id="rId33"/>
    <p:sldId id="299" r:id="rId34"/>
    <p:sldId id="410" r:id="rId35"/>
    <p:sldId id="411" r:id="rId36"/>
    <p:sldId id="267" r:id="rId37"/>
    <p:sldId id="268" r:id="rId38"/>
    <p:sldId id="371" r:id="rId39"/>
    <p:sldId id="269" r:id="rId40"/>
    <p:sldId id="379" r:id="rId41"/>
    <p:sldId id="270" r:id="rId42"/>
    <p:sldId id="300" r:id="rId43"/>
    <p:sldId id="271" r:id="rId44"/>
    <p:sldId id="272" r:id="rId45"/>
    <p:sldId id="301" r:id="rId46"/>
    <p:sldId id="302" r:id="rId47"/>
    <p:sldId id="303" r:id="rId48"/>
    <p:sldId id="274" r:id="rId49"/>
    <p:sldId id="275" r:id="rId50"/>
    <p:sldId id="304" r:id="rId51"/>
    <p:sldId id="305" r:id="rId52"/>
    <p:sldId id="351" r:id="rId53"/>
    <p:sldId id="306" r:id="rId54"/>
    <p:sldId id="380" r:id="rId55"/>
    <p:sldId id="352" r:id="rId56"/>
    <p:sldId id="389" r:id="rId57"/>
    <p:sldId id="359" r:id="rId58"/>
    <p:sldId id="308" r:id="rId59"/>
    <p:sldId id="356" r:id="rId60"/>
    <p:sldId id="357" r:id="rId61"/>
    <p:sldId id="309" r:id="rId62"/>
    <p:sldId id="358" r:id="rId63"/>
    <p:sldId id="390" r:id="rId64"/>
    <p:sldId id="372" r:id="rId65"/>
    <p:sldId id="310" r:id="rId66"/>
    <p:sldId id="311" r:id="rId67"/>
    <p:sldId id="312" r:id="rId68"/>
    <p:sldId id="313" r:id="rId69"/>
    <p:sldId id="315" r:id="rId70"/>
    <p:sldId id="354" r:id="rId71"/>
    <p:sldId id="316" r:id="rId72"/>
    <p:sldId id="324" r:id="rId73"/>
    <p:sldId id="325" r:id="rId74"/>
    <p:sldId id="326" r:id="rId75"/>
    <p:sldId id="360" r:id="rId76"/>
    <p:sldId id="387" r:id="rId77"/>
    <p:sldId id="385" r:id="rId78"/>
    <p:sldId id="386" r:id="rId79"/>
    <p:sldId id="384" r:id="rId80"/>
    <p:sldId id="409" r:id="rId81"/>
    <p:sldId id="273" r:id="rId82"/>
    <p:sldId id="279" r:id="rId83"/>
    <p:sldId id="278" r:id="rId84"/>
    <p:sldId id="374" r:id="rId85"/>
    <p:sldId id="327" r:id="rId86"/>
    <p:sldId id="329" r:id="rId87"/>
    <p:sldId id="330" r:id="rId88"/>
    <p:sldId id="328" r:id="rId89"/>
    <p:sldId id="331" r:id="rId90"/>
    <p:sldId id="392" r:id="rId91"/>
    <p:sldId id="332" r:id="rId92"/>
    <p:sldId id="391" r:id="rId93"/>
    <p:sldId id="361" r:id="rId94"/>
    <p:sldId id="369" r:id="rId95"/>
    <p:sldId id="362" r:id="rId96"/>
    <p:sldId id="363" r:id="rId97"/>
    <p:sldId id="406" r:id="rId98"/>
    <p:sldId id="407" r:id="rId99"/>
    <p:sldId id="408" r:id="rId100"/>
    <p:sldId id="402" r:id="rId101"/>
    <p:sldId id="342" r:id="rId102"/>
    <p:sldId id="343" r:id="rId103"/>
    <p:sldId id="344" r:id="rId104"/>
    <p:sldId id="277" r:id="rId105"/>
    <p:sldId id="393" r:id="rId106"/>
    <p:sldId id="394" r:id="rId107"/>
    <p:sldId id="395" r:id="rId108"/>
    <p:sldId id="396" r:id="rId109"/>
    <p:sldId id="397" r:id="rId110"/>
    <p:sldId id="398" r:id="rId111"/>
    <p:sldId id="399" r:id="rId112"/>
    <p:sldId id="401" r:id="rId113"/>
    <p:sldId id="400"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87910" autoAdjust="0"/>
  </p:normalViewPr>
  <p:slideViewPr>
    <p:cSldViewPr snapToGrid="0">
      <p:cViewPr>
        <p:scale>
          <a:sx n="74" d="100"/>
          <a:sy n="74" d="100"/>
        </p:scale>
        <p:origin x="-474" y="15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670BEE-7326-498D-8B73-E8FE5E96D2E4}" type="datetimeFigureOut">
              <a:rPr lang="en-US" smtClean="0"/>
              <a:t>21/08/2025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BE2A00-AF1C-45E9-BDCE-7B0A984E51F7}" type="slidenum">
              <a:rPr lang="en-US" smtClean="0"/>
              <a:t>‹#›</a:t>
            </a:fld>
            <a:endParaRPr lang="en-US"/>
          </a:p>
        </p:txBody>
      </p:sp>
    </p:spTree>
    <p:extLst>
      <p:ext uri="{BB962C8B-B14F-4D97-AF65-F5344CB8AC3E}">
        <p14:creationId xmlns:p14="http://schemas.microsoft.com/office/powerpoint/2010/main" val="236689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simple</a:t>
            </a:r>
            <a:r>
              <a:rPr lang="en-US" baseline="0" dirty="0" smtClean="0"/>
              <a:t> terms we can say that it’s a mathematical expressions that are used to build a theoretical model for accessing or retrieving data.</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3</a:t>
            </a:fld>
            <a:endParaRPr lang="en-US"/>
          </a:p>
        </p:txBody>
      </p:sp>
    </p:spTree>
    <p:extLst>
      <p:ext uri="{BB962C8B-B14F-4D97-AF65-F5344CB8AC3E}">
        <p14:creationId xmlns:p14="http://schemas.microsoft.com/office/powerpoint/2010/main" val="3377324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Derived-Join, Intersect, Division</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4</a:t>
            </a:fld>
            <a:endParaRPr lang="en-US"/>
          </a:p>
        </p:txBody>
      </p:sp>
    </p:spTree>
    <p:extLst>
      <p:ext uri="{BB962C8B-B14F-4D97-AF65-F5344CB8AC3E}">
        <p14:creationId xmlns:p14="http://schemas.microsoft.com/office/powerpoint/2010/main" val="1831498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is similar to select statement in</a:t>
            </a:r>
            <a:r>
              <a:rPr lang="en-US" baseline="0" dirty="0" smtClean="0"/>
              <a:t> SQL but does not support any conditions.</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6</a:t>
            </a:fld>
            <a:endParaRPr lang="en-US"/>
          </a:p>
        </p:txBody>
      </p:sp>
    </p:spTree>
    <p:extLst>
      <p:ext uri="{BB962C8B-B14F-4D97-AF65-F5344CB8AC3E}">
        <p14:creationId xmlns:p14="http://schemas.microsoft.com/office/powerpoint/2010/main" val="564559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Consider a relation </a:t>
            </a:r>
            <a:r>
              <a:rPr lang="en-US" b="1" dirty="0" smtClean="0"/>
              <a:t>Student(</a:t>
            </a:r>
            <a:r>
              <a:rPr lang="en-US" b="1" dirty="0" err="1" smtClean="0"/>
              <a:t>RollNo</a:t>
            </a:r>
            <a:r>
              <a:rPr lang="en-US" b="1" dirty="0" smtClean="0"/>
              <a:t>, Name, Age, Course)</a:t>
            </a:r>
            <a:endParaRPr lang="en-US" dirty="0" smtClean="0"/>
          </a:p>
          <a:p>
            <a:r>
              <a:rPr lang="en-US" dirty="0" smtClean="0"/>
              <a:t>If we want to find the </a:t>
            </a:r>
            <a:r>
              <a:rPr lang="en-US" b="1" dirty="0" smtClean="0"/>
              <a:t>names of students older than 18</a:t>
            </a:r>
            <a:r>
              <a:rPr lang="en-US" dirty="0" smtClean="0"/>
              <a:t>, we can write:</a:t>
            </a:r>
          </a:p>
          <a:p>
            <a:r>
              <a:rPr lang="en-US" dirty="0" smtClean="0"/>
              <a:t>πName(</a:t>
            </a:r>
            <a:r>
              <a:rPr lang="en-US" dirty="0" err="1" smtClean="0"/>
              <a:t>σAge</a:t>
            </a:r>
            <a:r>
              <a:rPr lang="en-US" dirty="0" smtClean="0"/>
              <a:t>&gt;18(Student)</a:t>
            </a:r>
          </a:p>
          <a:p>
            <a:r>
              <a:rPr lang="en-US" b="1" dirty="0" smtClean="0"/>
              <a:t>σ (Selection first)</a:t>
            </a:r>
            <a:r>
              <a:rPr lang="en-US" dirty="0" smtClean="0"/>
              <a:t> → Filters students where Age &gt; 18.</a:t>
            </a:r>
          </a:p>
          <a:p>
            <a:r>
              <a:rPr lang="en-US" b="1" dirty="0" smtClean="0"/>
              <a:t>π (Projection next)</a:t>
            </a:r>
            <a:r>
              <a:rPr lang="en-US" dirty="0" smtClean="0"/>
              <a:t> → Selects only the "Name" column.</a:t>
            </a:r>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7</a:t>
            </a:fld>
            <a:endParaRPr lang="en-US"/>
          </a:p>
        </p:txBody>
      </p:sp>
    </p:spTree>
    <p:extLst>
      <p:ext uri="{BB962C8B-B14F-4D97-AF65-F5344CB8AC3E}">
        <p14:creationId xmlns:p14="http://schemas.microsoft.com/office/powerpoint/2010/main" val="748721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10</a:t>
            </a:fld>
            <a:endParaRPr lang="en-US"/>
          </a:p>
        </p:txBody>
      </p:sp>
    </p:spTree>
    <p:extLst>
      <p:ext uri="{BB962C8B-B14F-4D97-AF65-F5344CB8AC3E}">
        <p14:creationId xmlns:p14="http://schemas.microsoft.com/office/powerpoint/2010/main" val="1740663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σ(Course = "CS101" AND Grade = "A")(Students)</a:t>
            </a:r>
          </a:p>
          <a:p>
            <a:r>
              <a:rPr lang="el-GR" dirty="0" smtClean="0"/>
              <a:t>Π(</a:t>
            </a:r>
            <a:r>
              <a:rPr lang="en-US" dirty="0" smtClean="0"/>
              <a:t>Name)(Students)</a:t>
            </a:r>
          </a:p>
          <a:p>
            <a:r>
              <a:rPr lang="el-GR" dirty="0" smtClean="0"/>
              <a:t>Π</a:t>
            </a:r>
            <a:r>
              <a:rPr lang="en-US" dirty="0" smtClean="0"/>
              <a:t>course[ student intersection instructor]</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13</a:t>
            </a:fld>
            <a:endParaRPr lang="en-US"/>
          </a:p>
        </p:txBody>
      </p:sp>
    </p:spTree>
    <p:extLst>
      <p:ext uri="{BB962C8B-B14F-4D97-AF65-F5344CB8AC3E}">
        <p14:creationId xmlns:p14="http://schemas.microsoft.com/office/powerpoint/2010/main" val="45067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smtClean="0">
                <a:effectLst/>
              </a:rPr>
              <a:t>σ </a:t>
            </a:r>
            <a:r>
              <a:rPr lang="en-US" smtClean="0">
                <a:effectLst/>
              </a:rPr>
              <a:t>AGE</a:t>
            </a:r>
            <a:r>
              <a:rPr lang="en-US" sz="1200" kern="1200" smtClean="0">
                <a:solidFill>
                  <a:schemeClr val="tx1"/>
                </a:solidFill>
                <a:effectLst/>
                <a:latin typeface="+mn-lt"/>
                <a:ea typeface="+mn-ea"/>
                <a:cs typeface="+mn-cs"/>
              </a:rPr>
              <a:t>=20</a:t>
            </a:r>
            <a:r>
              <a:rPr lang="en-US" smtClean="0">
                <a:effectLst/>
              </a:rPr>
              <a:t> (STUDENT) </a:t>
            </a:r>
          </a:p>
          <a:p>
            <a:r>
              <a:rPr lang="en-US" dirty="0" smtClean="0">
                <a:effectLst/>
              </a:rPr>
              <a:t>∏ NAME(STUDENT) ∪ ∏ NAME(EMPLOYEE)</a:t>
            </a:r>
          </a:p>
          <a:p>
            <a:r>
              <a:rPr lang="en-US" dirty="0" smtClean="0">
                <a:effectLst/>
              </a:rPr>
              <a:t>∏ NAME(STUDENT) </a:t>
            </a:r>
            <a:r>
              <a:rPr lang="en-US" sz="1200" kern="1200" dirty="0" smtClean="0">
                <a:solidFill>
                  <a:schemeClr val="tx1"/>
                </a:solidFill>
                <a:effectLst/>
                <a:latin typeface="+mn-lt"/>
                <a:ea typeface="+mn-ea"/>
                <a:cs typeface="+mn-cs"/>
              </a:rPr>
              <a:t>-</a:t>
            </a:r>
            <a:r>
              <a:rPr lang="en-US" dirty="0" smtClean="0">
                <a:effectLst/>
              </a:rPr>
              <a:t> ∏ NAME(EMPLOYEE)</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14</a:t>
            </a:fld>
            <a:endParaRPr lang="en-US"/>
          </a:p>
        </p:txBody>
      </p:sp>
    </p:spTree>
    <p:extLst>
      <p:ext uri="{BB962C8B-B14F-4D97-AF65-F5344CB8AC3E}">
        <p14:creationId xmlns:p14="http://schemas.microsoft.com/office/powerpoint/2010/main" val="4134501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Given two relations </a:t>
            </a:r>
            <a:r>
              <a:rPr lang="en-US" b="1" dirty="0" smtClean="0"/>
              <a:t>R(X, Y)</a:t>
            </a:r>
            <a:r>
              <a:rPr lang="en-US" dirty="0" smtClean="0"/>
              <a:t> and </a:t>
            </a:r>
            <a:r>
              <a:rPr lang="en-US" b="1" dirty="0" smtClean="0"/>
              <a:t>S(Y)</a:t>
            </a:r>
            <a:r>
              <a:rPr lang="en-US" dirty="0" smtClean="0"/>
              <a:t>, where:</a:t>
            </a:r>
          </a:p>
          <a:p>
            <a:r>
              <a:rPr lang="en-US" b="1" dirty="0" smtClean="0"/>
              <a:t>R(X, Y)</a:t>
            </a:r>
            <a:r>
              <a:rPr lang="en-US" dirty="0" smtClean="0"/>
              <a:t> is a relation containing attributes </a:t>
            </a:r>
            <a:r>
              <a:rPr lang="en-US" b="1" dirty="0" smtClean="0"/>
              <a:t>X</a:t>
            </a:r>
            <a:r>
              <a:rPr lang="en-US" dirty="0" smtClean="0"/>
              <a:t> and </a:t>
            </a:r>
            <a:r>
              <a:rPr lang="en-US" b="1" dirty="0" smtClean="0"/>
              <a:t>Y</a:t>
            </a:r>
            <a:endParaRPr lang="en-US" dirty="0" smtClean="0"/>
          </a:p>
          <a:p>
            <a:r>
              <a:rPr lang="en-US" b="1" dirty="0" smtClean="0"/>
              <a:t>S(Y)</a:t>
            </a:r>
            <a:r>
              <a:rPr lang="en-US" dirty="0" smtClean="0"/>
              <a:t> is a relation containing only attribute </a:t>
            </a:r>
            <a:r>
              <a:rPr lang="en-US" b="1" dirty="0" smtClean="0"/>
              <a:t>Y</a:t>
            </a:r>
            <a:endParaRPr lang="en-US" dirty="0" smtClean="0"/>
          </a:p>
          <a:p>
            <a:r>
              <a:rPr lang="en-US" dirty="0" smtClean="0"/>
              <a:t>The result of </a:t>
            </a:r>
            <a:r>
              <a:rPr lang="en-US" b="1" dirty="0" smtClean="0"/>
              <a:t>R ÷ S</a:t>
            </a:r>
            <a:r>
              <a:rPr lang="en-US" dirty="0" smtClean="0"/>
              <a:t> gives a relation containing </a:t>
            </a:r>
            <a:r>
              <a:rPr lang="en-US" b="1" dirty="0" smtClean="0"/>
              <a:t>X</a:t>
            </a:r>
            <a:r>
              <a:rPr lang="en-US" dirty="0" smtClean="0"/>
              <a:t> values that are associated with </a:t>
            </a:r>
            <a:r>
              <a:rPr lang="en-US" b="1" dirty="0" smtClean="0"/>
              <a:t>all</a:t>
            </a:r>
            <a:r>
              <a:rPr lang="en-US" dirty="0" smtClean="0"/>
              <a:t> values of </a:t>
            </a:r>
            <a:r>
              <a:rPr lang="en-US" b="1" dirty="0" smtClean="0"/>
              <a:t>Y</a:t>
            </a:r>
            <a:r>
              <a:rPr lang="en-US" dirty="0" smtClean="0"/>
              <a:t> in relation </a:t>
            </a:r>
            <a:r>
              <a:rPr lang="en-US" b="1" dirty="0" smtClean="0"/>
              <a:t>S</a:t>
            </a:r>
            <a:r>
              <a:rPr lang="en-US" dirty="0" smtClean="0"/>
              <a:t>.</a:t>
            </a:r>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16</a:t>
            </a:fld>
            <a:endParaRPr lang="en-US"/>
          </a:p>
        </p:txBody>
      </p:sp>
    </p:spTree>
    <p:extLst>
      <p:ext uri="{BB962C8B-B14F-4D97-AF65-F5344CB8AC3E}">
        <p14:creationId xmlns:p14="http://schemas.microsoft.com/office/powerpoint/2010/main" val="2712105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17</a:t>
            </a:fld>
            <a:endParaRPr lang="en-US"/>
          </a:p>
        </p:txBody>
      </p:sp>
    </p:spTree>
    <p:extLst>
      <p:ext uri="{BB962C8B-B14F-4D97-AF65-F5344CB8AC3E}">
        <p14:creationId xmlns:p14="http://schemas.microsoft.com/office/powerpoint/2010/main" val="1895455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Times New Roman"/>
                <a:cs typeface="Times New Roman"/>
              </a:rPr>
              <a:t>ᴨ </a:t>
            </a:r>
            <a:r>
              <a:rPr lang="en-US" dirty="0" err="1" smtClean="0">
                <a:latin typeface="Times New Roman"/>
                <a:cs typeface="Times New Roman"/>
              </a:rPr>
              <a:t>player_id</a:t>
            </a:r>
            <a:r>
              <a:rPr lang="en-US" dirty="0" smtClean="0">
                <a:latin typeface="Times New Roman"/>
                <a:cs typeface="Times New Roman"/>
              </a:rPr>
              <a:t>[</a:t>
            </a:r>
            <a:r>
              <a:rPr lang="el-GR" dirty="0" smtClean="0">
                <a:latin typeface="Times New Roman"/>
                <a:cs typeface="Times New Roman"/>
              </a:rPr>
              <a:t>σ</a:t>
            </a:r>
            <a:r>
              <a:rPr lang="en-US" dirty="0" smtClean="0">
                <a:latin typeface="Times New Roman"/>
                <a:cs typeface="Times New Roman"/>
              </a:rPr>
              <a:t> country=</a:t>
            </a:r>
            <a:r>
              <a:rPr lang="en-US" dirty="0" err="1" smtClean="0">
                <a:latin typeface="Times New Roman"/>
                <a:cs typeface="Times New Roman"/>
              </a:rPr>
              <a:t>india</a:t>
            </a:r>
            <a:r>
              <a:rPr lang="en-US" baseline="0" dirty="0" smtClean="0">
                <a:latin typeface="Times New Roman"/>
                <a:cs typeface="Times New Roman"/>
              </a:rPr>
              <a:t> ](Player)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a:cs typeface="Times New Roman"/>
              </a:rPr>
              <a:t>ᴨ </a:t>
            </a:r>
            <a:r>
              <a:rPr lang="en-US" dirty="0" err="1" smtClean="0">
                <a:latin typeface="Times New Roman"/>
                <a:cs typeface="Times New Roman"/>
              </a:rPr>
              <a:t>player_id</a:t>
            </a:r>
            <a:r>
              <a:rPr lang="en-US" dirty="0" smtClean="0">
                <a:latin typeface="Times New Roman"/>
                <a:cs typeface="Times New Roman"/>
              </a:rPr>
              <a:t>[</a:t>
            </a:r>
            <a:r>
              <a:rPr lang="el-GR" dirty="0" smtClean="0">
                <a:latin typeface="Times New Roman"/>
                <a:cs typeface="Times New Roman"/>
              </a:rPr>
              <a:t>σ</a:t>
            </a:r>
            <a:r>
              <a:rPr lang="en-US" dirty="0" smtClean="0">
                <a:latin typeface="Times New Roman"/>
                <a:cs typeface="Times New Roman"/>
              </a:rPr>
              <a:t> runs&gt;10000</a:t>
            </a:r>
            <a:r>
              <a:rPr lang="en-US" baseline="0" dirty="0" smtClean="0">
                <a:latin typeface="Times New Roman"/>
                <a:cs typeface="Times New Roman"/>
              </a:rPr>
              <a:t> ](Player)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a:cs typeface="Times New Roman"/>
              </a:rPr>
              <a:t>ᴨ </a:t>
            </a:r>
            <a:r>
              <a:rPr lang="en-US" dirty="0" err="1" smtClean="0">
                <a:latin typeface="Times New Roman"/>
                <a:cs typeface="Times New Roman"/>
              </a:rPr>
              <a:t>player_id,country</a:t>
            </a:r>
            <a:r>
              <a:rPr lang="en-US" dirty="0" smtClean="0">
                <a:latin typeface="Times New Roman"/>
                <a:cs typeface="Times New Roman"/>
              </a:rPr>
              <a:t>[</a:t>
            </a:r>
            <a:r>
              <a:rPr lang="el-GR" dirty="0" smtClean="0">
                <a:latin typeface="Times New Roman"/>
                <a:cs typeface="Times New Roman"/>
              </a:rPr>
              <a:t>σ</a:t>
            </a:r>
            <a:r>
              <a:rPr lang="en-US" dirty="0" smtClean="0">
                <a:latin typeface="Times New Roman"/>
                <a:cs typeface="Times New Roman"/>
              </a:rPr>
              <a:t> age&gt;25</a:t>
            </a:r>
            <a:r>
              <a:rPr lang="en-US" baseline="0" dirty="0" smtClean="0">
                <a:latin typeface="Times New Roman"/>
                <a:cs typeface="Times New Roman"/>
              </a:rPr>
              <a:t> and Wickets&gt;100 ](Player)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a:cs typeface="Times New Roman"/>
              </a:rPr>
              <a:t>ᴨ country(player)</a:t>
            </a:r>
            <a:endParaRPr lang="en-US" baseline="0" dirty="0" smtClean="0">
              <a:latin typeface="Times New Roman"/>
              <a:cs typeface="Times New Roman"/>
            </a:endParaRPr>
          </a:p>
          <a:p>
            <a:endParaRPr lang="en-US" baseline="0" dirty="0" smtClean="0">
              <a:latin typeface="Times New Roman"/>
              <a:cs typeface="Times New Roman"/>
            </a:endParaRPr>
          </a:p>
          <a:p>
            <a:endParaRPr lang="en-US" baseline="0" dirty="0" smtClean="0">
              <a:latin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19</a:t>
            </a:fld>
            <a:endParaRPr lang="en-US"/>
          </a:p>
        </p:txBody>
      </p:sp>
    </p:spTree>
    <p:extLst>
      <p:ext uri="{BB962C8B-B14F-4D97-AF65-F5344CB8AC3E}">
        <p14:creationId xmlns:p14="http://schemas.microsoft.com/office/powerpoint/2010/main" val="2364713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1]</a:t>
            </a:r>
            <a:r>
              <a:rPr lang="el-GR" sz="1200" b="0" i="0" kern="1200" dirty="0" smtClean="0">
                <a:solidFill>
                  <a:schemeClr val="tx1"/>
                </a:solidFill>
                <a:effectLst/>
                <a:latin typeface="+mn-lt"/>
                <a:ea typeface="+mn-ea"/>
                <a:cs typeface="+mn-cs"/>
              </a:rPr>
              <a:t>π</a:t>
            </a:r>
            <a:r>
              <a:rPr lang="en-US" sz="1200" b="0" i="0" kern="1200" dirty="0" err="1" smtClean="0">
                <a:solidFill>
                  <a:schemeClr val="tx1"/>
                </a:solidFill>
                <a:effectLst/>
                <a:latin typeface="+mn-lt"/>
                <a:ea typeface="+mn-ea"/>
                <a:cs typeface="+mn-cs"/>
              </a:rPr>
              <a:t>cust</a:t>
            </a:r>
            <a:r>
              <a:rPr lang="en-US" sz="1200" b="0" i="0" kern="1200" dirty="0" smtClean="0">
                <a:solidFill>
                  <a:schemeClr val="tx1"/>
                </a:solidFill>
                <a:effectLst/>
                <a:latin typeface="+mn-lt"/>
                <a:ea typeface="+mn-ea"/>
                <a:cs typeface="+mn-cs"/>
              </a:rPr>
              <a:t>-name(Depositor) – </a:t>
            </a:r>
            <a:r>
              <a:rPr lang="el-GR" sz="1200" b="0" i="0" kern="1200" dirty="0" smtClean="0">
                <a:solidFill>
                  <a:schemeClr val="tx1"/>
                </a:solidFill>
                <a:effectLst/>
                <a:latin typeface="+mn-lt"/>
                <a:ea typeface="+mn-ea"/>
                <a:cs typeface="+mn-cs"/>
              </a:rPr>
              <a:t>π</a:t>
            </a:r>
            <a:r>
              <a:rPr lang="en-US" sz="1200" b="0" i="0" kern="1200" dirty="0" err="1" smtClean="0">
                <a:solidFill>
                  <a:schemeClr val="tx1"/>
                </a:solidFill>
                <a:effectLst/>
                <a:latin typeface="+mn-lt"/>
                <a:ea typeface="+mn-ea"/>
                <a:cs typeface="+mn-cs"/>
              </a:rPr>
              <a:t>cust</a:t>
            </a:r>
            <a:r>
              <a:rPr lang="en-US" sz="1200" b="0" i="0" kern="1200" dirty="0" smtClean="0">
                <a:solidFill>
                  <a:schemeClr val="tx1"/>
                </a:solidFill>
                <a:effectLst/>
                <a:latin typeface="+mn-lt"/>
                <a:ea typeface="+mn-ea"/>
                <a:cs typeface="+mn-cs"/>
              </a:rPr>
              <a:t>-name(Borrower)</a:t>
            </a:r>
          </a:p>
          <a:p>
            <a:r>
              <a:rPr lang="en-US" sz="1200" b="0" i="0" kern="1200" dirty="0" smtClean="0">
                <a:solidFill>
                  <a:schemeClr val="tx1"/>
                </a:solidFill>
                <a:effectLst/>
                <a:latin typeface="+mn-lt"/>
                <a:ea typeface="+mn-ea"/>
                <a:cs typeface="+mn-cs"/>
              </a:rPr>
              <a:t>2]ƍ(Depositor-details, deposit)</a:t>
            </a:r>
          </a:p>
          <a:p>
            <a:r>
              <a:rPr lang="en-US" sz="1200" b="0" i="0" kern="1200" dirty="0" smtClean="0">
                <a:solidFill>
                  <a:schemeClr val="tx1"/>
                </a:solidFill>
                <a:effectLst/>
                <a:latin typeface="+mn-lt"/>
                <a:ea typeface="+mn-ea"/>
                <a:cs typeface="+mn-cs"/>
              </a:rPr>
              <a:t>3] ƍ[Customer-Name ,</a:t>
            </a:r>
            <a:r>
              <a:rPr lang="el-GR" sz="1200" b="0" i="0" kern="1200" dirty="0" smtClean="0">
                <a:solidFill>
                  <a:schemeClr val="tx1"/>
                </a:solidFill>
                <a:effectLst/>
                <a:latin typeface="+mn-lt"/>
                <a:ea typeface="+mn-ea"/>
                <a:cs typeface="+mn-cs"/>
              </a:rPr>
              <a:t> π</a:t>
            </a:r>
            <a:r>
              <a:rPr lang="en-US" sz="1200" b="0" i="0" kern="1200" dirty="0" smtClean="0">
                <a:solidFill>
                  <a:schemeClr val="tx1"/>
                </a:solidFill>
                <a:effectLst/>
                <a:latin typeface="+mn-lt"/>
                <a:ea typeface="+mn-ea"/>
                <a:cs typeface="+mn-cs"/>
              </a:rPr>
              <a:t>(</a:t>
            </a:r>
            <a:r>
              <a:rPr lang="en-US" sz="1200" b="0" i="0" kern="1200" dirty="0" err="1" smtClean="0">
                <a:solidFill>
                  <a:schemeClr val="tx1"/>
                </a:solidFill>
                <a:effectLst/>
                <a:latin typeface="+mn-lt"/>
                <a:ea typeface="+mn-ea"/>
                <a:cs typeface="+mn-cs"/>
              </a:rPr>
              <a:t>cust</a:t>
            </a:r>
            <a:r>
              <a:rPr lang="en-US" sz="1200" b="0" i="0" kern="1200" dirty="0" smtClean="0">
                <a:solidFill>
                  <a:schemeClr val="tx1"/>
                </a:solidFill>
                <a:effectLst/>
                <a:latin typeface="+mn-lt"/>
                <a:ea typeface="+mn-ea"/>
                <a:cs typeface="+mn-cs"/>
              </a:rPr>
              <a:t>-name)</a:t>
            </a:r>
            <a:r>
              <a:rPr lang="en-US" sz="1200" b="0" i="0" kern="1200" baseline="0" dirty="0" smtClean="0">
                <a:solidFill>
                  <a:schemeClr val="tx1"/>
                </a:solidFill>
                <a:effectLst/>
                <a:latin typeface="+mn-lt"/>
                <a:ea typeface="+mn-ea"/>
                <a:cs typeface="+mn-cs"/>
              </a:rPr>
              <a:t> Borrower]</a:t>
            </a:r>
          </a:p>
          <a:p>
            <a:r>
              <a:rPr lang="en-US" sz="1200" b="0" i="0" kern="1200" baseline="0" dirty="0" smtClean="0">
                <a:solidFill>
                  <a:schemeClr val="tx1"/>
                </a:solidFill>
                <a:effectLst/>
                <a:latin typeface="+mn-lt"/>
                <a:ea typeface="+mn-ea"/>
                <a:cs typeface="+mn-cs"/>
              </a:rPr>
              <a:t>4]</a:t>
            </a:r>
            <a:r>
              <a:rPr lang="el-GR" sz="1200" b="0" i="0" kern="1200" dirty="0" smtClean="0">
                <a:solidFill>
                  <a:schemeClr val="tx1"/>
                </a:solidFill>
                <a:effectLst/>
                <a:latin typeface="+mn-lt"/>
                <a:ea typeface="+mn-ea"/>
                <a:cs typeface="+mn-cs"/>
              </a:rPr>
              <a:t> π</a:t>
            </a:r>
            <a:r>
              <a:rPr lang="en-US" sz="1200" b="0" i="0" kern="1200" dirty="0" smtClean="0">
                <a:solidFill>
                  <a:schemeClr val="tx1"/>
                </a:solidFill>
                <a:effectLst/>
                <a:latin typeface="+mn-lt"/>
                <a:ea typeface="+mn-ea"/>
                <a:cs typeface="+mn-cs"/>
              </a:rPr>
              <a:t>(</a:t>
            </a:r>
            <a:r>
              <a:rPr lang="en-US" sz="1200" b="0" i="0" kern="1200" dirty="0" err="1" smtClean="0">
                <a:solidFill>
                  <a:schemeClr val="tx1"/>
                </a:solidFill>
                <a:effectLst/>
                <a:latin typeface="+mn-lt"/>
                <a:ea typeface="+mn-ea"/>
                <a:cs typeface="+mn-cs"/>
              </a:rPr>
              <a:t>cust</a:t>
            </a:r>
            <a:r>
              <a:rPr lang="en-US" sz="1200" b="0" i="0" kern="1200" dirty="0" smtClean="0">
                <a:solidFill>
                  <a:schemeClr val="tx1"/>
                </a:solidFill>
                <a:effectLst/>
                <a:latin typeface="+mn-lt"/>
                <a:ea typeface="+mn-ea"/>
                <a:cs typeface="+mn-cs"/>
              </a:rPr>
              <a:t>-name)</a:t>
            </a:r>
            <a:r>
              <a:rPr lang="en-US" sz="1200" b="0" i="0" kern="1200" baseline="0" dirty="0" smtClean="0">
                <a:solidFill>
                  <a:schemeClr val="tx1"/>
                </a:solidFill>
                <a:effectLst/>
                <a:latin typeface="+mn-lt"/>
                <a:ea typeface="+mn-ea"/>
                <a:cs typeface="+mn-cs"/>
              </a:rPr>
              <a:t> [Deposit ˄ Borrower]</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20</a:t>
            </a:fld>
            <a:endParaRPr lang="en-US"/>
          </a:p>
        </p:txBody>
      </p:sp>
    </p:spTree>
    <p:extLst>
      <p:ext uri="{BB962C8B-B14F-4D97-AF65-F5344CB8AC3E}">
        <p14:creationId xmlns:p14="http://schemas.microsoft.com/office/powerpoint/2010/main" val="1992299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a:t>
            </a:r>
            <a:r>
              <a:rPr lang="el-GR" dirty="0" smtClean="0"/>
              <a:t>Π</a:t>
            </a:r>
            <a:r>
              <a:rPr lang="en-US" dirty="0" err="1" smtClean="0"/>
              <a:t>pName</a:t>
            </a:r>
            <a:r>
              <a:rPr lang="en-US" dirty="0" smtClean="0"/>
              <a:t>(</a:t>
            </a:r>
            <a:r>
              <a:rPr lang="el-GR" dirty="0" smtClean="0"/>
              <a:t>σ</a:t>
            </a:r>
            <a:r>
              <a:rPr lang="en-US" dirty="0" err="1" smtClean="0"/>
              <a:t>colour</a:t>
            </a:r>
            <a:r>
              <a:rPr lang="en-US" dirty="0" smtClean="0"/>
              <a:t>=“</a:t>
            </a:r>
            <a:r>
              <a:rPr lang="en-US" dirty="0" err="1" smtClean="0"/>
              <a:t>red”P</a:t>
            </a:r>
            <a:r>
              <a:rPr lang="en-US" dirty="0" smtClean="0"/>
              <a:t> arts) </a:t>
            </a:r>
          </a:p>
          <a:p>
            <a:r>
              <a:rPr lang="en-US" dirty="0" smtClean="0"/>
              <a:t>2 </a:t>
            </a:r>
            <a:r>
              <a:rPr lang="el-GR" dirty="0" smtClean="0"/>
              <a:t>Π</a:t>
            </a:r>
            <a:r>
              <a:rPr lang="en-US" dirty="0" smtClean="0"/>
              <a:t>price((</a:t>
            </a:r>
            <a:r>
              <a:rPr lang="el-GR" dirty="0" smtClean="0"/>
              <a:t>σ</a:t>
            </a:r>
            <a:r>
              <a:rPr lang="en-US" dirty="0" err="1" smtClean="0"/>
              <a:t>colour</a:t>
            </a:r>
            <a:r>
              <a:rPr lang="en-US" dirty="0" smtClean="0"/>
              <a:t>=“red”∨</a:t>
            </a:r>
            <a:r>
              <a:rPr lang="en-US" dirty="0" err="1" smtClean="0"/>
              <a:t>colour</a:t>
            </a:r>
            <a:r>
              <a:rPr lang="en-US" dirty="0" smtClean="0"/>
              <a:t>=“</a:t>
            </a:r>
            <a:r>
              <a:rPr lang="en-US" dirty="0" err="1" smtClean="0"/>
              <a:t>green”P</a:t>
            </a:r>
            <a:r>
              <a:rPr lang="en-US" dirty="0" smtClean="0"/>
              <a:t> arts) ./ Catalog)</a:t>
            </a:r>
          </a:p>
          <a:p>
            <a:r>
              <a:rPr lang="en-US" dirty="0" smtClean="0"/>
              <a:t>3 </a:t>
            </a:r>
            <a:r>
              <a:rPr lang="el-GR" dirty="0" smtClean="0"/>
              <a:t>Π</a:t>
            </a:r>
            <a:r>
              <a:rPr lang="en-US" dirty="0" err="1" smtClean="0"/>
              <a:t>sID</a:t>
            </a:r>
            <a:r>
              <a:rPr lang="en-US" dirty="0" smtClean="0"/>
              <a:t>((</a:t>
            </a:r>
            <a:r>
              <a:rPr lang="el-GR" dirty="0" smtClean="0"/>
              <a:t>σ</a:t>
            </a:r>
            <a:r>
              <a:rPr lang="en-US" dirty="0" err="1" smtClean="0"/>
              <a:t>colour</a:t>
            </a:r>
            <a:r>
              <a:rPr lang="en-US" dirty="0" smtClean="0"/>
              <a:t>=“red”∨</a:t>
            </a:r>
            <a:r>
              <a:rPr lang="en-US" dirty="0" err="1" smtClean="0"/>
              <a:t>colour</a:t>
            </a:r>
            <a:r>
              <a:rPr lang="en-US" dirty="0" smtClean="0"/>
              <a:t>=“</a:t>
            </a:r>
            <a:r>
              <a:rPr lang="en-US" dirty="0" err="1" smtClean="0"/>
              <a:t>green”P</a:t>
            </a:r>
            <a:r>
              <a:rPr lang="en-US" dirty="0" smtClean="0"/>
              <a:t> arts) ./ Catalog)</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21</a:t>
            </a:fld>
            <a:endParaRPr lang="en-US"/>
          </a:p>
        </p:txBody>
      </p:sp>
    </p:spTree>
    <p:extLst>
      <p:ext uri="{BB962C8B-B14F-4D97-AF65-F5344CB8AC3E}">
        <p14:creationId xmlns:p14="http://schemas.microsoft.com/office/powerpoint/2010/main" val="1208019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a:t>
            </a:r>
            <a:r>
              <a:rPr lang="el-GR" dirty="0" smtClean="0"/>
              <a:t> π</a:t>
            </a:r>
            <a:r>
              <a:rPr lang="en-US" dirty="0" err="1" smtClean="0"/>
              <a:t>EmpID</a:t>
            </a:r>
            <a:r>
              <a:rPr lang="en-US" dirty="0" smtClean="0"/>
              <a:t>​(</a:t>
            </a:r>
            <a:r>
              <a:rPr lang="en-US" dirty="0" err="1" smtClean="0"/>
              <a:t>WorksOn</a:t>
            </a:r>
            <a:r>
              <a:rPr lang="en-US" dirty="0" smtClean="0"/>
              <a:t>)∩</a:t>
            </a:r>
            <a:r>
              <a:rPr lang="el-GR" dirty="0" smtClean="0"/>
              <a:t>π</a:t>
            </a:r>
            <a:r>
              <a:rPr lang="en-US" dirty="0" err="1" smtClean="0"/>
              <a:t>EmpID</a:t>
            </a:r>
            <a:r>
              <a:rPr lang="en-US" dirty="0" smtClean="0"/>
              <a:t>​(Employee)            6] π</a:t>
            </a:r>
            <a:r>
              <a:rPr lang="en-US" dirty="0" err="1" smtClean="0"/>
              <a:t>SuppID</a:t>
            </a:r>
            <a:r>
              <a:rPr lang="en-US" dirty="0" smtClean="0"/>
              <a:t>​(Supplies)÷π</a:t>
            </a:r>
            <a:r>
              <a:rPr lang="en-US" dirty="0" err="1" smtClean="0"/>
              <a:t>ItemID</a:t>
            </a:r>
            <a:r>
              <a:rPr lang="en-US" dirty="0" smtClean="0"/>
              <a:t>​(</a:t>
            </a:r>
            <a:r>
              <a:rPr lang="en-US" dirty="0" err="1" smtClean="0"/>
              <a:t>σCategory</a:t>
            </a:r>
            <a:r>
              <a:rPr lang="en-US" dirty="0" smtClean="0"/>
              <a:t>=′Electronics′​(Item))</a:t>
            </a:r>
          </a:p>
          <a:p>
            <a:r>
              <a:rPr lang="en-US" dirty="0" smtClean="0"/>
              <a:t>2] </a:t>
            </a:r>
            <a:r>
              <a:rPr lang="el-GR" dirty="0" smtClean="0"/>
              <a:t>π</a:t>
            </a:r>
            <a:r>
              <a:rPr lang="en-US" dirty="0" err="1" smtClean="0"/>
              <a:t>EmpID</a:t>
            </a:r>
            <a:r>
              <a:rPr lang="en-US" dirty="0" smtClean="0"/>
              <a:t>​(Employee)−</a:t>
            </a:r>
            <a:r>
              <a:rPr lang="el-GR" dirty="0" smtClean="0"/>
              <a:t>π</a:t>
            </a:r>
            <a:r>
              <a:rPr lang="en-US" dirty="0" err="1" smtClean="0"/>
              <a:t>EmpID</a:t>
            </a:r>
            <a:r>
              <a:rPr lang="en-US" dirty="0" smtClean="0"/>
              <a:t>​(</a:t>
            </a:r>
            <a:r>
              <a:rPr lang="en-US" dirty="0" err="1" smtClean="0"/>
              <a:t>WorksOn</a:t>
            </a:r>
            <a:r>
              <a:rPr lang="en-US" dirty="0" smtClean="0"/>
              <a:t>)</a:t>
            </a:r>
          </a:p>
          <a:p>
            <a:r>
              <a:rPr lang="en-US" dirty="0" smtClean="0"/>
              <a:t>3]</a:t>
            </a:r>
            <a:r>
              <a:rPr lang="el-GR" dirty="0" smtClean="0"/>
              <a:t> σ</a:t>
            </a:r>
            <a:r>
              <a:rPr lang="en-US" dirty="0" err="1" smtClean="0"/>
              <a:t>Dept</a:t>
            </a:r>
            <a:r>
              <a:rPr lang="en-US" dirty="0" smtClean="0"/>
              <a:t>=′HR′​(Employee)</a:t>
            </a:r>
          </a:p>
          <a:p>
            <a:r>
              <a:rPr lang="en-US" dirty="0" smtClean="0"/>
              <a:t>5]</a:t>
            </a:r>
            <a:r>
              <a:rPr lang="el-GR" dirty="0" smtClean="0"/>
              <a:t>π</a:t>
            </a:r>
            <a:r>
              <a:rPr lang="en-US" dirty="0" err="1" smtClean="0"/>
              <a:t>EmpID</a:t>
            </a:r>
            <a:r>
              <a:rPr lang="en-US" dirty="0" smtClean="0"/>
              <a:t>​(</a:t>
            </a:r>
            <a:r>
              <a:rPr lang="en-US" dirty="0" err="1" smtClean="0"/>
              <a:t>WorksOn</a:t>
            </a:r>
            <a:r>
              <a:rPr lang="en-US" dirty="0" smtClean="0"/>
              <a:t>)÷</a:t>
            </a:r>
            <a:r>
              <a:rPr lang="el-GR" dirty="0" smtClean="0"/>
              <a:t>π</a:t>
            </a:r>
            <a:r>
              <a:rPr lang="en-US" dirty="0" err="1" smtClean="0"/>
              <a:t>ProjID</a:t>
            </a:r>
            <a:r>
              <a:rPr lang="en-US" dirty="0" smtClean="0"/>
              <a:t>​(Project)</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22</a:t>
            </a:fld>
            <a:endParaRPr lang="en-US"/>
          </a:p>
        </p:txBody>
      </p:sp>
    </p:spTree>
    <p:extLst>
      <p:ext uri="{BB962C8B-B14F-4D97-AF65-F5344CB8AC3E}">
        <p14:creationId xmlns:p14="http://schemas.microsoft.com/office/powerpoint/2010/main" val="4019736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Inner Join</a:t>
            </a:r>
            <a:r>
              <a:rPr lang="en-US" sz="1200" b="0" i="0" kern="1200" dirty="0" smtClean="0">
                <a:solidFill>
                  <a:schemeClr val="tx1"/>
                </a:solidFill>
                <a:effectLst/>
                <a:latin typeface="+mn-lt"/>
                <a:ea typeface="+mn-ea"/>
                <a:cs typeface="+mn-cs"/>
              </a:rPr>
              <a:t> is used to return rows from both tables which satisfy the given condition. It is the most widely used join operation and can be considered as a default join-type.</a:t>
            </a:r>
            <a:r>
              <a:rPr lang="en-US" sz="1200" b="1" i="0" kern="1200" dirty="0" smtClean="0">
                <a:solidFill>
                  <a:schemeClr val="tx1"/>
                </a:solidFill>
                <a:effectLst/>
                <a:latin typeface="+mn-lt"/>
                <a:ea typeface="+mn-ea"/>
                <a:cs typeface="+mn-cs"/>
              </a:rPr>
              <a:t> Theta Join</a:t>
            </a:r>
            <a:r>
              <a:rPr lang="en-US" sz="1200" b="0" i="0" kern="1200" dirty="0" smtClean="0">
                <a:solidFill>
                  <a:schemeClr val="tx1"/>
                </a:solidFill>
                <a:effectLst/>
                <a:latin typeface="+mn-lt"/>
                <a:ea typeface="+mn-ea"/>
                <a:cs typeface="+mn-cs"/>
              </a:rPr>
              <a:t> allows you to merge two tables based on the condition represented by theta. </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24</a:t>
            </a:fld>
            <a:endParaRPr lang="en-US"/>
          </a:p>
        </p:txBody>
      </p:sp>
    </p:spTree>
    <p:extLst>
      <p:ext uri="{BB962C8B-B14F-4D97-AF65-F5344CB8AC3E}">
        <p14:creationId xmlns:p14="http://schemas.microsoft.com/office/powerpoint/2010/main" val="193737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 natural join is a type of join operation that creates an implicit join by combining tables based on columns with the same name and data type</a:t>
            </a:r>
            <a:r>
              <a:rPr lang="en-US"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26</a:t>
            </a:fld>
            <a:endParaRPr lang="en-US"/>
          </a:p>
        </p:txBody>
      </p:sp>
    </p:spTree>
    <p:extLst>
      <p:ext uri="{BB962C8B-B14F-4D97-AF65-F5344CB8AC3E}">
        <p14:creationId xmlns:p14="http://schemas.microsoft.com/office/powerpoint/2010/main" val="4245225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select student.name, </a:t>
            </a:r>
            <a:r>
              <a:rPr lang="en-US" dirty="0" err="1" smtClean="0"/>
              <a:t>student.age</a:t>
            </a:r>
            <a:r>
              <a:rPr lang="en-US" dirty="0" smtClean="0"/>
              <a:t> from student</a:t>
            </a:r>
            <a:r>
              <a:rPr lang="en-US" baseline="0" dirty="0" smtClean="0"/>
              <a:t> inner join </a:t>
            </a:r>
            <a:r>
              <a:rPr lang="en-US" baseline="0" dirty="0" err="1" smtClean="0"/>
              <a:t>studentcourse</a:t>
            </a:r>
            <a:r>
              <a:rPr lang="en-US" baseline="0" dirty="0" smtClean="0"/>
              <a:t> on </a:t>
            </a:r>
            <a:r>
              <a:rPr lang="en-US" baseline="0" dirty="0" err="1" smtClean="0"/>
              <a:t>student.rollno</a:t>
            </a:r>
            <a:r>
              <a:rPr lang="en-US" baseline="0" dirty="0" smtClean="0"/>
              <a:t>=</a:t>
            </a:r>
            <a:r>
              <a:rPr lang="en-US" baseline="0" dirty="0" err="1" smtClean="0"/>
              <a:t>studentcourse.rollno</a:t>
            </a:r>
            <a:r>
              <a:rPr lang="en-US" baseline="0" dirty="0" smtClean="0"/>
              <a:t>;</a:t>
            </a:r>
          </a:p>
          <a:p>
            <a:r>
              <a:rPr lang="en-US" baseline="0" dirty="0" smtClean="0"/>
              <a:t>2]select name from student;</a:t>
            </a:r>
          </a:p>
          <a:p>
            <a:r>
              <a:rPr lang="en-US" baseline="0" dirty="0" smtClean="0"/>
              <a:t>3]select student.name ,</a:t>
            </a:r>
            <a:r>
              <a:rPr lang="en-US" baseline="0" smtClean="0"/>
              <a:t>student.addressstudentcourse.course_id</a:t>
            </a:r>
            <a:r>
              <a:rPr lang="en-US" baseline="0" dirty="0" smtClean="0"/>
              <a:t> from </a:t>
            </a:r>
            <a:r>
              <a:rPr lang="en-US" baseline="0" dirty="0" err="1" smtClean="0"/>
              <a:t>student,studentcourse</a:t>
            </a:r>
            <a:r>
              <a:rPr lang="en-US" baseline="0" dirty="0" smtClean="0"/>
              <a:t> on </a:t>
            </a:r>
            <a:r>
              <a:rPr lang="en-US" baseline="0" dirty="0" err="1" smtClean="0"/>
              <a:t>student.rollno</a:t>
            </a:r>
            <a:r>
              <a:rPr lang="en-US" baseline="0" dirty="0" smtClean="0"/>
              <a:t>=</a:t>
            </a:r>
            <a:r>
              <a:rPr lang="en-US" baseline="0" dirty="0" err="1" smtClean="0"/>
              <a:t>studentcourse.rollno</a:t>
            </a:r>
            <a:r>
              <a:rPr lang="en-US" baseline="0" dirty="0" smtClean="0"/>
              <a:t> and </a:t>
            </a:r>
            <a:r>
              <a:rPr lang="en-US" baseline="0" dirty="0" err="1" smtClean="0"/>
              <a:t>student.address</a:t>
            </a:r>
            <a:r>
              <a:rPr lang="en-US" baseline="0" dirty="0" smtClean="0"/>
              <a:t>=“</a:t>
            </a:r>
            <a:r>
              <a:rPr lang="en-US" baseline="0" dirty="0" err="1" smtClean="0"/>
              <a:t>bihar</a:t>
            </a:r>
            <a:r>
              <a:rPr lang="en-US" baseline="0" dirty="0" smtClean="0"/>
              <a:t>”;</a:t>
            </a:r>
          </a:p>
          <a:p>
            <a:r>
              <a:rPr lang="en-US" baseline="0" dirty="0" smtClean="0"/>
              <a:t>4]</a:t>
            </a:r>
            <a:r>
              <a:rPr lang="en-US" dirty="0" smtClean="0"/>
              <a:t> SELECT S.ROLL_NO, S.NAME, S.ADDRESS, S.AGE, SC.COURSE_ID FROM Student S JOIN </a:t>
            </a:r>
            <a:r>
              <a:rPr lang="en-US" dirty="0" err="1" smtClean="0"/>
              <a:t>StudentCourse</a:t>
            </a:r>
            <a:r>
              <a:rPr lang="en-US" dirty="0" smtClean="0"/>
              <a:t> SC ON S.ROLL_NO = SC.ROLL_NO;</a:t>
            </a:r>
          </a:p>
          <a:p>
            <a:r>
              <a:rPr lang="en-US" baseline="0" dirty="0" smtClean="0"/>
              <a:t>5]</a:t>
            </a:r>
            <a:r>
              <a:rPr lang="en-US" dirty="0" smtClean="0"/>
              <a:t> SELECT SC.COURSE_ID, S.NAME FROM </a:t>
            </a:r>
            <a:r>
              <a:rPr lang="en-US" dirty="0" err="1" smtClean="0"/>
              <a:t>StudentCourse</a:t>
            </a:r>
            <a:r>
              <a:rPr lang="en-US" dirty="0" smtClean="0"/>
              <a:t> SC JOIN Student S ON SC.ROLL_NO = S.ROLL_NO;</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31</a:t>
            </a:fld>
            <a:endParaRPr lang="en-US"/>
          </a:p>
        </p:txBody>
      </p:sp>
    </p:spTree>
    <p:extLst>
      <p:ext uri="{BB962C8B-B14F-4D97-AF65-F5344CB8AC3E}">
        <p14:creationId xmlns:p14="http://schemas.microsoft.com/office/powerpoint/2010/main" val="3318023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SELECT salesman.name AS "Salesman", </a:t>
            </a:r>
            <a:r>
              <a:rPr lang="en-US" sz="1200" b="0" i="0" kern="1200" dirty="0" err="1" smtClean="0">
                <a:solidFill>
                  <a:schemeClr val="tx1"/>
                </a:solidFill>
                <a:effectLst/>
                <a:latin typeface="+mn-lt"/>
                <a:ea typeface="+mn-ea"/>
                <a:cs typeface="+mn-cs"/>
              </a:rPr>
              <a:t>customer.cust_name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customer.city</a:t>
            </a:r>
            <a:r>
              <a:rPr lang="en-US" sz="1200" b="0" i="0" kern="1200" dirty="0" smtClean="0">
                <a:solidFill>
                  <a:schemeClr val="tx1"/>
                </a:solidFill>
                <a:effectLst/>
                <a:latin typeface="+mn-lt"/>
                <a:ea typeface="+mn-ea"/>
                <a:cs typeface="+mn-cs"/>
              </a:rPr>
              <a:t> FROM salesman</a:t>
            </a:r>
            <a:r>
              <a:rPr lang="en-US" sz="1200" b="0" i="0" kern="1200" baseline="0" dirty="0" smtClean="0">
                <a:solidFill>
                  <a:schemeClr val="tx1"/>
                </a:solidFill>
                <a:effectLst/>
                <a:latin typeface="+mn-lt"/>
                <a:ea typeface="+mn-ea"/>
                <a:cs typeface="+mn-cs"/>
              </a:rPr>
              <a:t> W</a:t>
            </a:r>
            <a:r>
              <a:rPr lang="en-US" sz="1200" b="0" i="0" kern="1200" dirty="0" smtClean="0">
                <a:solidFill>
                  <a:schemeClr val="tx1"/>
                </a:solidFill>
                <a:effectLst/>
                <a:latin typeface="+mn-lt"/>
                <a:ea typeface="+mn-ea"/>
                <a:cs typeface="+mn-cs"/>
              </a:rPr>
              <a:t>HERE </a:t>
            </a:r>
            <a:r>
              <a:rPr lang="en-US" sz="1200" b="0" i="0" kern="1200" dirty="0" err="1" smtClean="0">
                <a:solidFill>
                  <a:schemeClr val="tx1"/>
                </a:solidFill>
                <a:effectLst/>
                <a:latin typeface="+mn-lt"/>
                <a:ea typeface="+mn-ea"/>
                <a:cs typeface="+mn-cs"/>
              </a:rPr>
              <a:t>salesman.city</a:t>
            </a:r>
            <a:r>
              <a:rPr lang="en-US" sz="1200" b="0" i="0" kern="1200" dirty="0" smtClean="0">
                <a:solidFill>
                  <a:schemeClr val="tx1"/>
                </a:solidFill>
                <a:effectLst/>
                <a:latin typeface="+mn-lt"/>
                <a:ea typeface="+mn-ea"/>
                <a:cs typeface="+mn-cs"/>
              </a:rPr>
              <a:t> = </a:t>
            </a:r>
            <a:r>
              <a:rPr lang="en-US" sz="1200" b="0" i="0" kern="1200" dirty="0" err="1" smtClean="0">
                <a:solidFill>
                  <a:schemeClr val="tx1"/>
                </a:solidFill>
                <a:effectLst/>
                <a:latin typeface="+mn-lt"/>
                <a:ea typeface="+mn-ea"/>
                <a:cs typeface="+mn-cs"/>
              </a:rPr>
              <a:t>customer.city</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Select c1.salesmanid from customer as 1, customer as </a:t>
            </a:r>
            <a:r>
              <a:rPr lang="en-US" sz="1200" b="0" i="0" kern="1200" smtClean="0">
                <a:solidFill>
                  <a:schemeClr val="tx1"/>
                </a:solidFill>
                <a:effectLst/>
                <a:latin typeface="+mn-lt"/>
                <a:ea typeface="+mn-ea"/>
                <a:cs typeface="+mn-cs"/>
              </a:rPr>
              <a:t>c2 where c1.salesman_id=c2.salesmanid</a:t>
            </a:r>
            <a:r>
              <a:rPr lang="en-US" sz="1200" b="0" i="0" kern="1200" baseline="0" smtClean="0">
                <a:solidFill>
                  <a:schemeClr val="tx1"/>
                </a:solidFill>
                <a:effectLst/>
                <a:latin typeface="+mn-lt"/>
                <a:ea typeface="+mn-ea"/>
                <a:cs typeface="+mn-cs"/>
              </a:rPr>
              <a:t> and c1.customer_id&lt;&gt;c2.customer_id;</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32</a:t>
            </a:fld>
            <a:endParaRPr lang="en-US"/>
          </a:p>
        </p:txBody>
      </p:sp>
    </p:spTree>
    <p:extLst>
      <p:ext uri="{BB962C8B-B14F-4D97-AF65-F5344CB8AC3E}">
        <p14:creationId xmlns:p14="http://schemas.microsoft.com/office/powerpoint/2010/main" val="2758481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Char</a:t>
            </a:r>
            <a:r>
              <a:rPr lang="en-US" sz="1200" b="0" i="0" kern="1200" dirty="0" smtClean="0">
                <a:solidFill>
                  <a:schemeClr val="tx1"/>
                </a:solidFill>
                <a:effectLst/>
                <a:latin typeface="+mn-lt"/>
                <a:ea typeface="+mn-ea"/>
                <a:cs typeface="+mn-cs"/>
              </a:rPr>
              <a:t> is a </a:t>
            </a:r>
            <a:r>
              <a:rPr lang="en-US" sz="1200" b="0" i="0" kern="1200" dirty="0" err="1" smtClean="0">
                <a:solidFill>
                  <a:schemeClr val="tx1"/>
                </a:solidFill>
                <a:effectLst/>
                <a:latin typeface="+mn-lt"/>
                <a:ea typeface="+mn-ea"/>
                <a:cs typeface="+mn-cs"/>
              </a:rPr>
              <a:t>datatype</a:t>
            </a:r>
            <a:r>
              <a:rPr lang="en-US" sz="1200" b="0" i="0" kern="1200" dirty="0" smtClean="0">
                <a:solidFill>
                  <a:schemeClr val="tx1"/>
                </a:solidFill>
                <a:effectLst/>
                <a:latin typeface="+mn-lt"/>
                <a:ea typeface="+mn-ea"/>
                <a:cs typeface="+mn-cs"/>
              </a:rPr>
              <a:t> in SQL which is used to store character string of fixed length specified. If the length of the string is less than set or fixed-length then it is padded with extra blank spaces so that its length became equal to the set length when </a:t>
            </a:r>
            <a:r>
              <a:rPr lang="en-US" sz="1200" b="1" i="0" kern="1200" dirty="0" smtClean="0">
                <a:solidFill>
                  <a:schemeClr val="tx1"/>
                </a:solidFill>
                <a:effectLst/>
                <a:latin typeface="+mn-lt"/>
                <a:ea typeface="+mn-ea"/>
                <a:cs typeface="+mn-cs"/>
              </a:rPr>
              <a:t>PAD_CHAR_TO_FULL_LENGTH SQL mode is enabled.</a:t>
            </a:r>
            <a:r>
              <a:rPr lang="en-US" sz="1200" b="0" i="0" kern="1200" dirty="0" smtClean="0">
                <a:solidFill>
                  <a:schemeClr val="tx1"/>
                </a:solidFill>
                <a:effectLst/>
                <a:latin typeface="+mn-lt"/>
                <a:ea typeface="+mn-ea"/>
                <a:cs typeface="+mn-cs"/>
              </a:rPr>
              <a:t> The storage size of the CHAR </a:t>
            </a:r>
            <a:r>
              <a:rPr lang="en-US" sz="1200" b="0" i="0" kern="1200" dirty="0" err="1" smtClean="0">
                <a:solidFill>
                  <a:schemeClr val="tx1"/>
                </a:solidFill>
                <a:effectLst/>
                <a:latin typeface="+mn-lt"/>
                <a:ea typeface="+mn-ea"/>
                <a:cs typeface="+mn-cs"/>
              </a:rPr>
              <a:t>datatype</a:t>
            </a:r>
            <a:r>
              <a:rPr lang="en-US" sz="1200" b="0" i="0" kern="1200" dirty="0" smtClean="0">
                <a:solidFill>
                  <a:schemeClr val="tx1"/>
                </a:solidFill>
                <a:effectLst/>
                <a:latin typeface="+mn-lt"/>
                <a:ea typeface="+mn-ea"/>
                <a:cs typeface="+mn-cs"/>
              </a:rPr>
              <a:t> is n bytes(set length). We should use this </a:t>
            </a:r>
            <a:r>
              <a:rPr lang="en-US" sz="1200" b="0" i="0" kern="1200" dirty="0" err="1" smtClean="0">
                <a:solidFill>
                  <a:schemeClr val="tx1"/>
                </a:solidFill>
                <a:effectLst/>
                <a:latin typeface="+mn-lt"/>
                <a:ea typeface="+mn-ea"/>
                <a:cs typeface="+mn-cs"/>
              </a:rPr>
              <a:t>datatype</a:t>
            </a:r>
            <a:r>
              <a:rPr lang="en-US" sz="1200" b="0" i="0" kern="1200" dirty="0" smtClean="0">
                <a:solidFill>
                  <a:schemeClr val="tx1"/>
                </a:solidFill>
                <a:effectLst/>
                <a:latin typeface="+mn-lt"/>
                <a:ea typeface="+mn-ea"/>
                <a:cs typeface="+mn-cs"/>
              </a:rPr>
              <a:t> when we expect the data values in a column are of the same length. </a:t>
            </a:r>
          </a:p>
          <a:p>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Varchar</a:t>
            </a:r>
            <a:r>
              <a:rPr lang="en-US" sz="1200" b="0" i="0" kern="1200" dirty="0" smtClean="0">
                <a:solidFill>
                  <a:schemeClr val="tx1"/>
                </a:solidFill>
                <a:effectLst/>
                <a:latin typeface="+mn-lt"/>
                <a:ea typeface="+mn-ea"/>
                <a:cs typeface="+mn-cs"/>
              </a:rPr>
              <a:t> is a </a:t>
            </a:r>
            <a:r>
              <a:rPr lang="en-US" sz="1200" b="0" i="0" kern="1200" dirty="0" err="1" smtClean="0">
                <a:solidFill>
                  <a:schemeClr val="tx1"/>
                </a:solidFill>
                <a:effectLst/>
                <a:latin typeface="+mn-lt"/>
                <a:ea typeface="+mn-ea"/>
                <a:cs typeface="+mn-cs"/>
              </a:rPr>
              <a:t>datatype</a:t>
            </a:r>
            <a:r>
              <a:rPr lang="en-US" sz="1200" b="0" i="0" kern="1200" dirty="0" smtClean="0">
                <a:solidFill>
                  <a:schemeClr val="tx1"/>
                </a:solidFill>
                <a:effectLst/>
                <a:latin typeface="+mn-lt"/>
                <a:ea typeface="+mn-ea"/>
                <a:cs typeface="+mn-cs"/>
              </a:rPr>
              <a:t> in SQL which is used to store character string of variable length but a maximum of the set length specified. If the length of the string is less than set or fixed-length then it will store as it is without padded with extra blank spaces.</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37</a:t>
            </a:fld>
            <a:endParaRPr lang="en-US"/>
          </a:p>
        </p:txBody>
      </p:sp>
    </p:spTree>
    <p:extLst>
      <p:ext uri="{BB962C8B-B14F-4D97-AF65-F5344CB8AC3E}">
        <p14:creationId xmlns:p14="http://schemas.microsoft.com/office/powerpoint/2010/main" val="314976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VARBINARY(MAX) – for</a:t>
            </a:r>
            <a:r>
              <a:rPr lang="en-US" sz="1200" b="1" i="0" kern="1200" baseline="0" dirty="0" smtClean="0">
                <a:solidFill>
                  <a:schemeClr val="tx1"/>
                </a:solidFill>
                <a:effectLst/>
                <a:latin typeface="+mn-lt"/>
                <a:ea typeface="+mn-ea"/>
                <a:cs typeface="+mn-cs"/>
              </a:rPr>
              <a:t> storing image in </a:t>
            </a:r>
            <a:r>
              <a:rPr lang="en-US" sz="1200" b="1" i="0" kern="1200" baseline="0" dirty="0" err="1" smtClean="0">
                <a:solidFill>
                  <a:schemeClr val="tx1"/>
                </a:solidFill>
                <a:effectLst/>
                <a:latin typeface="+mn-lt"/>
                <a:ea typeface="+mn-ea"/>
                <a:cs typeface="+mn-cs"/>
              </a:rPr>
              <a:t>sqlserver</a:t>
            </a:r>
            <a:endParaRPr lang="en-US" sz="1200" b="1" i="0" kern="1200" baseline="0" dirty="0" smtClean="0">
              <a:solidFill>
                <a:schemeClr val="tx1"/>
              </a:solidFill>
              <a:effectLst/>
              <a:latin typeface="+mn-lt"/>
              <a:ea typeface="+mn-ea"/>
              <a:cs typeface="+mn-cs"/>
            </a:endParaRPr>
          </a:p>
          <a:p>
            <a:r>
              <a:rPr lang="en-US" dirty="0" err="1" smtClean="0">
                <a:effectLst/>
              </a:rPr>
              <a:t>TINYTEXTHolds</a:t>
            </a:r>
            <a:r>
              <a:rPr lang="en-US" dirty="0" smtClean="0">
                <a:effectLst/>
              </a:rPr>
              <a:t> a string with a maximum length of 255 </a:t>
            </a:r>
            <a:r>
              <a:rPr lang="en-US" dirty="0" err="1" smtClean="0">
                <a:effectLst/>
              </a:rPr>
              <a:t>charactersTEXT</a:t>
            </a:r>
            <a:r>
              <a:rPr lang="en-US" dirty="0" smtClean="0">
                <a:effectLst/>
              </a:rPr>
              <a:t>(size)Holds a string with a maximum length of 65,535 bytes</a:t>
            </a:r>
          </a:p>
          <a:p>
            <a:r>
              <a:rPr lang="en-US" sz="1200" b="0" i="0" kern="1200" dirty="0" err="1" smtClean="0">
                <a:solidFill>
                  <a:schemeClr val="tx1"/>
                </a:solidFill>
                <a:effectLst/>
                <a:latin typeface="+mn-lt"/>
                <a:ea typeface="+mn-ea"/>
                <a:cs typeface="+mn-cs"/>
              </a:rPr>
              <a:t>Varchar</a:t>
            </a:r>
            <a:r>
              <a:rPr lang="en-US" sz="1200" b="0" i="0" kern="1200" dirty="0" smtClean="0">
                <a:solidFill>
                  <a:schemeClr val="tx1"/>
                </a:solidFill>
                <a:effectLst/>
                <a:latin typeface="+mn-lt"/>
                <a:ea typeface="+mn-ea"/>
                <a:cs typeface="+mn-cs"/>
              </a:rPr>
              <a:t> stores Non-</a:t>
            </a:r>
            <a:r>
              <a:rPr lang="en-US" sz="1200" b="0" i="0" kern="1200" dirty="0" err="1" smtClean="0">
                <a:solidFill>
                  <a:schemeClr val="tx1"/>
                </a:solidFill>
                <a:effectLst/>
                <a:latin typeface="+mn-lt"/>
                <a:ea typeface="+mn-ea"/>
                <a:cs typeface="+mn-cs"/>
              </a:rPr>
              <a:t>unicode</a:t>
            </a:r>
            <a:r>
              <a:rPr lang="en-US" sz="1200" b="0" i="0" kern="1200" dirty="0" smtClean="0">
                <a:solidFill>
                  <a:schemeClr val="tx1"/>
                </a:solidFill>
                <a:effectLst/>
                <a:latin typeface="+mn-lt"/>
                <a:ea typeface="+mn-ea"/>
                <a:cs typeface="+mn-cs"/>
              </a:rPr>
              <a:t> or English character data types, and it can contain a maximum of 8000 characters. It only supports ASCII values. </a:t>
            </a:r>
            <a:r>
              <a:rPr lang="en-US" sz="1200" b="0" i="0" kern="1200" dirty="0" err="1" smtClean="0">
                <a:solidFill>
                  <a:schemeClr val="tx1"/>
                </a:solidFill>
                <a:effectLst/>
                <a:latin typeface="+mn-lt"/>
                <a:ea typeface="+mn-ea"/>
                <a:cs typeface="+mn-cs"/>
              </a:rPr>
              <a:t>Nvarchar</a:t>
            </a:r>
            <a:r>
              <a:rPr lang="en-US" sz="1200" b="0" i="0" kern="1200" dirty="0" smtClean="0">
                <a:solidFill>
                  <a:schemeClr val="tx1"/>
                </a:solidFill>
                <a:effectLst/>
                <a:latin typeface="+mn-lt"/>
                <a:ea typeface="+mn-ea"/>
                <a:cs typeface="+mn-cs"/>
              </a:rPr>
              <a:t> stores Unicode or Non-English character data types, and it can contain a maximum of 4000 characters. It supports ASCII values as well as special characters.</a:t>
            </a:r>
            <a:endParaRPr lang="en-US" dirty="0" smtClean="0">
              <a:effectLst/>
            </a:endParaRPr>
          </a:p>
          <a:p>
            <a:r>
              <a:rPr lang="en-US" sz="1200" b="0" i="0" kern="1200" dirty="0" smtClean="0">
                <a:solidFill>
                  <a:schemeClr val="tx1"/>
                </a:solidFill>
                <a:effectLst/>
                <a:latin typeface="+mn-lt"/>
                <a:ea typeface="+mn-ea"/>
                <a:cs typeface="+mn-cs"/>
              </a:rPr>
              <a:t>UNICODE is an international standard character set. The UNICODE character set provides a unique representation for all characters used in alphabets</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38</a:t>
            </a:fld>
            <a:endParaRPr lang="en-US"/>
          </a:p>
        </p:txBody>
      </p:sp>
    </p:spTree>
    <p:extLst>
      <p:ext uri="{BB962C8B-B14F-4D97-AF65-F5344CB8AC3E}">
        <p14:creationId xmlns:p14="http://schemas.microsoft.com/office/powerpoint/2010/main" val="4071399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SMALLINT data type stores small whole numbers that range from –32,767 to 32,767.</a:t>
            </a:r>
          </a:p>
          <a:p>
            <a:r>
              <a:rPr lang="en-US" b="1" dirty="0" smtClean="0">
                <a:effectLst/>
              </a:rPr>
              <a:t>bigint</a:t>
            </a:r>
            <a:r>
              <a:rPr lang="en-US" dirty="0" smtClean="0">
                <a:effectLst/>
              </a:rPr>
              <a:t>-9,223,372,036,854,775,808 to 9,223,372,036,854,775,807-2^63 to 2^63-</a:t>
            </a:r>
            <a:r>
              <a:rPr lang="en-US" b="0" dirty="0" smtClean="0">
                <a:effectLst/>
              </a:rPr>
              <a:t>1</a:t>
            </a:r>
            <a:r>
              <a:rPr lang="en-US" b="1" dirty="0" smtClean="0">
                <a:effectLst/>
              </a:rPr>
              <a:t>  8 Bytes</a:t>
            </a:r>
          </a:p>
          <a:p>
            <a:r>
              <a:rPr lang="en-US" b="1" dirty="0" smtClean="0">
                <a:effectLst/>
              </a:rPr>
              <a:t>int</a:t>
            </a:r>
            <a:r>
              <a:rPr lang="en-US" dirty="0" smtClean="0">
                <a:effectLst/>
              </a:rPr>
              <a:t>-2,147,483,648 to 2,147,483,647-2^31 to 2^31-1       </a:t>
            </a:r>
            <a:r>
              <a:rPr lang="en-US" b="1" dirty="0" smtClean="0">
                <a:effectLst/>
              </a:rPr>
              <a:t>4 Bytes</a:t>
            </a:r>
          </a:p>
          <a:p>
            <a:r>
              <a:rPr lang="en-US" b="1" dirty="0" smtClean="0">
                <a:effectLst/>
              </a:rPr>
              <a:t>smallint</a:t>
            </a:r>
            <a:r>
              <a:rPr lang="en-US" dirty="0" smtClean="0">
                <a:effectLst/>
              </a:rPr>
              <a:t>-32,768 to 32,767-2^15 to 2^15-1  </a:t>
            </a:r>
            <a:r>
              <a:rPr lang="en-US" b="1" dirty="0" smtClean="0">
                <a:effectLst/>
              </a:rPr>
              <a:t>2 Bytes</a:t>
            </a:r>
          </a:p>
          <a:p>
            <a:r>
              <a:rPr lang="en-US" b="1" dirty="0" smtClean="0">
                <a:effectLst/>
              </a:rPr>
              <a:t>tinyint</a:t>
            </a:r>
            <a:r>
              <a:rPr lang="en-US" dirty="0" smtClean="0">
                <a:effectLst/>
              </a:rPr>
              <a:t>0 to 2552^0-1 to 2^8-1 </a:t>
            </a:r>
            <a:r>
              <a:rPr lang="en-US" b="1" dirty="0" smtClean="0">
                <a:effectLst/>
              </a:rPr>
              <a:t>1 Byte</a:t>
            </a:r>
            <a:endParaRPr lang="en-US" b="1" dirty="0"/>
          </a:p>
        </p:txBody>
      </p:sp>
      <p:sp>
        <p:nvSpPr>
          <p:cNvPr id="4" name="Slide Number Placeholder 3"/>
          <p:cNvSpPr>
            <a:spLocks noGrp="1"/>
          </p:cNvSpPr>
          <p:nvPr>
            <p:ph type="sldNum" sz="quarter" idx="10"/>
          </p:nvPr>
        </p:nvSpPr>
        <p:spPr/>
        <p:txBody>
          <a:bodyPr/>
          <a:lstStyle/>
          <a:p>
            <a:fld id="{19BE2A00-AF1C-45E9-BDCE-7B0A984E51F7}" type="slidenum">
              <a:rPr lang="en-US" smtClean="0"/>
              <a:t>39</a:t>
            </a:fld>
            <a:endParaRPr lang="en-US"/>
          </a:p>
        </p:txBody>
      </p:sp>
    </p:spTree>
    <p:extLst>
      <p:ext uri="{BB962C8B-B14F-4D97-AF65-F5344CB8AC3E}">
        <p14:creationId xmlns:p14="http://schemas.microsoft.com/office/powerpoint/2010/main" val="3711558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effectLst/>
                <a:latin typeface="+mn-lt"/>
                <a:ea typeface="+mn-ea"/>
                <a:cs typeface="+mn-cs"/>
              </a:rPr>
              <a:t>Decimal/ Numeric </a:t>
            </a:r>
            <a:r>
              <a:rPr lang="en-US" sz="1200" b="0" i="0" kern="1200" dirty="0" smtClean="0">
                <a:solidFill>
                  <a:schemeClr val="tx1"/>
                </a:solidFill>
                <a:effectLst/>
                <a:latin typeface="+mn-lt"/>
                <a:ea typeface="+mn-ea"/>
                <a:cs typeface="+mn-cs"/>
              </a:rPr>
              <a:t>can have up to 17 bytes size.</a:t>
            </a:r>
          </a:p>
          <a:p>
            <a:r>
              <a:rPr lang="en-US" sz="1200" b="0" i="0" kern="1200" dirty="0" smtClean="0">
                <a:solidFill>
                  <a:schemeClr val="tx1"/>
                </a:solidFill>
                <a:effectLst/>
                <a:latin typeface="+mn-lt"/>
                <a:ea typeface="+mn-ea"/>
                <a:cs typeface="+mn-cs"/>
              </a:rPr>
              <a:t>The IMAGE data type in SQL Server has been used to store the image files. Recently, Microsoft began suggesting using </a:t>
            </a:r>
            <a:r>
              <a:rPr lang="en-US" sz="1200" b="1" i="0" kern="1200" dirty="0" smtClean="0">
                <a:solidFill>
                  <a:schemeClr val="tx1"/>
                </a:solidFill>
                <a:effectLst/>
                <a:latin typeface="+mn-lt"/>
                <a:ea typeface="+mn-ea"/>
                <a:cs typeface="+mn-cs"/>
              </a:rPr>
              <a:t>VARBINARY(MAX)</a:t>
            </a:r>
            <a:r>
              <a:rPr lang="en-US" sz="1200" b="0" i="0" kern="1200" dirty="0" smtClean="0">
                <a:solidFill>
                  <a:schemeClr val="tx1"/>
                </a:solidFill>
                <a:effectLst/>
                <a:latin typeface="+mn-lt"/>
                <a:ea typeface="+mn-ea"/>
                <a:cs typeface="+mn-cs"/>
              </a:rPr>
              <a:t> instead of IMAGE for storing</a:t>
            </a:r>
          </a:p>
          <a:p>
            <a:pPr rtl="0"/>
            <a:r>
              <a:rPr lang="en-US" dirty="0" smtClean="0"/>
              <a:t>CREATE TABLE Images ( </a:t>
            </a:r>
            <a:r>
              <a:rPr lang="en-US" dirty="0" err="1" smtClean="0"/>
              <a:t>ImageID</a:t>
            </a:r>
            <a:r>
              <a:rPr lang="en-US" dirty="0" smtClean="0"/>
              <a:t> INT AUTO_INCREMENT PRIMARY KEY, </a:t>
            </a:r>
            <a:r>
              <a:rPr lang="en-US" dirty="0" err="1" smtClean="0"/>
              <a:t>ImageName</a:t>
            </a:r>
            <a:r>
              <a:rPr lang="en-US" dirty="0" smtClean="0"/>
              <a:t> VARCHAR(255), </a:t>
            </a:r>
            <a:r>
              <a:rPr lang="en-US" dirty="0" err="1" smtClean="0"/>
              <a:t>ImageData</a:t>
            </a:r>
            <a:r>
              <a:rPr lang="en-US" dirty="0" smtClean="0"/>
              <a:t> LONGBLOB ); </a:t>
            </a:r>
          </a:p>
          <a:p>
            <a:r>
              <a:rPr lang="en-US" dirty="0" smtClean="0"/>
              <a:t>LONGBLOB is used to store large binary data (up to 4GB). You can also use BLOB, MEDIUMBLOB, or TINYBLOB depending on size requirements.</a:t>
            </a:r>
          </a:p>
          <a:p>
            <a:r>
              <a:rPr lang="en-US" sz="1200" b="0" i="0" kern="1200" dirty="0" smtClean="0">
                <a:solidFill>
                  <a:schemeClr val="tx1"/>
                </a:solidFill>
                <a:effectLst/>
                <a:latin typeface="+mn-lt"/>
                <a:ea typeface="+mn-ea"/>
                <a:cs typeface="+mn-cs"/>
              </a:rPr>
              <a:t> a large amount of data in a single column since IMAGE will be retired in a future version of MS SQL Server</a:t>
            </a:r>
          </a:p>
          <a:p>
            <a:endParaRPr lang="en-US" sz="1200" b="0" i="0" kern="1200" dirty="0" smtClean="0">
              <a:solidFill>
                <a:schemeClr val="tx1"/>
              </a:solidFill>
              <a:effectLst/>
              <a:latin typeface="+mn-lt"/>
              <a:ea typeface="+mn-ea"/>
              <a:cs typeface="+mn-cs"/>
            </a:endParaRPr>
          </a:p>
          <a:p>
            <a:r>
              <a:rPr lang="en-US" dirty="0" smtClean="0"/>
              <a:t>INSERT INTO Images (</a:t>
            </a:r>
            <a:r>
              <a:rPr lang="en-US" dirty="0" err="1" smtClean="0"/>
              <a:t>ImageName</a:t>
            </a:r>
            <a:r>
              <a:rPr lang="en-US" dirty="0" smtClean="0"/>
              <a:t>, </a:t>
            </a:r>
            <a:r>
              <a:rPr lang="en-US" dirty="0" err="1" smtClean="0"/>
              <a:t>ImageData</a:t>
            </a:r>
            <a:r>
              <a:rPr lang="en-US" dirty="0" smtClean="0"/>
              <a:t>) VALUES ('example.jpg', LOAD_FILE('/path/to/image.jpg'));</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40</a:t>
            </a:fld>
            <a:endParaRPr lang="en-US"/>
          </a:p>
        </p:txBody>
      </p:sp>
    </p:spTree>
    <p:extLst>
      <p:ext uri="{BB962C8B-B14F-4D97-AF65-F5344CB8AC3E}">
        <p14:creationId xmlns:p14="http://schemas.microsoft.com/office/powerpoint/2010/main" val="1524203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grouping you can</a:t>
            </a:r>
            <a:r>
              <a:rPr lang="en-US" baseline="0" dirty="0" smtClean="0"/>
              <a:t> use where clause and after grouping you can use </a:t>
            </a:r>
            <a:r>
              <a:rPr lang="en-US" baseline="0" smtClean="0"/>
              <a:t>having clause.</a:t>
            </a:r>
            <a:endParaRPr lang="en-US"/>
          </a:p>
        </p:txBody>
      </p:sp>
      <p:sp>
        <p:nvSpPr>
          <p:cNvPr id="4" name="Slide Number Placeholder 3"/>
          <p:cNvSpPr>
            <a:spLocks noGrp="1"/>
          </p:cNvSpPr>
          <p:nvPr>
            <p:ph type="sldNum" sz="quarter" idx="10"/>
          </p:nvPr>
        </p:nvSpPr>
        <p:spPr/>
        <p:txBody>
          <a:bodyPr/>
          <a:lstStyle/>
          <a:p>
            <a:fld id="{19BE2A00-AF1C-45E9-BDCE-7B0A984E51F7}" type="slidenum">
              <a:rPr lang="en-US" smtClean="0"/>
              <a:t>50</a:t>
            </a:fld>
            <a:endParaRPr lang="en-US"/>
          </a:p>
        </p:txBody>
      </p:sp>
    </p:spTree>
    <p:extLst>
      <p:ext uri="{BB962C8B-B14F-4D97-AF65-F5344CB8AC3E}">
        <p14:creationId xmlns:p14="http://schemas.microsoft.com/office/powerpoint/2010/main" val="2390030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aggregate functions like COUNT, SUM, MIN, MAX, AVG.</a:t>
            </a:r>
            <a:r>
              <a:rPr lang="en-US" sz="1200" b="0" i="0" kern="1200" dirty="0" smtClean="0">
                <a:solidFill>
                  <a:schemeClr val="tx1"/>
                </a:solidFill>
                <a:effectLst/>
                <a:latin typeface="+mn-lt"/>
                <a:ea typeface="+mn-ea"/>
                <a:cs typeface="+mn-cs"/>
              </a:rPr>
              <a:t> In SQL, aggregate functions </a:t>
            </a:r>
            <a:r>
              <a:rPr lang="en-US" sz="1200" b="1" i="0" kern="1200" dirty="0" smtClean="0">
                <a:solidFill>
                  <a:schemeClr val="tx1"/>
                </a:solidFill>
                <a:effectLst/>
                <a:latin typeface="+mn-lt"/>
                <a:ea typeface="+mn-ea"/>
                <a:cs typeface="+mn-cs"/>
              </a:rPr>
              <a:t>let you perform a calculation on multiple data and return a single value</a:t>
            </a:r>
            <a:r>
              <a:rPr lang="en-US" sz="1200" b="0" i="0" kern="1200" dirty="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we have concluded that WHERE is used to filter records before any groupings take place that is on single rows, GROUP BY aggregates/ groups the rows and returns the summary for each group and HAVING is used to filter values after they have been grouped.</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53</a:t>
            </a:fld>
            <a:endParaRPr lang="en-US"/>
          </a:p>
        </p:txBody>
      </p:sp>
    </p:spTree>
    <p:extLst>
      <p:ext uri="{BB962C8B-B14F-4D97-AF65-F5344CB8AC3E}">
        <p14:creationId xmlns:p14="http://schemas.microsoft.com/office/powerpoint/2010/main" val="133723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t>
            </a:r>
            <a:r>
              <a:rPr lang="en-US" dirty="0" smtClean="0"/>
              <a:t>GROUP BY</a:t>
            </a:r>
            <a:r>
              <a:rPr lang="en-US" sz="1200" b="0" i="0" kern="1200" dirty="0" smtClean="0">
                <a:solidFill>
                  <a:schemeClr val="tx1"/>
                </a:solidFill>
                <a:effectLst/>
                <a:latin typeface="+mn-lt"/>
                <a:ea typeface="+mn-ea"/>
                <a:cs typeface="+mn-cs"/>
              </a:rPr>
              <a:t> statement is often used with aggregate functions (</a:t>
            </a:r>
            <a:r>
              <a:rPr lang="en-US" dirty="0" smtClean="0"/>
              <a:t>COUNT()</a:t>
            </a:r>
            <a:r>
              <a:rPr lang="en-US" sz="1200" b="0" i="0" kern="1200" dirty="0" smtClean="0">
                <a:solidFill>
                  <a:schemeClr val="tx1"/>
                </a:solidFill>
                <a:effectLst/>
                <a:latin typeface="+mn-lt"/>
                <a:ea typeface="+mn-ea"/>
                <a:cs typeface="+mn-cs"/>
              </a:rPr>
              <a:t>, </a:t>
            </a:r>
            <a:r>
              <a:rPr lang="en-US" dirty="0" smtClean="0"/>
              <a:t>MAX()</a:t>
            </a:r>
            <a:r>
              <a:rPr lang="en-US" sz="1200" b="0" i="0" kern="1200" dirty="0" smtClean="0">
                <a:solidFill>
                  <a:schemeClr val="tx1"/>
                </a:solidFill>
                <a:effectLst/>
                <a:latin typeface="+mn-lt"/>
                <a:ea typeface="+mn-ea"/>
                <a:cs typeface="+mn-cs"/>
              </a:rPr>
              <a:t>, </a:t>
            </a:r>
            <a:r>
              <a:rPr lang="en-US" dirty="0" smtClean="0"/>
              <a:t>MIN()</a:t>
            </a:r>
            <a:r>
              <a:rPr lang="en-US" sz="1200" b="0" i="0" kern="1200" dirty="0" smtClean="0">
                <a:solidFill>
                  <a:schemeClr val="tx1"/>
                </a:solidFill>
                <a:effectLst/>
                <a:latin typeface="+mn-lt"/>
                <a:ea typeface="+mn-ea"/>
                <a:cs typeface="+mn-cs"/>
              </a:rPr>
              <a:t>, </a:t>
            </a:r>
            <a:r>
              <a:rPr lang="en-US" dirty="0" smtClean="0"/>
              <a:t>SUM()</a:t>
            </a:r>
            <a:r>
              <a:rPr lang="en-US" sz="1200" b="0" i="0" kern="1200" dirty="0" smtClean="0">
                <a:solidFill>
                  <a:schemeClr val="tx1"/>
                </a:solidFill>
                <a:effectLst/>
                <a:latin typeface="+mn-lt"/>
                <a:ea typeface="+mn-ea"/>
                <a:cs typeface="+mn-cs"/>
              </a:rPr>
              <a:t>, </a:t>
            </a:r>
            <a:r>
              <a:rPr lang="en-US" dirty="0" smtClean="0"/>
              <a:t>AVG()</a:t>
            </a:r>
            <a:r>
              <a:rPr lang="en-US" sz="1200" b="0" i="0" kern="1200" dirty="0" smtClean="0">
                <a:solidFill>
                  <a:schemeClr val="tx1"/>
                </a:solidFill>
                <a:effectLst/>
                <a:latin typeface="+mn-lt"/>
                <a:ea typeface="+mn-ea"/>
                <a:cs typeface="+mn-cs"/>
              </a:rPr>
              <a:t>) to group the result-set by one or more columns.</a:t>
            </a:r>
          </a:p>
          <a:p>
            <a:r>
              <a:rPr lang="en-US" dirty="0" smtClean="0"/>
              <a:t>write a query to get count of faculty in each department having </a:t>
            </a:r>
            <a:r>
              <a:rPr lang="en-US" dirty="0" err="1" smtClean="0"/>
              <a:t>expereince</a:t>
            </a:r>
            <a:r>
              <a:rPr lang="en-US" dirty="0" smtClean="0"/>
              <a:t>&lt;5</a:t>
            </a:r>
          </a:p>
          <a:p>
            <a:r>
              <a:rPr lang="en-US" dirty="0" smtClean="0"/>
              <a:t>SELECT </a:t>
            </a:r>
            <a:r>
              <a:rPr lang="en-US" dirty="0" err="1" smtClean="0"/>
              <a:t>dept</a:t>
            </a:r>
            <a:r>
              <a:rPr lang="en-US" dirty="0" smtClean="0"/>
              <a:t>, COUNT(*) AS </a:t>
            </a:r>
            <a:r>
              <a:rPr lang="en-US" dirty="0" err="1" smtClean="0"/>
              <a:t>faculty_count</a:t>
            </a:r>
            <a:endParaRPr lang="en-US" dirty="0" smtClean="0"/>
          </a:p>
          <a:p>
            <a:r>
              <a:rPr lang="en-US" dirty="0" smtClean="0"/>
              <a:t>FROM faculty</a:t>
            </a:r>
          </a:p>
          <a:p>
            <a:r>
              <a:rPr lang="en-US" dirty="0" smtClean="0"/>
              <a:t>WHERE experience &lt; 5</a:t>
            </a:r>
          </a:p>
          <a:p>
            <a:r>
              <a:rPr lang="en-US" dirty="0" smtClean="0"/>
              <a:t>GROUP BY </a:t>
            </a:r>
            <a:r>
              <a:rPr lang="en-US" dirty="0" err="1" smtClean="0"/>
              <a:t>dept</a:t>
            </a:r>
            <a:r>
              <a:rPr lang="en-US" dirty="0" smtClean="0"/>
              <a:t>;</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55</a:t>
            </a:fld>
            <a:endParaRPr lang="en-US"/>
          </a:p>
        </p:txBody>
      </p:sp>
    </p:spTree>
    <p:extLst>
      <p:ext uri="{BB962C8B-B14F-4D97-AF65-F5344CB8AC3E}">
        <p14:creationId xmlns:p14="http://schemas.microsoft.com/office/powerpoint/2010/main" val="3523733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a:t>
            </a:r>
            <a:r>
              <a:rPr lang="en-US" sz="1200" b="0" i="0" kern="1200" dirty="0" smtClean="0">
                <a:solidFill>
                  <a:schemeClr val="tx1"/>
                </a:solidFill>
                <a:effectLst/>
                <a:latin typeface="+mn-lt"/>
                <a:ea typeface="+mn-ea"/>
                <a:cs typeface="+mn-cs"/>
              </a:rPr>
              <a:t> SELECT BOOK_ID, PRICE FROM BOOKS WHERE PRICE &gt; 350</a:t>
            </a:r>
            <a:endParaRPr lang="en-US" dirty="0" smtClean="0"/>
          </a:p>
          <a:p>
            <a:r>
              <a:rPr lang="en-US" dirty="0" smtClean="0"/>
              <a:t>2)SELECT COUNT(BOOK_ID), LANGUAGEFROM BOOKS</a:t>
            </a:r>
          </a:p>
          <a:p>
            <a:r>
              <a:rPr lang="en-US" dirty="0" smtClean="0"/>
              <a:t>GROUP </a:t>
            </a:r>
            <a:r>
              <a:rPr lang="en-US" smtClean="0"/>
              <a:t>BY LANGUAGE</a:t>
            </a:r>
            <a:r>
              <a:rPr lang="en-US" baseline="0" smtClean="0"/>
              <a:t> </a:t>
            </a:r>
            <a:r>
              <a:rPr lang="en-US" smtClean="0"/>
              <a:t>HAVING </a:t>
            </a:r>
            <a:r>
              <a:rPr lang="en-US" dirty="0" smtClean="0"/>
              <a:t>COUNT(LANGUAGE) &gt; 1;</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56</a:t>
            </a:fld>
            <a:endParaRPr lang="en-US"/>
          </a:p>
        </p:txBody>
      </p:sp>
    </p:spTree>
    <p:extLst>
      <p:ext uri="{BB962C8B-B14F-4D97-AF65-F5344CB8AC3E}">
        <p14:creationId xmlns:p14="http://schemas.microsoft.com/office/powerpoint/2010/main" val="39909741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Select </a:t>
            </a:r>
            <a:r>
              <a:rPr lang="en-US" dirty="0" err="1" smtClean="0"/>
              <a:t>country,count</a:t>
            </a:r>
            <a:r>
              <a:rPr lang="en-US" dirty="0" smtClean="0"/>
              <a:t>(*) as </a:t>
            </a:r>
            <a:r>
              <a:rPr lang="en-US" dirty="0" err="1" smtClean="0"/>
              <a:t>no_of_customers</a:t>
            </a:r>
            <a:r>
              <a:rPr lang="en-US" dirty="0" smtClean="0"/>
              <a:t> from customers group by country.</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64</a:t>
            </a:fld>
            <a:endParaRPr lang="en-US"/>
          </a:p>
        </p:txBody>
      </p:sp>
    </p:spTree>
    <p:extLst>
      <p:ext uri="{BB962C8B-B14F-4D97-AF65-F5344CB8AC3E}">
        <p14:creationId xmlns:p14="http://schemas.microsoft.com/office/powerpoint/2010/main" val="339540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DATEDIFF() function returns the number of days between two date values.</a:t>
            </a:r>
          </a:p>
          <a:p>
            <a:r>
              <a:rPr lang="en-US" sz="1200" b="0" i="0" kern="1200" dirty="0" smtClean="0">
                <a:solidFill>
                  <a:schemeClr val="tx1"/>
                </a:solidFill>
                <a:effectLst/>
                <a:latin typeface="+mn-lt"/>
                <a:ea typeface="+mn-ea"/>
                <a:cs typeface="+mn-cs"/>
              </a:rPr>
              <a:t>The DATE_ADD() function adds a time/date interval to a date and then returns the date.</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69</a:t>
            </a:fld>
            <a:endParaRPr lang="en-US"/>
          </a:p>
        </p:txBody>
      </p:sp>
    </p:spTree>
    <p:extLst>
      <p:ext uri="{BB962C8B-B14F-4D97-AF65-F5344CB8AC3E}">
        <p14:creationId xmlns:p14="http://schemas.microsoft.com/office/powerpoint/2010/main" val="2569229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SELECT *   </a:t>
            </a:r>
          </a:p>
          <a:p>
            <a:r>
              <a:rPr lang="en-US" sz="1200" b="0" i="0" kern="1200" dirty="0" smtClean="0">
                <a:solidFill>
                  <a:schemeClr val="tx1"/>
                </a:solidFill>
                <a:effectLst/>
                <a:latin typeface="+mn-lt"/>
                <a:ea typeface="+mn-ea"/>
                <a:cs typeface="+mn-cs"/>
              </a:rPr>
              <a:t>    FROM EMPLOYEE  </a:t>
            </a:r>
          </a:p>
          <a:p>
            <a:r>
              <a:rPr lang="en-US" sz="1200" b="0" i="0" kern="1200" dirty="0" smtClean="0">
                <a:solidFill>
                  <a:schemeClr val="tx1"/>
                </a:solidFill>
                <a:effectLst/>
                <a:latin typeface="+mn-lt"/>
                <a:ea typeface="+mn-ea"/>
                <a:cs typeface="+mn-cs"/>
              </a:rPr>
              <a:t>    WHERE ID IN (SELECT ID   </a:t>
            </a:r>
          </a:p>
          <a:p>
            <a:r>
              <a:rPr lang="en-US" sz="1200" b="0" i="0" kern="1200" dirty="0" smtClean="0">
                <a:solidFill>
                  <a:schemeClr val="tx1"/>
                </a:solidFill>
                <a:effectLst/>
                <a:latin typeface="+mn-lt"/>
                <a:ea typeface="+mn-ea"/>
                <a:cs typeface="+mn-cs"/>
              </a:rPr>
              <a:t>    FROM EMPLOYEE   </a:t>
            </a:r>
          </a:p>
          <a:p>
            <a:r>
              <a:rPr lang="en-US" sz="1200" b="0" i="0" kern="1200" dirty="0" smtClean="0">
                <a:solidFill>
                  <a:schemeClr val="tx1"/>
                </a:solidFill>
                <a:effectLst/>
                <a:latin typeface="+mn-lt"/>
                <a:ea typeface="+mn-ea"/>
                <a:cs typeface="+mn-cs"/>
              </a:rPr>
              <a:t>    WHERE SALARY &gt; 4500); </a:t>
            </a:r>
          </a:p>
          <a:p>
            <a:endParaRPr lang="en-US" dirty="0" smtClean="0"/>
          </a:p>
          <a:p>
            <a:endParaRPr lang="en-US" dirty="0" smtClean="0"/>
          </a:p>
          <a:p>
            <a:r>
              <a:rPr lang="en-US" dirty="0" smtClean="0"/>
              <a:t>2)</a:t>
            </a:r>
            <a:r>
              <a:rPr lang="en-US" sz="1200" b="0" i="0" kern="1200" dirty="0" smtClean="0">
                <a:solidFill>
                  <a:schemeClr val="tx1"/>
                </a:solidFill>
                <a:effectLst/>
                <a:latin typeface="+mn-lt"/>
                <a:ea typeface="+mn-ea"/>
                <a:cs typeface="+mn-cs"/>
              </a:rPr>
              <a:t> UPDATE EMPLOYEE  </a:t>
            </a:r>
          </a:p>
          <a:p>
            <a:r>
              <a:rPr lang="en-US" sz="1200" b="0" i="0" kern="1200" dirty="0" smtClean="0">
                <a:solidFill>
                  <a:schemeClr val="tx1"/>
                </a:solidFill>
                <a:effectLst/>
                <a:latin typeface="+mn-lt"/>
                <a:ea typeface="+mn-ea"/>
                <a:cs typeface="+mn-cs"/>
              </a:rPr>
              <a:t>   SET SALARY = SALARY * 0.25  </a:t>
            </a:r>
          </a:p>
          <a:p>
            <a:r>
              <a:rPr lang="en-US" sz="1200" b="0" i="0" kern="1200" dirty="0" smtClean="0">
                <a:solidFill>
                  <a:schemeClr val="tx1"/>
                </a:solidFill>
                <a:effectLst/>
                <a:latin typeface="+mn-lt"/>
                <a:ea typeface="+mn-ea"/>
                <a:cs typeface="+mn-cs"/>
              </a:rPr>
              <a:t>   WHERE AGE IN (SELECT AGE FROM CUSTOMERS_BKP  </a:t>
            </a:r>
          </a:p>
          <a:p>
            <a:r>
              <a:rPr lang="en-US" sz="1200" b="0" i="0" kern="1200" dirty="0" smtClean="0">
                <a:solidFill>
                  <a:schemeClr val="tx1"/>
                </a:solidFill>
                <a:effectLst/>
                <a:latin typeface="+mn-lt"/>
                <a:ea typeface="+mn-ea"/>
                <a:cs typeface="+mn-cs"/>
              </a:rPr>
              <a:t>      WHERE AGE &gt;= 29); </a:t>
            </a:r>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77</a:t>
            </a:fld>
            <a:endParaRPr lang="en-US"/>
          </a:p>
        </p:txBody>
      </p:sp>
    </p:spTree>
    <p:extLst>
      <p:ext uri="{BB962C8B-B14F-4D97-AF65-F5344CB8AC3E}">
        <p14:creationId xmlns:p14="http://schemas.microsoft.com/office/powerpoint/2010/main" val="2638246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SELECT </a:t>
            </a:r>
            <a:r>
              <a:rPr lang="en-US" dirty="0" err="1" smtClean="0"/>
              <a:t>fname</a:t>
            </a:r>
            <a:r>
              <a:rPr lang="en-US" dirty="0" smtClean="0"/>
              <a:t>, </a:t>
            </a:r>
            <a:r>
              <a:rPr lang="en-US" dirty="0" err="1" smtClean="0"/>
              <a:t>lname</a:t>
            </a:r>
            <a:r>
              <a:rPr lang="en-US" dirty="0" smtClean="0"/>
              <a:t> FROM Customers WHERE EXISTS (SELECT * FROM Orders WHERE </a:t>
            </a:r>
            <a:r>
              <a:rPr lang="en-US" dirty="0" err="1" smtClean="0"/>
              <a:t>Customers.customer_id</a:t>
            </a:r>
            <a:r>
              <a:rPr lang="en-US" dirty="0" smtClean="0"/>
              <a:t> = </a:t>
            </a:r>
            <a:r>
              <a:rPr lang="en-US" dirty="0" err="1" smtClean="0"/>
              <a:t>Orders.c_id</a:t>
            </a:r>
            <a:r>
              <a:rPr lang="en-US" dirty="0" smtClean="0"/>
              <a:t>);</a:t>
            </a:r>
          </a:p>
          <a:p>
            <a:endParaRPr lang="en-US" dirty="0" smtClean="0"/>
          </a:p>
          <a:p>
            <a:r>
              <a:rPr lang="en-US" dirty="0" smtClean="0"/>
              <a:t>DELETE FROM Orders WHERE EXISTS (SELECT * FROM customers WHERE </a:t>
            </a:r>
            <a:r>
              <a:rPr lang="en-US" dirty="0" err="1" smtClean="0"/>
              <a:t>Customers.customer_id</a:t>
            </a:r>
            <a:r>
              <a:rPr lang="en-US" dirty="0" smtClean="0"/>
              <a:t> = </a:t>
            </a:r>
            <a:r>
              <a:rPr lang="en-US" dirty="0" err="1" smtClean="0"/>
              <a:t>Orders.c_id</a:t>
            </a:r>
            <a:r>
              <a:rPr lang="en-US" dirty="0" smtClean="0"/>
              <a:t> AND </a:t>
            </a:r>
            <a:r>
              <a:rPr lang="en-US" dirty="0" err="1" smtClean="0"/>
              <a:t>Customers.lname</a:t>
            </a:r>
            <a:r>
              <a:rPr lang="en-US" dirty="0" smtClean="0"/>
              <a:t> = '</a:t>
            </a:r>
            <a:r>
              <a:rPr lang="en-US" dirty="0" err="1" smtClean="0"/>
              <a:t>Mehra</a:t>
            </a:r>
            <a:r>
              <a:rPr lang="en-US" dirty="0" smtClean="0"/>
              <a:t>');</a:t>
            </a:r>
          </a:p>
          <a:p>
            <a:endParaRPr lang="en-US" dirty="0" smtClean="0"/>
          </a:p>
          <a:p>
            <a:r>
              <a:rPr lang="en-US" dirty="0" smtClean="0"/>
              <a:t>Update customer set </a:t>
            </a:r>
            <a:r>
              <a:rPr lang="en-US" dirty="0" err="1" smtClean="0"/>
              <a:t>lname</a:t>
            </a:r>
            <a:r>
              <a:rPr lang="en-US" dirty="0" smtClean="0"/>
              <a:t>=“</a:t>
            </a:r>
            <a:r>
              <a:rPr lang="en-US" dirty="0" err="1" smtClean="0"/>
              <a:t>kumari</a:t>
            </a:r>
            <a:r>
              <a:rPr lang="en-US" dirty="0" smtClean="0"/>
              <a:t>” where exists(select * from customer where </a:t>
            </a:r>
            <a:r>
              <a:rPr lang="en-US" dirty="0" err="1" smtClean="0"/>
              <a:t>customer_id</a:t>
            </a:r>
            <a:r>
              <a:rPr lang="en-US" smtClean="0"/>
              <a:t>=401)</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79</a:t>
            </a:fld>
            <a:endParaRPr lang="en-US"/>
          </a:p>
        </p:txBody>
      </p:sp>
    </p:spTree>
    <p:extLst>
      <p:ext uri="{BB962C8B-B14F-4D97-AF65-F5344CB8AC3E}">
        <p14:creationId xmlns:p14="http://schemas.microsoft.com/office/powerpoint/2010/main" val="17391419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 Data Control Language is a syntax similar to a computer programming language used to control access to data stored in a database (Authorization).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SELECT CURRENT_USER();=</a:t>
            </a:r>
            <a:r>
              <a:rPr lang="en-US" sz="1200" b="0" i="0" kern="1200" dirty="0" smtClean="0">
                <a:solidFill>
                  <a:schemeClr val="tx1"/>
                </a:solidFill>
                <a:effectLst/>
                <a:latin typeface="+mn-lt"/>
                <a:ea typeface="+mn-ea"/>
                <a:cs typeface="+mn-cs"/>
                <a:sym typeface="Wingdings" pitchFamily="2" charset="2"/>
              </a:rPr>
              <a:t> TO check current user.</a:t>
            </a:r>
          </a:p>
          <a:p>
            <a:r>
              <a:rPr lang="en-US" dirty="0" smtClean="0"/>
              <a:t>GRANT </a:t>
            </a:r>
            <a:r>
              <a:rPr lang="en-US" dirty="0" err="1" smtClean="0"/>
              <a:t>privileges_names</a:t>
            </a:r>
            <a:r>
              <a:rPr lang="en-US" dirty="0" smtClean="0"/>
              <a:t> ON object TO user; </a:t>
            </a:r>
            <a:r>
              <a:rPr lang="en-US" dirty="0" err="1" smtClean="0"/>
              <a:t>Ex:GRANT</a:t>
            </a:r>
            <a:r>
              <a:rPr lang="en-US" dirty="0" smtClean="0"/>
              <a:t> SELECT, INSERT, DELETE, UPDATE ON Users TO '</a:t>
            </a:r>
            <a:r>
              <a:rPr lang="en-US" dirty="0" err="1" smtClean="0"/>
              <a:t>Amit</a:t>
            </a:r>
            <a:r>
              <a:rPr lang="en-US" dirty="0" smtClean="0"/>
              <a:t>'@'</a:t>
            </a:r>
            <a:r>
              <a:rPr lang="en-US" dirty="0" err="1" smtClean="0"/>
              <a:t>localhost</a:t>
            </a:r>
            <a:r>
              <a:rPr lang="en-US" dirty="0" smtClean="0"/>
              <a:t>;</a:t>
            </a:r>
          </a:p>
          <a:p>
            <a:r>
              <a:rPr lang="en-US" sz="1200" b="1" i="0" kern="1200" dirty="0" smtClean="0">
                <a:solidFill>
                  <a:schemeClr val="tx1"/>
                </a:solidFill>
                <a:effectLst/>
                <a:latin typeface="+mn-lt"/>
                <a:ea typeface="+mn-ea"/>
                <a:cs typeface="+mn-cs"/>
              </a:rPr>
              <a:t>The GRANT command is used for permitting the users whereas the REVOKE command is used for removing the authorization.</a:t>
            </a:r>
            <a:endParaRPr lang="en-US" b="1" dirty="0"/>
          </a:p>
        </p:txBody>
      </p:sp>
      <p:sp>
        <p:nvSpPr>
          <p:cNvPr id="4" name="Slide Number Placeholder 3"/>
          <p:cNvSpPr>
            <a:spLocks noGrp="1"/>
          </p:cNvSpPr>
          <p:nvPr>
            <p:ph type="sldNum" sz="quarter" idx="10"/>
          </p:nvPr>
        </p:nvSpPr>
        <p:spPr/>
        <p:txBody>
          <a:bodyPr/>
          <a:lstStyle/>
          <a:p>
            <a:fld id="{19BE2A00-AF1C-45E9-BDCE-7B0A984E51F7}" type="slidenum">
              <a:rPr lang="en-US" smtClean="0"/>
              <a:t>81</a:t>
            </a:fld>
            <a:endParaRPr lang="en-US"/>
          </a:p>
        </p:txBody>
      </p:sp>
    </p:spTree>
    <p:extLst>
      <p:ext uri="{BB962C8B-B14F-4D97-AF65-F5344CB8AC3E}">
        <p14:creationId xmlns:p14="http://schemas.microsoft.com/office/powerpoint/2010/main" val="28206763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stored procedure in SQL is </a:t>
            </a:r>
            <a:r>
              <a:rPr lang="en-US" sz="1200" b="1" i="0" kern="1200" dirty="0" smtClean="0">
                <a:solidFill>
                  <a:schemeClr val="tx1"/>
                </a:solidFill>
                <a:effectLst/>
                <a:latin typeface="+mn-lt"/>
                <a:ea typeface="+mn-ea"/>
                <a:cs typeface="+mn-cs"/>
              </a:rPr>
              <a:t>a group of SQL statements that are stored together in a database</a:t>
            </a:r>
            <a:r>
              <a:rPr lang="en-US" sz="1200" b="0" i="0" kern="1200" dirty="0" smtClean="0">
                <a:solidFill>
                  <a:schemeClr val="tx1"/>
                </a:solidFill>
                <a:effectLst/>
                <a:latin typeface="+mn-lt"/>
                <a:ea typeface="+mn-ea"/>
                <a:cs typeface="+mn-cs"/>
              </a:rPr>
              <a:t>. Based on the statements in the procedure and the parameters you pass, it can perform one or multiple DML operations on the database, and return value, if any. SQL procedures are a set of </a:t>
            </a:r>
            <a:r>
              <a:rPr lang="en-US" sz="1200" b="1" i="0" kern="1200" dirty="0" smtClean="0">
                <a:solidFill>
                  <a:schemeClr val="tx1"/>
                </a:solidFill>
                <a:effectLst/>
                <a:latin typeface="+mn-lt"/>
                <a:ea typeface="+mn-ea"/>
                <a:cs typeface="+mn-cs"/>
              </a:rPr>
              <a:t>SQL statements grouped together to form a logical unit of work</a:t>
            </a:r>
            <a:r>
              <a:rPr lang="en-US" sz="1200" b="0" i="0" kern="1200" dirty="0" smtClean="0">
                <a:solidFill>
                  <a:schemeClr val="tx1"/>
                </a:solidFill>
                <a:effectLst/>
                <a:latin typeface="+mn-lt"/>
                <a:ea typeface="+mn-ea"/>
                <a:cs typeface="+mn-cs"/>
              </a:rPr>
              <a:t>. They are similar to functions or methods in programming languages, enabling you to encapsulate complex queries and operations into a single reusable entity.</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85</a:t>
            </a:fld>
            <a:endParaRPr lang="en-US"/>
          </a:p>
        </p:txBody>
      </p:sp>
    </p:spTree>
    <p:extLst>
      <p:ext uri="{BB962C8B-B14F-4D97-AF65-F5344CB8AC3E}">
        <p14:creationId xmlns:p14="http://schemas.microsoft.com/office/powerpoint/2010/main" val="34527092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LIMIT m OFFSET n</a:t>
            </a:r>
          </a:p>
          <a:p>
            <a:r>
              <a:rPr lang="en-US" sz="1200" b="0" i="0" kern="1200" dirty="0" smtClean="0">
                <a:solidFill>
                  <a:schemeClr val="tx1"/>
                </a:solidFill>
                <a:effectLst/>
                <a:latin typeface="+mn-lt"/>
                <a:ea typeface="+mn-ea"/>
                <a:cs typeface="+mn-cs"/>
              </a:rPr>
              <a:t>LIMIT m OFFSET n simply skip the first </a:t>
            </a:r>
            <a:r>
              <a:rPr lang="en-US" sz="1200" b="1" i="0" kern="1200" dirty="0" smtClean="0">
                <a:solidFill>
                  <a:schemeClr val="tx1"/>
                </a:solidFill>
                <a:effectLst/>
                <a:latin typeface="+mn-lt"/>
                <a:ea typeface="+mn-ea"/>
                <a:cs typeface="+mn-cs"/>
              </a:rPr>
              <a:t>n</a:t>
            </a:r>
            <a:r>
              <a:rPr lang="en-US" sz="1200" b="0" i="0" kern="1200" dirty="0" smtClean="0">
                <a:solidFill>
                  <a:schemeClr val="tx1"/>
                </a:solidFill>
                <a:effectLst/>
                <a:latin typeface="+mn-lt"/>
                <a:ea typeface="+mn-ea"/>
                <a:cs typeface="+mn-cs"/>
              </a:rPr>
              <a:t> record and then display the next </a:t>
            </a:r>
            <a:r>
              <a:rPr lang="en-US" sz="1200" b="1" i="0" kern="1200" dirty="0" smtClean="0">
                <a:solidFill>
                  <a:schemeClr val="tx1"/>
                </a:solidFill>
                <a:effectLst/>
                <a:latin typeface="+mn-lt"/>
                <a:ea typeface="+mn-ea"/>
                <a:cs typeface="+mn-cs"/>
              </a:rPr>
              <a:t>m</a:t>
            </a:r>
            <a:r>
              <a:rPr lang="en-US" sz="1200" b="0" i="0" kern="1200" dirty="0" smtClean="0">
                <a:solidFill>
                  <a:schemeClr val="tx1"/>
                </a:solidFill>
                <a:effectLst/>
                <a:latin typeface="+mn-lt"/>
                <a:ea typeface="+mn-ea"/>
                <a:cs typeface="+mn-cs"/>
              </a:rPr>
              <a:t> records.</a:t>
            </a:r>
          </a:p>
          <a:p>
            <a:r>
              <a:rPr lang="en-US" sz="1200" b="0" i="0" kern="1200" dirty="0" smtClean="0">
                <a:solidFill>
                  <a:schemeClr val="tx1"/>
                </a:solidFill>
                <a:effectLst/>
                <a:latin typeface="+mn-lt"/>
                <a:ea typeface="+mn-ea"/>
                <a:cs typeface="+mn-cs"/>
              </a:rPr>
              <a:t>Note: OFFSET can only be used with the ORDER BY clause.</a:t>
            </a:r>
          </a:p>
          <a:p>
            <a:r>
              <a:rPr lang="en-US" sz="1200" b="1" i="0" kern="1200" dirty="0" smtClean="0">
                <a:solidFill>
                  <a:schemeClr val="tx1"/>
                </a:solidFill>
                <a:effectLst/>
                <a:latin typeface="+mn-lt"/>
                <a:ea typeface="+mn-ea"/>
                <a:cs typeface="+mn-cs"/>
              </a:rPr>
              <a:t>Example 4:</a:t>
            </a:r>
            <a:r>
              <a:rPr lang="en-US" sz="1200" b="0" i="0" kern="1200" dirty="0" smtClean="0">
                <a:solidFill>
                  <a:schemeClr val="tx1"/>
                </a:solidFill>
                <a:effectLst/>
                <a:latin typeface="+mn-lt"/>
                <a:ea typeface="+mn-ea"/>
                <a:cs typeface="+mn-cs"/>
              </a:rPr>
              <a:t> We will use the above employee table. We want the record of employee codes 1004, 1005, and 1006.</a:t>
            </a:r>
          </a:p>
          <a:p>
            <a:r>
              <a:rPr lang="en-US" sz="1200" b="1" i="0" kern="1200" dirty="0" smtClean="0">
                <a:solidFill>
                  <a:schemeClr val="tx1"/>
                </a:solidFill>
                <a:effectLst/>
                <a:latin typeface="+mn-lt"/>
                <a:ea typeface="+mn-ea"/>
                <a:cs typeface="+mn-cs"/>
              </a:rPr>
              <a:t>Query</a:t>
            </a:r>
            <a:endParaRPr lang="en-US" sz="1200" b="0" i="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SELECT *</a:t>
            </a:r>
          </a:p>
          <a:p>
            <a:r>
              <a:rPr lang="en-US" sz="1200" kern="1200" dirty="0" smtClean="0">
                <a:solidFill>
                  <a:schemeClr val="tx1"/>
                </a:solidFill>
                <a:effectLst/>
                <a:latin typeface="+mn-lt"/>
                <a:ea typeface="+mn-ea"/>
                <a:cs typeface="+mn-cs"/>
              </a:rPr>
              <a:t>FROM Employee</a:t>
            </a:r>
          </a:p>
          <a:p>
            <a:r>
              <a:rPr lang="en-US" sz="1200" kern="1200" dirty="0" smtClean="0">
                <a:solidFill>
                  <a:schemeClr val="tx1"/>
                </a:solidFill>
                <a:effectLst/>
                <a:latin typeface="+mn-lt"/>
                <a:ea typeface="+mn-ea"/>
                <a:cs typeface="+mn-cs"/>
              </a:rPr>
              <a:t>ORDER BY Employee ID</a:t>
            </a:r>
          </a:p>
          <a:p>
            <a:r>
              <a:rPr lang="en-US" sz="1200" kern="1200" dirty="0" smtClean="0">
                <a:solidFill>
                  <a:schemeClr val="tx1"/>
                </a:solidFill>
                <a:effectLst/>
                <a:latin typeface="+mn-lt"/>
                <a:ea typeface="+mn-ea"/>
                <a:cs typeface="+mn-cs"/>
              </a:rPr>
              <a:t>LIMIT 3 OFFSET 3;</a:t>
            </a:r>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90</a:t>
            </a:fld>
            <a:endParaRPr lang="en-US"/>
          </a:p>
        </p:txBody>
      </p:sp>
    </p:spTree>
    <p:extLst>
      <p:ext uri="{BB962C8B-B14F-4D97-AF65-F5344CB8AC3E}">
        <p14:creationId xmlns:p14="http://schemas.microsoft.com/office/powerpoint/2010/main" val="579532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a:t>
            </a:r>
            <a:r>
              <a:rPr lang="en-US" sz="1200" b="1" i="0" kern="1200" dirty="0" smtClean="0">
                <a:solidFill>
                  <a:schemeClr val="tx1"/>
                </a:solidFill>
                <a:effectLst/>
                <a:latin typeface="+mn-lt"/>
                <a:ea typeface="+mn-ea"/>
                <a:cs typeface="+mn-cs"/>
              </a:rPr>
              <a:t> LIMIT</a:t>
            </a:r>
            <a:r>
              <a:rPr lang="en-US" sz="1200" b="0" i="0" kern="1200" dirty="0" smtClean="0">
                <a:solidFill>
                  <a:schemeClr val="tx1"/>
                </a:solidFill>
                <a:effectLst/>
                <a:latin typeface="+mn-lt"/>
                <a:ea typeface="+mn-ea"/>
                <a:cs typeface="+mn-cs"/>
              </a:rPr>
              <a:t> clause in the SQL is used to restrict the number of records. </a:t>
            </a:r>
          </a:p>
          <a:p>
            <a:r>
              <a:rPr lang="en-US" sz="1200" kern="1200" dirty="0" smtClean="0">
                <a:solidFill>
                  <a:schemeClr val="tx1"/>
                </a:solidFill>
                <a:effectLst/>
                <a:latin typeface="+mn-lt"/>
                <a:ea typeface="+mn-ea"/>
                <a:cs typeface="+mn-cs"/>
              </a:rPr>
              <a:t>SELECT </a:t>
            </a:r>
            <a:r>
              <a:rPr lang="en-US" sz="1200" kern="1200" dirty="0" err="1" smtClean="0">
                <a:solidFill>
                  <a:schemeClr val="tx1"/>
                </a:solidFill>
                <a:effectLst/>
                <a:latin typeface="+mn-lt"/>
                <a:ea typeface="+mn-ea"/>
                <a:cs typeface="+mn-cs"/>
              </a:rPr>
              <a:t>column_name</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FROM </a:t>
            </a:r>
            <a:r>
              <a:rPr lang="en-US" sz="1200" kern="1200" dirty="0" err="1" smtClean="0">
                <a:solidFill>
                  <a:schemeClr val="tx1"/>
                </a:solidFill>
                <a:effectLst/>
                <a:latin typeface="+mn-lt"/>
                <a:ea typeface="+mn-ea"/>
                <a:cs typeface="+mn-cs"/>
              </a:rPr>
              <a:t>table_name</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WHERE conditions</a:t>
            </a:r>
          </a:p>
          <a:p>
            <a:r>
              <a:rPr lang="en-US" sz="1200" kern="1200" dirty="0" smtClean="0">
                <a:solidFill>
                  <a:schemeClr val="tx1"/>
                </a:solidFill>
                <a:effectLst/>
                <a:latin typeface="+mn-lt"/>
                <a:ea typeface="+mn-ea"/>
                <a:cs typeface="+mn-cs"/>
              </a:rPr>
              <a:t>ORDER BY expression [ASC | DESC]</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LIMIT number;</a:t>
            </a:r>
          </a:p>
          <a:p>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91</a:t>
            </a:fld>
            <a:endParaRPr lang="en-US"/>
          </a:p>
        </p:txBody>
      </p:sp>
    </p:spTree>
    <p:extLst>
      <p:ext uri="{BB962C8B-B14F-4D97-AF65-F5344CB8AC3E}">
        <p14:creationId xmlns:p14="http://schemas.microsoft.com/office/powerpoint/2010/main" val="14002784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database that has set of trigger associated</a:t>
            </a:r>
            <a:r>
              <a:rPr lang="en-US" sz="1200" b="0" i="0" kern="1200" baseline="0" dirty="0" smtClean="0">
                <a:solidFill>
                  <a:schemeClr val="tx1"/>
                </a:solidFill>
                <a:effectLst/>
                <a:latin typeface="+mn-lt"/>
                <a:ea typeface="+mn-ea"/>
                <a:cs typeface="+mn-cs"/>
              </a:rPr>
              <a:t> with is called as active database.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Passive database management systems (DBMS) are </a:t>
            </a:r>
            <a:r>
              <a:rPr lang="en-US" sz="1200" b="1" i="0" kern="1200" dirty="0" smtClean="0">
                <a:solidFill>
                  <a:schemeClr val="tx1"/>
                </a:solidFill>
                <a:effectLst/>
                <a:latin typeface="+mn-lt"/>
                <a:ea typeface="+mn-ea"/>
                <a:cs typeface="+mn-cs"/>
              </a:rPr>
              <a:t>program driven </a:t>
            </a:r>
            <a:r>
              <a:rPr lang="en-US" sz="1200" b="0" i="0" kern="1200" dirty="0" smtClean="0">
                <a:solidFill>
                  <a:schemeClr val="tx1"/>
                </a:solidFill>
                <a:effectLst/>
                <a:latin typeface="+mn-lt"/>
                <a:ea typeface="+mn-ea"/>
                <a:cs typeface="+mn-cs"/>
              </a:rPr>
              <a:t>i.e. users query the current state of database and retrieve the information currently available in the database. An active database is one which automatically executes user specified actions when specified condition arise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Active database management systems (ADBMS) are more responsive to data changes than passive database management systems (DBMS). ADBMS can automatically detect and respond to data changes without manual intervention, while passive DBMSs rely on manual checks and controls</a:t>
            </a:r>
            <a:endParaRPr lang="en-US" dirty="0"/>
          </a:p>
        </p:txBody>
      </p:sp>
      <p:sp>
        <p:nvSpPr>
          <p:cNvPr id="4" name="Slide Number Placeholder 3"/>
          <p:cNvSpPr>
            <a:spLocks noGrp="1"/>
          </p:cNvSpPr>
          <p:nvPr>
            <p:ph type="sldNum" sz="quarter" idx="10"/>
          </p:nvPr>
        </p:nvSpPr>
        <p:spPr/>
        <p:txBody>
          <a:bodyPr/>
          <a:lstStyle/>
          <a:p>
            <a:fld id="{19BE2A00-AF1C-45E9-BDCE-7B0A984E51F7}" type="slidenum">
              <a:rPr lang="en-US" smtClean="0"/>
              <a:t>93</a:t>
            </a:fld>
            <a:endParaRPr lang="en-US"/>
          </a:p>
        </p:txBody>
      </p:sp>
    </p:spTree>
    <p:extLst>
      <p:ext uri="{BB962C8B-B14F-4D97-AF65-F5344CB8AC3E}">
        <p14:creationId xmlns:p14="http://schemas.microsoft.com/office/powerpoint/2010/main" val="1698119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881B11-D2A4-4497-BD6A-B682ED4C7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6452D24E-4DB0-42ED-BD28-78E0E886AC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7CCFC941-0EC0-4381-BB81-7AC86A3016BC}"/>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5" name="Footer Placeholder 4">
            <a:extLst>
              <a:ext uri="{FF2B5EF4-FFF2-40B4-BE49-F238E27FC236}">
                <a16:creationId xmlns="" xmlns:a16="http://schemas.microsoft.com/office/drawing/2014/main" id="{8411AF0A-2054-4BBA-B057-5E3EE8AAB1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F60EC2E-4CD2-400C-B2EC-3F76AEAC4368}"/>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286161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3AFE6D-397E-4E66-8FCD-D37497591E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D4781A6-50C9-4393-A8F3-42262D0812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587165D-00FA-4B9D-984C-AAC4BE7CE5DE}"/>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5" name="Footer Placeholder 4">
            <a:extLst>
              <a:ext uri="{FF2B5EF4-FFF2-40B4-BE49-F238E27FC236}">
                <a16:creationId xmlns="" xmlns:a16="http://schemas.microsoft.com/office/drawing/2014/main" id="{CAA9D972-E1D0-4083-A29E-18A3CBF05B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871C29D-EAFD-443E-9F0E-E7310F2E1E9F}"/>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57006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FFF60-F0D6-424A-9E20-462285404B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43BA299-EEF2-44DF-B656-168D918E2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615CC9F2-6EAB-4C4E-93C0-E94BDF1ADE10}"/>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5" name="Footer Placeholder 4">
            <a:extLst>
              <a:ext uri="{FF2B5EF4-FFF2-40B4-BE49-F238E27FC236}">
                <a16:creationId xmlns="" xmlns:a16="http://schemas.microsoft.com/office/drawing/2014/main" id="{E5BC7525-1C55-4911-92C7-E5A69F42F8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07CBE7F-6C3B-45D5-BE3E-F218F3F83923}"/>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3427405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6454A7-2352-4F9A-8F7A-86ED4767F8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B2209CF-787F-4B07-94A6-35EDAB92B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EDD7E576-2656-4161-9BD4-6366303A33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E8EDB8D4-5ED4-4559-BF6F-1587468ACFB6}"/>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6" name="Footer Placeholder 5">
            <a:extLst>
              <a:ext uri="{FF2B5EF4-FFF2-40B4-BE49-F238E27FC236}">
                <a16:creationId xmlns="" xmlns:a16="http://schemas.microsoft.com/office/drawing/2014/main" id="{C21AB03B-CF7D-4CE2-ADE5-15E258D5BD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36EBC62-37D6-4E49-B731-EB65D5A79A26}"/>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2826884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3A61F4-2A2D-4C9B-BB2E-FFE7394F6C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B1AD53A-15A8-470A-9C99-4F1DE8972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D78E9E1-DBF7-4660-906D-79F43597D5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2BBBB1B-69BA-48AE-B2B3-567228E5C5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361A150-8FDE-4F1B-B4ED-EE57FB794C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AA1C9648-8094-4446-831F-5C122BC1291A}"/>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8" name="Footer Placeholder 7">
            <a:extLst>
              <a:ext uri="{FF2B5EF4-FFF2-40B4-BE49-F238E27FC236}">
                <a16:creationId xmlns="" xmlns:a16="http://schemas.microsoft.com/office/drawing/2014/main" id="{36A6C66F-C534-4CFB-8FE4-26FF8E0C98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5022D90B-EE94-4193-BDC3-C9997C1E4607}"/>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4176341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8C8D07-3E71-4EEA-85E0-78654EB6CB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00E50619-07B7-4DEB-9557-73E12B15559B}"/>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4" name="Footer Placeholder 3">
            <a:extLst>
              <a:ext uri="{FF2B5EF4-FFF2-40B4-BE49-F238E27FC236}">
                <a16:creationId xmlns="" xmlns:a16="http://schemas.microsoft.com/office/drawing/2014/main" id="{1C3FEB58-20E1-422B-AEC9-FE35139AD3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49B79B92-CDFB-4279-BD5B-1BF5FAFF431F}"/>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3135576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143C4EE-62B6-47DD-8C5E-EA402918E8D5}"/>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3" name="Footer Placeholder 2">
            <a:extLst>
              <a:ext uri="{FF2B5EF4-FFF2-40B4-BE49-F238E27FC236}">
                <a16:creationId xmlns="" xmlns:a16="http://schemas.microsoft.com/office/drawing/2014/main" id="{304ADED3-234F-474D-A21B-251FD55146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55C83FDA-C190-4800-A615-E67797F35B42}"/>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1657048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311DC9-81BD-40D0-8B67-F9EF6DC901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1C3E7DD-3F11-40C8-A2BE-64B1C97BEA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65333947-1CF0-48B6-8E92-0EDCA53602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774D615-2E49-4C91-BA5C-A74C695133E6}"/>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6" name="Footer Placeholder 5">
            <a:extLst>
              <a:ext uri="{FF2B5EF4-FFF2-40B4-BE49-F238E27FC236}">
                <a16:creationId xmlns="" xmlns:a16="http://schemas.microsoft.com/office/drawing/2014/main" id="{04FA3AC2-6F4A-4783-B4FF-ADC528E58A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04BF758-EE81-479A-B614-1F1B7BB8C2EF}"/>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245547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75488A-E157-444E-B096-4EA0DBF40E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EEE6C0D3-DBDC-4E7F-8904-F14A74E9B3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A8D55BC2-B820-4CFE-9D33-DC45A58414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31775E1-24F2-448D-9438-17B80FAC1FFC}"/>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6" name="Footer Placeholder 5">
            <a:extLst>
              <a:ext uri="{FF2B5EF4-FFF2-40B4-BE49-F238E27FC236}">
                <a16:creationId xmlns="" xmlns:a16="http://schemas.microsoft.com/office/drawing/2014/main" id="{BFF87531-4DBD-4FE2-83A8-9F3E2652F2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07D7471-8484-49D6-AF66-18D1AC902E85}"/>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3184314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B183EA-7B0B-4AAB-8F63-6B71641E83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6B3257E-FADD-4033-B787-DAB715900A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D2C5619-332B-4188-A64B-CD3066C62CA6}"/>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5" name="Footer Placeholder 4">
            <a:extLst>
              <a:ext uri="{FF2B5EF4-FFF2-40B4-BE49-F238E27FC236}">
                <a16:creationId xmlns="" xmlns:a16="http://schemas.microsoft.com/office/drawing/2014/main" id="{F17200D2-4C9E-4BA7-8E7A-5015A4A9E2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E7E5502-F090-4EE0-9FC7-E08E89C272A8}"/>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1811304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305F70B-D609-45A1-B59E-9F32D117D3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FBB8E92-AC4A-4124-B8D5-6ED0E15973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E01A36E-616B-417D-A94D-0922381EBD53}"/>
              </a:ext>
            </a:extLst>
          </p:cNvPr>
          <p:cNvSpPr>
            <a:spLocks noGrp="1"/>
          </p:cNvSpPr>
          <p:nvPr>
            <p:ph type="dt" sz="half" idx="10"/>
          </p:nvPr>
        </p:nvSpPr>
        <p:spPr/>
        <p:txBody>
          <a:bodyPr/>
          <a:lstStyle/>
          <a:p>
            <a:fld id="{54434BC5-8B4E-4B86-8B28-97A083283274}" type="datetimeFigureOut">
              <a:rPr lang="en-IN" smtClean="0"/>
              <a:t>21-08-2025</a:t>
            </a:fld>
            <a:endParaRPr lang="en-IN"/>
          </a:p>
        </p:txBody>
      </p:sp>
      <p:sp>
        <p:nvSpPr>
          <p:cNvPr id="5" name="Footer Placeholder 4">
            <a:extLst>
              <a:ext uri="{FF2B5EF4-FFF2-40B4-BE49-F238E27FC236}">
                <a16:creationId xmlns="" xmlns:a16="http://schemas.microsoft.com/office/drawing/2014/main" id="{85FC09E1-1975-48CC-AB61-7DC0CF2786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BC9F6A2-BCF8-434C-85DE-E02D880D5B00}"/>
              </a:ext>
            </a:extLst>
          </p:cNvPr>
          <p:cNvSpPr>
            <a:spLocks noGrp="1"/>
          </p:cNvSpPr>
          <p:nvPr>
            <p:ph type="sldNum" sz="quarter" idx="12"/>
          </p:nvPr>
        </p:nvSpPr>
        <p:spPr/>
        <p:txBody>
          <a:bodyPr/>
          <a:lstStyle/>
          <a:p>
            <a:fld id="{B0006E94-2456-431B-8A86-61A15AFCBF6D}" type="slidenum">
              <a:rPr lang="en-IN" smtClean="0"/>
              <a:t>‹#›</a:t>
            </a:fld>
            <a:endParaRPr lang="en-IN"/>
          </a:p>
        </p:txBody>
      </p:sp>
    </p:spTree>
    <p:extLst>
      <p:ext uri="{BB962C8B-B14F-4D97-AF65-F5344CB8AC3E}">
        <p14:creationId xmlns:p14="http://schemas.microsoft.com/office/powerpoint/2010/main" val="3079023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F132A378-8F81-4278-AC68-5C826212E5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2DE82B7-516E-4514-8B6A-3F5A346196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2DA1352-4A4C-4FCD-BA85-6861608C2C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434BC5-8B4E-4B86-8B28-97A083283274}" type="datetimeFigureOut">
              <a:rPr lang="en-IN" smtClean="0"/>
              <a:t>21-08-2025</a:t>
            </a:fld>
            <a:endParaRPr lang="en-IN"/>
          </a:p>
        </p:txBody>
      </p:sp>
      <p:sp>
        <p:nvSpPr>
          <p:cNvPr id="5" name="Footer Placeholder 4">
            <a:extLst>
              <a:ext uri="{FF2B5EF4-FFF2-40B4-BE49-F238E27FC236}">
                <a16:creationId xmlns="" xmlns:a16="http://schemas.microsoft.com/office/drawing/2014/main" id="{1933FA60-FB61-462C-B1E4-59850ECE72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CCC7C0CA-D5C0-4776-97CF-E6F5A255D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006E94-2456-431B-8A86-61A15AFCBF6D}" type="slidenum">
              <a:rPr lang="en-IN" smtClean="0"/>
              <a:t>‹#›</a:t>
            </a:fld>
            <a:endParaRPr lang="en-IN"/>
          </a:p>
        </p:txBody>
      </p:sp>
    </p:spTree>
    <p:extLst>
      <p:ext uri="{BB962C8B-B14F-4D97-AF65-F5344CB8AC3E}">
        <p14:creationId xmlns:p14="http://schemas.microsoft.com/office/powerpoint/2010/main" val="1861817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15.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4.wdp"/></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5.wdp"/></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6.wdp"/></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7.wdp"/></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microsoft.com/office/2007/relationships/hdphoto" Target="../media/hdphoto8.wdp"/></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2.png"/><Relationship Id="rId4" Type="http://schemas.microsoft.com/office/2007/relationships/hdphoto" Target="../media/hdphoto9.wdp"/></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10.wdp"/></Relationships>
</file>

<file path=ppt/slides/_rels/slide7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microsoft.com/office/2007/relationships/hdphoto" Target="../media/hdphoto11.wdp"/></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microsoft.com/office/2007/relationships/hdphoto" Target="../media/hdphoto12.wdp"/></Relationships>
</file>

<file path=ppt/slides/_rels/slide9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02B588-EF74-435B-BF0D-421C6E72265A}"/>
              </a:ext>
            </a:extLst>
          </p:cNvPr>
          <p:cNvSpPr>
            <a:spLocks noGrp="1"/>
          </p:cNvSpPr>
          <p:nvPr>
            <p:ph type="ctrTitle"/>
          </p:nvPr>
        </p:nvSpPr>
        <p:spPr>
          <a:xfrm>
            <a:off x="1524000" y="1122363"/>
            <a:ext cx="10016836" cy="2387600"/>
          </a:xfrm>
        </p:spPr>
        <p:txBody>
          <a:bodyPr>
            <a:normAutofit/>
          </a:bodyPr>
          <a:lstStyle/>
          <a:p>
            <a:r>
              <a:rPr lang="en-US" sz="7200" b="1" i="0" u="none" strike="noStrike" baseline="0" dirty="0">
                <a:latin typeface="Times New Roman" panose="02020603050405020304" pitchFamily="18" charset="0"/>
              </a:rPr>
              <a:t>Unit 3 Query Languages</a:t>
            </a:r>
            <a:endParaRPr lang="en-IN" sz="41300" dirty="0"/>
          </a:p>
        </p:txBody>
      </p:sp>
    </p:spTree>
    <p:extLst>
      <p:ext uri="{BB962C8B-B14F-4D97-AF65-F5344CB8AC3E}">
        <p14:creationId xmlns:p14="http://schemas.microsoft.com/office/powerpoint/2010/main" val="418252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2578B9-11B8-9B54-3EF0-555E707FEF50}"/>
              </a:ext>
            </a:extLst>
          </p:cNvPr>
          <p:cNvSpPr>
            <a:spLocks noGrp="1"/>
          </p:cNvSpPr>
          <p:nvPr>
            <p:ph type="title"/>
          </p:nvPr>
        </p:nvSpPr>
        <p:spPr/>
        <p:txBody>
          <a:bodyPr>
            <a:normAutofit/>
          </a:bodyPr>
          <a:lstStyle/>
          <a:p>
            <a:r>
              <a:rPr lang="en-US" sz="4000" b="1" i="0" u="none" strike="noStrike" baseline="0" dirty="0">
                <a:latin typeface="+mn-lt"/>
              </a:rPr>
              <a:t>Query Languages</a:t>
            </a:r>
            <a:endParaRPr lang="en-US" sz="4000" dirty="0">
              <a:latin typeface="+mn-lt"/>
            </a:endParaRPr>
          </a:p>
        </p:txBody>
      </p:sp>
      <p:sp>
        <p:nvSpPr>
          <p:cNvPr id="3" name="Content Placeholder 2">
            <a:extLst>
              <a:ext uri="{FF2B5EF4-FFF2-40B4-BE49-F238E27FC236}">
                <a16:creationId xmlns="" xmlns:a16="http://schemas.microsoft.com/office/drawing/2014/main" id="{A42F0D4D-B58C-9F71-2D15-FF8B09BA86CE}"/>
              </a:ext>
            </a:extLst>
          </p:cNvPr>
          <p:cNvSpPr>
            <a:spLocks noGrp="1"/>
          </p:cNvSpPr>
          <p:nvPr>
            <p:ph idx="1"/>
          </p:nvPr>
        </p:nvSpPr>
        <p:spPr>
          <a:xfrm>
            <a:off x="540327" y="1357745"/>
            <a:ext cx="11055927" cy="5135130"/>
          </a:xfrm>
        </p:spPr>
        <p:txBody>
          <a:bodyPr>
            <a:normAutofit/>
          </a:bodyPr>
          <a:lstStyle/>
          <a:p>
            <a:pPr algn="just"/>
            <a:r>
              <a:rPr lang="en-US" sz="3200" b="0" i="0" u="none" strike="noStrike" baseline="0" dirty="0"/>
              <a:t>Relational Algebra</a:t>
            </a:r>
          </a:p>
          <a:p>
            <a:pPr algn="just"/>
            <a:r>
              <a:rPr lang="en-US" sz="3200" b="0" i="0" u="none" strike="noStrike" baseline="0" dirty="0"/>
              <a:t>SQL: DDL, DML, Select Queries, Set, String, Date and Numerical Functions, Aggregate Functions ,Group by and Having Clause</a:t>
            </a:r>
          </a:p>
          <a:p>
            <a:pPr algn="just"/>
            <a:r>
              <a:rPr lang="en-US" sz="3200" b="0" i="0" u="none" strike="noStrike" baseline="0" dirty="0"/>
              <a:t> Join Queries, Nested queries </a:t>
            </a:r>
          </a:p>
          <a:p>
            <a:pPr algn="just"/>
            <a:r>
              <a:rPr lang="en-US" sz="3200" b="0" i="0" u="none" strike="noStrike" baseline="0" dirty="0"/>
              <a:t>DCL, TCL </a:t>
            </a:r>
          </a:p>
          <a:p>
            <a:pPr algn="just"/>
            <a:r>
              <a:rPr lang="en-US" sz="3200" b="0" i="0" u="none" strike="noStrike" baseline="0" dirty="0"/>
              <a:t>PL/SQL: Procedure, Function, Trigger </a:t>
            </a:r>
          </a:p>
          <a:p>
            <a:pPr algn="just"/>
            <a:r>
              <a:rPr lang="en-US" sz="3200" b="0" i="0" u="none" strike="noStrike" baseline="0" dirty="0"/>
              <a:t>Mapping of Relational Algebra to SQL</a:t>
            </a:r>
            <a:endParaRPr lang="en-US" sz="3200" dirty="0"/>
          </a:p>
        </p:txBody>
      </p:sp>
    </p:spTree>
    <p:extLst>
      <p:ext uri="{BB962C8B-B14F-4D97-AF65-F5344CB8AC3E}">
        <p14:creationId xmlns:p14="http://schemas.microsoft.com/office/powerpoint/2010/main" val="2323487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B5C54E-E59A-7566-9054-E52EB73ED699}"/>
              </a:ext>
            </a:extLst>
          </p:cNvPr>
          <p:cNvSpPr>
            <a:spLocks noGrp="1"/>
          </p:cNvSpPr>
          <p:nvPr>
            <p:ph type="title"/>
          </p:nvPr>
        </p:nvSpPr>
        <p:spPr/>
        <p:txBody>
          <a:bodyPr/>
          <a:lstStyle/>
          <a:p>
            <a:r>
              <a:rPr lang="en-US" sz="4000" b="1" i="0" u="none" strike="noStrike" baseline="0" dirty="0">
                <a:latin typeface="+mn-lt"/>
              </a:rPr>
              <a:t>Relational Algebra</a:t>
            </a:r>
            <a:r>
              <a:rPr lang="en-US" sz="4400" b="0" i="0" u="none" strike="noStrike" baseline="0" dirty="0"/>
              <a:t/>
            </a:r>
            <a:br>
              <a:rPr lang="en-US" sz="4400" b="0" i="0" u="none" strike="noStrike" baseline="0" dirty="0"/>
            </a:br>
            <a:endParaRPr lang="en-US" dirty="0"/>
          </a:p>
        </p:txBody>
      </p:sp>
      <p:sp>
        <p:nvSpPr>
          <p:cNvPr id="3" name="Content Placeholder 2">
            <a:extLst>
              <a:ext uri="{FF2B5EF4-FFF2-40B4-BE49-F238E27FC236}">
                <a16:creationId xmlns="" xmlns:a16="http://schemas.microsoft.com/office/drawing/2014/main" id="{96491F3F-7CBF-3399-C39B-0AEBE31918DE}"/>
              </a:ext>
            </a:extLst>
          </p:cNvPr>
          <p:cNvSpPr>
            <a:spLocks noGrp="1"/>
          </p:cNvSpPr>
          <p:nvPr>
            <p:ph idx="1"/>
          </p:nvPr>
        </p:nvSpPr>
        <p:spPr>
          <a:xfrm>
            <a:off x="193965" y="1191491"/>
            <a:ext cx="11817926" cy="5301383"/>
          </a:xfrm>
        </p:spPr>
        <p:txBody>
          <a:bodyPr>
            <a:normAutofit fontScale="92500" lnSpcReduction="10000"/>
          </a:bodyPr>
          <a:lstStyle/>
          <a:p>
            <a:pPr algn="just">
              <a:buFont typeface="Arial" panose="020B0604020202020204" pitchFamily="34" charset="0"/>
              <a:buChar char="•"/>
            </a:pPr>
            <a:r>
              <a:rPr lang="en-US" i="0" dirty="0">
                <a:effectLst/>
              </a:rPr>
              <a:t>The relational algebra </a:t>
            </a:r>
            <a:r>
              <a:rPr lang="en-US" b="1" i="0" dirty="0">
                <a:solidFill>
                  <a:srgbClr val="000099"/>
                </a:solidFill>
                <a:effectLst/>
              </a:rPr>
              <a:t>provides basic operations which can be performed over single or multiple relations in order to generate new relations</a:t>
            </a:r>
            <a:r>
              <a:rPr lang="en-US" i="0" dirty="0">
                <a:effectLst/>
              </a:rPr>
              <a:t>(single or multiple). </a:t>
            </a:r>
          </a:p>
          <a:p>
            <a:pPr algn="just">
              <a:buFont typeface="Arial" panose="020B0604020202020204" pitchFamily="34" charset="0"/>
              <a:buChar char="•"/>
            </a:pPr>
            <a:r>
              <a:rPr lang="en-US" i="0" dirty="0">
                <a:solidFill>
                  <a:srgbClr val="FF0000"/>
                </a:solidFill>
                <a:effectLst/>
              </a:rPr>
              <a:t>Relational algebra </a:t>
            </a:r>
            <a:r>
              <a:rPr lang="en-US" b="1" i="0" dirty="0">
                <a:solidFill>
                  <a:srgbClr val="FF0000"/>
                </a:solidFill>
                <a:effectLst/>
              </a:rPr>
              <a:t>is a procedural query language which follows a particular syntax with the help of which, data can be accessed and retrieved </a:t>
            </a:r>
            <a:r>
              <a:rPr lang="en-US" i="0" dirty="0">
                <a:effectLst/>
              </a:rPr>
              <a:t>very easily from single as well as multiple table/data sources</a:t>
            </a:r>
            <a:r>
              <a:rPr lang="en-US" i="0" dirty="0" smtClean="0">
                <a:effectLst/>
              </a:rPr>
              <a:t>.</a:t>
            </a:r>
          </a:p>
          <a:p>
            <a:pPr algn="just"/>
            <a:r>
              <a:rPr lang="en-US" dirty="0"/>
              <a:t>Relational algebra refers to a procedural query language that takes relation instances as input and returns relation instances as output.</a:t>
            </a:r>
            <a:endParaRPr lang="en-US" i="0" dirty="0">
              <a:effectLst/>
            </a:endParaRPr>
          </a:p>
          <a:p>
            <a:pPr algn="just">
              <a:buFont typeface="Arial" panose="020B0604020202020204" pitchFamily="34" charset="0"/>
              <a:buChar char="•"/>
            </a:pPr>
            <a:r>
              <a:rPr lang="en-US" b="1" i="0" dirty="0">
                <a:solidFill>
                  <a:srgbClr val="000099"/>
                </a:solidFill>
                <a:effectLst/>
              </a:rPr>
              <a:t>Certain operators are used to perform queries </a:t>
            </a:r>
            <a:r>
              <a:rPr lang="en-US" i="0" dirty="0">
                <a:effectLst/>
              </a:rPr>
              <a:t>and retrieve desired results.</a:t>
            </a:r>
          </a:p>
          <a:p>
            <a:pPr algn="just">
              <a:buFont typeface="Arial" panose="020B0604020202020204" pitchFamily="34" charset="0"/>
              <a:buChar char="•"/>
            </a:pPr>
            <a:r>
              <a:rPr lang="en-US" i="0" dirty="0">
                <a:effectLst/>
              </a:rPr>
              <a:t>These operators can perform certain operations </a:t>
            </a:r>
            <a:r>
              <a:rPr lang="en-US" b="1" i="0" dirty="0">
                <a:solidFill>
                  <a:srgbClr val="C00000"/>
                </a:solidFill>
                <a:effectLst/>
              </a:rPr>
              <a:t>on single attribute(called unary operator) or multiple attribute(called binary operator).</a:t>
            </a:r>
          </a:p>
          <a:p>
            <a:r>
              <a:rPr lang="en-US" dirty="0"/>
              <a:t>Types of operations in relational algebra</a:t>
            </a:r>
          </a:p>
          <a:p>
            <a:r>
              <a:rPr lang="en-US" b="1" dirty="0">
                <a:solidFill>
                  <a:srgbClr val="C00000"/>
                </a:solidFill>
              </a:rPr>
              <a:t>1. Basic Operations</a:t>
            </a:r>
          </a:p>
          <a:p>
            <a:r>
              <a:rPr lang="en-US" b="1" dirty="0">
                <a:solidFill>
                  <a:srgbClr val="C00000"/>
                </a:solidFill>
              </a:rPr>
              <a:t>2. Derived Operations</a:t>
            </a:r>
          </a:p>
        </p:txBody>
      </p:sp>
    </p:spTree>
    <p:extLst>
      <p:ext uri="{BB962C8B-B14F-4D97-AF65-F5344CB8AC3E}">
        <p14:creationId xmlns:p14="http://schemas.microsoft.com/office/powerpoint/2010/main" val="1754752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B5C54E-E59A-7566-9054-E52EB73ED699}"/>
              </a:ext>
            </a:extLst>
          </p:cNvPr>
          <p:cNvSpPr>
            <a:spLocks noGrp="1"/>
          </p:cNvSpPr>
          <p:nvPr>
            <p:ph type="title"/>
          </p:nvPr>
        </p:nvSpPr>
        <p:spPr/>
        <p:txBody>
          <a:bodyPr/>
          <a:lstStyle/>
          <a:p>
            <a:r>
              <a:rPr lang="en-US" sz="4000" b="1" i="0" u="none" strike="noStrike" baseline="0" dirty="0">
                <a:latin typeface="+mn-lt"/>
              </a:rPr>
              <a:t>Relational Algebra</a:t>
            </a:r>
            <a:r>
              <a:rPr lang="en-US" sz="4400" b="0" i="0" u="none" strike="noStrike" baseline="0" dirty="0"/>
              <a:t/>
            </a:r>
            <a:br>
              <a:rPr lang="en-US" sz="4400" b="0" i="0" u="none" strike="noStrike" baseline="0" dirty="0"/>
            </a:br>
            <a:endParaRPr lang="en-US" dirty="0"/>
          </a:p>
        </p:txBody>
      </p:sp>
      <p:sp>
        <p:nvSpPr>
          <p:cNvPr id="3" name="Content Placeholder 2">
            <a:extLst>
              <a:ext uri="{FF2B5EF4-FFF2-40B4-BE49-F238E27FC236}">
                <a16:creationId xmlns="" xmlns:a16="http://schemas.microsoft.com/office/drawing/2014/main" id="{96491F3F-7CBF-3399-C39B-0AEBE31918DE}"/>
              </a:ext>
            </a:extLst>
          </p:cNvPr>
          <p:cNvSpPr>
            <a:spLocks noGrp="1"/>
          </p:cNvSpPr>
          <p:nvPr>
            <p:ph idx="1"/>
          </p:nvPr>
        </p:nvSpPr>
        <p:spPr>
          <a:xfrm>
            <a:off x="193965" y="1191491"/>
            <a:ext cx="11817926" cy="5301383"/>
          </a:xfrm>
        </p:spPr>
        <p:txBody>
          <a:bodyPr>
            <a:normAutofit/>
          </a:bodyPr>
          <a:lstStyle/>
          <a:p>
            <a:pPr algn="just">
              <a:buFont typeface="Arial" panose="020B0604020202020204" pitchFamily="34" charset="0"/>
              <a:buChar char="•"/>
            </a:pPr>
            <a:r>
              <a:rPr lang="en-US" sz="3000" b="1" i="0" dirty="0">
                <a:effectLst/>
              </a:rPr>
              <a:t>Basic/Fundamental Operations:</a:t>
            </a:r>
            <a:endParaRPr lang="en-US" b="1" i="0" dirty="0">
              <a:effectLst/>
            </a:endParaRPr>
          </a:p>
          <a:p>
            <a:pPr algn="just">
              <a:buFont typeface="Arial" panose="020B0604020202020204" pitchFamily="34" charset="0"/>
              <a:buChar char="•"/>
            </a:pPr>
            <a:r>
              <a:rPr lang="en-US" i="0" dirty="0">
                <a:effectLst/>
              </a:rPr>
              <a:t>1. Select (</a:t>
            </a:r>
            <a:r>
              <a:rPr lang="el-GR" i="0" dirty="0">
                <a:effectLst/>
              </a:rPr>
              <a:t>σ)</a:t>
            </a:r>
          </a:p>
          <a:p>
            <a:pPr algn="just">
              <a:buFont typeface="Arial" panose="020B0604020202020204" pitchFamily="34" charset="0"/>
              <a:buChar char="•"/>
            </a:pPr>
            <a:r>
              <a:rPr lang="el-GR" i="0" dirty="0">
                <a:effectLst/>
              </a:rPr>
              <a:t>2. </a:t>
            </a:r>
            <a:r>
              <a:rPr lang="en-US" i="0" dirty="0">
                <a:effectLst/>
              </a:rPr>
              <a:t>Project (∏)</a:t>
            </a:r>
          </a:p>
          <a:p>
            <a:pPr algn="just">
              <a:buFont typeface="Arial" panose="020B0604020202020204" pitchFamily="34" charset="0"/>
              <a:buChar char="•"/>
            </a:pPr>
            <a:r>
              <a:rPr lang="en-US" i="0" dirty="0">
                <a:effectLst/>
              </a:rPr>
              <a:t>3. Union (∪)</a:t>
            </a:r>
          </a:p>
          <a:p>
            <a:pPr algn="just">
              <a:buFont typeface="Arial" panose="020B0604020202020204" pitchFamily="34" charset="0"/>
              <a:buChar char="•"/>
            </a:pPr>
            <a:r>
              <a:rPr lang="en-US" i="0" dirty="0">
                <a:effectLst/>
              </a:rPr>
              <a:t>4. Set Difference (-)</a:t>
            </a:r>
          </a:p>
          <a:p>
            <a:pPr algn="just">
              <a:buFont typeface="Arial" panose="020B0604020202020204" pitchFamily="34" charset="0"/>
              <a:buChar char="•"/>
            </a:pPr>
            <a:r>
              <a:rPr lang="en-US" i="0" dirty="0">
                <a:effectLst/>
              </a:rPr>
              <a:t>5. Cartesian product (X)</a:t>
            </a:r>
          </a:p>
          <a:p>
            <a:pPr algn="just">
              <a:buFont typeface="Arial" panose="020B0604020202020204" pitchFamily="34" charset="0"/>
              <a:buChar char="•"/>
            </a:pPr>
            <a:r>
              <a:rPr lang="en-US" i="0" dirty="0">
                <a:effectLst/>
              </a:rPr>
              <a:t>6. Rename (</a:t>
            </a:r>
            <a:r>
              <a:rPr lang="el-GR" i="0" dirty="0">
                <a:effectLst/>
              </a:rPr>
              <a:t>ρ)</a:t>
            </a:r>
          </a:p>
          <a:p>
            <a:pPr algn="just">
              <a:buFont typeface="Arial" panose="020B0604020202020204" pitchFamily="34" charset="0"/>
              <a:buChar char="•"/>
            </a:pPr>
            <a:r>
              <a:rPr lang="en-US" sz="3000" b="1" i="0" dirty="0">
                <a:effectLst/>
              </a:rPr>
              <a:t>Derived Operations:</a:t>
            </a:r>
          </a:p>
          <a:p>
            <a:pPr algn="just">
              <a:buFont typeface="Arial" panose="020B0604020202020204" pitchFamily="34" charset="0"/>
              <a:buChar char="•"/>
            </a:pPr>
            <a:r>
              <a:rPr lang="en-US" i="0" dirty="0">
                <a:effectLst/>
              </a:rPr>
              <a:t>1. Natural Join (⋈)</a:t>
            </a:r>
          </a:p>
          <a:p>
            <a:pPr algn="just">
              <a:buFont typeface="Arial" panose="020B0604020202020204" pitchFamily="34" charset="0"/>
              <a:buChar char="•"/>
            </a:pPr>
            <a:r>
              <a:rPr lang="en-US" i="0" dirty="0">
                <a:effectLst/>
              </a:rPr>
              <a:t>2. Left, Right, Full outer join (⟕, ⟖, ⟗)</a:t>
            </a:r>
          </a:p>
          <a:p>
            <a:pPr marL="0" indent="0" algn="just">
              <a:buNone/>
            </a:pPr>
            <a:endParaRPr lang="en-US" dirty="0"/>
          </a:p>
        </p:txBody>
      </p:sp>
    </p:spTree>
    <p:extLst>
      <p:ext uri="{BB962C8B-B14F-4D97-AF65-F5344CB8AC3E}">
        <p14:creationId xmlns:p14="http://schemas.microsoft.com/office/powerpoint/2010/main" val="34229059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536" y="630194"/>
            <a:ext cx="7846587" cy="6024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51924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normAutofit fontScale="92500"/>
          </a:bodyPr>
          <a:lstStyle/>
          <a:p>
            <a:pPr algn="just"/>
            <a:r>
              <a:rPr lang="en-US" b="1" i="0" u="sng" dirty="0">
                <a:effectLst/>
              </a:rPr>
              <a:t>Project(∏): </a:t>
            </a:r>
            <a:r>
              <a:rPr lang="en-US" i="0" dirty="0">
                <a:effectLst/>
              </a:rPr>
              <a:t>This operation is also used to fetch all the rows/tuples/data according to the </a:t>
            </a:r>
            <a:r>
              <a:rPr lang="en-US" b="1" i="0" dirty="0">
                <a:solidFill>
                  <a:srgbClr val="000099"/>
                </a:solidFill>
                <a:effectLst/>
              </a:rPr>
              <a:t>requested attribute/Column</a:t>
            </a:r>
            <a:r>
              <a:rPr lang="en-US" i="0" dirty="0">
                <a:effectLst/>
              </a:rPr>
              <a:t>. It means, </a:t>
            </a:r>
            <a:r>
              <a:rPr lang="en-US" b="1" i="0" dirty="0">
                <a:solidFill>
                  <a:srgbClr val="000099"/>
                </a:solidFill>
                <a:effectLst/>
              </a:rPr>
              <a:t>using project operation one can simply fetch all the tuples corresponding to a single attribute or multiple attributes. </a:t>
            </a:r>
            <a:r>
              <a:rPr lang="en-US" b="1" i="0" dirty="0">
                <a:solidFill>
                  <a:srgbClr val="FF0000"/>
                </a:solidFill>
                <a:effectLst/>
              </a:rPr>
              <a:t>It does not supports any conditions </a:t>
            </a:r>
            <a:r>
              <a:rPr lang="en-US" i="0" dirty="0">
                <a:effectLst/>
              </a:rPr>
              <a:t>as select operation and </a:t>
            </a:r>
            <a:r>
              <a:rPr lang="en-US" b="1" i="0" dirty="0">
                <a:solidFill>
                  <a:srgbClr val="000099"/>
                </a:solidFill>
                <a:effectLst/>
              </a:rPr>
              <a:t>is denoted using “Pie(π)”.</a:t>
            </a:r>
          </a:p>
          <a:p>
            <a:pPr algn="just"/>
            <a:r>
              <a:rPr lang="en-US" b="1" i="0" dirty="0">
                <a:solidFill>
                  <a:srgbClr val="C00000"/>
                </a:solidFill>
                <a:effectLst/>
              </a:rPr>
              <a:t>Syntax </a:t>
            </a:r>
            <a:r>
              <a:rPr lang="en-US" b="1" dirty="0">
                <a:solidFill>
                  <a:srgbClr val="C00000"/>
                </a:solidFill>
              </a:rPr>
              <a:t>:∏column_name1,column_name2,..,column_nameN(</a:t>
            </a:r>
            <a:r>
              <a:rPr lang="en-US" b="1" dirty="0" err="1">
                <a:solidFill>
                  <a:srgbClr val="C00000"/>
                </a:solidFill>
              </a:rPr>
              <a:t>table_name</a:t>
            </a:r>
            <a:r>
              <a:rPr lang="en-US" b="1" dirty="0">
                <a:solidFill>
                  <a:srgbClr val="C00000"/>
                </a:solidFill>
              </a:rPr>
              <a:t>)</a:t>
            </a:r>
          </a:p>
          <a:p>
            <a:pPr algn="just"/>
            <a:r>
              <a:rPr lang="en-US" b="1" u="sng" dirty="0">
                <a:solidFill>
                  <a:srgbClr val="000099"/>
                </a:solidFill>
              </a:rPr>
              <a:t>Project operator in relational algebra is similar to the Select statement in SQL.</a:t>
            </a:r>
          </a:p>
          <a:p>
            <a:pPr algn="just"/>
            <a:r>
              <a:rPr lang="en-US" dirty="0"/>
              <a:t>For example : Consider the table of relation R(Roll No, Name, Age, Marks). </a:t>
            </a:r>
            <a:r>
              <a:rPr lang="en-US" b="1" dirty="0">
                <a:solidFill>
                  <a:srgbClr val="000099"/>
                </a:solidFill>
              </a:rPr>
              <a:t>If we want to project the marks column,</a:t>
            </a:r>
            <a:r>
              <a:rPr lang="en-US" dirty="0"/>
              <a:t> then it can be done by :</a:t>
            </a:r>
          </a:p>
          <a:p>
            <a:pPr algn="just"/>
            <a:r>
              <a:rPr lang="en-US" dirty="0"/>
              <a:t>Query Used : </a:t>
            </a:r>
            <a:r>
              <a:rPr lang="en-US" b="1" dirty="0">
                <a:solidFill>
                  <a:srgbClr val="000099"/>
                </a:solidFill>
              </a:rPr>
              <a:t>πMarks(</a:t>
            </a:r>
            <a:r>
              <a:rPr lang="en-US" b="1" dirty="0" err="1">
                <a:solidFill>
                  <a:srgbClr val="000099"/>
                </a:solidFill>
              </a:rPr>
              <a:t>Student_Details</a:t>
            </a:r>
            <a:r>
              <a:rPr lang="en-US" b="1" dirty="0">
                <a:solidFill>
                  <a:srgbClr val="000099"/>
                </a:solidFill>
              </a:rPr>
              <a:t>)</a:t>
            </a:r>
          </a:p>
          <a:p>
            <a:pPr algn="just"/>
            <a:endParaRPr lang="en-US" dirty="0"/>
          </a:p>
          <a:p>
            <a:pPr algn="just"/>
            <a:endParaRPr lang="en-US" b="1" u="sng" dirty="0">
              <a:solidFill>
                <a:srgbClr val="000099"/>
              </a:solidFill>
            </a:endParaRPr>
          </a:p>
        </p:txBody>
      </p:sp>
      <p:pic>
        <p:nvPicPr>
          <p:cNvPr id="2050" name="Picture 2" descr="Relational Algebra : Project Operation">
            <a:extLst>
              <a:ext uri="{FF2B5EF4-FFF2-40B4-BE49-F238E27FC236}">
                <a16:creationId xmlns="" xmlns:a16="http://schemas.microsoft.com/office/drawing/2014/main" id="{9C65764E-576F-1CF6-54B3-BCFF98ADD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995" y="5261879"/>
            <a:ext cx="6353175" cy="133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1028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lstStyle/>
          <a:p>
            <a:pPr algn="just"/>
            <a:r>
              <a:rPr lang="en-US" b="1" i="0" u="sng" dirty="0">
                <a:effectLst/>
              </a:rPr>
              <a:t>Select (</a:t>
            </a:r>
            <a:r>
              <a:rPr lang="el-GR" b="1" i="0" u="sng" dirty="0">
                <a:effectLst/>
              </a:rPr>
              <a:t>σ)</a:t>
            </a:r>
            <a:r>
              <a:rPr lang="en-US" b="1" i="0" u="sng" dirty="0">
                <a:effectLst/>
              </a:rPr>
              <a:t>:</a:t>
            </a:r>
            <a:r>
              <a:rPr lang="en-US" b="0" i="0" dirty="0">
                <a:effectLst/>
              </a:rPr>
              <a:t> </a:t>
            </a:r>
            <a:r>
              <a:rPr lang="en-US" b="1" i="0" dirty="0">
                <a:solidFill>
                  <a:srgbClr val="000099"/>
                </a:solidFill>
                <a:effectLst/>
              </a:rPr>
              <a:t>This operation is used to fetch rows from given table or relation on the basis of given conditions, it is denoted by “Sigma(σ)”.</a:t>
            </a:r>
          </a:p>
          <a:p>
            <a:pPr algn="just"/>
            <a:r>
              <a:rPr lang="en-US" b="1" i="0" dirty="0">
                <a:solidFill>
                  <a:srgbClr val="C00000"/>
                </a:solidFill>
                <a:effectLst/>
              </a:rPr>
              <a:t>Syntax </a:t>
            </a:r>
            <a:r>
              <a:rPr lang="en-US" b="1" dirty="0">
                <a:solidFill>
                  <a:srgbClr val="C00000"/>
                </a:solidFill>
              </a:rPr>
              <a:t>:   </a:t>
            </a:r>
            <a:r>
              <a:rPr lang="el-GR" b="1" dirty="0">
                <a:solidFill>
                  <a:srgbClr val="C00000"/>
                </a:solidFill>
              </a:rPr>
              <a:t>σ </a:t>
            </a:r>
            <a:r>
              <a:rPr lang="en-US" b="1" dirty="0">
                <a:solidFill>
                  <a:srgbClr val="C00000"/>
                </a:solidFill>
              </a:rPr>
              <a:t>Condition/Predicate(Relation/Table name)</a:t>
            </a:r>
          </a:p>
          <a:p>
            <a:pPr algn="just"/>
            <a:r>
              <a:rPr lang="en-US" b="1" u="sng" dirty="0">
                <a:solidFill>
                  <a:srgbClr val="000099"/>
                </a:solidFill>
              </a:rPr>
              <a:t>where clause in SQL, is used for the same purpose.</a:t>
            </a:r>
          </a:p>
          <a:p>
            <a:pPr algn="just"/>
            <a:r>
              <a:rPr lang="en-US" dirty="0"/>
              <a:t>For example : Consider the table of relation R(Roll No, Name, Age, Marks). </a:t>
            </a:r>
            <a:r>
              <a:rPr lang="en-US" b="1" dirty="0"/>
              <a:t>If we want to select the name and age of student</a:t>
            </a:r>
            <a:r>
              <a:rPr lang="en-US" dirty="0"/>
              <a:t>, then it can be done by:</a:t>
            </a:r>
          </a:p>
          <a:p>
            <a:pPr algn="just"/>
            <a:r>
              <a:rPr lang="en-US" dirty="0"/>
              <a:t>Query Used : </a:t>
            </a:r>
            <a:r>
              <a:rPr lang="en-US" b="1" dirty="0">
                <a:solidFill>
                  <a:srgbClr val="000099"/>
                </a:solidFill>
              </a:rPr>
              <a:t>σ </a:t>
            </a:r>
            <a:r>
              <a:rPr lang="en-US" b="1" dirty="0" smtClean="0">
                <a:solidFill>
                  <a:srgbClr val="000099"/>
                </a:solidFill>
              </a:rPr>
              <a:t>Age&gt;21 </a:t>
            </a:r>
            <a:r>
              <a:rPr lang="en-US" b="1" dirty="0">
                <a:solidFill>
                  <a:srgbClr val="000099"/>
                </a:solidFill>
              </a:rPr>
              <a:t>(</a:t>
            </a:r>
            <a:r>
              <a:rPr lang="en-US" b="1" dirty="0" err="1">
                <a:solidFill>
                  <a:srgbClr val="000099"/>
                </a:solidFill>
              </a:rPr>
              <a:t>Student_Details</a:t>
            </a:r>
            <a:r>
              <a:rPr lang="en-US" b="1" dirty="0">
                <a:solidFill>
                  <a:srgbClr val="000099"/>
                </a:solidFill>
              </a:rPr>
              <a:t>)</a:t>
            </a:r>
          </a:p>
          <a:p>
            <a:endParaRPr lang="en-US" dirty="0"/>
          </a:p>
        </p:txBody>
      </p:sp>
      <p:pic>
        <p:nvPicPr>
          <p:cNvPr id="1027" name="Picture 3" descr="Relational Algebra : Select Operation">
            <a:extLst>
              <a:ext uri="{FF2B5EF4-FFF2-40B4-BE49-F238E27FC236}">
                <a16:creationId xmlns="" xmlns:a16="http://schemas.microsoft.com/office/drawing/2014/main" id="{8963FC23-F39B-C98A-7205-51A6C864E7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315" y="4599891"/>
            <a:ext cx="10102993" cy="1676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8271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 </a:t>
            </a:r>
            <a:r>
              <a:rPr lang="en-US" dirty="0" err="1"/>
              <a:t>and</a:t>
            </a:r>
            <a:r>
              <a:rPr lang="en-US" dirty="0"/>
              <a:t> OR Conjunctive Operators</a:t>
            </a:r>
          </a:p>
        </p:txBody>
      </p:sp>
      <p:sp>
        <p:nvSpPr>
          <p:cNvPr id="3" name="Content Placeholder 2"/>
          <p:cNvSpPr>
            <a:spLocks noGrp="1"/>
          </p:cNvSpPr>
          <p:nvPr>
            <p:ph idx="1"/>
          </p:nvPr>
        </p:nvSpPr>
        <p:spPr>
          <a:xfrm>
            <a:off x="786684" y="1465016"/>
            <a:ext cx="11280819" cy="5077452"/>
          </a:xfrm>
        </p:spPr>
        <p:txBody>
          <a:bodyPr/>
          <a:lstStyle/>
          <a:p>
            <a:r>
              <a:rPr lang="en-US" sz="2400" dirty="0"/>
              <a:t>The SQL </a:t>
            </a:r>
            <a:r>
              <a:rPr lang="en-US" sz="2400" b="1" dirty="0"/>
              <a:t>AND</a:t>
            </a:r>
            <a:r>
              <a:rPr lang="en-US" sz="2400" dirty="0"/>
              <a:t> &amp; </a:t>
            </a:r>
            <a:r>
              <a:rPr lang="en-US" sz="2400" b="1" dirty="0"/>
              <a:t>OR</a:t>
            </a:r>
            <a:r>
              <a:rPr lang="en-US" sz="2400" dirty="0"/>
              <a:t> operators are used to combine multiple conditions to narrow data in an SQL statement. These two operators are called as the conjunctive operators.</a:t>
            </a:r>
          </a:p>
          <a:p>
            <a:r>
              <a:rPr lang="en-US" sz="2400" dirty="0"/>
              <a:t>These operators provide a means to make multiple comparisons with different operators in the same SQL statement.</a:t>
            </a:r>
          </a:p>
          <a:p>
            <a:r>
              <a:rPr lang="en-US" dirty="0" smtClean="0"/>
              <a:t>                                   	     </a:t>
            </a:r>
            <a:r>
              <a:rPr lang="en-US" sz="2400" dirty="0" smtClean="0">
                <a:solidFill>
                  <a:srgbClr val="FF0000"/>
                </a:solidFill>
              </a:rPr>
              <a:t>Q: Find Names of all CUSTOMERs , </a:t>
            </a:r>
            <a:r>
              <a:rPr lang="en-US" sz="2400" dirty="0">
                <a:solidFill>
                  <a:srgbClr val="FF0000"/>
                </a:solidFill>
              </a:rPr>
              <a:t>where the salary is </a:t>
            </a:r>
            <a:r>
              <a:rPr lang="en-US" sz="2400" dirty="0" smtClean="0">
                <a:solidFill>
                  <a:srgbClr val="FF0000"/>
                </a:solidFill>
              </a:rPr>
              <a:t>                              					greater </a:t>
            </a:r>
            <a:r>
              <a:rPr lang="en-US" sz="2400" dirty="0">
                <a:solidFill>
                  <a:srgbClr val="FF0000"/>
                </a:solidFill>
              </a:rPr>
              <a:t>than 2000 and the age is less than 25 years </a:t>
            </a:r>
            <a:r>
              <a:rPr lang="en-US" dirty="0" smtClean="0">
                <a:solidFill>
                  <a:srgbClr val="FF0000"/>
                </a:solidFill>
              </a:rPr>
              <a:t>.</a:t>
            </a:r>
          </a:p>
          <a:p>
            <a:r>
              <a:rPr lang="en-US" b="1" dirty="0">
                <a:solidFill>
                  <a:srgbClr val="000099"/>
                </a:solidFill>
              </a:rPr>
              <a:t> </a:t>
            </a:r>
            <a:r>
              <a:rPr lang="en-US" b="1" dirty="0" smtClean="0">
                <a:solidFill>
                  <a:srgbClr val="000099"/>
                </a:solidFill>
              </a:rPr>
              <a:t>                                               </a:t>
            </a:r>
            <a:r>
              <a:rPr lang="el-GR" b="1" dirty="0" smtClean="0">
                <a:solidFill>
                  <a:srgbClr val="000099"/>
                </a:solidFill>
                <a:latin typeface="Times New Roman"/>
                <a:cs typeface="Times New Roman"/>
              </a:rPr>
              <a:t>ᴨ</a:t>
            </a:r>
            <a:r>
              <a:rPr lang="en-US" b="1" baseline="-25000" dirty="0" smtClean="0">
                <a:solidFill>
                  <a:srgbClr val="000099"/>
                </a:solidFill>
                <a:latin typeface="Times New Roman"/>
                <a:cs typeface="Times New Roman"/>
              </a:rPr>
              <a:t> Name</a:t>
            </a:r>
            <a:r>
              <a:rPr lang="en-US" b="1" baseline="-25000" dirty="0" smtClean="0">
                <a:solidFill>
                  <a:srgbClr val="000099"/>
                </a:solidFill>
              </a:rPr>
              <a:t>  </a:t>
            </a:r>
            <a:r>
              <a:rPr lang="en-US" b="1" dirty="0" smtClean="0">
                <a:solidFill>
                  <a:srgbClr val="000099"/>
                </a:solidFill>
              </a:rPr>
              <a:t>[</a:t>
            </a:r>
            <a:r>
              <a:rPr lang="el-GR" b="1" dirty="0" smtClean="0">
                <a:solidFill>
                  <a:srgbClr val="000099"/>
                </a:solidFill>
                <a:latin typeface="Times New Roman"/>
                <a:cs typeface="Times New Roman"/>
              </a:rPr>
              <a:t>σ</a:t>
            </a:r>
            <a:r>
              <a:rPr lang="en-US" b="1" baseline="-25000" dirty="0" smtClean="0">
                <a:solidFill>
                  <a:srgbClr val="000099"/>
                </a:solidFill>
              </a:rPr>
              <a:t>Salary&gt;2000 and Age&lt;25 </a:t>
            </a:r>
            <a:r>
              <a:rPr lang="en-US" b="1" dirty="0" smtClean="0">
                <a:solidFill>
                  <a:srgbClr val="000099"/>
                </a:solidFill>
              </a:rPr>
              <a:t>(Customer)]</a:t>
            </a:r>
          </a:p>
          <a:p>
            <a:endParaRPr lang="en-US" b="1" dirty="0" smtClean="0">
              <a:solidFill>
                <a:srgbClr val="000099"/>
              </a:solidFill>
            </a:endParaRPr>
          </a:p>
          <a:p>
            <a:pPr lvl="1"/>
            <a:r>
              <a:rPr lang="en-US" dirty="0">
                <a:solidFill>
                  <a:srgbClr val="FF0000"/>
                </a:solidFill>
              </a:rPr>
              <a:t> </a:t>
            </a:r>
            <a:r>
              <a:rPr lang="en-US" dirty="0" smtClean="0">
                <a:solidFill>
                  <a:srgbClr val="FF0000"/>
                </a:solidFill>
              </a:rPr>
              <a:t>                                           Q: </a:t>
            </a:r>
            <a:r>
              <a:rPr lang="en-US" dirty="0">
                <a:solidFill>
                  <a:srgbClr val="FF0000"/>
                </a:solidFill>
              </a:rPr>
              <a:t>SELECT ID, NAME, SALARY FROM CUSTOMERS WHERE </a:t>
            </a:r>
            <a:r>
              <a:rPr lang="en-US" dirty="0" smtClean="0">
                <a:solidFill>
                  <a:srgbClr val="FF0000"/>
                </a:solidFill>
              </a:rPr>
              <a:t>					                 SALARY &gt; 2000 OR age &lt; 25;</a:t>
            </a:r>
          </a:p>
          <a:p>
            <a:pPr lvl="1"/>
            <a:r>
              <a:rPr lang="en-US" dirty="0">
                <a:solidFill>
                  <a:srgbClr val="FF0000"/>
                </a:solidFill>
              </a:rPr>
              <a:t> </a:t>
            </a:r>
            <a:r>
              <a:rPr lang="en-US" dirty="0" smtClean="0">
                <a:solidFill>
                  <a:srgbClr val="FF0000"/>
                </a:solidFill>
              </a:rPr>
              <a:t>                                                   </a:t>
            </a:r>
            <a:r>
              <a:rPr lang="el-GR" b="1" dirty="0">
                <a:solidFill>
                  <a:srgbClr val="000099"/>
                </a:solidFill>
                <a:latin typeface="Times New Roman"/>
                <a:cs typeface="Times New Roman"/>
              </a:rPr>
              <a:t>ᴨ</a:t>
            </a:r>
            <a:r>
              <a:rPr lang="en-US" b="1" baseline="-25000" dirty="0">
                <a:solidFill>
                  <a:srgbClr val="000099"/>
                </a:solidFill>
                <a:latin typeface="Times New Roman"/>
                <a:cs typeface="Times New Roman"/>
              </a:rPr>
              <a:t> </a:t>
            </a:r>
            <a:r>
              <a:rPr lang="en-US" b="1" baseline="-25000" dirty="0" err="1" smtClean="0">
                <a:solidFill>
                  <a:srgbClr val="000099"/>
                </a:solidFill>
                <a:latin typeface="Times New Roman"/>
                <a:cs typeface="Times New Roman"/>
              </a:rPr>
              <a:t>ID,Name</a:t>
            </a:r>
            <a:r>
              <a:rPr lang="en-US" b="1" baseline="-25000" dirty="0" smtClean="0">
                <a:solidFill>
                  <a:srgbClr val="000099"/>
                </a:solidFill>
              </a:rPr>
              <a:t> , Salary </a:t>
            </a:r>
            <a:r>
              <a:rPr lang="en-US" b="1" dirty="0">
                <a:solidFill>
                  <a:srgbClr val="000099"/>
                </a:solidFill>
              </a:rPr>
              <a:t>[</a:t>
            </a:r>
            <a:r>
              <a:rPr lang="el-GR" b="1" dirty="0">
                <a:solidFill>
                  <a:srgbClr val="000099"/>
                </a:solidFill>
                <a:latin typeface="Times New Roman"/>
                <a:cs typeface="Times New Roman"/>
              </a:rPr>
              <a:t>σ</a:t>
            </a:r>
            <a:r>
              <a:rPr lang="en-US" b="1" baseline="-25000" dirty="0">
                <a:solidFill>
                  <a:srgbClr val="000099"/>
                </a:solidFill>
              </a:rPr>
              <a:t>Salary&gt;2000  </a:t>
            </a:r>
            <a:r>
              <a:rPr lang="en-US" b="1" baseline="-25000" dirty="0" smtClean="0">
                <a:solidFill>
                  <a:srgbClr val="000099"/>
                </a:solidFill>
              </a:rPr>
              <a:t>Or</a:t>
            </a:r>
            <a:r>
              <a:rPr lang="en-US" b="1" dirty="0" smtClean="0">
                <a:solidFill>
                  <a:srgbClr val="000099"/>
                </a:solidFill>
              </a:rPr>
              <a:t> </a:t>
            </a:r>
            <a:r>
              <a:rPr lang="en-US" b="1" baseline="-25000" dirty="0" smtClean="0">
                <a:solidFill>
                  <a:srgbClr val="000099"/>
                </a:solidFill>
              </a:rPr>
              <a:t>Age&lt;25 </a:t>
            </a:r>
            <a:r>
              <a:rPr lang="en-US" b="1" dirty="0">
                <a:solidFill>
                  <a:srgbClr val="000099"/>
                </a:solidFill>
              </a:rPr>
              <a:t>(Customer)]</a:t>
            </a:r>
          </a:p>
          <a:p>
            <a:pPr lvl="1"/>
            <a:endParaRPr lang="en-US" dirty="0">
              <a:solidFill>
                <a:srgbClr val="FF0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68" y="2998095"/>
            <a:ext cx="37719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32088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3987618"/>
              </p:ext>
            </p:extLst>
          </p:nvPr>
        </p:nvGraphicFramePr>
        <p:xfrm>
          <a:off x="450761" y="695460"/>
          <a:ext cx="11462196" cy="5317927"/>
        </p:xfrm>
        <a:graphic>
          <a:graphicData uri="http://schemas.openxmlformats.org/drawingml/2006/table">
            <a:tbl>
              <a:tblPr>
                <a:tableStyleId>{616DA210-FB5B-4158-B5E0-FEB733F419BA}</a:tableStyleId>
              </a:tblPr>
              <a:tblGrid>
                <a:gridCol w="463639"/>
                <a:gridCol w="1429555"/>
                <a:gridCol w="4456090"/>
                <a:gridCol w="5112912"/>
              </a:tblGrid>
              <a:tr h="447988">
                <a:tc>
                  <a:txBody>
                    <a:bodyPr/>
                    <a:lstStyle/>
                    <a:p>
                      <a:pPr algn="l" fontAlgn="base"/>
                      <a:r>
                        <a:rPr lang="en-US" sz="1800" b="1" dirty="0">
                          <a:effectLst/>
                        </a:rPr>
                        <a:t>S. No.</a:t>
                      </a:r>
                    </a:p>
                  </a:txBody>
                  <a:tcPr marL="95250" marR="95250" marT="95250" marB="95250" anchor="ctr">
                    <a:solidFill>
                      <a:schemeClr val="accent6">
                        <a:lumMod val="60000"/>
                        <a:lumOff val="40000"/>
                      </a:schemeClr>
                    </a:solidFill>
                  </a:tcPr>
                </a:tc>
                <a:tc>
                  <a:txBody>
                    <a:bodyPr/>
                    <a:lstStyle/>
                    <a:p>
                      <a:pPr algn="l" fontAlgn="base"/>
                      <a:r>
                        <a:rPr lang="en-US" sz="1800" b="1" dirty="0">
                          <a:effectLst/>
                        </a:rPr>
                        <a:t>Category</a:t>
                      </a:r>
                    </a:p>
                  </a:txBody>
                  <a:tcPr marL="95250" marR="95250" marT="95250" marB="95250" anchor="ctr">
                    <a:solidFill>
                      <a:schemeClr val="accent6">
                        <a:lumMod val="60000"/>
                        <a:lumOff val="40000"/>
                      </a:schemeClr>
                    </a:solidFill>
                  </a:tcPr>
                </a:tc>
                <a:tc>
                  <a:txBody>
                    <a:bodyPr/>
                    <a:lstStyle/>
                    <a:p>
                      <a:pPr algn="l" fontAlgn="base"/>
                      <a:r>
                        <a:rPr lang="en-US" sz="1800" b="1" dirty="0">
                          <a:effectLst/>
                        </a:rPr>
                        <a:t>Selection</a:t>
                      </a:r>
                    </a:p>
                  </a:txBody>
                  <a:tcPr marL="95250" marR="95250" marT="95250" marB="95250" anchor="ctr">
                    <a:solidFill>
                      <a:schemeClr val="accent6">
                        <a:lumMod val="60000"/>
                        <a:lumOff val="40000"/>
                      </a:schemeClr>
                    </a:solidFill>
                  </a:tcPr>
                </a:tc>
                <a:tc>
                  <a:txBody>
                    <a:bodyPr/>
                    <a:lstStyle/>
                    <a:p>
                      <a:pPr algn="l" fontAlgn="base"/>
                      <a:r>
                        <a:rPr lang="en-US" sz="1800" b="1" dirty="0">
                          <a:effectLst/>
                        </a:rPr>
                        <a:t>Projection</a:t>
                      </a:r>
                    </a:p>
                  </a:txBody>
                  <a:tcPr marL="95250" marR="95250" marT="95250" marB="95250" anchor="ctr">
                    <a:solidFill>
                      <a:schemeClr val="accent6">
                        <a:lumMod val="60000"/>
                        <a:lumOff val="40000"/>
                      </a:schemeClr>
                    </a:solidFill>
                  </a:tcPr>
                </a:tc>
              </a:tr>
              <a:tr h="865657">
                <a:tc>
                  <a:txBody>
                    <a:bodyPr/>
                    <a:lstStyle/>
                    <a:p>
                      <a:pPr algn="l" fontAlgn="base"/>
                      <a:r>
                        <a:rPr lang="en-US" sz="1800" dirty="0">
                          <a:effectLst/>
                        </a:rPr>
                        <a:t>1.</a:t>
                      </a:r>
                      <a:endParaRPr lang="en-US" sz="1800" b="0" dirty="0">
                        <a:effectLst/>
                      </a:endParaRPr>
                    </a:p>
                  </a:txBody>
                  <a:tcPr marL="95250" marR="95250" marT="133350" marB="133350" anchor="ctr"/>
                </a:tc>
                <a:tc>
                  <a:txBody>
                    <a:bodyPr/>
                    <a:lstStyle/>
                    <a:p>
                      <a:pPr algn="l" fontAlgn="base"/>
                      <a:r>
                        <a:rPr lang="en-US" sz="1800" b="1" dirty="0">
                          <a:effectLst/>
                        </a:rPr>
                        <a:t>Other Names</a:t>
                      </a:r>
                    </a:p>
                  </a:txBody>
                  <a:tcPr marL="95250" marR="95250" marT="133350" marB="133350" anchor="ctr"/>
                </a:tc>
                <a:tc>
                  <a:txBody>
                    <a:bodyPr/>
                    <a:lstStyle/>
                    <a:p>
                      <a:pPr algn="l" fontAlgn="base"/>
                      <a:r>
                        <a:rPr lang="en-US" sz="1800" dirty="0">
                          <a:effectLst/>
                        </a:rPr>
                        <a:t>The selection operation is also known as </a:t>
                      </a:r>
                      <a:r>
                        <a:rPr lang="en-US" sz="1800" b="1" dirty="0">
                          <a:solidFill>
                            <a:srgbClr val="000099"/>
                          </a:solidFill>
                          <a:effectLst/>
                        </a:rPr>
                        <a:t>horizontal partitioning.</a:t>
                      </a:r>
                    </a:p>
                  </a:txBody>
                  <a:tcPr marL="95250" marR="95250" marT="133350" marB="133350" anchor="ctr"/>
                </a:tc>
                <a:tc>
                  <a:txBody>
                    <a:bodyPr/>
                    <a:lstStyle/>
                    <a:p>
                      <a:pPr algn="l" fontAlgn="base"/>
                      <a:r>
                        <a:rPr lang="en-US" sz="1800" dirty="0">
                          <a:effectLst/>
                        </a:rPr>
                        <a:t>The Project operation is also known as </a:t>
                      </a:r>
                      <a:r>
                        <a:rPr lang="en-US" sz="1800" b="1" kern="1200" dirty="0">
                          <a:solidFill>
                            <a:srgbClr val="000099"/>
                          </a:solidFill>
                          <a:effectLst/>
                          <a:latin typeface="+mn-lt"/>
                          <a:ea typeface="+mn-ea"/>
                          <a:cs typeface="+mn-cs"/>
                        </a:rPr>
                        <a:t>vertical partitioning.</a:t>
                      </a:r>
                    </a:p>
                  </a:txBody>
                  <a:tcPr marL="95250" marR="95250" marT="133350" marB="133350" anchor="ctr"/>
                </a:tc>
              </a:tr>
              <a:tr h="850005">
                <a:tc>
                  <a:txBody>
                    <a:bodyPr/>
                    <a:lstStyle/>
                    <a:p>
                      <a:pPr algn="l" fontAlgn="base"/>
                      <a:r>
                        <a:rPr lang="en-US" sz="1800">
                          <a:effectLst/>
                        </a:rPr>
                        <a:t>2.</a:t>
                      </a:r>
                      <a:endParaRPr lang="en-US" sz="1800" b="0">
                        <a:effectLst/>
                      </a:endParaRPr>
                    </a:p>
                  </a:txBody>
                  <a:tcPr marL="95250" marR="95250" marT="133350" marB="133350" anchor="ctr"/>
                </a:tc>
                <a:tc>
                  <a:txBody>
                    <a:bodyPr/>
                    <a:lstStyle/>
                    <a:p>
                      <a:pPr algn="l" fontAlgn="base"/>
                      <a:r>
                        <a:rPr lang="en-US" sz="1800" b="1" dirty="0">
                          <a:effectLst/>
                        </a:rPr>
                        <a:t>Use</a:t>
                      </a:r>
                    </a:p>
                  </a:txBody>
                  <a:tcPr marL="95250" marR="95250" marT="133350" marB="133350" anchor="ctr"/>
                </a:tc>
                <a:tc>
                  <a:txBody>
                    <a:bodyPr/>
                    <a:lstStyle/>
                    <a:p>
                      <a:pPr algn="l" fontAlgn="base"/>
                      <a:r>
                        <a:rPr lang="en-US" sz="1800" dirty="0">
                          <a:effectLst/>
                        </a:rPr>
                        <a:t>It is used to choose the subset of tuples from the relation that satisfies the given condition mentioned in the syntax of selection.</a:t>
                      </a:r>
                      <a:endParaRPr lang="en-US" sz="1800" b="0" dirty="0">
                        <a:effectLst/>
                      </a:endParaRPr>
                    </a:p>
                  </a:txBody>
                  <a:tcPr marL="95250" marR="95250" marT="133350" marB="133350" anchor="ctr"/>
                </a:tc>
                <a:tc>
                  <a:txBody>
                    <a:bodyPr/>
                    <a:lstStyle/>
                    <a:p>
                      <a:pPr algn="l" fontAlgn="base"/>
                      <a:r>
                        <a:rPr lang="en-US" sz="1800" dirty="0">
                          <a:effectLst/>
                        </a:rPr>
                        <a:t>It is used to select certain required attributes, while discarding other attributes.</a:t>
                      </a:r>
                      <a:endParaRPr lang="en-US" sz="1800" b="0" dirty="0">
                        <a:effectLst/>
                      </a:endParaRPr>
                    </a:p>
                  </a:txBody>
                  <a:tcPr marL="95250" marR="95250" marT="133350" marB="133350" anchor="ctr"/>
                </a:tc>
              </a:tr>
              <a:tr h="718470">
                <a:tc>
                  <a:txBody>
                    <a:bodyPr/>
                    <a:lstStyle/>
                    <a:p>
                      <a:pPr algn="l" fontAlgn="base"/>
                      <a:r>
                        <a:rPr lang="en-US" sz="1800">
                          <a:effectLst/>
                        </a:rPr>
                        <a:t>3.</a:t>
                      </a:r>
                      <a:endParaRPr lang="en-US" sz="1800" b="0">
                        <a:effectLst/>
                      </a:endParaRPr>
                    </a:p>
                  </a:txBody>
                  <a:tcPr marL="95250" marR="95250" marT="133350" marB="133350" anchor="ctr"/>
                </a:tc>
                <a:tc>
                  <a:txBody>
                    <a:bodyPr/>
                    <a:lstStyle/>
                    <a:p>
                      <a:pPr algn="l" fontAlgn="base"/>
                      <a:r>
                        <a:rPr lang="en-US" sz="1800" b="1" dirty="0">
                          <a:effectLst/>
                        </a:rPr>
                        <a:t>Partitioning</a:t>
                      </a:r>
                    </a:p>
                  </a:txBody>
                  <a:tcPr marL="95250" marR="95250" marT="133350" marB="133350" anchor="ctr"/>
                </a:tc>
                <a:tc>
                  <a:txBody>
                    <a:bodyPr/>
                    <a:lstStyle/>
                    <a:p>
                      <a:pPr algn="l" fontAlgn="base"/>
                      <a:r>
                        <a:rPr lang="en-US" sz="1800" dirty="0">
                          <a:effectLst/>
                        </a:rPr>
                        <a:t>It partitions the table horizontally.</a:t>
                      </a:r>
                      <a:endParaRPr lang="en-US" sz="1800" b="0" dirty="0">
                        <a:effectLst/>
                      </a:endParaRPr>
                    </a:p>
                  </a:txBody>
                  <a:tcPr marL="95250" marR="95250" marT="133350" marB="133350" anchor="ctr"/>
                </a:tc>
                <a:tc>
                  <a:txBody>
                    <a:bodyPr/>
                    <a:lstStyle/>
                    <a:p>
                      <a:pPr algn="l" fontAlgn="base"/>
                      <a:r>
                        <a:rPr lang="en-US" sz="1800" dirty="0">
                          <a:effectLst/>
                        </a:rPr>
                        <a:t>It partitions the table vertically.</a:t>
                      </a:r>
                      <a:endParaRPr lang="en-US" sz="1800" b="0" dirty="0">
                        <a:effectLst/>
                      </a:endParaRPr>
                    </a:p>
                  </a:txBody>
                  <a:tcPr marL="95250" marR="95250" marT="133350" marB="133350" anchor="ctr"/>
                </a:tc>
              </a:tr>
              <a:tr h="718470">
                <a:tc>
                  <a:txBody>
                    <a:bodyPr/>
                    <a:lstStyle/>
                    <a:p>
                      <a:pPr marL="0" algn="l" defTabSz="914400" rtl="0" eaLnBrk="1" fontAlgn="base" latinLnBrk="0" hangingPunct="1"/>
                      <a:r>
                        <a:rPr lang="en-US" sz="1800" kern="1200" dirty="0">
                          <a:solidFill>
                            <a:schemeClr val="tx1"/>
                          </a:solidFill>
                          <a:effectLst/>
                          <a:latin typeface="+mn-lt"/>
                          <a:ea typeface="+mn-ea"/>
                          <a:cs typeface="+mn-cs"/>
                        </a:rPr>
                        <a:t>4.</a:t>
                      </a:r>
                    </a:p>
                  </a:txBody>
                  <a:tcPr marL="95250" marR="95250" marT="133350" marB="133350" anchor="ctr"/>
                </a:tc>
                <a:tc>
                  <a:txBody>
                    <a:bodyPr/>
                    <a:lstStyle/>
                    <a:p>
                      <a:pPr marL="0" algn="l" defTabSz="914400" rtl="0" eaLnBrk="1" fontAlgn="base" latinLnBrk="0" hangingPunct="1"/>
                      <a:r>
                        <a:rPr lang="en-US" sz="1800" b="1" kern="1200" dirty="0">
                          <a:solidFill>
                            <a:schemeClr val="tx1"/>
                          </a:solidFill>
                          <a:effectLst/>
                          <a:latin typeface="+mn-lt"/>
                          <a:ea typeface="+mn-ea"/>
                          <a:cs typeface="+mn-cs"/>
                        </a:rPr>
                        <a:t>Which used first</a:t>
                      </a:r>
                    </a:p>
                  </a:txBody>
                  <a:tcPr marL="95250" marR="95250" marT="133350" marB="133350" anchor="ctr"/>
                </a:tc>
                <a:tc>
                  <a:txBody>
                    <a:bodyPr/>
                    <a:lstStyle/>
                    <a:p>
                      <a:pPr marL="0" algn="l" defTabSz="914400" rtl="0" eaLnBrk="1" fontAlgn="base" latinLnBrk="0" hangingPunct="1"/>
                      <a:r>
                        <a:rPr lang="en-US" sz="1800" kern="1200" dirty="0">
                          <a:solidFill>
                            <a:schemeClr val="tx1"/>
                          </a:solidFill>
                          <a:effectLst/>
                          <a:latin typeface="+mn-lt"/>
                          <a:ea typeface="+mn-ea"/>
                          <a:cs typeface="+mn-cs"/>
                        </a:rPr>
                        <a:t>The selection operation is performed before projection (if they are to be used together).</a:t>
                      </a:r>
                    </a:p>
                  </a:txBody>
                  <a:tcPr marL="95250" marR="95250" marT="133350" marB="133350" anchor="ctr"/>
                </a:tc>
                <a:tc>
                  <a:txBody>
                    <a:bodyPr/>
                    <a:lstStyle/>
                    <a:p>
                      <a:pPr marL="0" algn="l" defTabSz="914400" rtl="0" eaLnBrk="1" fontAlgn="base" latinLnBrk="0" hangingPunct="1"/>
                      <a:r>
                        <a:rPr lang="en-US" sz="1800" kern="1200" dirty="0">
                          <a:solidFill>
                            <a:schemeClr val="tx1"/>
                          </a:solidFill>
                          <a:effectLst/>
                          <a:latin typeface="+mn-lt"/>
                          <a:ea typeface="+mn-ea"/>
                          <a:cs typeface="+mn-cs"/>
                        </a:rPr>
                        <a:t>The projection operation is performed after selection (if they are to be used together).</a:t>
                      </a:r>
                    </a:p>
                  </a:txBody>
                  <a:tcPr marL="95250" marR="95250" marT="133350" marB="133350" anchor="ctr"/>
                </a:tc>
              </a:tr>
              <a:tr h="718470">
                <a:tc>
                  <a:txBody>
                    <a:bodyPr/>
                    <a:lstStyle/>
                    <a:p>
                      <a:pPr marL="0" algn="l" defTabSz="914400" rtl="0" eaLnBrk="1" fontAlgn="base" latinLnBrk="0" hangingPunct="1"/>
                      <a:r>
                        <a:rPr lang="en-US" sz="1800" kern="1200" dirty="0" smtClean="0">
                          <a:solidFill>
                            <a:schemeClr val="tx1"/>
                          </a:solidFill>
                          <a:effectLst/>
                          <a:latin typeface="+mn-lt"/>
                          <a:ea typeface="+mn-ea"/>
                          <a:cs typeface="+mn-cs"/>
                        </a:rPr>
                        <a:t>5</a:t>
                      </a:r>
                      <a:endParaRPr lang="en-US" sz="1800" kern="1200" dirty="0">
                        <a:solidFill>
                          <a:schemeClr val="tx1"/>
                        </a:solidFill>
                        <a:effectLst/>
                        <a:latin typeface="+mn-lt"/>
                        <a:ea typeface="+mn-ea"/>
                        <a:cs typeface="+mn-cs"/>
                      </a:endParaRPr>
                    </a:p>
                  </a:txBody>
                  <a:tcPr marL="95250" marR="95250" marT="133350" marB="133350" anchor="ctr"/>
                </a:tc>
                <a:tc>
                  <a:txBody>
                    <a:bodyPr/>
                    <a:lstStyle/>
                    <a:p>
                      <a:pPr marL="0" algn="l" defTabSz="914400" rtl="0" eaLnBrk="1" fontAlgn="base" latinLnBrk="0" hangingPunct="1"/>
                      <a:r>
                        <a:rPr lang="en-US" sz="1800" b="1" kern="1200" dirty="0">
                          <a:solidFill>
                            <a:schemeClr val="tx1"/>
                          </a:solidFill>
                          <a:effectLst/>
                          <a:latin typeface="+mn-lt"/>
                          <a:ea typeface="+mn-ea"/>
                          <a:cs typeface="+mn-cs"/>
                        </a:rPr>
                        <a:t>Column Selection</a:t>
                      </a:r>
                    </a:p>
                  </a:txBody>
                  <a:tcPr marL="95250" marR="95250" marT="133350" marB="133350" anchor="ctr"/>
                </a:tc>
                <a:tc>
                  <a:txBody>
                    <a:bodyPr/>
                    <a:lstStyle/>
                    <a:p>
                      <a:pPr marL="0" algn="l" defTabSz="914400" rtl="0" eaLnBrk="1" fontAlgn="base" latinLnBrk="0" hangingPunct="1"/>
                      <a:r>
                        <a:rPr lang="en-US" sz="1800" kern="1200">
                          <a:solidFill>
                            <a:schemeClr val="tx1"/>
                          </a:solidFill>
                          <a:effectLst/>
                          <a:latin typeface="+mn-lt"/>
                          <a:ea typeface="+mn-ea"/>
                          <a:cs typeface="+mn-cs"/>
                        </a:rPr>
                        <a:t>Select is used to select all columns of a specific tuple.</a:t>
                      </a:r>
                    </a:p>
                  </a:txBody>
                  <a:tcPr marL="95250" marR="95250" marT="133350" marB="133350" anchor="ctr"/>
                </a:tc>
                <a:tc>
                  <a:txBody>
                    <a:bodyPr/>
                    <a:lstStyle/>
                    <a:p>
                      <a:pPr marL="0" algn="l" defTabSz="914400" rtl="0" eaLnBrk="1" fontAlgn="base" latinLnBrk="0" hangingPunct="1"/>
                      <a:r>
                        <a:rPr lang="en-US" sz="1800" kern="1200" dirty="0">
                          <a:solidFill>
                            <a:schemeClr val="tx1"/>
                          </a:solidFill>
                          <a:effectLst/>
                          <a:latin typeface="+mn-lt"/>
                          <a:ea typeface="+mn-ea"/>
                          <a:cs typeface="+mn-cs"/>
                        </a:rPr>
                        <a:t>Project is used to select specific columns.</a:t>
                      </a:r>
                    </a:p>
                  </a:txBody>
                  <a:tcPr marL="95250" marR="95250" marT="133350" marB="133350" anchor="ctr"/>
                </a:tc>
              </a:tr>
            </a:tbl>
          </a:graphicData>
        </a:graphic>
      </p:graphicFrame>
    </p:spTree>
    <p:extLst>
      <p:ext uri="{BB962C8B-B14F-4D97-AF65-F5344CB8AC3E}">
        <p14:creationId xmlns:p14="http://schemas.microsoft.com/office/powerpoint/2010/main" val="4858187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normAutofit lnSpcReduction="10000"/>
          </a:bodyPr>
          <a:lstStyle/>
          <a:p>
            <a:pPr algn="just"/>
            <a:r>
              <a:rPr lang="en-US" b="1" i="0" u="sng" dirty="0">
                <a:effectLst/>
              </a:rPr>
              <a:t>Union(∪):</a:t>
            </a:r>
            <a:r>
              <a:rPr lang="en-US" i="0" dirty="0">
                <a:effectLst/>
              </a:rPr>
              <a:t>In order to fetch data from two relations </a:t>
            </a:r>
            <a:r>
              <a:rPr lang="en-US" b="1" i="0" dirty="0">
                <a:solidFill>
                  <a:srgbClr val="000099"/>
                </a:solidFill>
                <a:effectLst/>
              </a:rPr>
              <a:t>to generate new relation with combined capabilities, union operations can be used. </a:t>
            </a:r>
            <a:r>
              <a:rPr lang="en-US" i="0" dirty="0">
                <a:effectLst/>
              </a:rPr>
              <a:t>The union operation fetches the data from both tables and projects it accordingly. </a:t>
            </a:r>
            <a:r>
              <a:rPr lang="en-US" b="1" i="0" dirty="0">
                <a:solidFill>
                  <a:srgbClr val="000099"/>
                </a:solidFill>
                <a:effectLst/>
              </a:rPr>
              <a:t>It is denoted through “Union Symbol(U)”.</a:t>
            </a:r>
            <a:r>
              <a:rPr lang="en-US" i="0" dirty="0">
                <a:effectLst/>
              </a:rPr>
              <a:t> </a:t>
            </a:r>
          </a:p>
          <a:p>
            <a:pPr algn="just"/>
            <a:r>
              <a:rPr lang="en-US" i="0" dirty="0">
                <a:effectLst/>
              </a:rPr>
              <a:t>In Union Operation </a:t>
            </a:r>
            <a:r>
              <a:rPr lang="en-US" b="1" i="0" dirty="0">
                <a:solidFill>
                  <a:srgbClr val="000099"/>
                </a:solidFill>
                <a:effectLst/>
              </a:rPr>
              <a:t>Both the relations compulsory to have same domain for attributes.</a:t>
            </a:r>
          </a:p>
          <a:p>
            <a:pPr algn="just"/>
            <a:r>
              <a:rPr lang="en-US" b="1" i="0" dirty="0">
                <a:solidFill>
                  <a:srgbClr val="C00000"/>
                </a:solidFill>
                <a:effectLst/>
              </a:rPr>
              <a:t>Syntax : X1 U X2 , where X1 &amp; X2 are two different relations satisfying the above two conditions.</a:t>
            </a:r>
          </a:p>
          <a:p>
            <a:pPr algn="just"/>
            <a:r>
              <a:rPr lang="en-US" b="1" i="0" dirty="0">
                <a:effectLst/>
              </a:rPr>
              <a:t>Note:</a:t>
            </a:r>
            <a:r>
              <a:rPr lang="en-US" b="0" i="0" dirty="0">
                <a:effectLst/>
              </a:rPr>
              <a:t> The rows (tuples) that are present in both the tables </a:t>
            </a:r>
            <a:r>
              <a:rPr lang="en-US" b="1" i="0" dirty="0">
                <a:effectLst/>
              </a:rPr>
              <a:t>will only appear once in the union set.</a:t>
            </a:r>
            <a:r>
              <a:rPr lang="en-US" b="0" i="0" dirty="0">
                <a:effectLst/>
              </a:rPr>
              <a:t> In short you can say that there are no duplicates present after the union operation.</a:t>
            </a:r>
            <a:endParaRPr lang="en-US" dirty="0"/>
          </a:p>
        </p:txBody>
      </p:sp>
      <p:pic>
        <p:nvPicPr>
          <p:cNvPr id="3074" name="Picture 2" descr="Relational Algebra : Union Operation">
            <a:extLst>
              <a:ext uri="{FF2B5EF4-FFF2-40B4-BE49-F238E27FC236}">
                <a16:creationId xmlns="" xmlns:a16="http://schemas.microsoft.com/office/drawing/2014/main" id="{EF9AA176-0925-AD34-D276-E285A00BC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7281" y="5217894"/>
            <a:ext cx="9182100" cy="1459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0672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normAutofit/>
          </a:bodyPr>
          <a:lstStyle/>
          <a:p>
            <a:pPr algn="just"/>
            <a:r>
              <a:rPr lang="en-US" b="1" i="0" u="sng" dirty="0">
                <a:effectLst/>
              </a:rPr>
              <a:t>Intersection(∩) : </a:t>
            </a:r>
            <a:r>
              <a:rPr lang="en-US" i="0" dirty="0">
                <a:effectLst/>
              </a:rPr>
              <a:t>Intersection operator is </a:t>
            </a:r>
            <a:r>
              <a:rPr lang="en-US" b="1" i="0" dirty="0">
                <a:solidFill>
                  <a:srgbClr val="000099"/>
                </a:solidFill>
                <a:effectLst/>
              </a:rPr>
              <a:t>denoted by ∩ symbol and it is used to select common rows (tuples) from two tables (relations).</a:t>
            </a:r>
          </a:p>
          <a:p>
            <a:pPr algn="just"/>
            <a:r>
              <a:rPr lang="en-US" i="0" dirty="0">
                <a:effectLst/>
              </a:rPr>
              <a:t>Lets say we have two relations R1 and R2 both have same columns and we want to </a:t>
            </a:r>
            <a:r>
              <a:rPr lang="en-US" b="1" i="0" dirty="0">
                <a:solidFill>
                  <a:srgbClr val="000099"/>
                </a:solidFill>
                <a:effectLst/>
              </a:rPr>
              <a:t>select all those tuples(rows) that are present in both the relations, then in that case we can apply intersection operation on these two relations R1 ∩ R2.</a:t>
            </a:r>
          </a:p>
          <a:p>
            <a:pPr algn="just"/>
            <a:r>
              <a:rPr lang="en-US" i="0" dirty="0">
                <a:effectLst/>
              </a:rPr>
              <a:t>Note: Only those rows that are present in both the tables will appear in the result set. </a:t>
            </a:r>
            <a:r>
              <a:rPr lang="en-US" b="1" i="0" dirty="0">
                <a:solidFill>
                  <a:srgbClr val="C00000"/>
                </a:solidFill>
                <a:effectLst/>
              </a:rPr>
              <a:t>COURSE ∩ STUDENT </a:t>
            </a:r>
            <a:endParaRPr lang="en-US" b="1" dirty="0">
              <a:solidFill>
                <a:srgbClr val="C00000"/>
              </a:solidFill>
            </a:endParaRPr>
          </a:p>
        </p:txBody>
      </p:sp>
      <p:pic>
        <p:nvPicPr>
          <p:cNvPr id="7" name="Picture 6">
            <a:extLst>
              <a:ext uri="{FF2B5EF4-FFF2-40B4-BE49-F238E27FC236}">
                <a16:creationId xmlns="" xmlns:a16="http://schemas.microsoft.com/office/drawing/2014/main" id="{3A36F1EA-93CE-2C45-EDFE-7653099B36D9}"/>
              </a:ext>
            </a:extLst>
          </p:cNvPr>
          <p:cNvPicPr>
            <a:picLocks noChangeAspect="1"/>
          </p:cNvPicPr>
          <p:nvPr/>
        </p:nvPicPr>
        <p:blipFill>
          <a:blip r:embed="rId2"/>
          <a:stretch>
            <a:fillRect/>
          </a:stretch>
        </p:blipFill>
        <p:spPr>
          <a:xfrm>
            <a:off x="5666509" y="4069053"/>
            <a:ext cx="2343150" cy="2581275"/>
          </a:xfrm>
          <a:prstGeom prst="rect">
            <a:avLst/>
          </a:prstGeom>
        </p:spPr>
      </p:pic>
      <p:pic>
        <p:nvPicPr>
          <p:cNvPr id="9" name="Picture 8">
            <a:extLst>
              <a:ext uri="{FF2B5EF4-FFF2-40B4-BE49-F238E27FC236}">
                <a16:creationId xmlns="" xmlns:a16="http://schemas.microsoft.com/office/drawing/2014/main" id="{C845A868-CECB-373D-B89F-D34B4F4B9533}"/>
              </a:ext>
            </a:extLst>
          </p:cNvPr>
          <p:cNvPicPr>
            <a:picLocks noChangeAspect="1"/>
          </p:cNvPicPr>
          <p:nvPr/>
        </p:nvPicPr>
        <p:blipFill>
          <a:blip r:embed="rId3"/>
          <a:stretch>
            <a:fillRect/>
          </a:stretch>
        </p:blipFill>
        <p:spPr>
          <a:xfrm>
            <a:off x="1717097" y="4278603"/>
            <a:ext cx="2305050" cy="2371725"/>
          </a:xfrm>
          <a:prstGeom prst="rect">
            <a:avLst/>
          </a:prstGeom>
        </p:spPr>
      </p:pic>
      <p:pic>
        <p:nvPicPr>
          <p:cNvPr id="11" name="Picture 10">
            <a:extLst>
              <a:ext uri="{FF2B5EF4-FFF2-40B4-BE49-F238E27FC236}">
                <a16:creationId xmlns="" xmlns:a16="http://schemas.microsoft.com/office/drawing/2014/main" id="{E5E090B3-1BD3-F3E3-F037-F516976A8170}"/>
              </a:ext>
            </a:extLst>
          </p:cNvPr>
          <p:cNvPicPr>
            <a:picLocks noChangeAspect="1"/>
          </p:cNvPicPr>
          <p:nvPr/>
        </p:nvPicPr>
        <p:blipFill>
          <a:blip r:embed="rId4"/>
          <a:stretch>
            <a:fillRect/>
          </a:stretch>
        </p:blipFill>
        <p:spPr>
          <a:xfrm>
            <a:off x="4418733" y="5131905"/>
            <a:ext cx="400050" cy="447675"/>
          </a:xfrm>
          <a:prstGeom prst="rect">
            <a:avLst/>
          </a:prstGeom>
        </p:spPr>
      </p:pic>
      <p:pic>
        <p:nvPicPr>
          <p:cNvPr id="13" name="Picture 12">
            <a:extLst>
              <a:ext uri="{FF2B5EF4-FFF2-40B4-BE49-F238E27FC236}">
                <a16:creationId xmlns="" xmlns:a16="http://schemas.microsoft.com/office/drawing/2014/main" id="{874E9528-830D-6BA0-E9D2-ECA04F7C85EF}"/>
              </a:ext>
            </a:extLst>
          </p:cNvPr>
          <p:cNvPicPr>
            <a:picLocks noChangeAspect="1"/>
          </p:cNvPicPr>
          <p:nvPr/>
        </p:nvPicPr>
        <p:blipFill>
          <a:blip r:embed="rId5"/>
          <a:stretch>
            <a:fillRect/>
          </a:stretch>
        </p:blipFill>
        <p:spPr>
          <a:xfrm>
            <a:off x="8264237" y="5305373"/>
            <a:ext cx="447675" cy="276225"/>
          </a:xfrm>
          <a:prstGeom prst="rect">
            <a:avLst/>
          </a:prstGeom>
        </p:spPr>
      </p:pic>
      <p:pic>
        <p:nvPicPr>
          <p:cNvPr id="15" name="Picture 14">
            <a:extLst>
              <a:ext uri="{FF2B5EF4-FFF2-40B4-BE49-F238E27FC236}">
                <a16:creationId xmlns="" xmlns:a16="http://schemas.microsoft.com/office/drawing/2014/main" id="{B52DD46D-3365-476C-2840-B0947609DA23}"/>
              </a:ext>
            </a:extLst>
          </p:cNvPr>
          <p:cNvPicPr>
            <a:picLocks noChangeAspect="1"/>
          </p:cNvPicPr>
          <p:nvPr/>
        </p:nvPicPr>
        <p:blipFill>
          <a:blip r:embed="rId6"/>
          <a:stretch>
            <a:fillRect/>
          </a:stretch>
        </p:blipFill>
        <p:spPr>
          <a:xfrm>
            <a:off x="9466985" y="4550879"/>
            <a:ext cx="2371725" cy="1609725"/>
          </a:xfrm>
          <a:prstGeom prst="rect">
            <a:avLst/>
          </a:prstGeom>
        </p:spPr>
      </p:pic>
    </p:spTree>
    <p:extLst>
      <p:ext uri="{BB962C8B-B14F-4D97-AF65-F5344CB8AC3E}">
        <p14:creationId xmlns:p14="http://schemas.microsoft.com/office/powerpoint/2010/main" val="35696168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normAutofit/>
          </a:bodyPr>
          <a:lstStyle/>
          <a:p>
            <a:pPr algn="just"/>
            <a:r>
              <a:rPr lang="en-US" b="1" i="0" u="sng" dirty="0">
                <a:effectLst/>
              </a:rPr>
              <a:t>Set Difference (-) : </a:t>
            </a:r>
            <a:r>
              <a:rPr lang="en-US" b="1" i="0" dirty="0">
                <a:solidFill>
                  <a:srgbClr val="000099"/>
                </a:solidFill>
                <a:effectLst/>
              </a:rPr>
              <a:t>In order to fetch the data which is not present in any one of the relation, set difference operation is used</a:t>
            </a:r>
            <a:r>
              <a:rPr lang="en-US" i="0" dirty="0">
                <a:effectLst/>
              </a:rPr>
              <a:t>. The set difference operation is denoted by </a:t>
            </a:r>
            <a:r>
              <a:rPr lang="en-US" b="1" i="0" dirty="0">
                <a:solidFill>
                  <a:srgbClr val="000099"/>
                </a:solidFill>
                <a:effectLst/>
              </a:rPr>
              <a:t>“Minus(-)”.</a:t>
            </a:r>
          </a:p>
          <a:p>
            <a:pPr algn="just"/>
            <a:r>
              <a:rPr lang="en-US" b="0" i="0" dirty="0">
                <a:effectLst/>
              </a:rPr>
              <a:t>Lets say we have two relations R1 and R2 and we want to select all those tuples(rows) that are present in Relation R1 but </a:t>
            </a:r>
            <a:r>
              <a:rPr lang="en-US" b="1" i="0" dirty="0">
                <a:effectLst/>
              </a:rPr>
              <a:t>not</a:t>
            </a:r>
            <a:r>
              <a:rPr lang="en-US" b="0" i="0" dirty="0">
                <a:effectLst/>
              </a:rPr>
              <a:t> present in Relation R2, this can be done using Set difference R1 – R2.</a:t>
            </a:r>
            <a:r>
              <a:rPr lang="en-US" i="0" dirty="0">
                <a:effectLst/>
              </a:rPr>
              <a:t> </a:t>
            </a:r>
          </a:p>
          <a:p>
            <a:pPr algn="just"/>
            <a:r>
              <a:rPr lang="en-US" b="1" i="0" dirty="0">
                <a:solidFill>
                  <a:srgbClr val="000000"/>
                </a:solidFill>
                <a:effectLst/>
              </a:rPr>
              <a:t>For example</a:t>
            </a:r>
            <a:r>
              <a:rPr lang="en-US" b="1" i="0" dirty="0">
                <a:solidFill>
                  <a:srgbClr val="E06092"/>
                </a:solidFill>
                <a:effectLst/>
              </a:rPr>
              <a:t> : </a:t>
            </a:r>
            <a:r>
              <a:rPr lang="en-US" b="1" i="0" dirty="0">
                <a:solidFill>
                  <a:srgbClr val="008000"/>
                </a:solidFill>
                <a:effectLst/>
              </a:rPr>
              <a:t>Consider the two tables with relations X</a:t>
            </a:r>
            <a:r>
              <a:rPr lang="en-US" b="1" i="0" baseline="-25000" dirty="0">
                <a:solidFill>
                  <a:srgbClr val="008000"/>
                </a:solidFill>
                <a:effectLst/>
              </a:rPr>
              <a:t>1</a:t>
            </a:r>
            <a:r>
              <a:rPr lang="en-US" b="1" i="0" dirty="0">
                <a:solidFill>
                  <a:srgbClr val="008000"/>
                </a:solidFill>
                <a:effectLst/>
              </a:rPr>
              <a:t>(Name, Age) and X</a:t>
            </a:r>
            <a:r>
              <a:rPr lang="en-US" b="1" i="0" baseline="-25000" dirty="0">
                <a:solidFill>
                  <a:srgbClr val="008000"/>
                </a:solidFill>
                <a:effectLst/>
              </a:rPr>
              <a:t>2</a:t>
            </a:r>
            <a:r>
              <a:rPr lang="en-US" b="1" i="0" dirty="0">
                <a:solidFill>
                  <a:srgbClr val="008000"/>
                </a:solidFill>
                <a:effectLst/>
              </a:rPr>
              <a:t>(Name, Age). If we wish to apply the set difference operation, then it can be done by :</a:t>
            </a:r>
            <a:endParaRPr lang="en-US" dirty="0">
              <a:solidFill>
                <a:srgbClr val="C00000"/>
              </a:solidFill>
            </a:endParaRPr>
          </a:p>
        </p:txBody>
      </p:sp>
      <p:pic>
        <p:nvPicPr>
          <p:cNvPr id="4098" name="Picture 2" descr="Relational Algebra : Set Difference Operation">
            <a:extLst>
              <a:ext uri="{FF2B5EF4-FFF2-40B4-BE49-F238E27FC236}">
                <a16:creationId xmlns="" xmlns:a16="http://schemas.microsoft.com/office/drawing/2014/main" id="{DE4EAC7E-D4C4-B445-0781-C2AEDA6643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5406" y="4336906"/>
            <a:ext cx="9248775" cy="225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2535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7912"/>
          </a:xfrm>
        </p:spPr>
        <p:txBody>
          <a:bodyPr>
            <a:normAutofit fontScale="90000"/>
          </a:bodyPr>
          <a:lstStyle/>
          <a:p>
            <a:r>
              <a:rPr lang="en-US" dirty="0" smtClean="0"/>
              <a:t>Examples</a:t>
            </a:r>
            <a:endParaRPr lang="en-US" dirty="0"/>
          </a:p>
        </p:txBody>
      </p:sp>
      <p:sp>
        <p:nvSpPr>
          <p:cNvPr id="3" name="Content Placeholder 2"/>
          <p:cNvSpPr>
            <a:spLocks noGrp="1"/>
          </p:cNvSpPr>
          <p:nvPr>
            <p:ph idx="1"/>
          </p:nvPr>
        </p:nvSpPr>
        <p:spPr>
          <a:xfrm>
            <a:off x="271530" y="1027133"/>
            <a:ext cx="11589912" cy="5618365"/>
          </a:xfrm>
        </p:spPr>
        <p:txBody>
          <a:bodyPr/>
          <a:lstStyle/>
          <a:p>
            <a:pPr marL="6513513" lvl="8"/>
            <a:r>
              <a:rPr lang="en-US" sz="2800" dirty="0" smtClean="0"/>
              <a:t>1] Retrieve details of students who received A grade in CS101.</a:t>
            </a:r>
          </a:p>
          <a:p>
            <a:pPr marL="6513513" lvl="8"/>
            <a:r>
              <a:rPr lang="en-US" sz="2800" dirty="0" smtClean="0"/>
              <a:t>2] List names of all  enrolled students .</a:t>
            </a:r>
          </a:p>
          <a:p>
            <a:pPr marL="6513513" lvl="8"/>
            <a:r>
              <a:rPr lang="en-US" sz="2800" dirty="0" smtClean="0"/>
              <a:t>3]</a:t>
            </a:r>
            <a:r>
              <a:rPr lang="en-US" sz="2800" dirty="0"/>
              <a:t>  </a:t>
            </a:r>
            <a:r>
              <a:rPr lang="en-US" sz="2800" dirty="0" smtClean="0"/>
              <a:t>List the courses </a:t>
            </a:r>
            <a:r>
              <a:rPr lang="en-US" sz="2800" dirty="0"/>
              <a:t>that are common to both "Students" and </a:t>
            </a:r>
            <a:r>
              <a:rPr lang="en-US" sz="2800" dirty="0" smtClean="0"/>
              <a:t>“Instructors“</a:t>
            </a:r>
          </a:p>
          <a:p>
            <a:pPr marL="6513513" lvl="8"/>
            <a:endParaRPr lang="en-US" dirty="0" smtClean="0"/>
          </a:p>
          <a:p>
            <a:pPr marL="6513513" lvl="8"/>
            <a:endParaRPr lang="en-US" dirty="0"/>
          </a:p>
        </p:txBody>
      </p:sp>
      <p:pic>
        <p:nvPicPr>
          <p:cNvPr id="1026"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16120"/>
          <a:stretch/>
        </p:blipFill>
        <p:spPr bwMode="auto">
          <a:xfrm>
            <a:off x="391062" y="1117913"/>
            <a:ext cx="6000750" cy="3531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540" y="4554225"/>
            <a:ext cx="5781675"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83232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185"/>
          </a:xfrm>
        </p:spPr>
        <p:txBody>
          <a:bodyPr>
            <a:normAutofit fontScale="90000"/>
          </a:bodyPr>
          <a:lstStyle/>
          <a:p>
            <a:r>
              <a:rPr lang="en-US" dirty="0" smtClean="0"/>
              <a:t>Examples</a:t>
            </a:r>
            <a:endParaRPr lang="en-US" dirty="0"/>
          </a:p>
        </p:txBody>
      </p:sp>
      <p:sp>
        <p:nvSpPr>
          <p:cNvPr id="3" name="Content Placeholder 2"/>
          <p:cNvSpPr>
            <a:spLocks noGrp="1"/>
          </p:cNvSpPr>
          <p:nvPr>
            <p:ph idx="1"/>
          </p:nvPr>
        </p:nvSpPr>
        <p:spPr>
          <a:xfrm>
            <a:off x="579549" y="4331125"/>
            <a:ext cx="10747419" cy="2824632"/>
          </a:xfrm>
        </p:spPr>
        <p:txBody>
          <a:bodyPr/>
          <a:lstStyle/>
          <a:p>
            <a:r>
              <a:rPr lang="en-US" dirty="0" smtClean="0"/>
              <a:t>1]</a:t>
            </a:r>
            <a:r>
              <a:rPr lang="en-US" dirty="0"/>
              <a:t>  </a:t>
            </a:r>
            <a:r>
              <a:rPr lang="en-US" dirty="0" smtClean="0"/>
              <a:t>List students whose </a:t>
            </a:r>
            <a:r>
              <a:rPr lang="en-US" dirty="0"/>
              <a:t>"AGE" is </a:t>
            </a:r>
            <a:r>
              <a:rPr lang="en-US" dirty="0" smtClean="0"/>
              <a:t>20</a:t>
            </a:r>
          </a:p>
          <a:p>
            <a:r>
              <a:rPr lang="en-US" dirty="0" smtClean="0"/>
              <a:t>2]</a:t>
            </a:r>
            <a:r>
              <a:rPr lang="en-US" dirty="0"/>
              <a:t> </a:t>
            </a:r>
            <a:r>
              <a:rPr lang="en-US" dirty="0" smtClean="0"/>
              <a:t>List all </a:t>
            </a:r>
            <a:r>
              <a:rPr lang="en-US" dirty="0"/>
              <a:t>the names from STUDENT and EMPLOYEE relation</a:t>
            </a:r>
            <a:r>
              <a:rPr lang="en-US" dirty="0" smtClean="0"/>
              <a:t>.</a:t>
            </a:r>
          </a:p>
          <a:p>
            <a:r>
              <a:rPr lang="en-US" dirty="0" smtClean="0"/>
              <a:t>3]</a:t>
            </a:r>
            <a:r>
              <a:rPr lang="en-US" dirty="0"/>
              <a:t>  </a:t>
            </a:r>
            <a:r>
              <a:rPr lang="en-US" dirty="0" smtClean="0"/>
              <a:t>List students those who </a:t>
            </a:r>
            <a:r>
              <a:rPr lang="en-US" dirty="0"/>
              <a:t>are </a:t>
            </a:r>
            <a:r>
              <a:rPr lang="en-US" dirty="0" smtClean="0"/>
              <a:t>not EMPLOYEE and those who are employee.</a:t>
            </a:r>
            <a:endParaRPr lang="en-US" dirty="0"/>
          </a:p>
        </p:txBody>
      </p:sp>
      <p:pic>
        <p:nvPicPr>
          <p:cNvPr id="2051" name="Picture 3"/>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 uri="{28A0092B-C50C-407E-A947-70E740481C1C}">
                <a14:useLocalDpi xmlns:a14="http://schemas.microsoft.com/office/drawing/2010/main" val="0"/>
              </a:ext>
            </a:extLst>
          </a:blip>
          <a:srcRect l="8909" r="6273"/>
          <a:stretch/>
        </p:blipFill>
        <p:spPr bwMode="auto">
          <a:xfrm>
            <a:off x="811369" y="1010790"/>
            <a:ext cx="4005330" cy="3320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50000"/>
                    </a14:imgEffect>
                    <a14:imgEffect>
                      <a14:colorTemperature colorTemp="112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5267459" y="1010790"/>
            <a:ext cx="4400550"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60199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normAutofit/>
          </a:bodyPr>
          <a:lstStyle/>
          <a:p>
            <a:pPr algn="just"/>
            <a:r>
              <a:rPr lang="en-US" b="1" i="0" u="sng" dirty="0">
                <a:effectLst/>
              </a:rPr>
              <a:t>Cartesian product (X)</a:t>
            </a:r>
            <a:r>
              <a:rPr lang="en-US" b="1" i="0" dirty="0">
                <a:effectLst/>
              </a:rPr>
              <a:t>: </a:t>
            </a:r>
            <a:r>
              <a:rPr lang="en-US" i="0" dirty="0">
                <a:effectLst/>
              </a:rPr>
              <a:t>The Cartesian product </a:t>
            </a:r>
            <a:r>
              <a:rPr lang="en-US" b="1" i="0" dirty="0">
                <a:solidFill>
                  <a:srgbClr val="000099"/>
                </a:solidFill>
                <a:effectLst/>
              </a:rPr>
              <a:t>operation will generate the possible combinations among the tuples from the relations resulting in table containing all the data. </a:t>
            </a:r>
          </a:p>
          <a:p>
            <a:pPr algn="just"/>
            <a:r>
              <a:rPr lang="en-US" i="0" dirty="0">
                <a:effectLst/>
              </a:rPr>
              <a:t>It combines the information of two or more relations in one single relation. Cartesian product is different from union operation and is </a:t>
            </a:r>
            <a:r>
              <a:rPr lang="en-US" b="1" i="0" dirty="0">
                <a:solidFill>
                  <a:srgbClr val="000099"/>
                </a:solidFill>
                <a:effectLst/>
              </a:rPr>
              <a:t>denoted by “Cross(X)”.</a:t>
            </a:r>
          </a:p>
          <a:p>
            <a:pPr algn="just"/>
            <a:endParaRPr lang="en-US" dirty="0"/>
          </a:p>
        </p:txBody>
      </p:sp>
      <p:pic>
        <p:nvPicPr>
          <p:cNvPr id="8" name="Picture 7">
            <a:extLst>
              <a:ext uri="{FF2B5EF4-FFF2-40B4-BE49-F238E27FC236}">
                <a16:creationId xmlns="" xmlns:a16="http://schemas.microsoft.com/office/drawing/2014/main" id="{CF826F69-6D18-8042-9F87-33AF3B9BC6CE}"/>
              </a:ext>
            </a:extLst>
          </p:cNvPr>
          <p:cNvPicPr>
            <a:picLocks noChangeAspect="1"/>
          </p:cNvPicPr>
          <p:nvPr/>
        </p:nvPicPr>
        <p:blipFill>
          <a:blip r:embed="rId2"/>
          <a:stretch>
            <a:fillRect/>
          </a:stretch>
        </p:blipFill>
        <p:spPr>
          <a:xfrm>
            <a:off x="737322" y="3681412"/>
            <a:ext cx="1628775" cy="1933575"/>
          </a:xfrm>
          <a:prstGeom prst="rect">
            <a:avLst/>
          </a:prstGeom>
        </p:spPr>
      </p:pic>
      <p:pic>
        <p:nvPicPr>
          <p:cNvPr id="10" name="Picture 9">
            <a:extLst>
              <a:ext uri="{FF2B5EF4-FFF2-40B4-BE49-F238E27FC236}">
                <a16:creationId xmlns="" xmlns:a16="http://schemas.microsoft.com/office/drawing/2014/main" id="{5F9A466D-E326-6B33-CE87-10984A078C33}"/>
              </a:ext>
            </a:extLst>
          </p:cNvPr>
          <p:cNvPicPr>
            <a:picLocks noChangeAspect="1"/>
          </p:cNvPicPr>
          <p:nvPr/>
        </p:nvPicPr>
        <p:blipFill>
          <a:blip r:embed="rId3"/>
          <a:stretch>
            <a:fillRect/>
          </a:stretch>
        </p:blipFill>
        <p:spPr>
          <a:xfrm>
            <a:off x="3668857" y="3681412"/>
            <a:ext cx="1695450" cy="1943100"/>
          </a:xfrm>
          <a:prstGeom prst="rect">
            <a:avLst/>
          </a:prstGeom>
        </p:spPr>
      </p:pic>
      <p:pic>
        <p:nvPicPr>
          <p:cNvPr id="12" name="Picture 11">
            <a:extLst>
              <a:ext uri="{FF2B5EF4-FFF2-40B4-BE49-F238E27FC236}">
                <a16:creationId xmlns="" xmlns:a16="http://schemas.microsoft.com/office/drawing/2014/main" id="{BAF48392-AD8F-527C-142F-83EA2B84F3B1}"/>
              </a:ext>
            </a:extLst>
          </p:cNvPr>
          <p:cNvPicPr>
            <a:picLocks noChangeAspect="1"/>
          </p:cNvPicPr>
          <p:nvPr/>
        </p:nvPicPr>
        <p:blipFill>
          <a:blip r:embed="rId4"/>
          <a:stretch>
            <a:fillRect/>
          </a:stretch>
        </p:blipFill>
        <p:spPr>
          <a:xfrm>
            <a:off x="7652039" y="3159379"/>
            <a:ext cx="3590925" cy="3241964"/>
          </a:xfrm>
          <a:prstGeom prst="rect">
            <a:avLst/>
          </a:prstGeom>
        </p:spPr>
      </p:pic>
    </p:spTree>
    <p:extLst>
      <p:ext uri="{BB962C8B-B14F-4D97-AF65-F5344CB8AC3E}">
        <p14:creationId xmlns:p14="http://schemas.microsoft.com/office/powerpoint/2010/main" val="13305994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169" y="1336228"/>
            <a:ext cx="5086082" cy="4351338"/>
          </a:xfrm>
        </p:spPr>
        <p:txBody>
          <a:bodyPr>
            <a:normAutofit fontScale="92500" lnSpcReduction="20000"/>
          </a:bodyPr>
          <a:lstStyle/>
          <a:p>
            <a:r>
              <a:rPr lang="en-US" b="1" u="sng" dirty="0"/>
              <a:t>Division </a:t>
            </a:r>
            <a:r>
              <a:rPr lang="en-US" b="1" u="sng" dirty="0" smtClean="0"/>
              <a:t>Operation(÷) :          </a:t>
            </a:r>
            <a:r>
              <a:rPr lang="en-US" dirty="0" smtClean="0"/>
              <a:t>The </a:t>
            </a:r>
            <a:r>
              <a:rPr lang="en-US" dirty="0"/>
              <a:t>division operator is used for queries which involve the ‘</a:t>
            </a:r>
            <a:r>
              <a:rPr lang="en-US" dirty="0" smtClean="0"/>
              <a:t>all association’.</a:t>
            </a:r>
          </a:p>
          <a:p>
            <a:r>
              <a:rPr lang="en-US" dirty="0"/>
              <a:t>The </a:t>
            </a:r>
            <a:r>
              <a:rPr lang="en-US" b="1" dirty="0"/>
              <a:t>Division (÷) operator</a:t>
            </a:r>
            <a:r>
              <a:rPr lang="en-US" dirty="0"/>
              <a:t> is used in </a:t>
            </a:r>
            <a:r>
              <a:rPr lang="en-US" b="1" dirty="0"/>
              <a:t>relational algebra</a:t>
            </a:r>
            <a:r>
              <a:rPr lang="en-US" dirty="0"/>
              <a:t> when you need to find entities that are related to </a:t>
            </a:r>
            <a:r>
              <a:rPr lang="en-US" b="1" dirty="0"/>
              <a:t>all</a:t>
            </a:r>
            <a:r>
              <a:rPr lang="en-US" dirty="0"/>
              <a:t> values in a given set. It is useful for queries involving "for all" conditions.</a:t>
            </a:r>
          </a:p>
          <a:p>
            <a:endParaRPr lang="en-US" dirty="0" smtClean="0"/>
          </a:p>
          <a:p>
            <a:r>
              <a:rPr lang="en-US" dirty="0"/>
              <a:t>R1 ÷ R2 = tuples of R1 associated with all tuples of R2.</a:t>
            </a:r>
            <a:endParaRPr lang="en-US" b="1" u="sng" dirty="0"/>
          </a:p>
        </p:txBody>
      </p:sp>
      <p:sp>
        <p:nvSpPr>
          <p:cNvPr id="4" name="Title 1">
            <a:extLst>
              <a:ext uri="{FF2B5EF4-FFF2-40B4-BE49-F238E27FC236}">
                <a16:creationId xmlns="" xmlns:a16="http://schemas.microsoft.com/office/drawing/2014/main" id="{A5A966BE-F41B-35F0-2F02-8FEE1C9447F8}"/>
              </a:ext>
            </a:extLst>
          </p:cNvPr>
          <p:cNvSpPr>
            <a:spLocks noGrp="1"/>
          </p:cNvSpPr>
          <p:nvPr>
            <p:ph type="title"/>
          </p:nvPr>
        </p:nvSpPr>
        <p:spPr/>
        <p:txBody>
          <a:bodyPr>
            <a:normAutofit/>
          </a:bodyPr>
          <a:lstStyle/>
          <a:p>
            <a:r>
              <a:rPr lang="en-US" sz="4000" b="1" dirty="0">
                <a:latin typeface="+mn-lt"/>
              </a:rPr>
              <a:t>Relational Algebra : Operations</a:t>
            </a:r>
          </a:p>
        </p:txBody>
      </p:sp>
      <p:pic>
        <p:nvPicPr>
          <p:cNvPr id="1026" name="Picture 2"/>
          <p:cNvPicPr>
            <a:picLocks noChangeAspect="1" noChangeArrowheads="1"/>
          </p:cNvPicPr>
          <p:nvPr/>
        </p:nvPicPr>
        <p:blipFill rotWithShape="1">
          <a:blip r:embed="rId3">
            <a:duotone>
              <a:prstClr val="black"/>
              <a:schemeClr val="accent3">
                <a:tint val="45000"/>
                <a:satMod val="400000"/>
              </a:schemeClr>
            </a:duoton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t="4678"/>
          <a:stretch/>
        </p:blipFill>
        <p:spPr bwMode="auto">
          <a:xfrm>
            <a:off x="5731100" y="1413088"/>
            <a:ext cx="6460900" cy="544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45731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220887" y="1747838"/>
            <a:ext cx="11971113" cy="3674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09881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Operations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11630891" cy="4351338"/>
          </a:xfrm>
        </p:spPr>
        <p:txBody>
          <a:bodyPr>
            <a:normAutofit/>
          </a:bodyPr>
          <a:lstStyle/>
          <a:p>
            <a:pPr algn="just"/>
            <a:r>
              <a:rPr lang="en-US" b="1" i="0" u="sng" dirty="0">
                <a:effectLst/>
              </a:rPr>
              <a:t>Rename (</a:t>
            </a:r>
            <a:r>
              <a:rPr lang="el-GR" b="1" i="0" u="sng" dirty="0">
                <a:effectLst/>
              </a:rPr>
              <a:t>ρ)</a:t>
            </a:r>
            <a:r>
              <a:rPr lang="en-US" b="1" i="0" dirty="0">
                <a:effectLst/>
                <a:latin typeface="PT Sans" panose="020B0503020203020204" pitchFamily="34" charset="0"/>
              </a:rPr>
              <a:t> </a:t>
            </a:r>
            <a:r>
              <a:rPr lang="en-US" b="1" i="0" dirty="0">
                <a:effectLst/>
              </a:rPr>
              <a:t>: </a:t>
            </a:r>
            <a:r>
              <a:rPr lang="en-US" b="1" i="0" dirty="0">
                <a:solidFill>
                  <a:srgbClr val="000099"/>
                </a:solidFill>
                <a:effectLst/>
              </a:rPr>
              <a:t>Rename (ρ) operation can be used to rename a relation or an attribute of a relation.</a:t>
            </a:r>
          </a:p>
          <a:p>
            <a:pPr algn="just"/>
            <a:r>
              <a:rPr lang="en-US" b="1" i="0" dirty="0">
                <a:solidFill>
                  <a:srgbClr val="C00000"/>
                </a:solidFill>
                <a:effectLst/>
              </a:rPr>
              <a:t>Rename (ρ) Syntax: ρ(</a:t>
            </a:r>
            <a:r>
              <a:rPr lang="en-US" b="1" i="0" dirty="0" err="1">
                <a:solidFill>
                  <a:srgbClr val="C00000"/>
                </a:solidFill>
                <a:effectLst/>
              </a:rPr>
              <a:t>new_relation_name</a:t>
            </a:r>
            <a:r>
              <a:rPr lang="en-US" b="1" i="0" dirty="0">
                <a:solidFill>
                  <a:srgbClr val="C00000"/>
                </a:solidFill>
                <a:effectLst/>
              </a:rPr>
              <a:t>, </a:t>
            </a:r>
            <a:r>
              <a:rPr lang="en-US" b="1" i="0" dirty="0" err="1">
                <a:solidFill>
                  <a:srgbClr val="C00000"/>
                </a:solidFill>
                <a:effectLst/>
              </a:rPr>
              <a:t>old_relation_name</a:t>
            </a:r>
            <a:r>
              <a:rPr lang="en-US" b="1" i="0" dirty="0">
                <a:solidFill>
                  <a:srgbClr val="C00000"/>
                </a:solidFill>
                <a:effectLst/>
              </a:rPr>
              <a:t>)</a:t>
            </a:r>
          </a:p>
          <a:p>
            <a:pPr algn="just"/>
            <a:r>
              <a:rPr lang="en-US" b="1" dirty="0">
                <a:solidFill>
                  <a:srgbClr val="000099"/>
                </a:solidFill>
              </a:rPr>
              <a:t>Query: ρ(CUST_NAMES, ∏(</a:t>
            </a:r>
            <a:r>
              <a:rPr lang="en-US" b="1" dirty="0" err="1">
                <a:solidFill>
                  <a:srgbClr val="000099"/>
                </a:solidFill>
              </a:rPr>
              <a:t>Customer_Name</a:t>
            </a:r>
            <a:r>
              <a:rPr lang="en-US" b="1" dirty="0">
                <a:solidFill>
                  <a:srgbClr val="000099"/>
                </a:solidFill>
              </a:rPr>
              <a:t>)(CUSTOMER))</a:t>
            </a:r>
          </a:p>
        </p:txBody>
      </p:sp>
      <p:pic>
        <p:nvPicPr>
          <p:cNvPr id="5" name="Picture 4">
            <a:extLst>
              <a:ext uri="{FF2B5EF4-FFF2-40B4-BE49-F238E27FC236}">
                <a16:creationId xmlns="" xmlns:a16="http://schemas.microsoft.com/office/drawing/2014/main" id="{74E612E4-FFAB-7210-C85E-C366335E6717}"/>
              </a:ext>
            </a:extLst>
          </p:cNvPr>
          <p:cNvPicPr>
            <a:picLocks noChangeAspect="1"/>
          </p:cNvPicPr>
          <p:nvPr/>
        </p:nvPicPr>
        <p:blipFill>
          <a:blip r:embed="rId2"/>
          <a:stretch>
            <a:fillRect/>
          </a:stretch>
        </p:blipFill>
        <p:spPr>
          <a:xfrm>
            <a:off x="247650" y="2946220"/>
            <a:ext cx="5848350" cy="2609850"/>
          </a:xfrm>
          <a:prstGeom prst="rect">
            <a:avLst/>
          </a:prstGeom>
        </p:spPr>
      </p:pic>
      <p:pic>
        <p:nvPicPr>
          <p:cNvPr id="7" name="Picture 6">
            <a:extLst>
              <a:ext uri="{FF2B5EF4-FFF2-40B4-BE49-F238E27FC236}">
                <a16:creationId xmlns="" xmlns:a16="http://schemas.microsoft.com/office/drawing/2014/main" id="{ED4EAFE5-C2C1-7E8C-3B3E-82CAFA61D031}"/>
              </a:ext>
            </a:extLst>
          </p:cNvPr>
          <p:cNvPicPr>
            <a:picLocks noChangeAspect="1"/>
          </p:cNvPicPr>
          <p:nvPr/>
        </p:nvPicPr>
        <p:blipFill>
          <a:blip r:embed="rId3"/>
          <a:stretch>
            <a:fillRect/>
          </a:stretch>
        </p:blipFill>
        <p:spPr>
          <a:xfrm>
            <a:off x="9654453" y="3200832"/>
            <a:ext cx="1666875" cy="2562225"/>
          </a:xfrm>
          <a:prstGeom prst="rect">
            <a:avLst/>
          </a:prstGeom>
        </p:spPr>
      </p:pic>
    </p:spTree>
    <p:extLst>
      <p:ext uri="{BB962C8B-B14F-4D97-AF65-F5344CB8AC3E}">
        <p14:creationId xmlns:p14="http://schemas.microsoft.com/office/powerpoint/2010/main" val="41401024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Algebra examples</a:t>
            </a:r>
            <a:endParaRPr lang="en-US" dirty="0"/>
          </a:p>
        </p:txBody>
      </p:sp>
      <p:sp>
        <p:nvSpPr>
          <p:cNvPr id="3" name="Content Placeholder 2"/>
          <p:cNvSpPr>
            <a:spLocks noGrp="1"/>
          </p:cNvSpPr>
          <p:nvPr>
            <p:ph idx="1"/>
          </p:nvPr>
        </p:nvSpPr>
        <p:spPr>
          <a:xfrm>
            <a:off x="425004" y="1825625"/>
            <a:ext cx="3245476" cy="4351338"/>
          </a:xfrm>
        </p:spPr>
        <p:txBody>
          <a:bodyPr>
            <a:normAutofit/>
          </a:bodyPr>
          <a:lstStyle/>
          <a:p>
            <a:pPr algn="just"/>
            <a:r>
              <a:rPr lang="en-US" sz="2200" dirty="0">
                <a:solidFill>
                  <a:srgbClr val="002060"/>
                </a:solidFill>
              </a:rPr>
              <a:t>1. Find </a:t>
            </a:r>
            <a:r>
              <a:rPr lang="en-US" sz="2200" dirty="0" smtClean="0">
                <a:solidFill>
                  <a:srgbClr val="002060"/>
                </a:solidFill>
              </a:rPr>
              <a:t> Indian player id .</a:t>
            </a:r>
          </a:p>
          <a:p>
            <a:pPr algn="just"/>
            <a:r>
              <a:rPr lang="en-US" sz="2200" dirty="0" smtClean="0">
                <a:solidFill>
                  <a:srgbClr val="002060"/>
                </a:solidFill>
              </a:rPr>
              <a:t>2. List out players those who are having more than 10000 runs.</a:t>
            </a:r>
          </a:p>
          <a:p>
            <a:pPr algn="just"/>
            <a:r>
              <a:rPr lang="en-US" sz="2200" dirty="0" smtClean="0">
                <a:solidFill>
                  <a:srgbClr val="002060"/>
                </a:solidFill>
              </a:rPr>
              <a:t>3. List out player along with their country details having age below 25 and more than 100 wickets</a:t>
            </a:r>
            <a:r>
              <a:rPr lang="en-US" dirty="0" smtClean="0">
                <a:solidFill>
                  <a:srgbClr val="002060"/>
                </a:solidFill>
              </a:rPr>
              <a:t>.</a:t>
            </a:r>
          </a:p>
          <a:p>
            <a:pPr algn="just"/>
            <a:r>
              <a:rPr lang="en-US" sz="2200" dirty="0">
                <a:solidFill>
                  <a:srgbClr val="002060"/>
                </a:solidFill>
              </a:rPr>
              <a:t>4. </a:t>
            </a:r>
            <a:r>
              <a:rPr lang="en-US" sz="2200" dirty="0" smtClean="0">
                <a:solidFill>
                  <a:srgbClr val="002060"/>
                </a:solidFill>
              </a:rPr>
              <a:t> </a:t>
            </a:r>
            <a:r>
              <a:rPr lang="en-US" sz="2200" dirty="0">
                <a:solidFill>
                  <a:srgbClr val="002060"/>
                </a:solidFill>
              </a:rPr>
              <a:t>List all the countries in Player relation. </a:t>
            </a:r>
          </a:p>
        </p:txBody>
      </p:sp>
      <p:pic>
        <p:nvPicPr>
          <p:cNvPr id="1026"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4113392" y="1537147"/>
            <a:ext cx="7648575"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83497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5793"/>
          </a:xfrm>
        </p:spPr>
        <p:txBody>
          <a:bodyPr/>
          <a:lstStyle/>
          <a:p>
            <a:r>
              <a:rPr lang="en-US" dirty="0"/>
              <a:t>Relational Algebra examples</a:t>
            </a:r>
          </a:p>
        </p:txBody>
      </p:sp>
      <p:sp>
        <p:nvSpPr>
          <p:cNvPr id="3" name="Content Placeholder 2"/>
          <p:cNvSpPr>
            <a:spLocks noGrp="1"/>
          </p:cNvSpPr>
          <p:nvPr>
            <p:ph idx="1"/>
          </p:nvPr>
        </p:nvSpPr>
        <p:spPr>
          <a:xfrm>
            <a:off x="838200" y="1506828"/>
            <a:ext cx="4828504" cy="4670135"/>
          </a:xfrm>
        </p:spPr>
        <p:txBody>
          <a:bodyPr>
            <a:normAutofit/>
          </a:bodyPr>
          <a:lstStyle/>
          <a:p>
            <a:r>
              <a:rPr lang="en-US" sz="2400" dirty="0" smtClean="0"/>
              <a:t>1.</a:t>
            </a:r>
            <a:r>
              <a:rPr lang="en-US" sz="2400" dirty="0"/>
              <a:t>  Find all the </a:t>
            </a:r>
            <a:r>
              <a:rPr lang="en-US" sz="2400" dirty="0" smtClean="0"/>
              <a:t>Customers </a:t>
            </a:r>
            <a:r>
              <a:rPr lang="en-US" sz="2400" dirty="0"/>
              <a:t>having an account but not the loan</a:t>
            </a:r>
            <a:r>
              <a:rPr lang="en-US" sz="2400" dirty="0" smtClean="0"/>
              <a:t>.</a:t>
            </a:r>
          </a:p>
          <a:p>
            <a:r>
              <a:rPr lang="en-US" sz="2400" dirty="0" smtClean="0"/>
              <a:t>2.Change the Name of the deposit relation as “Depositor –details”.</a:t>
            </a:r>
          </a:p>
          <a:p>
            <a:r>
              <a:rPr lang="en-US" sz="2400" dirty="0" smtClean="0"/>
              <a:t>3.Change </a:t>
            </a:r>
            <a:r>
              <a:rPr lang="en-US" sz="2400" dirty="0" err="1" smtClean="0"/>
              <a:t>cust</a:t>
            </a:r>
            <a:r>
              <a:rPr lang="en-US" sz="2400" dirty="0" smtClean="0"/>
              <a:t>-name attribute of borrower relation as “Customer-Name”.</a:t>
            </a:r>
          </a:p>
          <a:p>
            <a:r>
              <a:rPr lang="en-US" sz="2400" dirty="0" smtClean="0"/>
              <a:t>4. Find customers those who have account and also borrowed loan from a bank.</a:t>
            </a:r>
            <a:endParaRPr lang="en-US" sz="2400" dirty="0"/>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6046690" y="1416676"/>
            <a:ext cx="5917783" cy="532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931532" y="3244334"/>
            <a:ext cx="328936" cy="369332"/>
          </a:xfrm>
          <a:prstGeom prst="rect">
            <a:avLst/>
          </a:prstGeom>
        </p:spPr>
        <p:txBody>
          <a:bodyPr wrap="none">
            <a:spAutoFit/>
          </a:bodyPr>
          <a:lstStyle/>
          <a:p>
            <a:r>
              <a:rPr lang="el-GR"/>
              <a:t>Π</a:t>
            </a:r>
            <a:endParaRPr lang="en-US" dirty="0"/>
          </a:p>
        </p:txBody>
      </p:sp>
    </p:spTree>
    <p:extLst>
      <p:ext uri="{BB962C8B-B14F-4D97-AF65-F5344CB8AC3E}">
        <p14:creationId xmlns:p14="http://schemas.microsoft.com/office/powerpoint/2010/main" val="17499105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38670" y="1091529"/>
            <a:ext cx="6305281" cy="4351338"/>
          </a:xfrm>
        </p:spPr>
        <p:txBody>
          <a:bodyPr/>
          <a:lstStyle/>
          <a:p>
            <a:r>
              <a:rPr lang="en-US" dirty="0" smtClean="0"/>
              <a:t>1. </a:t>
            </a:r>
            <a:r>
              <a:rPr lang="en-US" dirty="0"/>
              <a:t>Find the names of all red parts</a:t>
            </a:r>
            <a:r>
              <a:rPr lang="en-US" dirty="0" smtClean="0"/>
              <a:t>.</a:t>
            </a:r>
          </a:p>
          <a:p>
            <a:r>
              <a:rPr lang="en-US" dirty="0" smtClean="0"/>
              <a:t>2.Find </a:t>
            </a:r>
            <a:r>
              <a:rPr lang="en-US" dirty="0"/>
              <a:t>all prices for parts that are red or green</a:t>
            </a:r>
            <a:r>
              <a:rPr lang="en-US" dirty="0" smtClean="0"/>
              <a:t>.</a:t>
            </a:r>
          </a:p>
          <a:p>
            <a:r>
              <a:rPr lang="en-US" dirty="0"/>
              <a:t>3. Find the </a:t>
            </a:r>
            <a:r>
              <a:rPr lang="en-US" dirty="0" err="1"/>
              <a:t>sIDs</a:t>
            </a:r>
            <a:r>
              <a:rPr lang="en-US" dirty="0"/>
              <a:t> of all suppliers who supply a part that is red or green</a:t>
            </a:r>
          </a:p>
          <a:p>
            <a:endParaRPr 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575" y="1196394"/>
            <a:ext cx="4136815" cy="2783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a:extLst>
              <a:ext uri="{FF2B5EF4-FFF2-40B4-BE49-F238E27FC236}">
                <a16:creationId xmlns="" xmlns:a16="http://schemas.microsoft.com/office/drawing/2014/main" id="{BFF24664-F4F3-4F49-BDDD-B4ABB88A0AE2}"/>
              </a:ext>
            </a:extLst>
          </p:cNvPr>
          <p:cNvSpPr>
            <a:spLocks noGrp="1"/>
          </p:cNvSpPr>
          <p:nvPr>
            <p:ph type="title"/>
          </p:nvPr>
        </p:nvSpPr>
        <p:spPr>
          <a:xfrm>
            <a:off x="838200" y="184821"/>
            <a:ext cx="10515600" cy="639427"/>
          </a:xfrm>
        </p:spPr>
        <p:txBody>
          <a:bodyPr>
            <a:normAutofit fontScale="90000"/>
          </a:bodyPr>
          <a:lstStyle/>
          <a:p>
            <a:r>
              <a:rPr lang="en-IN" sz="4000" b="1" dirty="0" smtClean="0">
                <a:effectLst/>
              </a:rPr>
              <a:t>Relational Algebra example</a:t>
            </a:r>
            <a:r>
              <a:rPr lang="en-IN" sz="4000" b="1" dirty="0">
                <a:effectLst/>
              </a:rPr>
              <a:t/>
            </a:r>
            <a:br>
              <a:rPr lang="en-IN" sz="4000" b="1" dirty="0">
                <a:effectLst/>
              </a:rPr>
            </a:br>
            <a:endParaRPr lang="en-IN" sz="4000" dirty="0"/>
          </a:p>
        </p:txBody>
      </p:sp>
    </p:spTree>
    <p:extLst>
      <p:ext uri="{BB962C8B-B14F-4D97-AF65-F5344CB8AC3E}">
        <p14:creationId xmlns:p14="http://schemas.microsoft.com/office/powerpoint/2010/main" val="3368125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6" y="0"/>
            <a:ext cx="7236854" cy="3090930"/>
          </a:xfrm>
        </p:spPr>
        <p:txBody>
          <a:bodyPr>
            <a:normAutofit lnSpcReduction="10000"/>
          </a:bodyPr>
          <a:lstStyle/>
          <a:p>
            <a:r>
              <a:rPr lang="en-US" sz="2400" b="1" dirty="0"/>
              <a:t>Employee</a:t>
            </a:r>
            <a:r>
              <a:rPr lang="en-US" sz="2400" dirty="0"/>
              <a:t> (</a:t>
            </a:r>
            <a:r>
              <a:rPr lang="en-US" sz="2400" i="1" dirty="0" err="1"/>
              <a:t>EmpID</a:t>
            </a:r>
            <a:r>
              <a:rPr lang="en-US" sz="2400" i="1" dirty="0"/>
              <a:t>, Name, </a:t>
            </a:r>
            <a:r>
              <a:rPr lang="en-US" sz="2400" i="1" smtClean="0"/>
              <a:t>Dept, </a:t>
            </a:r>
            <a:r>
              <a:rPr lang="en-US" sz="2400" i="1" dirty="0"/>
              <a:t>Salary, Age</a:t>
            </a:r>
            <a:r>
              <a:rPr lang="en-US" sz="2400" dirty="0" smtClean="0"/>
              <a:t>)</a:t>
            </a:r>
          </a:p>
          <a:p>
            <a:r>
              <a:rPr lang="en-US" sz="2400" b="1" dirty="0" smtClean="0"/>
              <a:t>Department</a:t>
            </a:r>
            <a:r>
              <a:rPr lang="en-US" sz="2400" dirty="0" smtClean="0"/>
              <a:t> </a:t>
            </a:r>
            <a:r>
              <a:rPr lang="en-US" sz="2400" dirty="0"/>
              <a:t>(</a:t>
            </a:r>
            <a:r>
              <a:rPr lang="en-US" sz="2400" i="1" dirty="0" err="1"/>
              <a:t>DeptID</a:t>
            </a:r>
            <a:r>
              <a:rPr lang="en-US" sz="2400" i="1" dirty="0"/>
              <a:t>, </a:t>
            </a:r>
            <a:r>
              <a:rPr lang="en-US" sz="2400" i="1" dirty="0" err="1"/>
              <a:t>DeptName</a:t>
            </a:r>
            <a:r>
              <a:rPr lang="en-US" sz="2400" i="1" dirty="0"/>
              <a:t>, Location</a:t>
            </a:r>
            <a:r>
              <a:rPr lang="en-US" sz="2400" dirty="0" smtClean="0"/>
              <a:t>)</a:t>
            </a:r>
          </a:p>
          <a:p>
            <a:r>
              <a:rPr lang="en-US" sz="2400" b="1" dirty="0" smtClean="0"/>
              <a:t>Project</a:t>
            </a:r>
            <a:r>
              <a:rPr lang="en-US" sz="2400" dirty="0" smtClean="0"/>
              <a:t> </a:t>
            </a:r>
            <a:r>
              <a:rPr lang="en-US" sz="2400" dirty="0"/>
              <a:t>(</a:t>
            </a:r>
            <a:r>
              <a:rPr lang="en-US" sz="2400" i="1" dirty="0" err="1"/>
              <a:t>ProjID</a:t>
            </a:r>
            <a:r>
              <a:rPr lang="en-US" sz="2400" i="1" dirty="0"/>
              <a:t>, </a:t>
            </a:r>
            <a:r>
              <a:rPr lang="en-US" sz="2400" i="1" dirty="0" err="1"/>
              <a:t>ProjName</a:t>
            </a:r>
            <a:r>
              <a:rPr lang="en-US" sz="2400" i="1" dirty="0"/>
              <a:t>, </a:t>
            </a:r>
            <a:r>
              <a:rPr lang="en-US" sz="2400" i="1" dirty="0" err="1"/>
              <a:t>DeptID</a:t>
            </a:r>
            <a:r>
              <a:rPr lang="en-US" sz="2400" dirty="0" smtClean="0"/>
              <a:t>)</a:t>
            </a:r>
          </a:p>
          <a:p>
            <a:r>
              <a:rPr lang="en-US" sz="2400" b="1" dirty="0" err="1" smtClean="0"/>
              <a:t>WorksOn</a:t>
            </a:r>
            <a:r>
              <a:rPr lang="en-US" sz="2400" dirty="0" smtClean="0"/>
              <a:t> </a:t>
            </a:r>
            <a:r>
              <a:rPr lang="en-US" sz="2400" dirty="0"/>
              <a:t>(</a:t>
            </a:r>
            <a:r>
              <a:rPr lang="en-US" sz="2400" i="1" dirty="0" err="1"/>
              <a:t>EmpID</a:t>
            </a:r>
            <a:r>
              <a:rPr lang="en-US" sz="2400" i="1" dirty="0"/>
              <a:t>, </a:t>
            </a:r>
            <a:r>
              <a:rPr lang="en-US" sz="2400" i="1" dirty="0" err="1"/>
              <a:t>ProjID</a:t>
            </a:r>
            <a:r>
              <a:rPr lang="en-US" sz="2400" i="1" dirty="0"/>
              <a:t>, Hours</a:t>
            </a:r>
            <a:r>
              <a:rPr lang="en-US" sz="2400" dirty="0" smtClean="0"/>
              <a:t>)</a:t>
            </a:r>
          </a:p>
          <a:p>
            <a:r>
              <a:rPr lang="en-US" sz="2400" b="1" dirty="0" smtClean="0"/>
              <a:t>Supplier</a:t>
            </a:r>
            <a:r>
              <a:rPr lang="en-US" sz="2400" dirty="0" smtClean="0"/>
              <a:t> </a:t>
            </a:r>
            <a:r>
              <a:rPr lang="en-US" sz="2400" dirty="0"/>
              <a:t>(</a:t>
            </a:r>
            <a:r>
              <a:rPr lang="en-US" sz="2400" i="1" dirty="0" err="1"/>
              <a:t>SuppID</a:t>
            </a:r>
            <a:r>
              <a:rPr lang="en-US" sz="2400" i="1" dirty="0"/>
              <a:t>, </a:t>
            </a:r>
            <a:r>
              <a:rPr lang="en-US" sz="2400" i="1" dirty="0" err="1"/>
              <a:t>SuppName</a:t>
            </a:r>
            <a:r>
              <a:rPr lang="en-US" sz="2400" i="1" dirty="0"/>
              <a:t>, City</a:t>
            </a:r>
            <a:r>
              <a:rPr lang="en-US" sz="2400" dirty="0" smtClean="0"/>
              <a:t>)</a:t>
            </a:r>
          </a:p>
          <a:p>
            <a:r>
              <a:rPr lang="en-US" sz="2400" b="1" dirty="0" smtClean="0"/>
              <a:t>Supplies</a:t>
            </a:r>
            <a:r>
              <a:rPr lang="en-US" sz="2400" dirty="0" smtClean="0"/>
              <a:t> </a:t>
            </a:r>
            <a:r>
              <a:rPr lang="en-US" sz="2400" dirty="0"/>
              <a:t>(</a:t>
            </a:r>
            <a:r>
              <a:rPr lang="en-US" sz="2400" i="1" dirty="0" err="1"/>
              <a:t>SuppID</a:t>
            </a:r>
            <a:r>
              <a:rPr lang="en-US" sz="2400" i="1" dirty="0"/>
              <a:t>, </a:t>
            </a:r>
            <a:r>
              <a:rPr lang="en-US" sz="2400" i="1" dirty="0" err="1"/>
              <a:t>ItemID</a:t>
            </a:r>
            <a:r>
              <a:rPr lang="en-US" sz="2400" i="1" dirty="0"/>
              <a:t>, Cost</a:t>
            </a:r>
            <a:r>
              <a:rPr lang="en-US" sz="2400" dirty="0" smtClean="0"/>
              <a:t>)</a:t>
            </a:r>
          </a:p>
          <a:p>
            <a:r>
              <a:rPr lang="en-US" sz="2400" b="1" dirty="0" smtClean="0"/>
              <a:t>Item</a:t>
            </a:r>
            <a:r>
              <a:rPr lang="en-US" sz="2400" dirty="0" smtClean="0"/>
              <a:t> </a:t>
            </a:r>
            <a:r>
              <a:rPr lang="en-US" sz="2400" dirty="0"/>
              <a:t>(</a:t>
            </a:r>
            <a:r>
              <a:rPr lang="en-US" sz="2400" i="1" dirty="0" err="1"/>
              <a:t>ItemID</a:t>
            </a:r>
            <a:r>
              <a:rPr lang="en-US" sz="2400" i="1" dirty="0"/>
              <a:t>, </a:t>
            </a:r>
            <a:r>
              <a:rPr lang="en-US" sz="2400" i="1" dirty="0" err="1"/>
              <a:t>ItemName</a:t>
            </a:r>
            <a:r>
              <a:rPr lang="en-US" sz="2400" i="1" dirty="0"/>
              <a:t>, Category</a:t>
            </a:r>
            <a:r>
              <a:rPr lang="en-US" sz="2400" dirty="0"/>
              <a:t>)</a:t>
            </a:r>
          </a:p>
        </p:txBody>
      </p:sp>
      <p:sp>
        <p:nvSpPr>
          <p:cNvPr id="4" name="Rectangle 3"/>
          <p:cNvSpPr/>
          <p:nvPr/>
        </p:nvSpPr>
        <p:spPr>
          <a:xfrm>
            <a:off x="6096000" y="27784"/>
            <a:ext cx="6096000" cy="5262979"/>
          </a:xfrm>
          <a:prstGeom prst="rect">
            <a:avLst/>
          </a:prstGeom>
        </p:spPr>
        <p:txBody>
          <a:bodyPr>
            <a:spAutoFit/>
          </a:bodyPr>
          <a:lstStyle/>
          <a:p>
            <a:pPr marL="342900" indent="-342900">
              <a:buAutoNum type="arabicPeriod"/>
            </a:pPr>
            <a:r>
              <a:rPr lang="en-US" sz="2400" dirty="0" smtClean="0"/>
              <a:t>Retrieve </a:t>
            </a:r>
            <a:r>
              <a:rPr lang="en-US" sz="2400" dirty="0"/>
              <a:t>the </a:t>
            </a:r>
            <a:r>
              <a:rPr lang="en-US" sz="2400" dirty="0" err="1"/>
              <a:t>EmpIDs</a:t>
            </a:r>
            <a:r>
              <a:rPr lang="en-US" sz="2400" dirty="0"/>
              <a:t> of employees who work on at least one project and are also listed in the employee table</a:t>
            </a:r>
            <a:r>
              <a:rPr lang="en-US" sz="2400" dirty="0" smtClean="0"/>
              <a:t>.</a:t>
            </a:r>
          </a:p>
          <a:p>
            <a:pPr marL="342900" indent="-342900">
              <a:buAutoNum type="arabicPeriod"/>
            </a:pPr>
            <a:r>
              <a:rPr lang="en-US" sz="2400" dirty="0"/>
              <a:t>Retrieve the </a:t>
            </a:r>
            <a:r>
              <a:rPr lang="en-US" sz="2400" dirty="0" err="1"/>
              <a:t>EmpIDs</a:t>
            </a:r>
            <a:r>
              <a:rPr lang="en-US" sz="2400" dirty="0"/>
              <a:t> of employees who are in the Employee table but are not assigned to any project</a:t>
            </a:r>
            <a:r>
              <a:rPr lang="en-US" sz="2400" dirty="0" smtClean="0"/>
              <a:t>.</a:t>
            </a:r>
          </a:p>
          <a:p>
            <a:pPr marL="342900" indent="-342900">
              <a:buAutoNum type="arabicPeriod"/>
            </a:pPr>
            <a:r>
              <a:rPr lang="en-US" sz="2400" dirty="0"/>
              <a:t>Retrieve all employees who work in the "HR" department</a:t>
            </a:r>
            <a:r>
              <a:rPr lang="en-US" sz="2400" dirty="0" smtClean="0"/>
              <a:t>.</a:t>
            </a:r>
          </a:p>
          <a:p>
            <a:pPr marL="342900" indent="-342900">
              <a:buAutoNum type="arabicPeriod"/>
            </a:pPr>
            <a:r>
              <a:rPr lang="en-US" sz="2400" dirty="0"/>
              <a:t>Rename the attribute </a:t>
            </a:r>
            <a:r>
              <a:rPr lang="en-US" sz="2400" i="1" dirty="0" err="1"/>
              <a:t>DeptID</a:t>
            </a:r>
            <a:r>
              <a:rPr lang="en-US" sz="2400" dirty="0"/>
              <a:t> of the Department table to </a:t>
            </a:r>
            <a:r>
              <a:rPr lang="en-US" sz="2400" i="1" dirty="0" err="1"/>
              <a:t>Department_Code</a:t>
            </a:r>
            <a:r>
              <a:rPr lang="en-US" sz="2400" dirty="0" smtClean="0"/>
              <a:t>.</a:t>
            </a:r>
          </a:p>
          <a:p>
            <a:pPr marL="342900" indent="-342900">
              <a:buAutoNum type="arabicPeriod"/>
            </a:pPr>
            <a:r>
              <a:rPr lang="en-US" sz="2400" dirty="0"/>
              <a:t>Retrieve the </a:t>
            </a:r>
            <a:r>
              <a:rPr lang="en-US" sz="2400" dirty="0" err="1"/>
              <a:t>EmpIDs</a:t>
            </a:r>
            <a:r>
              <a:rPr lang="en-US" sz="2400" dirty="0"/>
              <a:t> of employees who have worked on all projects</a:t>
            </a:r>
            <a:r>
              <a:rPr lang="en-US" sz="2400" dirty="0" smtClean="0"/>
              <a:t>.</a:t>
            </a:r>
          </a:p>
          <a:p>
            <a:pPr marL="342900" indent="-342900">
              <a:buAutoNum type="arabicPeriod"/>
            </a:pPr>
            <a:r>
              <a:rPr lang="en-US" sz="2400" dirty="0"/>
              <a:t>Retrieve the </a:t>
            </a:r>
            <a:r>
              <a:rPr lang="en-US" sz="2400" b="1" dirty="0" err="1"/>
              <a:t>SuppIDs</a:t>
            </a:r>
            <a:r>
              <a:rPr lang="en-US" sz="2400" dirty="0"/>
              <a:t> of suppliers who supply all items in the "Electronics" category.</a:t>
            </a:r>
          </a:p>
        </p:txBody>
      </p:sp>
    </p:spTree>
    <p:extLst>
      <p:ext uri="{BB962C8B-B14F-4D97-AF65-F5344CB8AC3E}">
        <p14:creationId xmlns:p14="http://schemas.microsoft.com/office/powerpoint/2010/main" val="8944246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353290" y="910541"/>
            <a:ext cx="5964383" cy="5857582"/>
          </a:xfrm>
        </p:spPr>
        <p:txBody>
          <a:bodyPr>
            <a:normAutofit/>
          </a:bodyPr>
          <a:lstStyle/>
          <a:p>
            <a:pPr algn="just">
              <a:buFont typeface="Arial" panose="020B0604020202020204" pitchFamily="34" charset="0"/>
              <a:buChar char="•"/>
            </a:pPr>
            <a:r>
              <a:rPr lang="en-US" i="0" dirty="0">
                <a:effectLst/>
              </a:rPr>
              <a:t>The database joins </a:t>
            </a:r>
            <a:r>
              <a:rPr lang="en-US" b="1" i="0" dirty="0">
                <a:solidFill>
                  <a:srgbClr val="000099"/>
                </a:solidFill>
                <a:effectLst/>
              </a:rPr>
              <a:t>has the ability of combining two or more data </a:t>
            </a:r>
            <a:r>
              <a:rPr lang="en-US" b="1" i="0" dirty="0" smtClean="0">
                <a:solidFill>
                  <a:srgbClr val="000099"/>
                </a:solidFill>
                <a:effectLst/>
              </a:rPr>
              <a:t>tables </a:t>
            </a:r>
            <a:r>
              <a:rPr lang="en-US" b="1" i="0" dirty="0">
                <a:solidFill>
                  <a:srgbClr val="000099"/>
                </a:solidFill>
                <a:effectLst/>
              </a:rPr>
              <a:t>into a single </a:t>
            </a:r>
            <a:r>
              <a:rPr lang="en-US" b="1" i="0" dirty="0" smtClean="0">
                <a:solidFill>
                  <a:srgbClr val="000099"/>
                </a:solidFill>
                <a:effectLst/>
              </a:rPr>
              <a:t>table </a:t>
            </a:r>
            <a:r>
              <a:rPr lang="en-US" b="1" i="0" dirty="0">
                <a:solidFill>
                  <a:srgbClr val="000099"/>
                </a:solidFill>
                <a:effectLst/>
              </a:rPr>
              <a:t>only if the following conditions are satisfied.</a:t>
            </a:r>
          </a:p>
          <a:p>
            <a:pPr algn="just">
              <a:buFont typeface="Arial" panose="020B0604020202020204" pitchFamily="34" charset="0"/>
              <a:buChar char="•"/>
            </a:pPr>
            <a:r>
              <a:rPr lang="en-US" b="1" i="0" dirty="0">
                <a:solidFill>
                  <a:srgbClr val="C00000"/>
                </a:solidFill>
                <a:effectLst/>
              </a:rPr>
              <a:t>There must be a common attribute in both(tables which are participating) tables.</a:t>
            </a:r>
          </a:p>
          <a:p>
            <a:pPr algn="just">
              <a:buFont typeface="Arial" panose="020B0604020202020204" pitchFamily="34" charset="0"/>
              <a:buChar char="•"/>
            </a:pPr>
            <a:r>
              <a:rPr lang="en-US" b="1" i="0" dirty="0">
                <a:solidFill>
                  <a:srgbClr val="C00000"/>
                </a:solidFill>
                <a:effectLst/>
              </a:rPr>
              <a:t>Join condition must be </a:t>
            </a:r>
            <a:r>
              <a:rPr lang="en-US" b="1" i="0" dirty="0" smtClean="0">
                <a:solidFill>
                  <a:srgbClr val="C00000"/>
                </a:solidFill>
                <a:effectLst/>
              </a:rPr>
              <a:t>satisfied .</a:t>
            </a:r>
            <a:endParaRPr lang="en-US" b="1" i="0" dirty="0">
              <a:solidFill>
                <a:srgbClr val="C00000"/>
              </a:solidFill>
              <a:effectLst/>
            </a:endParaRPr>
          </a:p>
          <a:p>
            <a:pPr algn="just">
              <a:buFont typeface="Arial" panose="020B0604020202020204" pitchFamily="34" charset="0"/>
              <a:buChar char="•"/>
            </a:pPr>
            <a:r>
              <a:rPr lang="en-US" i="0" dirty="0">
                <a:effectLst/>
              </a:rPr>
              <a:t>Database joins can be broadly classified into two categories which are further categorized into sub categories. </a:t>
            </a:r>
          </a:p>
        </p:txBody>
      </p:sp>
      <p:pic>
        <p:nvPicPr>
          <p:cNvPr id="6146" name="Picture 2" descr="This image describes the classification of various types of database joins on the basis of inner joins and outer joins.">
            <a:extLst>
              <a:ext uri="{FF2B5EF4-FFF2-40B4-BE49-F238E27FC236}">
                <a16:creationId xmlns="" xmlns:a16="http://schemas.microsoft.com/office/drawing/2014/main" id="{EC94886A-8C56-9506-1AF7-B8902DE06C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9682" y="1052945"/>
            <a:ext cx="5562600" cy="4516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5134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 (The Inner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235527" y="910541"/>
            <a:ext cx="11785887" cy="5698077"/>
          </a:xfrm>
        </p:spPr>
        <p:txBody>
          <a:bodyPr>
            <a:normAutofit/>
          </a:bodyPr>
          <a:lstStyle/>
          <a:p>
            <a:pPr algn="just">
              <a:buFont typeface="Arial" panose="020B0604020202020204" pitchFamily="34" charset="0"/>
              <a:buChar char="•"/>
            </a:pPr>
            <a:r>
              <a:rPr lang="en-US" sz="2400" b="1" i="0" dirty="0">
                <a:solidFill>
                  <a:srgbClr val="000099"/>
                </a:solidFill>
                <a:effectLst/>
              </a:rPr>
              <a:t>When inner join is applied to tuples or tables, only those tuples of the table are kept which have common attribute in all the tables. </a:t>
            </a:r>
            <a:r>
              <a:rPr lang="en-US" sz="2400" i="0" dirty="0">
                <a:effectLst/>
              </a:rPr>
              <a:t>Other tuples which are not common are dropped from the resulting tuple/table.</a:t>
            </a:r>
          </a:p>
          <a:p>
            <a:pPr algn="just">
              <a:buFont typeface="Arial" panose="020B0604020202020204" pitchFamily="34" charset="0"/>
              <a:buChar char="•"/>
            </a:pPr>
            <a:r>
              <a:rPr lang="en-US" sz="2400" i="0" dirty="0">
                <a:effectLst/>
              </a:rPr>
              <a:t>Two possible inner joins are available i.e. Theta Join &amp; Natural Join.</a:t>
            </a:r>
          </a:p>
          <a:p>
            <a:pPr algn="just">
              <a:buFont typeface="Arial" panose="020B0604020202020204" pitchFamily="34" charset="0"/>
              <a:buChar char="•"/>
            </a:pPr>
            <a:r>
              <a:rPr lang="en-US" sz="2400" b="1" i="0" u="sng" dirty="0">
                <a:effectLst/>
              </a:rPr>
              <a:t>Theta Join </a:t>
            </a:r>
            <a:r>
              <a:rPr lang="en-US" sz="2400" i="0" dirty="0">
                <a:effectLst/>
              </a:rPr>
              <a:t>:If a condition is satisfied by the participating tables from different relations, then the tuples are combined together using Theta Join. </a:t>
            </a:r>
            <a:r>
              <a:rPr lang="en-US" sz="2400" b="1" i="0" dirty="0">
                <a:solidFill>
                  <a:srgbClr val="000099"/>
                </a:solidFill>
                <a:effectLst/>
              </a:rPr>
              <a:t>Theta join is denoted through “Theta(Θ)”.</a:t>
            </a:r>
          </a:p>
          <a:p>
            <a:pPr algn="just">
              <a:buFont typeface="Arial" panose="020B0604020202020204" pitchFamily="34" charset="0"/>
              <a:buChar char="•"/>
            </a:pPr>
            <a:r>
              <a:rPr lang="en-US" sz="2400" b="1" i="0" dirty="0">
                <a:solidFill>
                  <a:srgbClr val="C00000"/>
                </a:solidFill>
                <a:effectLst/>
              </a:rPr>
              <a:t>Syntax : R1(X1, X2,X3…</a:t>
            </a:r>
            <a:r>
              <a:rPr lang="en-US" sz="2400" b="1" i="0" dirty="0" err="1">
                <a:solidFill>
                  <a:srgbClr val="C00000"/>
                </a:solidFill>
                <a:effectLst/>
              </a:rPr>
              <a:t>Xn</a:t>
            </a:r>
            <a:r>
              <a:rPr lang="en-US" sz="2400" b="1" i="0" dirty="0">
                <a:solidFill>
                  <a:srgbClr val="C00000"/>
                </a:solidFill>
                <a:effectLst/>
              </a:rPr>
              <a:t>)  ⋈(Condition “θ”) R2(Y1, Y2,Y3…</a:t>
            </a:r>
            <a:r>
              <a:rPr lang="en-US" sz="2400" b="1" i="0" dirty="0" err="1">
                <a:solidFill>
                  <a:srgbClr val="C00000"/>
                </a:solidFill>
                <a:effectLst/>
              </a:rPr>
              <a:t>Yn</a:t>
            </a:r>
            <a:r>
              <a:rPr lang="en-US" sz="2400" b="1" i="0" dirty="0">
                <a:solidFill>
                  <a:srgbClr val="C00000"/>
                </a:solidFill>
                <a:effectLst/>
              </a:rPr>
              <a:t>) where, R1 and R2 are relations having (X1, X2,X3…</a:t>
            </a:r>
            <a:r>
              <a:rPr lang="en-US" sz="2400" b="1" i="0" dirty="0" err="1">
                <a:solidFill>
                  <a:srgbClr val="C00000"/>
                </a:solidFill>
                <a:effectLst/>
              </a:rPr>
              <a:t>Xn</a:t>
            </a:r>
            <a:r>
              <a:rPr lang="en-US" sz="2400" b="1" i="0" dirty="0">
                <a:solidFill>
                  <a:srgbClr val="C00000"/>
                </a:solidFill>
                <a:effectLst/>
              </a:rPr>
              <a:t>)  and (Y1, Y2,Y3…</a:t>
            </a:r>
            <a:r>
              <a:rPr lang="en-US" sz="2400" b="1" i="0" dirty="0" err="1">
                <a:solidFill>
                  <a:srgbClr val="C00000"/>
                </a:solidFill>
                <a:effectLst/>
              </a:rPr>
              <a:t>Yn</a:t>
            </a:r>
            <a:r>
              <a:rPr lang="en-US" sz="2400" b="1" i="0" dirty="0">
                <a:solidFill>
                  <a:srgbClr val="C00000"/>
                </a:solidFill>
                <a:effectLst/>
              </a:rPr>
              <a:t>) as attributes respectively.</a:t>
            </a:r>
          </a:p>
        </p:txBody>
      </p:sp>
      <p:pic>
        <p:nvPicPr>
          <p:cNvPr id="5" name="Picture 4">
            <a:extLst>
              <a:ext uri="{FF2B5EF4-FFF2-40B4-BE49-F238E27FC236}">
                <a16:creationId xmlns="" xmlns:a16="http://schemas.microsoft.com/office/drawing/2014/main" id="{BC02E5AD-E64A-27C9-0340-FBDA57E793E0}"/>
              </a:ext>
            </a:extLst>
          </p:cNvPr>
          <p:cNvPicPr>
            <a:picLocks noChangeAspect="1"/>
          </p:cNvPicPr>
          <p:nvPr/>
        </p:nvPicPr>
        <p:blipFill>
          <a:blip r:embed="rId3"/>
          <a:stretch>
            <a:fillRect/>
          </a:stretch>
        </p:blipFill>
        <p:spPr>
          <a:xfrm>
            <a:off x="4447311" y="4239491"/>
            <a:ext cx="7609120" cy="2212823"/>
          </a:xfrm>
          <a:prstGeom prst="rect">
            <a:avLst/>
          </a:prstGeom>
        </p:spPr>
      </p:pic>
      <p:sp>
        <p:nvSpPr>
          <p:cNvPr id="6" name="Content Placeholder 2">
            <a:extLst>
              <a:ext uri="{FF2B5EF4-FFF2-40B4-BE49-F238E27FC236}">
                <a16:creationId xmlns="" xmlns:a16="http://schemas.microsoft.com/office/drawing/2014/main" id="{D08BB140-0635-AF50-DC0D-58F73C668483}"/>
              </a:ext>
            </a:extLst>
          </p:cNvPr>
          <p:cNvSpPr txBox="1">
            <a:spLocks/>
          </p:cNvSpPr>
          <p:nvPr/>
        </p:nvSpPr>
        <p:spPr>
          <a:xfrm>
            <a:off x="235528" y="4350328"/>
            <a:ext cx="4211782" cy="198120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3200" b="1" i="0" dirty="0">
                <a:solidFill>
                  <a:srgbClr val="000000"/>
                </a:solidFill>
                <a:effectLst/>
              </a:rPr>
              <a:t>For example</a:t>
            </a:r>
            <a:r>
              <a:rPr lang="en-US" sz="3200" b="1" i="0" dirty="0">
                <a:solidFill>
                  <a:srgbClr val="E06092"/>
                </a:solidFill>
                <a:effectLst/>
              </a:rPr>
              <a:t> : </a:t>
            </a:r>
            <a:r>
              <a:rPr lang="en-US" sz="3200" b="1" i="0" dirty="0">
                <a:effectLst/>
              </a:rPr>
              <a:t>Consider the tables </a:t>
            </a:r>
            <a:r>
              <a:rPr lang="en-US" sz="3200" b="1" i="0" dirty="0" err="1">
                <a:effectLst/>
              </a:rPr>
              <a:t>Student_Details</a:t>
            </a:r>
            <a:r>
              <a:rPr lang="en-US" sz="3200" b="1" i="0" dirty="0">
                <a:effectLst/>
              </a:rPr>
              <a:t> and </a:t>
            </a:r>
            <a:r>
              <a:rPr lang="en-US" sz="3200" b="1" i="0" dirty="0" err="1">
                <a:effectLst/>
              </a:rPr>
              <a:t>Student_Result</a:t>
            </a:r>
            <a:r>
              <a:rPr lang="en-US" sz="3200" b="1" i="0" dirty="0">
                <a:effectLst/>
              </a:rPr>
              <a:t>. Now, if we want to implement theta join on these relations, the result will look like:</a:t>
            </a:r>
          </a:p>
          <a:p>
            <a:pPr algn="just"/>
            <a:endParaRPr lang="en-US" dirty="0"/>
          </a:p>
        </p:txBody>
      </p:sp>
    </p:spTree>
    <p:extLst>
      <p:ext uri="{BB962C8B-B14F-4D97-AF65-F5344CB8AC3E}">
        <p14:creationId xmlns:p14="http://schemas.microsoft.com/office/powerpoint/2010/main" val="17122493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926" y="120426"/>
            <a:ext cx="10515600" cy="1325563"/>
          </a:xfrm>
        </p:spPr>
        <p:txBody>
          <a:bodyPr/>
          <a:lstStyle/>
          <a:p>
            <a:r>
              <a:rPr lang="en-US" b="1" dirty="0"/>
              <a:t>Relational Algebra : </a:t>
            </a:r>
            <a:r>
              <a:rPr lang="en-US" b="1" dirty="0" smtClean="0"/>
              <a:t>Joins(</a:t>
            </a:r>
            <a:r>
              <a:rPr lang="en-US" b="1" dirty="0" err="1" smtClean="0"/>
              <a:t>Equi</a:t>
            </a:r>
            <a:r>
              <a:rPr lang="en-US" b="1" dirty="0" smtClean="0"/>
              <a:t> Joins)</a:t>
            </a:r>
            <a:endParaRPr lang="en-US" dirty="0"/>
          </a:p>
        </p:txBody>
      </p:sp>
      <p:sp>
        <p:nvSpPr>
          <p:cNvPr id="3" name="Content Placeholder 2"/>
          <p:cNvSpPr>
            <a:spLocks noGrp="1"/>
          </p:cNvSpPr>
          <p:nvPr>
            <p:ph idx="1"/>
          </p:nvPr>
        </p:nvSpPr>
        <p:spPr>
          <a:xfrm>
            <a:off x="231820" y="1284713"/>
            <a:ext cx="11960180" cy="4407749"/>
          </a:xfrm>
        </p:spPr>
        <p:txBody>
          <a:bodyPr/>
          <a:lstStyle/>
          <a:p>
            <a:r>
              <a:rPr lang="en-US" b="1" dirty="0"/>
              <a:t>EQUI Join</a:t>
            </a:r>
            <a:r>
              <a:rPr lang="en-US" dirty="0"/>
              <a:t> is done when a Theta join uses only the equivalence condition</a:t>
            </a:r>
            <a:r>
              <a:rPr lang="en-US" dirty="0" smtClean="0"/>
              <a:t>.</a:t>
            </a:r>
          </a:p>
          <a:p>
            <a:r>
              <a:rPr lang="en-US" dirty="0"/>
              <a:t>EQUI JOIN creates a JOIN for equality or matching column(s) values of the relative tables.</a:t>
            </a:r>
            <a:endParaRPr lang="en-US" dirty="0" smtClean="0"/>
          </a:p>
          <a:p>
            <a:r>
              <a:rPr lang="en-US" b="1" dirty="0"/>
              <a:t>For example:</a:t>
            </a:r>
            <a:endParaRPr lang="en-US" dirty="0"/>
          </a:p>
          <a:p>
            <a:r>
              <a:rPr lang="en-US" dirty="0"/>
              <a:t>A ⋈ </a:t>
            </a:r>
            <a:r>
              <a:rPr lang="en-US" baseline="-25000" dirty="0" err="1"/>
              <a:t>A.column</a:t>
            </a:r>
            <a:r>
              <a:rPr lang="en-US" baseline="-25000" dirty="0"/>
              <a:t> 2 = </a:t>
            </a:r>
            <a:r>
              <a:rPr lang="en-US" baseline="-25000" dirty="0" err="1"/>
              <a:t>B.column</a:t>
            </a:r>
            <a:r>
              <a:rPr lang="en-US" baseline="-25000" dirty="0"/>
              <a:t> 2 </a:t>
            </a:r>
            <a:r>
              <a:rPr lang="en-US" dirty="0"/>
              <a:t>(B</a:t>
            </a:r>
            <a:r>
              <a:rPr lang="en-US" dirty="0" smtClean="0"/>
              <a:t>)</a:t>
            </a:r>
          </a:p>
          <a:p>
            <a:r>
              <a:rPr lang="en-US" dirty="0"/>
              <a:t>SELECT student.name, student.id, </a:t>
            </a:r>
            <a:r>
              <a:rPr lang="en-US" dirty="0" err="1"/>
              <a:t>record.class</a:t>
            </a:r>
            <a:r>
              <a:rPr lang="en-US" dirty="0"/>
              <a:t>, </a:t>
            </a:r>
            <a:r>
              <a:rPr lang="en-US" dirty="0" err="1"/>
              <a:t>record.city</a:t>
            </a:r>
            <a:r>
              <a:rPr lang="en-US" dirty="0"/>
              <a:t> FROM student JOIN record ON </a:t>
            </a:r>
            <a:r>
              <a:rPr lang="en-US" dirty="0" err="1"/>
              <a:t>student.city</a:t>
            </a:r>
            <a:r>
              <a:rPr lang="en-US" dirty="0"/>
              <a:t> = </a:t>
            </a:r>
            <a:r>
              <a:rPr lang="en-US" dirty="0" err="1"/>
              <a:t>record.city</a:t>
            </a:r>
            <a:r>
              <a:rPr lang="en-US"/>
              <a:t>;</a:t>
            </a:r>
            <a:endParaRPr lang="en-US" dirty="0"/>
          </a:p>
        </p:txBody>
      </p:sp>
    </p:spTree>
    <p:extLst>
      <p:ext uri="{BB962C8B-B14F-4D97-AF65-F5344CB8AC3E}">
        <p14:creationId xmlns:p14="http://schemas.microsoft.com/office/powerpoint/2010/main" val="35072919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 (The Inner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235527" y="910541"/>
            <a:ext cx="11785887" cy="5698077"/>
          </a:xfrm>
        </p:spPr>
        <p:txBody>
          <a:bodyPr>
            <a:normAutofit/>
          </a:bodyPr>
          <a:lstStyle/>
          <a:p>
            <a:pPr algn="just">
              <a:buFont typeface="Arial" panose="020B0604020202020204" pitchFamily="34" charset="0"/>
              <a:buChar char="•"/>
            </a:pPr>
            <a:r>
              <a:rPr lang="en-US" b="1" i="0" u="sng" dirty="0">
                <a:effectLst/>
              </a:rPr>
              <a:t>Natural Join (⋈)</a:t>
            </a:r>
            <a:r>
              <a:rPr lang="en-US" b="1" i="0" dirty="0">
                <a:effectLst/>
              </a:rPr>
              <a:t>:</a:t>
            </a:r>
          </a:p>
          <a:p>
            <a:pPr algn="just">
              <a:buFont typeface="Arial" panose="020B0604020202020204" pitchFamily="34" charset="0"/>
              <a:buChar char="•"/>
            </a:pPr>
            <a:r>
              <a:rPr lang="en-US" b="1" i="0" dirty="0">
                <a:solidFill>
                  <a:srgbClr val="C00000"/>
                </a:solidFill>
                <a:effectLst/>
              </a:rPr>
              <a:t>Natural join does not supports any condition such as theta join </a:t>
            </a:r>
            <a:r>
              <a:rPr lang="en-US" i="0" dirty="0">
                <a:effectLst/>
              </a:rPr>
              <a:t>and </a:t>
            </a:r>
            <a:r>
              <a:rPr lang="en-US" b="1" i="0" dirty="0">
                <a:solidFill>
                  <a:srgbClr val="000099"/>
                </a:solidFill>
                <a:effectLst/>
              </a:rPr>
              <a:t>works only if, one attribute or more than one attributes are common between the joining/participating relations.</a:t>
            </a:r>
          </a:p>
          <a:p>
            <a:pPr algn="just">
              <a:buFont typeface="Arial" panose="020B0604020202020204" pitchFamily="34" charset="0"/>
              <a:buChar char="•"/>
            </a:pPr>
            <a:r>
              <a:rPr lang="en-US" b="1" i="0" dirty="0">
                <a:solidFill>
                  <a:srgbClr val="C00000"/>
                </a:solidFill>
                <a:effectLst/>
              </a:rPr>
              <a:t>Syntax : R1(X1, X2,X3…</a:t>
            </a:r>
            <a:r>
              <a:rPr lang="en-US" b="1" i="0" dirty="0" err="1">
                <a:solidFill>
                  <a:srgbClr val="C00000"/>
                </a:solidFill>
                <a:effectLst/>
              </a:rPr>
              <a:t>Xn</a:t>
            </a:r>
            <a:r>
              <a:rPr lang="en-US" b="1" i="0" dirty="0">
                <a:solidFill>
                  <a:srgbClr val="C00000"/>
                </a:solidFill>
                <a:effectLst/>
              </a:rPr>
              <a:t>)  ⋈ R2(Y1, Y2,Y3…</a:t>
            </a:r>
            <a:r>
              <a:rPr lang="en-US" b="1" i="0" dirty="0" err="1">
                <a:solidFill>
                  <a:srgbClr val="C00000"/>
                </a:solidFill>
                <a:effectLst/>
              </a:rPr>
              <a:t>Yn</a:t>
            </a:r>
            <a:r>
              <a:rPr lang="en-US" b="1" i="0" dirty="0">
                <a:solidFill>
                  <a:srgbClr val="C00000"/>
                </a:solidFill>
                <a:effectLst/>
              </a:rPr>
              <a:t>) where, R1 and R2 are relations having (X1, X2,X3…</a:t>
            </a:r>
            <a:r>
              <a:rPr lang="en-US" b="1" i="0" dirty="0" err="1">
                <a:solidFill>
                  <a:srgbClr val="C00000"/>
                </a:solidFill>
                <a:effectLst/>
              </a:rPr>
              <a:t>Xn</a:t>
            </a:r>
            <a:r>
              <a:rPr lang="en-US" b="1" i="0" dirty="0">
                <a:solidFill>
                  <a:srgbClr val="C00000"/>
                </a:solidFill>
                <a:effectLst/>
              </a:rPr>
              <a:t>)  and (Y1, Y2,Y3…</a:t>
            </a:r>
            <a:r>
              <a:rPr lang="en-US" b="1" i="0" dirty="0" err="1">
                <a:solidFill>
                  <a:srgbClr val="C00000"/>
                </a:solidFill>
                <a:effectLst/>
              </a:rPr>
              <a:t>Yn</a:t>
            </a:r>
            <a:r>
              <a:rPr lang="en-US" b="1" i="0" dirty="0">
                <a:solidFill>
                  <a:srgbClr val="C00000"/>
                </a:solidFill>
                <a:effectLst/>
              </a:rPr>
              <a:t>) as attributes respectively.</a:t>
            </a:r>
          </a:p>
          <a:p>
            <a:pPr algn="l"/>
            <a:r>
              <a:rPr lang="en-US" b="1" i="0" dirty="0">
                <a:solidFill>
                  <a:srgbClr val="000000"/>
                </a:solidFill>
                <a:effectLst/>
              </a:rPr>
              <a:t>For example</a:t>
            </a:r>
            <a:r>
              <a:rPr lang="en-US" b="1" i="0" dirty="0">
                <a:solidFill>
                  <a:srgbClr val="E06092"/>
                </a:solidFill>
                <a:effectLst/>
              </a:rPr>
              <a:t> : </a:t>
            </a:r>
            <a:r>
              <a:rPr lang="en-US" b="1" i="0" dirty="0">
                <a:effectLst/>
              </a:rPr>
              <a:t>Consider the tables </a:t>
            </a:r>
            <a:r>
              <a:rPr lang="en-US" b="1" i="0" dirty="0" err="1">
                <a:effectLst/>
              </a:rPr>
              <a:t>Student_Details</a:t>
            </a:r>
            <a:r>
              <a:rPr lang="en-US" b="1" i="0" dirty="0">
                <a:effectLst/>
              </a:rPr>
              <a:t> and </a:t>
            </a:r>
            <a:r>
              <a:rPr lang="en-US" b="1" i="0" dirty="0" err="1">
                <a:effectLst/>
              </a:rPr>
              <a:t>Student_Result</a:t>
            </a:r>
            <a:r>
              <a:rPr lang="en-US" b="1" i="0" dirty="0">
                <a:effectLst/>
              </a:rPr>
              <a:t>. Now, if we want to implement natural join on these relations, the result will be</a:t>
            </a:r>
            <a:endParaRPr lang="en-US" b="0" i="0" dirty="0">
              <a:effectLst/>
            </a:endParaRPr>
          </a:p>
          <a:p>
            <a:pPr marL="0" indent="0">
              <a:buNone/>
            </a:pPr>
            <a:r>
              <a:rPr lang="en-US" dirty="0"/>
              <a:t/>
            </a:r>
            <a:br>
              <a:rPr lang="en-US" dirty="0"/>
            </a:br>
            <a:endParaRPr lang="en-US" i="0" dirty="0">
              <a:effectLst/>
            </a:endParaRPr>
          </a:p>
        </p:txBody>
      </p:sp>
      <p:pic>
        <p:nvPicPr>
          <p:cNvPr id="7" name="Picture 6">
            <a:extLst>
              <a:ext uri="{FF2B5EF4-FFF2-40B4-BE49-F238E27FC236}">
                <a16:creationId xmlns="" xmlns:a16="http://schemas.microsoft.com/office/drawing/2014/main" id="{0C0A8614-5E60-1DA1-13DD-D7792BAAE548}"/>
              </a:ext>
            </a:extLst>
          </p:cNvPr>
          <p:cNvPicPr>
            <a:picLocks noChangeAspect="1"/>
          </p:cNvPicPr>
          <p:nvPr/>
        </p:nvPicPr>
        <p:blipFill>
          <a:blip r:embed="rId3"/>
          <a:stretch>
            <a:fillRect/>
          </a:stretch>
        </p:blipFill>
        <p:spPr>
          <a:xfrm>
            <a:off x="734292" y="4917498"/>
            <a:ext cx="10300854" cy="1691120"/>
          </a:xfrm>
          <a:prstGeom prst="rect">
            <a:avLst/>
          </a:prstGeom>
        </p:spPr>
      </p:pic>
    </p:spTree>
    <p:extLst>
      <p:ext uri="{BB962C8B-B14F-4D97-AF65-F5344CB8AC3E}">
        <p14:creationId xmlns:p14="http://schemas.microsoft.com/office/powerpoint/2010/main" val="35863606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 (The Outer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235527" y="910541"/>
            <a:ext cx="11785887" cy="5698077"/>
          </a:xfrm>
        </p:spPr>
        <p:txBody>
          <a:bodyPr>
            <a:normAutofit fontScale="92500" lnSpcReduction="10000"/>
          </a:bodyPr>
          <a:lstStyle/>
          <a:p>
            <a:pPr algn="just">
              <a:buFont typeface="Arial" panose="020B0604020202020204" pitchFamily="34" charset="0"/>
              <a:buChar char="•"/>
            </a:pPr>
            <a:r>
              <a:rPr lang="en-US" b="1" i="0" u="sng" dirty="0" smtClean="0">
                <a:effectLst/>
              </a:rPr>
              <a:t>Outer Join </a:t>
            </a:r>
            <a:r>
              <a:rPr lang="en-US" b="1" i="0" u="sng" dirty="0">
                <a:effectLst/>
              </a:rPr>
              <a:t>(⋈)</a:t>
            </a:r>
            <a:r>
              <a:rPr lang="en-US" b="1" i="0" dirty="0">
                <a:effectLst/>
              </a:rPr>
              <a:t>:</a:t>
            </a:r>
            <a:r>
              <a:rPr lang="en-US" i="0" dirty="0">
                <a:effectLst/>
              </a:rPr>
              <a:t>Outer join </a:t>
            </a:r>
            <a:r>
              <a:rPr lang="en-US" b="1" i="0" dirty="0">
                <a:solidFill>
                  <a:srgbClr val="C00000"/>
                </a:solidFill>
                <a:effectLst/>
              </a:rPr>
              <a:t>overcomes the inability of inner joins of dropping the tuples which are uncommon among participating relations. </a:t>
            </a:r>
            <a:r>
              <a:rPr lang="en-US" b="1" i="0" dirty="0">
                <a:solidFill>
                  <a:srgbClr val="000099"/>
                </a:solidFill>
                <a:effectLst/>
              </a:rPr>
              <a:t>If we want to display those tuples which are not common, the concept of outer join is used.</a:t>
            </a:r>
          </a:p>
          <a:p>
            <a:pPr algn="just">
              <a:buFont typeface="Arial" panose="020B0604020202020204" pitchFamily="34" charset="0"/>
              <a:buChar char="•"/>
            </a:pPr>
            <a:r>
              <a:rPr lang="en-US" i="0" dirty="0">
                <a:effectLst/>
              </a:rPr>
              <a:t>Also, if all the tuples needs to be displayed from all the participating relations, outer joins can be used. </a:t>
            </a:r>
            <a:r>
              <a:rPr lang="en-US" b="1" i="0" dirty="0">
                <a:solidFill>
                  <a:srgbClr val="000099"/>
                </a:solidFill>
                <a:effectLst/>
              </a:rPr>
              <a:t>They are of three types : Left Outer Join, Right Outer Join &amp; Full Outer Join.</a:t>
            </a:r>
            <a:endParaRPr lang="en-US" b="1" dirty="0">
              <a:solidFill>
                <a:srgbClr val="000099"/>
              </a:solidFill>
            </a:endParaRPr>
          </a:p>
          <a:p>
            <a:pPr>
              <a:buFont typeface="Arial" panose="020B0604020202020204" pitchFamily="34" charset="0"/>
              <a:buChar char="•"/>
            </a:pPr>
            <a:r>
              <a:rPr lang="en-US" b="1" u="sng" dirty="0"/>
              <a:t>Left Outer Join</a:t>
            </a:r>
          </a:p>
          <a:p>
            <a:pPr algn="just">
              <a:buFont typeface="Arial" panose="020B0604020202020204" pitchFamily="34" charset="0"/>
              <a:buChar char="•"/>
            </a:pPr>
            <a:r>
              <a:rPr lang="en-US" dirty="0"/>
              <a:t>There exists a concept of position(left or right) of relations in case of both left and right outer join.</a:t>
            </a:r>
          </a:p>
          <a:p>
            <a:pPr algn="just">
              <a:buFont typeface="Arial" panose="020B0604020202020204" pitchFamily="34" charset="0"/>
              <a:buChar char="•"/>
            </a:pPr>
            <a:r>
              <a:rPr lang="en-US" b="0" i="0" dirty="0">
                <a:solidFill>
                  <a:srgbClr val="222222"/>
                </a:solidFill>
                <a:effectLst/>
                <a:latin typeface="Source Sans Pro" panose="020B0503030403020204" pitchFamily="34" charset="0"/>
              </a:rPr>
              <a:t>In the left outer join</a:t>
            </a:r>
            <a:r>
              <a:rPr lang="en-US" b="1" i="0" dirty="0">
                <a:solidFill>
                  <a:srgbClr val="000099"/>
                </a:solidFill>
                <a:effectLst/>
                <a:latin typeface="Source Sans Pro" panose="020B0503030403020204" pitchFamily="34" charset="0"/>
              </a:rPr>
              <a:t>, operation allows keeping all tuple in the left </a:t>
            </a:r>
            <a:r>
              <a:rPr lang="en-US" b="1" i="0" dirty="0" smtClean="0">
                <a:solidFill>
                  <a:srgbClr val="000099"/>
                </a:solidFill>
                <a:effectLst/>
                <a:latin typeface="Source Sans Pro" panose="020B0503030403020204" pitchFamily="34" charset="0"/>
              </a:rPr>
              <a:t>relation+ common tuples from both tables.</a:t>
            </a:r>
            <a:endParaRPr lang="en-US" b="1" i="0" dirty="0">
              <a:solidFill>
                <a:srgbClr val="000099"/>
              </a:solidFill>
              <a:effectLst/>
              <a:latin typeface="Source Sans Pro" panose="020B0503030403020204" pitchFamily="34" charset="0"/>
            </a:endParaRPr>
          </a:p>
          <a:p>
            <a:pPr algn="just">
              <a:buFont typeface="Arial" panose="020B0604020202020204" pitchFamily="34" charset="0"/>
              <a:buChar char="•"/>
            </a:pPr>
            <a:r>
              <a:rPr lang="en-US" b="1" dirty="0">
                <a:solidFill>
                  <a:srgbClr val="C00000"/>
                </a:solidFill>
              </a:rPr>
              <a:t>If in case any tuple in left relation does not matches with the tuple in right relation, NULL value will be displayed against that tuple in the resulting relation.</a:t>
            </a:r>
            <a:br>
              <a:rPr lang="en-US" b="1" dirty="0">
                <a:solidFill>
                  <a:srgbClr val="C00000"/>
                </a:solidFill>
              </a:rPr>
            </a:br>
            <a:endParaRPr lang="en-US" b="1" i="0" dirty="0">
              <a:solidFill>
                <a:srgbClr val="C00000"/>
              </a:solidFill>
              <a:effectLst/>
            </a:endParaRPr>
          </a:p>
        </p:txBody>
      </p:sp>
      <p:pic>
        <p:nvPicPr>
          <p:cNvPr id="4" name="Picture 2">
            <a:extLst>
              <a:ext uri="{FF2B5EF4-FFF2-40B4-BE49-F238E27FC236}">
                <a16:creationId xmlns="" xmlns:a16="http://schemas.microsoft.com/office/drawing/2014/main" id="{D9C36E6A-99B9-95E0-E79D-A63723197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615" y="3219550"/>
            <a:ext cx="308264" cy="205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2097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 (The Outer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406113" y="878973"/>
            <a:ext cx="11785887" cy="5698077"/>
          </a:xfrm>
        </p:spPr>
        <p:txBody>
          <a:bodyPr>
            <a:normAutofit/>
          </a:bodyPr>
          <a:lstStyle/>
          <a:p>
            <a:pPr>
              <a:buFont typeface="Arial" panose="020B0604020202020204" pitchFamily="34" charset="0"/>
              <a:buChar char="•"/>
            </a:pPr>
            <a:r>
              <a:rPr lang="en-US" b="1" u="sng" dirty="0"/>
              <a:t>Left Outer Join:</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r>
              <a:rPr lang="en-US" b="1" dirty="0"/>
              <a:t>For example :  Consider the tables </a:t>
            </a:r>
            <a:r>
              <a:rPr lang="en-US" b="1" dirty="0" err="1"/>
              <a:t>Student_Details</a:t>
            </a:r>
            <a:r>
              <a:rPr lang="en-US" b="1" dirty="0"/>
              <a:t> and </a:t>
            </a:r>
            <a:r>
              <a:rPr lang="en-US" b="1" dirty="0" err="1"/>
              <a:t>Student_Result</a:t>
            </a:r>
            <a:r>
              <a:rPr lang="en-US" b="1" dirty="0"/>
              <a:t>. Now, if we want to implement left outer join on these relations, the result will look like:</a:t>
            </a:r>
          </a:p>
        </p:txBody>
      </p:sp>
      <p:pic>
        <p:nvPicPr>
          <p:cNvPr id="5" name="Picture 4">
            <a:extLst>
              <a:ext uri="{FF2B5EF4-FFF2-40B4-BE49-F238E27FC236}">
                <a16:creationId xmlns="" xmlns:a16="http://schemas.microsoft.com/office/drawing/2014/main" id="{EF12C6AD-C7F5-7280-147D-441AB25BBE5E}"/>
              </a:ext>
            </a:extLst>
          </p:cNvPr>
          <p:cNvPicPr>
            <a:picLocks noChangeAspect="1"/>
          </p:cNvPicPr>
          <p:nvPr/>
        </p:nvPicPr>
        <p:blipFill>
          <a:blip r:embed="rId2"/>
          <a:stretch>
            <a:fillRect/>
          </a:stretch>
        </p:blipFill>
        <p:spPr>
          <a:xfrm>
            <a:off x="2573482" y="4156365"/>
            <a:ext cx="8814954" cy="1995054"/>
          </a:xfrm>
          <a:prstGeom prst="rect">
            <a:avLst/>
          </a:prstGeom>
        </p:spPr>
      </p:pic>
      <p:pic>
        <p:nvPicPr>
          <p:cNvPr id="6" name="Picture 2">
            <a:extLst>
              <a:ext uri="{FF2B5EF4-FFF2-40B4-BE49-F238E27FC236}">
                <a16:creationId xmlns="" xmlns:a16="http://schemas.microsoft.com/office/drawing/2014/main" id="{A2205553-E701-174A-3C34-5F3AEAA77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9954" y="1054083"/>
            <a:ext cx="363681" cy="2424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 xmlns:a16="http://schemas.microsoft.com/office/drawing/2014/main" id="{D43015F9-8B0D-DBED-C629-8D2DD680EBC6}"/>
              </a:ext>
            </a:extLst>
          </p:cNvPr>
          <p:cNvPicPr>
            <a:picLocks noChangeAspect="1"/>
          </p:cNvPicPr>
          <p:nvPr/>
        </p:nvPicPr>
        <p:blipFill>
          <a:blip r:embed="rId4"/>
          <a:stretch>
            <a:fillRect/>
          </a:stretch>
        </p:blipFill>
        <p:spPr>
          <a:xfrm>
            <a:off x="623455" y="1440079"/>
            <a:ext cx="10710861" cy="1413957"/>
          </a:xfrm>
          <a:prstGeom prst="rect">
            <a:avLst/>
          </a:prstGeom>
        </p:spPr>
      </p:pic>
    </p:spTree>
    <p:extLst>
      <p:ext uri="{BB962C8B-B14F-4D97-AF65-F5344CB8AC3E}">
        <p14:creationId xmlns:p14="http://schemas.microsoft.com/office/powerpoint/2010/main" val="42753881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 (The Outer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235527" y="910541"/>
            <a:ext cx="11785887" cy="5698077"/>
          </a:xfrm>
        </p:spPr>
        <p:txBody>
          <a:bodyPr>
            <a:normAutofit/>
          </a:bodyPr>
          <a:lstStyle/>
          <a:p>
            <a:pPr algn="just">
              <a:buFont typeface="Arial" panose="020B0604020202020204" pitchFamily="34" charset="0"/>
              <a:buChar char="•"/>
            </a:pPr>
            <a:r>
              <a:rPr lang="en-US" b="1" i="0" u="sng" dirty="0">
                <a:effectLst/>
              </a:rPr>
              <a:t>Right Outer Join     </a:t>
            </a:r>
            <a:r>
              <a:rPr lang="en-US" b="1" i="0" dirty="0">
                <a:effectLst/>
              </a:rPr>
              <a:t>: </a:t>
            </a:r>
            <a:r>
              <a:rPr lang="en-US" i="0" dirty="0">
                <a:effectLst/>
              </a:rPr>
              <a:t> In the right outer join, </a:t>
            </a:r>
            <a:r>
              <a:rPr lang="en-US" b="1" i="0" dirty="0">
                <a:solidFill>
                  <a:srgbClr val="000099"/>
                </a:solidFill>
                <a:effectLst/>
              </a:rPr>
              <a:t>operation allows keeping all tuple in the right relation. </a:t>
            </a:r>
          </a:p>
          <a:p>
            <a:pPr algn="just">
              <a:buFont typeface="Arial" panose="020B0604020202020204" pitchFamily="34" charset="0"/>
              <a:buChar char="•"/>
            </a:pPr>
            <a:r>
              <a:rPr lang="en-US" i="0" dirty="0">
                <a:effectLst/>
              </a:rPr>
              <a:t>However, </a:t>
            </a:r>
            <a:r>
              <a:rPr lang="en-US" b="1" i="0" dirty="0">
                <a:solidFill>
                  <a:srgbClr val="C00000"/>
                </a:solidFill>
                <a:effectLst/>
              </a:rPr>
              <a:t>if there is no matching tuple is found in the left relation, then the attributes of the left relation in the join result are filled with null values.</a:t>
            </a:r>
          </a:p>
          <a:p>
            <a:pPr algn="just">
              <a:buFont typeface="Arial" panose="020B0604020202020204" pitchFamily="34" charset="0"/>
              <a:buChar char="•"/>
            </a:pPr>
            <a:endParaRPr lang="en-US" b="1" dirty="0">
              <a:solidFill>
                <a:srgbClr val="C00000"/>
              </a:solidFill>
            </a:endParaRPr>
          </a:p>
          <a:p>
            <a:pPr algn="just">
              <a:buFont typeface="Arial" panose="020B0604020202020204" pitchFamily="34" charset="0"/>
              <a:buChar char="•"/>
            </a:pPr>
            <a:endParaRPr lang="en-US" b="1" i="0" dirty="0">
              <a:solidFill>
                <a:srgbClr val="C00000"/>
              </a:solidFill>
              <a:effectLst/>
            </a:endParaRPr>
          </a:p>
          <a:p>
            <a:pPr algn="just">
              <a:buFont typeface="Arial" panose="020B0604020202020204" pitchFamily="34" charset="0"/>
              <a:buChar char="•"/>
            </a:pPr>
            <a:r>
              <a:rPr lang="en-US" b="1" i="0" dirty="0">
                <a:effectLst/>
              </a:rPr>
              <a:t>For example : Consider the tables </a:t>
            </a:r>
            <a:r>
              <a:rPr lang="en-US" b="1" i="0" dirty="0" err="1">
                <a:effectLst/>
              </a:rPr>
              <a:t>Student_Details</a:t>
            </a:r>
            <a:r>
              <a:rPr lang="en-US" b="1" i="0" dirty="0">
                <a:effectLst/>
              </a:rPr>
              <a:t> and </a:t>
            </a:r>
            <a:r>
              <a:rPr lang="en-US" b="1" i="0" dirty="0" err="1">
                <a:effectLst/>
              </a:rPr>
              <a:t>Student_Result</a:t>
            </a:r>
            <a:r>
              <a:rPr lang="en-US" b="1" i="0" dirty="0">
                <a:effectLst/>
              </a:rPr>
              <a:t>. Now, if we want to implement right outer join on these relations, the result will look like:</a:t>
            </a:r>
            <a:endParaRPr lang="en-US" b="1" dirty="0"/>
          </a:p>
          <a:p>
            <a:pPr algn="just">
              <a:buFont typeface="Arial" panose="020B0604020202020204" pitchFamily="34" charset="0"/>
              <a:buChar char="•"/>
            </a:pPr>
            <a:endParaRPr lang="en-US" b="1" i="0" dirty="0">
              <a:solidFill>
                <a:srgbClr val="C00000"/>
              </a:solidFill>
              <a:effectLst/>
            </a:endParaRPr>
          </a:p>
          <a:p>
            <a:pPr algn="just">
              <a:buFont typeface="Arial" panose="020B0604020202020204" pitchFamily="34" charset="0"/>
              <a:buChar char="•"/>
            </a:pPr>
            <a:endParaRPr lang="en-US" i="0" dirty="0">
              <a:effectLst/>
            </a:endParaRPr>
          </a:p>
        </p:txBody>
      </p:sp>
      <p:pic>
        <p:nvPicPr>
          <p:cNvPr id="8196" name="Picture 4">
            <a:extLst>
              <a:ext uri="{FF2B5EF4-FFF2-40B4-BE49-F238E27FC236}">
                <a16:creationId xmlns="" xmlns:a16="http://schemas.microsoft.com/office/drawing/2014/main" id="{13AE21E8-591F-95BD-AECA-26D6626E6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5262" y="973013"/>
            <a:ext cx="367829" cy="2911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 xmlns:a16="http://schemas.microsoft.com/office/drawing/2014/main" id="{DAB39D55-A746-7A01-80D1-7A672E5B3EE2}"/>
              </a:ext>
            </a:extLst>
          </p:cNvPr>
          <p:cNvPicPr>
            <a:picLocks noChangeAspect="1"/>
          </p:cNvPicPr>
          <p:nvPr/>
        </p:nvPicPr>
        <p:blipFill>
          <a:blip r:embed="rId3"/>
          <a:stretch>
            <a:fillRect/>
          </a:stretch>
        </p:blipFill>
        <p:spPr>
          <a:xfrm>
            <a:off x="685366" y="2745167"/>
            <a:ext cx="10238943" cy="940142"/>
          </a:xfrm>
          <a:prstGeom prst="rect">
            <a:avLst/>
          </a:prstGeom>
        </p:spPr>
      </p:pic>
      <p:pic>
        <p:nvPicPr>
          <p:cNvPr id="7" name="Picture 6">
            <a:extLst>
              <a:ext uri="{FF2B5EF4-FFF2-40B4-BE49-F238E27FC236}">
                <a16:creationId xmlns="" xmlns:a16="http://schemas.microsoft.com/office/drawing/2014/main" id="{D81B9A7D-E1A2-C229-054B-CD9849E0B887}"/>
              </a:ext>
            </a:extLst>
          </p:cNvPr>
          <p:cNvPicPr>
            <a:picLocks noChangeAspect="1"/>
          </p:cNvPicPr>
          <p:nvPr/>
        </p:nvPicPr>
        <p:blipFill>
          <a:blip r:embed="rId4"/>
          <a:stretch>
            <a:fillRect/>
          </a:stretch>
        </p:blipFill>
        <p:spPr>
          <a:xfrm>
            <a:off x="2380385" y="4662684"/>
            <a:ext cx="7791450" cy="1945933"/>
          </a:xfrm>
          <a:prstGeom prst="rect">
            <a:avLst/>
          </a:prstGeom>
        </p:spPr>
      </p:pic>
    </p:spTree>
    <p:extLst>
      <p:ext uri="{BB962C8B-B14F-4D97-AF65-F5344CB8AC3E}">
        <p14:creationId xmlns:p14="http://schemas.microsoft.com/office/powerpoint/2010/main" val="23330508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966BE-F41B-35F0-2F02-8FEE1C9447F8}"/>
              </a:ext>
            </a:extLst>
          </p:cNvPr>
          <p:cNvSpPr>
            <a:spLocks noGrp="1"/>
          </p:cNvSpPr>
          <p:nvPr>
            <p:ph type="title"/>
          </p:nvPr>
        </p:nvSpPr>
        <p:spPr>
          <a:xfrm>
            <a:off x="408709" y="89877"/>
            <a:ext cx="10515600" cy="820664"/>
          </a:xfrm>
        </p:spPr>
        <p:txBody>
          <a:bodyPr>
            <a:normAutofit/>
          </a:bodyPr>
          <a:lstStyle/>
          <a:p>
            <a:r>
              <a:rPr lang="en-US" sz="4000" b="1" dirty="0">
                <a:latin typeface="+mn-lt"/>
              </a:rPr>
              <a:t>Relational Algebra : Joins (The Outer Joins)</a:t>
            </a:r>
          </a:p>
        </p:txBody>
      </p:sp>
      <p:sp>
        <p:nvSpPr>
          <p:cNvPr id="3"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235527" y="910541"/>
            <a:ext cx="11785887" cy="5698077"/>
          </a:xfrm>
        </p:spPr>
        <p:txBody>
          <a:bodyPr>
            <a:normAutofit/>
          </a:bodyPr>
          <a:lstStyle/>
          <a:p>
            <a:pPr algn="just">
              <a:buFont typeface="Arial" panose="020B0604020202020204" pitchFamily="34" charset="0"/>
              <a:buChar char="•"/>
            </a:pPr>
            <a:r>
              <a:rPr lang="en-US" b="1" i="0" u="sng" dirty="0">
                <a:effectLst/>
              </a:rPr>
              <a:t>Full Outer Join     </a:t>
            </a:r>
            <a:r>
              <a:rPr lang="en-US" b="1" i="0" dirty="0">
                <a:effectLst/>
              </a:rPr>
              <a:t>: </a:t>
            </a:r>
            <a:r>
              <a:rPr lang="en-US" i="0" dirty="0">
                <a:effectLst/>
              </a:rPr>
              <a:t> In a full outer join, all tuples from both relations are included in the result, irrespective of the matching condition.</a:t>
            </a:r>
            <a:endParaRPr lang="en-US" b="1" i="0" dirty="0">
              <a:solidFill>
                <a:srgbClr val="000099"/>
              </a:solidFill>
              <a:effectLst/>
            </a:endParaRPr>
          </a:p>
          <a:p>
            <a:pPr algn="just">
              <a:buFont typeface="Arial" panose="020B0604020202020204" pitchFamily="34" charset="0"/>
              <a:buChar char="•"/>
            </a:pPr>
            <a:r>
              <a:rPr lang="en-US" i="0" dirty="0">
                <a:effectLst/>
              </a:rPr>
              <a:t>If in case, </a:t>
            </a:r>
            <a:r>
              <a:rPr lang="en-US" b="1" i="0" dirty="0">
                <a:solidFill>
                  <a:srgbClr val="C00000"/>
                </a:solidFill>
                <a:effectLst/>
              </a:rPr>
              <a:t>tuples doesn’t matches, NULL value is passes against that.</a:t>
            </a:r>
          </a:p>
          <a:p>
            <a:pPr algn="just">
              <a:buFont typeface="Arial" panose="020B0604020202020204" pitchFamily="34" charset="0"/>
              <a:buChar char="•"/>
            </a:pPr>
            <a:endParaRPr lang="en-US" b="1" dirty="0">
              <a:solidFill>
                <a:srgbClr val="C00000"/>
              </a:solidFill>
            </a:endParaRPr>
          </a:p>
          <a:p>
            <a:pPr algn="just">
              <a:buFont typeface="Arial" panose="020B0604020202020204" pitchFamily="34" charset="0"/>
              <a:buChar char="•"/>
            </a:pPr>
            <a:endParaRPr lang="en-US" b="1" i="0" dirty="0">
              <a:solidFill>
                <a:srgbClr val="C00000"/>
              </a:solidFill>
              <a:effectLst/>
            </a:endParaRPr>
          </a:p>
          <a:p>
            <a:pPr algn="just">
              <a:buFont typeface="Arial" panose="020B0604020202020204" pitchFamily="34" charset="0"/>
              <a:buChar char="•"/>
            </a:pPr>
            <a:r>
              <a:rPr lang="en-US" b="1" i="0" dirty="0">
                <a:effectLst/>
              </a:rPr>
              <a:t>For example : Consider the tables </a:t>
            </a:r>
            <a:r>
              <a:rPr lang="en-US" b="1" i="0" dirty="0" err="1">
                <a:effectLst/>
              </a:rPr>
              <a:t>Student_Details</a:t>
            </a:r>
            <a:r>
              <a:rPr lang="en-US" b="1" i="0" dirty="0">
                <a:effectLst/>
              </a:rPr>
              <a:t> and </a:t>
            </a:r>
            <a:r>
              <a:rPr lang="en-US" b="1" i="0" dirty="0" err="1">
                <a:effectLst/>
              </a:rPr>
              <a:t>Student_Result</a:t>
            </a:r>
            <a:r>
              <a:rPr lang="en-US" b="1" i="0" dirty="0">
                <a:effectLst/>
              </a:rPr>
              <a:t>. Now, if we want to implement full outer join on these relations, the result will look like:</a:t>
            </a:r>
            <a:endParaRPr lang="en-US" b="1" i="0" dirty="0">
              <a:solidFill>
                <a:srgbClr val="C00000"/>
              </a:solidFill>
              <a:effectLst/>
            </a:endParaRPr>
          </a:p>
          <a:p>
            <a:pPr algn="just">
              <a:buFont typeface="Arial" panose="020B0604020202020204" pitchFamily="34" charset="0"/>
              <a:buChar char="•"/>
            </a:pPr>
            <a:endParaRPr lang="en-US" i="0" dirty="0">
              <a:effectLst/>
            </a:endParaRPr>
          </a:p>
        </p:txBody>
      </p:sp>
      <p:pic>
        <p:nvPicPr>
          <p:cNvPr id="11266" name="Picture 2">
            <a:extLst>
              <a:ext uri="{FF2B5EF4-FFF2-40B4-BE49-F238E27FC236}">
                <a16:creationId xmlns="" xmlns:a16="http://schemas.microsoft.com/office/drawing/2014/main" id="{695FBBF4-CF7A-0766-91DE-E5B9B7FBA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4034" y="910541"/>
            <a:ext cx="498765" cy="3611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07E4019C-3EFB-0E4F-47A2-00178EDD952D}"/>
              </a:ext>
            </a:extLst>
          </p:cNvPr>
          <p:cNvPicPr>
            <a:picLocks noChangeAspect="1"/>
          </p:cNvPicPr>
          <p:nvPr/>
        </p:nvPicPr>
        <p:blipFill>
          <a:blip r:embed="rId3"/>
          <a:stretch>
            <a:fillRect/>
          </a:stretch>
        </p:blipFill>
        <p:spPr>
          <a:xfrm>
            <a:off x="929985" y="2375188"/>
            <a:ext cx="8338705" cy="922193"/>
          </a:xfrm>
          <a:prstGeom prst="rect">
            <a:avLst/>
          </a:prstGeom>
        </p:spPr>
      </p:pic>
      <p:pic>
        <p:nvPicPr>
          <p:cNvPr id="9" name="Picture 8">
            <a:extLst>
              <a:ext uri="{FF2B5EF4-FFF2-40B4-BE49-F238E27FC236}">
                <a16:creationId xmlns="" xmlns:a16="http://schemas.microsoft.com/office/drawing/2014/main" id="{31E936E4-79AE-520F-CFDF-42C0BA7CFD89}"/>
              </a:ext>
            </a:extLst>
          </p:cNvPr>
          <p:cNvPicPr>
            <a:picLocks noChangeAspect="1"/>
          </p:cNvPicPr>
          <p:nvPr/>
        </p:nvPicPr>
        <p:blipFill>
          <a:blip r:embed="rId4"/>
          <a:stretch>
            <a:fillRect/>
          </a:stretch>
        </p:blipFill>
        <p:spPr>
          <a:xfrm>
            <a:off x="2658341" y="4387000"/>
            <a:ext cx="7734300" cy="1819275"/>
          </a:xfrm>
          <a:prstGeom prst="rect">
            <a:avLst/>
          </a:prstGeom>
        </p:spPr>
      </p:pic>
    </p:spTree>
    <p:extLst>
      <p:ext uri="{BB962C8B-B14F-4D97-AF65-F5344CB8AC3E}">
        <p14:creationId xmlns:p14="http://schemas.microsoft.com/office/powerpoint/2010/main" val="30799983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7904" y="220216"/>
            <a:ext cx="338137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932" y="344041"/>
            <a:ext cx="5838825"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ontent Placeholder 2">
            <a:extLst>
              <a:ext uri="{FF2B5EF4-FFF2-40B4-BE49-F238E27FC236}">
                <a16:creationId xmlns="" xmlns:a16="http://schemas.microsoft.com/office/drawing/2014/main" id="{8607C191-93DB-CB69-12C1-D280C34AE22F}"/>
              </a:ext>
            </a:extLst>
          </p:cNvPr>
          <p:cNvSpPr>
            <a:spLocks noGrp="1"/>
          </p:cNvSpPr>
          <p:nvPr>
            <p:ph idx="1"/>
          </p:nvPr>
        </p:nvSpPr>
        <p:spPr>
          <a:xfrm>
            <a:off x="186311" y="3696237"/>
            <a:ext cx="11630891" cy="2975019"/>
          </a:xfrm>
        </p:spPr>
        <p:txBody>
          <a:bodyPr>
            <a:normAutofit fontScale="92500" lnSpcReduction="10000"/>
          </a:bodyPr>
          <a:lstStyle/>
          <a:p>
            <a:pPr algn="just"/>
            <a:r>
              <a:rPr lang="en-US" dirty="0" smtClean="0"/>
              <a:t>1] List the</a:t>
            </a:r>
            <a:r>
              <a:rPr lang="en-US" dirty="0"/>
              <a:t> names and age of students enrolled in different courses.  </a:t>
            </a:r>
            <a:endParaRPr lang="en-US" dirty="0" smtClean="0"/>
          </a:p>
          <a:p>
            <a:pPr algn="just"/>
            <a:r>
              <a:rPr lang="en-US" dirty="0" smtClean="0"/>
              <a:t>2]Identify </a:t>
            </a:r>
            <a:r>
              <a:rPr lang="en-US" dirty="0"/>
              <a:t>names of all students those who are admitted and </a:t>
            </a:r>
            <a:r>
              <a:rPr lang="en-US" dirty="0" smtClean="0"/>
              <a:t>not enrolled </a:t>
            </a:r>
            <a:r>
              <a:rPr lang="en-US" dirty="0"/>
              <a:t>for courses.</a:t>
            </a:r>
          </a:p>
          <a:p>
            <a:pPr algn="just"/>
            <a:r>
              <a:rPr lang="en-US" dirty="0" smtClean="0"/>
              <a:t>3] Identify names of enrolled students along with their </a:t>
            </a:r>
            <a:r>
              <a:rPr lang="en-US" smtClean="0"/>
              <a:t>course details </a:t>
            </a:r>
            <a:r>
              <a:rPr lang="en-US" dirty="0" smtClean="0"/>
              <a:t>, those who belong to Bihar.</a:t>
            </a:r>
          </a:p>
          <a:p>
            <a:pPr algn="just"/>
            <a:r>
              <a:rPr lang="en-US" dirty="0"/>
              <a:t>4] Retrieve Student Details Along with Their </a:t>
            </a:r>
            <a:r>
              <a:rPr lang="en-US" dirty="0" smtClean="0"/>
              <a:t>Courses</a:t>
            </a:r>
          </a:p>
          <a:p>
            <a:pPr algn="just"/>
            <a:r>
              <a:rPr lang="en-US" dirty="0" smtClean="0"/>
              <a:t>5]</a:t>
            </a:r>
            <a:r>
              <a:rPr lang="en-US" b="1" dirty="0"/>
              <a:t> </a:t>
            </a:r>
            <a:r>
              <a:rPr lang="en-US" dirty="0"/>
              <a:t>Retrieve Course IDs Along with the Names of Enrolled Students</a:t>
            </a:r>
            <a:endParaRPr lang="en-US" dirty="0" smtClean="0"/>
          </a:p>
          <a:p>
            <a:pPr algn="just"/>
            <a:endParaRPr lang="en-US" dirty="0"/>
          </a:p>
        </p:txBody>
      </p:sp>
    </p:spTree>
    <p:extLst>
      <p:ext uri="{BB962C8B-B14F-4D97-AF65-F5344CB8AC3E}">
        <p14:creationId xmlns:p14="http://schemas.microsoft.com/office/powerpoint/2010/main" val="8340045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47474" y="1413646"/>
            <a:ext cx="6635907" cy="3722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2">
            <a:extLst>
              <a:ext uri="{FF2B5EF4-FFF2-40B4-BE49-F238E27FC236}">
                <a16:creationId xmlns="" xmlns:a16="http://schemas.microsoft.com/office/drawing/2014/main" id="{8607C191-93DB-CB69-12C1-D280C34AE22F}"/>
              </a:ext>
            </a:extLst>
          </p:cNvPr>
          <p:cNvSpPr txBox="1">
            <a:spLocks/>
          </p:cNvSpPr>
          <p:nvPr/>
        </p:nvSpPr>
        <p:spPr>
          <a:xfrm>
            <a:off x="7315200" y="1687133"/>
            <a:ext cx="4502002" cy="283335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smtClean="0"/>
              <a:t>1] </a:t>
            </a:r>
            <a:r>
              <a:rPr lang="en-US" dirty="0"/>
              <a:t>write a SQL query to find the salesperson and customer who reside in the same city. Return Salesman, </a:t>
            </a:r>
            <a:r>
              <a:rPr lang="en-US" dirty="0" err="1"/>
              <a:t>cust_name</a:t>
            </a:r>
            <a:r>
              <a:rPr lang="en-US" dirty="0"/>
              <a:t> and city.</a:t>
            </a:r>
            <a:r>
              <a:rPr lang="en-US" dirty="0" smtClean="0"/>
              <a:t>  </a:t>
            </a:r>
          </a:p>
          <a:p>
            <a:pPr algn="just"/>
            <a:r>
              <a:rPr lang="en-US" dirty="0" smtClean="0"/>
              <a:t>2]Identify salesman  who delivered orders to </a:t>
            </a:r>
            <a:r>
              <a:rPr lang="en-US" smtClean="0"/>
              <a:t>multiple customer.</a:t>
            </a:r>
            <a:endParaRPr lang="en-US" dirty="0" smtClean="0"/>
          </a:p>
          <a:p>
            <a:pPr algn="just"/>
            <a:endParaRPr lang="en-US" dirty="0" smtClean="0"/>
          </a:p>
          <a:p>
            <a:pPr algn="just"/>
            <a:endParaRPr lang="en-US" dirty="0"/>
          </a:p>
        </p:txBody>
      </p:sp>
    </p:spTree>
    <p:extLst>
      <p:ext uri="{BB962C8B-B14F-4D97-AF65-F5344CB8AC3E}">
        <p14:creationId xmlns:p14="http://schemas.microsoft.com/office/powerpoint/2010/main" val="40563153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2C0438-159B-D54C-D946-6D33922C47CA}"/>
              </a:ext>
            </a:extLst>
          </p:cNvPr>
          <p:cNvSpPr>
            <a:spLocks noGrp="1"/>
          </p:cNvSpPr>
          <p:nvPr>
            <p:ph type="title"/>
          </p:nvPr>
        </p:nvSpPr>
        <p:spPr>
          <a:xfrm>
            <a:off x="76200" y="273810"/>
            <a:ext cx="9261764" cy="252664"/>
          </a:xfrm>
        </p:spPr>
        <p:txBody>
          <a:bodyPr>
            <a:normAutofit fontScale="90000"/>
          </a:bodyPr>
          <a:lstStyle/>
          <a:p>
            <a:r>
              <a:rPr lang="en-US" sz="4400" b="1" dirty="0">
                <a:latin typeface="+mn-lt"/>
              </a:rPr>
              <a:t>Relational </a:t>
            </a:r>
            <a:r>
              <a:rPr lang="en-US" sz="4400" b="1" dirty="0" err="1">
                <a:latin typeface="+mn-lt"/>
              </a:rPr>
              <a:t>Algebra:Summary</a:t>
            </a:r>
            <a:endParaRPr lang="en-US" dirty="0"/>
          </a:p>
        </p:txBody>
      </p:sp>
      <p:graphicFrame>
        <p:nvGraphicFramePr>
          <p:cNvPr id="10" name="Content Placeholder 9">
            <a:extLst>
              <a:ext uri="{FF2B5EF4-FFF2-40B4-BE49-F238E27FC236}">
                <a16:creationId xmlns="" xmlns:a16="http://schemas.microsoft.com/office/drawing/2014/main" id="{F5FDA85D-7AA1-9687-20A8-2D8B4903AE4C}"/>
              </a:ext>
            </a:extLst>
          </p:cNvPr>
          <p:cNvGraphicFramePr>
            <a:graphicFrameLocks noGrp="1"/>
          </p:cNvGraphicFramePr>
          <p:nvPr>
            <p:ph idx="1"/>
            <p:extLst>
              <p:ext uri="{D42A27DB-BD31-4B8C-83A1-F6EECF244321}">
                <p14:modId xmlns:p14="http://schemas.microsoft.com/office/powerpoint/2010/main" val="1958482250"/>
              </p:ext>
            </p:extLst>
          </p:nvPr>
        </p:nvGraphicFramePr>
        <p:xfrm>
          <a:off x="0" y="689446"/>
          <a:ext cx="12039600" cy="6108196"/>
        </p:xfrm>
        <a:graphic>
          <a:graphicData uri="http://schemas.openxmlformats.org/drawingml/2006/table">
            <a:tbl>
              <a:tblPr firstRow="1" firstCol="1" bandRow="1">
                <a:tableStyleId>{5C22544A-7EE6-4342-B048-85BDC9FD1C3A}</a:tableStyleId>
              </a:tblPr>
              <a:tblGrid>
                <a:gridCol w="2997859">
                  <a:extLst>
                    <a:ext uri="{9D8B030D-6E8A-4147-A177-3AD203B41FA5}">
                      <a16:colId xmlns="" xmlns:a16="http://schemas.microsoft.com/office/drawing/2014/main" val="4093070893"/>
                    </a:ext>
                  </a:extLst>
                </a:gridCol>
                <a:gridCol w="9041741">
                  <a:extLst>
                    <a:ext uri="{9D8B030D-6E8A-4147-A177-3AD203B41FA5}">
                      <a16:colId xmlns="" xmlns:a16="http://schemas.microsoft.com/office/drawing/2014/main" val="4063133764"/>
                    </a:ext>
                  </a:extLst>
                </a:gridCol>
              </a:tblGrid>
              <a:tr h="316268">
                <a:tc>
                  <a:txBody>
                    <a:bodyPr/>
                    <a:lstStyle/>
                    <a:p>
                      <a:pPr marL="0" marR="0">
                        <a:lnSpc>
                          <a:spcPct val="107000"/>
                        </a:lnSpc>
                        <a:spcBef>
                          <a:spcPts val="0"/>
                        </a:spcBef>
                        <a:spcAft>
                          <a:spcPts val="0"/>
                        </a:spcAft>
                      </a:pPr>
                      <a:r>
                        <a:rPr lang="en-US" sz="2000" dirty="0">
                          <a:effectLst/>
                        </a:rPr>
                        <a:t>Operation (Symbols)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nSpc>
                          <a:spcPct val="107000"/>
                        </a:lnSpc>
                        <a:spcBef>
                          <a:spcPts val="0"/>
                        </a:spcBef>
                        <a:spcAft>
                          <a:spcPts val="0"/>
                        </a:spcAft>
                      </a:pPr>
                      <a:r>
                        <a:rPr lang="en-US" sz="2000" dirty="0">
                          <a:effectLst/>
                        </a:rPr>
                        <a:t>Purpose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8927017"/>
                  </a:ext>
                </a:extLst>
              </a:tr>
              <a:tr h="578255">
                <a:tc>
                  <a:txBody>
                    <a:bodyPr/>
                    <a:lstStyle/>
                    <a:p>
                      <a:pPr marL="0" marR="0">
                        <a:lnSpc>
                          <a:spcPct val="107000"/>
                        </a:lnSpc>
                        <a:spcBef>
                          <a:spcPts val="0"/>
                        </a:spcBef>
                        <a:spcAft>
                          <a:spcPts val="0"/>
                        </a:spcAft>
                      </a:pPr>
                      <a:r>
                        <a:rPr lang="en-US" sz="1800" dirty="0">
                          <a:effectLst/>
                        </a:rPr>
                        <a:t>Select(σ)</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The SELECT operation is used for selecting a subset of the tuples according to a given selection condition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14167971"/>
                  </a:ext>
                </a:extLst>
              </a:tr>
              <a:tr h="578255">
                <a:tc>
                  <a:txBody>
                    <a:bodyPr/>
                    <a:lstStyle/>
                    <a:p>
                      <a:pPr marL="0" marR="0">
                        <a:lnSpc>
                          <a:spcPct val="107000"/>
                        </a:lnSpc>
                        <a:spcBef>
                          <a:spcPts val="0"/>
                        </a:spcBef>
                        <a:spcAft>
                          <a:spcPts val="0"/>
                        </a:spcAft>
                      </a:pPr>
                      <a:r>
                        <a:rPr lang="en-US" sz="1800" dirty="0">
                          <a:effectLst/>
                        </a:rPr>
                        <a:t>Projection(π)</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The projection eliminates all attributes of the input relation but those mentioned in the projection list.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2304737037"/>
                  </a:ext>
                </a:extLst>
              </a:tr>
              <a:tr h="450165">
                <a:tc>
                  <a:txBody>
                    <a:bodyPr/>
                    <a:lstStyle/>
                    <a:p>
                      <a:pPr marL="0" marR="0">
                        <a:lnSpc>
                          <a:spcPct val="107000"/>
                        </a:lnSpc>
                        <a:spcBef>
                          <a:spcPts val="0"/>
                        </a:spcBef>
                        <a:spcAft>
                          <a:spcPts val="0"/>
                        </a:spcAft>
                      </a:pPr>
                      <a:r>
                        <a:rPr lang="en-US" sz="1800">
                          <a:effectLst/>
                        </a:rPr>
                        <a:t>Union Operation(∪)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UNION is symbolized by symbol. It includes all tuples that are in tables A or in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3321218975"/>
                  </a:ext>
                </a:extLst>
              </a:tr>
              <a:tr h="336760">
                <a:tc>
                  <a:txBody>
                    <a:bodyPr/>
                    <a:lstStyle/>
                    <a:p>
                      <a:pPr marL="0" marR="0">
                        <a:lnSpc>
                          <a:spcPct val="107000"/>
                        </a:lnSpc>
                        <a:spcBef>
                          <a:spcPts val="0"/>
                        </a:spcBef>
                        <a:spcAft>
                          <a:spcPts val="0"/>
                        </a:spcAft>
                      </a:pPr>
                      <a:r>
                        <a:rPr lang="en-US" sz="1800">
                          <a:effectLst/>
                        </a:rPr>
                        <a:t>Set Difference(-)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The result of A – B, is a relation which includes all tuples that are in A but not in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918159607"/>
                  </a:ext>
                </a:extLst>
              </a:tr>
              <a:tr h="450165">
                <a:tc>
                  <a:txBody>
                    <a:bodyPr/>
                    <a:lstStyle/>
                    <a:p>
                      <a:pPr marL="0" marR="0">
                        <a:lnSpc>
                          <a:spcPct val="107000"/>
                        </a:lnSpc>
                        <a:spcBef>
                          <a:spcPts val="0"/>
                        </a:spcBef>
                        <a:spcAft>
                          <a:spcPts val="0"/>
                        </a:spcAft>
                      </a:pPr>
                      <a:r>
                        <a:rPr lang="en-US" sz="1800">
                          <a:effectLst/>
                        </a:rPr>
                        <a:t>Intersection(∩)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Intersection defines a relation consisting of a set of all tuple that are in both A and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4285592041"/>
                  </a:ext>
                </a:extLst>
              </a:tr>
              <a:tr h="300132">
                <a:tc>
                  <a:txBody>
                    <a:bodyPr/>
                    <a:lstStyle/>
                    <a:p>
                      <a:pPr marL="0" marR="0">
                        <a:lnSpc>
                          <a:spcPct val="107000"/>
                        </a:lnSpc>
                        <a:spcBef>
                          <a:spcPts val="0"/>
                        </a:spcBef>
                        <a:spcAft>
                          <a:spcPts val="0"/>
                        </a:spcAft>
                      </a:pPr>
                      <a:r>
                        <a:rPr lang="en-US" sz="1800" dirty="0">
                          <a:effectLst/>
                        </a:rPr>
                        <a:t>Cartesian Product(X)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Cartesian operation is helpful to merge columns from two relations.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1112215430"/>
                  </a:ext>
                </a:extLst>
              </a:tr>
              <a:tr h="300132">
                <a:tc>
                  <a:txBody>
                    <a:bodyPr/>
                    <a:lstStyle/>
                    <a:p>
                      <a:pPr marL="0" marR="0">
                        <a:lnSpc>
                          <a:spcPct val="107000"/>
                        </a:lnSpc>
                        <a:spcBef>
                          <a:spcPts val="0"/>
                        </a:spcBef>
                        <a:spcAft>
                          <a:spcPts val="0"/>
                        </a:spcAft>
                      </a:pPr>
                      <a:r>
                        <a:rPr lang="en-US" sz="1800">
                          <a:effectLst/>
                        </a:rPr>
                        <a:t>Inner Join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Inner join, includes only those tuples that satisfy the matching criteria.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166684133"/>
                  </a:ext>
                </a:extLst>
              </a:tr>
              <a:tr h="450165">
                <a:tc>
                  <a:txBody>
                    <a:bodyPr/>
                    <a:lstStyle/>
                    <a:p>
                      <a:pPr marL="0" marR="0">
                        <a:lnSpc>
                          <a:spcPct val="107000"/>
                        </a:lnSpc>
                        <a:spcBef>
                          <a:spcPts val="0"/>
                        </a:spcBef>
                        <a:spcAft>
                          <a:spcPts val="0"/>
                        </a:spcAft>
                      </a:pPr>
                      <a:r>
                        <a:rPr lang="en-US" sz="1800">
                          <a:effectLst/>
                        </a:rPr>
                        <a:t>Theta Join(θ)</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The general case of JOIN operation is called a Theta join. It is denoted by symbol θ.</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2550368326"/>
                  </a:ext>
                </a:extLst>
              </a:tr>
              <a:tr h="450165">
                <a:tc>
                  <a:txBody>
                    <a:bodyPr/>
                    <a:lstStyle/>
                    <a:p>
                      <a:pPr marL="0" marR="0">
                        <a:lnSpc>
                          <a:spcPct val="107000"/>
                        </a:lnSpc>
                        <a:spcBef>
                          <a:spcPts val="0"/>
                        </a:spcBef>
                        <a:spcAft>
                          <a:spcPts val="0"/>
                        </a:spcAft>
                      </a:pPr>
                      <a:r>
                        <a:rPr lang="en-US" sz="1800" dirty="0">
                          <a:effectLst/>
                        </a:rPr>
                        <a:t>EQUI Join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When a theta join uses only equivalence condition, it becomes a </a:t>
                      </a:r>
                      <a:r>
                        <a:rPr lang="en-US" sz="1800" dirty="0" err="1">
                          <a:effectLst/>
                        </a:rPr>
                        <a:t>equi</a:t>
                      </a:r>
                      <a:r>
                        <a:rPr lang="en-US" sz="1800" dirty="0">
                          <a:effectLst/>
                        </a:rPr>
                        <a:t> join.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4053918305"/>
                  </a:ext>
                </a:extLst>
              </a:tr>
              <a:tr h="362950">
                <a:tc>
                  <a:txBody>
                    <a:bodyPr/>
                    <a:lstStyle/>
                    <a:p>
                      <a:pPr marL="0" marR="0">
                        <a:lnSpc>
                          <a:spcPct val="107000"/>
                        </a:lnSpc>
                        <a:spcBef>
                          <a:spcPts val="0"/>
                        </a:spcBef>
                        <a:spcAft>
                          <a:spcPts val="0"/>
                        </a:spcAft>
                      </a:pPr>
                      <a:r>
                        <a:rPr lang="en-US" sz="1800" dirty="0">
                          <a:effectLst/>
                        </a:rPr>
                        <a:t>Natural Join(⋈)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Natural join can only be performed if there is a common attribute between the relations.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4156292331"/>
                  </a:ext>
                </a:extLst>
              </a:tr>
              <a:tr h="300132">
                <a:tc>
                  <a:txBody>
                    <a:bodyPr/>
                    <a:lstStyle/>
                    <a:p>
                      <a:pPr marL="0" marR="0">
                        <a:lnSpc>
                          <a:spcPct val="107000"/>
                        </a:lnSpc>
                        <a:spcBef>
                          <a:spcPts val="0"/>
                        </a:spcBef>
                        <a:spcAft>
                          <a:spcPts val="0"/>
                        </a:spcAft>
                      </a:pPr>
                      <a:r>
                        <a:rPr lang="en-US" sz="1800" dirty="0">
                          <a:effectLst/>
                        </a:rPr>
                        <a:t>Outer Join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In an outer join, along with tuples that satisfy the matching criteria.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263024065"/>
                  </a:ext>
                </a:extLst>
              </a:tr>
              <a:tr h="300132">
                <a:tc>
                  <a:txBody>
                    <a:bodyPr/>
                    <a:lstStyle/>
                    <a:p>
                      <a:pPr marL="0" marR="0">
                        <a:lnSpc>
                          <a:spcPct val="107000"/>
                        </a:lnSpc>
                        <a:spcBef>
                          <a:spcPts val="0"/>
                        </a:spcBef>
                        <a:spcAft>
                          <a:spcPts val="0"/>
                        </a:spcAft>
                      </a:pPr>
                      <a:r>
                        <a:rPr lang="en-US" sz="1800" dirty="0">
                          <a:effectLst/>
                        </a:rPr>
                        <a:t>Left Outer Join(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In the left outer join, operation allows keeping all tuple in the left relation.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4084676801"/>
                  </a:ext>
                </a:extLst>
              </a:tr>
              <a:tr h="300132">
                <a:tc>
                  <a:txBody>
                    <a:bodyPr/>
                    <a:lstStyle/>
                    <a:p>
                      <a:pPr marL="0" marR="0">
                        <a:lnSpc>
                          <a:spcPct val="107000"/>
                        </a:lnSpc>
                        <a:spcBef>
                          <a:spcPts val="0"/>
                        </a:spcBef>
                        <a:spcAft>
                          <a:spcPts val="0"/>
                        </a:spcAft>
                      </a:pPr>
                      <a:r>
                        <a:rPr lang="en-US" sz="1800" dirty="0">
                          <a:effectLst/>
                        </a:rPr>
                        <a:t>Right Outer join(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In the right outer join, operation allows keeping all tuple in the right relation.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4195338886"/>
                  </a:ext>
                </a:extLst>
              </a:tr>
              <a:tr h="578255">
                <a:tc>
                  <a:txBody>
                    <a:bodyPr/>
                    <a:lstStyle/>
                    <a:p>
                      <a:pPr marL="0" marR="0">
                        <a:lnSpc>
                          <a:spcPct val="107000"/>
                        </a:lnSpc>
                        <a:spcBef>
                          <a:spcPts val="0"/>
                        </a:spcBef>
                        <a:spcAft>
                          <a:spcPts val="0"/>
                        </a:spcAft>
                      </a:pPr>
                      <a:r>
                        <a:rPr lang="en-US" sz="1800">
                          <a:effectLst/>
                        </a:rPr>
                        <a:t>Full Outer Join(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tc>
                  <a:txBody>
                    <a:bodyPr/>
                    <a:lstStyle/>
                    <a:p>
                      <a:pPr marL="0" marR="0" algn="just">
                        <a:lnSpc>
                          <a:spcPct val="107000"/>
                        </a:lnSpc>
                        <a:spcBef>
                          <a:spcPts val="0"/>
                        </a:spcBef>
                        <a:spcAft>
                          <a:spcPts val="0"/>
                        </a:spcAft>
                      </a:pPr>
                      <a:r>
                        <a:rPr lang="en-US" sz="1800" dirty="0">
                          <a:effectLst/>
                        </a:rPr>
                        <a:t>In a full outer join, all tuples from both relations are included in the result irrespective of the matching condition.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2506" marR="2506" marT="2506" marB="2506"/>
                </a:tc>
                <a:extLst>
                  <a:ext uri="{0D108BD9-81ED-4DB2-BD59-A6C34878D82A}">
                    <a16:rowId xmlns="" xmlns:a16="http://schemas.microsoft.com/office/drawing/2014/main" val="658745000"/>
                  </a:ext>
                </a:extLst>
              </a:tr>
            </a:tbl>
          </a:graphicData>
        </a:graphic>
      </p:graphicFrame>
    </p:spTree>
    <p:extLst>
      <p:ext uri="{BB962C8B-B14F-4D97-AF65-F5344CB8AC3E}">
        <p14:creationId xmlns:p14="http://schemas.microsoft.com/office/powerpoint/2010/main" val="3683557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Joins </a:t>
            </a:r>
            <a:r>
              <a:rPr lang="en-US" b="1" dirty="0" err="1" smtClean="0"/>
              <a:t>Vs</a:t>
            </a:r>
            <a:r>
              <a:rPr lang="en-US" b="1" dirty="0" smtClean="0"/>
              <a:t> Views</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0822992"/>
              </p:ext>
            </p:extLst>
          </p:nvPr>
        </p:nvGraphicFramePr>
        <p:xfrm>
          <a:off x="838200" y="2172494"/>
          <a:ext cx="10515600" cy="3657600"/>
        </p:xfrm>
        <a:graphic>
          <a:graphicData uri="http://schemas.openxmlformats.org/drawingml/2006/table">
            <a:tbl>
              <a:tblPr/>
              <a:tblGrid>
                <a:gridCol w="3505200"/>
                <a:gridCol w="3505200"/>
                <a:gridCol w="3505200"/>
              </a:tblGrid>
              <a:tr h="0">
                <a:tc>
                  <a:txBody>
                    <a:bodyPr/>
                    <a:lstStyle/>
                    <a:p>
                      <a:r>
                        <a:rPr lang="en-US"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Joins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Views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What it 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 query operation combining tables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 virtual table (stored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Not stored, only executed when run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Stored in DB metadata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dirty="0"/>
                        <a:t>Reusability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Must be written every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Can reuse by calling the view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dirty="0"/>
                        <a:t>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Exposes all joined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Can hide sensitive columns from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Executes at query runtime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May improve readability but still runs underlying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Example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To combine tables on the fly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simplify and standardize frequent queries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39634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Joins </a:t>
            </a:r>
            <a:r>
              <a:rPr lang="en-US" dirty="0" err="1" smtClean="0"/>
              <a:t>vs</a:t>
            </a:r>
            <a:r>
              <a:rPr lang="en-US" dirty="0" smtClean="0"/>
              <a:t> views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When to use JOINs:</a:t>
            </a:r>
            <a:endParaRPr lang="en-US" dirty="0"/>
          </a:p>
          <a:p>
            <a:r>
              <a:rPr lang="en-US" dirty="0"/>
              <a:t>You need data from multiple tables </a:t>
            </a:r>
            <a:r>
              <a:rPr lang="en-US" b="1" dirty="0"/>
              <a:t>just for one query/report</a:t>
            </a:r>
            <a:r>
              <a:rPr lang="en-US" dirty="0"/>
              <a:t>.</a:t>
            </a:r>
          </a:p>
          <a:p>
            <a:r>
              <a:rPr lang="en-US" dirty="0"/>
              <a:t>You want to </a:t>
            </a:r>
            <a:r>
              <a:rPr lang="en-US" b="1" dirty="0"/>
              <a:t>filter, group, or aggregate</a:t>
            </a:r>
            <a:r>
              <a:rPr lang="en-US" dirty="0"/>
              <a:t> data across related tables.</a:t>
            </a:r>
          </a:p>
          <a:p>
            <a:r>
              <a:rPr lang="en-US" dirty="0"/>
              <a:t>You don’t need to reuse the same combination often.</a:t>
            </a:r>
          </a:p>
          <a:p>
            <a:r>
              <a:rPr lang="en-US" dirty="0"/>
              <a:t>You want </a:t>
            </a:r>
            <a:r>
              <a:rPr lang="en-US" b="1" dirty="0"/>
              <a:t>real-time results</a:t>
            </a:r>
            <a:r>
              <a:rPr lang="en-US" dirty="0"/>
              <a:t> directly from base tables.</a:t>
            </a:r>
          </a:p>
          <a:p>
            <a:r>
              <a:rPr lang="en-US" b="1" dirty="0"/>
              <a:t>When to use Views:</a:t>
            </a:r>
            <a:endParaRPr lang="en-US" dirty="0"/>
          </a:p>
          <a:p>
            <a:r>
              <a:rPr lang="en-US" dirty="0"/>
              <a:t>You frequently need the </a:t>
            </a:r>
            <a:r>
              <a:rPr lang="en-US" b="1" dirty="0"/>
              <a:t>same JOIN or complex query</a:t>
            </a:r>
            <a:r>
              <a:rPr lang="en-US" dirty="0"/>
              <a:t> → save it as a view.</a:t>
            </a:r>
          </a:p>
          <a:p>
            <a:r>
              <a:rPr lang="en-US" dirty="0"/>
              <a:t>You want to </a:t>
            </a:r>
            <a:r>
              <a:rPr lang="en-US" b="1" dirty="0"/>
              <a:t>simplify queries</a:t>
            </a:r>
            <a:r>
              <a:rPr lang="en-US" dirty="0"/>
              <a:t> for end users (hide complexity).</a:t>
            </a:r>
          </a:p>
          <a:p>
            <a:r>
              <a:rPr lang="en-US" dirty="0"/>
              <a:t>You want to </a:t>
            </a:r>
            <a:r>
              <a:rPr lang="en-US" b="1" dirty="0"/>
              <a:t>restrict access</a:t>
            </a:r>
            <a:r>
              <a:rPr lang="en-US" dirty="0"/>
              <a:t> (e.g., give access to a view instead of base tables for security).</a:t>
            </a:r>
          </a:p>
          <a:p>
            <a:r>
              <a:rPr lang="en-US" dirty="0"/>
              <a:t>You need </a:t>
            </a:r>
            <a:r>
              <a:rPr lang="en-US" b="1" dirty="0"/>
              <a:t>consistent logic</a:t>
            </a:r>
            <a:r>
              <a:rPr lang="en-US" dirty="0"/>
              <a:t> reused in many places (e.g., business calculations).</a:t>
            </a:r>
          </a:p>
          <a:p>
            <a:r>
              <a:rPr lang="en-US" dirty="0"/>
              <a:t>You want a </a:t>
            </a:r>
            <a:r>
              <a:rPr lang="en-US" b="1" dirty="0"/>
              <a:t>read-only layer</a:t>
            </a:r>
            <a:r>
              <a:rPr lang="en-US" dirty="0"/>
              <a:t> for reporting tools.</a:t>
            </a:r>
          </a:p>
          <a:p>
            <a:endParaRPr lang="en-US" dirty="0"/>
          </a:p>
        </p:txBody>
      </p:sp>
    </p:spTree>
    <p:extLst>
      <p:ext uri="{BB962C8B-B14F-4D97-AF65-F5344CB8AC3E}">
        <p14:creationId xmlns:p14="http://schemas.microsoft.com/office/powerpoint/2010/main" val="2303632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F24664-F4F3-4F49-BDDD-B4ABB88A0AE2}"/>
              </a:ext>
            </a:extLst>
          </p:cNvPr>
          <p:cNvSpPr>
            <a:spLocks noGrp="1"/>
          </p:cNvSpPr>
          <p:nvPr>
            <p:ph type="title"/>
          </p:nvPr>
        </p:nvSpPr>
        <p:spPr/>
        <p:txBody>
          <a:bodyPr>
            <a:normAutofit/>
          </a:bodyPr>
          <a:lstStyle/>
          <a:p>
            <a:r>
              <a:rPr lang="en-IN" sz="4000" b="1" dirty="0">
                <a:effectLst/>
              </a:rPr>
              <a:t>What is SQL?</a:t>
            </a:r>
            <a:br>
              <a:rPr lang="en-IN" sz="4000" b="1" dirty="0">
                <a:effectLst/>
              </a:rPr>
            </a:br>
            <a:endParaRPr lang="en-IN" sz="4000" dirty="0"/>
          </a:p>
        </p:txBody>
      </p:sp>
      <p:sp>
        <p:nvSpPr>
          <p:cNvPr id="3" name="Content Placeholder 2">
            <a:extLst>
              <a:ext uri="{FF2B5EF4-FFF2-40B4-BE49-F238E27FC236}">
                <a16:creationId xmlns="" xmlns:a16="http://schemas.microsoft.com/office/drawing/2014/main" id="{89AC0AA6-2ACA-4DD7-83A5-7D35DACEBB96}"/>
              </a:ext>
            </a:extLst>
          </p:cNvPr>
          <p:cNvSpPr>
            <a:spLocks noGrp="1"/>
          </p:cNvSpPr>
          <p:nvPr>
            <p:ph idx="1"/>
          </p:nvPr>
        </p:nvSpPr>
        <p:spPr/>
        <p:txBody>
          <a:bodyPr/>
          <a:lstStyle/>
          <a:p>
            <a:pPr algn="just">
              <a:buFont typeface="Arial" panose="020B0604020202020204" pitchFamily="34" charset="0"/>
              <a:buChar char="•"/>
            </a:pPr>
            <a:r>
              <a:rPr lang="en-US" dirty="0"/>
              <a:t>SQL stands for </a:t>
            </a:r>
            <a:r>
              <a:rPr lang="en-US" b="1" dirty="0">
                <a:solidFill>
                  <a:srgbClr val="000099"/>
                </a:solidFill>
              </a:rPr>
              <a:t>Structured Query Language. </a:t>
            </a:r>
            <a:r>
              <a:rPr lang="en-US" dirty="0"/>
              <a:t>It is used for storing and managing data in relational database management system (RDMS).</a:t>
            </a:r>
          </a:p>
          <a:p>
            <a:pPr algn="just">
              <a:buFont typeface="Arial" panose="020B0604020202020204" pitchFamily="34" charset="0"/>
              <a:buChar char="•"/>
            </a:pPr>
            <a:r>
              <a:rPr lang="en-US" dirty="0"/>
              <a:t>It is a </a:t>
            </a:r>
            <a:r>
              <a:rPr lang="en-US" b="1" dirty="0">
                <a:solidFill>
                  <a:srgbClr val="000099"/>
                </a:solidFill>
              </a:rPr>
              <a:t>standard language for Relational Database System</a:t>
            </a:r>
            <a:r>
              <a:rPr lang="en-US" dirty="0"/>
              <a:t>. It enables a user to </a:t>
            </a:r>
            <a:r>
              <a:rPr lang="en-US" b="1" dirty="0">
                <a:solidFill>
                  <a:srgbClr val="000099"/>
                </a:solidFill>
              </a:rPr>
              <a:t>create, read, update and delete relational databases </a:t>
            </a:r>
            <a:r>
              <a:rPr lang="en-US" dirty="0"/>
              <a:t>and tables.</a:t>
            </a:r>
          </a:p>
          <a:p>
            <a:pPr algn="just">
              <a:buFont typeface="Arial" panose="020B0604020202020204" pitchFamily="34" charset="0"/>
              <a:buChar char="•"/>
            </a:pPr>
            <a:r>
              <a:rPr lang="en-US" dirty="0"/>
              <a:t>All the RDBMS like MySQL, Informix, Oracle, MS Access and SQL Server use SQL as their standard database language.</a:t>
            </a:r>
          </a:p>
          <a:p>
            <a:pPr algn="just">
              <a:buFont typeface="Arial" panose="020B0604020202020204" pitchFamily="34" charset="0"/>
              <a:buChar char="•"/>
            </a:pPr>
            <a:r>
              <a:rPr lang="en-US" b="1" dirty="0">
                <a:solidFill>
                  <a:srgbClr val="000099"/>
                </a:solidFill>
              </a:rPr>
              <a:t>SQL allows users to query the database in a number of ways</a:t>
            </a:r>
            <a:r>
              <a:rPr lang="en-US" dirty="0"/>
              <a:t>, using English-like statements.</a:t>
            </a:r>
          </a:p>
          <a:p>
            <a:endParaRPr lang="en-IN" dirty="0"/>
          </a:p>
        </p:txBody>
      </p:sp>
    </p:spTree>
    <p:extLst>
      <p:ext uri="{BB962C8B-B14F-4D97-AF65-F5344CB8AC3E}">
        <p14:creationId xmlns:p14="http://schemas.microsoft.com/office/powerpoint/2010/main" val="31176736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4A3E1B-D827-45F5-8221-C40FAB694468}"/>
              </a:ext>
            </a:extLst>
          </p:cNvPr>
          <p:cNvSpPr>
            <a:spLocks noGrp="1"/>
          </p:cNvSpPr>
          <p:nvPr>
            <p:ph type="title"/>
          </p:nvPr>
        </p:nvSpPr>
        <p:spPr/>
        <p:txBody>
          <a:bodyPr/>
          <a:lstStyle/>
          <a:p>
            <a:r>
              <a:rPr lang="en-IN" b="1" dirty="0"/>
              <a:t>SQL Datatype</a:t>
            </a:r>
            <a:br>
              <a:rPr lang="en-IN" b="1" dirty="0"/>
            </a:br>
            <a:endParaRPr lang="en-IN" dirty="0"/>
          </a:p>
        </p:txBody>
      </p:sp>
      <p:sp>
        <p:nvSpPr>
          <p:cNvPr id="3" name="Content Placeholder 2">
            <a:extLst>
              <a:ext uri="{FF2B5EF4-FFF2-40B4-BE49-F238E27FC236}">
                <a16:creationId xmlns="" xmlns:a16="http://schemas.microsoft.com/office/drawing/2014/main" id="{688A7E35-5C6C-4253-879F-67EA64B635AA}"/>
              </a:ext>
            </a:extLst>
          </p:cNvPr>
          <p:cNvSpPr>
            <a:spLocks noGrp="1"/>
          </p:cNvSpPr>
          <p:nvPr>
            <p:ph idx="1"/>
          </p:nvPr>
        </p:nvSpPr>
        <p:spPr>
          <a:xfrm>
            <a:off x="519545" y="1000196"/>
            <a:ext cx="10515600" cy="1325563"/>
          </a:xfrm>
        </p:spPr>
        <p:txBody>
          <a:bodyPr>
            <a:normAutofit lnSpcReduction="10000"/>
          </a:bodyPr>
          <a:lstStyle/>
          <a:p>
            <a:pPr algn="just">
              <a:buFont typeface="Arial" panose="020B0604020202020204" pitchFamily="34" charset="0"/>
              <a:buChar char="•"/>
            </a:pPr>
            <a:r>
              <a:rPr lang="en-US" dirty="0"/>
              <a:t>SQL Datatype is used to define the values that a column can contain.</a:t>
            </a:r>
          </a:p>
          <a:p>
            <a:pPr algn="just">
              <a:buFont typeface="Arial" panose="020B0604020202020204" pitchFamily="34" charset="0"/>
              <a:buChar char="•"/>
            </a:pPr>
            <a:r>
              <a:rPr lang="en-US" dirty="0"/>
              <a:t>Every column is required to have a name and data type in the database table.</a:t>
            </a:r>
          </a:p>
          <a:p>
            <a:endParaRPr lang="en-IN" dirty="0"/>
          </a:p>
        </p:txBody>
      </p:sp>
      <p:graphicFrame>
        <p:nvGraphicFramePr>
          <p:cNvPr id="5" name="Table 4">
            <a:extLst>
              <a:ext uri="{FF2B5EF4-FFF2-40B4-BE49-F238E27FC236}">
                <a16:creationId xmlns="" xmlns:a16="http://schemas.microsoft.com/office/drawing/2014/main" id="{FB064E09-5CEC-4F49-A0F4-C82ABFC2CDCD}"/>
              </a:ext>
            </a:extLst>
          </p:cNvPr>
          <p:cNvGraphicFramePr>
            <a:graphicFrameLocks noGrp="1"/>
          </p:cNvGraphicFramePr>
          <p:nvPr>
            <p:extLst>
              <p:ext uri="{D42A27DB-BD31-4B8C-83A1-F6EECF244321}">
                <p14:modId xmlns:p14="http://schemas.microsoft.com/office/powerpoint/2010/main" val="2102415771"/>
              </p:ext>
            </p:extLst>
          </p:nvPr>
        </p:nvGraphicFramePr>
        <p:xfrm>
          <a:off x="401782" y="2325759"/>
          <a:ext cx="11582400" cy="1893891"/>
        </p:xfrm>
        <a:graphic>
          <a:graphicData uri="http://schemas.openxmlformats.org/drawingml/2006/table">
            <a:tbl>
              <a:tblPr/>
              <a:tblGrid>
                <a:gridCol w="1411558">
                  <a:extLst>
                    <a:ext uri="{9D8B030D-6E8A-4147-A177-3AD203B41FA5}">
                      <a16:colId xmlns="" xmlns:a16="http://schemas.microsoft.com/office/drawing/2014/main" val="1236315950"/>
                    </a:ext>
                  </a:extLst>
                </a:gridCol>
                <a:gridCol w="10170842">
                  <a:extLst>
                    <a:ext uri="{9D8B030D-6E8A-4147-A177-3AD203B41FA5}">
                      <a16:colId xmlns="" xmlns:a16="http://schemas.microsoft.com/office/drawing/2014/main" val="3464377913"/>
                    </a:ext>
                  </a:extLst>
                </a:gridCol>
              </a:tblGrid>
              <a:tr h="291072">
                <a:tc>
                  <a:txBody>
                    <a:bodyPr/>
                    <a:lstStyle/>
                    <a:p>
                      <a:r>
                        <a:rPr lang="en-IN" b="1" dirty="0"/>
                        <a:t>Data type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44367617"/>
                  </a:ext>
                </a:extLst>
              </a:tr>
              <a:tr h="509377">
                <a:tc>
                  <a:txBody>
                    <a:bodyPr/>
                    <a:lstStyle/>
                    <a:p>
                      <a:r>
                        <a:rPr lang="en-IN" b="1" dirty="0">
                          <a:solidFill>
                            <a:srgbClr val="000099"/>
                          </a:solidFill>
                        </a:rPr>
                        <a:t>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It has a maximum length of 8000 characters. It contains Fixed-length non-</a:t>
                      </a:r>
                      <a:r>
                        <a:rPr lang="en-US" dirty="0" err="1"/>
                        <a:t>unicode</a:t>
                      </a:r>
                      <a:r>
                        <a:rPr lang="en-US" dirty="0"/>
                        <a:t> characters.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536453493"/>
                  </a:ext>
                </a:extLst>
              </a:tr>
              <a:tr h="509377">
                <a:tc>
                  <a:txBody>
                    <a:bodyPr/>
                    <a:lstStyle/>
                    <a:p>
                      <a:r>
                        <a:rPr lang="en-IN" b="1" dirty="0">
                          <a:solidFill>
                            <a:srgbClr val="000099"/>
                          </a:solidFill>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It has a maximum length of 8000 characters. It contains variable-length non-</a:t>
                      </a:r>
                      <a:r>
                        <a:rPr lang="en-US" dirty="0" err="1"/>
                        <a:t>unicode</a:t>
                      </a:r>
                      <a:r>
                        <a:rPr lang="en-US" dirty="0"/>
                        <a:t> characters.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3645214"/>
                  </a:ext>
                </a:extLst>
              </a:tr>
              <a:tr h="509377">
                <a:tc>
                  <a:txBody>
                    <a:bodyPr/>
                    <a:lstStyle/>
                    <a:p>
                      <a:r>
                        <a:rPr lang="en-IN" b="1" dirty="0">
                          <a:solidFill>
                            <a:srgbClr val="000099"/>
                          </a:solidFill>
                        </a:rPr>
                        <a: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It has a maximum length of 2,147,483,647 characters. It contains variable-length non-</a:t>
                      </a:r>
                      <a:r>
                        <a:rPr lang="en-US" dirty="0" err="1"/>
                        <a:t>unicode</a:t>
                      </a:r>
                      <a:r>
                        <a:rPr lang="en-US" dirty="0"/>
                        <a:t> characters.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73101378"/>
                  </a:ext>
                </a:extLst>
              </a:tr>
            </a:tbl>
          </a:graphicData>
        </a:graphic>
      </p:graphicFrame>
      <p:graphicFrame>
        <p:nvGraphicFramePr>
          <p:cNvPr id="6" name="Table 5">
            <a:extLst>
              <a:ext uri="{FF2B5EF4-FFF2-40B4-BE49-F238E27FC236}">
                <a16:creationId xmlns="" xmlns:a16="http://schemas.microsoft.com/office/drawing/2014/main" id="{FDC0651A-1471-4E54-8F5F-FD42A432B764}"/>
              </a:ext>
            </a:extLst>
          </p:cNvPr>
          <p:cNvGraphicFramePr>
            <a:graphicFrameLocks noGrp="1"/>
          </p:cNvGraphicFramePr>
          <p:nvPr>
            <p:extLst>
              <p:ext uri="{D42A27DB-BD31-4B8C-83A1-F6EECF244321}">
                <p14:modId xmlns:p14="http://schemas.microsoft.com/office/powerpoint/2010/main" val="2983930722"/>
              </p:ext>
            </p:extLst>
          </p:nvPr>
        </p:nvGraphicFramePr>
        <p:xfrm>
          <a:off x="519545" y="4360167"/>
          <a:ext cx="10515600" cy="2024592"/>
        </p:xfrm>
        <a:graphic>
          <a:graphicData uri="http://schemas.openxmlformats.org/drawingml/2006/table">
            <a:tbl>
              <a:tblPr/>
              <a:tblGrid>
                <a:gridCol w="1406237">
                  <a:extLst>
                    <a:ext uri="{9D8B030D-6E8A-4147-A177-3AD203B41FA5}">
                      <a16:colId xmlns="" xmlns:a16="http://schemas.microsoft.com/office/drawing/2014/main" val="1968081889"/>
                    </a:ext>
                  </a:extLst>
                </a:gridCol>
                <a:gridCol w="9109363">
                  <a:extLst>
                    <a:ext uri="{9D8B030D-6E8A-4147-A177-3AD203B41FA5}">
                      <a16:colId xmlns="" xmlns:a16="http://schemas.microsoft.com/office/drawing/2014/main" val="2597659216"/>
                    </a:ext>
                  </a:extLst>
                </a:gridCol>
              </a:tblGrid>
              <a:tr h="506148">
                <a:tc>
                  <a:txBody>
                    <a:bodyPr/>
                    <a:lstStyle/>
                    <a:p>
                      <a:r>
                        <a:rPr lang="en-IN" b="1" dirty="0"/>
                        <a:t>Datatype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4082896"/>
                  </a:ext>
                </a:extLst>
              </a:tr>
              <a:tr h="506148">
                <a:tc>
                  <a:txBody>
                    <a:bodyPr/>
                    <a:lstStyle/>
                    <a:p>
                      <a:r>
                        <a:rPr lang="en-IN" b="1" dirty="0">
                          <a:solidFill>
                            <a:srgbClr val="000099"/>
                          </a:solidFill>
                        </a:rPr>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It is used to store the year, month, and days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40336931"/>
                  </a:ext>
                </a:extLst>
              </a:tr>
              <a:tr h="506148">
                <a:tc>
                  <a:txBody>
                    <a:bodyPr/>
                    <a:lstStyle/>
                    <a:p>
                      <a:r>
                        <a:rPr lang="en-IN" b="1" dirty="0">
                          <a:solidFill>
                            <a:srgbClr val="000099"/>
                          </a:solidFill>
                        </a:rPr>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It is used to store the hour, minute, and second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69089213"/>
                  </a:ext>
                </a:extLst>
              </a:tr>
              <a:tr h="506148">
                <a:tc>
                  <a:txBody>
                    <a:bodyPr/>
                    <a:lstStyle/>
                    <a:p>
                      <a:r>
                        <a:rPr lang="en-IN" b="1" dirty="0">
                          <a:solidFill>
                            <a:srgbClr val="000099"/>
                          </a:solidFill>
                        </a:rPr>
                        <a:t>timestamp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It stores the year, month, day, hour, minute, and the second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66473448"/>
                  </a:ext>
                </a:extLst>
              </a:tr>
            </a:tbl>
          </a:graphicData>
        </a:graphic>
      </p:graphicFrame>
    </p:spTree>
    <p:extLst>
      <p:ext uri="{BB962C8B-B14F-4D97-AF65-F5344CB8AC3E}">
        <p14:creationId xmlns:p14="http://schemas.microsoft.com/office/powerpoint/2010/main" val="34881947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257" y="1563211"/>
            <a:ext cx="3719713" cy="2759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0757" y="1634130"/>
            <a:ext cx="4838700"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a:extLst>
              <a:ext uri="{FF2B5EF4-FFF2-40B4-BE49-F238E27FC236}">
                <a16:creationId xmlns="" xmlns:a16="http://schemas.microsoft.com/office/drawing/2014/main" id="{544A3E1B-D827-45F5-8221-C40FAB694468}"/>
              </a:ext>
            </a:extLst>
          </p:cNvPr>
          <p:cNvSpPr>
            <a:spLocks noGrp="1"/>
          </p:cNvSpPr>
          <p:nvPr>
            <p:ph type="title"/>
          </p:nvPr>
        </p:nvSpPr>
        <p:spPr>
          <a:xfrm>
            <a:off x="838200" y="365125"/>
            <a:ext cx="10515600" cy="1325563"/>
          </a:xfrm>
        </p:spPr>
        <p:txBody>
          <a:bodyPr/>
          <a:lstStyle/>
          <a:p>
            <a:r>
              <a:rPr lang="en-IN" b="1" dirty="0"/>
              <a:t>SQL </a:t>
            </a:r>
            <a:r>
              <a:rPr lang="en-IN" b="1" dirty="0" smtClean="0"/>
              <a:t> Text Data type example</a:t>
            </a:r>
            <a:r>
              <a:rPr lang="en-IN" b="1" dirty="0"/>
              <a:t/>
            </a:r>
            <a:br>
              <a:rPr lang="en-IN" b="1" dirty="0"/>
            </a:br>
            <a:endParaRPr lang="en-IN" dirty="0"/>
          </a:p>
        </p:txBody>
      </p:sp>
    </p:spTree>
    <p:extLst>
      <p:ext uri="{BB962C8B-B14F-4D97-AF65-F5344CB8AC3E}">
        <p14:creationId xmlns:p14="http://schemas.microsoft.com/office/powerpoint/2010/main" val="37219467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4A3E1B-D827-45F5-8221-C40FAB694468}"/>
              </a:ext>
            </a:extLst>
          </p:cNvPr>
          <p:cNvSpPr>
            <a:spLocks noGrp="1"/>
          </p:cNvSpPr>
          <p:nvPr>
            <p:ph type="title"/>
          </p:nvPr>
        </p:nvSpPr>
        <p:spPr/>
        <p:txBody>
          <a:bodyPr/>
          <a:lstStyle/>
          <a:p>
            <a:r>
              <a:rPr lang="en-IN" b="1" dirty="0"/>
              <a:t>SQL Datatype</a:t>
            </a:r>
            <a:br>
              <a:rPr lang="en-IN" b="1" dirty="0"/>
            </a:br>
            <a:endParaRPr lang="en-IN" dirty="0"/>
          </a:p>
        </p:txBody>
      </p:sp>
      <p:graphicFrame>
        <p:nvGraphicFramePr>
          <p:cNvPr id="4" name="Table 3">
            <a:extLst>
              <a:ext uri="{FF2B5EF4-FFF2-40B4-BE49-F238E27FC236}">
                <a16:creationId xmlns="" xmlns:a16="http://schemas.microsoft.com/office/drawing/2014/main" id="{94FA53D4-9D28-48B5-876C-19E45181C16F}"/>
              </a:ext>
            </a:extLst>
          </p:cNvPr>
          <p:cNvGraphicFramePr>
            <a:graphicFrameLocks noGrp="1"/>
          </p:cNvGraphicFramePr>
          <p:nvPr>
            <p:extLst>
              <p:ext uri="{D42A27DB-BD31-4B8C-83A1-F6EECF244321}">
                <p14:modId xmlns:p14="http://schemas.microsoft.com/office/powerpoint/2010/main" val="3069198285"/>
              </p:ext>
            </p:extLst>
          </p:nvPr>
        </p:nvGraphicFramePr>
        <p:xfrm>
          <a:off x="727363" y="1482436"/>
          <a:ext cx="10515600" cy="4591020"/>
        </p:xfrm>
        <a:graphic>
          <a:graphicData uri="http://schemas.openxmlformats.org/drawingml/2006/table">
            <a:tbl>
              <a:tblPr/>
              <a:tblGrid>
                <a:gridCol w="1683327">
                  <a:extLst>
                    <a:ext uri="{9D8B030D-6E8A-4147-A177-3AD203B41FA5}">
                      <a16:colId xmlns="" xmlns:a16="http://schemas.microsoft.com/office/drawing/2014/main" val="2285047589"/>
                    </a:ext>
                  </a:extLst>
                </a:gridCol>
                <a:gridCol w="8832273">
                  <a:extLst>
                    <a:ext uri="{9D8B030D-6E8A-4147-A177-3AD203B41FA5}">
                      <a16:colId xmlns="" xmlns:a16="http://schemas.microsoft.com/office/drawing/2014/main" val="2059573988"/>
                    </a:ext>
                  </a:extLst>
                </a:gridCol>
              </a:tblGrid>
              <a:tr h="729228">
                <a:tc>
                  <a:txBody>
                    <a:bodyPr/>
                    <a:lstStyle/>
                    <a:p>
                      <a:r>
                        <a:rPr lang="en-IN" sz="2800" b="1" dirty="0"/>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800"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154365908"/>
                  </a:ext>
                </a:extLst>
              </a:tr>
              <a:tr h="729228">
                <a:tc>
                  <a:txBody>
                    <a:bodyPr/>
                    <a:lstStyle/>
                    <a:p>
                      <a:r>
                        <a:rPr lang="en-IN" sz="2800" b="1" dirty="0">
                          <a:solidFill>
                            <a:srgbClr val="000099"/>
                          </a:solidFill>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It is used to specify an integer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763530212"/>
                  </a:ext>
                </a:extLst>
              </a:tr>
              <a:tr h="729228">
                <a:tc>
                  <a:txBody>
                    <a:bodyPr/>
                    <a:lstStyle/>
                    <a:p>
                      <a:r>
                        <a:rPr lang="en-IN" sz="2800" b="1" dirty="0" err="1">
                          <a:solidFill>
                            <a:srgbClr val="000099"/>
                          </a:solidFill>
                        </a:rPr>
                        <a:t>smallint</a:t>
                      </a:r>
                      <a:endParaRPr lang="en-IN" sz="2800" b="1" dirty="0">
                        <a:solidFill>
                          <a:srgbClr val="000099"/>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It is used to specify small integer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5737426"/>
                  </a:ext>
                </a:extLst>
              </a:tr>
              <a:tr h="729228">
                <a:tc>
                  <a:txBody>
                    <a:bodyPr/>
                    <a:lstStyle/>
                    <a:p>
                      <a:r>
                        <a:rPr lang="en-IN" sz="2800" b="1" dirty="0">
                          <a:solidFill>
                            <a:srgbClr val="000099"/>
                          </a:solidFill>
                        </a:rPr>
                        <a:t>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It has the number of bits to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86201852"/>
                  </a:ext>
                </a:extLst>
              </a:tr>
              <a:tr h="729228">
                <a:tc>
                  <a:txBody>
                    <a:bodyPr/>
                    <a:lstStyle/>
                    <a:p>
                      <a:r>
                        <a:rPr lang="en-IN" sz="2800" b="1" dirty="0">
                          <a:solidFill>
                            <a:srgbClr val="000099"/>
                          </a:solidFill>
                        </a:rPr>
                        <a:t>decimal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It specifies a numeric value that can have a decimal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766158273"/>
                  </a:ext>
                </a:extLst>
              </a:tr>
              <a:tr h="729228">
                <a:tc>
                  <a:txBody>
                    <a:bodyPr/>
                    <a:lstStyle/>
                    <a:p>
                      <a:r>
                        <a:rPr lang="en-IN" sz="2800" b="1" dirty="0">
                          <a:solidFill>
                            <a:srgbClr val="000099"/>
                          </a:solidFill>
                        </a:rPr>
                        <a:t>numeric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It is used to specify a numeric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64214100"/>
                  </a:ext>
                </a:extLst>
              </a:tr>
            </a:tbl>
          </a:graphicData>
        </a:graphic>
      </p:graphicFrame>
    </p:spTree>
    <p:extLst>
      <p:ext uri="{BB962C8B-B14F-4D97-AF65-F5344CB8AC3E}">
        <p14:creationId xmlns:p14="http://schemas.microsoft.com/office/powerpoint/2010/main" val="4423145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0" y="0"/>
            <a:ext cx="7303879" cy="3495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34852" y="3833388"/>
            <a:ext cx="10753858" cy="1477328"/>
          </a:xfrm>
          <a:prstGeom prst="rect">
            <a:avLst/>
          </a:prstGeom>
        </p:spPr>
        <p:txBody>
          <a:bodyPr wrap="square">
            <a:spAutoFit/>
          </a:bodyPr>
          <a:lstStyle/>
          <a:p>
            <a:r>
              <a:rPr lang="en-US" dirty="0"/>
              <a:t>CREATE TABLE </a:t>
            </a:r>
            <a:r>
              <a:rPr lang="en-US" dirty="0" smtClean="0"/>
              <a:t> </a:t>
            </a:r>
            <a:r>
              <a:rPr lang="en-US" dirty="0" err="1" smtClean="0"/>
              <a:t>MyTable</a:t>
            </a:r>
            <a:r>
              <a:rPr lang="en-US" dirty="0" smtClean="0"/>
              <a:t> </a:t>
            </a:r>
            <a:r>
              <a:rPr lang="en-US" dirty="0"/>
              <a:t>( </a:t>
            </a:r>
            <a:r>
              <a:rPr lang="en-US" dirty="0" err="1"/>
              <a:t>MyBigIntColumn</a:t>
            </a:r>
            <a:r>
              <a:rPr lang="en-US" dirty="0"/>
              <a:t> BIGINT ,</a:t>
            </a:r>
            <a:r>
              <a:rPr lang="en-US" dirty="0" err="1"/>
              <a:t>MyIntColumn</a:t>
            </a:r>
            <a:r>
              <a:rPr lang="en-US" dirty="0"/>
              <a:t> INT ,</a:t>
            </a:r>
            <a:r>
              <a:rPr lang="en-US" dirty="0" err="1"/>
              <a:t>MySmallIntColumn</a:t>
            </a:r>
            <a:r>
              <a:rPr lang="en-US" dirty="0"/>
              <a:t> SMALLINT ,</a:t>
            </a:r>
            <a:r>
              <a:rPr lang="en-US" dirty="0" err="1"/>
              <a:t>MyTinyIntColumn</a:t>
            </a:r>
            <a:r>
              <a:rPr lang="en-US" dirty="0"/>
              <a:t> TINYINT ); </a:t>
            </a:r>
            <a:endParaRPr lang="en-US" dirty="0" smtClean="0"/>
          </a:p>
          <a:p>
            <a:endParaRPr lang="en-US" dirty="0"/>
          </a:p>
          <a:p>
            <a:endParaRPr lang="en-US" dirty="0" smtClean="0"/>
          </a:p>
          <a:p>
            <a:r>
              <a:rPr lang="en-US" dirty="0" smtClean="0"/>
              <a:t>INSERT </a:t>
            </a:r>
            <a:r>
              <a:rPr lang="en-US" dirty="0"/>
              <a:t>INTO </a:t>
            </a:r>
            <a:r>
              <a:rPr lang="en-US" dirty="0" err="1" smtClean="0"/>
              <a:t>MyTable</a:t>
            </a:r>
            <a:r>
              <a:rPr lang="en-US" dirty="0" smtClean="0"/>
              <a:t> </a:t>
            </a:r>
            <a:r>
              <a:rPr lang="en-US" dirty="0"/>
              <a:t>VALUES (9223372036854775807, 2147483647,32767,255); </a:t>
            </a:r>
          </a:p>
        </p:txBody>
      </p:sp>
    </p:spTree>
    <p:extLst>
      <p:ext uri="{BB962C8B-B14F-4D97-AF65-F5344CB8AC3E}">
        <p14:creationId xmlns:p14="http://schemas.microsoft.com/office/powerpoint/2010/main" val="19721278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E5DA9-8462-4E6D-9127-70CE0162EA9C}"/>
              </a:ext>
            </a:extLst>
          </p:cNvPr>
          <p:cNvSpPr>
            <a:spLocks noGrp="1"/>
          </p:cNvSpPr>
          <p:nvPr>
            <p:ph type="title"/>
          </p:nvPr>
        </p:nvSpPr>
        <p:spPr/>
        <p:txBody>
          <a:bodyPr/>
          <a:lstStyle/>
          <a:p>
            <a:r>
              <a:rPr lang="en-IN" b="1" dirty="0"/>
              <a:t>SQL Commands</a:t>
            </a:r>
            <a:br>
              <a:rPr lang="en-IN" b="1" dirty="0"/>
            </a:br>
            <a:endParaRPr lang="en-IN" dirty="0"/>
          </a:p>
        </p:txBody>
      </p:sp>
      <p:sp>
        <p:nvSpPr>
          <p:cNvPr id="3" name="Content Placeholder 2">
            <a:extLst>
              <a:ext uri="{FF2B5EF4-FFF2-40B4-BE49-F238E27FC236}">
                <a16:creationId xmlns="" xmlns:a16="http://schemas.microsoft.com/office/drawing/2014/main" id="{CD8220A2-DB18-47D6-AD11-26D0689BE248}"/>
              </a:ext>
            </a:extLst>
          </p:cNvPr>
          <p:cNvSpPr>
            <a:spLocks noGrp="1"/>
          </p:cNvSpPr>
          <p:nvPr>
            <p:ph idx="1"/>
          </p:nvPr>
        </p:nvSpPr>
        <p:spPr>
          <a:xfrm>
            <a:off x="838200" y="1039091"/>
            <a:ext cx="4786745" cy="5137872"/>
          </a:xfrm>
        </p:spPr>
        <p:txBody>
          <a:bodyPr/>
          <a:lstStyle/>
          <a:p>
            <a:pPr algn="just">
              <a:buFont typeface="Arial" panose="020B0604020202020204" pitchFamily="34" charset="0"/>
              <a:buChar char="•"/>
            </a:pPr>
            <a:r>
              <a:rPr lang="en-US" dirty="0"/>
              <a:t>SQL commands are instructions. </a:t>
            </a:r>
            <a:r>
              <a:rPr lang="en-US" b="1" dirty="0">
                <a:solidFill>
                  <a:srgbClr val="000099"/>
                </a:solidFill>
              </a:rPr>
              <a:t>It is used to communicate with the database. </a:t>
            </a:r>
            <a:r>
              <a:rPr lang="en-US" dirty="0"/>
              <a:t>It is also used to perform specific tasks, functions, and queries of data. </a:t>
            </a:r>
          </a:p>
          <a:p>
            <a:pPr algn="just">
              <a:buFont typeface="Arial" panose="020B0604020202020204" pitchFamily="34" charset="0"/>
              <a:buChar char="•"/>
            </a:pPr>
            <a:r>
              <a:rPr lang="en-US" dirty="0"/>
              <a:t>SQL can perform various tasks like </a:t>
            </a:r>
            <a:r>
              <a:rPr lang="en-US" b="1" dirty="0">
                <a:solidFill>
                  <a:srgbClr val="000099"/>
                </a:solidFill>
              </a:rPr>
              <a:t>create a table, add data to tables, drop the table, modify the table</a:t>
            </a:r>
            <a:r>
              <a:rPr lang="en-US" dirty="0"/>
              <a:t>, set permission for users.</a:t>
            </a:r>
          </a:p>
          <a:p>
            <a:endParaRPr lang="en-IN" dirty="0"/>
          </a:p>
        </p:txBody>
      </p:sp>
      <p:pic>
        <p:nvPicPr>
          <p:cNvPr id="5" name="Picture 4">
            <a:extLst>
              <a:ext uri="{FF2B5EF4-FFF2-40B4-BE49-F238E27FC236}">
                <a16:creationId xmlns="" xmlns:a16="http://schemas.microsoft.com/office/drawing/2014/main" id="{EB9AA554-A14F-4BF2-A6ED-EA6AA860C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3040" y="187035"/>
            <a:ext cx="5981700" cy="5618019"/>
          </a:xfrm>
          <a:prstGeom prst="rect">
            <a:avLst/>
          </a:prstGeom>
        </p:spPr>
      </p:pic>
    </p:spTree>
    <p:extLst>
      <p:ext uri="{BB962C8B-B14F-4D97-AF65-F5344CB8AC3E}">
        <p14:creationId xmlns:p14="http://schemas.microsoft.com/office/powerpoint/2010/main" val="19317717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E5DA9-8462-4E6D-9127-70CE0162EA9C}"/>
              </a:ext>
            </a:extLst>
          </p:cNvPr>
          <p:cNvSpPr>
            <a:spLocks noGrp="1"/>
          </p:cNvSpPr>
          <p:nvPr>
            <p:ph type="title"/>
          </p:nvPr>
        </p:nvSpPr>
        <p:spPr/>
        <p:txBody>
          <a:bodyPr/>
          <a:lstStyle/>
          <a:p>
            <a:r>
              <a:rPr lang="en-IN" b="1" dirty="0"/>
              <a:t>SQL Commands</a:t>
            </a:r>
            <a:br>
              <a:rPr lang="en-IN" b="1" dirty="0"/>
            </a:br>
            <a:endParaRPr lang="en-IN" dirty="0"/>
          </a:p>
        </p:txBody>
      </p:sp>
      <p:sp>
        <p:nvSpPr>
          <p:cNvPr id="3" name="Content Placeholder 2">
            <a:extLst>
              <a:ext uri="{FF2B5EF4-FFF2-40B4-BE49-F238E27FC236}">
                <a16:creationId xmlns="" xmlns:a16="http://schemas.microsoft.com/office/drawing/2014/main" id="{CD8220A2-DB18-47D6-AD11-26D0689BE248}"/>
              </a:ext>
            </a:extLst>
          </p:cNvPr>
          <p:cNvSpPr>
            <a:spLocks noGrp="1"/>
          </p:cNvSpPr>
          <p:nvPr>
            <p:ph idx="1"/>
          </p:nvPr>
        </p:nvSpPr>
        <p:spPr>
          <a:xfrm>
            <a:off x="249383" y="1039090"/>
            <a:ext cx="5618018" cy="5721927"/>
          </a:xfrm>
        </p:spPr>
        <p:txBody>
          <a:bodyPr>
            <a:normAutofit lnSpcReduction="10000"/>
          </a:bodyPr>
          <a:lstStyle/>
          <a:p>
            <a:pPr algn="just"/>
            <a:r>
              <a:rPr lang="en-US" b="1" dirty="0">
                <a:solidFill>
                  <a:srgbClr val="000099"/>
                </a:solidFill>
              </a:rPr>
              <a:t>Data Definition Language(DDL) – </a:t>
            </a:r>
            <a:r>
              <a:rPr lang="en-US" dirty="0"/>
              <a:t>Consists of commands which are used to define the database.</a:t>
            </a:r>
          </a:p>
          <a:p>
            <a:pPr algn="just"/>
            <a:r>
              <a:rPr lang="en-US" b="1" dirty="0">
                <a:solidFill>
                  <a:srgbClr val="000099"/>
                </a:solidFill>
              </a:rPr>
              <a:t>Data Manipulation Language(DML) </a:t>
            </a:r>
            <a:r>
              <a:rPr lang="en-US" dirty="0"/>
              <a:t>–  Consists of commands which are used to manipulate the data present in the database.</a:t>
            </a:r>
          </a:p>
          <a:p>
            <a:pPr algn="just"/>
            <a:r>
              <a:rPr lang="en-US" b="1" dirty="0">
                <a:solidFill>
                  <a:srgbClr val="000099"/>
                </a:solidFill>
              </a:rPr>
              <a:t>Data Control Language(DCL) </a:t>
            </a:r>
            <a:r>
              <a:rPr lang="en-US" dirty="0"/>
              <a:t>– Consists of commands which deal with the user permissions and controls of the database system.</a:t>
            </a:r>
          </a:p>
          <a:p>
            <a:pPr algn="just"/>
            <a:r>
              <a:rPr lang="en-US" b="1" dirty="0">
                <a:solidFill>
                  <a:srgbClr val="000099"/>
                </a:solidFill>
              </a:rPr>
              <a:t>Transaction Control Language(TCL) </a:t>
            </a:r>
            <a:r>
              <a:rPr lang="en-US" dirty="0"/>
              <a:t>– Consist of commands which deal with the transaction of the database.</a:t>
            </a:r>
          </a:p>
        </p:txBody>
      </p:sp>
      <p:sp>
        <p:nvSpPr>
          <p:cNvPr id="6" name="Content Placeholder 2">
            <a:extLst>
              <a:ext uri="{FF2B5EF4-FFF2-40B4-BE49-F238E27FC236}">
                <a16:creationId xmlns="" xmlns:a16="http://schemas.microsoft.com/office/drawing/2014/main" id="{CD2531A9-5A1F-5289-7867-B818FF3659BE}"/>
              </a:ext>
            </a:extLst>
          </p:cNvPr>
          <p:cNvSpPr txBox="1">
            <a:spLocks/>
          </p:cNvSpPr>
          <p:nvPr/>
        </p:nvSpPr>
        <p:spPr>
          <a:xfrm>
            <a:off x="6096000" y="124691"/>
            <a:ext cx="5846619" cy="663632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Comments in SQL</a:t>
            </a:r>
          </a:p>
          <a:p>
            <a:pPr algn="just"/>
            <a:r>
              <a:rPr lang="en-US" b="1" dirty="0"/>
              <a:t>Single-Line Comments</a:t>
            </a:r>
          </a:p>
          <a:p>
            <a:pPr algn="just"/>
            <a:r>
              <a:rPr lang="en-US" dirty="0"/>
              <a:t>The single line comment </a:t>
            </a:r>
            <a:r>
              <a:rPr lang="en-US" b="1" dirty="0">
                <a:solidFill>
                  <a:srgbClr val="000099"/>
                </a:solidFill>
              </a:rPr>
              <a:t>starts with two hyphens (–)</a:t>
            </a:r>
            <a:r>
              <a:rPr lang="en-US" dirty="0"/>
              <a:t>. So, any text mentioned after (–), till the end of a single line will be ignored by the compiler.</a:t>
            </a:r>
          </a:p>
          <a:p>
            <a:pPr algn="just"/>
            <a:r>
              <a:rPr lang="en-US" dirty="0"/>
              <a:t>Example:</a:t>
            </a:r>
          </a:p>
          <a:p>
            <a:pPr algn="just"/>
            <a:r>
              <a:rPr lang="en-US" b="1" dirty="0">
                <a:solidFill>
                  <a:srgbClr val="000099"/>
                </a:solidFill>
              </a:rPr>
              <a:t>--Select all:</a:t>
            </a:r>
          </a:p>
          <a:p>
            <a:pPr algn="just"/>
            <a:r>
              <a:rPr lang="en-US" dirty="0"/>
              <a:t>SELECT * FROM </a:t>
            </a:r>
            <a:r>
              <a:rPr lang="en-US" dirty="0" err="1"/>
              <a:t>Employee_Info</a:t>
            </a:r>
            <a:r>
              <a:rPr lang="en-US" dirty="0"/>
              <a:t>;</a:t>
            </a:r>
          </a:p>
          <a:p>
            <a:pPr algn="just"/>
            <a:r>
              <a:rPr lang="en-US" b="1" dirty="0"/>
              <a:t>Multi-Line Comments </a:t>
            </a:r>
          </a:p>
          <a:p>
            <a:pPr algn="just"/>
            <a:r>
              <a:rPr lang="en-US" dirty="0"/>
              <a:t>The Multi-line comments </a:t>
            </a:r>
            <a:r>
              <a:rPr lang="en-US" b="1" dirty="0">
                <a:solidFill>
                  <a:srgbClr val="000099"/>
                </a:solidFill>
              </a:rPr>
              <a:t>start with /* and end with */. </a:t>
            </a:r>
            <a:r>
              <a:rPr lang="en-US" dirty="0"/>
              <a:t>So, any text mentioned between /* and */ will be ignored by the compiler.</a:t>
            </a:r>
          </a:p>
          <a:p>
            <a:pPr algn="just"/>
            <a:r>
              <a:rPr lang="en-US" dirty="0"/>
              <a:t>Example:</a:t>
            </a:r>
          </a:p>
          <a:p>
            <a:pPr algn="just"/>
            <a:r>
              <a:rPr lang="en-US" b="1" dirty="0">
                <a:solidFill>
                  <a:srgbClr val="000099"/>
                </a:solidFill>
              </a:rPr>
              <a:t>/*Select all the columns</a:t>
            </a:r>
          </a:p>
          <a:p>
            <a:pPr algn="just"/>
            <a:r>
              <a:rPr lang="en-US" b="1" dirty="0">
                <a:solidFill>
                  <a:srgbClr val="000099"/>
                </a:solidFill>
              </a:rPr>
              <a:t>of all the records</a:t>
            </a:r>
          </a:p>
          <a:p>
            <a:pPr algn="just"/>
            <a:r>
              <a:rPr lang="en-US" b="1" dirty="0">
                <a:solidFill>
                  <a:srgbClr val="000099"/>
                </a:solidFill>
              </a:rPr>
              <a:t>from the </a:t>
            </a:r>
            <a:r>
              <a:rPr lang="en-US" b="1" dirty="0" err="1">
                <a:solidFill>
                  <a:srgbClr val="000099"/>
                </a:solidFill>
              </a:rPr>
              <a:t>Employee_Info</a:t>
            </a:r>
            <a:r>
              <a:rPr lang="en-US" b="1" dirty="0">
                <a:solidFill>
                  <a:srgbClr val="000099"/>
                </a:solidFill>
              </a:rPr>
              <a:t> table:*/</a:t>
            </a:r>
          </a:p>
          <a:p>
            <a:pPr algn="just"/>
            <a:r>
              <a:rPr lang="en-US" dirty="0"/>
              <a:t>SELECT * FROM Students;</a:t>
            </a:r>
            <a:endParaRPr lang="en-IN" dirty="0"/>
          </a:p>
        </p:txBody>
      </p:sp>
    </p:spTree>
    <p:extLst>
      <p:ext uri="{BB962C8B-B14F-4D97-AF65-F5344CB8AC3E}">
        <p14:creationId xmlns:p14="http://schemas.microsoft.com/office/powerpoint/2010/main" val="18742504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398156-05C7-4AB8-961B-9A445EDAD047}"/>
              </a:ext>
            </a:extLst>
          </p:cNvPr>
          <p:cNvSpPr>
            <a:spLocks noGrp="1"/>
          </p:cNvSpPr>
          <p:nvPr>
            <p:ph type="title"/>
          </p:nvPr>
        </p:nvSpPr>
        <p:spPr/>
        <p:txBody>
          <a:bodyPr/>
          <a:lstStyle/>
          <a:p>
            <a:r>
              <a:rPr lang="en-IN" b="1" dirty="0"/>
              <a:t>Data Definition Language (DDL)</a:t>
            </a:r>
            <a:br>
              <a:rPr lang="en-IN" b="1" dirty="0"/>
            </a:br>
            <a:endParaRPr lang="en-IN" dirty="0"/>
          </a:p>
        </p:txBody>
      </p:sp>
      <p:sp>
        <p:nvSpPr>
          <p:cNvPr id="3" name="Content Placeholder 2">
            <a:extLst>
              <a:ext uri="{FF2B5EF4-FFF2-40B4-BE49-F238E27FC236}">
                <a16:creationId xmlns="" xmlns:a16="http://schemas.microsoft.com/office/drawing/2014/main" id="{4FEC5060-39CE-43D2-AC78-C89FAB27A9B9}"/>
              </a:ext>
            </a:extLst>
          </p:cNvPr>
          <p:cNvSpPr>
            <a:spLocks noGrp="1"/>
          </p:cNvSpPr>
          <p:nvPr>
            <p:ph idx="1"/>
          </p:nvPr>
        </p:nvSpPr>
        <p:spPr>
          <a:xfrm>
            <a:off x="193964" y="1122218"/>
            <a:ext cx="11734800" cy="5527964"/>
          </a:xfrm>
        </p:spPr>
        <p:txBody>
          <a:bodyPr>
            <a:normAutofit fontScale="77500" lnSpcReduction="20000"/>
          </a:bodyPr>
          <a:lstStyle/>
          <a:p>
            <a:pPr algn="just">
              <a:buFont typeface="Arial" panose="020B0604020202020204" pitchFamily="34" charset="0"/>
              <a:buChar char="•"/>
            </a:pPr>
            <a:r>
              <a:rPr lang="en-US" dirty="0"/>
              <a:t>DDL changes the structure of the table like creating a table, deleting a table, altering a table, etc.</a:t>
            </a:r>
          </a:p>
          <a:p>
            <a:pPr algn="just">
              <a:buFont typeface="Arial" panose="020B0604020202020204" pitchFamily="34" charset="0"/>
              <a:buChar char="•"/>
            </a:pPr>
            <a:r>
              <a:rPr lang="en-US" dirty="0"/>
              <a:t>All the command of DDL are auto-committed that means it permanently save all the changes in the database.</a:t>
            </a:r>
          </a:p>
          <a:p>
            <a:pPr algn="just"/>
            <a:r>
              <a:rPr lang="en-US" dirty="0"/>
              <a:t>Here are some commands that come under DDL:</a:t>
            </a:r>
          </a:p>
          <a:p>
            <a:pPr marL="900113" indent="-179388" algn="just">
              <a:buFont typeface="Arial" panose="020B0604020202020204" pitchFamily="34" charset="0"/>
              <a:buChar char="•"/>
            </a:pPr>
            <a:r>
              <a:rPr lang="en-US" b="1" dirty="0">
                <a:solidFill>
                  <a:srgbClr val="000099"/>
                </a:solidFill>
              </a:rPr>
              <a:t>CREATE</a:t>
            </a:r>
          </a:p>
          <a:p>
            <a:pPr marL="900113" indent="-179388" algn="just">
              <a:buFont typeface="Arial" panose="020B0604020202020204" pitchFamily="34" charset="0"/>
              <a:buChar char="•"/>
            </a:pPr>
            <a:r>
              <a:rPr lang="en-US" b="1" dirty="0">
                <a:solidFill>
                  <a:srgbClr val="000099"/>
                </a:solidFill>
              </a:rPr>
              <a:t>ALTER</a:t>
            </a:r>
          </a:p>
          <a:p>
            <a:pPr marL="900113" indent="-179388" algn="just">
              <a:buFont typeface="Arial" panose="020B0604020202020204" pitchFamily="34" charset="0"/>
              <a:buChar char="•"/>
            </a:pPr>
            <a:r>
              <a:rPr lang="en-US" b="1" dirty="0">
                <a:solidFill>
                  <a:srgbClr val="000099"/>
                </a:solidFill>
              </a:rPr>
              <a:t>DROP</a:t>
            </a:r>
          </a:p>
          <a:p>
            <a:pPr marL="900113" indent="-179388" algn="just">
              <a:buFont typeface="Arial" panose="020B0604020202020204" pitchFamily="34" charset="0"/>
              <a:buChar char="•"/>
            </a:pPr>
            <a:r>
              <a:rPr lang="en-US" b="1" dirty="0">
                <a:solidFill>
                  <a:srgbClr val="000099"/>
                </a:solidFill>
              </a:rPr>
              <a:t>TRUNCATE</a:t>
            </a:r>
          </a:p>
          <a:p>
            <a:pPr algn="just">
              <a:buFont typeface="Arial" panose="020B0604020202020204" pitchFamily="34" charset="0"/>
              <a:buChar char="•"/>
            </a:pPr>
            <a:r>
              <a:rPr lang="en-US" b="1" dirty="0"/>
              <a:t>TRUNCATE:</a:t>
            </a:r>
            <a:r>
              <a:rPr lang="en-US" dirty="0"/>
              <a:t> It is used to delete all the rows from the table and free the space containing the table.</a:t>
            </a:r>
          </a:p>
          <a:p>
            <a:pPr algn="just">
              <a:buFont typeface="Arial" panose="020B0604020202020204" pitchFamily="34" charset="0"/>
              <a:buChar char="•"/>
            </a:pPr>
            <a:r>
              <a:rPr lang="en-IN" b="1" dirty="0">
                <a:solidFill>
                  <a:srgbClr val="000099"/>
                </a:solidFill>
              </a:rPr>
              <a:t>TRUNCATE TABLE </a:t>
            </a:r>
            <a:r>
              <a:rPr lang="en-IN" b="1" dirty="0" err="1">
                <a:solidFill>
                  <a:srgbClr val="000099"/>
                </a:solidFill>
              </a:rPr>
              <a:t>table_name</a:t>
            </a:r>
            <a:r>
              <a:rPr lang="en-IN" b="1" dirty="0">
                <a:solidFill>
                  <a:srgbClr val="000099"/>
                </a:solidFill>
              </a:rPr>
              <a:t>;  </a:t>
            </a:r>
          </a:p>
          <a:p>
            <a:pPr algn="just">
              <a:buFont typeface="Arial" panose="020B0604020202020204" pitchFamily="34" charset="0"/>
              <a:buChar char="•"/>
            </a:pPr>
            <a:r>
              <a:rPr lang="en-IN" b="1" dirty="0">
                <a:solidFill>
                  <a:srgbClr val="000099"/>
                </a:solidFill>
              </a:rPr>
              <a:t>TRUNCATE TABLE EMPLOYEE;  </a:t>
            </a:r>
            <a:endParaRPr lang="en-US" b="1" dirty="0">
              <a:solidFill>
                <a:srgbClr val="000099"/>
              </a:solidFill>
            </a:endParaRPr>
          </a:p>
          <a:p>
            <a:pPr algn="just"/>
            <a:r>
              <a:rPr lang="en-US" b="1" dirty="0"/>
              <a:t>DROP:</a:t>
            </a:r>
            <a:r>
              <a:rPr lang="en-US" dirty="0"/>
              <a:t> It is used to delete both the structure and record stored in the table.</a:t>
            </a:r>
          </a:p>
          <a:p>
            <a:pPr algn="just"/>
            <a:r>
              <a:rPr lang="en-IN" b="1" dirty="0">
                <a:solidFill>
                  <a:srgbClr val="000099"/>
                </a:solidFill>
              </a:rPr>
              <a:t>DROP TABLE </a:t>
            </a:r>
            <a:r>
              <a:rPr lang="en-IN" b="1" dirty="0" err="1">
                <a:solidFill>
                  <a:srgbClr val="000099"/>
                </a:solidFill>
              </a:rPr>
              <a:t>table_name</a:t>
            </a:r>
            <a:r>
              <a:rPr lang="en-IN" b="1" dirty="0">
                <a:solidFill>
                  <a:srgbClr val="000099"/>
                </a:solidFill>
              </a:rPr>
              <a:t>;  </a:t>
            </a:r>
          </a:p>
          <a:p>
            <a:pPr algn="just"/>
            <a:r>
              <a:rPr lang="en-IN" b="1" dirty="0">
                <a:solidFill>
                  <a:srgbClr val="000099"/>
                </a:solidFill>
              </a:rPr>
              <a:t>DROP TABLE EMPLOYEE;  </a:t>
            </a:r>
          </a:p>
          <a:p>
            <a:endParaRPr lang="en-IN" dirty="0"/>
          </a:p>
        </p:txBody>
      </p:sp>
    </p:spTree>
    <p:extLst>
      <p:ext uri="{BB962C8B-B14F-4D97-AF65-F5344CB8AC3E}">
        <p14:creationId xmlns:p14="http://schemas.microsoft.com/office/powerpoint/2010/main" val="121314438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A96D99-F8A7-4097-B468-7E379A1C454B}"/>
              </a:ext>
            </a:extLst>
          </p:cNvPr>
          <p:cNvSpPr>
            <a:spLocks noGrp="1"/>
          </p:cNvSpPr>
          <p:nvPr>
            <p:ph type="title"/>
          </p:nvPr>
        </p:nvSpPr>
        <p:spPr>
          <a:xfrm>
            <a:off x="838200" y="365125"/>
            <a:ext cx="10515600" cy="646257"/>
          </a:xfrm>
        </p:spPr>
        <p:txBody>
          <a:bodyPr>
            <a:normAutofit fontScale="90000"/>
          </a:bodyPr>
          <a:lstStyle/>
          <a:p>
            <a:r>
              <a:rPr lang="en-IN" sz="4000" b="1" dirty="0"/>
              <a:t>Data Definition Language (DDL)</a:t>
            </a:r>
            <a:br>
              <a:rPr lang="en-IN" sz="4000" b="1" dirty="0"/>
            </a:br>
            <a:endParaRPr lang="en-IN" sz="4000" dirty="0"/>
          </a:p>
        </p:txBody>
      </p:sp>
      <p:sp>
        <p:nvSpPr>
          <p:cNvPr id="3" name="Content Placeholder 2">
            <a:extLst>
              <a:ext uri="{FF2B5EF4-FFF2-40B4-BE49-F238E27FC236}">
                <a16:creationId xmlns="" xmlns:a16="http://schemas.microsoft.com/office/drawing/2014/main" id="{321DC94C-6898-43D9-8D8F-07C856C841A9}"/>
              </a:ext>
            </a:extLst>
          </p:cNvPr>
          <p:cNvSpPr>
            <a:spLocks noGrp="1"/>
          </p:cNvSpPr>
          <p:nvPr>
            <p:ph idx="1"/>
          </p:nvPr>
        </p:nvSpPr>
        <p:spPr>
          <a:xfrm>
            <a:off x="318655" y="734292"/>
            <a:ext cx="11471563" cy="5758584"/>
          </a:xfrm>
        </p:spPr>
        <p:txBody>
          <a:bodyPr>
            <a:normAutofit/>
          </a:bodyPr>
          <a:lstStyle/>
          <a:p>
            <a:pPr algn="just"/>
            <a:r>
              <a:rPr lang="en-US" sz="2600" b="1" dirty="0"/>
              <a:t>CREATE</a:t>
            </a:r>
            <a:r>
              <a:rPr lang="en-US" sz="2600" dirty="0"/>
              <a:t> It is used to create a new table in the database.</a:t>
            </a:r>
          </a:p>
          <a:p>
            <a:pPr algn="just"/>
            <a:r>
              <a:rPr lang="en-US" sz="2600" b="1" dirty="0">
                <a:solidFill>
                  <a:srgbClr val="000099"/>
                </a:solidFill>
              </a:rPr>
              <a:t>CREATE TABLE TABLE_NAME (COLUMN_NAME DATATYPES[,....]);  </a:t>
            </a:r>
          </a:p>
          <a:p>
            <a:pPr algn="just"/>
            <a:r>
              <a:rPr lang="en-US" sz="2600" b="1" dirty="0">
                <a:solidFill>
                  <a:srgbClr val="000099"/>
                </a:solidFill>
              </a:rPr>
              <a:t>CREATE TABLE EMPLOYEE(Name VARCHAR2(20), Email VARCHAR2(100), DOB DATE);  </a:t>
            </a:r>
          </a:p>
          <a:p>
            <a:pPr algn="just"/>
            <a:r>
              <a:rPr lang="en-US" b="1" dirty="0">
                <a:solidFill>
                  <a:srgbClr val="C00000"/>
                </a:solidFill>
              </a:rPr>
              <a:t>You can also create a table using another table.</a:t>
            </a:r>
          </a:p>
          <a:p>
            <a:pPr algn="just"/>
            <a:r>
              <a:rPr lang="en-US" sz="2600" b="1" dirty="0">
                <a:solidFill>
                  <a:srgbClr val="C00000"/>
                </a:solidFill>
              </a:rPr>
              <a:t>Syntax:</a:t>
            </a:r>
          </a:p>
          <a:p>
            <a:r>
              <a:rPr lang="en-US" dirty="0"/>
              <a:t>CREATE TABLE </a:t>
            </a:r>
            <a:r>
              <a:rPr lang="en-US" dirty="0" err="1"/>
              <a:t>NewTableName</a:t>
            </a:r>
            <a:r>
              <a:rPr lang="en-US" dirty="0"/>
              <a:t> AS</a:t>
            </a:r>
          </a:p>
          <a:p>
            <a:r>
              <a:rPr lang="en-US" dirty="0"/>
              <a:t>SELECT Column1, column2,..., </a:t>
            </a:r>
            <a:r>
              <a:rPr lang="en-US" dirty="0" err="1"/>
              <a:t>Column</a:t>
            </a:r>
            <a:r>
              <a:rPr lang="en-US" i="1" dirty="0" err="1"/>
              <a:t>N</a:t>
            </a:r>
            <a:endParaRPr lang="en-US" i="1" dirty="0"/>
          </a:p>
          <a:p>
            <a:r>
              <a:rPr lang="en-US" i="1" dirty="0"/>
              <a:t>FROM </a:t>
            </a:r>
            <a:r>
              <a:rPr lang="en-US" i="1" dirty="0" err="1"/>
              <a:t>ExistingTableName</a:t>
            </a:r>
            <a:endParaRPr lang="en-US" i="1" dirty="0"/>
          </a:p>
          <a:p>
            <a:r>
              <a:rPr lang="en-US" i="1" dirty="0"/>
              <a:t>WHERE ....;</a:t>
            </a:r>
            <a:endParaRPr lang="en-IN" i="1" dirty="0"/>
          </a:p>
        </p:txBody>
      </p:sp>
      <p:sp>
        <p:nvSpPr>
          <p:cNvPr id="5" name="Content Placeholder 2">
            <a:extLst>
              <a:ext uri="{FF2B5EF4-FFF2-40B4-BE49-F238E27FC236}">
                <a16:creationId xmlns="" xmlns:a16="http://schemas.microsoft.com/office/drawing/2014/main" id="{B64C0D94-2956-562C-6484-41C1BB9315AA}"/>
              </a:ext>
            </a:extLst>
          </p:cNvPr>
          <p:cNvSpPr txBox="1">
            <a:spLocks/>
          </p:cNvSpPr>
          <p:nvPr/>
        </p:nvSpPr>
        <p:spPr>
          <a:xfrm>
            <a:off x="6664036" y="3223202"/>
            <a:ext cx="5347855" cy="32696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Example:</a:t>
            </a:r>
          </a:p>
          <a:p>
            <a:pPr algn="just"/>
            <a:r>
              <a:rPr lang="en-US" dirty="0"/>
              <a:t>CREATE TABLE </a:t>
            </a:r>
            <a:r>
              <a:rPr lang="en-US" dirty="0" err="1"/>
              <a:t>ExampleTable</a:t>
            </a:r>
            <a:r>
              <a:rPr lang="en-US" dirty="0"/>
              <a:t> AS</a:t>
            </a:r>
          </a:p>
          <a:p>
            <a:pPr algn="just"/>
            <a:r>
              <a:rPr lang="en-US" dirty="0"/>
              <a:t>SELECT </a:t>
            </a:r>
            <a:r>
              <a:rPr lang="en-US" dirty="0" err="1"/>
              <a:t>Emp_Name</a:t>
            </a:r>
            <a:r>
              <a:rPr lang="en-US" dirty="0"/>
              <a:t>, </a:t>
            </a:r>
            <a:r>
              <a:rPr lang="en-US" dirty="0" err="1"/>
              <a:t>Phone_Num</a:t>
            </a:r>
            <a:endParaRPr lang="en-US" dirty="0"/>
          </a:p>
          <a:p>
            <a:pPr algn="just"/>
            <a:r>
              <a:rPr lang="en-US" dirty="0"/>
              <a:t>FROM </a:t>
            </a:r>
            <a:r>
              <a:rPr lang="en-US" dirty="0" err="1"/>
              <a:t>Employee_Info</a:t>
            </a:r>
            <a:r>
              <a:rPr lang="en-US" dirty="0"/>
              <a:t>;</a:t>
            </a:r>
            <a:endParaRPr lang="en-IN" dirty="0"/>
          </a:p>
        </p:txBody>
      </p:sp>
    </p:spTree>
    <p:extLst>
      <p:ext uri="{BB962C8B-B14F-4D97-AF65-F5344CB8AC3E}">
        <p14:creationId xmlns:p14="http://schemas.microsoft.com/office/powerpoint/2010/main" val="273039018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A96D99-F8A7-4097-B468-7E379A1C454B}"/>
              </a:ext>
            </a:extLst>
          </p:cNvPr>
          <p:cNvSpPr>
            <a:spLocks noGrp="1"/>
          </p:cNvSpPr>
          <p:nvPr>
            <p:ph type="title"/>
          </p:nvPr>
        </p:nvSpPr>
        <p:spPr>
          <a:xfrm>
            <a:off x="838200" y="365125"/>
            <a:ext cx="10515600" cy="646257"/>
          </a:xfrm>
        </p:spPr>
        <p:txBody>
          <a:bodyPr>
            <a:normAutofit fontScale="90000"/>
          </a:bodyPr>
          <a:lstStyle/>
          <a:p>
            <a:r>
              <a:rPr lang="en-IN" sz="4000" b="1" dirty="0"/>
              <a:t>Data Definition Language (DDL)</a:t>
            </a:r>
            <a:br>
              <a:rPr lang="en-IN" sz="4000" b="1" dirty="0"/>
            </a:br>
            <a:endParaRPr lang="en-IN" sz="4000" dirty="0"/>
          </a:p>
        </p:txBody>
      </p:sp>
      <p:sp>
        <p:nvSpPr>
          <p:cNvPr id="3" name="Content Placeholder 2">
            <a:extLst>
              <a:ext uri="{FF2B5EF4-FFF2-40B4-BE49-F238E27FC236}">
                <a16:creationId xmlns="" xmlns:a16="http://schemas.microsoft.com/office/drawing/2014/main" id="{321DC94C-6898-43D9-8D8F-07C856C841A9}"/>
              </a:ext>
            </a:extLst>
          </p:cNvPr>
          <p:cNvSpPr>
            <a:spLocks noGrp="1"/>
          </p:cNvSpPr>
          <p:nvPr>
            <p:ph idx="1"/>
          </p:nvPr>
        </p:nvSpPr>
        <p:spPr>
          <a:xfrm>
            <a:off x="318655" y="734292"/>
            <a:ext cx="11471563" cy="5758584"/>
          </a:xfrm>
        </p:spPr>
        <p:txBody>
          <a:bodyPr>
            <a:normAutofit fontScale="92500" lnSpcReduction="20000"/>
          </a:bodyPr>
          <a:lstStyle/>
          <a:p>
            <a:pPr algn="just"/>
            <a:r>
              <a:rPr lang="en-US" sz="2600" b="1" dirty="0"/>
              <a:t>ALTER:</a:t>
            </a:r>
            <a:r>
              <a:rPr lang="en-US" sz="2600" dirty="0"/>
              <a:t> It is used to alter the structure of the database. This change could be either to modify the characteristics of an existing attribute or probably to add a new attribute.</a:t>
            </a:r>
          </a:p>
          <a:p>
            <a:pPr algn="just"/>
            <a:r>
              <a:rPr lang="en-US" sz="2600" b="1" dirty="0">
                <a:solidFill>
                  <a:srgbClr val="000099"/>
                </a:solidFill>
              </a:rPr>
              <a:t>ALTER TABLE </a:t>
            </a:r>
            <a:r>
              <a:rPr lang="en-US" sz="2600" b="1" dirty="0" err="1">
                <a:solidFill>
                  <a:srgbClr val="000099"/>
                </a:solidFill>
              </a:rPr>
              <a:t>table_name</a:t>
            </a:r>
            <a:r>
              <a:rPr lang="en-US" sz="2600" b="1" dirty="0">
                <a:solidFill>
                  <a:srgbClr val="000099"/>
                </a:solidFill>
              </a:rPr>
              <a:t> ADD </a:t>
            </a:r>
            <a:r>
              <a:rPr lang="en-US" sz="2600" b="1" dirty="0" err="1">
                <a:solidFill>
                  <a:srgbClr val="000099"/>
                </a:solidFill>
              </a:rPr>
              <a:t>column_name</a:t>
            </a:r>
            <a:r>
              <a:rPr lang="en-US" sz="2600" b="1" dirty="0">
                <a:solidFill>
                  <a:srgbClr val="000099"/>
                </a:solidFill>
              </a:rPr>
              <a:t> COLUMN-definition;    </a:t>
            </a:r>
          </a:p>
          <a:p>
            <a:pPr algn="just"/>
            <a:r>
              <a:rPr lang="en-US" sz="2600" b="1" dirty="0">
                <a:solidFill>
                  <a:srgbClr val="000099"/>
                </a:solidFill>
              </a:rPr>
              <a:t>ALTER TABLE </a:t>
            </a:r>
            <a:r>
              <a:rPr lang="en-US" sz="2600" b="1" dirty="0" err="1">
                <a:solidFill>
                  <a:srgbClr val="000099"/>
                </a:solidFill>
              </a:rPr>
              <a:t>table_name</a:t>
            </a:r>
            <a:r>
              <a:rPr lang="en-US" sz="2600" b="1" dirty="0">
                <a:solidFill>
                  <a:srgbClr val="000099"/>
                </a:solidFill>
              </a:rPr>
              <a:t> MODIFY(</a:t>
            </a:r>
            <a:r>
              <a:rPr lang="en-US" sz="2600" b="1" dirty="0" err="1">
                <a:solidFill>
                  <a:srgbClr val="000099"/>
                </a:solidFill>
              </a:rPr>
              <a:t>column_definitions</a:t>
            </a:r>
            <a:r>
              <a:rPr lang="en-US" sz="2600" b="1" dirty="0">
                <a:solidFill>
                  <a:srgbClr val="000099"/>
                </a:solidFill>
              </a:rPr>
              <a:t>....);  </a:t>
            </a:r>
          </a:p>
          <a:p>
            <a:pPr algn="just">
              <a:buFont typeface="+mj-lt"/>
              <a:buAutoNum type="arabicPeriod"/>
            </a:pPr>
            <a:r>
              <a:rPr lang="en-US" sz="2600" b="1" dirty="0">
                <a:solidFill>
                  <a:srgbClr val="000099"/>
                </a:solidFill>
              </a:rPr>
              <a:t>ALTER TABLE STU_DETAILS ADD(ADDRESS VARCHAR2(20));  </a:t>
            </a:r>
          </a:p>
          <a:p>
            <a:pPr algn="just">
              <a:buFont typeface="+mj-lt"/>
              <a:buAutoNum type="arabicPeriod"/>
            </a:pPr>
            <a:r>
              <a:rPr lang="en-US" sz="2600" b="1" dirty="0">
                <a:solidFill>
                  <a:srgbClr val="000099"/>
                </a:solidFill>
              </a:rPr>
              <a:t>ALTER TABLE STU_DETAILS MODIFY (NAME VARCHAR2(20));  </a:t>
            </a:r>
          </a:p>
          <a:p>
            <a:r>
              <a:rPr lang="en-US" b="1" dirty="0"/>
              <a:t>SQL Commands: Constraints Used In Database</a:t>
            </a:r>
          </a:p>
          <a:p>
            <a:pPr algn="just"/>
            <a:r>
              <a:rPr lang="en-US" dirty="0"/>
              <a:t>Constraints are used in a database to specify the rules for data in a table. The following are the different types of constraints:</a:t>
            </a:r>
          </a:p>
          <a:p>
            <a:r>
              <a:rPr lang="en-US" b="1" dirty="0">
                <a:solidFill>
                  <a:srgbClr val="000099"/>
                </a:solidFill>
              </a:rPr>
              <a:t>NOT NULL </a:t>
            </a:r>
            <a:r>
              <a:rPr lang="en-US" dirty="0"/>
              <a:t>:</a:t>
            </a:r>
            <a:r>
              <a:rPr lang="en-US" b="0" i="0" dirty="0">
                <a:effectLst/>
              </a:rPr>
              <a:t>This constraint ensures that a column cannot have a NULL value.</a:t>
            </a:r>
            <a:endParaRPr lang="en-US" dirty="0"/>
          </a:p>
          <a:p>
            <a:r>
              <a:rPr lang="en-US" b="1" dirty="0">
                <a:solidFill>
                  <a:srgbClr val="000099"/>
                </a:solidFill>
              </a:rPr>
              <a:t>UNIQUE</a:t>
            </a:r>
            <a:r>
              <a:rPr lang="en-US" dirty="0"/>
              <a:t>: This</a:t>
            </a:r>
            <a:r>
              <a:rPr lang="en-US" b="0" i="0" dirty="0">
                <a:effectLst/>
              </a:rPr>
              <a:t> constraint ensures that all the values in a column are unique.</a:t>
            </a:r>
            <a:endParaRPr lang="en-US" dirty="0"/>
          </a:p>
          <a:p>
            <a:r>
              <a:rPr lang="en-US" b="1" dirty="0">
                <a:solidFill>
                  <a:srgbClr val="000099"/>
                </a:solidFill>
              </a:rPr>
              <a:t>CHECK</a:t>
            </a:r>
            <a:r>
              <a:rPr lang="en-US" dirty="0"/>
              <a:t>: This</a:t>
            </a:r>
            <a:r>
              <a:rPr lang="en-US" b="0" i="0" dirty="0">
                <a:effectLst/>
              </a:rPr>
              <a:t> constraint ensures that all the values in a column satisfy a specific condition.</a:t>
            </a:r>
            <a:endParaRPr lang="en-US" dirty="0"/>
          </a:p>
          <a:p>
            <a:r>
              <a:rPr lang="en-US" b="1" dirty="0">
                <a:solidFill>
                  <a:srgbClr val="000099"/>
                </a:solidFill>
              </a:rPr>
              <a:t>DEFAULT</a:t>
            </a:r>
            <a:r>
              <a:rPr lang="en-US" dirty="0"/>
              <a:t>: This</a:t>
            </a:r>
            <a:r>
              <a:rPr lang="en-US" b="0" i="0" dirty="0">
                <a:effectLst/>
              </a:rPr>
              <a:t> constraint consists of a set of default values for a column when no value is specified.</a:t>
            </a:r>
            <a:endParaRPr lang="en-US" dirty="0"/>
          </a:p>
        </p:txBody>
      </p:sp>
    </p:spTree>
    <p:extLst>
      <p:ext uri="{BB962C8B-B14F-4D97-AF65-F5344CB8AC3E}">
        <p14:creationId xmlns:p14="http://schemas.microsoft.com/office/powerpoint/2010/main" val="40080645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A96D99-F8A7-4097-B468-7E379A1C454B}"/>
              </a:ext>
            </a:extLst>
          </p:cNvPr>
          <p:cNvSpPr>
            <a:spLocks noGrp="1"/>
          </p:cNvSpPr>
          <p:nvPr>
            <p:ph type="title"/>
          </p:nvPr>
        </p:nvSpPr>
        <p:spPr>
          <a:xfrm>
            <a:off x="41564" y="272618"/>
            <a:ext cx="10515600" cy="646257"/>
          </a:xfrm>
        </p:spPr>
        <p:txBody>
          <a:bodyPr>
            <a:normAutofit fontScale="90000"/>
          </a:bodyPr>
          <a:lstStyle/>
          <a:p>
            <a:r>
              <a:rPr lang="en-IN" sz="4000" b="1" dirty="0"/>
              <a:t>Data Definition Language (DDL)</a:t>
            </a:r>
            <a:br>
              <a:rPr lang="en-IN" sz="4000" b="1" dirty="0"/>
            </a:br>
            <a:endParaRPr lang="en-IN" sz="4000" dirty="0"/>
          </a:p>
        </p:txBody>
      </p:sp>
      <p:sp>
        <p:nvSpPr>
          <p:cNvPr id="3" name="Content Placeholder 2">
            <a:extLst>
              <a:ext uri="{FF2B5EF4-FFF2-40B4-BE49-F238E27FC236}">
                <a16:creationId xmlns="" xmlns:a16="http://schemas.microsoft.com/office/drawing/2014/main" id="{321DC94C-6898-43D9-8D8F-07C856C841A9}"/>
              </a:ext>
            </a:extLst>
          </p:cNvPr>
          <p:cNvSpPr>
            <a:spLocks noGrp="1"/>
          </p:cNvSpPr>
          <p:nvPr>
            <p:ph idx="1"/>
          </p:nvPr>
        </p:nvSpPr>
        <p:spPr>
          <a:xfrm>
            <a:off x="318656" y="734292"/>
            <a:ext cx="5666508" cy="5758584"/>
          </a:xfrm>
        </p:spPr>
        <p:txBody>
          <a:bodyPr>
            <a:normAutofit fontScale="85000" lnSpcReduction="20000"/>
          </a:bodyPr>
          <a:lstStyle/>
          <a:p>
            <a:r>
              <a:rPr lang="en-US" b="1" dirty="0">
                <a:solidFill>
                  <a:srgbClr val="C00000"/>
                </a:solidFill>
              </a:rPr>
              <a:t>--NOT NULL on Create Table</a:t>
            </a:r>
          </a:p>
          <a:p>
            <a:r>
              <a:rPr lang="en-US" b="1" dirty="0"/>
              <a:t>CREATE TABLE </a:t>
            </a:r>
            <a:r>
              <a:rPr lang="en-US" b="1" dirty="0" err="1"/>
              <a:t>Employee_Info</a:t>
            </a:r>
            <a:endParaRPr lang="en-US" b="1" dirty="0"/>
          </a:p>
          <a:p>
            <a:r>
              <a:rPr lang="en-US" b="1" dirty="0"/>
              <a:t>(</a:t>
            </a:r>
          </a:p>
          <a:p>
            <a:r>
              <a:rPr lang="en-US" b="1" dirty="0" err="1"/>
              <a:t>EmployeeID</a:t>
            </a:r>
            <a:r>
              <a:rPr lang="en-US" b="1" dirty="0"/>
              <a:t> int NOT NULL,</a:t>
            </a:r>
          </a:p>
          <a:p>
            <a:r>
              <a:rPr lang="en-US" b="1" dirty="0" err="1">
                <a:solidFill>
                  <a:srgbClr val="000099"/>
                </a:solidFill>
              </a:rPr>
              <a:t>EmployeeName</a:t>
            </a:r>
            <a:r>
              <a:rPr lang="en-US" b="1" dirty="0">
                <a:solidFill>
                  <a:srgbClr val="000099"/>
                </a:solidFill>
              </a:rPr>
              <a:t> varchar(255) NOT NULL,</a:t>
            </a:r>
          </a:p>
          <a:p>
            <a:r>
              <a:rPr lang="en-US" b="1" dirty="0"/>
              <a:t>Emergency </a:t>
            </a:r>
            <a:r>
              <a:rPr lang="en-US" b="1" dirty="0" err="1"/>
              <a:t>ContactName</a:t>
            </a:r>
            <a:r>
              <a:rPr lang="en-US" b="1" dirty="0"/>
              <a:t> varchar(255),</a:t>
            </a:r>
          </a:p>
          <a:p>
            <a:r>
              <a:rPr lang="en-US" b="1" dirty="0" err="1">
                <a:solidFill>
                  <a:srgbClr val="000099"/>
                </a:solidFill>
              </a:rPr>
              <a:t>PhoneNumber</a:t>
            </a:r>
            <a:r>
              <a:rPr lang="en-US" b="1" dirty="0">
                <a:solidFill>
                  <a:srgbClr val="000099"/>
                </a:solidFill>
              </a:rPr>
              <a:t> int NOT NULL,</a:t>
            </a:r>
          </a:p>
          <a:p>
            <a:r>
              <a:rPr lang="en-US" b="1" dirty="0"/>
              <a:t>Address varchar(255),</a:t>
            </a:r>
          </a:p>
          <a:p>
            <a:r>
              <a:rPr lang="en-US" b="1" dirty="0"/>
              <a:t>City varchar(255),</a:t>
            </a:r>
          </a:p>
          <a:p>
            <a:r>
              <a:rPr lang="en-US" b="1" dirty="0"/>
              <a:t>Country varchar(255)</a:t>
            </a:r>
          </a:p>
          <a:p>
            <a:r>
              <a:rPr lang="en-US" b="1" dirty="0"/>
              <a:t>);</a:t>
            </a:r>
          </a:p>
          <a:p>
            <a:r>
              <a:rPr lang="en-US" b="1" dirty="0">
                <a:solidFill>
                  <a:srgbClr val="C00000"/>
                </a:solidFill>
              </a:rPr>
              <a:t>--NOT NULL on ALTER TABLE</a:t>
            </a:r>
          </a:p>
          <a:p>
            <a:r>
              <a:rPr lang="en-US" b="1" dirty="0"/>
              <a:t>ALTER TABLE </a:t>
            </a:r>
            <a:r>
              <a:rPr lang="en-US" b="1" dirty="0" err="1"/>
              <a:t>Employee_Info</a:t>
            </a:r>
            <a:endParaRPr lang="en-US" b="1" dirty="0"/>
          </a:p>
          <a:p>
            <a:r>
              <a:rPr lang="en-US" b="1" dirty="0">
                <a:solidFill>
                  <a:srgbClr val="000099"/>
                </a:solidFill>
              </a:rPr>
              <a:t>MODIFY </a:t>
            </a:r>
            <a:r>
              <a:rPr lang="en-US" b="1" dirty="0" err="1">
                <a:solidFill>
                  <a:srgbClr val="000099"/>
                </a:solidFill>
              </a:rPr>
              <a:t>PhoneNumber</a:t>
            </a:r>
            <a:r>
              <a:rPr lang="en-US" b="1" dirty="0">
                <a:solidFill>
                  <a:srgbClr val="000099"/>
                </a:solidFill>
              </a:rPr>
              <a:t> int NOT NULL;</a:t>
            </a:r>
            <a:endParaRPr lang="en-US" dirty="0">
              <a:solidFill>
                <a:srgbClr val="000099"/>
              </a:solidFill>
            </a:endParaRPr>
          </a:p>
        </p:txBody>
      </p:sp>
      <p:sp>
        <p:nvSpPr>
          <p:cNvPr id="4" name="Content Placeholder 2">
            <a:extLst>
              <a:ext uri="{FF2B5EF4-FFF2-40B4-BE49-F238E27FC236}">
                <a16:creationId xmlns="" xmlns:a16="http://schemas.microsoft.com/office/drawing/2014/main" id="{988D6FED-A250-511B-1B2D-36392305A63F}"/>
              </a:ext>
            </a:extLst>
          </p:cNvPr>
          <p:cNvSpPr txBox="1">
            <a:spLocks/>
          </p:cNvSpPr>
          <p:nvPr/>
        </p:nvSpPr>
        <p:spPr>
          <a:xfrm>
            <a:off x="6096000" y="32183"/>
            <a:ext cx="5888182" cy="668727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C00000"/>
                </a:solidFill>
              </a:rPr>
              <a:t>--UNIQUE on Create Table</a:t>
            </a:r>
          </a:p>
          <a:p>
            <a:r>
              <a:rPr lang="en-US" b="1" dirty="0">
                <a:solidFill>
                  <a:srgbClr val="C00000"/>
                </a:solidFill>
              </a:rPr>
              <a:t> </a:t>
            </a:r>
            <a:r>
              <a:rPr lang="en-US" b="1" dirty="0"/>
              <a:t>CREATE TABLE </a:t>
            </a:r>
            <a:r>
              <a:rPr lang="en-US" b="1" dirty="0" err="1"/>
              <a:t>Employee_Info</a:t>
            </a:r>
            <a:endParaRPr lang="en-US" b="1" dirty="0"/>
          </a:p>
          <a:p>
            <a:r>
              <a:rPr lang="en-US" b="1" dirty="0"/>
              <a:t>(</a:t>
            </a:r>
          </a:p>
          <a:p>
            <a:r>
              <a:rPr lang="en-US" b="1" dirty="0" err="1">
                <a:solidFill>
                  <a:srgbClr val="000099"/>
                </a:solidFill>
              </a:rPr>
              <a:t>EmployeeID</a:t>
            </a:r>
            <a:r>
              <a:rPr lang="en-US" b="1" dirty="0">
                <a:solidFill>
                  <a:srgbClr val="000099"/>
                </a:solidFill>
              </a:rPr>
              <a:t> int NOT NULL UNIQUE,</a:t>
            </a:r>
          </a:p>
          <a:p>
            <a:r>
              <a:rPr lang="en-US" b="1" dirty="0" err="1"/>
              <a:t>EmployeeName</a:t>
            </a:r>
            <a:r>
              <a:rPr lang="en-US" b="1" dirty="0"/>
              <a:t> varchar(255) NOT NULL,</a:t>
            </a:r>
          </a:p>
          <a:p>
            <a:r>
              <a:rPr lang="en-US" b="1" dirty="0"/>
              <a:t>Emergency </a:t>
            </a:r>
            <a:r>
              <a:rPr lang="en-US" b="1" dirty="0" err="1"/>
              <a:t>ContactName</a:t>
            </a:r>
            <a:r>
              <a:rPr lang="en-US" b="1" dirty="0"/>
              <a:t> varchar(255),</a:t>
            </a:r>
          </a:p>
          <a:p>
            <a:r>
              <a:rPr lang="en-US" b="1" dirty="0" err="1"/>
              <a:t>PhoneNumber</a:t>
            </a:r>
            <a:r>
              <a:rPr lang="en-US" b="1" dirty="0"/>
              <a:t> int NOT NULL,</a:t>
            </a:r>
          </a:p>
          <a:p>
            <a:r>
              <a:rPr lang="en-US" b="1" dirty="0"/>
              <a:t>Address varchar(255),</a:t>
            </a:r>
          </a:p>
          <a:p>
            <a:r>
              <a:rPr lang="en-US" b="1" dirty="0"/>
              <a:t>City varchar(255),</a:t>
            </a:r>
          </a:p>
          <a:p>
            <a:r>
              <a:rPr lang="en-US" b="1" dirty="0"/>
              <a:t>Country varchar(255)</a:t>
            </a:r>
          </a:p>
          <a:p>
            <a:r>
              <a:rPr lang="en-US" b="1" dirty="0"/>
              <a:t>);</a:t>
            </a:r>
          </a:p>
          <a:p>
            <a:r>
              <a:rPr lang="en-US" b="1" dirty="0">
                <a:solidFill>
                  <a:srgbClr val="C00000"/>
                </a:solidFill>
              </a:rPr>
              <a:t>--UNIQUE on ALTER TABLE</a:t>
            </a:r>
          </a:p>
          <a:p>
            <a:r>
              <a:rPr lang="en-US" b="1" dirty="0"/>
              <a:t> ALTER TABLE </a:t>
            </a:r>
            <a:r>
              <a:rPr lang="en-US" b="1" dirty="0" err="1"/>
              <a:t>Employee_Info</a:t>
            </a:r>
            <a:endParaRPr lang="en-US" b="1" dirty="0"/>
          </a:p>
          <a:p>
            <a:r>
              <a:rPr lang="en-US" b="1" dirty="0">
                <a:solidFill>
                  <a:srgbClr val="000099"/>
                </a:solidFill>
              </a:rPr>
              <a:t>ADD UNIQUE (</a:t>
            </a:r>
            <a:r>
              <a:rPr lang="en-US" b="1" dirty="0" err="1">
                <a:solidFill>
                  <a:srgbClr val="000099"/>
                </a:solidFill>
              </a:rPr>
              <a:t>Employee_ID</a:t>
            </a:r>
            <a:r>
              <a:rPr lang="en-US" b="1" dirty="0">
                <a:solidFill>
                  <a:srgbClr val="000099"/>
                </a:solidFill>
              </a:rPr>
              <a:t>);</a:t>
            </a:r>
          </a:p>
        </p:txBody>
      </p:sp>
    </p:spTree>
    <p:extLst>
      <p:ext uri="{BB962C8B-B14F-4D97-AF65-F5344CB8AC3E}">
        <p14:creationId xmlns:p14="http://schemas.microsoft.com/office/powerpoint/2010/main" val="24625661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A96D99-F8A7-4097-B468-7E379A1C454B}"/>
              </a:ext>
            </a:extLst>
          </p:cNvPr>
          <p:cNvSpPr>
            <a:spLocks noGrp="1"/>
          </p:cNvSpPr>
          <p:nvPr>
            <p:ph type="title"/>
          </p:nvPr>
        </p:nvSpPr>
        <p:spPr>
          <a:xfrm>
            <a:off x="41564" y="272618"/>
            <a:ext cx="10515600" cy="646257"/>
          </a:xfrm>
        </p:spPr>
        <p:txBody>
          <a:bodyPr>
            <a:normAutofit fontScale="90000"/>
          </a:bodyPr>
          <a:lstStyle/>
          <a:p>
            <a:r>
              <a:rPr lang="en-IN" sz="4000" b="1" dirty="0"/>
              <a:t>Data Definition Language (DDL)</a:t>
            </a:r>
            <a:br>
              <a:rPr lang="en-IN" sz="4000" b="1" dirty="0"/>
            </a:br>
            <a:endParaRPr lang="en-IN" sz="4000" dirty="0"/>
          </a:p>
        </p:txBody>
      </p:sp>
      <p:sp>
        <p:nvSpPr>
          <p:cNvPr id="3" name="Content Placeholder 2">
            <a:extLst>
              <a:ext uri="{FF2B5EF4-FFF2-40B4-BE49-F238E27FC236}">
                <a16:creationId xmlns="" xmlns:a16="http://schemas.microsoft.com/office/drawing/2014/main" id="{321DC94C-6898-43D9-8D8F-07C856C841A9}"/>
              </a:ext>
            </a:extLst>
          </p:cNvPr>
          <p:cNvSpPr>
            <a:spLocks noGrp="1"/>
          </p:cNvSpPr>
          <p:nvPr>
            <p:ph idx="1"/>
          </p:nvPr>
        </p:nvSpPr>
        <p:spPr>
          <a:xfrm>
            <a:off x="318656" y="734292"/>
            <a:ext cx="5666508" cy="5758584"/>
          </a:xfrm>
        </p:spPr>
        <p:txBody>
          <a:bodyPr>
            <a:normAutofit fontScale="85000" lnSpcReduction="20000"/>
          </a:bodyPr>
          <a:lstStyle/>
          <a:p>
            <a:r>
              <a:rPr lang="en-US" b="1" dirty="0">
                <a:solidFill>
                  <a:srgbClr val="C00000"/>
                </a:solidFill>
              </a:rPr>
              <a:t>--CHECK Constraint on CREATE TABLE</a:t>
            </a:r>
          </a:p>
          <a:p>
            <a:r>
              <a:rPr lang="en-US" b="1" dirty="0">
                <a:solidFill>
                  <a:srgbClr val="C00000"/>
                </a:solidFill>
              </a:rPr>
              <a:t> </a:t>
            </a:r>
            <a:r>
              <a:rPr lang="en-US" b="1" dirty="0"/>
              <a:t>CREATE TABLE </a:t>
            </a:r>
            <a:r>
              <a:rPr lang="en-US" b="1" dirty="0" err="1"/>
              <a:t>Employee_Info</a:t>
            </a:r>
            <a:endParaRPr lang="en-US" b="1" dirty="0"/>
          </a:p>
          <a:p>
            <a:r>
              <a:rPr lang="en-US" b="1" dirty="0"/>
              <a:t>(</a:t>
            </a:r>
          </a:p>
          <a:p>
            <a:r>
              <a:rPr lang="en-US" b="1" dirty="0" err="1"/>
              <a:t>EmployeeID</a:t>
            </a:r>
            <a:r>
              <a:rPr lang="en-US" b="1" dirty="0"/>
              <a:t> int NOT NULL,</a:t>
            </a:r>
          </a:p>
          <a:p>
            <a:r>
              <a:rPr lang="en-US" b="1" dirty="0" err="1"/>
              <a:t>EmployeeName</a:t>
            </a:r>
            <a:r>
              <a:rPr lang="en-US" b="1" dirty="0"/>
              <a:t> varchar(255),</a:t>
            </a:r>
          </a:p>
          <a:p>
            <a:r>
              <a:rPr lang="en-US" b="1" dirty="0"/>
              <a:t>Emergency </a:t>
            </a:r>
            <a:r>
              <a:rPr lang="en-US" b="1" dirty="0" err="1"/>
              <a:t>ContactName</a:t>
            </a:r>
            <a:r>
              <a:rPr lang="en-US" b="1" dirty="0"/>
              <a:t> varchar(255),</a:t>
            </a:r>
          </a:p>
          <a:p>
            <a:r>
              <a:rPr lang="en-US" b="1" dirty="0" err="1"/>
              <a:t>PhoneNumber</a:t>
            </a:r>
            <a:r>
              <a:rPr lang="en-US" b="1" dirty="0"/>
              <a:t> int,</a:t>
            </a:r>
          </a:p>
          <a:p>
            <a:r>
              <a:rPr lang="en-US" b="1" dirty="0"/>
              <a:t>Address varchar(255),</a:t>
            </a:r>
          </a:p>
          <a:p>
            <a:r>
              <a:rPr lang="en-US" b="1" dirty="0"/>
              <a:t>City varchar(255),</a:t>
            </a:r>
          </a:p>
          <a:p>
            <a:r>
              <a:rPr lang="en-US" b="1" dirty="0">
                <a:solidFill>
                  <a:srgbClr val="000099"/>
                </a:solidFill>
              </a:rPr>
              <a:t>Country varchar(255) CHECK (Country=='India')</a:t>
            </a:r>
          </a:p>
          <a:p>
            <a:r>
              <a:rPr lang="en-US" b="1" dirty="0"/>
              <a:t>);</a:t>
            </a:r>
          </a:p>
          <a:p>
            <a:r>
              <a:rPr lang="en-US" b="1" dirty="0">
                <a:solidFill>
                  <a:srgbClr val="C00000"/>
                </a:solidFill>
              </a:rPr>
              <a:t> --CHECK Constraint on ALTER TABLE</a:t>
            </a:r>
          </a:p>
          <a:p>
            <a:r>
              <a:rPr lang="en-US" b="1" dirty="0">
                <a:solidFill>
                  <a:srgbClr val="C00000"/>
                </a:solidFill>
              </a:rPr>
              <a:t> </a:t>
            </a:r>
            <a:r>
              <a:rPr lang="en-US" b="1" dirty="0"/>
              <a:t>ALTER TABLE </a:t>
            </a:r>
            <a:r>
              <a:rPr lang="en-US" b="1" dirty="0" err="1"/>
              <a:t>Employee_Info</a:t>
            </a:r>
            <a:endParaRPr lang="en-US" b="1" dirty="0"/>
          </a:p>
          <a:p>
            <a:r>
              <a:rPr lang="en-US" b="1" dirty="0">
                <a:solidFill>
                  <a:srgbClr val="000099"/>
                </a:solidFill>
              </a:rPr>
              <a:t>ADD CHECK (Country=='India');</a:t>
            </a:r>
          </a:p>
          <a:p>
            <a:endParaRPr lang="en-US" dirty="0">
              <a:solidFill>
                <a:srgbClr val="000099"/>
              </a:solidFill>
            </a:endParaRPr>
          </a:p>
        </p:txBody>
      </p:sp>
      <p:sp>
        <p:nvSpPr>
          <p:cNvPr id="4" name="Content Placeholder 2">
            <a:extLst>
              <a:ext uri="{FF2B5EF4-FFF2-40B4-BE49-F238E27FC236}">
                <a16:creationId xmlns="" xmlns:a16="http://schemas.microsoft.com/office/drawing/2014/main" id="{988D6FED-A250-511B-1B2D-36392305A63F}"/>
              </a:ext>
            </a:extLst>
          </p:cNvPr>
          <p:cNvSpPr txBox="1">
            <a:spLocks/>
          </p:cNvSpPr>
          <p:nvPr/>
        </p:nvSpPr>
        <p:spPr>
          <a:xfrm>
            <a:off x="6206838" y="131618"/>
            <a:ext cx="5888182" cy="659476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C00000"/>
                </a:solidFill>
              </a:rPr>
              <a:t>--DEFAULT Constraint on CREATE TABLE</a:t>
            </a:r>
          </a:p>
          <a:p>
            <a:r>
              <a:rPr lang="en-US" b="1" dirty="0">
                <a:solidFill>
                  <a:srgbClr val="C00000"/>
                </a:solidFill>
              </a:rPr>
              <a:t> </a:t>
            </a:r>
            <a:r>
              <a:rPr lang="en-US" b="1" dirty="0"/>
              <a:t>CREATE TABLE </a:t>
            </a:r>
            <a:r>
              <a:rPr lang="en-US" b="1" dirty="0" err="1"/>
              <a:t>Employee_Info</a:t>
            </a:r>
            <a:endParaRPr lang="en-US" b="1" dirty="0"/>
          </a:p>
          <a:p>
            <a:r>
              <a:rPr lang="en-US" b="1" dirty="0"/>
              <a:t>(</a:t>
            </a:r>
          </a:p>
          <a:p>
            <a:r>
              <a:rPr lang="en-US" b="1" dirty="0" err="1"/>
              <a:t>EmployeeID</a:t>
            </a:r>
            <a:r>
              <a:rPr lang="en-US" b="1" dirty="0"/>
              <a:t> int NOT NULL,</a:t>
            </a:r>
          </a:p>
          <a:p>
            <a:r>
              <a:rPr lang="en-US" b="1" dirty="0" err="1"/>
              <a:t>EmployeeName</a:t>
            </a:r>
            <a:r>
              <a:rPr lang="en-US" b="1" dirty="0"/>
              <a:t> varchar(255),</a:t>
            </a:r>
          </a:p>
          <a:p>
            <a:r>
              <a:rPr lang="en-US" b="1" dirty="0"/>
              <a:t>Emergency </a:t>
            </a:r>
            <a:r>
              <a:rPr lang="en-US" b="1" dirty="0" err="1"/>
              <a:t>ContactName</a:t>
            </a:r>
            <a:r>
              <a:rPr lang="en-US" b="1" dirty="0"/>
              <a:t> varchar(255),</a:t>
            </a:r>
          </a:p>
          <a:p>
            <a:r>
              <a:rPr lang="en-US" b="1" dirty="0" err="1"/>
              <a:t>PhoneNumber</a:t>
            </a:r>
            <a:r>
              <a:rPr lang="en-US" b="1" dirty="0"/>
              <a:t> int,</a:t>
            </a:r>
          </a:p>
          <a:p>
            <a:r>
              <a:rPr lang="en-US" b="1" dirty="0"/>
              <a:t>Address varchar(255),</a:t>
            </a:r>
          </a:p>
          <a:p>
            <a:r>
              <a:rPr lang="en-US" b="1" dirty="0"/>
              <a:t>City varchar(255),</a:t>
            </a:r>
          </a:p>
          <a:p>
            <a:r>
              <a:rPr lang="en-US" b="1" dirty="0">
                <a:solidFill>
                  <a:srgbClr val="000099"/>
                </a:solidFill>
              </a:rPr>
              <a:t>Country varchar(255) DEFAULT 'India'</a:t>
            </a:r>
          </a:p>
          <a:p>
            <a:r>
              <a:rPr lang="en-US" b="1" dirty="0"/>
              <a:t>);</a:t>
            </a:r>
          </a:p>
          <a:p>
            <a:r>
              <a:rPr lang="en-US" b="1" dirty="0">
                <a:solidFill>
                  <a:srgbClr val="C00000"/>
                </a:solidFill>
              </a:rPr>
              <a:t> --DEFAULT Constraint on ALTER TABLE</a:t>
            </a:r>
          </a:p>
          <a:p>
            <a:r>
              <a:rPr lang="en-US" b="1" dirty="0">
                <a:solidFill>
                  <a:srgbClr val="C00000"/>
                </a:solidFill>
              </a:rPr>
              <a:t> </a:t>
            </a:r>
            <a:r>
              <a:rPr lang="en-US" b="1" dirty="0"/>
              <a:t>ALTER TABLE </a:t>
            </a:r>
            <a:r>
              <a:rPr lang="en-US" b="1" dirty="0" err="1"/>
              <a:t>Employee_Info</a:t>
            </a:r>
            <a:endParaRPr lang="en-US" b="1" dirty="0"/>
          </a:p>
          <a:p>
            <a:r>
              <a:rPr lang="en-US" b="1" dirty="0">
                <a:solidFill>
                  <a:srgbClr val="000099"/>
                </a:solidFill>
              </a:rPr>
              <a:t>ADD CONSTRAINT </a:t>
            </a:r>
            <a:r>
              <a:rPr lang="en-US" b="1" dirty="0" err="1">
                <a:solidFill>
                  <a:srgbClr val="000099"/>
                </a:solidFill>
              </a:rPr>
              <a:t>defau_Country</a:t>
            </a:r>
            <a:endParaRPr lang="en-US" b="1" dirty="0">
              <a:solidFill>
                <a:srgbClr val="000099"/>
              </a:solidFill>
            </a:endParaRPr>
          </a:p>
          <a:p>
            <a:r>
              <a:rPr lang="en-US" b="1" dirty="0">
                <a:solidFill>
                  <a:srgbClr val="000099"/>
                </a:solidFill>
              </a:rPr>
              <a:t>DEFAULT 'India' FOR Country;</a:t>
            </a:r>
          </a:p>
        </p:txBody>
      </p:sp>
    </p:spTree>
    <p:extLst>
      <p:ext uri="{BB962C8B-B14F-4D97-AF65-F5344CB8AC3E}">
        <p14:creationId xmlns:p14="http://schemas.microsoft.com/office/powerpoint/2010/main" val="422617989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F6C153-C313-46DC-8969-1480558C4453}"/>
              </a:ext>
            </a:extLst>
          </p:cNvPr>
          <p:cNvSpPr>
            <a:spLocks noGrp="1"/>
          </p:cNvSpPr>
          <p:nvPr>
            <p:ph type="title"/>
          </p:nvPr>
        </p:nvSpPr>
        <p:spPr/>
        <p:txBody>
          <a:bodyPr/>
          <a:lstStyle/>
          <a:p>
            <a:r>
              <a:rPr lang="en-IN" sz="4000" b="1" dirty="0"/>
              <a:t>Data Manipulation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2D37B4C7-A576-4CF1-A14E-FD045178C7CE}"/>
              </a:ext>
            </a:extLst>
          </p:cNvPr>
          <p:cNvSpPr>
            <a:spLocks noGrp="1"/>
          </p:cNvSpPr>
          <p:nvPr>
            <p:ph idx="1"/>
          </p:nvPr>
        </p:nvSpPr>
        <p:spPr>
          <a:xfrm>
            <a:off x="235527" y="1066801"/>
            <a:ext cx="11623964" cy="5453784"/>
          </a:xfrm>
        </p:spPr>
        <p:txBody>
          <a:bodyPr>
            <a:normAutofit fontScale="92500" lnSpcReduction="20000"/>
          </a:bodyPr>
          <a:lstStyle/>
          <a:p>
            <a:pPr algn="just">
              <a:buFont typeface="Arial" panose="020B0604020202020204" pitchFamily="34" charset="0"/>
              <a:buChar char="•"/>
            </a:pPr>
            <a:r>
              <a:rPr lang="en-US" b="1" dirty="0">
                <a:solidFill>
                  <a:srgbClr val="000099"/>
                </a:solidFill>
              </a:rPr>
              <a:t>DML commands are used to modify the database</a:t>
            </a:r>
            <a:r>
              <a:rPr lang="en-US" dirty="0"/>
              <a:t>. It is responsible for all form of changes in the database.</a:t>
            </a:r>
          </a:p>
          <a:p>
            <a:pPr algn="just">
              <a:buFont typeface="Arial" panose="020B0604020202020204" pitchFamily="34" charset="0"/>
              <a:buChar char="•"/>
            </a:pPr>
            <a:r>
              <a:rPr lang="en-US" dirty="0"/>
              <a:t>The command of DML is not auto-committed that means it can't permanently save all the changes in the database. They can be rollback.</a:t>
            </a:r>
          </a:p>
          <a:p>
            <a:pPr marL="900113" indent="-179388">
              <a:buFont typeface="Arial" panose="020B0604020202020204" pitchFamily="34" charset="0"/>
              <a:buChar char="•"/>
            </a:pPr>
            <a:r>
              <a:rPr lang="en-IN" b="1" dirty="0">
                <a:solidFill>
                  <a:srgbClr val="000099"/>
                </a:solidFill>
              </a:rPr>
              <a:t>INSERT</a:t>
            </a:r>
          </a:p>
          <a:p>
            <a:pPr marL="900113" indent="-179388">
              <a:buFont typeface="Arial" panose="020B0604020202020204" pitchFamily="34" charset="0"/>
              <a:buChar char="•"/>
            </a:pPr>
            <a:r>
              <a:rPr lang="en-IN" b="1" dirty="0">
                <a:solidFill>
                  <a:srgbClr val="000099"/>
                </a:solidFill>
              </a:rPr>
              <a:t>UPDATE</a:t>
            </a:r>
          </a:p>
          <a:p>
            <a:pPr marL="900113" indent="-179388">
              <a:buFont typeface="Arial" panose="020B0604020202020204" pitchFamily="34" charset="0"/>
              <a:buChar char="•"/>
            </a:pPr>
            <a:r>
              <a:rPr lang="en-IN" b="1" dirty="0">
                <a:solidFill>
                  <a:srgbClr val="000099"/>
                </a:solidFill>
              </a:rPr>
              <a:t>DELETE</a:t>
            </a:r>
          </a:p>
          <a:p>
            <a:pPr marL="900113" indent="-179388"/>
            <a:r>
              <a:rPr lang="en-IN" b="1" dirty="0">
                <a:solidFill>
                  <a:srgbClr val="000099"/>
                </a:solidFill>
              </a:rPr>
              <a:t>SELECT</a:t>
            </a:r>
          </a:p>
          <a:p>
            <a:r>
              <a:rPr lang="en-US" b="1" dirty="0"/>
              <a:t>INSERT:</a:t>
            </a:r>
            <a:r>
              <a:rPr lang="en-US" dirty="0"/>
              <a:t> The INSERT statement is a SQL query. It is used to insert data into the row of a table.</a:t>
            </a:r>
          </a:p>
          <a:p>
            <a:r>
              <a:rPr lang="en-US" b="1" dirty="0">
                <a:solidFill>
                  <a:srgbClr val="000099"/>
                </a:solidFill>
              </a:rPr>
              <a:t>INSERT INTO TABLE_NAME   (col1, col2, col3,.... col N)  VALUES (value1, value2, value3, .... </a:t>
            </a:r>
            <a:r>
              <a:rPr lang="en-US" b="1" dirty="0" err="1">
                <a:solidFill>
                  <a:srgbClr val="000099"/>
                </a:solidFill>
              </a:rPr>
              <a:t>valueN</a:t>
            </a:r>
            <a:r>
              <a:rPr lang="en-US" b="1" dirty="0">
                <a:solidFill>
                  <a:srgbClr val="000099"/>
                </a:solidFill>
              </a:rPr>
              <a:t>); </a:t>
            </a:r>
          </a:p>
          <a:p>
            <a:r>
              <a:rPr lang="en-US" b="1" dirty="0">
                <a:solidFill>
                  <a:srgbClr val="000099"/>
                </a:solidFill>
              </a:rPr>
              <a:t> INSERT INTO TABLE_NAME  VALUES (value1, value2, value3, .... </a:t>
            </a:r>
            <a:r>
              <a:rPr lang="en-US" b="1" dirty="0" err="1">
                <a:solidFill>
                  <a:srgbClr val="000099"/>
                </a:solidFill>
              </a:rPr>
              <a:t>valueN</a:t>
            </a:r>
            <a:r>
              <a:rPr lang="en-US" b="1" dirty="0">
                <a:solidFill>
                  <a:srgbClr val="000099"/>
                </a:solidFill>
              </a:rPr>
              <a:t>); </a:t>
            </a:r>
          </a:p>
          <a:p>
            <a:r>
              <a:rPr lang="en-US" b="1" dirty="0">
                <a:solidFill>
                  <a:srgbClr val="000099"/>
                </a:solidFill>
              </a:rPr>
              <a:t>INSERT INTO book (Author, Subject) VALUES (“ABC", "DBMS");  </a:t>
            </a:r>
          </a:p>
          <a:p>
            <a:endParaRPr lang="en-IN" dirty="0"/>
          </a:p>
        </p:txBody>
      </p:sp>
    </p:spTree>
    <p:extLst>
      <p:ext uri="{BB962C8B-B14F-4D97-AF65-F5344CB8AC3E}">
        <p14:creationId xmlns:p14="http://schemas.microsoft.com/office/powerpoint/2010/main" val="385240309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F6C153-C313-46DC-8969-1480558C4453}"/>
              </a:ext>
            </a:extLst>
          </p:cNvPr>
          <p:cNvSpPr>
            <a:spLocks noGrp="1"/>
          </p:cNvSpPr>
          <p:nvPr>
            <p:ph type="title"/>
          </p:nvPr>
        </p:nvSpPr>
        <p:spPr/>
        <p:txBody>
          <a:bodyPr/>
          <a:lstStyle/>
          <a:p>
            <a:r>
              <a:rPr lang="en-IN" sz="4000" b="1" dirty="0"/>
              <a:t>Data Manipulation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2D37B4C7-A576-4CF1-A14E-FD045178C7CE}"/>
              </a:ext>
            </a:extLst>
          </p:cNvPr>
          <p:cNvSpPr>
            <a:spLocks noGrp="1"/>
          </p:cNvSpPr>
          <p:nvPr>
            <p:ph idx="1"/>
          </p:nvPr>
        </p:nvSpPr>
        <p:spPr>
          <a:xfrm>
            <a:off x="838200" y="1039091"/>
            <a:ext cx="10896600" cy="5137872"/>
          </a:xfrm>
        </p:spPr>
        <p:txBody>
          <a:bodyPr>
            <a:normAutofit/>
          </a:bodyPr>
          <a:lstStyle/>
          <a:p>
            <a:pPr algn="just">
              <a:buFont typeface="Arial" panose="020B0604020202020204" pitchFamily="34" charset="0"/>
              <a:buChar char="•"/>
            </a:pPr>
            <a:r>
              <a:rPr lang="en-US" b="1" dirty="0"/>
              <a:t>UPDATE:</a:t>
            </a:r>
            <a:r>
              <a:rPr lang="en-US" dirty="0"/>
              <a:t> This command is used to update or modify the value of a column in the table.</a:t>
            </a:r>
          </a:p>
          <a:p>
            <a:pPr algn="just">
              <a:buFont typeface="Arial" panose="020B0604020202020204" pitchFamily="34" charset="0"/>
              <a:buChar char="•"/>
            </a:pPr>
            <a:r>
              <a:rPr lang="en-US" b="1" dirty="0">
                <a:solidFill>
                  <a:srgbClr val="000099"/>
                </a:solidFill>
              </a:rPr>
              <a:t>UPDATE </a:t>
            </a:r>
            <a:r>
              <a:rPr lang="en-US" b="1" dirty="0" err="1">
                <a:solidFill>
                  <a:srgbClr val="000099"/>
                </a:solidFill>
              </a:rPr>
              <a:t>table_name</a:t>
            </a:r>
            <a:r>
              <a:rPr lang="en-US" b="1" dirty="0">
                <a:solidFill>
                  <a:srgbClr val="000099"/>
                </a:solidFill>
              </a:rPr>
              <a:t> SET [column_name1= value1,...</a:t>
            </a:r>
            <a:r>
              <a:rPr lang="en-US" b="1" dirty="0" err="1">
                <a:solidFill>
                  <a:srgbClr val="000099"/>
                </a:solidFill>
              </a:rPr>
              <a:t>column_nameN</a:t>
            </a:r>
            <a:r>
              <a:rPr lang="en-US" b="1" dirty="0">
                <a:solidFill>
                  <a:srgbClr val="000099"/>
                </a:solidFill>
              </a:rPr>
              <a:t> = </a:t>
            </a:r>
            <a:r>
              <a:rPr lang="en-US" b="1" dirty="0" err="1">
                <a:solidFill>
                  <a:srgbClr val="000099"/>
                </a:solidFill>
              </a:rPr>
              <a:t>valueN</a:t>
            </a:r>
            <a:r>
              <a:rPr lang="en-US" b="1" dirty="0">
                <a:solidFill>
                  <a:srgbClr val="000099"/>
                </a:solidFill>
              </a:rPr>
              <a:t>] [WHERE CONDITION]   </a:t>
            </a:r>
          </a:p>
          <a:p>
            <a:pPr algn="just">
              <a:buFont typeface="Arial" panose="020B0604020202020204" pitchFamily="34" charset="0"/>
              <a:buChar char="•"/>
            </a:pPr>
            <a:r>
              <a:rPr lang="en-US" b="1" dirty="0">
                <a:solidFill>
                  <a:srgbClr val="000099"/>
                </a:solidFill>
              </a:rPr>
              <a:t>UPDATE students    SET </a:t>
            </a:r>
            <a:r>
              <a:rPr lang="en-US" b="1" dirty="0" err="1">
                <a:solidFill>
                  <a:srgbClr val="000099"/>
                </a:solidFill>
              </a:rPr>
              <a:t>User_Name</a:t>
            </a:r>
            <a:r>
              <a:rPr lang="en-US" b="1" dirty="0">
                <a:solidFill>
                  <a:srgbClr val="000099"/>
                </a:solidFill>
              </a:rPr>
              <a:t> = ’XYZ'    WHERE </a:t>
            </a:r>
            <a:r>
              <a:rPr lang="en-US" b="1" dirty="0" err="1">
                <a:solidFill>
                  <a:srgbClr val="000099"/>
                </a:solidFill>
              </a:rPr>
              <a:t>Student_Id</a:t>
            </a:r>
            <a:r>
              <a:rPr lang="en-US" b="1" dirty="0">
                <a:solidFill>
                  <a:srgbClr val="000099"/>
                </a:solidFill>
              </a:rPr>
              <a:t> = '3’  </a:t>
            </a:r>
          </a:p>
          <a:p>
            <a:pPr algn="just">
              <a:buFont typeface="Arial" panose="020B0604020202020204" pitchFamily="34" charset="0"/>
              <a:buChar char="•"/>
            </a:pPr>
            <a:r>
              <a:rPr lang="en-US" b="1" dirty="0"/>
              <a:t>DELETE:</a:t>
            </a:r>
            <a:r>
              <a:rPr lang="en-US" dirty="0"/>
              <a:t> It is used to remove one or more row from a table.</a:t>
            </a:r>
          </a:p>
          <a:p>
            <a:pPr algn="just">
              <a:buFont typeface="Arial" panose="020B0604020202020204" pitchFamily="34" charset="0"/>
              <a:buChar char="•"/>
            </a:pPr>
            <a:r>
              <a:rPr lang="en-US" b="1" dirty="0">
                <a:solidFill>
                  <a:srgbClr val="000099"/>
                </a:solidFill>
              </a:rPr>
              <a:t>DELETE FROM </a:t>
            </a:r>
            <a:r>
              <a:rPr lang="en-US" b="1" dirty="0" err="1">
                <a:solidFill>
                  <a:srgbClr val="000099"/>
                </a:solidFill>
              </a:rPr>
              <a:t>table_name</a:t>
            </a:r>
            <a:r>
              <a:rPr lang="en-US" b="1" dirty="0">
                <a:solidFill>
                  <a:srgbClr val="000099"/>
                </a:solidFill>
              </a:rPr>
              <a:t> [WHERE condition];  </a:t>
            </a:r>
          </a:p>
          <a:p>
            <a:pPr algn="just">
              <a:buFont typeface="Arial" panose="020B0604020202020204" pitchFamily="34" charset="0"/>
              <a:buChar char="•"/>
            </a:pPr>
            <a:r>
              <a:rPr lang="en-US" b="1" dirty="0">
                <a:solidFill>
                  <a:srgbClr val="000099"/>
                </a:solidFill>
              </a:rPr>
              <a:t>DELETE FROM book  WHERE Author=“ABC";  </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9882730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F6C153-C313-46DC-8969-1480558C4453}"/>
              </a:ext>
            </a:extLst>
          </p:cNvPr>
          <p:cNvSpPr>
            <a:spLocks noGrp="1"/>
          </p:cNvSpPr>
          <p:nvPr>
            <p:ph type="title"/>
          </p:nvPr>
        </p:nvSpPr>
        <p:spPr>
          <a:xfrm>
            <a:off x="138546" y="171161"/>
            <a:ext cx="10515600" cy="1325563"/>
          </a:xfrm>
        </p:spPr>
        <p:txBody>
          <a:bodyPr/>
          <a:lstStyle/>
          <a:p>
            <a:r>
              <a:rPr lang="en-IN" sz="4000" b="1" dirty="0"/>
              <a:t>Data Manipulation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2D37B4C7-A576-4CF1-A14E-FD045178C7CE}"/>
              </a:ext>
            </a:extLst>
          </p:cNvPr>
          <p:cNvSpPr>
            <a:spLocks noGrp="1"/>
          </p:cNvSpPr>
          <p:nvPr>
            <p:ph idx="1"/>
          </p:nvPr>
        </p:nvSpPr>
        <p:spPr>
          <a:xfrm>
            <a:off x="207818" y="1039091"/>
            <a:ext cx="5347855" cy="5137872"/>
          </a:xfrm>
        </p:spPr>
        <p:txBody>
          <a:bodyPr>
            <a:normAutofit fontScale="92500" lnSpcReduction="20000"/>
          </a:bodyPr>
          <a:lstStyle/>
          <a:p>
            <a:pPr algn="just"/>
            <a:r>
              <a:rPr lang="en-US" b="1" i="0" dirty="0">
                <a:effectLst/>
              </a:rPr>
              <a:t>SELECT</a:t>
            </a:r>
            <a:endParaRPr lang="en-US" b="0" i="0" dirty="0">
              <a:effectLst/>
            </a:endParaRPr>
          </a:p>
          <a:p>
            <a:pPr algn="just"/>
            <a:r>
              <a:rPr lang="en-US" b="0" i="0" dirty="0">
                <a:effectLst/>
              </a:rPr>
              <a:t>This statement is used to select data from a database and the data returned is stored in a result table, called the </a:t>
            </a:r>
            <a:r>
              <a:rPr lang="en-US" b="1" i="0" dirty="0">
                <a:effectLst/>
              </a:rPr>
              <a:t>result-set</a:t>
            </a:r>
            <a:r>
              <a:rPr lang="en-US" b="0" i="0" dirty="0">
                <a:effectLst/>
              </a:rPr>
              <a:t>.</a:t>
            </a:r>
          </a:p>
          <a:p>
            <a:pPr algn="just">
              <a:buFont typeface="Arial" panose="020B0604020202020204" pitchFamily="34" charset="0"/>
              <a:buChar char="•"/>
            </a:pPr>
            <a:r>
              <a:rPr lang="en-US" dirty="0"/>
              <a:t>Syntax</a:t>
            </a:r>
          </a:p>
          <a:p>
            <a:pPr algn="just">
              <a:buFont typeface="Arial" panose="020B0604020202020204" pitchFamily="34" charset="0"/>
              <a:buChar char="•"/>
            </a:pPr>
            <a:r>
              <a:rPr lang="en-US" dirty="0"/>
              <a:t>SELECT Column1, Column2, ...</a:t>
            </a:r>
            <a:r>
              <a:rPr lang="en-US" dirty="0" err="1"/>
              <a:t>ColumN</a:t>
            </a:r>
            <a:endParaRPr lang="en-US" dirty="0"/>
          </a:p>
          <a:p>
            <a:pPr algn="just">
              <a:buFont typeface="Arial" panose="020B0604020202020204" pitchFamily="34" charset="0"/>
              <a:buChar char="•"/>
            </a:pPr>
            <a:r>
              <a:rPr lang="en-US" dirty="0"/>
              <a:t>FROM </a:t>
            </a:r>
            <a:r>
              <a:rPr lang="en-US" dirty="0" err="1"/>
              <a:t>TableName</a:t>
            </a:r>
            <a:r>
              <a:rPr lang="en-US" dirty="0"/>
              <a:t>;</a:t>
            </a:r>
          </a:p>
          <a:p>
            <a:pPr algn="just">
              <a:buFont typeface="Arial" panose="020B0604020202020204" pitchFamily="34" charset="0"/>
              <a:buChar char="•"/>
            </a:pPr>
            <a:r>
              <a:rPr lang="en-US" dirty="0"/>
              <a:t>--(*) is used to select all from the table</a:t>
            </a:r>
          </a:p>
          <a:p>
            <a:pPr algn="just">
              <a:buFont typeface="Arial" panose="020B0604020202020204" pitchFamily="34" charset="0"/>
              <a:buChar char="•"/>
            </a:pPr>
            <a:r>
              <a:rPr lang="en-US" b="1" dirty="0">
                <a:solidFill>
                  <a:srgbClr val="000099"/>
                </a:solidFill>
              </a:rPr>
              <a:t>SELECT * FROM </a:t>
            </a:r>
            <a:r>
              <a:rPr lang="en-US" b="1" dirty="0" err="1">
                <a:solidFill>
                  <a:srgbClr val="000099"/>
                </a:solidFill>
              </a:rPr>
              <a:t>table_name</a:t>
            </a:r>
            <a:r>
              <a:rPr lang="en-US" b="1" dirty="0">
                <a:solidFill>
                  <a:srgbClr val="000099"/>
                </a:solidFill>
              </a:rPr>
              <a:t>;</a:t>
            </a:r>
          </a:p>
          <a:p>
            <a:pPr algn="just">
              <a:buFont typeface="Arial" panose="020B0604020202020204" pitchFamily="34" charset="0"/>
              <a:buChar char="•"/>
            </a:pPr>
            <a:r>
              <a:rPr lang="en-US" dirty="0"/>
              <a:t>-- To select the number of records to return use:</a:t>
            </a:r>
          </a:p>
          <a:p>
            <a:pPr marL="0" indent="0" algn="just">
              <a:buNone/>
            </a:pPr>
            <a:endParaRPr lang="en-IN" dirty="0"/>
          </a:p>
        </p:txBody>
      </p:sp>
      <p:sp>
        <p:nvSpPr>
          <p:cNvPr id="4" name="Content Placeholder 2">
            <a:extLst>
              <a:ext uri="{FF2B5EF4-FFF2-40B4-BE49-F238E27FC236}">
                <a16:creationId xmlns="" xmlns:a16="http://schemas.microsoft.com/office/drawing/2014/main" id="{F3978105-87DA-253E-2BFD-E7DF5CC01AA2}"/>
              </a:ext>
            </a:extLst>
          </p:cNvPr>
          <p:cNvSpPr txBox="1">
            <a:spLocks/>
          </p:cNvSpPr>
          <p:nvPr/>
        </p:nvSpPr>
        <p:spPr>
          <a:xfrm>
            <a:off x="5971309" y="171161"/>
            <a:ext cx="5860473" cy="651567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effectLst/>
              </a:rPr>
              <a:t>Example:</a:t>
            </a:r>
            <a:endParaRPr lang="en-US" dirty="0"/>
          </a:p>
          <a:p>
            <a:pPr algn="just"/>
            <a:r>
              <a:rPr lang="en-US" b="1" dirty="0">
                <a:solidFill>
                  <a:srgbClr val="000099"/>
                </a:solidFill>
              </a:rPr>
              <a:t>SELECT </a:t>
            </a:r>
            <a:r>
              <a:rPr lang="en-US" b="1" dirty="0" err="1">
                <a:solidFill>
                  <a:srgbClr val="000099"/>
                </a:solidFill>
              </a:rPr>
              <a:t>EmployeeID</a:t>
            </a:r>
            <a:r>
              <a:rPr lang="en-US" b="1" dirty="0">
                <a:solidFill>
                  <a:srgbClr val="000099"/>
                </a:solidFill>
              </a:rPr>
              <a:t>, </a:t>
            </a:r>
            <a:r>
              <a:rPr lang="en-US" b="1" dirty="0" err="1">
                <a:solidFill>
                  <a:srgbClr val="000099"/>
                </a:solidFill>
              </a:rPr>
              <a:t>EmployeeName</a:t>
            </a:r>
            <a:endParaRPr lang="en-US" b="1" dirty="0">
              <a:solidFill>
                <a:srgbClr val="000099"/>
              </a:solidFill>
            </a:endParaRPr>
          </a:p>
          <a:p>
            <a:pPr marL="0" indent="0" algn="just">
              <a:buNone/>
            </a:pPr>
            <a:r>
              <a:rPr lang="en-US" b="1" dirty="0">
                <a:solidFill>
                  <a:srgbClr val="000099"/>
                </a:solidFill>
              </a:rPr>
              <a:t>FROM </a:t>
            </a:r>
            <a:r>
              <a:rPr lang="en-US" b="1" dirty="0" err="1">
                <a:solidFill>
                  <a:srgbClr val="000099"/>
                </a:solidFill>
              </a:rPr>
              <a:t>Employee_Info</a:t>
            </a:r>
            <a:r>
              <a:rPr lang="en-US" b="1" dirty="0">
                <a:solidFill>
                  <a:srgbClr val="000099"/>
                </a:solidFill>
              </a:rPr>
              <a:t>;</a:t>
            </a:r>
          </a:p>
          <a:p>
            <a:pPr algn="just"/>
            <a:r>
              <a:rPr lang="en-US" dirty="0"/>
              <a:t> --(*) is used to select all from the table</a:t>
            </a:r>
          </a:p>
          <a:p>
            <a:pPr algn="just"/>
            <a:r>
              <a:rPr lang="en-US" dirty="0"/>
              <a:t>SELECT * FROM </a:t>
            </a:r>
            <a:r>
              <a:rPr lang="en-US" dirty="0" err="1"/>
              <a:t>Employee_Info</a:t>
            </a:r>
            <a:r>
              <a:rPr lang="en-US" dirty="0"/>
              <a:t>;</a:t>
            </a:r>
          </a:p>
          <a:p>
            <a:pPr algn="just"/>
            <a:r>
              <a:rPr lang="en-US" dirty="0"/>
              <a:t> -- To select the number of records to return use:</a:t>
            </a:r>
          </a:p>
          <a:p>
            <a:pPr algn="just"/>
            <a:r>
              <a:rPr lang="en-US" dirty="0"/>
              <a:t>SELECT TOP 3 * FROM </a:t>
            </a:r>
            <a:r>
              <a:rPr lang="en-US" dirty="0" err="1"/>
              <a:t>Employee_Info</a:t>
            </a:r>
            <a:r>
              <a:rPr lang="en-US" dirty="0"/>
              <a:t>;</a:t>
            </a:r>
          </a:p>
          <a:p>
            <a:pPr algn="just"/>
            <a:r>
              <a:rPr lang="en-US" b="1" dirty="0">
                <a:solidFill>
                  <a:srgbClr val="C00000"/>
                </a:solidFill>
              </a:rPr>
              <a:t>you can use the following keywords with the SELECT statement:</a:t>
            </a:r>
          </a:p>
          <a:p>
            <a:pPr algn="just"/>
            <a:r>
              <a:rPr lang="en-US" b="1" dirty="0">
                <a:solidFill>
                  <a:srgbClr val="000099"/>
                </a:solidFill>
              </a:rPr>
              <a:t>DISTINCT</a:t>
            </a:r>
          </a:p>
          <a:p>
            <a:pPr algn="just"/>
            <a:r>
              <a:rPr lang="en-US" b="1" dirty="0">
                <a:solidFill>
                  <a:srgbClr val="000099"/>
                </a:solidFill>
              </a:rPr>
              <a:t>ORDER BY</a:t>
            </a:r>
          </a:p>
          <a:p>
            <a:pPr algn="just"/>
            <a:r>
              <a:rPr lang="en-US" b="1" dirty="0">
                <a:solidFill>
                  <a:srgbClr val="000099"/>
                </a:solidFill>
              </a:rPr>
              <a:t>GROUP BY</a:t>
            </a:r>
          </a:p>
          <a:p>
            <a:pPr algn="just"/>
            <a:r>
              <a:rPr lang="en-US" b="1" dirty="0">
                <a:solidFill>
                  <a:srgbClr val="000099"/>
                </a:solidFill>
              </a:rPr>
              <a:t>HAVING Clause</a:t>
            </a:r>
          </a:p>
          <a:p>
            <a:pPr algn="just"/>
            <a:r>
              <a:rPr lang="en-US" b="1" dirty="0">
                <a:solidFill>
                  <a:srgbClr val="000099"/>
                </a:solidFill>
              </a:rPr>
              <a:t>INTO</a:t>
            </a:r>
          </a:p>
          <a:p>
            <a:pPr algn="just"/>
            <a:endParaRPr lang="en-IN" dirty="0"/>
          </a:p>
        </p:txBody>
      </p:sp>
    </p:spTree>
    <p:extLst>
      <p:ext uri="{BB962C8B-B14F-4D97-AF65-F5344CB8AC3E}">
        <p14:creationId xmlns:p14="http://schemas.microsoft.com/office/powerpoint/2010/main" val="276616768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F6C153-C313-46DC-8969-1480558C4453}"/>
              </a:ext>
            </a:extLst>
          </p:cNvPr>
          <p:cNvSpPr>
            <a:spLocks noGrp="1"/>
          </p:cNvSpPr>
          <p:nvPr>
            <p:ph type="title"/>
          </p:nvPr>
        </p:nvSpPr>
        <p:spPr>
          <a:xfrm>
            <a:off x="138546" y="171161"/>
            <a:ext cx="10515600" cy="1325563"/>
          </a:xfrm>
        </p:spPr>
        <p:txBody>
          <a:bodyPr/>
          <a:lstStyle/>
          <a:p>
            <a:r>
              <a:rPr lang="en-IN" sz="4000" b="1" dirty="0"/>
              <a:t>Data Manipulation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2D37B4C7-A576-4CF1-A14E-FD045178C7CE}"/>
              </a:ext>
            </a:extLst>
          </p:cNvPr>
          <p:cNvSpPr>
            <a:spLocks noGrp="1"/>
          </p:cNvSpPr>
          <p:nvPr>
            <p:ph idx="1"/>
          </p:nvPr>
        </p:nvSpPr>
        <p:spPr>
          <a:xfrm>
            <a:off x="207818" y="833942"/>
            <a:ext cx="5888182" cy="5647748"/>
          </a:xfrm>
        </p:spPr>
        <p:txBody>
          <a:bodyPr>
            <a:noAutofit/>
          </a:bodyPr>
          <a:lstStyle/>
          <a:p>
            <a:pPr algn="just"/>
            <a:r>
              <a:rPr lang="en-US" sz="2000" b="1" i="0" u="sng" dirty="0">
                <a:effectLst/>
              </a:rPr>
              <a:t>The ‘SELECT DISTINCT’ Statement</a:t>
            </a:r>
          </a:p>
          <a:p>
            <a:pPr algn="just"/>
            <a:r>
              <a:rPr lang="en-US" sz="2000" i="0" dirty="0">
                <a:effectLst/>
              </a:rPr>
              <a:t>This statement is used to return only different values.</a:t>
            </a:r>
          </a:p>
          <a:p>
            <a:pPr algn="just"/>
            <a:r>
              <a:rPr lang="en-US" sz="2000" b="1" i="0" dirty="0" err="1">
                <a:solidFill>
                  <a:srgbClr val="C00000"/>
                </a:solidFill>
                <a:effectLst/>
              </a:rPr>
              <a:t>Syntax:SELECT</a:t>
            </a:r>
            <a:r>
              <a:rPr lang="en-US" sz="2000" b="1" i="0" dirty="0">
                <a:solidFill>
                  <a:srgbClr val="C00000"/>
                </a:solidFill>
                <a:effectLst/>
              </a:rPr>
              <a:t> DISTINCT Column1, Column2, ...</a:t>
            </a:r>
            <a:r>
              <a:rPr lang="en-US" sz="2000" b="1" i="0" dirty="0" err="1">
                <a:solidFill>
                  <a:srgbClr val="C00000"/>
                </a:solidFill>
                <a:effectLst/>
              </a:rPr>
              <a:t>ColumnN</a:t>
            </a:r>
            <a:endParaRPr lang="en-US" sz="2000" b="1" i="0" dirty="0">
              <a:solidFill>
                <a:srgbClr val="C00000"/>
              </a:solidFill>
              <a:effectLst/>
            </a:endParaRPr>
          </a:p>
          <a:p>
            <a:pPr algn="just"/>
            <a:r>
              <a:rPr lang="en-US" sz="2000" b="1" i="0" dirty="0">
                <a:solidFill>
                  <a:srgbClr val="C00000"/>
                </a:solidFill>
                <a:effectLst/>
              </a:rPr>
              <a:t>FROM </a:t>
            </a:r>
            <a:r>
              <a:rPr lang="en-US" sz="2000" b="1" i="0" dirty="0" err="1">
                <a:solidFill>
                  <a:srgbClr val="C00000"/>
                </a:solidFill>
                <a:effectLst/>
              </a:rPr>
              <a:t>TableName</a:t>
            </a:r>
            <a:r>
              <a:rPr lang="en-US" sz="2000" b="1" i="0" dirty="0">
                <a:solidFill>
                  <a:srgbClr val="C00000"/>
                </a:solidFill>
                <a:effectLst/>
              </a:rPr>
              <a:t>;</a:t>
            </a:r>
          </a:p>
          <a:p>
            <a:pPr algn="just"/>
            <a:r>
              <a:rPr lang="en-US" sz="2000" b="1" i="0" dirty="0">
                <a:effectLst/>
              </a:rPr>
              <a:t>Example </a:t>
            </a:r>
            <a:r>
              <a:rPr lang="en-US" sz="2000" b="1" i="0" dirty="0">
                <a:solidFill>
                  <a:srgbClr val="000099"/>
                </a:solidFill>
                <a:effectLst/>
              </a:rPr>
              <a:t>SELECT DISTINCT </a:t>
            </a:r>
            <a:r>
              <a:rPr lang="en-US" sz="2000" b="1" i="0" dirty="0" err="1">
                <a:solidFill>
                  <a:srgbClr val="000099"/>
                </a:solidFill>
                <a:effectLst/>
              </a:rPr>
              <a:t>PhoneNumber</a:t>
            </a:r>
            <a:r>
              <a:rPr lang="en-US" sz="2000" b="1" i="0" dirty="0">
                <a:solidFill>
                  <a:srgbClr val="000099"/>
                </a:solidFill>
                <a:effectLst/>
              </a:rPr>
              <a:t> FROM </a:t>
            </a:r>
            <a:r>
              <a:rPr lang="en-US" sz="2000" b="1" i="0" dirty="0" err="1">
                <a:solidFill>
                  <a:srgbClr val="000099"/>
                </a:solidFill>
                <a:effectLst/>
              </a:rPr>
              <a:t>Employee_Info</a:t>
            </a:r>
            <a:r>
              <a:rPr lang="en-US" sz="2000" b="1" i="0" dirty="0">
                <a:solidFill>
                  <a:srgbClr val="000099"/>
                </a:solidFill>
                <a:effectLst/>
              </a:rPr>
              <a:t>;</a:t>
            </a:r>
          </a:p>
          <a:p>
            <a:pPr algn="just"/>
            <a:r>
              <a:rPr lang="en-US" sz="2000" b="1" u="sng" dirty="0"/>
              <a:t>The ‘ORDER BY’ Statement</a:t>
            </a:r>
          </a:p>
          <a:p>
            <a:pPr algn="just"/>
            <a:r>
              <a:rPr lang="en-US" sz="2000" dirty="0"/>
              <a:t>The ‘ORDER BY’ statement is used to sort the required results in ascending or descending order. The results are sorted in ascending order by default.</a:t>
            </a:r>
          </a:p>
          <a:p>
            <a:pPr algn="just"/>
            <a:r>
              <a:rPr lang="en-US" sz="2000" b="1" dirty="0">
                <a:solidFill>
                  <a:srgbClr val="C00000"/>
                </a:solidFill>
              </a:rPr>
              <a:t>Syntax: SELECT Column1, Column2, ...</a:t>
            </a:r>
            <a:r>
              <a:rPr lang="en-US" sz="2000" b="1" dirty="0" err="1">
                <a:solidFill>
                  <a:srgbClr val="C00000"/>
                </a:solidFill>
              </a:rPr>
              <a:t>ColumnN</a:t>
            </a:r>
            <a:endParaRPr lang="en-US" sz="2000" b="1" dirty="0">
              <a:solidFill>
                <a:srgbClr val="C00000"/>
              </a:solidFill>
            </a:endParaRPr>
          </a:p>
          <a:p>
            <a:pPr algn="just"/>
            <a:r>
              <a:rPr lang="en-US" sz="2000" b="1" dirty="0">
                <a:solidFill>
                  <a:srgbClr val="C00000"/>
                </a:solidFill>
              </a:rPr>
              <a:t>FROM </a:t>
            </a:r>
            <a:r>
              <a:rPr lang="en-US" sz="2000" b="1" dirty="0" err="1">
                <a:solidFill>
                  <a:srgbClr val="C00000"/>
                </a:solidFill>
              </a:rPr>
              <a:t>TableName</a:t>
            </a:r>
            <a:endParaRPr lang="en-US" sz="2000" b="1" dirty="0">
              <a:solidFill>
                <a:srgbClr val="C00000"/>
              </a:solidFill>
            </a:endParaRPr>
          </a:p>
          <a:p>
            <a:pPr algn="just"/>
            <a:r>
              <a:rPr lang="en-US" sz="2000" b="1" dirty="0">
                <a:solidFill>
                  <a:srgbClr val="C00000"/>
                </a:solidFill>
              </a:rPr>
              <a:t>ORDER BY Column1, Column2, ... ASC|DESC;</a:t>
            </a:r>
            <a:endParaRPr lang="en-IN" sz="2000" b="1" dirty="0">
              <a:solidFill>
                <a:srgbClr val="C00000"/>
              </a:solidFill>
            </a:endParaRPr>
          </a:p>
        </p:txBody>
      </p:sp>
      <p:sp>
        <p:nvSpPr>
          <p:cNvPr id="4" name="Content Placeholder 2">
            <a:extLst>
              <a:ext uri="{FF2B5EF4-FFF2-40B4-BE49-F238E27FC236}">
                <a16:creationId xmlns="" xmlns:a16="http://schemas.microsoft.com/office/drawing/2014/main" id="{F3978105-87DA-253E-2BFD-E7DF5CC01AA2}"/>
              </a:ext>
            </a:extLst>
          </p:cNvPr>
          <p:cNvSpPr txBox="1">
            <a:spLocks/>
          </p:cNvSpPr>
          <p:nvPr/>
        </p:nvSpPr>
        <p:spPr>
          <a:xfrm>
            <a:off x="6331527" y="171161"/>
            <a:ext cx="5500255" cy="65156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effectLst/>
              </a:rPr>
              <a:t>Example:</a:t>
            </a:r>
            <a:endParaRPr lang="en-US" dirty="0"/>
          </a:p>
          <a:p>
            <a:pPr algn="just"/>
            <a:r>
              <a:rPr lang="en-US" dirty="0">
                <a:solidFill>
                  <a:srgbClr val="C00000"/>
                </a:solidFill>
              </a:rPr>
              <a:t>-- Select all employees from the '</a:t>
            </a:r>
            <a:r>
              <a:rPr lang="en-US" dirty="0" err="1">
                <a:solidFill>
                  <a:srgbClr val="C00000"/>
                </a:solidFill>
              </a:rPr>
              <a:t>Employee_Info</a:t>
            </a:r>
            <a:r>
              <a:rPr lang="en-US" dirty="0">
                <a:solidFill>
                  <a:srgbClr val="C00000"/>
                </a:solidFill>
              </a:rPr>
              <a:t>' table sorted by </a:t>
            </a:r>
            <a:r>
              <a:rPr lang="en-US" dirty="0" err="1">
                <a:solidFill>
                  <a:srgbClr val="C00000"/>
                </a:solidFill>
              </a:rPr>
              <a:t>EmergencyContactName</a:t>
            </a:r>
            <a:r>
              <a:rPr lang="en-US" dirty="0">
                <a:solidFill>
                  <a:srgbClr val="C00000"/>
                </a:solidFill>
              </a:rPr>
              <a:t>:</a:t>
            </a:r>
          </a:p>
          <a:p>
            <a:pPr algn="just"/>
            <a:r>
              <a:rPr lang="en-US" sz="2400" b="1" dirty="0">
                <a:solidFill>
                  <a:srgbClr val="000099"/>
                </a:solidFill>
              </a:rPr>
              <a:t>SELECT * FROM </a:t>
            </a:r>
            <a:r>
              <a:rPr lang="en-US" sz="2400" b="1" dirty="0" err="1">
                <a:solidFill>
                  <a:srgbClr val="000099"/>
                </a:solidFill>
              </a:rPr>
              <a:t>Employee_Info</a:t>
            </a:r>
            <a:endParaRPr lang="en-US" sz="2400" b="1" dirty="0">
              <a:solidFill>
                <a:srgbClr val="000099"/>
              </a:solidFill>
            </a:endParaRPr>
          </a:p>
          <a:p>
            <a:pPr algn="just"/>
            <a:r>
              <a:rPr lang="en-US" sz="2400" b="1" dirty="0">
                <a:solidFill>
                  <a:srgbClr val="000099"/>
                </a:solidFill>
              </a:rPr>
              <a:t>ORDER BY </a:t>
            </a:r>
            <a:r>
              <a:rPr lang="en-US" sz="2400" b="1" dirty="0" err="1">
                <a:solidFill>
                  <a:srgbClr val="000099"/>
                </a:solidFill>
              </a:rPr>
              <a:t>EmergencyContactName</a:t>
            </a:r>
            <a:r>
              <a:rPr lang="en-US" sz="2400" b="1" dirty="0">
                <a:solidFill>
                  <a:srgbClr val="000099"/>
                </a:solidFill>
              </a:rPr>
              <a:t>;</a:t>
            </a:r>
          </a:p>
          <a:p>
            <a:pPr algn="just"/>
            <a:r>
              <a:rPr lang="en-US" dirty="0"/>
              <a:t> </a:t>
            </a:r>
            <a:r>
              <a:rPr lang="en-US" dirty="0">
                <a:solidFill>
                  <a:srgbClr val="C00000"/>
                </a:solidFill>
              </a:rPr>
              <a:t>-- Select all employees from the '</a:t>
            </a:r>
            <a:r>
              <a:rPr lang="en-US" dirty="0" err="1">
                <a:solidFill>
                  <a:srgbClr val="C00000"/>
                </a:solidFill>
              </a:rPr>
              <a:t>Employee_Info</a:t>
            </a:r>
            <a:r>
              <a:rPr lang="en-US" dirty="0">
                <a:solidFill>
                  <a:srgbClr val="C00000"/>
                </a:solidFill>
              </a:rPr>
              <a:t>' table sorted by </a:t>
            </a:r>
            <a:r>
              <a:rPr lang="en-US" dirty="0" err="1">
                <a:solidFill>
                  <a:srgbClr val="C00000"/>
                </a:solidFill>
              </a:rPr>
              <a:t>EmergencyContactName</a:t>
            </a:r>
            <a:r>
              <a:rPr lang="en-US" dirty="0">
                <a:solidFill>
                  <a:srgbClr val="C00000"/>
                </a:solidFill>
              </a:rPr>
              <a:t> in Descending order:</a:t>
            </a:r>
          </a:p>
          <a:p>
            <a:pPr algn="just"/>
            <a:r>
              <a:rPr lang="en-US" sz="2400" b="1" dirty="0">
                <a:solidFill>
                  <a:srgbClr val="000099"/>
                </a:solidFill>
              </a:rPr>
              <a:t>SELECT * FROM </a:t>
            </a:r>
            <a:r>
              <a:rPr lang="en-US" sz="2400" b="1" dirty="0" err="1">
                <a:solidFill>
                  <a:srgbClr val="000099"/>
                </a:solidFill>
              </a:rPr>
              <a:t>Employee_Info</a:t>
            </a:r>
            <a:endParaRPr lang="en-US" sz="2400" b="1" dirty="0">
              <a:solidFill>
                <a:srgbClr val="000099"/>
              </a:solidFill>
            </a:endParaRPr>
          </a:p>
          <a:p>
            <a:pPr algn="just"/>
            <a:r>
              <a:rPr lang="en-US" sz="2400" b="1" dirty="0">
                <a:solidFill>
                  <a:srgbClr val="000099"/>
                </a:solidFill>
              </a:rPr>
              <a:t>ORDER BY </a:t>
            </a:r>
            <a:r>
              <a:rPr lang="en-US" sz="2400" b="1" dirty="0" err="1">
                <a:solidFill>
                  <a:srgbClr val="000099"/>
                </a:solidFill>
              </a:rPr>
              <a:t>EmergencyContactName</a:t>
            </a:r>
            <a:r>
              <a:rPr lang="en-US" sz="2400" b="1" dirty="0">
                <a:solidFill>
                  <a:srgbClr val="000099"/>
                </a:solidFill>
              </a:rPr>
              <a:t> DESC;</a:t>
            </a:r>
            <a:endParaRPr lang="en-IN" sz="2400" b="1" dirty="0">
              <a:solidFill>
                <a:srgbClr val="000099"/>
              </a:solidFill>
            </a:endParaRPr>
          </a:p>
        </p:txBody>
      </p:sp>
    </p:spTree>
    <p:extLst>
      <p:ext uri="{BB962C8B-B14F-4D97-AF65-F5344CB8AC3E}">
        <p14:creationId xmlns:p14="http://schemas.microsoft.com/office/powerpoint/2010/main" val="33458259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55" y="99073"/>
            <a:ext cx="11847490" cy="755336"/>
          </a:xfrm>
        </p:spPr>
        <p:txBody>
          <a:bodyPr/>
          <a:lstStyle/>
          <a:p>
            <a:r>
              <a:rPr lang="en-US" dirty="0" smtClean="0"/>
              <a:t>Examples</a:t>
            </a: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362" r="2209" b="9261"/>
          <a:stretch/>
        </p:blipFill>
        <p:spPr bwMode="auto">
          <a:xfrm>
            <a:off x="213105" y="1838660"/>
            <a:ext cx="4629351" cy="352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7531" y="2256821"/>
            <a:ext cx="5591175"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927471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F6C153-C313-46DC-8969-1480558C4453}"/>
              </a:ext>
            </a:extLst>
          </p:cNvPr>
          <p:cNvSpPr>
            <a:spLocks noGrp="1"/>
          </p:cNvSpPr>
          <p:nvPr>
            <p:ph type="title"/>
          </p:nvPr>
        </p:nvSpPr>
        <p:spPr>
          <a:xfrm>
            <a:off x="138546" y="171161"/>
            <a:ext cx="10515600" cy="1325563"/>
          </a:xfrm>
        </p:spPr>
        <p:txBody>
          <a:bodyPr/>
          <a:lstStyle/>
          <a:p>
            <a:r>
              <a:rPr lang="en-IN" sz="4000" b="1" dirty="0"/>
              <a:t>Data Manipulation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2D37B4C7-A576-4CF1-A14E-FD045178C7CE}"/>
              </a:ext>
            </a:extLst>
          </p:cNvPr>
          <p:cNvSpPr>
            <a:spLocks noGrp="1"/>
          </p:cNvSpPr>
          <p:nvPr>
            <p:ph idx="1"/>
          </p:nvPr>
        </p:nvSpPr>
        <p:spPr>
          <a:xfrm>
            <a:off x="207818" y="833942"/>
            <a:ext cx="5888182" cy="5647748"/>
          </a:xfrm>
        </p:spPr>
        <p:txBody>
          <a:bodyPr>
            <a:noAutofit/>
          </a:bodyPr>
          <a:lstStyle/>
          <a:p>
            <a:pPr algn="just"/>
            <a:r>
              <a:rPr lang="en-US" sz="2000" b="1" i="0" u="sng" dirty="0">
                <a:effectLst/>
              </a:rPr>
              <a:t>The ‘GROUP BY’ Statement</a:t>
            </a:r>
          </a:p>
          <a:p>
            <a:pPr algn="just"/>
            <a:r>
              <a:rPr lang="en-US" sz="2000" b="1" i="0" dirty="0">
                <a:effectLst/>
              </a:rPr>
              <a:t>This ‘GROUP BY’ statement is used with the aggregate functions to group the result-set by one or more columns.</a:t>
            </a:r>
          </a:p>
          <a:p>
            <a:pPr algn="just"/>
            <a:r>
              <a:rPr lang="en-US" sz="2000" b="1" i="0" dirty="0">
                <a:solidFill>
                  <a:srgbClr val="C00000"/>
                </a:solidFill>
                <a:effectLst/>
              </a:rPr>
              <a:t>Syntax :SELECT Column1, Column2,..., </a:t>
            </a:r>
            <a:r>
              <a:rPr lang="en-US" sz="2000" b="1" i="0" dirty="0" err="1">
                <a:solidFill>
                  <a:srgbClr val="C00000"/>
                </a:solidFill>
                <a:effectLst/>
              </a:rPr>
              <a:t>ColumnN</a:t>
            </a:r>
            <a:endParaRPr lang="en-US" sz="2000" b="1" i="0" dirty="0">
              <a:solidFill>
                <a:srgbClr val="C00000"/>
              </a:solidFill>
              <a:effectLst/>
            </a:endParaRPr>
          </a:p>
          <a:p>
            <a:pPr algn="just"/>
            <a:r>
              <a:rPr lang="en-US" sz="2000" b="1" i="0" dirty="0">
                <a:solidFill>
                  <a:srgbClr val="C00000"/>
                </a:solidFill>
                <a:effectLst/>
              </a:rPr>
              <a:t>FROM </a:t>
            </a:r>
            <a:r>
              <a:rPr lang="en-US" sz="2000" b="1" i="0" dirty="0" err="1">
                <a:solidFill>
                  <a:srgbClr val="C00000"/>
                </a:solidFill>
                <a:effectLst/>
              </a:rPr>
              <a:t>TableName</a:t>
            </a:r>
            <a:endParaRPr lang="en-US" sz="2000" b="1" i="0" dirty="0">
              <a:solidFill>
                <a:srgbClr val="C00000"/>
              </a:solidFill>
              <a:effectLst/>
            </a:endParaRPr>
          </a:p>
          <a:p>
            <a:pPr algn="just"/>
            <a:r>
              <a:rPr lang="en-US" sz="2000" b="1" i="0" dirty="0">
                <a:solidFill>
                  <a:srgbClr val="C00000"/>
                </a:solidFill>
                <a:effectLst/>
              </a:rPr>
              <a:t>WHERE Condition</a:t>
            </a:r>
          </a:p>
          <a:p>
            <a:pPr algn="just"/>
            <a:r>
              <a:rPr lang="en-US" sz="2000" b="1" i="0" dirty="0">
                <a:solidFill>
                  <a:srgbClr val="C00000"/>
                </a:solidFill>
                <a:effectLst/>
              </a:rPr>
              <a:t>GROUP BY </a:t>
            </a:r>
            <a:r>
              <a:rPr lang="en-US" sz="2000" b="1" i="0" dirty="0" err="1">
                <a:solidFill>
                  <a:srgbClr val="C00000"/>
                </a:solidFill>
                <a:effectLst/>
              </a:rPr>
              <a:t>ColumnName</a:t>
            </a:r>
            <a:r>
              <a:rPr lang="en-US" sz="2000" b="1" i="0" dirty="0">
                <a:solidFill>
                  <a:srgbClr val="C00000"/>
                </a:solidFill>
                <a:effectLst/>
              </a:rPr>
              <a:t>(s)</a:t>
            </a:r>
          </a:p>
          <a:p>
            <a:pPr algn="just"/>
            <a:r>
              <a:rPr lang="en-US" sz="2000" b="1" i="0" dirty="0">
                <a:solidFill>
                  <a:srgbClr val="C00000"/>
                </a:solidFill>
                <a:effectLst/>
              </a:rPr>
              <a:t>ORDER BY </a:t>
            </a:r>
            <a:r>
              <a:rPr lang="en-US" sz="2000" b="1" i="0" dirty="0" err="1">
                <a:solidFill>
                  <a:srgbClr val="C00000"/>
                </a:solidFill>
                <a:effectLst/>
              </a:rPr>
              <a:t>ColumnName</a:t>
            </a:r>
            <a:r>
              <a:rPr lang="en-US" sz="2000" b="1" i="0" dirty="0">
                <a:solidFill>
                  <a:srgbClr val="C00000"/>
                </a:solidFill>
                <a:effectLst/>
              </a:rPr>
              <a:t>(s);</a:t>
            </a:r>
          </a:p>
          <a:p>
            <a:pPr algn="just"/>
            <a:r>
              <a:rPr lang="en-US" sz="2000" b="1" i="0" dirty="0">
                <a:effectLst/>
              </a:rPr>
              <a:t>Example</a:t>
            </a:r>
          </a:p>
          <a:p>
            <a:pPr algn="just"/>
            <a:r>
              <a:rPr lang="en-US" sz="2000" b="1" i="0" dirty="0">
                <a:effectLst/>
              </a:rPr>
              <a:t>-- To list the number of employees from each city.</a:t>
            </a:r>
          </a:p>
          <a:p>
            <a:pPr algn="just"/>
            <a:r>
              <a:rPr lang="en-US" sz="2000" b="1" i="0" dirty="0">
                <a:effectLst/>
              </a:rPr>
              <a:t> </a:t>
            </a:r>
            <a:r>
              <a:rPr lang="en-US" sz="2000" b="1" i="0" dirty="0">
                <a:solidFill>
                  <a:srgbClr val="000099"/>
                </a:solidFill>
                <a:effectLst/>
              </a:rPr>
              <a:t>SELECT COUNT(</a:t>
            </a:r>
            <a:r>
              <a:rPr lang="en-US" sz="2000" b="1" i="0" dirty="0" err="1">
                <a:solidFill>
                  <a:srgbClr val="000099"/>
                </a:solidFill>
                <a:effectLst/>
              </a:rPr>
              <a:t>EmployeeID</a:t>
            </a:r>
            <a:r>
              <a:rPr lang="en-US" sz="2000" b="1" i="0" dirty="0">
                <a:solidFill>
                  <a:srgbClr val="000099"/>
                </a:solidFill>
                <a:effectLst/>
              </a:rPr>
              <a:t>), City</a:t>
            </a:r>
          </a:p>
          <a:p>
            <a:pPr algn="just"/>
            <a:r>
              <a:rPr lang="en-US" sz="2000" b="1" i="0" dirty="0">
                <a:solidFill>
                  <a:srgbClr val="000099"/>
                </a:solidFill>
                <a:effectLst/>
              </a:rPr>
              <a:t>FROM </a:t>
            </a:r>
            <a:r>
              <a:rPr lang="en-US" sz="2000" b="1" i="0" dirty="0" err="1">
                <a:solidFill>
                  <a:srgbClr val="000099"/>
                </a:solidFill>
                <a:effectLst/>
              </a:rPr>
              <a:t>Employee_Info</a:t>
            </a:r>
            <a:endParaRPr lang="en-US" sz="2000" b="1" i="0" dirty="0">
              <a:solidFill>
                <a:srgbClr val="000099"/>
              </a:solidFill>
              <a:effectLst/>
            </a:endParaRPr>
          </a:p>
          <a:p>
            <a:pPr algn="just"/>
            <a:r>
              <a:rPr lang="en-US" sz="2000" b="1" i="0" dirty="0">
                <a:solidFill>
                  <a:srgbClr val="000099"/>
                </a:solidFill>
                <a:effectLst/>
              </a:rPr>
              <a:t>GROUP BY City;</a:t>
            </a:r>
            <a:endParaRPr lang="en-IN" sz="2000" b="1" dirty="0">
              <a:solidFill>
                <a:srgbClr val="000099"/>
              </a:solidFill>
            </a:endParaRPr>
          </a:p>
        </p:txBody>
      </p:sp>
      <p:sp>
        <p:nvSpPr>
          <p:cNvPr id="4" name="Content Placeholder 2">
            <a:extLst>
              <a:ext uri="{FF2B5EF4-FFF2-40B4-BE49-F238E27FC236}">
                <a16:creationId xmlns="" xmlns:a16="http://schemas.microsoft.com/office/drawing/2014/main" id="{F3978105-87DA-253E-2BFD-E7DF5CC01AA2}"/>
              </a:ext>
            </a:extLst>
          </p:cNvPr>
          <p:cNvSpPr txBox="1">
            <a:spLocks/>
          </p:cNvSpPr>
          <p:nvPr/>
        </p:nvSpPr>
        <p:spPr>
          <a:xfrm>
            <a:off x="6331527" y="171161"/>
            <a:ext cx="5500255" cy="651567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u="sng" dirty="0">
                <a:effectLst/>
              </a:rPr>
              <a:t>The ‘HAVING’ Clause</a:t>
            </a:r>
          </a:p>
          <a:p>
            <a:pPr algn="just"/>
            <a:r>
              <a:rPr lang="en-US" b="1" i="0" dirty="0">
                <a:effectLst/>
              </a:rPr>
              <a:t>The ‘HAVING’ clause is used in SQL because the WHERE keyword cannot be used everywhere.</a:t>
            </a:r>
          </a:p>
          <a:p>
            <a:pPr algn="just"/>
            <a:r>
              <a:rPr lang="en-US" b="1" i="0" dirty="0">
                <a:solidFill>
                  <a:srgbClr val="C00000"/>
                </a:solidFill>
                <a:effectLst/>
              </a:rPr>
              <a:t>Syntax :SELECT </a:t>
            </a:r>
            <a:r>
              <a:rPr lang="en-US" b="1" i="0" dirty="0" err="1">
                <a:solidFill>
                  <a:srgbClr val="C00000"/>
                </a:solidFill>
                <a:effectLst/>
              </a:rPr>
              <a:t>ColumnName</a:t>
            </a:r>
            <a:r>
              <a:rPr lang="en-US" b="1" i="0" dirty="0">
                <a:solidFill>
                  <a:srgbClr val="C00000"/>
                </a:solidFill>
                <a:effectLst/>
              </a:rPr>
              <a:t>(s)</a:t>
            </a:r>
          </a:p>
          <a:p>
            <a:pPr algn="just"/>
            <a:r>
              <a:rPr lang="en-US" b="1" i="0" dirty="0">
                <a:solidFill>
                  <a:srgbClr val="C00000"/>
                </a:solidFill>
                <a:effectLst/>
              </a:rPr>
              <a:t>FROM </a:t>
            </a:r>
            <a:r>
              <a:rPr lang="en-US" b="1" i="0" dirty="0" err="1">
                <a:solidFill>
                  <a:srgbClr val="C00000"/>
                </a:solidFill>
                <a:effectLst/>
              </a:rPr>
              <a:t>TableName</a:t>
            </a:r>
            <a:endParaRPr lang="en-US" b="1" i="0" dirty="0">
              <a:solidFill>
                <a:srgbClr val="C00000"/>
              </a:solidFill>
              <a:effectLst/>
            </a:endParaRPr>
          </a:p>
          <a:p>
            <a:pPr algn="just"/>
            <a:r>
              <a:rPr lang="en-US" b="1" i="0" dirty="0">
                <a:solidFill>
                  <a:srgbClr val="C00000"/>
                </a:solidFill>
                <a:effectLst/>
              </a:rPr>
              <a:t>WHERE Condition</a:t>
            </a:r>
          </a:p>
          <a:p>
            <a:pPr algn="just"/>
            <a:r>
              <a:rPr lang="en-US" b="1" i="0" dirty="0">
                <a:solidFill>
                  <a:srgbClr val="C00000"/>
                </a:solidFill>
                <a:effectLst/>
              </a:rPr>
              <a:t>GROUP BY </a:t>
            </a:r>
            <a:r>
              <a:rPr lang="en-US" b="1" i="0" dirty="0" err="1">
                <a:solidFill>
                  <a:srgbClr val="C00000"/>
                </a:solidFill>
                <a:effectLst/>
              </a:rPr>
              <a:t>ColumnName</a:t>
            </a:r>
            <a:r>
              <a:rPr lang="en-US" b="1" i="0" dirty="0">
                <a:solidFill>
                  <a:srgbClr val="C00000"/>
                </a:solidFill>
                <a:effectLst/>
              </a:rPr>
              <a:t>(s)</a:t>
            </a:r>
          </a:p>
          <a:p>
            <a:pPr algn="just"/>
            <a:r>
              <a:rPr lang="en-US" b="1" i="0" dirty="0">
                <a:solidFill>
                  <a:srgbClr val="C00000"/>
                </a:solidFill>
                <a:effectLst/>
              </a:rPr>
              <a:t>HAVING Condition</a:t>
            </a:r>
          </a:p>
          <a:p>
            <a:pPr algn="just"/>
            <a:r>
              <a:rPr lang="en-US" b="1" i="0" dirty="0">
                <a:solidFill>
                  <a:srgbClr val="C00000"/>
                </a:solidFill>
                <a:effectLst/>
              </a:rPr>
              <a:t>ORDER BY </a:t>
            </a:r>
            <a:r>
              <a:rPr lang="en-US" b="1" i="0" dirty="0" err="1">
                <a:solidFill>
                  <a:srgbClr val="C00000"/>
                </a:solidFill>
                <a:effectLst/>
              </a:rPr>
              <a:t>ColumnName</a:t>
            </a:r>
            <a:r>
              <a:rPr lang="en-US" b="1" i="0" dirty="0">
                <a:solidFill>
                  <a:srgbClr val="C00000"/>
                </a:solidFill>
                <a:effectLst/>
              </a:rPr>
              <a:t>(s);</a:t>
            </a:r>
          </a:p>
          <a:p>
            <a:pPr algn="just"/>
            <a:r>
              <a:rPr lang="en-US" b="1" i="0" dirty="0">
                <a:effectLst/>
              </a:rPr>
              <a:t>Example</a:t>
            </a:r>
          </a:p>
          <a:p>
            <a:pPr algn="just"/>
            <a:r>
              <a:rPr lang="en-US" b="1" i="0" dirty="0">
                <a:effectLst/>
              </a:rPr>
              <a:t>/*  To list the number of employees in each city. The employees should be sorted high to low and only those cities must be included who have more than 5 employees:*/</a:t>
            </a:r>
          </a:p>
          <a:p>
            <a:pPr algn="just"/>
            <a:r>
              <a:rPr lang="en-US" b="1" i="0" dirty="0">
                <a:solidFill>
                  <a:srgbClr val="000099"/>
                </a:solidFill>
                <a:effectLst/>
              </a:rPr>
              <a:t>SELECT COUNT(</a:t>
            </a:r>
            <a:r>
              <a:rPr lang="en-US" b="1" i="0" dirty="0" err="1">
                <a:solidFill>
                  <a:srgbClr val="000099"/>
                </a:solidFill>
                <a:effectLst/>
              </a:rPr>
              <a:t>EmployeeID</a:t>
            </a:r>
            <a:r>
              <a:rPr lang="en-US" b="1" i="0" dirty="0">
                <a:solidFill>
                  <a:srgbClr val="000099"/>
                </a:solidFill>
                <a:effectLst/>
              </a:rPr>
              <a:t>), City</a:t>
            </a:r>
          </a:p>
          <a:p>
            <a:pPr algn="just"/>
            <a:r>
              <a:rPr lang="en-US" b="1" i="0" dirty="0">
                <a:solidFill>
                  <a:srgbClr val="000099"/>
                </a:solidFill>
                <a:effectLst/>
              </a:rPr>
              <a:t>FROM </a:t>
            </a:r>
            <a:r>
              <a:rPr lang="en-US" b="1" i="0" dirty="0" err="1">
                <a:solidFill>
                  <a:srgbClr val="000099"/>
                </a:solidFill>
                <a:effectLst/>
              </a:rPr>
              <a:t>Employee_Info</a:t>
            </a:r>
            <a:endParaRPr lang="en-US" b="1" i="0" dirty="0">
              <a:solidFill>
                <a:srgbClr val="000099"/>
              </a:solidFill>
              <a:effectLst/>
            </a:endParaRPr>
          </a:p>
          <a:p>
            <a:pPr algn="just"/>
            <a:r>
              <a:rPr lang="en-US" b="1" i="0" dirty="0">
                <a:solidFill>
                  <a:srgbClr val="000099"/>
                </a:solidFill>
                <a:effectLst/>
              </a:rPr>
              <a:t>GROUP BY City</a:t>
            </a:r>
          </a:p>
          <a:p>
            <a:pPr algn="just"/>
            <a:r>
              <a:rPr lang="en-US" b="1" i="0" dirty="0">
                <a:solidFill>
                  <a:srgbClr val="000099"/>
                </a:solidFill>
                <a:effectLst/>
              </a:rPr>
              <a:t>HAVING COUNT(</a:t>
            </a:r>
            <a:r>
              <a:rPr lang="en-US" b="1" i="0" dirty="0" err="1">
                <a:solidFill>
                  <a:srgbClr val="000099"/>
                </a:solidFill>
                <a:effectLst/>
              </a:rPr>
              <a:t>EmployeeID</a:t>
            </a:r>
            <a:r>
              <a:rPr lang="en-US" b="1" i="0" dirty="0">
                <a:solidFill>
                  <a:srgbClr val="000099"/>
                </a:solidFill>
                <a:effectLst/>
              </a:rPr>
              <a:t>) &gt; 2</a:t>
            </a:r>
          </a:p>
          <a:p>
            <a:pPr algn="just"/>
            <a:r>
              <a:rPr lang="en-US" b="1" i="0" dirty="0">
                <a:solidFill>
                  <a:srgbClr val="000099"/>
                </a:solidFill>
                <a:effectLst/>
              </a:rPr>
              <a:t>ORDER BY COUNT(</a:t>
            </a:r>
            <a:r>
              <a:rPr lang="en-US" b="1" i="0" dirty="0" err="1">
                <a:solidFill>
                  <a:srgbClr val="000099"/>
                </a:solidFill>
                <a:effectLst/>
              </a:rPr>
              <a:t>EmployeeID</a:t>
            </a:r>
            <a:r>
              <a:rPr lang="en-US" b="1" i="0" dirty="0">
                <a:solidFill>
                  <a:srgbClr val="000099"/>
                </a:solidFill>
                <a:effectLst/>
              </a:rPr>
              <a:t>) DESC;</a:t>
            </a:r>
            <a:endParaRPr lang="en-IN" sz="2400" b="1" dirty="0">
              <a:solidFill>
                <a:srgbClr val="000099"/>
              </a:solidFill>
            </a:endParaRPr>
          </a:p>
        </p:txBody>
      </p:sp>
    </p:spTree>
    <p:extLst>
      <p:ext uri="{BB962C8B-B14F-4D97-AF65-F5344CB8AC3E}">
        <p14:creationId xmlns:p14="http://schemas.microsoft.com/office/powerpoint/2010/main" val="375355554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ontent Placeholder 20"/>
          <p:cNvGraphicFramePr>
            <a:graphicFrameLocks noGrp="1"/>
          </p:cNvGraphicFramePr>
          <p:nvPr>
            <p:ph idx="1"/>
            <p:extLst>
              <p:ext uri="{D42A27DB-BD31-4B8C-83A1-F6EECF244321}">
                <p14:modId xmlns:p14="http://schemas.microsoft.com/office/powerpoint/2010/main" val="561236622"/>
              </p:ext>
            </p:extLst>
          </p:nvPr>
        </p:nvGraphicFramePr>
        <p:xfrm>
          <a:off x="1300766" y="1584101"/>
          <a:ext cx="9015210" cy="4353059"/>
        </p:xfrm>
        <a:graphic>
          <a:graphicData uri="http://schemas.openxmlformats.org/drawingml/2006/table">
            <a:tbl>
              <a:tblPr>
                <a:tableStyleId>{616DA210-FB5B-4158-B5E0-FEB733F419BA}</a:tableStyleId>
              </a:tblPr>
              <a:tblGrid>
                <a:gridCol w="4507605"/>
                <a:gridCol w="4507605"/>
              </a:tblGrid>
              <a:tr h="611587">
                <a:tc>
                  <a:txBody>
                    <a:bodyPr/>
                    <a:lstStyle/>
                    <a:p>
                      <a:pPr algn="l" fontAlgn="base"/>
                      <a:r>
                        <a:rPr lang="en-US" b="1" dirty="0">
                          <a:effectLst/>
                        </a:rPr>
                        <a:t>WHERE</a:t>
                      </a:r>
                    </a:p>
                  </a:txBody>
                  <a:tcPr marR="95250" marT="57150" marB="57150" anchor="ctr">
                    <a:solidFill>
                      <a:schemeClr val="accent1">
                        <a:lumMod val="60000"/>
                        <a:lumOff val="40000"/>
                      </a:schemeClr>
                    </a:solidFill>
                  </a:tcPr>
                </a:tc>
                <a:tc>
                  <a:txBody>
                    <a:bodyPr/>
                    <a:lstStyle/>
                    <a:p>
                      <a:pPr algn="l" fontAlgn="base"/>
                      <a:r>
                        <a:rPr lang="en-US" b="1" dirty="0">
                          <a:effectLst/>
                        </a:rPr>
                        <a:t>HAVING</a:t>
                      </a:r>
                    </a:p>
                  </a:txBody>
                  <a:tcPr marR="95250" marT="57150" marB="57150" anchor="ctr">
                    <a:solidFill>
                      <a:schemeClr val="accent1">
                        <a:lumMod val="60000"/>
                        <a:lumOff val="40000"/>
                      </a:schemeClr>
                    </a:solidFill>
                  </a:tcPr>
                </a:tc>
              </a:tr>
              <a:tr h="1043295">
                <a:tc>
                  <a:txBody>
                    <a:bodyPr/>
                    <a:lstStyle/>
                    <a:p>
                      <a:pPr algn="l" fontAlgn="base"/>
                      <a:r>
                        <a:rPr lang="en-US">
                          <a:effectLst/>
                        </a:rPr>
                        <a:t>It is used to filter data directly on the table.</a:t>
                      </a:r>
                      <a:endParaRPr lang="en-US" b="0">
                        <a:effectLst/>
                      </a:endParaRPr>
                    </a:p>
                  </a:txBody>
                  <a:tcPr marR="95250" marT="57150" marB="57150" anchor="ctr"/>
                </a:tc>
                <a:tc>
                  <a:txBody>
                    <a:bodyPr/>
                    <a:lstStyle/>
                    <a:p>
                      <a:pPr algn="l" fontAlgn="base"/>
                      <a:r>
                        <a:rPr lang="en-US">
                          <a:effectLst/>
                        </a:rPr>
                        <a:t>It is used to filter the data of groups created on a table.</a:t>
                      </a:r>
                      <a:endParaRPr lang="en-US" b="0">
                        <a:effectLst/>
                      </a:endParaRPr>
                    </a:p>
                  </a:txBody>
                  <a:tcPr marR="95250" marT="57150" marB="57150" anchor="ctr"/>
                </a:tc>
              </a:tr>
              <a:tr h="611587">
                <a:tc>
                  <a:txBody>
                    <a:bodyPr/>
                    <a:lstStyle/>
                    <a:p>
                      <a:pPr algn="l" fontAlgn="base"/>
                      <a:r>
                        <a:rPr lang="en-US" dirty="0">
                          <a:effectLst/>
                        </a:rPr>
                        <a:t>It is applied as a row operation.</a:t>
                      </a:r>
                      <a:endParaRPr lang="en-US" b="0" dirty="0">
                        <a:effectLst/>
                      </a:endParaRPr>
                    </a:p>
                  </a:txBody>
                  <a:tcPr marR="95250" marT="57150" marB="57150" anchor="ctr"/>
                </a:tc>
                <a:tc>
                  <a:txBody>
                    <a:bodyPr/>
                    <a:lstStyle/>
                    <a:p>
                      <a:pPr algn="l" fontAlgn="base"/>
                      <a:r>
                        <a:rPr lang="en-US">
                          <a:effectLst/>
                        </a:rPr>
                        <a:t>It is applied as a column operation.</a:t>
                      </a:r>
                      <a:endParaRPr lang="en-US" b="0">
                        <a:effectLst/>
                      </a:endParaRPr>
                    </a:p>
                  </a:txBody>
                  <a:tcPr marR="95250" marT="57150" marB="57150" anchor="ctr"/>
                </a:tc>
              </a:tr>
              <a:tr h="1043295">
                <a:tc>
                  <a:txBody>
                    <a:bodyPr/>
                    <a:lstStyle/>
                    <a:p>
                      <a:pPr algn="l" fontAlgn="base"/>
                      <a:r>
                        <a:rPr lang="en-US" dirty="0">
                          <a:effectLst/>
                        </a:rPr>
                        <a:t>The WHERE clause pulls only the filter data based on condition.</a:t>
                      </a:r>
                      <a:endParaRPr lang="en-US" b="0" dirty="0">
                        <a:effectLst/>
                      </a:endParaRPr>
                    </a:p>
                  </a:txBody>
                  <a:tcPr marR="95250" marT="57150" marB="57150" anchor="ctr"/>
                </a:tc>
                <a:tc>
                  <a:txBody>
                    <a:bodyPr/>
                    <a:lstStyle/>
                    <a:p>
                      <a:pPr algn="l" fontAlgn="base"/>
                      <a:r>
                        <a:rPr lang="en-US">
                          <a:effectLst/>
                        </a:rPr>
                        <a:t>The HAVING clause fetches all data before applying the filter condition.</a:t>
                      </a:r>
                      <a:endParaRPr lang="en-US" b="0">
                        <a:effectLst/>
                      </a:endParaRPr>
                    </a:p>
                  </a:txBody>
                  <a:tcPr marR="95250" marT="57150" marB="57150" anchor="ctr"/>
                </a:tc>
              </a:tr>
              <a:tr h="1043295">
                <a:tc>
                  <a:txBody>
                    <a:bodyPr/>
                    <a:lstStyle/>
                    <a:p>
                      <a:pPr algn="l" fontAlgn="base"/>
                      <a:r>
                        <a:rPr lang="en-US" dirty="0">
                          <a:effectLst/>
                        </a:rPr>
                        <a:t>You cannot use aggregate functions on the WHERE condition.</a:t>
                      </a:r>
                      <a:endParaRPr lang="en-US" b="0" dirty="0">
                        <a:effectLst/>
                      </a:endParaRPr>
                    </a:p>
                  </a:txBody>
                  <a:tcPr marR="95250" marT="57150" marB="57150" anchor="ctr"/>
                </a:tc>
                <a:tc>
                  <a:txBody>
                    <a:bodyPr/>
                    <a:lstStyle/>
                    <a:p>
                      <a:pPr algn="l" fontAlgn="base"/>
                      <a:r>
                        <a:rPr lang="en-US" dirty="0">
                          <a:effectLst/>
                        </a:rPr>
                        <a:t>It is used on aggregate function </a:t>
                      </a:r>
                      <a:r>
                        <a:rPr lang="en-US" dirty="0" smtClean="0">
                          <a:effectLst/>
                        </a:rPr>
                        <a:t>on </a:t>
                      </a:r>
                      <a:r>
                        <a:rPr lang="en-US" dirty="0">
                          <a:effectLst/>
                        </a:rPr>
                        <a:t>which group has performed.</a:t>
                      </a:r>
                      <a:endParaRPr lang="en-US" b="0" dirty="0">
                        <a:effectLst/>
                      </a:endParaRPr>
                    </a:p>
                  </a:txBody>
                  <a:tcPr marR="95250" marT="57150" marB="57150" anchor="ctr"/>
                </a:tc>
              </a:tr>
            </a:tbl>
          </a:graphicData>
        </a:graphic>
      </p:graphicFrame>
    </p:spTree>
    <p:extLst>
      <p:ext uri="{BB962C8B-B14F-4D97-AF65-F5344CB8AC3E}">
        <p14:creationId xmlns:p14="http://schemas.microsoft.com/office/powerpoint/2010/main" val="31173343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7755" y="99073"/>
            <a:ext cx="11847490" cy="755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Examples</a:t>
            </a: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4950" y="99073"/>
            <a:ext cx="6877050"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591" y="4082669"/>
            <a:ext cx="87630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r="2133"/>
          <a:stretch/>
        </p:blipFill>
        <p:spPr bwMode="auto">
          <a:xfrm>
            <a:off x="2741959" y="5350477"/>
            <a:ext cx="8958263"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210" y="99073"/>
            <a:ext cx="5447159"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581749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2458"/>
          </a:xfrm>
        </p:spPr>
        <p:txBody>
          <a:bodyPr/>
          <a:lstStyle/>
          <a:p>
            <a:r>
              <a:rPr lang="en-US" b="1" dirty="0" smtClean="0"/>
              <a:t>Having and Where Clause Example</a:t>
            </a:r>
            <a:endParaRPr lang="en-US" b="1" dirty="0"/>
          </a:p>
        </p:txBody>
      </p:sp>
      <p:sp>
        <p:nvSpPr>
          <p:cNvPr id="3" name="Content Placeholder 2"/>
          <p:cNvSpPr>
            <a:spLocks noGrp="1"/>
          </p:cNvSpPr>
          <p:nvPr>
            <p:ph idx="1"/>
          </p:nvPr>
        </p:nvSpPr>
        <p:spPr>
          <a:xfrm>
            <a:off x="8010659" y="1400622"/>
            <a:ext cx="3111322" cy="4351338"/>
          </a:xfrm>
        </p:spPr>
        <p:txBody>
          <a:bodyPr>
            <a:normAutofit/>
          </a:bodyPr>
          <a:lstStyle/>
          <a:p>
            <a:r>
              <a:rPr lang="en-US" dirty="0" smtClean="0"/>
              <a:t>List the book details whose price is less than 350 [Table 1]</a:t>
            </a:r>
          </a:p>
          <a:p>
            <a:endParaRPr lang="en-US" dirty="0"/>
          </a:p>
          <a:p>
            <a:r>
              <a:rPr lang="en-US" dirty="0" smtClean="0"/>
              <a:t>Identify  language and count number of books for </a:t>
            </a:r>
            <a:r>
              <a:rPr lang="en-US" smtClean="0"/>
              <a:t>the language </a:t>
            </a:r>
            <a:r>
              <a:rPr lang="en-US" dirty="0" smtClean="0"/>
              <a:t>having multiple books.</a:t>
            </a:r>
          </a:p>
          <a:p>
            <a:endParaRPr lang="en-US" dirty="0"/>
          </a:p>
        </p:txBody>
      </p:sp>
      <p:pic>
        <p:nvPicPr>
          <p:cNvPr id="3074"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81949" y="1535672"/>
            <a:ext cx="64674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149" y="4018947"/>
            <a:ext cx="654367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137196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279" y="1100138"/>
            <a:ext cx="10315977" cy="5298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370078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CC901E-048E-3EE0-C405-549A6B603F5F}"/>
              </a:ext>
            </a:extLst>
          </p:cNvPr>
          <p:cNvSpPr>
            <a:spLocks noGrp="1"/>
          </p:cNvSpPr>
          <p:nvPr>
            <p:ph type="title"/>
          </p:nvPr>
        </p:nvSpPr>
        <p:spPr>
          <a:xfrm>
            <a:off x="332509" y="129599"/>
            <a:ext cx="10515600" cy="673966"/>
          </a:xfrm>
        </p:spPr>
        <p:txBody>
          <a:bodyPr>
            <a:normAutofit/>
          </a:bodyPr>
          <a:lstStyle/>
          <a:p>
            <a:r>
              <a:rPr lang="en-US" sz="4000" b="1" dirty="0">
                <a:latin typeface="+mn-lt"/>
              </a:rPr>
              <a:t>Aggregate Functions</a:t>
            </a:r>
          </a:p>
        </p:txBody>
      </p:sp>
      <p:sp>
        <p:nvSpPr>
          <p:cNvPr id="3" name="Content Placeholder 2">
            <a:extLst>
              <a:ext uri="{FF2B5EF4-FFF2-40B4-BE49-F238E27FC236}">
                <a16:creationId xmlns="" xmlns:a16="http://schemas.microsoft.com/office/drawing/2014/main" id="{82612606-7C8E-6553-4466-4EFA6776D199}"/>
              </a:ext>
            </a:extLst>
          </p:cNvPr>
          <p:cNvSpPr>
            <a:spLocks noGrp="1"/>
          </p:cNvSpPr>
          <p:nvPr>
            <p:ph idx="1"/>
          </p:nvPr>
        </p:nvSpPr>
        <p:spPr>
          <a:xfrm>
            <a:off x="193963" y="955964"/>
            <a:ext cx="6068291" cy="5772437"/>
          </a:xfrm>
        </p:spPr>
        <p:txBody>
          <a:bodyPr>
            <a:normAutofit fontScale="92500" lnSpcReduction="20000"/>
          </a:bodyPr>
          <a:lstStyle/>
          <a:p>
            <a:pPr algn="just"/>
            <a:r>
              <a:rPr lang="en-US" b="0" i="0" dirty="0">
                <a:solidFill>
                  <a:srgbClr val="202124"/>
                </a:solidFill>
                <a:effectLst/>
              </a:rPr>
              <a:t>An aggregate function in SQL </a:t>
            </a:r>
            <a:r>
              <a:rPr lang="en-US" b="1" i="0" dirty="0">
                <a:solidFill>
                  <a:srgbClr val="202124"/>
                </a:solidFill>
                <a:effectLst/>
              </a:rPr>
              <a:t>performs a calculation on multiple values and returns a single value</a:t>
            </a:r>
            <a:r>
              <a:rPr lang="en-US" b="0" i="0" dirty="0">
                <a:solidFill>
                  <a:srgbClr val="202124"/>
                </a:solidFill>
                <a:effectLst/>
              </a:rPr>
              <a:t>. </a:t>
            </a:r>
          </a:p>
          <a:p>
            <a:pPr algn="just"/>
            <a:r>
              <a:rPr lang="en-US" b="0" i="0" dirty="0">
                <a:solidFill>
                  <a:srgbClr val="202124"/>
                </a:solidFill>
                <a:effectLst/>
              </a:rPr>
              <a:t>SQL provides many aggregate functions that include </a:t>
            </a:r>
            <a:r>
              <a:rPr lang="en-US" b="1" i="0" dirty="0">
                <a:solidFill>
                  <a:srgbClr val="000099"/>
                </a:solidFill>
                <a:effectLst/>
              </a:rPr>
              <a:t>avg, count, sum, min, max</a:t>
            </a:r>
            <a:r>
              <a:rPr lang="en-US" b="0" i="0" dirty="0">
                <a:solidFill>
                  <a:srgbClr val="202124"/>
                </a:solidFill>
                <a:effectLst/>
              </a:rPr>
              <a:t>, etc. </a:t>
            </a:r>
          </a:p>
          <a:p>
            <a:pPr algn="just"/>
            <a:r>
              <a:rPr lang="en-US" b="0" i="0" dirty="0">
                <a:solidFill>
                  <a:srgbClr val="202124"/>
                </a:solidFill>
                <a:effectLst/>
              </a:rPr>
              <a:t>An </a:t>
            </a:r>
            <a:r>
              <a:rPr lang="en-US" b="1" i="0" dirty="0">
                <a:solidFill>
                  <a:srgbClr val="C00000"/>
                </a:solidFill>
                <a:effectLst/>
              </a:rPr>
              <a:t>aggregate function ignores NULL values when it performs the calculation, except for the count function.</a:t>
            </a:r>
          </a:p>
          <a:p>
            <a:pPr algn="just"/>
            <a:r>
              <a:rPr lang="en-US" b="1" u="sng" dirty="0"/>
              <a:t>MIN() Function</a:t>
            </a:r>
          </a:p>
          <a:p>
            <a:pPr algn="just"/>
            <a:r>
              <a:rPr lang="en-US" dirty="0"/>
              <a:t>The MIN function returns the smallest value of the selected column in a table.</a:t>
            </a:r>
          </a:p>
          <a:p>
            <a:pPr algn="just"/>
            <a:r>
              <a:rPr lang="en-US" b="1" dirty="0">
                <a:solidFill>
                  <a:srgbClr val="C00000"/>
                </a:solidFill>
              </a:rPr>
              <a:t>Syntax</a:t>
            </a:r>
          </a:p>
          <a:p>
            <a:pPr algn="just"/>
            <a:r>
              <a:rPr lang="en-US" b="1" dirty="0">
                <a:solidFill>
                  <a:srgbClr val="C00000"/>
                </a:solidFill>
              </a:rPr>
              <a:t>SELECT MIN(</a:t>
            </a:r>
            <a:r>
              <a:rPr lang="en-US" b="1" dirty="0" err="1">
                <a:solidFill>
                  <a:srgbClr val="C00000"/>
                </a:solidFill>
              </a:rPr>
              <a:t>ColumnName</a:t>
            </a:r>
            <a:r>
              <a:rPr lang="en-US" b="1" dirty="0">
                <a:solidFill>
                  <a:srgbClr val="C00000"/>
                </a:solidFill>
              </a:rPr>
              <a:t>)</a:t>
            </a:r>
          </a:p>
          <a:p>
            <a:pPr algn="just"/>
            <a:r>
              <a:rPr lang="en-US" b="1" dirty="0">
                <a:solidFill>
                  <a:srgbClr val="C00000"/>
                </a:solidFill>
              </a:rPr>
              <a:t>FROM </a:t>
            </a:r>
            <a:r>
              <a:rPr lang="en-US" b="1" dirty="0" err="1">
                <a:solidFill>
                  <a:srgbClr val="C00000"/>
                </a:solidFill>
              </a:rPr>
              <a:t>TableName</a:t>
            </a:r>
            <a:endParaRPr lang="en-US" b="1" dirty="0">
              <a:solidFill>
                <a:srgbClr val="C00000"/>
              </a:solidFill>
            </a:endParaRPr>
          </a:p>
          <a:p>
            <a:pPr algn="just"/>
            <a:r>
              <a:rPr lang="en-US" b="1" dirty="0">
                <a:solidFill>
                  <a:srgbClr val="C00000"/>
                </a:solidFill>
              </a:rPr>
              <a:t>WHERE Condition;</a:t>
            </a:r>
          </a:p>
          <a:p>
            <a:pPr algn="just"/>
            <a:endParaRPr lang="en-US" dirty="0"/>
          </a:p>
        </p:txBody>
      </p:sp>
      <p:sp>
        <p:nvSpPr>
          <p:cNvPr id="4" name="Content Placeholder 2">
            <a:extLst>
              <a:ext uri="{FF2B5EF4-FFF2-40B4-BE49-F238E27FC236}">
                <a16:creationId xmlns="" xmlns:a16="http://schemas.microsoft.com/office/drawing/2014/main" id="{C011BFA8-9ED6-E4FC-7927-68E93E04B572}"/>
              </a:ext>
            </a:extLst>
          </p:cNvPr>
          <p:cNvSpPr txBox="1">
            <a:spLocks/>
          </p:cNvSpPr>
          <p:nvPr/>
        </p:nvSpPr>
        <p:spPr>
          <a:xfrm>
            <a:off x="6428510" y="789711"/>
            <a:ext cx="5430980" cy="577243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Example</a:t>
            </a:r>
          </a:p>
          <a:p>
            <a:pPr algn="just"/>
            <a:r>
              <a:rPr lang="en-US" b="1" dirty="0">
                <a:solidFill>
                  <a:srgbClr val="000099"/>
                </a:solidFill>
              </a:rPr>
              <a:t>SELECT MIN(</a:t>
            </a:r>
            <a:r>
              <a:rPr lang="en-US" b="1" dirty="0" err="1">
                <a:solidFill>
                  <a:srgbClr val="000099"/>
                </a:solidFill>
              </a:rPr>
              <a:t>EmployeeID</a:t>
            </a:r>
            <a:r>
              <a:rPr lang="en-US" b="1" dirty="0">
                <a:solidFill>
                  <a:srgbClr val="000099"/>
                </a:solidFill>
              </a:rPr>
              <a:t>) AS </a:t>
            </a:r>
            <a:r>
              <a:rPr lang="en-US" b="1" dirty="0" err="1">
                <a:solidFill>
                  <a:srgbClr val="000099"/>
                </a:solidFill>
              </a:rPr>
              <a:t>SmallestID</a:t>
            </a:r>
            <a:endParaRPr lang="en-US" b="1" dirty="0">
              <a:solidFill>
                <a:srgbClr val="000099"/>
              </a:solidFill>
            </a:endParaRPr>
          </a:p>
          <a:p>
            <a:pPr algn="just"/>
            <a:r>
              <a:rPr lang="en-US" b="1" dirty="0">
                <a:solidFill>
                  <a:srgbClr val="000099"/>
                </a:solidFill>
              </a:rPr>
              <a:t>FROM </a:t>
            </a:r>
            <a:r>
              <a:rPr lang="en-US" b="1" dirty="0" err="1">
                <a:solidFill>
                  <a:srgbClr val="000099"/>
                </a:solidFill>
              </a:rPr>
              <a:t>Employee_Info</a:t>
            </a:r>
            <a:r>
              <a:rPr lang="en-US" b="1" dirty="0">
                <a:solidFill>
                  <a:srgbClr val="000099"/>
                </a:solidFill>
              </a:rPr>
              <a:t>;</a:t>
            </a:r>
          </a:p>
          <a:p>
            <a:pPr algn="just"/>
            <a:r>
              <a:rPr lang="en-US" b="1" u="sng" dirty="0"/>
              <a:t>MAX() Function</a:t>
            </a:r>
          </a:p>
          <a:p>
            <a:pPr algn="just"/>
            <a:r>
              <a:rPr lang="en-US" dirty="0"/>
              <a:t>The MAX function returns the largest value of the selected column in a table.</a:t>
            </a:r>
          </a:p>
          <a:p>
            <a:pPr algn="just"/>
            <a:r>
              <a:rPr lang="en-US" b="1" dirty="0">
                <a:solidFill>
                  <a:srgbClr val="C00000"/>
                </a:solidFill>
              </a:rPr>
              <a:t>Syntax</a:t>
            </a:r>
          </a:p>
          <a:p>
            <a:pPr algn="just"/>
            <a:r>
              <a:rPr lang="en-US" b="1" dirty="0">
                <a:solidFill>
                  <a:srgbClr val="C00000"/>
                </a:solidFill>
              </a:rPr>
              <a:t>SELECT MAX(</a:t>
            </a:r>
            <a:r>
              <a:rPr lang="en-US" b="1" dirty="0" err="1">
                <a:solidFill>
                  <a:srgbClr val="C00000"/>
                </a:solidFill>
              </a:rPr>
              <a:t>ColumnName</a:t>
            </a:r>
            <a:r>
              <a:rPr lang="en-US" b="1" dirty="0">
                <a:solidFill>
                  <a:srgbClr val="C00000"/>
                </a:solidFill>
              </a:rPr>
              <a:t>)</a:t>
            </a:r>
          </a:p>
          <a:p>
            <a:pPr algn="just"/>
            <a:r>
              <a:rPr lang="en-US" b="1" dirty="0">
                <a:solidFill>
                  <a:srgbClr val="C00000"/>
                </a:solidFill>
              </a:rPr>
              <a:t>FROM </a:t>
            </a:r>
            <a:r>
              <a:rPr lang="en-US" b="1" dirty="0" err="1">
                <a:solidFill>
                  <a:srgbClr val="C00000"/>
                </a:solidFill>
              </a:rPr>
              <a:t>TableName</a:t>
            </a:r>
            <a:endParaRPr lang="en-US" b="1" dirty="0">
              <a:solidFill>
                <a:srgbClr val="C00000"/>
              </a:solidFill>
            </a:endParaRPr>
          </a:p>
          <a:p>
            <a:pPr algn="just"/>
            <a:r>
              <a:rPr lang="en-US" b="1" dirty="0">
                <a:solidFill>
                  <a:srgbClr val="C00000"/>
                </a:solidFill>
              </a:rPr>
              <a:t>WHERE Condition;</a:t>
            </a:r>
          </a:p>
          <a:p>
            <a:pPr algn="just"/>
            <a:r>
              <a:rPr lang="en-US" dirty="0"/>
              <a:t>Example</a:t>
            </a:r>
          </a:p>
          <a:p>
            <a:pPr algn="just"/>
            <a:r>
              <a:rPr lang="en-US" b="1" dirty="0">
                <a:solidFill>
                  <a:srgbClr val="000099"/>
                </a:solidFill>
              </a:rPr>
              <a:t>SELECT MAX(Salary) AS </a:t>
            </a:r>
            <a:r>
              <a:rPr lang="en-US" b="1" dirty="0" err="1">
                <a:solidFill>
                  <a:srgbClr val="000099"/>
                </a:solidFill>
              </a:rPr>
              <a:t>LargestFees</a:t>
            </a:r>
            <a:endParaRPr lang="en-US" b="1" dirty="0">
              <a:solidFill>
                <a:srgbClr val="000099"/>
              </a:solidFill>
            </a:endParaRPr>
          </a:p>
          <a:p>
            <a:pPr algn="just"/>
            <a:r>
              <a:rPr lang="en-US" b="1" dirty="0">
                <a:solidFill>
                  <a:srgbClr val="000099"/>
                </a:solidFill>
              </a:rPr>
              <a:t>FROM </a:t>
            </a:r>
            <a:r>
              <a:rPr lang="en-US" b="1" dirty="0" err="1">
                <a:solidFill>
                  <a:srgbClr val="000099"/>
                </a:solidFill>
              </a:rPr>
              <a:t>Employee_Salary</a:t>
            </a:r>
            <a:r>
              <a:rPr lang="en-US" b="1" dirty="0">
                <a:solidFill>
                  <a:srgbClr val="000099"/>
                </a:solidFill>
              </a:rPr>
              <a:t>;</a:t>
            </a:r>
          </a:p>
        </p:txBody>
      </p:sp>
    </p:spTree>
    <p:extLst>
      <p:ext uri="{BB962C8B-B14F-4D97-AF65-F5344CB8AC3E}">
        <p14:creationId xmlns:p14="http://schemas.microsoft.com/office/powerpoint/2010/main" val="286693523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02606"/>
            <a:ext cx="6635897" cy="3210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6903076" y="2104031"/>
            <a:ext cx="5125791" cy="1171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970582"/>
            <a:ext cx="6494363" cy="1792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5638963"/>
      </p:ext>
    </p:extLst>
  </p:cSld>
  <p:clrMapOvr>
    <a:masterClrMapping/>
  </p:clrMapOvr>
  <mc:AlternateContent xmlns:mc="http://schemas.openxmlformats.org/markup-compatibility/2006" xmlns:p14="http://schemas.microsoft.com/office/powerpoint/2010/main">
    <mc:Choice Requires="p14">
      <p:transition spd="slow" p14:dur="35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8338" y="1472850"/>
            <a:ext cx="10818253" cy="5077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210888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CC901E-048E-3EE0-C405-549A6B603F5F}"/>
              </a:ext>
            </a:extLst>
          </p:cNvPr>
          <p:cNvSpPr>
            <a:spLocks noGrp="1"/>
          </p:cNvSpPr>
          <p:nvPr>
            <p:ph type="title"/>
          </p:nvPr>
        </p:nvSpPr>
        <p:spPr>
          <a:xfrm>
            <a:off x="332509" y="129599"/>
            <a:ext cx="10515600" cy="673966"/>
          </a:xfrm>
        </p:spPr>
        <p:txBody>
          <a:bodyPr>
            <a:normAutofit/>
          </a:bodyPr>
          <a:lstStyle/>
          <a:p>
            <a:r>
              <a:rPr lang="en-US" sz="4000" b="1" dirty="0">
                <a:latin typeface="+mn-lt"/>
              </a:rPr>
              <a:t>Aggregate Functions</a:t>
            </a:r>
          </a:p>
        </p:txBody>
      </p:sp>
      <p:sp>
        <p:nvSpPr>
          <p:cNvPr id="3" name="Content Placeholder 2">
            <a:extLst>
              <a:ext uri="{FF2B5EF4-FFF2-40B4-BE49-F238E27FC236}">
                <a16:creationId xmlns="" xmlns:a16="http://schemas.microsoft.com/office/drawing/2014/main" id="{82612606-7C8E-6553-4466-4EFA6776D199}"/>
              </a:ext>
            </a:extLst>
          </p:cNvPr>
          <p:cNvSpPr>
            <a:spLocks noGrp="1"/>
          </p:cNvSpPr>
          <p:nvPr>
            <p:ph idx="1"/>
          </p:nvPr>
        </p:nvSpPr>
        <p:spPr>
          <a:xfrm>
            <a:off x="193963" y="955964"/>
            <a:ext cx="6068291" cy="5772437"/>
          </a:xfrm>
        </p:spPr>
        <p:txBody>
          <a:bodyPr>
            <a:normAutofit fontScale="92500" lnSpcReduction="20000"/>
          </a:bodyPr>
          <a:lstStyle/>
          <a:p>
            <a:pPr algn="just"/>
            <a:r>
              <a:rPr lang="en-US" b="1" i="0" u="sng" dirty="0">
                <a:effectLst/>
              </a:rPr>
              <a:t>COUNT() Function</a:t>
            </a:r>
          </a:p>
          <a:p>
            <a:pPr algn="just"/>
            <a:r>
              <a:rPr lang="en-US" b="0" i="0" dirty="0">
                <a:solidFill>
                  <a:srgbClr val="202124"/>
                </a:solidFill>
                <a:effectLst/>
              </a:rPr>
              <a:t>The COUNT function returns the number of rows which match the specified criteria.</a:t>
            </a:r>
          </a:p>
          <a:p>
            <a:pPr algn="just"/>
            <a:r>
              <a:rPr lang="en-US" b="1" dirty="0">
                <a:solidFill>
                  <a:srgbClr val="C00000"/>
                </a:solidFill>
              </a:rPr>
              <a:t>Syntax: SELECT COUNT(</a:t>
            </a:r>
            <a:r>
              <a:rPr lang="en-US" b="1" dirty="0" err="1">
                <a:solidFill>
                  <a:srgbClr val="C00000"/>
                </a:solidFill>
              </a:rPr>
              <a:t>ColumnName</a:t>
            </a:r>
            <a:r>
              <a:rPr lang="en-US" b="1" dirty="0">
                <a:solidFill>
                  <a:srgbClr val="C00000"/>
                </a:solidFill>
              </a:rPr>
              <a:t>) FROM </a:t>
            </a:r>
            <a:r>
              <a:rPr lang="en-US" b="1" dirty="0" err="1">
                <a:solidFill>
                  <a:srgbClr val="C00000"/>
                </a:solidFill>
              </a:rPr>
              <a:t>TableName</a:t>
            </a:r>
            <a:endParaRPr lang="en-US" b="1" dirty="0">
              <a:solidFill>
                <a:srgbClr val="C00000"/>
              </a:solidFill>
            </a:endParaRPr>
          </a:p>
          <a:p>
            <a:pPr algn="just"/>
            <a:r>
              <a:rPr lang="en-US" b="1" dirty="0">
                <a:solidFill>
                  <a:srgbClr val="C00000"/>
                </a:solidFill>
              </a:rPr>
              <a:t>WHERE Condition;</a:t>
            </a:r>
          </a:p>
          <a:p>
            <a:pPr algn="just"/>
            <a:r>
              <a:rPr lang="en-US" dirty="0"/>
              <a:t>Example</a:t>
            </a:r>
          </a:p>
          <a:p>
            <a:pPr algn="just"/>
            <a:r>
              <a:rPr lang="en-US" b="1" dirty="0">
                <a:solidFill>
                  <a:srgbClr val="000099"/>
                </a:solidFill>
              </a:rPr>
              <a:t>SELECT COUNT(</a:t>
            </a:r>
            <a:r>
              <a:rPr lang="en-US" b="1" dirty="0" err="1">
                <a:solidFill>
                  <a:srgbClr val="000099"/>
                </a:solidFill>
              </a:rPr>
              <a:t>EmployeeID</a:t>
            </a:r>
            <a:r>
              <a:rPr lang="en-US" b="1" dirty="0">
                <a:solidFill>
                  <a:srgbClr val="000099"/>
                </a:solidFill>
              </a:rPr>
              <a:t>)</a:t>
            </a:r>
          </a:p>
          <a:p>
            <a:pPr algn="just"/>
            <a:r>
              <a:rPr lang="en-US" b="1" dirty="0">
                <a:solidFill>
                  <a:srgbClr val="000099"/>
                </a:solidFill>
              </a:rPr>
              <a:t>FROM </a:t>
            </a:r>
            <a:r>
              <a:rPr lang="en-US" b="1" dirty="0" err="1">
                <a:solidFill>
                  <a:srgbClr val="000099"/>
                </a:solidFill>
              </a:rPr>
              <a:t>Employee_Info</a:t>
            </a:r>
            <a:r>
              <a:rPr lang="en-US" b="1" dirty="0">
                <a:solidFill>
                  <a:srgbClr val="000099"/>
                </a:solidFill>
              </a:rPr>
              <a:t>;</a:t>
            </a:r>
          </a:p>
          <a:p>
            <a:pPr algn="just"/>
            <a:r>
              <a:rPr lang="en-US" b="1" u="sng" dirty="0"/>
              <a:t>SUM() Function</a:t>
            </a:r>
          </a:p>
          <a:p>
            <a:pPr algn="just"/>
            <a:r>
              <a:rPr lang="en-US" dirty="0"/>
              <a:t>The SUM function returns the total sum of a numeric column that you choose.</a:t>
            </a:r>
          </a:p>
          <a:p>
            <a:pPr algn="just"/>
            <a:r>
              <a:rPr lang="en-US" b="1" dirty="0">
                <a:solidFill>
                  <a:srgbClr val="C00000"/>
                </a:solidFill>
              </a:rPr>
              <a:t>Syntax: SELECT SUM(</a:t>
            </a:r>
            <a:r>
              <a:rPr lang="en-US" b="1" dirty="0" err="1">
                <a:solidFill>
                  <a:srgbClr val="C00000"/>
                </a:solidFill>
              </a:rPr>
              <a:t>ColumnName</a:t>
            </a:r>
            <a:r>
              <a:rPr lang="en-US" b="1" dirty="0">
                <a:solidFill>
                  <a:srgbClr val="C00000"/>
                </a:solidFill>
              </a:rPr>
              <a:t>) FROM </a:t>
            </a:r>
            <a:r>
              <a:rPr lang="en-US" b="1" dirty="0" err="1">
                <a:solidFill>
                  <a:srgbClr val="C00000"/>
                </a:solidFill>
              </a:rPr>
              <a:t>TableName</a:t>
            </a:r>
            <a:r>
              <a:rPr lang="en-US" b="1" dirty="0">
                <a:solidFill>
                  <a:srgbClr val="C00000"/>
                </a:solidFill>
              </a:rPr>
              <a:t> WHERE Condition;</a:t>
            </a:r>
          </a:p>
        </p:txBody>
      </p:sp>
      <p:sp>
        <p:nvSpPr>
          <p:cNvPr id="4" name="Content Placeholder 2">
            <a:extLst>
              <a:ext uri="{FF2B5EF4-FFF2-40B4-BE49-F238E27FC236}">
                <a16:creationId xmlns="" xmlns:a16="http://schemas.microsoft.com/office/drawing/2014/main" id="{C011BFA8-9ED6-E4FC-7927-68E93E04B572}"/>
              </a:ext>
            </a:extLst>
          </p:cNvPr>
          <p:cNvSpPr txBox="1">
            <a:spLocks/>
          </p:cNvSpPr>
          <p:nvPr/>
        </p:nvSpPr>
        <p:spPr>
          <a:xfrm>
            <a:off x="6428510" y="129599"/>
            <a:ext cx="5430980" cy="643254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Example</a:t>
            </a:r>
          </a:p>
          <a:p>
            <a:pPr algn="just"/>
            <a:r>
              <a:rPr lang="en-US" b="1" dirty="0">
                <a:solidFill>
                  <a:srgbClr val="000099"/>
                </a:solidFill>
              </a:rPr>
              <a:t>SELECT SUM(Salary)</a:t>
            </a:r>
          </a:p>
          <a:p>
            <a:pPr algn="just"/>
            <a:r>
              <a:rPr lang="en-US" b="1" dirty="0">
                <a:solidFill>
                  <a:srgbClr val="000099"/>
                </a:solidFill>
              </a:rPr>
              <a:t>FROM </a:t>
            </a:r>
            <a:r>
              <a:rPr lang="en-US" b="1" dirty="0" err="1">
                <a:solidFill>
                  <a:srgbClr val="000099"/>
                </a:solidFill>
              </a:rPr>
              <a:t>Employee_Salary</a:t>
            </a:r>
            <a:r>
              <a:rPr lang="en-US" b="1" dirty="0">
                <a:solidFill>
                  <a:srgbClr val="000099"/>
                </a:solidFill>
              </a:rPr>
              <a:t>;</a:t>
            </a:r>
          </a:p>
          <a:p>
            <a:pPr algn="just"/>
            <a:r>
              <a:rPr lang="en-US" b="1" u="sng" dirty="0"/>
              <a:t>AVG() Function</a:t>
            </a:r>
          </a:p>
          <a:p>
            <a:pPr algn="just"/>
            <a:r>
              <a:rPr lang="en-US" dirty="0"/>
              <a:t>The AVG function returns the average value of a numeric column that you choose.</a:t>
            </a:r>
          </a:p>
          <a:p>
            <a:pPr algn="just"/>
            <a:r>
              <a:rPr lang="en-US" b="1" dirty="0">
                <a:solidFill>
                  <a:srgbClr val="C00000"/>
                </a:solidFill>
              </a:rPr>
              <a:t>Syntax SELECT AVG(</a:t>
            </a:r>
            <a:r>
              <a:rPr lang="en-US" b="1" dirty="0" err="1">
                <a:solidFill>
                  <a:srgbClr val="C00000"/>
                </a:solidFill>
              </a:rPr>
              <a:t>ColumnName</a:t>
            </a:r>
            <a:r>
              <a:rPr lang="en-US" b="1" dirty="0">
                <a:solidFill>
                  <a:srgbClr val="C00000"/>
                </a:solidFill>
              </a:rPr>
              <a:t>)</a:t>
            </a:r>
          </a:p>
          <a:p>
            <a:pPr algn="just"/>
            <a:r>
              <a:rPr lang="en-US" b="1" dirty="0">
                <a:solidFill>
                  <a:srgbClr val="C00000"/>
                </a:solidFill>
              </a:rPr>
              <a:t>FROM </a:t>
            </a:r>
            <a:r>
              <a:rPr lang="en-US" b="1" dirty="0" err="1">
                <a:solidFill>
                  <a:srgbClr val="C00000"/>
                </a:solidFill>
              </a:rPr>
              <a:t>TableName</a:t>
            </a:r>
            <a:r>
              <a:rPr lang="en-US" b="1" dirty="0">
                <a:solidFill>
                  <a:srgbClr val="C00000"/>
                </a:solidFill>
              </a:rPr>
              <a:t> WHERE Condition;</a:t>
            </a:r>
          </a:p>
          <a:p>
            <a:pPr algn="just"/>
            <a:r>
              <a:rPr lang="en-US" dirty="0"/>
              <a:t>Example</a:t>
            </a:r>
          </a:p>
          <a:p>
            <a:pPr algn="just"/>
            <a:r>
              <a:rPr lang="en-US" b="1" dirty="0">
                <a:solidFill>
                  <a:srgbClr val="000099"/>
                </a:solidFill>
              </a:rPr>
              <a:t>SELECT AVG(Salary) FROM </a:t>
            </a:r>
            <a:r>
              <a:rPr lang="en-US" b="1" dirty="0" err="1">
                <a:solidFill>
                  <a:srgbClr val="000099"/>
                </a:solidFill>
              </a:rPr>
              <a:t>Employee_Salary</a:t>
            </a:r>
            <a:r>
              <a:rPr lang="en-US" b="1" dirty="0">
                <a:solidFill>
                  <a:srgbClr val="000099"/>
                </a:solidFill>
              </a:rPr>
              <a:t>;</a:t>
            </a:r>
          </a:p>
        </p:txBody>
      </p:sp>
    </p:spTree>
    <p:extLst>
      <p:ext uri="{BB962C8B-B14F-4D97-AF65-F5344CB8AC3E}">
        <p14:creationId xmlns:p14="http://schemas.microsoft.com/office/powerpoint/2010/main" val="309241103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890" y="613356"/>
            <a:ext cx="9965364" cy="471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79447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90" y="2031407"/>
            <a:ext cx="4978992" cy="240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009" y="840279"/>
            <a:ext cx="6286500"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0132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716" y="-122125"/>
            <a:ext cx="10515600" cy="946373"/>
          </a:xfrm>
        </p:spPr>
        <p:txBody>
          <a:bodyPr/>
          <a:lstStyle/>
          <a:p>
            <a:r>
              <a:rPr lang="en-US" dirty="0" smtClean="0"/>
              <a:t>Group by -aggregate example</a:t>
            </a:r>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547" y="947269"/>
            <a:ext cx="8370395" cy="425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249702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8943B7-92D5-DDC5-B913-632171CF289C}"/>
              </a:ext>
            </a:extLst>
          </p:cNvPr>
          <p:cNvSpPr>
            <a:spLocks noGrp="1"/>
          </p:cNvSpPr>
          <p:nvPr>
            <p:ph type="title"/>
          </p:nvPr>
        </p:nvSpPr>
        <p:spPr/>
        <p:txBody>
          <a:bodyPr/>
          <a:lstStyle/>
          <a:p>
            <a:r>
              <a:rPr lang="en-US" sz="4000" b="1" i="0" dirty="0">
                <a:effectLst/>
                <a:latin typeface="+mn-lt"/>
              </a:rPr>
              <a:t>SQL Commands: Set Operations</a:t>
            </a:r>
            <a:r>
              <a:rPr lang="en-US" b="0" i="0" dirty="0">
                <a:solidFill>
                  <a:srgbClr val="4A4A4A"/>
                </a:solidFill>
                <a:effectLst/>
                <a:latin typeface="Open Sans" panose="020B0606030504020204" pitchFamily="34" charset="0"/>
              </a:rPr>
              <a:t/>
            </a:r>
            <a:br>
              <a:rPr lang="en-US" b="0" i="0" dirty="0">
                <a:solidFill>
                  <a:srgbClr val="4A4A4A"/>
                </a:solidFill>
                <a:effectLst/>
                <a:latin typeface="Open Sans" panose="020B0606030504020204" pitchFamily="34" charset="0"/>
              </a:rPr>
            </a:br>
            <a:endParaRPr lang="en-US" dirty="0"/>
          </a:p>
        </p:txBody>
      </p:sp>
      <p:sp>
        <p:nvSpPr>
          <p:cNvPr id="3" name="Content Placeholder 2">
            <a:extLst>
              <a:ext uri="{FF2B5EF4-FFF2-40B4-BE49-F238E27FC236}">
                <a16:creationId xmlns="" xmlns:a16="http://schemas.microsoft.com/office/drawing/2014/main" id="{20DB8916-BCCC-B811-AA57-13D80DDD857F}"/>
              </a:ext>
            </a:extLst>
          </p:cNvPr>
          <p:cNvSpPr>
            <a:spLocks noGrp="1"/>
          </p:cNvSpPr>
          <p:nvPr>
            <p:ph idx="1"/>
          </p:nvPr>
        </p:nvSpPr>
        <p:spPr>
          <a:xfrm>
            <a:off x="304800" y="1149928"/>
            <a:ext cx="11540836" cy="5708072"/>
          </a:xfrm>
        </p:spPr>
        <p:txBody>
          <a:bodyPr>
            <a:normAutofit fontScale="85000" lnSpcReduction="20000"/>
          </a:bodyPr>
          <a:lstStyle/>
          <a:p>
            <a:pPr algn="just" fontAlgn="base"/>
            <a:r>
              <a:rPr lang="en-US" b="0" i="0" dirty="0">
                <a:solidFill>
                  <a:srgbClr val="000000"/>
                </a:solidFill>
                <a:effectLst/>
              </a:rPr>
              <a:t>The SET Operators in MySQL are basically used to combine the result of more than 1 select statement and return the output as a single result set. In SQL, 4 types of set operators are. They are as follows:</a:t>
            </a:r>
            <a:endParaRPr lang="en-US" b="0" i="0" dirty="0">
              <a:solidFill>
                <a:srgbClr val="212529"/>
              </a:solidFill>
              <a:effectLst/>
            </a:endParaRPr>
          </a:p>
          <a:p>
            <a:pPr algn="just" fontAlgn="base">
              <a:buFont typeface="+mj-lt"/>
              <a:buAutoNum type="arabicPeriod"/>
            </a:pPr>
            <a:r>
              <a:rPr lang="en-US" b="1" i="0" dirty="0">
                <a:solidFill>
                  <a:srgbClr val="000000"/>
                </a:solidFill>
                <a:effectLst/>
              </a:rPr>
              <a:t>UNION</a:t>
            </a:r>
            <a:r>
              <a:rPr lang="en-US" b="0" i="0" dirty="0">
                <a:solidFill>
                  <a:srgbClr val="000000"/>
                </a:solidFill>
                <a:effectLst/>
              </a:rPr>
              <a:t>: It is used to </a:t>
            </a:r>
            <a:r>
              <a:rPr lang="en-US" b="1" i="0" dirty="0">
                <a:solidFill>
                  <a:srgbClr val="C00000"/>
                </a:solidFill>
                <a:effectLst/>
              </a:rPr>
              <a:t>combine two or more result sets into a single set</a:t>
            </a:r>
            <a:r>
              <a:rPr lang="en-US" b="0" i="0" dirty="0">
                <a:solidFill>
                  <a:srgbClr val="000000"/>
                </a:solidFill>
                <a:effectLst/>
              </a:rPr>
              <a:t>, </a:t>
            </a:r>
            <a:r>
              <a:rPr lang="en-US" b="1" i="0" dirty="0">
                <a:solidFill>
                  <a:srgbClr val="000099"/>
                </a:solidFill>
                <a:effectLst/>
              </a:rPr>
              <a:t>without duplicates.</a:t>
            </a:r>
          </a:p>
          <a:p>
            <a:pPr algn="just" fontAlgn="base">
              <a:buFont typeface="+mj-lt"/>
              <a:buAutoNum type="arabicPeriod"/>
            </a:pPr>
            <a:r>
              <a:rPr lang="en-US" b="1" i="0" dirty="0">
                <a:solidFill>
                  <a:srgbClr val="000000"/>
                </a:solidFill>
                <a:effectLst/>
              </a:rPr>
              <a:t>UNION ALL</a:t>
            </a:r>
            <a:r>
              <a:rPr lang="en-US" b="0" i="0" dirty="0">
                <a:solidFill>
                  <a:srgbClr val="000000"/>
                </a:solidFill>
                <a:effectLst/>
              </a:rPr>
              <a:t>: It is used to </a:t>
            </a:r>
            <a:r>
              <a:rPr lang="en-US" b="1" i="0" dirty="0">
                <a:solidFill>
                  <a:srgbClr val="C00000"/>
                </a:solidFill>
                <a:effectLst/>
              </a:rPr>
              <a:t>combine two or more result sets into a single set</a:t>
            </a:r>
            <a:r>
              <a:rPr lang="en-US" b="0" i="0" dirty="0">
                <a:solidFill>
                  <a:srgbClr val="000000"/>
                </a:solidFill>
                <a:effectLst/>
              </a:rPr>
              <a:t>, </a:t>
            </a:r>
            <a:r>
              <a:rPr lang="en-US" b="1" i="0" dirty="0">
                <a:solidFill>
                  <a:srgbClr val="000099"/>
                </a:solidFill>
                <a:effectLst/>
              </a:rPr>
              <a:t>including duplicates.</a:t>
            </a:r>
          </a:p>
          <a:p>
            <a:pPr algn="just" fontAlgn="base">
              <a:buFont typeface="+mj-lt"/>
              <a:buAutoNum type="arabicPeriod"/>
            </a:pPr>
            <a:r>
              <a:rPr lang="en-US" b="1" i="0" dirty="0">
                <a:solidFill>
                  <a:srgbClr val="000000"/>
                </a:solidFill>
                <a:effectLst/>
              </a:rPr>
              <a:t>INTERSECT</a:t>
            </a:r>
            <a:r>
              <a:rPr lang="en-US" b="0" i="0" dirty="0">
                <a:solidFill>
                  <a:srgbClr val="000000"/>
                </a:solidFill>
                <a:effectLst/>
              </a:rPr>
              <a:t>: It is used </a:t>
            </a:r>
            <a:r>
              <a:rPr lang="en-US" b="1" i="0" dirty="0">
                <a:solidFill>
                  <a:srgbClr val="C00000"/>
                </a:solidFill>
                <a:effectLst/>
              </a:rPr>
              <a:t>to combine two result sets and returns the data </a:t>
            </a:r>
            <a:r>
              <a:rPr lang="en-US" b="1" i="0" dirty="0">
                <a:solidFill>
                  <a:srgbClr val="000099"/>
                </a:solidFill>
                <a:effectLst/>
              </a:rPr>
              <a:t>which are common in both the result set.</a:t>
            </a:r>
          </a:p>
          <a:p>
            <a:pPr algn="just" fontAlgn="base">
              <a:buFont typeface="+mj-lt"/>
              <a:buAutoNum type="arabicPeriod"/>
            </a:pPr>
            <a:r>
              <a:rPr lang="en-US" b="1" i="0" dirty="0">
                <a:solidFill>
                  <a:srgbClr val="000000"/>
                </a:solidFill>
                <a:effectLst/>
              </a:rPr>
              <a:t>EXCEPT/MINUS</a:t>
            </a:r>
            <a:r>
              <a:rPr lang="en-US" b="0" i="0" dirty="0">
                <a:solidFill>
                  <a:srgbClr val="000000"/>
                </a:solidFill>
                <a:effectLst/>
              </a:rPr>
              <a:t>: It is used to </a:t>
            </a:r>
            <a:r>
              <a:rPr lang="en-US" b="1" i="0" dirty="0">
                <a:solidFill>
                  <a:srgbClr val="C00000"/>
                </a:solidFill>
                <a:effectLst/>
              </a:rPr>
              <a:t>combine two result sets and returns the data </a:t>
            </a:r>
            <a:r>
              <a:rPr lang="en-US" b="1" i="0" dirty="0">
                <a:solidFill>
                  <a:srgbClr val="000099"/>
                </a:solidFill>
                <a:effectLst/>
              </a:rPr>
              <a:t>from the first result set which is not present in the second result set.</a:t>
            </a:r>
          </a:p>
          <a:p>
            <a:pPr algn="just" fontAlgn="base"/>
            <a:r>
              <a:rPr lang="en-US" b="1" i="0" dirty="0">
                <a:solidFill>
                  <a:srgbClr val="000000"/>
                </a:solidFill>
                <a:effectLst/>
              </a:rPr>
              <a:t>Points to Remember while working with Set Operations:</a:t>
            </a:r>
            <a:endParaRPr lang="en-US" b="0" i="0" dirty="0">
              <a:solidFill>
                <a:srgbClr val="3A3A3A"/>
              </a:solidFill>
              <a:effectLst/>
            </a:endParaRPr>
          </a:p>
          <a:p>
            <a:pPr algn="just" fontAlgn="base">
              <a:buFont typeface="+mj-lt"/>
              <a:buAutoNum type="arabicPeriod"/>
            </a:pPr>
            <a:r>
              <a:rPr lang="en-US" b="0" i="0" dirty="0">
                <a:solidFill>
                  <a:srgbClr val="000000"/>
                </a:solidFill>
                <a:effectLst/>
              </a:rPr>
              <a:t>Every SELECT statement involved in the query </a:t>
            </a:r>
            <a:r>
              <a:rPr lang="en-US" b="1" i="0" dirty="0">
                <a:solidFill>
                  <a:srgbClr val="000099"/>
                </a:solidFill>
                <a:effectLst/>
              </a:rPr>
              <a:t>must have a similar number of columns</a:t>
            </a:r>
            <a:r>
              <a:rPr lang="en-US" b="0" i="0" dirty="0">
                <a:solidFill>
                  <a:srgbClr val="000000"/>
                </a:solidFill>
                <a:effectLst/>
              </a:rPr>
              <a:t>.</a:t>
            </a:r>
            <a:endParaRPr lang="en-US" b="0" i="0" dirty="0">
              <a:solidFill>
                <a:srgbClr val="212529"/>
              </a:solidFill>
              <a:effectLst/>
            </a:endParaRPr>
          </a:p>
          <a:p>
            <a:pPr algn="just" fontAlgn="base">
              <a:buFont typeface="+mj-lt"/>
              <a:buAutoNum type="arabicPeriod"/>
            </a:pPr>
            <a:r>
              <a:rPr lang="en-US" b="0" i="0" dirty="0">
                <a:solidFill>
                  <a:srgbClr val="000000"/>
                </a:solidFill>
                <a:effectLst/>
              </a:rPr>
              <a:t>The </a:t>
            </a:r>
            <a:r>
              <a:rPr lang="en-US" b="1" i="0" dirty="0">
                <a:solidFill>
                  <a:srgbClr val="000099"/>
                </a:solidFill>
                <a:effectLst/>
              </a:rPr>
              <a:t>columns in the SELECT statement must be in the same order and have similar data types.</a:t>
            </a:r>
          </a:p>
          <a:p>
            <a:pPr algn="just" fontAlgn="base">
              <a:buFont typeface="+mj-lt"/>
              <a:buAutoNum type="arabicPeriod"/>
            </a:pPr>
            <a:r>
              <a:rPr lang="en-US" b="0" i="0" dirty="0">
                <a:solidFill>
                  <a:srgbClr val="000000"/>
                </a:solidFill>
                <a:effectLst/>
              </a:rPr>
              <a:t>In order to sort the result, an ORDER BY clause should be part of the last select statement. The column names or aliases must be found out by the first select statement.</a:t>
            </a:r>
            <a:endParaRPr lang="en-US" b="0" i="0" dirty="0">
              <a:solidFill>
                <a:srgbClr val="212529"/>
              </a:solidFill>
              <a:effectLst/>
            </a:endParaRPr>
          </a:p>
          <a:p>
            <a:endParaRPr lang="en-US" dirty="0"/>
          </a:p>
        </p:txBody>
      </p:sp>
    </p:spTree>
    <p:extLst>
      <p:ext uri="{BB962C8B-B14F-4D97-AF65-F5344CB8AC3E}">
        <p14:creationId xmlns:p14="http://schemas.microsoft.com/office/powerpoint/2010/main" val="148638482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8943B7-92D5-DDC5-B913-632171CF289C}"/>
              </a:ext>
            </a:extLst>
          </p:cNvPr>
          <p:cNvSpPr>
            <a:spLocks noGrp="1"/>
          </p:cNvSpPr>
          <p:nvPr>
            <p:ph type="title"/>
          </p:nvPr>
        </p:nvSpPr>
        <p:spPr/>
        <p:txBody>
          <a:bodyPr/>
          <a:lstStyle/>
          <a:p>
            <a:r>
              <a:rPr lang="en-US" sz="4000" b="1" i="0" dirty="0">
                <a:effectLst/>
                <a:latin typeface="+mn-lt"/>
              </a:rPr>
              <a:t>SQL Commands: Set Operations</a:t>
            </a:r>
            <a:r>
              <a:rPr lang="en-US" b="0" i="0" dirty="0">
                <a:solidFill>
                  <a:srgbClr val="4A4A4A"/>
                </a:solidFill>
                <a:effectLst/>
                <a:latin typeface="Open Sans" panose="020B0606030504020204" pitchFamily="34" charset="0"/>
              </a:rPr>
              <a:t/>
            </a:r>
            <a:br>
              <a:rPr lang="en-US" b="0" i="0" dirty="0">
                <a:solidFill>
                  <a:srgbClr val="4A4A4A"/>
                </a:solidFill>
                <a:effectLst/>
                <a:latin typeface="Open Sans" panose="020B0606030504020204" pitchFamily="34" charset="0"/>
              </a:rPr>
            </a:br>
            <a:endParaRPr lang="en-US" dirty="0"/>
          </a:p>
        </p:txBody>
      </p:sp>
      <p:sp>
        <p:nvSpPr>
          <p:cNvPr id="3" name="Content Placeholder 2">
            <a:extLst>
              <a:ext uri="{FF2B5EF4-FFF2-40B4-BE49-F238E27FC236}">
                <a16:creationId xmlns="" xmlns:a16="http://schemas.microsoft.com/office/drawing/2014/main" id="{20DB8916-BCCC-B811-AA57-13D80DDD857F}"/>
              </a:ext>
            </a:extLst>
          </p:cNvPr>
          <p:cNvSpPr>
            <a:spLocks noGrp="1"/>
          </p:cNvSpPr>
          <p:nvPr>
            <p:ph idx="1"/>
          </p:nvPr>
        </p:nvSpPr>
        <p:spPr>
          <a:xfrm>
            <a:off x="304800" y="983673"/>
            <a:ext cx="11540836" cy="5874327"/>
          </a:xfrm>
        </p:spPr>
        <p:txBody>
          <a:bodyPr>
            <a:normAutofit/>
          </a:bodyPr>
          <a:lstStyle/>
          <a:p>
            <a:pPr algn="just" fontAlgn="base"/>
            <a:r>
              <a:rPr lang="en-US" sz="2400" b="1" i="0" dirty="0">
                <a:solidFill>
                  <a:srgbClr val="000000"/>
                </a:solidFill>
                <a:effectLst/>
              </a:rPr>
              <a:t>Examples to understand SET Operators in MySQL:</a:t>
            </a:r>
            <a:r>
              <a:rPr lang="en-US" sz="2400" dirty="0">
                <a:solidFill>
                  <a:srgbClr val="3A3A3A"/>
                </a:solidFill>
              </a:rPr>
              <a:t> </a:t>
            </a:r>
            <a:r>
              <a:rPr lang="en-US" sz="2400" b="0" i="0" dirty="0">
                <a:solidFill>
                  <a:srgbClr val="000000"/>
                </a:solidFill>
                <a:effectLst/>
              </a:rPr>
              <a:t>We are going to use </a:t>
            </a:r>
            <a:r>
              <a:rPr lang="en-US" sz="2400" b="0" i="0" dirty="0" err="1">
                <a:solidFill>
                  <a:srgbClr val="000000"/>
                </a:solidFill>
                <a:effectLst/>
              </a:rPr>
              <a:t>EmployeeUK</a:t>
            </a:r>
            <a:r>
              <a:rPr lang="en-US" sz="2400" b="0" i="0" dirty="0">
                <a:solidFill>
                  <a:srgbClr val="000000"/>
                </a:solidFill>
                <a:effectLst/>
              </a:rPr>
              <a:t> and </a:t>
            </a:r>
            <a:r>
              <a:rPr lang="en-US" sz="2400" b="0" i="0" dirty="0" err="1">
                <a:solidFill>
                  <a:srgbClr val="000000"/>
                </a:solidFill>
                <a:effectLst/>
              </a:rPr>
              <a:t>EmployeeUSA</a:t>
            </a:r>
            <a:r>
              <a:rPr lang="en-US" sz="2400" b="0" i="0" dirty="0">
                <a:solidFill>
                  <a:srgbClr val="000000"/>
                </a:solidFill>
                <a:effectLst/>
              </a:rPr>
              <a:t> tables to understand the SET Operators in MySQL.</a:t>
            </a:r>
            <a:endParaRPr lang="en-US" sz="2400" b="0" i="0" dirty="0">
              <a:solidFill>
                <a:srgbClr val="212529"/>
              </a:solidFill>
              <a:effectLst/>
            </a:endParaRPr>
          </a:p>
          <a:p>
            <a:endParaRPr lang="en-US" dirty="0"/>
          </a:p>
        </p:txBody>
      </p:sp>
      <p:sp>
        <p:nvSpPr>
          <p:cNvPr id="4" name="Content Placeholder 2">
            <a:extLst>
              <a:ext uri="{FF2B5EF4-FFF2-40B4-BE49-F238E27FC236}">
                <a16:creationId xmlns="" xmlns:a16="http://schemas.microsoft.com/office/drawing/2014/main" id="{4F70A60B-E21E-760E-506D-236832AA7B6F}"/>
              </a:ext>
            </a:extLst>
          </p:cNvPr>
          <p:cNvSpPr txBox="1">
            <a:spLocks/>
          </p:cNvSpPr>
          <p:nvPr/>
        </p:nvSpPr>
        <p:spPr>
          <a:xfrm>
            <a:off x="5888183" y="1828799"/>
            <a:ext cx="6289962" cy="491345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CREATE TABLE </a:t>
            </a:r>
            <a:r>
              <a:rPr lang="en-US" b="1" dirty="0" err="1">
                <a:solidFill>
                  <a:srgbClr val="000099"/>
                </a:solidFill>
                <a:effectLst/>
                <a:ea typeface="Times New Roman" panose="02020603050405020304" pitchFamily="18" charset="0"/>
                <a:cs typeface="Courier New" panose="02070309020205020404" pitchFamily="49" charset="0"/>
              </a:rPr>
              <a:t>EmployeeUSA</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  </a:t>
            </a:r>
            <a:r>
              <a:rPr lang="en-US" b="1" dirty="0" err="1">
                <a:solidFill>
                  <a:srgbClr val="000099"/>
                </a:solidFill>
                <a:effectLst/>
                <a:ea typeface="Times New Roman" panose="02020603050405020304" pitchFamily="18" charset="0"/>
                <a:cs typeface="Courier New" panose="02070309020205020404" pitchFamily="49" charset="0"/>
              </a:rPr>
              <a:t>EmployeeId</a:t>
            </a:r>
            <a:r>
              <a:rPr lang="en-US" b="1" dirty="0">
                <a:solidFill>
                  <a:srgbClr val="000099"/>
                </a:solidFill>
                <a:effectLst/>
                <a:ea typeface="Times New Roman" panose="02020603050405020304" pitchFamily="18" charset="0"/>
                <a:cs typeface="Courier New" panose="02070309020205020404" pitchFamily="49" charset="0"/>
              </a:rPr>
              <a:t> INT PRIMARY KEY,</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  FirstName VARCHAR(50),</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  </a:t>
            </a:r>
            <a:r>
              <a:rPr lang="en-US" b="1" dirty="0" err="1">
                <a:solidFill>
                  <a:srgbClr val="000099"/>
                </a:solidFill>
                <a:effectLst/>
                <a:ea typeface="Times New Roman" panose="02020603050405020304" pitchFamily="18" charset="0"/>
                <a:cs typeface="Courier New" panose="02070309020205020404" pitchFamily="49" charset="0"/>
              </a:rPr>
              <a:t>LastName</a:t>
            </a:r>
            <a:r>
              <a:rPr lang="en-US" b="1" dirty="0">
                <a:solidFill>
                  <a:srgbClr val="000099"/>
                </a:solidFill>
                <a:effectLst/>
                <a:ea typeface="Times New Roman" panose="02020603050405020304" pitchFamily="18" charset="0"/>
                <a:cs typeface="Courier New" panose="02070309020205020404" pitchFamily="49" charset="0"/>
              </a:rPr>
              <a:t> VARCHAR(50),</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  Gender VARCHAR(10),</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  Department VARCHAR(20)</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0099"/>
                </a:solidFill>
                <a:effectLst/>
                <a:ea typeface="Times New Roman" panose="02020603050405020304" pitchFamily="18" charset="0"/>
                <a:cs typeface="Courier New" panose="02070309020205020404" pitchFamily="49" charset="0"/>
              </a:rPr>
              <a:t>);</a:t>
            </a:r>
            <a:endParaRPr lang="en-US"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Courier New" panose="02070309020205020404" pitchFamily="49" charset="0"/>
              </a:rPr>
              <a:t> </a:t>
            </a: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VALUES(1, 'James', '</a:t>
            </a:r>
            <a:r>
              <a:rPr lang="en-US" sz="1500" dirty="0" err="1">
                <a:effectLst/>
                <a:ea typeface="Times New Roman" panose="02020603050405020304" pitchFamily="18" charset="0"/>
                <a:cs typeface="Courier New" panose="02070309020205020404" pitchFamily="49" charset="0"/>
              </a:rPr>
              <a:t>Pattrick</a:t>
            </a:r>
            <a:r>
              <a:rPr lang="en-US" sz="1500" dirty="0">
                <a:effectLst/>
                <a:ea typeface="Times New Roman" panose="02020603050405020304" pitchFamily="18" charset="0"/>
                <a:cs typeface="Courier New" panose="02070309020205020404" pitchFamily="49" charset="0"/>
              </a:rPr>
              <a:t>', '</a:t>
            </a:r>
            <a:r>
              <a:rPr lang="en-US" sz="1500" dirty="0" err="1">
                <a:effectLst/>
                <a:ea typeface="Times New Roman" panose="02020603050405020304" pitchFamily="18" charset="0"/>
                <a:cs typeface="Courier New" panose="02070309020205020404" pitchFamily="49" charset="0"/>
              </a:rPr>
              <a:t>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VALUES(2, 'Priyanka', '</a:t>
            </a:r>
            <a:r>
              <a:rPr lang="en-US" sz="1500" dirty="0" err="1">
                <a:effectLst/>
                <a:ea typeface="Times New Roman" panose="02020603050405020304" pitchFamily="18" charset="0"/>
                <a:cs typeface="Courier New" panose="02070309020205020404" pitchFamily="49" charset="0"/>
              </a:rPr>
              <a:t>Dewangan</a:t>
            </a:r>
            <a:r>
              <a:rPr lang="en-US" sz="1500" dirty="0">
                <a:effectLst/>
                <a:ea typeface="Times New Roman" panose="02020603050405020304" pitchFamily="18" charset="0"/>
                <a:cs typeface="Courier New" panose="02070309020205020404" pitchFamily="49" charset="0"/>
              </a:rPr>
              <a:t>', '</a:t>
            </a:r>
            <a:r>
              <a:rPr lang="en-US" sz="1500" dirty="0" err="1">
                <a:effectLst/>
                <a:ea typeface="Times New Roman" panose="02020603050405020304" pitchFamily="18" charset="0"/>
                <a:cs typeface="Courier New" panose="02070309020205020404" pitchFamily="49" charset="0"/>
              </a:rPr>
              <a:t>Female','IT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VALUES(3, 'Sara', 'Taylor', '</a:t>
            </a:r>
            <a:r>
              <a:rPr lang="en-US" sz="1500" dirty="0" err="1">
                <a:effectLst/>
                <a:ea typeface="Times New Roman" panose="02020603050405020304" pitchFamily="18" charset="0"/>
                <a:cs typeface="Courier New" panose="02070309020205020404" pitchFamily="49" charset="0"/>
              </a:rPr>
              <a:t>Female','HR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VALUES(4, '</a:t>
            </a:r>
            <a:r>
              <a:rPr lang="en-US" sz="1500" dirty="0" err="1">
                <a:effectLst/>
                <a:ea typeface="Times New Roman" panose="02020603050405020304" pitchFamily="18" charset="0"/>
                <a:cs typeface="Courier New" panose="02070309020205020404" pitchFamily="49" charset="0"/>
              </a:rPr>
              <a:t>Subrat</a:t>
            </a:r>
            <a:r>
              <a:rPr lang="en-US" sz="1500" dirty="0">
                <a:effectLst/>
                <a:ea typeface="Times New Roman" panose="02020603050405020304" pitchFamily="18" charset="0"/>
                <a:cs typeface="Courier New" panose="02070309020205020404" pitchFamily="49" charset="0"/>
              </a:rPr>
              <a:t>', 'Sahoo', '</a:t>
            </a:r>
            <a:r>
              <a:rPr lang="en-US" sz="1500" dirty="0" err="1">
                <a:effectLst/>
                <a:ea typeface="Times New Roman" panose="02020603050405020304" pitchFamily="18" charset="0"/>
                <a:cs typeface="Courier New" panose="02070309020205020404" pitchFamily="49" charset="0"/>
              </a:rPr>
              <a:t>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VALUES(5, '</a:t>
            </a:r>
            <a:r>
              <a:rPr lang="en-US" sz="1500" dirty="0" err="1">
                <a:effectLst/>
                <a:ea typeface="Times New Roman" panose="02020603050405020304" pitchFamily="18" charset="0"/>
                <a:cs typeface="Courier New" panose="02070309020205020404" pitchFamily="49" charset="0"/>
              </a:rPr>
              <a:t>Sushanta</a:t>
            </a:r>
            <a:r>
              <a:rPr lang="en-US" sz="1500" dirty="0">
                <a:effectLst/>
                <a:ea typeface="Times New Roman" panose="02020603050405020304" pitchFamily="18" charset="0"/>
                <a:cs typeface="Courier New" panose="02070309020205020404" pitchFamily="49" charset="0"/>
              </a:rPr>
              <a:t>', 'Jena', '</a:t>
            </a:r>
            <a:r>
              <a:rPr lang="en-US" sz="1500" dirty="0" err="1">
                <a:effectLst/>
                <a:ea typeface="Times New Roman" panose="02020603050405020304" pitchFamily="18" charset="0"/>
                <a:cs typeface="Courier New" panose="02070309020205020404" pitchFamily="49" charset="0"/>
              </a:rPr>
              <a:t>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VALUES(6, 'Mahesh', '</a:t>
            </a:r>
            <a:r>
              <a:rPr lang="en-US" sz="1500" dirty="0" err="1">
                <a:effectLst/>
                <a:ea typeface="Times New Roman" panose="02020603050405020304" pitchFamily="18" charset="0"/>
                <a:cs typeface="Courier New" panose="02070309020205020404" pitchFamily="49" charset="0"/>
              </a:rPr>
              <a:t>Sindhey</a:t>
            </a:r>
            <a:r>
              <a:rPr lang="en-US" sz="1500" dirty="0">
                <a:effectLst/>
                <a:ea typeface="Times New Roman" panose="02020603050405020304" pitchFamily="18" charset="0"/>
                <a:cs typeface="Courier New" panose="02070309020205020404" pitchFamily="49" charset="0"/>
              </a:rPr>
              <a:t>', '</a:t>
            </a:r>
            <a:r>
              <a:rPr lang="en-US" sz="1500" dirty="0" err="1">
                <a:effectLst/>
                <a:ea typeface="Times New Roman" panose="02020603050405020304" pitchFamily="18" charset="0"/>
                <a:cs typeface="Courier New" panose="02070309020205020404" pitchFamily="49" charset="0"/>
              </a:rPr>
              <a:t>Female','HR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EmployeeUSA</a:t>
            </a:r>
            <a:r>
              <a:rPr lang="en-US" sz="1500" dirty="0">
                <a:effectLst/>
                <a:ea typeface="Times New Roman" panose="02020603050405020304" pitchFamily="18" charset="0"/>
                <a:cs typeface="Courier New" panose="02070309020205020404" pitchFamily="49" charset="0"/>
              </a:rPr>
              <a:t> VALUES(7, '</a:t>
            </a:r>
            <a:r>
              <a:rPr lang="en-US" sz="1500" dirty="0" err="1">
                <a:effectLst/>
                <a:ea typeface="Times New Roman" panose="02020603050405020304" pitchFamily="18" charset="0"/>
                <a:cs typeface="Courier New" panose="02070309020205020404" pitchFamily="49" charset="0"/>
              </a:rPr>
              <a:t>Hina</a:t>
            </a:r>
            <a:r>
              <a:rPr lang="en-US" sz="1500" dirty="0">
                <a:effectLst/>
                <a:ea typeface="Times New Roman" panose="02020603050405020304" pitchFamily="18" charset="0"/>
                <a:cs typeface="Courier New" panose="02070309020205020404" pitchFamily="49" charset="0"/>
              </a:rPr>
              <a:t>', 'Sharma', '</a:t>
            </a:r>
            <a:r>
              <a:rPr lang="en-US" sz="1500" dirty="0" err="1">
                <a:effectLst/>
                <a:ea typeface="Times New Roman" panose="02020603050405020304" pitchFamily="18" charset="0"/>
                <a:cs typeface="Courier New" panose="02070309020205020404" pitchFamily="49" charset="0"/>
              </a:rPr>
              <a:t>Female','IT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p:txBody>
      </p:sp>
      <p:sp>
        <p:nvSpPr>
          <p:cNvPr id="5" name="Content Placeholder 2">
            <a:extLst>
              <a:ext uri="{FF2B5EF4-FFF2-40B4-BE49-F238E27FC236}">
                <a16:creationId xmlns="" xmlns:a16="http://schemas.microsoft.com/office/drawing/2014/main" id="{4270271B-2CDF-B0E5-CA8C-ADA5AB76EC6E}"/>
              </a:ext>
            </a:extLst>
          </p:cNvPr>
          <p:cNvSpPr txBox="1">
            <a:spLocks/>
          </p:cNvSpPr>
          <p:nvPr/>
        </p:nvSpPr>
        <p:spPr>
          <a:xfrm>
            <a:off x="152401" y="1828800"/>
            <a:ext cx="6068290" cy="491345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C00000"/>
                </a:solidFill>
                <a:effectLst/>
                <a:ea typeface="Times New Roman" panose="02020603050405020304" pitchFamily="18" charset="0"/>
                <a:cs typeface="Courier New" panose="02070309020205020404" pitchFamily="49" charset="0"/>
              </a:rPr>
              <a:t>CREATE DATABASE </a:t>
            </a:r>
            <a:r>
              <a:rPr lang="en-US" sz="2600" b="1" dirty="0" err="1">
                <a:solidFill>
                  <a:srgbClr val="C00000"/>
                </a:solidFill>
                <a:effectLst/>
                <a:ea typeface="Times New Roman" panose="02020603050405020304" pitchFamily="18" charset="0"/>
                <a:cs typeface="Courier New" panose="02070309020205020404" pitchFamily="49" charset="0"/>
              </a:rPr>
              <a:t>EmployeeDB</a:t>
            </a:r>
            <a:r>
              <a:rPr lang="en-US" sz="2600" b="1" dirty="0">
                <a:solidFill>
                  <a:srgbClr val="C00000"/>
                </a:solidFill>
                <a:effectLst/>
                <a:ea typeface="Times New Roman" panose="02020603050405020304" pitchFamily="18" charset="0"/>
                <a:cs typeface="Courier New" panose="02070309020205020404" pitchFamily="49" charset="0"/>
              </a:rPr>
              <a:t>;</a:t>
            </a:r>
            <a:endParaRPr lang="en-US" sz="2600" b="1" dirty="0">
              <a:solidFill>
                <a:srgbClr val="C00000"/>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USE </a:t>
            </a:r>
            <a:r>
              <a:rPr lang="en-US" sz="2600" b="1" dirty="0" err="1">
                <a:solidFill>
                  <a:srgbClr val="000099"/>
                </a:solidFill>
                <a:effectLst/>
                <a:ea typeface="Times New Roman" panose="02020603050405020304" pitchFamily="18" charset="0"/>
                <a:cs typeface="Courier New" panose="02070309020205020404" pitchFamily="49" charset="0"/>
              </a:rPr>
              <a:t>EmployeeDB</a:t>
            </a:r>
            <a:r>
              <a:rPr lang="en-US" sz="2600" b="1" dirty="0">
                <a:solidFill>
                  <a:srgbClr val="000099"/>
                </a:solidFill>
                <a:effectLst/>
                <a:ea typeface="Times New Roman" panose="02020603050405020304" pitchFamily="18" charset="0"/>
                <a:cs typeface="Courier New" panose="02070309020205020404" pitchFamily="49" charset="0"/>
              </a:rPr>
              <a:t>;</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 CREATE TABLE </a:t>
            </a:r>
            <a:r>
              <a:rPr lang="en-US" sz="2600" b="1" dirty="0" err="1">
                <a:solidFill>
                  <a:srgbClr val="000099"/>
                </a:solidFill>
                <a:effectLst/>
                <a:ea typeface="Times New Roman" panose="02020603050405020304" pitchFamily="18" charset="0"/>
                <a:cs typeface="Courier New" panose="02070309020205020404" pitchFamily="49" charset="0"/>
              </a:rPr>
              <a:t>EmployeeUK</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  </a:t>
            </a:r>
            <a:r>
              <a:rPr lang="en-US" sz="2600" b="1" dirty="0" err="1">
                <a:solidFill>
                  <a:srgbClr val="000099"/>
                </a:solidFill>
                <a:effectLst/>
                <a:ea typeface="Times New Roman" panose="02020603050405020304" pitchFamily="18" charset="0"/>
                <a:cs typeface="Courier New" panose="02070309020205020404" pitchFamily="49" charset="0"/>
              </a:rPr>
              <a:t>EmployeeId</a:t>
            </a:r>
            <a:r>
              <a:rPr lang="en-US" sz="2600" b="1" dirty="0">
                <a:solidFill>
                  <a:srgbClr val="000099"/>
                </a:solidFill>
                <a:effectLst/>
                <a:ea typeface="Times New Roman" panose="02020603050405020304" pitchFamily="18" charset="0"/>
                <a:cs typeface="Courier New" panose="02070309020205020404" pitchFamily="49" charset="0"/>
              </a:rPr>
              <a:t> INT PRIMARY KEY,</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  FirstName VARCHAR(50),</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  </a:t>
            </a:r>
            <a:r>
              <a:rPr lang="en-US" sz="2600" b="1" dirty="0" err="1">
                <a:solidFill>
                  <a:srgbClr val="000099"/>
                </a:solidFill>
                <a:effectLst/>
                <a:ea typeface="Times New Roman" panose="02020603050405020304" pitchFamily="18" charset="0"/>
                <a:cs typeface="Courier New" panose="02070309020205020404" pitchFamily="49" charset="0"/>
              </a:rPr>
              <a:t>LastName</a:t>
            </a:r>
            <a:r>
              <a:rPr lang="en-US" sz="2600" b="1" dirty="0">
                <a:solidFill>
                  <a:srgbClr val="000099"/>
                </a:solidFill>
                <a:effectLst/>
                <a:ea typeface="Times New Roman" panose="02020603050405020304" pitchFamily="18" charset="0"/>
                <a:cs typeface="Courier New" panose="02070309020205020404" pitchFamily="49" charset="0"/>
              </a:rPr>
              <a:t> VARCHAR(50),</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  Gender VARCHAR(10),</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  Department VARCHAR(20)</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600" b="1" dirty="0">
                <a:solidFill>
                  <a:srgbClr val="000099"/>
                </a:solidFill>
                <a:effectLst/>
                <a:ea typeface="Times New Roman" panose="02020603050405020304" pitchFamily="18" charset="0"/>
                <a:cs typeface="Courier New" panose="02070309020205020404" pitchFamily="49" charset="0"/>
              </a:rPr>
              <a:t>);</a:t>
            </a:r>
            <a:endParaRPr lang="en-US" sz="2600" b="1" dirty="0">
              <a:solidFill>
                <a:srgbClr val="000099"/>
              </a:solidFill>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Courier New" panose="02070309020205020404" pitchFamily="49" charset="0"/>
              </a:rPr>
              <a:t> </a:t>
            </a: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VALUES(1, '</a:t>
            </a:r>
            <a:r>
              <a:rPr lang="en-US" sz="1500" dirty="0" err="1">
                <a:effectLst/>
                <a:ea typeface="Times New Roman" panose="02020603050405020304" pitchFamily="18" charset="0"/>
                <a:cs typeface="Courier New" panose="02070309020205020404" pitchFamily="49" charset="0"/>
              </a:rPr>
              <a:t>Pranaya</a:t>
            </a:r>
            <a:r>
              <a:rPr lang="en-US" sz="1500" dirty="0">
                <a:effectLst/>
                <a:ea typeface="Times New Roman" panose="02020603050405020304" pitchFamily="18" charset="0"/>
                <a:cs typeface="Courier New" panose="02070309020205020404" pitchFamily="49" charset="0"/>
              </a:rPr>
              <a:t>', 'Rout', '</a:t>
            </a:r>
            <a:r>
              <a:rPr lang="en-US" sz="1500" dirty="0" err="1">
                <a:effectLst/>
                <a:ea typeface="Times New Roman" panose="02020603050405020304" pitchFamily="18" charset="0"/>
                <a:cs typeface="Courier New" panose="02070309020205020404" pitchFamily="49" charset="0"/>
              </a:rPr>
              <a:t>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VALUES(2, 'Priyanka', '</a:t>
            </a:r>
            <a:r>
              <a:rPr lang="en-US" sz="1500" dirty="0" err="1">
                <a:effectLst/>
                <a:ea typeface="Times New Roman" panose="02020603050405020304" pitchFamily="18" charset="0"/>
                <a:cs typeface="Courier New" panose="02070309020205020404" pitchFamily="49" charset="0"/>
              </a:rPr>
              <a:t>Dewangan</a:t>
            </a:r>
            <a:r>
              <a:rPr lang="en-US" sz="1500" dirty="0">
                <a:effectLst/>
                <a:ea typeface="Times New Roman" panose="02020603050405020304" pitchFamily="18" charset="0"/>
                <a:cs typeface="Courier New" panose="02070309020205020404" pitchFamily="49" charset="0"/>
              </a:rPr>
              <a:t>', '</a:t>
            </a:r>
            <a:r>
              <a:rPr lang="en-US" sz="1500" dirty="0" err="1">
                <a:effectLst/>
                <a:ea typeface="Times New Roman" panose="02020603050405020304" pitchFamily="18" charset="0"/>
                <a:cs typeface="Courier New" panose="02070309020205020404" pitchFamily="49" charset="0"/>
              </a:rPr>
              <a:t>Female','IT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VALUES(3, '</a:t>
            </a:r>
            <a:r>
              <a:rPr lang="en-US" sz="1500" dirty="0" err="1">
                <a:effectLst/>
                <a:ea typeface="Times New Roman" panose="02020603050405020304" pitchFamily="18" charset="0"/>
                <a:cs typeface="Courier New" panose="02070309020205020404" pitchFamily="49" charset="0"/>
              </a:rPr>
              <a:t>Preety</a:t>
            </a:r>
            <a:r>
              <a:rPr lang="en-US" sz="1500" dirty="0">
                <a:effectLst/>
                <a:ea typeface="Times New Roman" panose="02020603050405020304" pitchFamily="18" charset="0"/>
                <a:cs typeface="Courier New" panose="02070309020205020404" pitchFamily="49" charset="0"/>
              </a:rPr>
              <a:t>', 'Tiwary', '</a:t>
            </a:r>
            <a:r>
              <a:rPr lang="en-US" sz="1500" dirty="0" err="1">
                <a:effectLst/>
                <a:ea typeface="Times New Roman" panose="02020603050405020304" pitchFamily="18" charset="0"/>
                <a:cs typeface="Courier New" panose="02070309020205020404" pitchFamily="49" charset="0"/>
              </a:rPr>
              <a:t>Female','HR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VALUES(4, '</a:t>
            </a:r>
            <a:r>
              <a:rPr lang="en-US" sz="1500" dirty="0" err="1">
                <a:effectLst/>
                <a:ea typeface="Times New Roman" panose="02020603050405020304" pitchFamily="18" charset="0"/>
                <a:cs typeface="Courier New" panose="02070309020205020404" pitchFamily="49" charset="0"/>
              </a:rPr>
              <a:t>Subrat</a:t>
            </a:r>
            <a:r>
              <a:rPr lang="en-US" sz="1500" dirty="0">
                <a:effectLst/>
                <a:ea typeface="Times New Roman" panose="02020603050405020304" pitchFamily="18" charset="0"/>
                <a:cs typeface="Courier New" panose="02070309020205020404" pitchFamily="49" charset="0"/>
              </a:rPr>
              <a:t>', 'Sahoo', '</a:t>
            </a:r>
            <a:r>
              <a:rPr lang="en-US" sz="1500" dirty="0" err="1">
                <a:effectLst/>
                <a:ea typeface="Times New Roman" panose="02020603050405020304" pitchFamily="18" charset="0"/>
                <a:cs typeface="Courier New" panose="02070309020205020404" pitchFamily="49" charset="0"/>
              </a:rPr>
              <a:t>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VALUES(5, 'Anurag', 'Mohanty', '</a:t>
            </a:r>
            <a:r>
              <a:rPr lang="en-US" sz="1500" dirty="0" err="1">
                <a:effectLst/>
                <a:ea typeface="Times New Roman" panose="02020603050405020304" pitchFamily="18" charset="0"/>
                <a:cs typeface="Courier New" panose="02070309020205020404" pitchFamily="49" charset="0"/>
              </a:rPr>
              <a:t>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VALUES(6, 'Rajesh', 'Pradhan', '</a:t>
            </a:r>
            <a:r>
              <a:rPr lang="en-US" sz="1500" dirty="0" err="1">
                <a:effectLst/>
                <a:ea typeface="Times New Roman" panose="02020603050405020304" pitchFamily="18" charset="0"/>
                <a:cs typeface="Courier New" panose="02070309020205020404" pitchFamily="49" charset="0"/>
              </a:rPr>
              <a:t>Male','HR</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500" dirty="0">
                <a:effectLst/>
                <a:ea typeface="Times New Roman" panose="02020603050405020304" pitchFamily="18" charset="0"/>
                <a:cs typeface="Courier New" panose="02070309020205020404" pitchFamily="49" charset="0"/>
              </a:rPr>
              <a:t>INSERT INTO </a:t>
            </a:r>
            <a:r>
              <a:rPr lang="en-US" sz="1500" dirty="0" err="1">
                <a:effectLst/>
                <a:ea typeface="Times New Roman" panose="02020603050405020304" pitchFamily="18" charset="0"/>
                <a:cs typeface="Courier New" panose="02070309020205020404" pitchFamily="49" charset="0"/>
              </a:rPr>
              <a:t>EmployeeUK</a:t>
            </a:r>
            <a:r>
              <a:rPr lang="en-US" sz="1500" dirty="0">
                <a:effectLst/>
                <a:ea typeface="Times New Roman" panose="02020603050405020304" pitchFamily="18" charset="0"/>
                <a:cs typeface="Courier New" panose="02070309020205020404" pitchFamily="49" charset="0"/>
              </a:rPr>
              <a:t> VALUES(7, '</a:t>
            </a:r>
            <a:r>
              <a:rPr lang="en-US" sz="1500" dirty="0" err="1">
                <a:effectLst/>
                <a:ea typeface="Times New Roman" panose="02020603050405020304" pitchFamily="18" charset="0"/>
                <a:cs typeface="Courier New" panose="02070309020205020404" pitchFamily="49" charset="0"/>
              </a:rPr>
              <a:t>Hina</a:t>
            </a:r>
            <a:r>
              <a:rPr lang="en-US" sz="1500" dirty="0">
                <a:effectLst/>
                <a:ea typeface="Times New Roman" panose="02020603050405020304" pitchFamily="18" charset="0"/>
                <a:cs typeface="Courier New" panose="02070309020205020404" pitchFamily="49" charset="0"/>
              </a:rPr>
              <a:t>', 'Sharma', '</a:t>
            </a:r>
            <a:r>
              <a:rPr lang="en-US" sz="1500" dirty="0" err="1">
                <a:effectLst/>
                <a:ea typeface="Times New Roman" panose="02020603050405020304" pitchFamily="18" charset="0"/>
                <a:cs typeface="Courier New" panose="02070309020205020404" pitchFamily="49" charset="0"/>
              </a:rPr>
              <a:t>Female','IT</a:t>
            </a:r>
            <a:r>
              <a:rPr lang="en-US" sz="1500" dirty="0">
                <a:effectLst/>
                <a:ea typeface="Times New Roman" panose="02020603050405020304" pitchFamily="18" charset="0"/>
                <a:cs typeface="Courier New" panose="02070309020205020404" pitchFamily="49" charset="0"/>
              </a:rPr>
              <a:t>');</a:t>
            </a:r>
            <a:endParaRPr lang="en-US" sz="15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517390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8943B7-92D5-DDC5-B913-632171CF289C}"/>
              </a:ext>
            </a:extLst>
          </p:cNvPr>
          <p:cNvSpPr>
            <a:spLocks noGrp="1"/>
          </p:cNvSpPr>
          <p:nvPr>
            <p:ph type="title"/>
          </p:nvPr>
        </p:nvSpPr>
        <p:spPr>
          <a:xfrm>
            <a:off x="13855" y="156369"/>
            <a:ext cx="10515600" cy="743239"/>
          </a:xfrm>
        </p:spPr>
        <p:txBody>
          <a:bodyPr>
            <a:normAutofit fontScale="90000"/>
          </a:bodyPr>
          <a:lstStyle/>
          <a:p>
            <a:r>
              <a:rPr lang="en-US" sz="4000" b="1" i="0" dirty="0">
                <a:effectLst/>
                <a:latin typeface="+mn-lt"/>
              </a:rPr>
              <a:t>SQL Commands: Set Operations</a:t>
            </a:r>
            <a:r>
              <a:rPr lang="en-US" b="0" i="0" dirty="0">
                <a:solidFill>
                  <a:srgbClr val="4A4A4A"/>
                </a:solidFill>
                <a:effectLst/>
                <a:latin typeface="Open Sans" panose="020B0606030504020204" pitchFamily="34" charset="0"/>
              </a:rPr>
              <a:t/>
            </a:r>
            <a:br>
              <a:rPr lang="en-US" b="0" i="0" dirty="0">
                <a:solidFill>
                  <a:srgbClr val="4A4A4A"/>
                </a:solidFill>
                <a:effectLst/>
                <a:latin typeface="Open Sans" panose="020B0606030504020204" pitchFamily="34" charset="0"/>
              </a:rPr>
            </a:br>
            <a:endParaRPr lang="en-US" dirty="0"/>
          </a:p>
        </p:txBody>
      </p:sp>
      <p:sp>
        <p:nvSpPr>
          <p:cNvPr id="3" name="Content Placeholder 2">
            <a:extLst>
              <a:ext uri="{FF2B5EF4-FFF2-40B4-BE49-F238E27FC236}">
                <a16:creationId xmlns="" xmlns:a16="http://schemas.microsoft.com/office/drawing/2014/main" id="{20DB8916-BCCC-B811-AA57-13D80DDD857F}"/>
              </a:ext>
            </a:extLst>
          </p:cNvPr>
          <p:cNvSpPr>
            <a:spLocks noGrp="1"/>
          </p:cNvSpPr>
          <p:nvPr>
            <p:ph idx="1"/>
          </p:nvPr>
        </p:nvSpPr>
        <p:spPr>
          <a:xfrm>
            <a:off x="401782" y="527988"/>
            <a:ext cx="5043055" cy="6173643"/>
          </a:xfrm>
        </p:spPr>
        <p:txBody>
          <a:bodyPr>
            <a:normAutofit fontScale="92500" lnSpcReduction="10000"/>
          </a:bodyPr>
          <a:lstStyle/>
          <a:p>
            <a:pPr algn="just" fontAlgn="base"/>
            <a:r>
              <a:rPr lang="en-US" sz="2400" b="1" i="0" dirty="0">
                <a:solidFill>
                  <a:srgbClr val="000000"/>
                </a:solidFill>
                <a:effectLst/>
              </a:rPr>
              <a:t>UNION Operator in MySQL</a:t>
            </a:r>
            <a:endParaRPr lang="en-US" sz="2400" b="0" i="0" dirty="0">
              <a:solidFill>
                <a:srgbClr val="3A3A3A"/>
              </a:solidFill>
              <a:effectLst/>
            </a:endParaRPr>
          </a:p>
          <a:p>
            <a:pPr algn="just" fontAlgn="base"/>
            <a:r>
              <a:rPr lang="en-US" sz="2400" b="0" i="0" dirty="0">
                <a:solidFill>
                  <a:srgbClr val="000000"/>
                </a:solidFill>
                <a:effectLst/>
              </a:rPr>
              <a:t>The UNION operator is </a:t>
            </a:r>
            <a:r>
              <a:rPr lang="en-US" sz="2400" b="1" i="0" dirty="0">
                <a:solidFill>
                  <a:srgbClr val="000099"/>
                </a:solidFill>
                <a:effectLst/>
              </a:rPr>
              <a:t>used to combine the result set of two or more SELECT statements into a single result set by removing the duplicate records.</a:t>
            </a:r>
            <a:r>
              <a:rPr lang="en-US" sz="2400" b="0" i="0" dirty="0">
                <a:solidFill>
                  <a:srgbClr val="000000"/>
                </a:solidFill>
                <a:effectLst/>
              </a:rPr>
              <a:t> That means the </a:t>
            </a:r>
            <a:r>
              <a:rPr lang="en-US" sz="2400" b="1" i="0" dirty="0">
                <a:solidFill>
                  <a:srgbClr val="C00000"/>
                </a:solidFill>
                <a:effectLst/>
              </a:rPr>
              <a:t>UNION Operator selects only the distinct values</a:t>
            </a:r>
            <a:r>
              <a:rPr lang="en-US" sz="2400" b="0" i="0" dirty="0">
                <a:solidFill>
                  <a:srgbClr val="000000"/>
                </a:solidFill>
                <a:effectLst/>
              </a:rPr>
              <a:t>.</a:t>
            </a:r>
          </a:p>
          <a:p>
            <a:pPr algn="just" fontAlgn="base"/>
            <a:endParaRPr lang="en-US" sz="2400" dirty="0">
              <a:solidFill>
                <a:srgbClr val="000000"/>
              </a:solidFill>
            </a:endParaRPr>
          </a:p>
          <a:p>
            <a:pPr algn="just" fontAlgn="base"/>
            <a:endParaRPr lang="en-US" sz="2400" b="0" i="0" dirty="0">
              <a:solidFill>
                <a:srgbClr val="000000"/>
              </a:solidFill>
              <a:effectLst/>
            </a:endParaRPr>
          </a:p>
          <a:p>
            <a:pPr algn="just" fontAlgn="base"/>
            <a:r>
              <a:rPr lang="en-US" sz="2400" b="1" i="0" dirty="0">
                <a:solidFill>
                  <a:srgbClr val="000099"/>
                </a:solidFill>
                <a:effectLst/>
              </a:rPr>
              <a:t>SELECT FirstName, </a:t>
            </a:r>
            <a:r>
              <a:rPr lang="en-US" sz="2400" b="1" i="0" dirty="0" err="1">
                <a:solidFill>
                  <a:srgbClr val="000099"/>
                </a:solidFill>
                <a:effectLst/>
              </a:rPr>
              <a:t>LastName</a:t>
            </a:r>
            <a:r>
              <a:rPr lang="en-US" sz="2400" b="1" i="0" dirty="0">
                <a:solidFill>
                  <a:srgbClr val="000099"/>
                </a:solidFill>
                <a:effectLst/>
              </a:rPr>
              <a:t>, Gender, Department FROM </a:t>
            </a:r>
            <a:r>
              <a:rPr lang="en-US" sz="2400" b="1" i="0" dirty="0" err="1">
                <a:solidFill>
                  <a:srgbClr val="000099"/>
                </a:solidFill>
                <a:effectLst/>
              </a:rPr>
              <a:t>EmployeeUK</a:t>
            </a:r>
            <a:endParaRPr lang="en-US" sz="2400" b="1" i="0" dirty="0">
              <a:solidFill>
                <a:srgbClr val="000099"/>
              </a:solidFill>
              <a:effectLst/>
            </a:endParaRPr>
          </a:p>
          <a:p>
            <a:pPr algn="just" fontAlgn="base"/>
            <a:r>
              <a:rPr lang="en-US" sz="2400" b="1" i="0" dirty="0">
                <a:solidFill>
                  <a:srgbClr val="FF0000"/>
                </a:solidFill>
                <a:effectLst/>
              </a:rPr>
              <a:t>UNION</a:t>
            </a:r>
          </a:p>
          <a:p>
            <a:pPr algn="just" fontAlgn="base"/>
            <a:r>
              <a:rPr lang="en-US" sz="2400" b="1" i="0" dirty="0">
                <a:solidFill>
                  <a:srgbClr val="000099"/>
                </a:solidFill>
                <a:effectLst/>
              </a:rPr>
              <a:t>SELECT FirstName, </a:t>
            </a:r>
            <a:r>
              <a:rPr lang="en-US" sz="2400" b="1" i="0" dirty="0" err="1">
                <a:solidFill>
                  <a:srgbClr val="000099"/>
                </a:solidFill>
                <a:effectLst/>
              </a:rPr>
              <a:t>LastName</a:t>
            </a:r>
            <a:r>
              <a:rPr lang="en-US" sz="2400" b="1" i="0" dirty="0">
                <a:solidFill>
                  <a:srgbClr val="000099"/>
                </a:solidFill>
                <a:effectLst/>
              </a:rPr>
              <a:t>, Gender, Department FROM </a:t>
            </a:r>
            <a:r>
              <a:rPr lang="en-US" sz="2400" b="1" i="0" dirty="0" err="1">
                <a:solidFill>
                  <a:srgbClr val="000099"/>
                </a:solidFill>
                <a:effectLst/>
              </a:rPr>
              <a:t>EmployeeUSA</a:t>
            </a:r>
            <a:r>
              <a:rPr lang="en-US" sz="2400" b="1" i="0" dirty="0">
                <a:solidFill>
                  <a:srgbClr val="000099"/>
                </a:solidFill>
                <a:effectLst/>
              </a:rPr>
              <a:t>;</a:t>
            </a:r>
          </a:p>
          <a:p>
            <a:pPr algn="just" fontAlgn="base"/>
            <a:r>
              <a:rPr lang="en-US" sz="2400" b="1" i="0" dirty="0">
                <a:solidFill>
                  <a:srgbClr val="C00000"/>
                </a:solidFill>
                <a:effectLst/>
              </a:rPr>
              <a:t>Here we don’t have any duplicate data. Here, in the result set, we got a total of 11 rows out of 14 rows. This is because 3 rows are present in both the result set.</a:t>
            </a:r>
          </a:p>
          <a:p>
            <a:pPr algn="just" fontAlgn="base"/>
            <a:endParaRPr lang="en-US" sz="2400" b="0" i="0" dirty="0">
              <a:solidFill>
                <a:srgbClr val="000000"/>
              </a:solidFill>
              <a:effectLst/>
              <a:latin typeface="arial" panose="020B0604020202020204" pitchFamily="34" charset="0"/>
            </a:endParaRPr>
          </a:p>
          <a:p>
            <a:endParaRPr lang="en-US" dirty="0"/>
          </a:p>
        </p:txBody>
      </p:sp>
      <p:sp>
        <p:nvSpPr>
          <p:cNvPr id="4" name="Content Placeholder 2">
            <a:extLst>
              <a:ext uri="{FF2B5EF4-FFF2-40B4-BE49-F238E27FC236}">
                <a16:creationId xmlns="" xmlns:a16="http://schemas.microsoft.com/office/drawing/2014/main" id="{4F70A60B-E21E-760E-506D-236832AA7B6F}"/>
              </a:ext>
            </a:extLst>
          </p:cNvPr>
          <p:cNvSpPr txBox="1">
            <a:spLocks/>
          </p:cNvSpPr>
          <p:nvPr/>
        </p:nvSpPr>
        <p:spPr>
          <a:xfrm>
            <a:off x="6095999" y="156370"/>
            <a:ext cx="5902037" cy="658588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b="1" i="0" dirty="0">
                <a:effectLst/>
              </a:rPr>
              <a:t>UNION ALL Operator in MySQL</a:t>
            </a:r>
            <a:endParaRPr lang="en-US" b="0" i="0" dirty="0">
              <a:effectLst/>
            </a:endParaRPr>
          </a:p>
          <a:p>
            <a:pPr algn="just" fontAlgn="base"/>
            <a:r>
              <a:rPr lang="en-US" b="0" i="0" dirty="0">
                <a:effectLst/>
              </a:rPr>
              <a:t>The UNION ALL operator is used to combine the result set of two or more SELECT statements into a </a:t>
            </a:r>
            <a:r>
              <a:rPr lang="en-US" b="1" i="0" dirty="0">
                <a:solidFill>
                  <a:srgbClr val="000099"/>
                </a:solidFill>
                <a:effectLst/>
              </a:rPr>
              <a:t>single result including the duplicate values. </a:t>
            </a:r>
          </a:p>
          <a:p>
            <a:pPr algn="just" fontAlgn="base"/>
            <a:endParaRPr lang="en-US" b="0" i="0" dirty="0">
              <a:effectLst/>
            </a:endParaRPr>
          </a:p>
          <a:p>
            <a:pPr algn="just" fontAlgn="base"/>
            <a:endParaRPr lang="en-US" b="0" i="0" dirty="0">
              <a:effectLst/>
            </a:endParaRPr>
          </a:p>
          <a:p>
            <a:pPr algn="just" fontAlgn="base"/>
            <a:r>
              <a:rPr lang="en-US" b="1" i="0" dirty="0">
                <a:solidFill>
                  <a:srgbClr val="000099"/>
                </a:solidFill>
                <a:effectLst/>
              </a:rPr>
              <a:t>SELECT FirstName, </a:t>
            </a:r>
            <a:r>
              <a:rPr lang="en-US" b="1" i="0" dirty="0" err="1">
                <a:solidFill>
                  <a:srgbClr val="000099"/>
                </a:solidFill>
                <a:effectLst/>
              </a:rPr>
              <a:t>LastName</a:t>
            </a:r>
            <a:r>
              <a:rPr lang="en-US" b="1" i="0" dirty="0">
                <a:solidFill>
                  <a:srgbClr val="000099"/>
                </a:solidFill>
                <a:effectLst/>
              </a:rPr>
              <a:t>, Gender, Department FROM </a:t>
            </a:r>
            <a:r>
              <a:rPr lang="en-US" b="1" i="0" dirty="0" err="1">
                <a:solidFill>
                  <a:srgbClr val="000099"/>
                </a:solidFill>
                <a:effectLst/>
              </a:rPr>
              <a:t>EmployeeUK</a:t>
            </a:r>
            <a:endParaRPr lang="en-US" b="1" i="0" dirty="0">
              <a:solidFill>
                <a:srgbClr val="000099"/>
              </a:solidFill>
              <a:effectLst/>
            </a:endParaRPr>
          </a:p>
          <a:p>
            <a:pPr algn="just" fontAlgn="base"/>
            <a:r>
              <a:rPr lang="en-US" b="1" i="0" dirty="0">
                <a:solidFill>
                  <a:srgbClr val="C00000"/>
                </a:solidFill>
                <a:effectLst/>
              </a:rPr>
              <a:t>UNION ALL</a:t>
            </a:r>
          </a:p>
          <a:p>
            <a:pPr algn="just" fontAlgn="base"/>
            <a:r>
              <a:rPr lang="en-US" b="1" i="0" dirty="0">
                <a:solidFill>
                  <a:srgbClr val="000099"/>
                </a:solidFill>
                <a:effectLst/>
              </a:rPr>
              <a:t>SELECT FirstName, </a:t>
            </a:r>
            <a:r>
              <a:rPr lang="en-US" b="1" i="0" dirty="0" err="1">
                <a:solidFill>
                  <a:srgbClr val="000099"/>
                </a:solidFill>
                <a:effectLst/>
              </a:rPr>
              <a:t>LastName</a:t>
            </a:r>
            <a:r>
              <a:rPr lang="en-US" b="1" i="0" dirty="0">
                <a:solidFill>
                  <a:srgbClr val="000099"/>
                </a:solidFill>
                <a:effectLst/>
              </a:rPr>
              <a:t>, Gender, Department FROM </a:t>
            </a:r>
            <a:r>
              <a:rPr lang="en-US" b="1" i="0" dirty="0" err="1">
                <a:solidFill>
                  <a:srgbClr val="000099"/>
                </a:solidFill>
                <a:effectLst/>
              </a:rPr>
              <a:t>EmployeeUSA</a:t>
            </a:r>
            <a:r>
              <a:rPr lang="en-US" b="1" i="0" dirty="0">
                <a:solidFill>
                  <a:srgbClr val="000099"/>
                </a:solidFill>
                <a:effectLst/>
              </a:rPr>
              <a:t>;</a:t>
            </a:r>
          </a:p>
          <a:p>
            <a:pPr algn="just" fontAlgn="base"/>
            <a:r>
              <a:rPr lang="en-US" b="1" i="0" dirty="0">
                <a:solidFill>
                  <a:srgbClr val="C00000"/>
                </a:solidFill>
                <a:effectLst/>
              </a:rPr>
              <a:t>Here we got all the 14 rows in the result set.</a:t>
            </a:r>
          </a:p>
        </p:txBody>
      </p:sp>
      <p:pic>
        <p:nvPicPr>
          <p:cNvPr id="1026" name="Picture 2" descr="UNION Operator in MySQL">
            <a:extLst>
              <a:ext uri="{FF2B5EF4-FFF2-40B4-BE49-F238E27FC236}">
                <a16:creationId xmlns="" xmlns:a16="http://schemas.microsoft.com/office/drawing/2014/main" id="{3FCE65D7-0E0B-661D-36A2-436E2A89E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787" y="2581275"/>
            <a:ext cx="3377912" cy="847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UNION ALL Operator in MySQL">
            <a:extLst>
              <a:ext uri="{FF2B5EF4-FFF2-40B4-BE49-F238E27FC236}">
                <a16:creationId xmlns="" xmlns:a16="http://schemas.microsoft.com/office/drawing/2014/main" id="{11BEB17E-3961-1B6B-A5AA-01CAE64AB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252" y="2109787"/>
            <a:ext cx="2876550" cy="895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94064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8943B7-92D5-DDC5-B913-632171CF289C}"/>
              </a:ext>
            </a:extLst>
          </p:cNvPr>
          <p:cNvSpPr>
            <a:spLocks noGrp="1"/>
          </p:cNvSpPr>
          <p:nvPr>
            <p:ph type="title"/>
          </p:nvPr>
        </p:nvSpPr>
        <p:spPr>
          <a:xfrm>
            <a:off x="13855" y="156369"/>
            <a:ext cx="10515600" cy="743239"/>
          </a:xfrm>
        </p:spPr>
        <p:txBody>
          <a:bodyPr>
            <a:normAutofit fontScale="90000"/>
          </a:bodyPr>
          <a:lstStyle/>
          <a:p>
            <a:r>
              <a:rPr lang="en-US" sz="4000" b="1" i="0" dirty="0">
                <a:effectLst/>
                <a:latin typeface="+mn-lt"/>
              </a:rPr>
              <a:t>SQL Commands: Set Operations</a:t>
            </a:r>
            <a:r>
              <a:rPr lang="en-US" b="0" i="0" dirty="0">
                <a:solidFill>
                  <a:srgbClr val="4A4A4A"/>
                </a:solidFill>
                <a:effectLst/>
                <a:latin typeface="Open Sans" panose="020B0606030504020204" pitchFamily="34" charset="0"/>
              </a:rPr>
              <a:t/>
            </a:r>
            <a:br>
              <a:rPr lang="en-US" b="0" i="0" dirty="0">
                <a:solidFill>
                  <a:srgbClr val="4A4A4A"/>
                </a:solidFill>
                <a:effectLst/>
                <a:latin typeface="Open Sans" panose="020B0606030504020204" pitchFamily="34" charset="0"/>
              </a:rPr>
            </a:br>
            <a:endParaRPr lang="en-US" dirty="0"/>
          </a:p>
        </p:txBody>
      </p:sp>
      <p:sp>
        <p:nvSpPr>
          <p:cNvPr id="3" name="Content Placeholder 2">
            <a:extLst>
              <a:ext uri="{FF2B5EF4-FFF2-40B4-BE49-F238E27FC236}">
                <a16:creationId xmlns="" xmlns:a16="http://schemas.microsoft.com/office/drawing/2014/main" id="{20DB8916-BCCC-B811-AA57-13D80DDD857F}"/>
              </a:ext>
            </a:extLst>
          </p:cNvPr>
          <p:cNvSpPr>
            <a:spLocks noGrp="1"/>
          </p:cNvSpPr>
          <p:nvPr>
            <p:ph idx="1"/>
          </p:nvPr>
        </p:nvSpPr>
        <p:spPr>
          <a:xfrm>
            <a:off x="193964" y="527988"/>
            <a:ext cx="5638800" cy="6173643"/>
          </a:xfrm>
        </p:spPr>
        <p:txBody>
          <a:bodyPr>
            <a:normAutofit fontScale="70000" lnSpcReduction="20000"/>
          </a:bodyPr>
          <a:lstStyle/>
          <a:p>
            <a:pPr algn="just" fontAlgn="base"/>
            <a:r>
              <a:rPr lang="en-US" sz="2400" b="1" i="0" dirty="0">
                <a:solidFill>
                  <a:srgbClr val="000000"/>
                </a:solidFill>
                <a:effectLst/>
              </a:rPr>
              <a:t>INTERSECT Operator in MySQL</a:t>
            </a:r>
            <a:endParaRPr lang="en-US" sz="2400" b="0" i="0" dirty="0">
              <a:solidFill>
                <a:srgbClr val="3A3A3A"/>
              </a:solidFill>
              <a:effectLst/>
            </a:endParaRPr>
          </a:p>
          <a:p>
            <a:pPr algn="just" fontAlgn="base"/>
            <a:r>
              <a:rPr lang="en-US" sz="2400" b="0" i="0" dirty="0">
                <a:solidFill>
                  <a:srgbClr val="000000"/>
                </a:solidFill>
                <a:effectLst/>
              </a:rPr>
              <a:t>The INTERSECT operator is used to combine two result sets and returns the data which are common in both the result set.</a:t>
            </a:r>
          </a:p>
          <a:p>
            <a:pPr algn="just" fontAlgn="base"/>
            <a:endParaRPr lang="en-US" sz="2400" dirty="0">
              <a:solidFill>
                <a:srgbClr val="000000"/>
              </a:solidFill>
            </a:endParaRPr>
          </a:p>
          <a:p>
            <a:pPr algn="just" fontAlgn="base"/>
            <a:endParaRPr lang="en-US" sz="2400" b="0" i="0" dirty="0">
              <a:solidFill>
                <a:srgbClr val="000000"/>
              </a:solidFill>
              <a:effectLst/>
            </a:endParaRPr>
          </a:p>
          <a:p>
            <a:pPr algn="just" fontAlgn="base"/>
            <a:endParaRPr lang="en-US" sz="2400" dirty="0">
              <a:solidFill>
                <a:srgbClr val="000000"/>
              </a:solidFill>
            </a:endParaRPr>
          </a:p>
          <a:p>
            <a:pPr algn="just" fontAlgn="base"/>
            <a:endParaRPr lang="en-US" sz="2400" b="0" i="0" dirty="0">
              <a:solidFill>
                <a:srgbClr val="000000"/>
              </a:solidFill>
              <a:effectLst/>
            </a:endParaRPr>
          </a:p>
          <a:p>
            <a:pPr algn="just" fontAlgn="base"/>
            <a:endParaRPr lang="en-US" sz="2400" b="0" i="0" dirty="0">
              <a:solidFill>
                <a:srgbClr val="000000"/>
              </a:solidFill>
              <a:effectLst/>
            </a:endParaRPr>
          </a:p>
          <a:p>
            <a:pPr algn="just" fontAlgn="base"/>
            <a:r>
              <a:rPr lang="en-US" sz="2400" b="0" i="0" dirty="0">
                <a:solidFill>
                  <a:srgbClr val="000000"/>
                </a:solidFill>
                <a:effectLst/>
              </a:rPr>
              <a:t>But the INTERSECT Operator is not supported by MYSQL. We can achieve the INTERSECT Operator functionality in MySQL using the following ways.</a:t>
            </a:r>
            <a:endParaRPr lang="en-US" sz="2400" b="0" i="0" dirty="0">
              <a:solidFill>
                <a:srgbClr val="212529"/>
              </a:solidFill>
              <a:effectLst/>
            </a:endParaRPr>
          </a:p>
          <a:p>
            <a:pPr algn="just" fontAlgn="base"/>
            <a:r>
              <a:rPr lang="en-US" sz="2400" b="1" i="0" dirty="0">
                <a:solidFill>
                  <a:srgbClr val="000000"/>
                </a:solidFill>
                <a:effectLst/>
              </a:rPr>
              <a:t>Using IN Operator to achieve INTERSECT functionality:</a:t>
            </a:r>
            <a:endParaRPr lang="en-US" sz="2400" b="0" i="0" dirty="0">
              <a:solidFill>
                <a:srgbClr val="3A3A3A"/>
              </a:solidFill>
              <a:effectLst/>
            </a:endParaRPr>
          </a:p>
          <a:p>
            <a:pPr algn="just" fontAlgn="base"/>
            <a:r>
              <a:rPr lang="en-US" sz="2400" b="0" i="0" dirty="0">
                <a:solidFill>
                  <a:srgbClr val="000000"/>
                </a:solidFill>
                <a:effectLst/>
              </a:rPr>
              <a:t>Here, we are checking the FirstName column value only. Following is the SQL Query using the IN Operator which returns the common employees i.e. the employees which are present in both t </a:t>
            </a:r>
            <a:r>
              <a:rPr lang="en-US" sz="2400" b="0" i="0" dirty="0" err="1">
                <a:solidFill>
                  <a:srgbClr val="000000"/>
                </a:solidFill>
                <a:effectLst/>
              </a:rPr>
              <a:t>EmployeeUK</a:t>
            </a:r>
            <a:r>
              <a:rPr lang="en-US" sz="2400" b="0" i="0" dirty="0">
                <a:solidFill>
                  <a:srgbClr val="000000"/>
                </a:solidFill>
                <a:effectLst/>
              </a:rPr>
              <a:t> and </a:t>
            </a:r>
            <a:r>
              <a:rPr lang="en-US" sz="2400" b="0" i="0" dirty="0" err="1">
                <a:solidFill>
                  <a:srgbClr val="000000"/>
                </a:solidFill>
                <a:effectLst/>
              </a:rPr>
              <a:t>EmployeeUSA</a:t>
            </a:r>
            <a:r>
              <a:rPr lang="en-US" sz="2400" b="0" i="0" dirty="0">
                <a:solidFill>
                  <a:srgbClr val="000000"/>
                </a:solidFill>
                <a:effectLst/>
              </a:rPr>
              <a:t> tables. Here, we are checking common based on the First Name column value.</a:t>
            </a:r>
            <a:endParaRPr lang="en-US" sz="2400" b="0" i="0" dirty="0">
              <a:solidFill>
                <a:srgbClr val="212529"/>
              </a:solidFill>
              <a:effectLst/>
            </a:endParaRPr>
          </a:p>
          <a:p>
            <a:pPr algn="just" fontAlgn="base"/>
            <a:r>
              <a:rPr lang="en-US" sz="2400" b="0" i="0" dirty="0">
                <a:solidFill>
                  <a:srgbClr val="000000"/>
                </a:solidFill>
                <a:effectLst/>
              </a:rPr>
              <a:t>SELECT * FROM </a:t>
            </a:r>
            <a:r>
              <a:rPr lang="en-US" sz="2400" b="0" i="0" dirty="0" err="1">
                <a:solidFill>
                  <a:srgbClr val="000000"/>
                </a:solidFill>
                <a:effectLst/>
              </a:rPr>
              <a:t>EmployeeUK</a:t>
            </a:r>
            <a:endParaRPr lang="en-US" sz="2400" b="0" i="0" dirty="0">
              <a:solidFill>
                <a:srgbClr val="000000"/>
              </a:solidFill>
              <a:effectLst/>
            </a:endParaRPr>
          </a:p>
          <a:p>
            <a:pPr algn="just" fontAlgn="base"/>
            <a:r>
              <a:rPr lang="en-US" sz="2400" b="0" i="0" dirty="0">
                <a:solidFill>
                  <a:srgbClr val="000000"/>
                </a:solidFill>
                <a:effectLst/>
              </a:rPr>
              <a:t>WHERE FirstName IN (SELECT FirstName FROM </a:t>
            </a:r>
            <a:r>
              <a:rPr lang="en-US" sz="2400" b="0" i="0" dirty="0" err="1">
                <a:solidFill>
                  <a:srgbClr val="000000"/>
                </a:solidFill>
                <a:effectLst/>
              </a:rPr>
              <a:t>EmployeeUSA</a:t>
            </a:r>
            <a:r>
              <a:rPr lang="en-US" sz="2400" b="0" i="0" dirty="0">
                <a:solidFill>
                  <a:srgbClr val="000000"/>
                </a:solidFill>
                <a:effectLst/>
              </a:rPr>
              <a:t>);</a:t>
            </a:r>
          </a:p>
          <a:p>
            <a:endParaRPr lang="en-US" dirty="0"/>
          </a:p>
        </p:txBody>
      </p:sp>
      <p:sp>
        <p:nvSpPr>
          <p:cNvPr id="4" name="Content Placeholder 2">
            <a:extLst>
              <a:ext uri="{FF2B5EF4-FFF2-40B4-BE49-F238E27FC236}">
                <a16:creationId xmlns="" xmlns:a16="http://schemas.microsoft.com/office/drawing/2014/main" id="{4F70A60B-E21E-760E-506D-236832AA7B6F}"/>
              </a:ext>
            </a:extLst>
          </p:cNvPr>
          <p:cNvSpPr txBox="1">
            <a:spLocks/>
          </p:cNvSpPr>
          <p:nvPr/>
        </p:nvSpPr>
        <p:spPr>
          <a:xfrm>
            <a:off x="6095999" y="156370"/>
            <a:ext cx="5902037" cy="658588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b="1" i="0" dirty="0">
                <a:solidFill>
                  <a:srgbClr val="000000"/>
                </a:solidFill>
                <a:effectLst/>
              </a:rPr>
              <a:t>MySQL EXCEPT Operator:</a:t>
            </a:r>
            <a:endParaRPr lang="en-US" b="0" i="0" dirty="0">
              <a:solidFill>
                <a:srgbClr val="3A3A3A"/>
              </a:solidFill>
              <a:effectLst/>
            </a:endParaRPr>
          </a:p>
          <a:p>
            <a:pPr algn="just" fontAlgn="base"/>
            <a:r>
              <a:rPr lang="en-US" b="0" i="0" dirty="0">
                <a:solidFill>
                  <a:srgbClr val="000000"/>
                </a:solidFill>
                <a:effectLst/>
              </a:rPr>
              <a:t>The EXCEPT operator is used to combine two tables or two result sets and will return rows from the first select statement that are not present in the second select statement.</a:t>
            </a:r>
          </a:p>
          <a:p>
            <a:pPr algn="just" fontAlgn="base"/>
            <a:endParaRPr lang="en-US" dirty="0">
              <a:solidFill>
                <a:srgbClr val="000000"/>
              </a:solidFill>
            </a:endParaRPr>
          </a:p>
          <a:p>
            <a:pPr algn="just" fontAlgn="base"/>
            <a:endParaRPr lang="en-US" b="0" i="0" dirty="0">
              <a:solidFill>
                <a:srgbClr val="000000"/>
              </a:solidFill>
              <a:effectLst/>
            </a:endParaRPr>
          </a:p>
          <a:p>
            <a:pPr algn="just" fontAlgn="base"/>
            <a:endParaRPr lang="en-US" dirty="0">
              <a:solidFill>
                <a:srgbClr val="000000"/>
              </a:solidFill>
            </a:endParaRPr>
          </a:p>
          <a:p>
            <a:pPr algn="just" fontAlgn="base"/>
            <a:endParaRPr lang="en-US" dirty="0">
              <a:solidFill>
                <a:srgbClr val="000000"/>
              </a:solidFill>
            </a:endParaRPr>
          </a:p>
          <a:p>
            <a:pPr algn="just" fontAlgn="base"/>
            <a:r>
              <a:rPr lang="en-US" b="0" i="0" dirty="0">
                <a:solidFill>
                  <a:srgbClr val="000000"/>
                </a:solidFill>
                <a:effectLst/>
              </a:rPr>
              <a:t>But, the EXCEPT Operator is not supported by MYSQL. We can achieve the EXCEPT Operator functionality in MySQL using the following ways.</a:t>
            </a:r>
          </a:p>
          <a:p>
            <a:pPr algn="just" fontAlgn="base"/>
            <a:r>
              <a:rPr lang="en-US" b="0" i="0" dirty="0">
                <a:solidFill>
                  <a:srgbClr val="000000"/>
                </a:solidFill>
                <a:effectLst/>
              </a:rPr>
              <a:t>Using NOT IN Operator to achieve EXCEPT functionality:</a:t>
            </a:r>
          </a:p>
          <a:p>
            <a:pPr algn="just" fontAlgn="base"/>
            <a:r>
              <a:rPr lang="en-US" b="0" i="0" dirty="0">
                <a:solidFill>
                  <a:srgbClr val="000000"/>
                </a:solidFill>
                <a:effectLst/>
              </a:rPr>
              <a:t>Here, we are checking the FirstName column value only. Following is the SQL Query using the NOT IN Operator which returns the employees from the first </a:t>
            </a:r>
            <a:r>
              <a:rPr lang="en-US" b="0" i="0" dirty="0" err="1">
                <a:solidFill>
                  <a:srgbClr val="000000"/>
                </a:solidFill>
                <a:effectLst/>
              </a:rPr>
              <a:t>EmployeeUK</a:t>
            </a:r>
            <a:r>
              <a:rPr lang="en-US" b="0" i="0" dirty="0">
                <a:solidFill>
                  <a:srgbClr val="000000"/>
                </a:solidFill>
                <a:effectLst/>
              </a:rPr>
              <a:t> table that are not present in the </a:t>
            </a:r>
            <a:r>
              <a:rPr lang="en-US" b="0" i="0" dirty="0" err="1">
                <a:solidFill>
                  <a:srgbClr val="000000"/>
                </a:solidFill>
                <a:effectLst/>
              </a:rPr>
              <a:t>EmployeeUSA</a:t>
            </a:r>
            <a:r>
              <a:rPr lang="en-US" b="0" i="0" dirty="0">
                <a:solidFill>
                  <a:srgbClr val="000000"/>
                </a:solidFill>
                <a:effectLst/>
              </a:rPr>
              <a:t> table.</a:t>
            </a:r>
          </a:p>
          <a:p>
            <a:pPr algn="just" fontAlgn="base"/>
            <a:endParaRPr lang="en-US" b="0" i="0" dirty="0">
              <a:solidFill>
                <a:srgbClr val="212529"/>
              </a:solidFill>
              <a:effectLst/>
              <a:latin typeface="-apple-system"/>
            </a:endParaRPr>
          </a:p>
        </p:txBody>
      </p:sp>
      <p:pic>
        <p:nvPicPr>
          <p:cNvPr id="2050" name="Picture 2" descr="SET Operators in MySQL with Examples">
            <a:extLst>
              <a:ext uri="{FF2B5EF4-FFF2-40B4-BE49-F238E27FC236}">
                <a16:creationId xmlns="" xmlns:a16="http://schemas.microsoft.com/office/drawing/2014/main" id="{99B25EFD-5B56-2230-E636-707AD54F7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09" y="1603736"/>
            <a:ext cx="51054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584177CF-622D-AB71-4434-5FDD469AFE4C}"/>
              </a:ext>
            </a:extLst>
          </p:cNvPr>
          <p:cNvPicPr>
            <a:picLocks noChangeAspect="1"/>
          </p:cNvPicPr>
          <p:nvPr/>
        </p:nvPicPr>
        <p:blipFill>
          <a:blip r:embed="rId3"/>
          <a:stretch>
            <a:fillRect/>
          </a:stretch>
        </p:blipFill>
        <p:spPr>
          <a:xfrm>
            <a:off x="6530253" y="1660886"/>
            <a:ext cx="4257675" cy="1257300"/>
          </a:xfrm>
          <a:prstGeom prst="rect">
            <a:avLst/>
          </a:prstGeom>
        </p:spPr>
      </p:pic>
    </p:spTree>
    <p:extLst>
      <p:ext uri="{BB962C8B-B14F-4D97-AF65-F5344CB8AC3E}">
        <p14:creationId xmlns:p14="http://schemas.microsoft.com/office/powerpoint/2010/main" val="310983817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2F350B-412D-9BC2-2671-DCA44537BA47}"/>
              </a:ext>
            </a:extLst>
          </p:cNvPr>
          <p:cNvSpPr>
            <a:spLocks noGrp="1"/>
          </p:cNvSpPr>
          <p:nvPr>
            <p:ph type="title"/>
          </p:nvPr>
        </p:nvSpPr>
        <p:spPr>
          <a:xfrm>
            <a:off x="367145" y="143452"/>
            <a:ext cx="10515600" cy="1006475"/>
          </a:xfrm>
        </p:spPr>
        <p:txBody>
          <a:bodyPr>
            <a:normAutofit/>
          </a:bodyPr>
          <a:lstStyle/>
          <a:p>
            <a:r>
              <a:rPr lang="en-US" sz="4000" b="1" i="0" u="none" strike="noStrike" baseline="0" dirty="0">
                <a:latin typeface="+mn-lt"/>
              </a:rPr>
              <a:t>Date Functions in SQL </a:t>
            </a:r>
            <a:endParaRPr lang="en-US" sz="4000" b="1" dirty="0">
              <a:latin typeface="+mn-lt"/>
            </a:endParaRPr>
          </a:p>
        </p:txBody>
      </p:sp>
      <p:sp>
        <p:nvSpPr>
          <p:cNvPr id="3" name="Content Placeholder 2">
            <a:extLst>
              <a:ext uri="{FF2B5EF4-FFF2-40B4-BE49-F238E27FC236}">
                <a16:creationId xmlns="" xmlns:a16="http://schemas.microsoft.com/office/drawing/2014/main" id="{FAEDEF75-0123-C3F2-A9DC-3F7D94D4F9A0}"/>
              </a:ext>
            </a:extLst>
          </p:cNvPr>
          <p:cNvSpPr>
            <a:spLocks noGrp="1"/>
          </p:cNvSpPr>
          <p:nvPr>
            <p:ph idx="1"/>
          </p:nvPr>
        </p:nvSpPr>
        <p:spPr>
          <a:xfrm>
            <a:off x="235527" y="1011382"/>
            <a:ext cx="11720946" cy="5458691"/>
          </a:xfrm>
        </p:spPr>
        <p:txBody>
          <a:bodyPr>
            <a:normAutofit/>
          </a:bodyPr>
          <a:lstStyle/>
          <a:p>
            <a:pPr algn="just"/>
            <a:r>
              <a:rPr lang="en-US" b="1" dirty="0"/>
              <a:t>CURRENT_TIMESTAMP() Function</a:t>
            </a:r>
          </a:p>
          <a:p>
            <a:pPr algn="just"/>
            <a:r>
              <a:rPr lang="en-US" dirty="0"/>
              <a:t>CURRENT_TIMESTAMP() function returns the current system timestamp.</a:t>
            </a:r>
          </a:p>
          <a:p>
            <a:pPr algn="just"/>
            <a:r>
              <a:rPr lang="en-US" dirty="0">
                <a:solidFill>
                  <a:srgbClr val="000099"/>
                </a:solidFill>
              </a:rPr>
              <a:t>SELECT CURRENT_TIMESTAMP AS </a:t>
            </a:r>
            <a:r>
              <a:rPr lang="en-US" dirty="0" err="1">
                <a:solidFill>
                  <a:srgbClr val="000099"/>
                </a:solidFill>
              </a:rPr>
              <a:t>CurrentServerDateTime</a:t>
            </a:r>
            <a:r>
              <a:rPr lang="en-US" dirty="0">
                <a:solidFill>
                  <a:srgbClr val="000099"/>
                </a:solidFill>
              </a:rPr>
              <a:t>;</a:t>
            </a:r>
          </a:p>
          <a:p>
            <a:pPr algn="just"/>
            <a:r>
              <a:rPr lang="en-US" b="1" dirty="0"/>
              <a:t>DATE_ADD() Function</a:t>
            </a:r>
          </a:p>
          <a:p>
            <a:pPr algn="just"/>
            <a:r>
              <a:rPr lang="en-US" dirty="0"/>
              <a:t>DATE_ADD() function adds a number to a </a:t>
            </a:r>
            <a:r>
              <a:rPr lang="en-US" dirty="0" err="1"/>
              <a:t>datepart</a:t>
            </a:r>
            <a:r>
              <a:rPr lang="en-US" dirty="0"/>
              <a:t> and returns the modified datetime value. The following example adds 1 day to the specified date</a:t>
            </a:r>
          </a:p>
          <a:p>
            <a:pPr algn="just"/>
            <a:r>
              <a:rPr lang="en-US" b="1" dirty="0">
                <a:solidFill>
                  <a:srgbClr val="000099"/>
                </a:solidFill>
              </a:rPr>
              <a:t>SELECT DATE_ADD('2022/10/01',interval 1 day) AS Result;   -- 2022-10-02</a:t>
            </a:r>
          </a:p>
          <a:p>
            <a:pPr algn="just"/>
            <a:r>
              <a:rPr lang="en-US" b="1" dirty="0"/>
              <a:t>DATEDIFF(expr1,expr2)</a:t>
            </a:r>
          </a:p>
          <a:p>
            <a:pPr algn="just"/>
            <a:r>
              <a:rPr lang="en-US" dirty="0"/>
              <a:t>DATEDIFF() returns expr1 − expr2 expressed as a value in days from one date to the other. expr1 and expr2 are date or date-and-time expressions.</a:t>
            </a:r>
          </a:p>
          <a:p>
            <a:pPr algn="just"/>
            <a:r>
              <a:rPr lang="en-US" b="1" dirty="0">
                <a:solidFill>
                  <a:srgbClr val="000099"/>
                </a:solidFill>
              </a:rPr>
              <a:t>SELECT DATEDIFF('2022/10/01','2022/09/25’);             --6</a:t>
            </a:r>
          </a:p>
        </p:txBody>
      </p:sp>
    </p:spTree>
    <p:extLst>
      <p:ext uri="{BB962C8B-B14F-4D97-AF65-F5344CB8AC3E}">
        <p14:creationId xmlns:p14="http://schemas.microsoft.com/office/powerpoint/2010/main" val="216923804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13" y="613424"/>
            <a:ext cx="672465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13" y="2242869"/>
            <a:ext cx="71247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513" y="3818854"/>
            <a:ext cx="56959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934495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2F350B-412D-9BC2-2671-DCA44537BA47}"/>
              </a:ext>
            </a:extLst>
          </p:cNvPr>
          <p:cNvSpPr>
            <a:spLocks noGrp="1"/>
          </p:cNvSpPr>
          <p:nvPr>
            <p:ph type="title"/>
          </p:nvPr>
        </p:nvSpPr>
        <p:spPr>
          <a:xfrm>
            <a:off x="367145" y="143452"/>
            <a:ext cx="10515600" cy="1006475"/>
          </a:xfrm>
        </p:spPr>
        <p:txBody>
          <a:bodyPr>
            <a:normAutofit/>
          </a:bodyPr>
          <a:lstStyle/>
          <a:p>
            <a:r>
              <a:rPr lang="en-US" sz="4000" b="1" i="0" u="none" strike="noStrike" baseline="0" dirty="0">
                <a:latin typeface="+mn-lt"/>
              </a:rPr>
              <a:t>String Functions in SQL </a:t>
            </a:r>
            <a:endParaRPr lang="en-US" sz="4000" b="1" dirty="0">
              <a:latin typeface="+mn-lt"/>
            </a:endParaRPr>
          </a:p>
        </p:txBody>
      </p:sp>
      <p:sp>
        <p:nvSpPr>
          <p:cNvPr id="3" name="Content Placeholder 2">
            <a:extLst>
              <a:ext uri="{FF2B5EF4-FFF2-40B4-BE49-F238E27FC236}">
                <a16:creationId xmlns="" xmlns:a16="http://schemas.microsoft.com/office/drawing/2014/main" id="{FAEDEF75-0123-C3F2-A9DC-3F7D94D4F9A0}"/>
              </a:ext>
            </a:extLst>
          </p:cNvPr>
          <p:cNvSpPr>
            <a:spLocks noGrp="1"/>
          </p:cNvSpPr>
          <p:nvPr>
            <p:ph idx="1"/>
          </p:nvPr>
        </p:nvSpPr>
        <p:spPr>
          <a:xfrm>
            <a:off x="235527" y="1011382"/>
            <a:ext cx="11720946" cy="5458691"/>
          </a:xfrm>
        </p:spPr>
        <p:txBody>
          <a:bodyPr>
            <a:normAutofit lnSpcReduction="10000"/>
          </a:bodyPr>
          <a:lstStyle/>
          <a:p>
            <a:pPr algn="just"/>
            <a:r>
              <a:rPr lang="en-US" b="1" dirty="0"/>
              <a:t>ASCII(str): </a:t>
            </a:r>
            <a:r>
              <a:rPr lang="en-US" dirty="0"/>
              <a:t>Returns the numeric value of the leftmost character of the string str. Returns 0 if str is the empty string. Returns NULL if str is NULL. ASCII() works for 8-bit characters.</a:t>
            </a:r>
          </a:p>
          <a:p>
            <a:pPr algn="just"/>
            <a:r>
              <a:rPr lang="en-US" dirty="0">
                <a:solidFill>
                  <a:srgbClr val="000099"/>
                </a:solidFill>
              </a:rPr>
              <a:t>SELECT ASCII('A’);                    --65</a:t>
            </a:r>
          </a:p>
          <a:p>
            <a:pPr algn="just"/>
            <a:r>
              <a:rPr lang="en-US" b="1" dirty="0"/>
              <a:t>INSERT(</a:t>
            </a:r>
            <a:r>
              <a:rPr lang="en-US" b="1" dirty="0" err="1"/>
              <a:t>str,pos,len,newstr</a:t>
            </a:r>
            <a:r>
              <a:rPr lang="en-US" b="1" dirty="0"/>
              <a:t>) :</a:t>
            </a:r>
            <a:r>
              <a:rPr lang="en-US" dirty="0"/>
              <a:t>Returns the string str, with the substring beginning at position pos and </a:t>
            </a:r>
            <a:r>
              <a:rPr lang="en-US" dirty="0" err="1"/>
              <a:t>len</a:t>
            </a:r>
            <a:r>
              <a:rPr lang="en-US" dirty="0"/>
              <a:t> characters long replaced by the string </a:t>
            </a:r>
            <a:r>
              <a:rPr lang="en-US" dirty="0" err="1"/>
              <a:t>newstr</a:t>
            </a:r>
            <a:r>
              <a:rPr lang="en-US" dirty="0"/>
              <a:t>.</a:t>
            </a:r>
          </a:p>
          <a:p>
            <a:pPr algn="just"/>
            <a:r>
              <a:rPr lang="en-US" b="1" dirty="0">
                <a:solidFill>
                  <a:srgbClr val="000099"/>
                </a:solidFill>
              </a:rPr>
              <a:t>SELECT INSERT('Quadratic', 3, 4, 'What’);     ---</a:t>
            </a:r>
            <a:r>
              <a:rPr lang="en-US" b="1" dirty="0" err="1">
                <a:solidFill>
                  <a:srgbClr val="000099"/>
                </a:solidFill>
              </a:rPr>
              <a:t>QuWhattic</a:t>
            </a:r>
            <a:endParaRPr lang="en-US" b="1" dirty="0">
              <a:solidFill>
                <a:srgbClr val="000099"/>
              </a:solidFill>
            </a:endParaRPr>
          </a:p>
          <a:p>
            <a:pPr algn="just"/>
            <a:r>
              <a:rPr lang="en-US" b="1" dirty="0"/>
              <a:t>INSTR(</a:t>
            </a:r>
            <a:r>
              <a:rPr lang="en-US" b="1" dirty="0" err="1"/>
              <a:t>str,substr</a:t>
            </a:r>
            <a:r>
              <a:rPr lang="en-US" b="1" dirty="0"/>
              <a:t>) : </a:t>
            </a:r>
            <a:r>
              <a:rPr lang="en-US" dirty="0"/>
              <a:t>Returns the position of the first occurrence of substring </a:t>
            </a:r>
            <a:r>
              <a:rPr lang="en-US" dirty="0" err="1"/>
              <a:t>substr</a:t>
            </a:r>
            <a:r>
              <a:rPr lang="en-US" dirty="0"/>
              <a:t> in string str.</a:t>
            </a:r>
          </a:p>
          <a:p>
            <a:pPr algn="just"/>
            <a:r>
              <a:rPr lang="en-US" b="1" dirty="0">
                <a:solidFill>
                  <a:srgbClr val="000099"/>
                </a:solidFill>
              </a:rPr>
              <a:t>SELECT INSTR('</a:t>
            </a:r>
            <a:r>
              <a:rPr lang="en-US" b="1" dirty="0" err="1">
                <a:solidFill>
                  <a:srgbClr val="000099"/>
                </a:solidFill>
              </a:rPr>
              <a:t>foobarbar</a:t>
            </a:r>
            <a:r>
              <a:rPr lang="en-US" b="1" dirty="0">
                <a:solidFill>
                  <a:srgbClr val="000099"/>
                </a:solidFill>
              </a:rPr>
              <a:t>', 'bar’);           -- 4</a:t>
            </a:r>
          </a:p>
          <a:p>
            <a:pPr algn="just"/>
            <a:r>
              <a:rPr lang="en-US" b="1" dirty="0">
                <a:solidFill>
                  <a:srgbClr val="000099"/>
                </a:solidFill>
              </a:rPr>
              <a:t>select LCASE('</a:t>
            </a:r>
            <a:r>
              <a:rPr lang="en-US" b="1" dirty="0" err="1">
                <a:solidFill>
                  <a:srgbClr val="000099"/>
                </a:solidFill>
              </a:rPr>
              <a:t>CoLleGe</a:t>
            </a:r>
            <a:r>
              <a:rPr lang="en-US" b="1" dirty="0">
                <a:solidFill>
                  <a:srgbClr val="000099"/>
                </a:solidFill>
              </a:rPr>
              <a:t>’);     ---- college</a:t>
            </a:r>
          </a:p>
          <a:p>
            <a:pPr algn="just"/>
            <a:r>
              <a:rPr lang="en-US" b="1" dirty="0">
                <a:solidFill>
                  <a:srgbClr val="000099"/>
                </a:solidFill>
              </a:rPr>
              <a:t>select Length('vit’);      --3</a:t>
            </a:r>
          </a:p>
        </p:txBody>
      </p:sp>
    </p:spTree>
    <p:extLst>
      <p:ext uri="{BB962C8B-B14F-4D97-AF65-F5344CB8AC3E}">
        <p14:creationId xmlns:p14="http://schemas.microsoft.com/office/powerpoint/2010/main" val="96797029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CBE689-B2F3-01A6-8756-5E38D833F121}"/>
              </a:ext>
            </a:extLst>
          </p:cNvPr>
          <p:cNvSpPr>
            <a:spLocks noGrp="1"/>
          </p:cNvSpPr>
          <p:nvPr>
            <p:ph type="title"/>
          </p:nvPr>
        </p:nvSpPr>
        <p:spPr>
          <a:xfrm>
            <a:off x="124690" y="115743"/>
            <a:ext cx="4793673" cy="1325563"/>
          </a:xfrm>
        </p:spPr>
        <p:txBody>
          <a:bodyPr/>
          <a:lstStyle/>
          <a:p>
            <a:r>
              <a:rPr lang="en-US" sz="4000" b="1" i="0" u="none" strike="noStrike" baseline="0" dirty="0">
                <a:latin typeface="+mn-lt"/>
              </a:rPr>
              <a:t>Nested queries</a:t>
            </a:r>
            <a:r>
              <a:rPr lang="en-US" sz="4000" b="1" i="0" dirty="0">
                <a:solidFill>
                  <a:srgbClr val="3A3A3A"/>
                </a:solidFill>
                <a:effectLst/>
                <a:latin typeface="+mn-lt"/>
              </a:rPr>
              <a:t> in SQL</a:t>
            </a:r>
            <a:r>
              <a:rPr lang="en-US" b="0" i="0" dirty="0">
                <a:solidFill>
                  <a:srgbClr val="3A3A3A"/>
                </a:solidFill>
                <a:effectLst/>
                <a:latin typeface="-apple-system"/>
              </a:rPr>
              <a:t/>
            </a:r>
            <a:br>
              <a:rPr lang="en-US" b="0" i="0" dirty="0">
                <a:solidFill>
                  <a:srgbClr val="3A3A3A"/>
                </a:solidFill>
                <a:effectLst/>
                <a:latin typeface="-apple-system"/>
              </a:rPr>
            </a:br>
            <a:endParaRPr lang="en-US" dirty="0"/>
          </a:p>
        </p:txBody>
      </p:sp>
      <p:sp>
        <p:nvSpPr>
          <p:cNvPr id="3" name="Content Placeholder 2">
            <a:extLst>
              <a:ext uri="{FF2B5EF4-FFF2-40B4-BE49-F238E27FC236}">
                <a16:creationId xmlns="" xmlns:a16="http://schemas.microsoft.com/office/drawing/2014/main" id="{BCE385A8-9686-F936-80C0-10EBAC29DD05}"/>
              </a:ext>
            </a:extLst>
          </p:cNvPr>
          <p:cNvSpPr>
            <a:spLocks noGrp="1"/>
          </p:cNvSpPr>
          <p:nvPr>
            <p:ph idx="1"/>
          </p:nvPr>
        </p:nvSpPr>
        <p:spPr>
          <a:xfrm>
            <a:off x="318654" y="1777279"/>
            <a:ext cx="11762510" cy="4665085"/>
          </a:xfrm>
        </p:spPr>
        <p:txBody>
          <a:bodyPr>
            <a:normAutofit fontScale="92500" lnSpcReduction="10000"/>
          </a:bodyPr>
          <a:lstStyle/>
          <a:p>
            <a:pPr algn="just" fontAlgn="base"/>
            <a:r>
              <a:rPr lang="en-US" i="0" dirty="0">
                <a:solidFill>
                  <a:srgbClr val="000000"/>
                </a:solidFill>
                <a:effectLst/>
              </a:rPr>
              <a:t>Nested queries are those queries which have an outer query and inner subquery. </a:t>
            </a:r>
          </a:p>
          <a:p>
            <a:pPr algn="just" fontAlgn="base"/>
            <a:r>
              <a:rPr lang="en-US" i="0" dirty="0">
                <a:solidFill>
                  <a:srgbClr val="000000"/>
                </a:solidFill>
                <a:effectLst/>
              </a:rPr>
              <a:t>So, basically, the subquery is a query which is nested within another query such as SELECT, INSERT, UPDATE or DELETE. </a:t>
            </a:r>
          </a:p>
          <a:p>
            <a:pPr algn="just" fontAlgn="base"/>
            <a:r>
              <a:rPr lang="en-US" b="0" i="0" dirty="0">
                <a:solidFill>
                  <a:srgbClr val="444444"/>
                </a:solidFill>
                <a:effectLst/>
                <a:latin typeface="Georgia" panose="02040502050405020303" pitchFamily="18" charset="0"/>
              </a:rPr>
              <a:t>SQL subqueries or nested queries are SQL statements where we need the results from our database after using multiple filters.</a:t>
            </a:r>
          </a:p>
          <a:p>
            <a:pPr marL="1773238" indent="0" algn="just" fontAlgn="base">
              <a:buNone/>
            </a:pPr>
            <a:r>
              <a:rPr lang="en-US" b="1" i="0" dirty="0">
                <a:solidFill>
                  <a:srgbClr val="000099"/>
                </a:solidFill>
                <a:effectLst/>
              </a:rPr>
              <a:t>SELECT </a:t>
            </a:r>
            <a:r>
              <a:rPr lang="en-US" b="1" i="0" dirty="0" err="1">
                <a:solidFill>
                  <a:srgbClr val="000099"/>
                </a:solidFill>
                <a:effectLst/>
              </a:rPr>
              <a:t>column_name</a:t>
            </a:r>
            <a:endParaRPr lang="en-US" b="1" i="0" dirty="0">
              <a:solidFill>
                <a:srgbClr val="000099"/>
              </a:solidFill>
              <a:effectLst/>
            </a:endParaRPr>
          </a:p>
          <a:p>
            <a:pPr marL="1773238" indent="0" algn="just" fontAlgn="base">
              <a:buNone/>
            </a:pPr>
            <a:r>
              <a:rPr lang="en-US" b="1" i="0" dirty="0">
                <a:solidFill>
                  <a:srgbClr val="000099"/>
                </a:solidFill>
                <a:effectLst/>
              </a:rPr>
              <a:t> FROM table_name1</a:t>
            </a:r>
          </a:p>
          <a:p>
            <a:pPr marL="1773238" indent="0" algn="just" fontAlgn="base">
              <a:buNone/>
            </a:pPr>
            <a:r>
              <a:rPr lang="en-US" b="1" i="0" dirty="0">
                <a:solidFill>
                  <a:srgbClr val="000099"/>
                </a:solidFill>
                <a:effectLst/>
              </a:rPr>
              <a:t>WHERE VALUE IN </a:t>
            </a:r>
          </a:p>
          <a:p>
            <a:pPr marL="1773238" indent="0" algn="just" fontAlgn="base">
              <a:buNone/>
            </a:pPr>
            <a:r>
              <a:rPr lang="en-US" b="1" i="0" dirty="0">
                <a:solidFill>
                  <a:srgbClr val="000099"/>
                </a:solidFill>
                <a:effectLst/>
              </a:rPr>
              <a:t>(SELECT </a:t>
            </a:r>
            <a:r>
              <a:rPr lang="en-US" b="1" i="0" dirty="0" err="1">
                <a:solidFill>
                  <a:srgbClr val="000099"/>
                </a:solidFill>
                <a:effectLst/>
              </a:rPr>
              <a:t>column_name</a:t>
            </a:r>
            <a:endParaRPr lang="en-US" b="1" i="0" dirty="0">
              <a:solidFill>
                <a:srgbClr val="000099"/>
              </a:solidFill>
              <a:effectLst/>
            </a:endParaRPr>
          </a:p>
          <a:p>
            <a:pPr marL="1773238" indent="0" algn="just" fontAlgn="base">
              <a:buNone/>
            </a:pPr>
            <a:r>
              <a:rPr lang="en-US" b="1" i="0" dirty="0">
                <a:solidFill>
                  <a:srgbClr val="000099"/>
                </a:solidFill>
                <a:effectLst/>
              </a:rPr>
              <a:t>FROM table_name2 </a:t>
            </a:r>
          </a:p>
          <a:p>
            <a:pPr marL="1773238" indent="0" algn="just" fontAlgn="base">
              <a:buNone/>
            </a:pPr>
            <a:r>
              <a:rPr lang="en-US" b="1" i="0" dirty="0">
                <a:solidFill>
                  <a:srgbClr val="000099"/>
                </a:solidFill>
                <a:effectLst/>
              </a:rPr>
              <a:t>WHERE condition)</a:t>
            </a:r>
          </a:p>
          <a:p>
            <a:pPr algn="just" fontAlgn="base"/>
            <a:endParaRPr lang="en-US" b="0" i="0" dirty="0">
              <a:solidFill>
                <a:srgbClr val="212529"/>
              </a:solidFill>
              <a:effectLst/>
            </a:endParaRPr>
          </a:p>
        </p:txBody>
      </p:sp>
      <p:pic>
        <p:nvPicPr>
          <p:cNvPr id="6" name="Picture 5">
            <a:extLst>
              <a:ext uri="{FF2B5EF4-FFF2-40B4-BE49-F238E27FC236}">
                <a16:creationId xmlns="" xmlns:a16="http://schemas.microsoft.com/office/drawing/2014/main" id="{6241F463-656F-A852-8D8D-748B8DE4DED5}"/>
              </a:ext>
            </a:extLst>
          </p:cNvPr>
          <p:cNvPicPr>
            <a:picLocks noChangeAspect="1"/>
          </p:cNvPicPr>
          <p:nvPr/>
        </p:nvPicPr>
        <p:blipFill>
          <a:blip r:embed="rId2"/>
          <a:stretch>
            <a:fillRect/>
          </a:stretch>
        </p:blipFill>
        <p:spPr>
          <a:xfrm>
            <a:off x="5076825" y="115743"/>
            <a:ext cx="7115175" cy="1661537"/>
          </a:xfrm>
          <a:prstGeom prst="rect">
            <a:avLst/>
          </a:prstGeom>
        </p:spPr>
      </p:pic>
    </p:spTree>
    <p:extLst>
      <p:ext uri="{BB962C8B-B14F-4D97-AF65-F5344CB8AC3E}">
        <p14:creationId xmlns:p14="http://schemas.microsoft.com/office/powerpoint/2010/main" val="188936805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CBE689-B2F3-01A6-8756-5E38D833F121}"/>
              </a:ext>
            </a:extLst>
          </p:cNvPr>
          <p:cNvSpPr>
            <a:spLocks noGrp="1"/>
          </p:cNvSpPr>
          <p:nvPr>
            <p:ph type="title"/>
          </p:nvPr>
        </p:nvSpPr>
        <p:spPr>
          <a:xfrm>
            <a:off x="124690" y="115743"/>
            <a:ext cx="4793673" cy="1325563"/>
          </a:xfrm>
        </p:spPr>
        <p:txBody>
          <a:bodyPr/>
          <a:lstStyle/>
          <a:p>
            <a:r>
              <a:rPr lang="en-US" sz="4000" b="1" i="0" u="none" strike="noStrike" baseline="0" dirty="0">
                <a:latin typeface="+mn-lt"/>
              </a:rPr>
              <a:t>Nested queries</a:t>
            </a:r>
            <a:r>
              <a:rPr lang="en-US" sz="4000" b="1" i="0" dirty="0">
                <a:solidFill>
                  <a:srgbClr val="3A3A3A"/>
                </a:solidFill>
                <a:effectLst/>
                <a:latin typeface="+mn-lt"/>
              </a:rPr>
              <a:t> in SQL</a:t>
            </a:r>
            <a:r>
              <a:rPr lang="en-US" b="0" i="0" dirty="0">
                <a:solidFill>
                  <a:srgbClr val="3A3A3A"/>
                </a:solidFill>
                <a:effectLst/>
                <a:latin typeface="-apple-system"/>
              </a:rPr>
              <a:t/>
            </a:r>
            <a:br>
              <a:rPr lang="en-US" b="0" i="0" dirty="0">
                <a:solidFill>
                  <a:srgbClr val="3A3A3A"/>
                </a:solidFill>
                <a:effectLst/>
                <a:latin typeface="-apple-system"/>
              </a:rPr>
            </a:br>
            <a:endParaRPr lang="en-US" dirty="0"/>
          </a:p>
        </p:txBody>
      </p:sp>
      <p:sp>
        <p:nvSpPr>
          <p:cNvPr id="3" name="Content Placeholder 2">
            <a:extLst>
              <a:ext uri="{FF2B5EF4-FFF2-40B4-BE49-F238E27FC236}">
                <a16:creationId xmlns="" xmlns:a16="http://schemas.microsoft.com/office/drawing/2014/main" id="{BCE385A8-9686-F936-80C0-10EBAC29DD05}"/>
              </a:ext>
            </a:extLst>
          </p:cNvPr>
          <p:cNvSpPr>
            <a:spLocks noGrp="1"/>
          </p:cNvSpPr>
          <p:nvPr>
            <p:ph idx="1"/>
          </p:nvPr>
        </p:nvSpPr>
        <p:spPr>
          <a:xfrm>
            <a:off x="318654" y="775855"/>
            <a:ext cx="11762510" cy="5666509"/>
          </a:xfrm>
        </p:spPr>
        <p:txBody>
          <a:bodyPr>
            <a:normAutofit/>
          </a:bodyPr>
          <a:lstStyle/>
          <a:p>
            <a:pPr algn="just" fontAlgn="base"/>
            <a:r>
              <a:rPr lang="en-US" b="1" i="0" dirty="0">
                <a:solidFill>
                  <a:srgbClr val="444444"/>
                </a:solidFill>
                <a:effectLst/>
              </a:rPr>
              <a:t>Rules to Use Subqueries in SQL</a:t>
            </a:r>
          </a:p>
          <a:p>
            <a:pPr algn="just" fontAlgn="base">
              <a:buFont typeface="Arial" panose="020B0604020202020204" pitchFamily="34" charset="0"/>
              <a:buChar char="•"/>
            </a:pPr>
            <a:r>
              <a:rPr lang="en-US" b="1" i="0" dirty="0">
                <a:solidFill>
                  <a:srgbClr val="000099"/>
                </a:solidFill>
                <a:effectLst/>
              </a:rPr>
              <a:t>Subqueries need to be enclosed in the Where clause </a:t>
            </a:r>
            <a:r>
              <a:rPr lang="en-US" b="0" i="0" dirty="0">
                <a:solidFill>
                  <a:srgbClr val="444444"/>
                </a:solidFill>
                <a:effectLst/>
              </a:rPr>
              <a:t>and can be used with Insert, Update, Delete, and Select statements.</a:t>
            </a:r>
          </a:p>
          <a:p>
            <a:pPr algn="just" fontAlgn="base">
              <a:buFont typeface="Arial" panose="020B0604020202020204" pitchFamily="34" charset="0"/>
              <a:buChar char="•"/>
            </a:pPr>
            <a:r>
              <a:rPr lang="en-US" b="1" i="0" dirty="0">
                <a:solidFill>
                  <a:srgbClr val="000099"/>
                </a:solidFill>
                <a:effectLst/>
              </a:rPr>
              <a:t>We can use comparison operators for example: &lt;, &gt;, &gt; =, &lt; =, !=, IN , Between </a:t>
            </a:r>
            <a:r>
              <a:rPr lang="en-US" b="0" i="0" dirty="0">
                <a:solidFill>
                  <a:srgbClr val="444444"/>
                </a:solidFill>
                <a:effectLst/>
              </a:rPr>
              <a:t>for the subqueries.</a:t>
            </a:r>
          </a:p>
          <a:p>
            <a:pPr algn="just" fontAlgn="base">
              <a:buFont typeface="Arial" panose="020B0604020202020204" pitchFamily="34" charset="0"/>
              <a:buChar char="•"/>
            </a:pPr>
            <a:r>
              <a:rPr lang="en-US" b="1" i="0" dirty="0">
                <a:solidFill>
                  <a:srgbClr val="000099"/>
                </a:solidFill>
                <a:effectLst/>
              </a:rPr>
              <a:t>The subquery is always executed first and then the main query.</a:t>
            </a:r>
          </a:p>
          <a:p>
            <a:pPr algn="just" fontAlgn="base">
              <a:buFont typeface="Arial" panose="020B0604020202020204" pitchFamily="34" charset="0"/>
              <a:buChar char="•"/>
            </a:pPr>
            <a:r>
              <a:rPr lang="en-US" b="1" i="0" dirty="0">
                <a:solidFill>
                  <a:srgbClr val="C00000"/>
                </a:solidFill>
                <a:effectLst/>
              </a:rPr>
              <a:t>Subquery should be enclosed within parentheses.</a:t>
            </a:r>
          </a:p>
          <a:p>
            <a:pPr algn="just" fontAlgn="base">
              <a:buFont typeface="Arial" panose="020B0604020202020204" pitchFamily="34" charset="0"/>
              <a:buChar char="•"/>
            </a:pPr>
            <a:r>
              <a:rPr lang="en-US" b="0" i="0" dirty="0">
                <a:solidFill>
                  <a:srgbClr val="444444"/>
                </a:solidFill>
                <a:effectLst/>
              </a:rPr>
              <a:t>Subqueries are </a:t>
            </a:r>
            <a:r>
              <a:rPr lang="en-US" b="1" i="0" dirty="0">
                <a:solidFill>
                  <a:srgbClr val="000099"/>
                </a:solidFill>
                <a:effectLst/>
              </a:rPr>
              <a:t>always to the right of the comparison operators.</a:t>
            </a:r>
          </a:p>
          <a:p>
            <a:pPr algn="just" fontAlgn="base">
              <a:buFont typeface="Arial" panose="020B0604020202020204" pitchFamily="34" charset="0"/>
              <a:buChar char="•"/>
            </a:pPr>
            <a:r>
              <a:rPr lang="en-US" b="1" i="0" dirty="0">
                <a:solidFill>
                  <a:srgbClr val="C00000"/>
                </a:solidFill>
                <a:effectLst/>
              </a:rPr>
              <a:t>We can’t use Order By clause in the subquery</a:t>
            </a:r>
            <a:r>
              <a:rPr lang="en-US" b="0" i="0" dirty="0">
                <a:solidFill>
                  <a:srgbClr val="444444"/>
                </a:solidFill>
                <a:effectLst/>
              </a:rPr>
              <a:t>; </a:t>
            </a:r>
            <a:r>
              <a:rPr lang="en-US" b="1" i="0" dirty="0">
                <a:solidFill>
                  <a:srgbClr val="000099"/>
                </a:solidFill>
                <a:effectLst/>
              </a:rPr>
              <a:t>instead, we can use the Group By clause.</a:t>
            </a:r>
          </a:p>
          <a:p>
            <a:pPr algn="just" fontAlgn="base">
              <a:buFont typeface="Arial" panose="020B0604020202020204" pitchFamily="34" charset="0"/>
              <a:buChar char="•"/>
            </a:pPr>
            <a:r>
              <a:rPr lang="en-US" b="1" i="0" dirty="0">
                <a:solidFill>
                  <a:srgbClr val="C00000"/>
                </a:solidFill>
                <a:effectLst/>
              </a:rPr>
              <a:t>We can’t use Between clause with a subquery</a:t>
            </a:r>
            <a:r>
              <a:rPr lang="en-US" b="0" i="0" dirty="0">
                <a:solidFill>
                  <a:srgbClr val="444444"/>
                </a:solidFill>
                <a:effectLst/>
              </a:rPr>
              <a:t>, </a:t>
            </a:r>
            <a:r>
              <a:rPr lang="en-US" b="1" i="0" dirty="0">
                <a:solidFill>
                  <a:srgbClr val="000099"/>
                </a:solidFill>
                <a:effectLst/>
              </a:rPr>
              <a:t>but we can use Between in a subquery.</a:t>
            </a:r>
          </a:p>
          <a:p>
            <a:pPr algn="just" fontAlgn="base"/>
            <a:endParaRPr lang="en-US" b="0" i="0" dirty="0">
              <a:solidFill>
                <a:srgbClr val="212529"/>
              </a:solidFill>
              <a:effectLst/>
            </a:endParaRPr>
          </a:p>
        </p:txBody>
      </p:sp>
    </p:spTree>
    <p:extLst>
      <p:ext uri="{BB962C8B-B14F-4D97-AF65-F5344CB8AC3E}">
        <p14:creationId xmlns:p14="http://schemas.microsoft.com/office/powerpoint/2010/main" val="360684262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E1A832-DF6D-C6B6-8C48-A57FE0ECFCCB}"/>
              </a:ext>
            </a:extLst>
          </p:cNvPr>
          <p:cNvSpPr>
            <a:spLocks noGrp="1"/>
          </p:cNvSpPr>
          <p:nvPr>
            <p:ph type="title"/>
          </p:nvPr>
        </p:nvSpPr>
        <p:spPr>
          <a:xfrm>
            <a:off x="242455" y="143453"/>
            <a:ext cx="10515600" cy="881784"/>
          </a:xfrm>
        </p:spPr>
        <p:txBody>
          <a:bodyPr/>
          <a:lstStyle/>
          <a:p>
            <a:r>
              <a:rPr lang="en-US" sz="4400" b="1" i="0" u="none" strike="noStrike" baseline="0" dirty="0">
                <a:latin typeface="+mn-lt"/>
              </a:rPr>
              <a:t>Nested queries</a:t>
            </a:r>
            <a:r>
              <a:rPr lang="en-US" sz="4400" b="1" i="0" dirty="0">
                <a:solidFill>
                  <a:srgbClr val="3A3A3A"/>
                </a:solidFill>
                <a:effectLst/>
                <a:latin typeface="+mn-lt"/>
              </a:rPr>
              <a:t> in SQL</a:t>
            </a:r>
            <a:endParaRPr lang="en-US" dirty="0"/>
          </a:p>
        </p:txBody>
      </p:sp>
      <p:sp>
        <p:nvSpPr>
          <p:cNvPr id="3" name="Content Placeholder 2">
            <a:extLst>
              <a:ext uri="{FF2B5EF4-FFF2-40B4-BE49-F238E27FC236}">
                <a16:creationId xmlns="" xmlns:a16="http://schemas.microsoft.com/office/drawing/2014/main" id="{8A984938-2D34-1856-1CA7-0FA438FBA21D}"/>
              </a:ext>
            </a:extLst>
          </p:cNvPr>
          <p:cNvSpPr>
            <a:spLocks noGrp="1"/>
          </p:cNvSpPr>
          <p:nvPr>
            <p:ph idx="1"/>
          </p:nvPr>
        </p:nvSpPr>
        <p:spPr>
          <a:xfrm>
            <a:off x="408709" y="1132897"/>
            <a:ext cx="5687292" cy="5581650"/>
          </a:xfrm>
        </p:spPr>
        <p:txBody>
          <a:bodyPr>
            <a:normAutofit/>
          </a:bodyPr>
          <a:lstStyle/>
          <a:p>
            <a:pPr algn="just"/>
            <a:r>
              <a:rPr lang="en-US" b="0" i="0" dirty="0">
                <a:effectLst/>
              </a:rPr>
              <a:t>SELECT Statement with Subquery</a:t>
            </a:r>
          </a:p>
          <a:p>
            <a:pPr algn="just"/>
            <a:r>
              <a:rPr lang="en-US" b="1" i="0" dirty="0">
                <a:effectLst/>
              </a:rPr>
              <a:t>Example 1: Let us find the second highest salary of the employee in</a:t>
            </a:r>
            <a:r>
              <a:rPr lang="en-US" dirty="0"/>
              <a:t> </a:t>
            </a:r>
            <a:r>
              <a:rPr lang="en-US" b="1" dirty="0"/>
              <a:t>emp</a:t>
            </a:r>
            <a:endParaRPr lang="en-US" b="1" i="0" dirty="0">
              <a:effectLst/>
            </a:endParaRPr>
          </a:p>
          <a:p>
            <a:pPr marL="0" indent="0" algn="just" fontAlgn="base">
              <a:buNone/>
            </a:pPr>
            <a:r>
              <a:rPr lang="en-US" b="1" i="0" dirty="0">
                <a:solidFill>
                  <a:srgbClr val="000099"/>
                </a:solidFill>
                <a:effectLst/>
              </a:rPr>
              <a:t>SELECT </a:t>
            </a:r>
            <a:r>
              <a:rPr lang="en-US" b="1" i="0" dirty="0" err="1">
                <a:solidFill>
                  <a:srgbClr val="000099"/>
                </a:solidFill>
                <a:effectLst/>
              </a:rPr>
              <a:t>emp_id</a:t>
            </a:r>
            <a:r>
              <a:rPr lang="en-US" b="1" i="0" dirty="0">
                <a:solidFill>
                  <a:srgbClr val="000099"/>
                </a:solidFill>
                <a:effectLst/>
              </a:rPr>
              <a:t>, MAX(salary) AS salary</a:t>
            </a:r>
          </a:p>
          <a:p>
            <a:pPr marL="0" indent="0" algn="just" fontAlgn="base">
              <a:buNone/>
            </a:pPr>
            <a:r>
              <a:rPr lang="en-US" b="1" i="0" dirty="0">
                <a:solidFill>
                  <a:srgbClr val="000099"/>
                </a:solidFill>
                <a:effectLst/>
              </a:rPr>
              <a:t>FROM emp</a:t>
            </a:r>
          </a:p>
          <a:p>
            <a:pPr marL="0" indent="0" algn="just" fontAlgn="base">
              <a:buNone/>
            </a:pPr>
            <a:r>
              <a:rPr lang="en-US" b="1" i="0" dirty="0">
                <a:solidFill>
                  <a:srgbClr val="000099"/>
                </a:solidFill>
                <a:effectLst/>
              </a:rPr>
              <a:t>WHERE salary &lt; (SELECT MAX(salary)</a:t>
            </a:r>
          </a:p>
          <a:p>
            <a:pPr marL="0" indent="0" algn="just" fontAlgn="base">
              <a:buNone/>
            </a:pPr>
            <a:r>
              <a:rPr lang="en-US" b="1" i="0" dirty="0">
                <a:solidFill>
                  <a:srgbClr val="000099"/>
                </a:solidFill>
                <a:effectLst/>
              </a:rPr>
              <a:t>FROM emp);</a:t>
            </a:r>
          </a:p>
          <a:p>
            <a:endParaRPr lang="en-US" dirty="0"/>
          </a:p>
        </p:txBody>
      </p:sp>
      <p:sp>
        <p:nvSpPr>
          <p:cNvPr id="4" name="Content Placeholder 2">
            <a:extLst>
              <a:ext uri="{FF2B5EF4-FFF2-40B4-BE49-F238E27FC236}">
                <a16:creationId xmlns="" xmlns:a16="http://schemas.microsoft.com/office/drawing/2014/main" id="{C3179AB6-49ED-F406-2681-08AD0F88938D}"/>
              </a:ext>
            </a:extLst>
          </p:cNvPr>
          <p:cNvSpPr txBox="1">
            <a:spLocks/>
          </p:cNvSpPr>
          <p:nvPr/>
        </p:nvSpPr>
        <p:spPr>
          <a:xfrm>
            <a:off x="6262253" y="584345"/>
            <a:ext cx="5687292" cy="55816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b="0" i="0" dirty="0">
                <a:effectLst/>
              </a:rPr>
              <a:t>Update Statement with Subquery</a:t>
            </a:r>
          </a:p>
          <a:p>
            <a:pPr algn="l" fontAlgn="base"/>
            <a:r>
              <a:rPr lang="en-US" b="1" i="0" dirty="0">
                <a:effectLst/>
              </a:rPr>
              <a:t>Example 2: Let us increase the salary of Senior Manager to 35000.</a:t>
            </a:r>
            <a:endParaRPr lang="en-US" b="0" i="0" dirty="0">
              <a:effectLst/>
            </a:endParaRPr>
          </a:p>
          <a:p>
            <a:pPr marL="0" indent="0">
              <a:buNone/>
            </a:pPr>
            <a:r>
              <a:rPr lang="en-US" b="1" dirty="0">
                <a:solidFill>
                  <a:srgbClr val="000099"/>
                </a:solidFill>
              </a:rPr>
              <a:t>UPDATE EMP AS E, (SELECT </a:t>
            </a:r>
            <a:r>
              <a:rPr lang="en-US" b="1" dirty="0" err="1">
                <a:solidFill>
                  <a:srgbClr val="000099"/>
                </a:solidFill>
              </a:rPr>
              <a:t>EmployeeID</a:t>
            </a:r>
            <a:r>
              <a:rPr lang="en-US" b="1" dirty="0">
                <a:solidFill>
                  <a:srgbClr val="000099"/>
                </a:solidFill>
              </a:rPr>
              <a:t>  FROM emp WHERE post='</a:t>
            </a:r>
            <a:r>
              <a:rPr lang="en-US" b="1" dirty="0" err="1">
                <a:solidFill>
                  <a:srgbClr val="000099"/>
                </a:solidFill>
              </a:rPr>
              <a:t>Sr.Manager</a:t>
            </a:r>
            <a:r>
              <a:rPr lang="en-US" b="1" dirty="0">
                <a:solidFill>
                  <a:srgbClr val="000099"/>
                </a:solidFill>
              </a:rPr>
              <a:t>') AS P</a:t>
            </a:r>
          </a:p>
          <a:p>
            <a:pPr marL="0" indent="0">
              <a:buNone/>
            </a:pPr>
            <a:r>
              <a:rPr lang="en-US" b="1" dirty="0">
                <a:solidFill>
                  <a:srgbClr val="000099"/>
                </a:solidFill>
              </a:rPr>
              <a:t>SET </a:t>
            </a:r>
            <a:r>
              <a:rPr lang="en-US" b="1" dirty="0" err="1">
                <a:solidFill>
                  <a:srgbClr val="000099"/>
                </a:solidFill>
              </a:rPr>
              <a:t>E.salary</a:t>
            </a:r>
            <a:r>
              <a:rPr lang="en-US" b="1" dirty="0">
                <a:solidFill>
                  <a:srgbClr val="000099"/>
                </a:solidFill>
              </a:rPr>
              <a:t>=35000  </a:t>
            </a:r>
          </a:p>
          <a:p>
            <a:pPr marL="0" indent="0">
              <a:buNone/>
            </a:pPr>
            <a:r>
              <a:rPr lang="en-US" b="1" dirty="0">
                <a:solidFill>
                  <a:srgbClr val="000099"/>
                </a:solidFill>
              </a:rPr>
              <a:t>WHERE </a:t>
            </a:r>
            <a:r>
              <a:rPr lang="en-US" b="1" dirty="0" err="1">
                <a:solidFill>
                  <a:srgbClr val="000099"/>
                </a:solidFill>
              </a:rPr>
              <a:t>E.EmployeeID</a:t>
            </a:r>
            <a:r>
              <a:rPr lang="en-US" b="1" dirty="0">
                <a:solidFill>
                  <a:srgbClr val="000099"/>
                </a:solidFill>
              </a:rPr>
              <a:t> = </a:t>
            </a:r>
            <a:r>
              <a:rPr lang="en-US" b="1" dirty="0" err="1">
                <a:solidFill>
                  <a:srgbClr val="000099"/>
                </a:solidFill>
              </a:rPr>
              <a:t>P.EmployeeID</a:t>
            </a:r>
            <a:r>
              <a:rPr lang="en-US" b="1" dirty="0">
                <a:solidFill>
                  <a:srgbClr val="000099"/>
                </a:solidFill>
              </a:rPr>
              <a:t>;</a:t>
            </a:r>
          </a:p>
        </p:txBody>
      </p:sp>
    </p:spTree>
    <p:extLst>
      <p:ext uri="{BB962C8B-B14F-4D97-AF65-F5344CB8AC3E}">
        <p14:creationId xmlns:p14="http://schemas.microsoft.com/office/powerpoint/2010/main" val="277199086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183" y="60325"/>
            <a:ext cx="11353800" cy="1325563"/>
          </a:xfrm>
        </p:spPr>
        <p:txBody>
          <a:bodyPr/>
          <a:lstStyle/>
          <a:p>
            <a:r>
              <a:rPr lang="en-US" dirty="0" smtClean="0"/>
              <a:t>Finding second highest salary through nested query</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1385888"/>
            <a:ext cx="9182100"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567414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649" y="1264946"/>
            <a:ext cx="91821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12769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0" y="0"/>
            <a:ext cx="11225011" cy="768216"/>
          </a:xfrm>
        </p:spPr>
        <p:txBody>
          <a:bodyPr/>
          <a:lstStyle/>
          <a:p>
            <a:r>
              <a:rPr lang="en-US" dirty="0" smtClean="0"/>
              <a:t>Nested Query Examples</a:t>
            </a:r>
            <a:endParaRPr lang="en-US" dirty="0"/>
          </a:p>
        </p:txBody>
      </p:sp>
      <p:sp>
        <p:nvSpPr>
          <p:cNvPr id="3" name="Content Placeholder 2"/>
          <p:cNvSpPr>
            <a:spLocks noGrp="1"/>
          </p:cNvSpPr>
          <p:nvPr>
            <p:ph idx="1"/>
          </p:nvPr>
        </p:nvSpPr>
        <p:spPr>
          <a:xfrm>
            <a:off x="7096259" y="847511"/>
            <a:ext cx="4257540" cy="4351338"/>
          </a:xfrm>
        </p:spPr>
        <p:txBody>
          <a:bodyPr/>
          <a:lstStyle/>
          <a:p>
            <a:r>
              <a:rPr lang="en-US" dirty="0" smtClean="0"/>
              <a:t>Identify list of employee having salary &gt;4500.</a:t>
            </a:r>
          </a:p>
          <a:p>
            <a:endParaRPr lang="en-US" dirty="0"/>
          </a:p>
          <a:p>
            <a:r>
              <a:rPr lang="en-US" dirty="0" smtClean="0"/>
              <a:t>Update salary of an </a:t>
            </a:r>
            <a:r>
              <a:rPr lang="en-US" smtClean="0"/>
              <a:t>employee with 0.25% </a:t>
            </a:r>
            <a:r>
              <a:rPr lang="en-US" dirty="0" smtClean="0"/>
              <a:t>whose age is greater than or equal to 29.</a:t>
            </a:r>
            <a:endParaRPr lang="en-US" dirty="0"/>
          </a:p>
        </p:txBody>
      </p:sp>
      <p:pic>
        <p:nvPicPr>
          <p:cNvPr id="1028" name="Picture 4"/>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64072" y="1226377"/>
            <a:ext cx="6686550"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89270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Co-related Nested </a:t>
            </a:r>
            <a:r>
              <a:rPr lang="en-US" dirty="0" smtClean="0"/>
              <a:t>Queries/Correlated Sub query</a:t>
            </a:r>
            <a:endParaRPr lang="en-US" dirty="0"/>
          </a:p>
        </p:txBody>
      </p:sp>
      <p:sp>
        <p:nvSpPr>
          <p:cNvPr id="3" name="Content Placeholder 2"/>
          <p:cNvSpPr>
            <a:spLocks noGrp="1"/>
          </p:cNvSpPr>
          <p:nvPr>
            <p:ph idx="1"/>
          </p:nvPr>
        </p:nvSpPr>
        <p:spPr>
          <a:xfrm>
            <a:off x="838200" y="1825625"/>
            <a:ext cx="6683062" cy="4351338"/>
          </a:xfrm>
        </p:spPr>
        <p:txBody>
          <a:bodyPr>
            <a:normAutofit fontScale="92500"/>
          </a:bodyPr>
          <a:lstStyle/>
          <a:p>
            <a:r>
              <a:rPr lang="en-US" dirty="0"/>
              <a:t> In co-related nested queries, the output of inner query depends on the row which is being currently executed in outer query</a:t>
            </a:r>
            <a:r>
              <a:rPr lang="en-US" dirty="0" smtClean="0"/>
              <a:t>.</a:t>
            </a:r>
          </a:p>
          <a:p>
            <a:r>
              <a:rPr lang="en-US" dirty="0"/>
              <a:t> Correlated </a:t>
            </a:r>
            <a:r>
              <a:rPr lang="en-US" dirty="0" smtClean="0"/>
              <a:t>sub queries </a:t>
            </a:r>
            <a:r>
              <a:rPr lang="en-US" dirty="0"/>
              <a:t>are used for row-by-row processing. Each </a:t>
            </a:r>
            <a:r>
              <a:rPr lang="en-US" dirty="0" smtClean="0"/>
              <a:t>sub query </a:t>
            </a:r>
            <a:r>
              <a:rPr lang="en-US" dirty="0"/>
              <a:t>is executed once for every row of the outer query</a:t>
            </a:r>
            <a:r>
              <a:rPr lang="en-US" dirty="0" smtClean="0"/>
              <a:t>. That is </a:t>
            </a:r>
            <a:r>
              <a:rPr lang="en-US" dirty="0"/>
              <a:t>The </a:t>
            </a:r>
            <a:r>
              <a:rPr lang="en-US" dirty="0" err="1"/>
              <a:t>subquery</a:t>
            </a:r>
            <a:r>
              <a:rPr lang="en-US" dirty="0"/>
              <a:t> is executed repeatedly for each row of the outer query, using the values from the current row to perform the </a:t>
            </a:r>
            <a:r>
              <a:rPr lang="en-US" dirty="0" err="1"/>
              <a:t>subquery</a:t>
            </a:r>
            <a:r>
              <a:rPr lang="en-US" dirty="0" smtClean="0"/>
              <a:t>.</a:t>
            </a:r>
          </a:p>
          <a:p>
            <a:r>
              <a:rPr lang="en-US" dirty="0">
                <a:solidFill>
                  <a:srgbClr val="FF0000"/>
                </a:solidFill>
              </a:rPr>
              <a:t>In other words, the inner query is driven by the outer query.</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9140" y="1637026"/>
            <a:ext cx="4511362" cy="37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691327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8" y="159064"/>
            <a:ext cx="10735614" cy="811481"/>
          </a:xfrm>
        </p:spPr>
        <p:txBody>
          <a:bodyPr/>
          <a:lstStyle/>
          <a:p>
            <a:r>
              <a:rPr lang="en-US" b="1" dirty="0" smtClean="0"/>
              <a:t>Exists and Not exist keyword</a:t>
            </a:r>
            <a:endParaRPr lang="en-US" b="1" dirty="0"/>
          </a:p>
        </p:txBody>
      </p:sp>
      <p:sp>
        <p:nvSpPr>
          <p:cNvPr id="3" name="Content Placeholder 2"/>
          <p:cNvSpPr>
            <a:spLocks noGrp="1"/>
          </p:cNvSpPr>
          <p:nvPr>
            <p:ph idx="1"/>
          </p:nvPr>
        </p:nvSpPr>
        <p:spPr>
          <a:xfrm>
            <a:off x="7289441" y="1022060"/>
            <a:ext cx="4378818" cy="5378739"/>
          </a:xfrm>
        </p:spPr>
        <p:txBody>
          <a:bodyPr>
            <a:normAutofit fontScale="92500" lnSpcReduction="10000"/>
          </a:bodyPr>
          <a:lstStyle/>
          <a:p>
            <a:r>
              <a:rPr lang="en-US" b="1" dirty="0"/>
              <a:t>Using EXISTS condition with SELECT statement</a:t>
            </a:r>
            <a:r>
              <a:rPr lang="en-US" dirty="0"/>
              <a:t> To fetch the first and last name of the customers who placed </a:t>
            </a:r>
            <a:r>
              <a:rPr lang="en-US" dirty="0" err="1"/>
              <a:t>atleast</a:t>
            </a:r>
            <a:r>
              <a:rPr lang="en-US" dirty="0"/>
              <a:t> one order</a:t>
            </a:r>
            <a:r>
              <a:rPr lang="en-US" dirty="0" smtClean="0"/>
              <a:t>.</a:t>
            </a:r>
          </a:p>
          <a:p>
            <a:r>
              <a:rPr lang="en-US" b="1" dirty="0"/>
              <a:t>Using EXISTS condition with DELETE statement</a:t>
            </a:r>
            <a:r>
              <a:rPr lang="en-US" dirty="0"/>
              <a:t> Delete the record of all the customer from Order Table whose last name is ‘</a:t>
            </a:r>
            <a:r>
              <a:rPr lang="en-US" dirty="0" err="1"/>
              <a:t>Mehra</a:t>
            </a:r>
            <a:r>
              <a:rPr lang="en-US" dirty="0" smtClean="0"/>
              <a:t>’.</a:t>
            </a:r>
          </a:p>
          <a:p>
            <a:r>
              <a:rPr lang="en-US" b="1" dirty="0"/>
              <a:t>Using EXISTS condition with UPDATE statement</a:t>
            </a:r>
            <a:r>
              <a:rPr lang="en-US" dirty="0"/>
              <a:t> Update the </a:t>
            </a:r>
            <a:r>
              <a:rPr lang="en-US" dirty="0" err="1"/>
              <a:t>lname</a:t>
            </a:r>
            <a:r>
              <a:rPr lang="en-US" dirty="0"/>
              <a:t> as ‘</a:t>
            </a:r>
            <a:r>
              <a:rPr lang="en-US" dirty="0" err="1"/>
              <a:t>Kumari</a:t>
            </a:r>
            <a:r>
              <a:rPr lang="en-US" dirty="0"/>
              <a:t>’ of customer in Customer Table whose </a:t>
            </a:r>
            <a:r>
              <a:rPr lang="en-US" dirty="0" err="1"/>
              <a:t>customer_id</a:t>
            </a:r>
            <a:r>
              <a:rPr lang="en-US" dirty="0"/>
              <a:t> is 401.</a:t>
            </a:r>
          </a:p>
          <a:p>
            <a:endParaRPr lang="en-US" dirty="0"/>
          </a:p>
          <a:p>
            <a:endParaRPr lang="en-US" dirty="0"/>
          </a:p>
          <a:p>
            <a:endParaRPr lang="en-US" dirty="0"/>
          </a:p>
        </p:txBody>
      </p:sp>
      <p:pic>
        <p:nvPicPr>
          <p:cNvPr id="1027" name="Picture 3"/>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8764"/>
          <a:stretch/>
        </p:blipFill>
        <p:spPr bwMode="auto">
          <a:xfrm>
            <a:off x="292190" y="1022061"/>
            <a:ext cx="6438900" cy="4979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418923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22595484"/>
              </p:ext>
            </p:extLst>
          </p:nvPr>
        </p:nvGraphicFramePr>
        <p:xfrm>
          <a:off x="606380" y="1036577"/>
          <a:ext cx="10515600" cy="365760"/>
        </p:xfrm>
        <a:graphic>
          <a:graphicData uri="http://schemas.openxmlformats.org/drawingml/2006/table">
            <a:tbl>
              <a:tblPr/>
              <a:tblGrid>
                <a:gridCol w="3505200"/>
                <a:gridCol w="3505200"/>
                <a:gridCol w="3505200"/>
              </a:tblGrid>
              <a:tr h="0">
                <a:tc>
                  <a:txBody>
                    <a:bodyPr/>
                    <a:lstStyle/>
                    <a:p>
                      <a:r>
                        <a:rPr lang="en-US" b="1" dirty="0" smtClean="0"/>
                        <a:t>Feature</a:t>
                      </a:r>
                      <a:endParaRPr lang="en-US" b="1" dirty="0"/>
                    </a:p>
                  </a:txBody>
                  <a:tcPr anchor="ctr">
                    <a:lnL>
                      <a:noFill/>
                    </a:lnL>
                    <a:lnR>
                      <a:noFill/>
                    </a:lnR>
                    <a:lnT>
                      <a:noFill/>
                    </a:lnT>
                    <a:lnB>
                      <a:noFill/>
                    </a:lnB>
                  </a:tcPr>
                </a:tc>
                <a:tc>
                  <a:txBody>
                    <a:bodyPr/>
                    <a:lstStyle/>
                    <a:p>
                      <a:r>
                        <a:rPr lang="en-US" b="1"/>
                        <a:t>Nested Query</a:t>
                      </a:r>
                    </a:p>
                  </a:txBody>
                  <a:tcPr anchor="ctr">
                    <a:lnL>
                      <a:noFill/>
                    </a:lnL>
                    <a:lnR>
                      <a:noFill/>
                    </a:lnR>
                    <a:lnT>
                      <a:noFill/>
                    </a:lnT>
                    <a:lnB>
                      <a:noFill/>
                    </a:lnB>
                  </a:tcPr>
                </a:tc>
                <a:tc>
                  <a:txBody>
                    <a:bodyPr/>
                    <a:lstStyle/>
                    <a:p>
                      <a:r>
                        <a:rPr lang="en-US" b="1" dirty="0"/>
                        <a:t>Correlated </a:t>
                      </a:r>
                      <a:r>
                        <a:rPr lang="en-US" b="1" dirty="0" smtClean="0"/>
                        <a:t>Sub query</a:t>
                      </a:r>
                      <a:endParaRPr lang="en-US" b="1" dirty="0"/>
                    </a:p>
                  </a:txBody>
                  <a:tcPr anchor="ctr">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45035884"/>
              </p:ext>
            </p:extLst>
          </p:nvPr>
        </p:nvGraphicFramePr>
        <p:xfrm>
          <a:off x="541985" y="1478967"/>
          <a:ext cx="10515600" cy="640080"/>
        </p:xfrm>
        <a:graphic>
          <a:graphicData uri="http://schemas.openxmlformats.org/drawingml/2006/table">
            <a:tbl>
              <a:tblPr/>
              <a:tblGrid>
                <a:gridCol w="3505200"/>
                <a:gridCol w="3505200"/>
                <a:gridCol w="3505200"/>
              </a:tblGrid>
              <a:tr h="0">
                <a:tc>
                  <a:txBody>
                    <a:bodyPr/>
                    <a:lstStyle/>
                    <a:p>
                      <a:r>
                        <a:rPr lang="en-US" b="1" dirty="0"/>
                        <a:t>Execution</a:t>
                      </a:r>
                      <a:endParaRPr lang="en-US" dirty="0"/>
                    </a:p>
                  </a:txBody>
                  <a:tcPr anchor="ctr">
                    <a:lnL>
                      <a:noFill/>
                    </a:lnL>
                    <a:lnR>
                      <a:noFill/>
                    </a:lnR>
                    <a:lnT>
                      <a:noFill/>
                    </a:lnT>
                    <a:lnB>
                      <a:noFill/>
                    </a:lnB>
                  </a:tcPr>
                </a:tc>
                <a:tc>
                  <a:txBody>
                    <a:bodyPr/>
                    <a:lstStyle/>
                    <a:p>
                      <a:r>
                        <a:rPr lang="en-US" dirty="0"/>
                        <a:t>Runs once, result used by outer query</a:t>
                      </a:r>
                    </a:p>
                  </a:txBody>
                  <a:tcPr anchor="ctr">
                    <a:lnL>
                      <a:noFill/>
                    </a:lnL>
                    <a:lnR>
                      <a:noFill/>
                    </a:lnR>
                    <a:lnT>
                      <a:noFill/>
                    </a:lnT>
                    <a:lnB>
                      <a:noFill/>
                    </a:lnB>
                  </a:tcPr>
                </a:tc>
                <a:tc>
                  <a:txBody>
                    <a:bodyPr/>
                    <a:lstStyle/>
                    <a:p>
                      <a:r>
                        <a:rPr lang="en-US" dirty="0"/>
                        <a:t>Runs for each row of the outer query</a:t>
                      </a:r>
                    </a:p>
                  </a:txBody>
                  <a:tcPr anchor="ctr">
                    <a:lnL>
                      <a:noFill/>
                    </a:lnL>
                    <a:lnR>
                      <a:noFill/>
                    </a:lnR>
                    <a:lnT>
                      <a:noFill/>
                    </a:lnT>
                    <a:lnB>
                      <a:noFill/>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61473951"/>
              </p:ext>
            </p:extLst>
          </p:nvPr>
        </p:nvGraphicFramePr>
        <p:xfrm>
          <a:off x="503350" y="2144160"/>
          <a:ext cx="10515600" cy="365760"/>
        </p:xfrm>
        <a:graphic>
          <a:graphicData uri="http://schemas.openxmlformats.org/drawingml/2006/table">
            <a:tbl>
              <a:tblPr/>
              <a:tblGrid>
                <a:gridCol w="3505200"/>
                <a:gridCol w="3505200"/>
                <a:gridCol w="3505200"/>
              </a:tblGrid>
              <a:tr h="0">
                <a:tc>
                  <a:txBody>
                    <a:bodyPr/>
                    <a:lstStyle/>
                    <a:p>
                      <a:r>
                        <a:rPr lang="en-US" b="1" dirty="0"/>
                        <a:t>Dependency</a:t>
                      </a:r>
                      <a:endParaRPr lang="en-US" dirty="0"/>
                    </a:p>
                  </a:txBody>
                  <a:tcPr anchor="ctr">
                    <a:lnL>
                      <a:noFill/>
                    </a:lnL>
                    <a:lnR>
                      <a:noFill/>
                    </a:lnR>
                    <a:lnT>
                      <a:noFill/>
                    </a:lnT>
                    <a:lnB>
                      <a:noFill/>
                    </a:lnB>
                  </a:tcPr>
                </a:tc>
                <a:tc>
                  <a:txBody>
                    <a:bodyPr/>
                    <a:lstStyle/>
                    <a:p>
                      <a:r>
                        <a:rPr lang="en-US" dirty="0"/>
                        <a:t>Independent of the outer query</a:t>
                      </a:r>
                    </a:p>
                  </a:txBody>
                  <a:tcPr anchor="ctr">
                    <a:lnL>
                      <a:noFill/>
                    </a:lnL>
                    <a:lnR>
                      <a:noFill/>
                    </a:lnR>
                    <a:lnT>
                      <a:noFill/>
                    </a:lnT>
                    <a:lnB>
                      <a:noFill/>
                    </a:lnB>
                  </a:tcPr>
                </a:tc>
                <a:tc>
                  <a:txBody>
                    <a:bodyPr/>
                    <a:lstStyle/>
                    <a:p>
                      <a:r>
                        <a:rPr lang="en-US" dirty="0"/>
                        <a:t>Dependent on the outer query</a:t>
                      </a:r>
                    </a:p>
                  </a:txBody>
                  <a:tcPr anchor="ctr">
                    <a:lnL>
                      <a:noFill/>
                    </a:lnL>
                    <a:lnR>
                      <a:noFill/>
                    </a:lnR>
                    <a:lnT>
                      <a:noFill/>
                    </a:lnT>
                    <a:lnB>
                      <a:noFill/>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93371397"/>
              </p:ext>
            </p:extLst>
          </p:nvPr>
        </p:nvGraphicFramePr>
        <p:xfrm>
          <a:off x="593501" y="2620679"/>
          <a:ext cx="10515600" cy="365760"/>
        </p:xfrm>
        <a:graphic>
          <a:graphicData uri="http://schemas.openxmlformats.org/drawingml/2006/table">
            <a:tbl>
              <a:tblPr/>
              <a:tblGrid>
                <a:gridCol w="3505200"/>
                <a:gridCol w="3505200"/>
                <a:gridCol w="3505200"/>
              </a:tblGrid>
              <a:tr h="0">
                <a:tc>
                  <a:txBody>
                    <a:bodyPr/>
                    <a:lstStyle/>
                    <a:p>
                      <a:r>
                        <a:rPr lang="en-US" b="1" dirty="0"/>
                        <a:t>Performance</a:t>
                      </a:r>
                      <a:endParaRPr lang="en-US" dirty="0"/>
                    </a:p>
                  </a:txBody>
                  <a:tcPr anchor="ctr">
                    <a:lnL>
                      <a:noFill/>
                    </a:lnL>
                    <a:lnR>
                      <a:noFill/>
                    </a:lnR>
                    <a:lnT>
                      <a:noFill/>
                    </a:lnT>
                    <a:lnB>
                      <a:noFill/>
                    </a:lnB>
                  </a:tcPr>
                </a:tc>
                <a:tc>
                  <a:txBody>
                    <a:bodyPr/>
                    <a:lstStyle/>
                    <a:p>
                      <a:r>
                        <a:rPr lang="en-US" dirty="0"/>
                        <a:t>Generally faster</a:t>
                      </a:r>
                    </a:p>
                  </a:txBody>
                  <a:tcPr anchor="ctr">
                    <a:lnL>
                      <a:noFill/>
                    </a:lnL>
                    <a:lnR>
                      <a:noFill/>
                    </a:lnR>
                    <a:lnT>
                      <a:noFill/>
                    </a:lnT>
                    <a:lnB>
                      <a:noFill/>
                    </a:lnB>
                  </a:tcPr>
                </a:tc>
                <a:tc>
                  <a:txBody>
                    <a:bodyPr/>
                    <a:lstStyle/>
                    <a:p>
                      <a:r>
                        <a:rPr lang="en-US" dirty="0"/>
                        <a:t>Can be slow for large datasets</a:t>
                      </a:r>
                    </a:p>
                  </a:txBody>
                  <a:tcPr anchor="ctr">
                    <a:lnL>
                      <a:noFill/>
                    </a:lnL>
                    <a:lnR>
                      <a:noFill/>
                    </a:lnR>
                    <a:lnT>
                      <a:noFill/>
                    </a:lnT>
                    <a:lnB>
                      <a:noFill/>
                    </a:lnB>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660022412"/>
              </p:ext>
            </p:extLst>
          </p:nvPr>
        </p:nvGraphicFramePr>
        <p:xfrm>
          <a:off x="696531" y="3088826"/>
          <a:ext cx="10515600" cy="640080"/>
        </p:xfrm>
        <a:graphic>
          <a:graphicData uri="http://schemas.openxmlformats.org/drawingml/2006/table">
            <a:tbl>
              <a:tblPr/>
              <a:tblGrid>
                <a:gridCol w="3505200"/>
                <a:gridCol w="3505200"/>
                <a:gridCol w="3505200"/>
              </a:tblGrid>
              <a:tr h="0">
                <a:tc>
                  <a:txBody>
                    <a:bodyPr/>
                    <a:lstStyle/>
                    <a:p>
                      <a:r>
                        <a:rPr lang="en-US" b="1" dirty="0"/>
                        <a:t>Use Cases</a:t>
                      </a:r>
                      <a:endParaRPr lang="en-US" dirty="0"/>
                    </a:p>
                  </a:txBody>
                  <a:tcPr anchor="ctr">
                    <a:lnL>
                      <a:noFill/>
                    </a:lnL>
                    <a:lnR>
                      <a:noFill/>
                    </a:lnR>
                    <a:lnT>
                      <a:noFill/>
                    </a:lnT>
                    <a:lnB>
                      <a:noFill/>
                    </a:lnB>
                  </a:tcPr>
                </a:tc>
                <a:tc>
                  <a:txBody>
                    <a:bodyPr/>
                    <a:lstStyle/>
                    <a:p>
                      <a:r>
                        <a:rPr lang="en-US"/>
                        <a:t>Filtering, comparison, finding max/min values</a:t>
                      </a:r>
                    </a:p>
                  </a:txBody>
                  <a:tcPr anchor="ctr">
                    <a:lnL>
                      <a:noFill/>
                    </a:lnL>
                    <a:lnR>
                      <a:noFill/>
                    </a:lnR>
                    <a:lnT>
                      <a:noFill/>
                    </a:lnT>
                    <a:lnB>
                      <a:noFill/>
                    </a:lnB>
                  </a:tcPr>
                </a:tc>
                <a:tc>
                  <a:txBody>
                    <a:bodyPr/>
                    <a:lstStyle/>
                    <a:p>
                      <a:r>
                        <a:rPr lang="en-US" dirty="0"/>
                        <a:t>Row-by-row comparisons, filtering based on row-specific conditions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8002010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994367-5A6D-4392-B13A-EC3FA6648523}"/>
              </a:ext>
            </a:extLst>
          </p:cNvPr>
          <p:cNvSpPr>
            <a:spLocks noGrp="1"/>
          </p:cNvSpPr>
          <p:nvPr>
            <p:ph type="title"/>
          </p:nvPr>
        </p:nvSpPr>
        <p:spPr/>
        <p:txBody>
          <a:bodyPr/>
          <a:lstStyle/>
          <a:p>
            <a:r>
              <a:rPr lang="en-IN" b="1" dirty="0"/>
              <a:t>Data Control Language</a:t>
            </a:r>
            <a:br>
              <a:rPr lang="en-IN" b="1" dirty="0"/>
            </a:br>
            <a:endParaRPr lang="en-IN" dirty="0"/>
          </a:p>
        </p:txBody>
      </p:sp>
      <p:sp>
        <p:nvSpPr>
          <p:cNvPr id="3" name="Content Placeholder 2">
            <a:extLst>
              <a:ext uri="{FF2B5EF4-FFF2-40B4-BE49-F238E27FC236}">
                <a16:creationId xmlns="" xmlns:a16="http://schemas.microsoft.com/office/drawing/2014/main" id="{FC34EBC4-5978-44AA-BE7E-6898B7FA5CE2}"/>
              </a:ext>
            </a:extLst>
          </p:cNvPr>
          <p:cNvSpPr>
            <a:spLocks noGrp="1"/>
          </p:cNvSpPr>
          <p:nvPr>
            <p:ph idx="1"/>
          </p:nvPr>
        </p:nvSpPr>
        <p:spPr>
          <a:xfrm>
            <a:off x="263236" y="1039092"/>
            <a:ext cx="11734800" cy="5137872"/>
          </a:xfrm>
        </p:spPr>
        <p:txBody>
          <a:bodyPr>
            <a:normAutofit/>
          </a:bodyPr>
          <a:lstStyle/>
          <a:p>
            <a:pPr algn="just"/>
            <a:r>
              <a:rPr lang="en-US" dirty="0"/>
              <a:t>DCL commands are used to grant and take back authority from any database user.</a:t>
            </a:r>
          </a:p>
          <a:p>
            <a:pPr algn="just"/>
            <a:r>
              <a:rPr lang="en-US" dirty="0"/>
              <a:t>Here are some commands that come under DCL:</a:t>
            </a:r>
          </a:p>
          <a:p>
            <a:pPr marL="900113" indent="-179388" algn="just">
              <a:buFont typeface="Arial" panose="020B0604020202020204" pitchFamily="34" charset="0"/>
              <a:buChar char="•"/>
            </a:pPr>
            <a:r>
              <a:rPr lang="en-US" b="1" dirty="0">
                <a:solidFill>
                  <a:srgbClr val="000099"/>
                </a:solidFill>
              </a:rPr>
              <a:t>Grant</a:t>
            </a:r>
          </a:p>
          <a:p>
            <a:pPr marL="900113" indent="-179388" algn="just">
              <a:buFont typeface="Arial" panose="020B0604020202020204" pitchFamily="34" charset="0"/>
              <a:buChar char="•"/>
            </a:pPr>
            <a:r>
              <a:rPr lang="en-US" b="1" dirty="0">
                <a:solidFill>
                  <a:srgbClr val="000099"/>
                </a:solidFill>
              </a:rPr>
              <a:t>Revoke</a:t>
            </a:r>
          </a:p>
          <a:p>
            <a:pPr algn="just"/>
            <a:r>
              <a:rPr lang="en-US" b="1" dirty="0"/>
              <a:t>Grant:</a:t>
            </a:r>
            <a:r>
              <a:rPr lang="en-US" dirty="0"/>
              <a:t> It is used to give user access privileges to a database.</a:t>
            </a:r>
          </a:p>
          <a:p>
            <a:pPr algn="just"/>
            <a:r>
              <a:rPr lang="en-US" sz="2400" b="1" dirty="0"/>
              <a:t>Example </a:t>
            </a:r>
            <a:r>
              <a:rPr lang="en-US" sz="2600" b="1" dirty="0">
                <a:solidFill>
                  <a:srgbClr val="000099"/>
                </a:solidFill>
              </a:rPr>
              <a:t>GRANT SELECT, UPDATE ON MY_TABLE TO SOME_USER, ANOTHER_USER;  </a:t>
            </a:r>
          </a:p>
          <a:p>
            <a:pPr algn="just"/>
            <a:r>
              <a:rPr lang="en-US" b="1" dirty="0"/>
              <a:t>Revoke:</a:t>
            </a:r>
            <a:r>
              <a:rPr lang="en-US" dirty="0"/>
              <a:t> It is used to take back permissions from the user.</a:t>
            </a:r>
          </a:p>
          <a:p>
            <a:pPr algn="just"/>
            <a:r>
              <a:rPr lang="en-US" sz="2400" b="1" dirty="0"/>
              <a:t>Example </a:t>
            </a:r>
            <a:r>
              <a:rPr lang="en-US" b="1" dirty="0"/>
              <a:t> </a:t>
            </a:r>
            <a:r>
              <a:rPr lang="en-US" sz="2600" b="1" dirty="0">
                <a:solidFill>
                  <a:srgbClr val="000099"/>
                </a:solidFill>
              </a:rPr>
              <a:t>REVOKE SELECT, UPDATE ON MY_TABLE FROM USER1, USER2;  </a:t>
            </a:r>
            <a:endParaRPr lang="en-IN" sz="2600" b="1" dirty="0">
              <a:solidFill>
                <a:srgbClr val="000099"/>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219" y="5666301"/>
            <a:ext cx="4883214" cy="9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8718" y="5618004"/>
            <a:ext cx="4919145" cy="1040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395290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3A40BF-10E3-4350-A92D-3CF9AE358A42}"/>
              </a:ext>
            </a:extLst>
          </p:cNvPr>
          <p:cNvSpPr>
            <a:spLocks noGrp="1"/>
          </p:cNvSpPr>
          <p:nvPr>
            <p:ph type="title"/>
          </p:nvPr>
        </p:nvSpPr>
        <p:spPr/>
        <p:txBody>
          <a:bodyPr/>
          <a:lstStyle/>
          <a:p>
            <a:r>
              <a:rPr lang="en-IN" sz="4000" b="1" dirty="0"/>
              <a:t>Transaction Control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2F85E0AB-F55D-4050-A0CF-E09FBD1F78EA}"/>
              </a:ext>
            </a:extLst>
          </p:cNvPr>
          <p:cNvSpPr>
            <a:spLocks noGrp="1"/>
          </p:cNvSpPr>
          <p:nvPr>
            <p:ph idx="1"/>
          </p:nvPr>
        </p:nvSpPr>
        <p:spPr>
          <a:xfrm>
            <a:off x="838200" y="1136073"/>
            <a:ext cx="10515600" cy="5040890"/>
          </a:xfrm>
        </p:spPr>
        <p:txBody>
          <a:bodyPr>
            <a:normAutofit fontScale="92500" lnSpcReduction="10000"/>
          </a:bodyPr>
          <a:lstStyle/>
          <a:p>
            <a:r>
              <a:rPr lang="en-US" dirty="0"/>
              <a:t>TCL commands can only use with DML commands like INSERT, DELETE and UPDATE only.</a:t>
            </a:r>
          </a:p>
          <a:p>
            <a:r>
              <a:rPr lang="en-US" dirty="0"/>
              <a:t>Here are some commands that come under TCL:</a:t>
            </a:r>
          </a:p>
          <a:p>
            <a:pPr marL="900113" indent="-179388">
              <a:buFont typeface="Arial" panose="020B0604020202020204" pitchFamily="34" charset="0"/>
              <a:buChar char="•"/>
            </a:pPr>
            <a:r>
              <a:rPr lang="en-US" b="1" dirty="0">
                <a:solidFill>
                  <a:srgbClr val="000099"/>
                </a:solidFill>
              </a:rPr>
              <a:t>COMMIT</a:t>
            </a:r>
          </a:p>
          <a:p>
            <a:pPr marL="900113" indent="-179388">
              <a:buFont typeface="Arial" panose="020B0604020202020204" pitchFamily="34" charset="0"/>
              <a:buChar char="•"/>
            </a:pPr>
            <a:r>
              <a:rPr lang="en-US" b="1" dirty="0">
                <a:solidFill>
                  <a:srgbClr val="000099"/>
                </a:solidFill>
              </a:rPr>
              <a:t>ROLLBACK</a:t>
            </a:r>
          </a:p>
          <a:p>
            <a:pPr marL="900113" indent="-179388">
              <a:buFont typeface="Arial" panose="020B0604020202020204" pitchFamily="34" charset="0"/>
              <a:buChar char="•"/>
            </a:pPr>
            <a:r>
              <a:rPr lang="en-US" b="1" dirty="0">
                <a:solidFill>
                  <a:srgbClr val="000099"/>
                </a:solidFill>
              </a:rPr>
              <a:t>SAVEPOINT</a:t>
            </a:r>
          </a:p>
          <a:p>
            <a:r>
              <a:rPr lang="en-US" b="1" dirty="0"/>
              <a:t>Commit:</a:t>
            </a:r>
            <a:r>
              <a:rPr lang="en-US" dirty="0"/>
              <a:t> Commit command is used to save all the transactions to the database.</a:t>
            </a:r>
          </a:p>
          <a:p>
            <a:r>
              <a:rPr lang="en-US" b="1" dirty="0"/>
              <a:t>Syntax:  </a:t>
            </a:r>
            <a:r>
              <a:rPr lang="en-IN" dirty="0"/>
              <a:t>COMMIT;  </a:t>
            </a:r>
          </a:p>
          <a:p>
            <a:pPr marL="1260475" indent="-179388">
              <a:buNone/>
            </a:pPr>
            <a:r>
              <a:rPr lang="en-US" b="1" dirty="0">
                <a:solidFill>
                  <a:srgbClr val="000099"/>
                </a:solidFill>
              </a:rPr>
              <a:t>DELETE FROM CUSTOMERS  </a:t>
            </a:r>
          </a:p>
          <a:p>
            <a:pPr marL="1260475" indent="-179388">
              <a:buNone/>
            </a:pPr>
            <a:r>
              <a:rPr lang="en-US" b="1" dirty="0">
                <a:solidFill>
                  <a:srgbClr val="000099"/>
                </a:solidFill>
              </a:rPr>
              <a:t>WHERE AGE = 25;  </a:t>
            </a:r>
          </a:p>
          <a:p>
            <a:pPr marL="1260475" indent="-179388">
              <a:buNone/>
            </a:pPr>
            <a:r>
              <a:rPr lang="en-US" b="1" dirty="0">
                <a:solidFill>
                  <a:srgbClr val="000099"/>
                </a:solidFill>
              </a:rPr>
              <a:t>COMMIT;  </a:t>
            </a:r>
          </a:p>
          <a:p>
            <a:endParaRPr lang="en-US" dirty="0"/>
          </a:p>
          <a:p>
            <a:endParaRPr lang="en-IN" dirty="0"/>
          </a:p>
        </p:txBody>
      </p:sp>
    </p:spTree>
    <p:extLst>
      <p:ext uri="{BB962C8B-B14F-4D97-AF65-F5344CB8AC3E}">
        <p14:creationId xmlns:p14="http://schemas.microsoft.com/office/powerpoint/2010/main" val="205025733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785127-A1CA-4630-9084-2A6EC62CCF77}"/>
              </a:ext>
            </a:extLst>
          </p:cNvPr>
          <p:cNvSpPr>
            <a:spLocks noGrp="1"/>
          </p:cNvSpPr>
          <p:nvPr>
            <p:ph type="title"/>
          </p:nvPr>
        </p:nvSpPr>
        <p:spPr/>
        <p:txBody>
          <a:bodyPr/>
          <a:lstStyle/>
          <a:p>
            <a:r>
              <a:rPr lang="en-IN" sz="4000" b="1" dirty="0"/>
              <a:t>Transaction Control Language</a:t>
            </a:r>
            <a:r>
              <a:rPr lang="en-IN" b="1" dirty="0"/>
              <a:t/>
            </a:r>
            <a:br>
              <a:rPr lang="en-IN" b="1" dirty="0"/>
            </a:br>
            <a:endParaRPr lang="en-IN" dirty="0"/>
          </a:p>
        </p:txBody>
      </p:sp>
      <p:sp>
        <p:nvSpPr>
          <p:cNvPr id="3" name="Content Placeholder 2">
            <a:extLst>
              <a:ext uri="{FF2B5EF4-FFF2-40B4-BE49-F238E27FC236}">
                <a16:creationId xmlns="" xmlns:a16="http://schemas.microsoft.com/office/drawing/2014/main" id="{8256F92F-B0FB-45FD-B420-6EEB5342E59F}"/>
              </a:ext>
            </a:extLst>
          </p:cNvPr>
          <p:cNvSpPr>
            <a:spLocks noGrp="1"/>
          </p:cNvSpPr>
          <p:nvPr>
            <p:ph idx="1"/>
          </p:nvPr>
        </p:nvSpPr>
        <p:spPr>
          <a:xfrm>
            <a:off x="838200" y="1288473"/>
            <a:ext cx="10515600" cy="5204402"/>
          </a:xfrm>
        </p:spPr>
        <p:txBody>
          <a:bodyPr/>
          <a:lstStyle/>
          <a:p>
            <a:pPr algn="just"/>
            <a:r>
              <a:rPr lang="en-US" b="1" dirty="0"/>
              <a:t>Rollback:</a:t>
            </a:r>
            <a:r>
              <a:rPr lang="en-US" dirty="0"/>
              <a:t> Rollback command is used to undo transactions that have not already been saved to the database.</a:t>
            </a:r>
          </a:p>
          <a:p>
            <a:pPr algn="just"/>
            <a:r>
              <a:rPr lang="en-IN" b="1" dirty="0"/>
              <a:t>Syntax:</a:t>
            </a:r>
            <a:r>
              <a:rPr lang="en-US" b="1" dirty="0"/>
              <a:t> </a:t>
            </a:r>
            <a:r>
              <a:rPr lang="en-IN" dirty="0"/>
              <a:t>ROLLBACK;  </a:t>
            </a:r>
            <a:endParaRPr lang="en-US" dirty="0"/>
          </a:p>
          <a:p>
            <a:pPr marL="1260475" indent="-179388">
              <a:buNone/>
            </a:pPr>
            <a:r>
              <a:rPr lang="en-US" b="1" dirty="0">
                <a:solidFill>
                  <a:srgbClr val="000099"/>
                </a:solidFill>
              </a:rPr>
              <a:t>DELETE FROM CUSTOMERS  </a:t>
            </a:r>
          </a:p>
          <a:p>
            <a:pPr marL="1260475" indent="-179388">
              <a:buNone/>
            </a:pPr>
            <a:r>
              <a:rPr lang="en-US" b="1" dirty="0">
                <a:solidFill>
                  <a:srgbClr val="000099"/>
                </a:solidFill>
              </a:rPr>
              <a:t>WHERE AGE = 25;  </a:t>
            </a:r>
          </a:p>
          <a:p>
            <a:pPr marL="1260475" indent="-179388">
              <a:buNone/>
            </a:pPr>
            <a:r>
              <a:rPr lang="en-US" b="1" dirty="0">
                <a:solidFill>
                  <a:srgbClr val="000099"/>
                </a:solidFill>
              </a:rPr>
              <a:t>ROLLBACK;  </a:t>
            </a:r>
          </a:p>
          <a:p>
            <a:pPr algn="just"/>
            <a:r>
              <a:rPr lang="en-US" b="1" dirty="0"/>
              <a:t>SAVEPOINT:</a:t>
            </a:r>
            <a:r>
              <a:rPr lang="en-US" dirty="0"/>
              <a:t> It is used to roll the transaction back to a certain point without rolling back the entire transaction.</a:t>
            </a:r>
          </a:p>
          <a:p>
            <a:pPr algn="just"/>
            <a:r>
              <a:rPr lang="en-IN" dirty="0"/>
              <a:t>SAVEPOINT SAVEPOINT_NAME;  </a:t>
            </a:r>
          </a:p>
        </p:txBody>
      </p:sp>
    </p:spTree>
    <p:extLst>
      <p:ext uri="{BB962C8B-B14F-4D97-AF65-F5344CB8AC3E}">
        <p14:creationId xmlns:p14="http://schemas.microsoft.com/office/powerpoint/2010/main" val="392811202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3A40BF-10E3-4350-A92D-3CF9AE358A42}"/>
              </a:ext>
            </a:extLst>
          </p:cNvPr>
          <p:cNvSpPr>
            <a:spLocks noGrp="1"/>
          </p:cNvSpPr>
          <p:nvPr>
            <p:ph type="title"/>
          </p:nvPr>
        </p:nvSpPr>
        <p:spPr>
          <a:xfrm>
            <a:off x="187036" y="198871"/>
            <a:ext cx="10515600" cy="1325563"/>
          </a:xfrm>
        </p:spPr>
        <p:txBody>
          <a:bodyPr>
            <a:normAutofit/>
          </a:bodyPr>
          <a:lstStyle/>
          <a:p>
            <a:r>
              <a:rPr lang="en-IN" sz="2800" b="1" dirty="0">
                <a:latin typeface="+mn-lt"/>
              </a:rPr>
              <a:t>Transaction Control Language</a:t>
            </a:r>
            <a:br>
              <a:rPr lang="en-IN" sz="2800" b="1" dirty="0">
                <a:latin typeface="+mn-lt"/>
              </a:rPr>
            </a:br>
            <a:endParaRPr lang="en-IN" sz="2800" dirty="0">
              <a:latin typeface="+mn-lt"/>
            </a:endParaRPr>
          </a:p>
        </p:txBody>
      </p:sp>
      <p:sp>
        <p:nvSpPr>
          <p:cNvPr id="3" name="Content Placeholder 2">
            <a:extLst>
              <a:ext uri="{FF2B5EF4-FFF2-40B4-BE49-F238E27FC236}">
                <a16:creationId xmlns="" xmlns:a16="http://schemas.microsoft.com/office/drawing/2014/main" id="{2F85E0AB-F55D-4050-A0CF-E09FBD1F78EA}"/>
              </a:ext>
            </a:extLst>
          </p:cNvPr>
          <p:cNvSpPr>
            <a:spLocks noGrp="1"/>
          </p:cNvSpPr>
          <p:nvPr>
            <p:ph idx="1"/>
          </p:nvPr>
        </p:nvSpPr>
        <p:spPr>
          <a:xfrm>
            <a:off x="187037" y="1136073"/>
            <a:ext cx="4509654" cy="5040890"/>
          </a:xfrm>
        </p:spPr>
        <p:txBody>
          <a:bodyPr>
            <a:normAutofit/>
          </a:bodyPr>
          <a:lstStyle/>
          <a:p>
            <a:r>
              <a:rPr lang="en-US" b="1" i="0" dirty="0">
                <a:solidFill>
                  <a:srgbClr val="0000FF"/>
                </a:solidFill>
                <a:effectLst/>
              </a:rPr>
              <a:t>ROLLBACK TO SavePoint2;</a:t>
            </a:r>
          </a:p>
          <a:p>
            <a:pPr algn="just" fontAlgn="base"/>
            <a:r>
              <a:rPr lang="en-US" b="0" i="0" dirty="0">
                <a:solidFill>
                  <a:srgbClr val="000000"/>
                </a:solidFill>
                <a:effectLst/>
              </a:rPr>
              <a:t>Once you execute the above rollback statement, then commit the transaction by executing the below commit statement which will commit two records (</a:t>
            </a:r>
            <a:r>
              <a:rPr lang="en-US" b="0" i="0" dirty="0" err="1">
                <a:solidFill>
                  <a:srgbClr val="000000"/>
                </a:solidFill>
                <a:effectLst/>
              </a:rPr>
              <a:t>ProductId</a:t>
            </a:r>
            <a:r>
              <a:rPr lang="en-US" b="0" i="0" dirty="0">
                <a:solidFill>
                  <a:srgbClr val="000000"/>
                </a:solidFill>
                <a:effectLst/>
              </a:rPr>
              <a:t> 1005 and 1006) into the database.</a:t>
            </a:r>
            <a:endParaRPr lang="en-US" b="0" i="0" dirty="0">
              <a:solidFill>
                <a:srgbClr val="212529"/>
              </a:solidFill>
              <a:effectLst/>
            </a:endParaRPr>
          </a:p>
          <a:p>
            <a:pPr algn="just" fontAlgn="base"/>
            <a:r>
              <a:rPr lang="en-US" b="1" i="0" dirty="0">
                <a:solidFill>
                  <a:srgbClr val="0000FF"/>
                </a:solidFill>
                <a:effectLst/>
              </a:rPr>
              <a:t>COMMIT;</a:t>
            </a:r>
            <a:endParaRPr lang="en-US" b="0" i="0" dirty="0">
              <a:solidFill>
                <a:srgbClr val="212529"/>
              </a:solidFill>
              <a:effectLst/>
            </a:endParaRPr>
          </a:p>
          <a:p>
            <a:endParaRPr lang="en-IN" dirty="0"/>
          </a:p>
        </p:txBody>
      </p:sp>
      <p:pic>
        <p:nvPicPr>
          <p:cNvPr id="3074" name="Picture 2" descr="How to create SAVEPOINT in MySQL?">
            <a:extLst>
              <a:ext uri="{FF2B5EF4-FFF2-40B4-BE49-F238E27FC236}">
                <a16:creationId xmlns="" xmlns:a16="http://schemas.microsoft.com/office/drawing/2014/main" id="{BAC6731B-EC0B-4FDF-B986-F374EEB86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7636" y="14288"/>
            <a:ext cx="6858000" cy="450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78530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175DC8-BFA2-5A67-3B97-2AFEA77FE30C}"/>
              </a:ext>
            </a:extLst>
          </p:cNvPr>
          <p:cNvSpPr>
            <a:spLocks noGrp="1"/>
          </p:cNvSpPr>
          <p:nvPr>
            <p:ph type="title"/>
          </p:nvPr>
        </p:nvSpPr>
        <p:spPr>
          <a:xfrm>
            <a:off x="325582" y="166255"/>
            <a:ext cx="10515600" cy="1325563"/>
          </a:xfrm>
        </p:spPr>
        <p:txBody>
          <a:bodyPr>
            <a:normAutofit/>
          </a:bodyPr>
          <a:lstStyle/>
          <a:p>
            <a:r>
              <a:rPr lang="en-US" sz="4000" b="1" dirty="0">
                <a:latin typeface="+mn-lt"/>
              </a:rPr>
              <a:t>SQL Stored Procedures</a:t>
            </a:r>
          </a:p>
        </p:txBody>
      </p:sp>
      <p:sp>
        <p:nvSpPr>
          <p:cNvPr id="3" name="Content Placeholder 2">
            <a:extLst>
              <a:ext uri="{FF2B5EF4-FFF2-40B4-BE49-F238E27FC236}">
                <a16:creationId xmlns="" xmlns:a16="http://schemas.microsoft.com/office/drawing/2014/main" id="{64158927-2738-E143-D840-C9E1FDCCCB34}"/>
              </a:ext>
            </a:extLst>
          </p:cNvPr>
          <p:cNvSpPr>
            <a:spLocks noGrp="1"/>
          </p:cNvSpPr>
          <p:nvPr>
            <p:ph idx="1"/>
          </p:nvPr>
        </p:nvSpPr>
        <p:spPr>
          <a:xfrm>
            <a:off x="207819" y="1274618"/>
            <a:ext cx="11416146" cy="5417127"/>
          </a:xfrm>
        </p:spPr>
        <p:txBody>
          <a:bodyPr>
            <a:normAutofit/>
          </a:bodyPr>
          <a:lstStyle/>
          <a:p>
            <a:pPr algn="just"/>
            <a:r>
              <a:rPr lang="en-US" b="0" i="0" dirty="0">
                <a:solidFill>
                  <a:srgbClr val="333333"/>
                </a:solidFill>
                <a:effectLst/>
              </a:rPr>
              <a:t>A procedure (often called a stored procedure) is a </a:t>
            </a:r>
            <a:r>
              <a:rPr lang="en-US" b="1" i="0" dirty="0">
                <a:solidFill>
                  <a:srgbClr val="000099"/>
                </a:solidFill>
                <a:effectLst/>
              </a:rPr>
              <a:t>collection of pre-compiled SQL statements</a:t>
            </a:r>
            <a:r>
              <a:rPr lang="en-US" b="0" i="0" dirty="0">
                <a:solidFill>
                  <a:srgbClr val="000099"/>
                </a:solidFill>
                <a:effectLst/>
              </a:rPr>
              <a:t> </a:t>
            </a:r>
            <a:r>
              <a:rPr lang="en-US" b="0" i="0" dirty="0">
                <a:solidFill>
                  <a:srgbClr val="333333"/>
                </a:solidFill>
                <a:effectLst/>
              </a:rPr>
              <a:t>stored inside the database. </a:t>
            </a:r>
          </a:p>
          <a:p>
            <a:pPr algn="just"/>
            <a:r>
              <a:rPr lang="en-US" b="0" i="0" dirty="0">
                <a:solidFill>
                  <a:srgbClr val="333333"/>
                </a:solidFill>
                <a:effectLst/>
              </a:rPr>
              <a:t>It is a </a:t>
            </a:r>
            <a:r>
              <a:rPr lang="en-US" b="1" i="0" dirty="0">
                <a:solidFill>
                  <a:srgbClr val="333333"/>
                </a:solidFill>
                <a:effectLst/>
              </a:rPr>
              <a:t>subroutine or a subprogram </a:t>
            </a:r>
            <a:r>
              <a:rPr lang="en-US" b="0" i="0" dirty="0">
                <a:solidFill>
                  <a:srgbClr val="333333"/>
                </a:solidFill>
                <a:effectLst/>
              </a:rPr>
              <a:t>in the regular computing language. </a:t>
            </a:r>
            <a:r>
              <a:rPr lang="en-US" b="1" i="0" dirty="0">
                <a:solidFill>
                  <a:srgbClr val="000099"/>
                </a:solidFill>
                <a:effectLst/>
              </a:rPr>
              <a:t>A procedure always contains a name, parameter lists, and SQL statements.</a:t>
            </a:r>
          </a:p>
          <a:p>
            <a:pPr algn="just"/>
            <a:r>
              <a:rPr lang="en-US" b="0" i="0" dirty="0">
                <a:effectLst/>
              </a:rPr>
              <a:t>It is collection of MySQL </a:t>
            </a:r>
            <a:r>
              <a:rPr lang="en-US" b="1" i="0" dirty="0">
                <a:solidFill>
                  <a:srgbClr val="000099"/>
                </a:solidFill>
                <a:effectLst/>
              </a:rPr>
              <a:t>statements grouped together in a function that can be called on-demand with specific input parameters.</a:t>
            </a:r>
          </a:p>
          <a:p>
            <a:pPr algn="just"/>
            <a:r>
              <a:rPr lang="en-US" dirty="0"/>
              <a:t>With these, you get to </a:t>
            </a:r>
            <a:r>
              <a:rPr lang="en-US" b="1" dirty="0">
                <a:solidFill>
                  <a:srgbClr val="000099"/>
                </a:solidFill>
              </a:rPr>
              <a:t>reuse the code and Lesser Network transfer </a:t>
            </a:r>
            <a:r>
              <a:rPr lang="en-US" dirty="0"/>
              <a:t>– E.g. for web applications -instead of calling individual queries, a procedure that can directly return the desired result can be executed.</a:t>
            </a:r>
          </a:p>
          <a:p>
            <a:pPr algn="just"/>
            <a:r>
              <a:rPr lang="en-US" b="1" dirty="0">
                <a:solidFill>
                  <a:srgbClr val="000099"/>
                </a:solidFill>
              </a:rPr>
              <a:t>More secure </a:t>
            </a:r>
            <a:r>
              <a:rPr lang="en-US" dirty="0"/>
              <a:t>– The Database Administrator can GRANT or REVOKE privileges at a procedure level.</a:t>
            </a:r>
          </a:p>
        </p:txBody>
      </p:sp>
    </p:spTree>
    <p:extLst>
      <p:ext uri="{BB962C8B-B14F-4D97-AF65-F5344CB8AC3E}">
        <p14:creationId xmlns:p14="http://schemas.microsoft.com/office/powerpoint/2010/main" val="371440716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519BA3-9906-58C1-A1D4-EEF842F973B4}"/>
              </a:ext>
            </a:extLst>
          </p:cNvPr>
          <p:cNvSpPr>
            <a:spLocks noGrp="1"/>
          </p:cNvSpPr>
          <p:nvPr>
            <p:ph type="title"/>
          </p:nvPr>
        </p:nvSpPr>
        <p:spPr>
          <a:xfrm>
            <a:off x="180108" y="171593"/>
            <a:ext cx="10515600" cy="1325563"/>
          </a:xfrm>
        </p:spPr>
        <p:txBody>
          <a:bodyPr/>
          <a:lstStyle/>
          <a:p>
            <a:r>
              <a:rPr lang="en-US" sz="4400" b="1" dirty="0">
                <a:latin typeface="+mn-lt"/>
              </a:rPr>
              <a:t>SQL Stored Procedures</a:t>
            </a:r>
            <a:endParaRPr lang="en-US" dirty="0"/>
          </a:p>
        </p:txBody>
      </p:sp>
      <p:sp>
        <p:nvSpPr>
          <p:cNvPr id="3" name="Content Placeholder 2">
            <a:extLst>
              <a:ext uri="{FF2B5EF4-FFF2-40B4-BE49-F238E27FC236}">
                <a16:creationId xmlns="" xmlns:a16="http://schemas.microsoft.com/office/drawing/2014/main" id="{0FBCCDF6-D5D7-A375-A0F4-24EE93717243}"/>
              </a:ext>
            </a:extLst>
          </p:cNvPr>
          <p:cNvSpPr>
            <a:spLocks noGrp="1"/>
          </p:cNvSpPr>
          <p:nvPr>
            <p:ph idx="1"/>
          </p:nvPr>
        </p:nvSpPr>
        <p:spPr>
          <a:xfrm>
            <a:off x="6525491" y="124691"/>
            <a:ext cx="5486401" cy="6561716"/>
          </a:xfrm>
        </p:spPr>
        <p:txBody>
          <a:bodyPr>
            <a:normAutofit/>
          </a:bodyPr>
          <a:lstStyle/>
          <a:p>
            <a:r>
              <a:rPr lang="en-US" dirty="0"/>
              <a:t>Delimiter //</a:t>
            </a:r>
          </a:p>
          <a:p>
            <a:r>
              <a:rPr lang="en-US" b="1" dirty="0">
                <a:solidFill>
                  <a:srgbClr val="000099"/>
                </a:solidFill>
              </a:rPr>
              <a:t>CREATE PROCEDURE </a:t>
            </a:r>
            <a:r>
              <a:rPr lang="en-US" b="1" dirty="0" err="1">
                <a:solidFill>
                  <a:srgbClr val="000099"/>
                </a:solidFill>
              </a:rPr>
              <a:t>procedure</a:t>
            </a:r>
            <a:r>
              <a:rPr lang="en-US" b="1" dirty="0">
                <a:solidFill>
                  <a:srgbClr val="000099"/>
                </a:solidFill>
              </a:rPr>
              <a:t> name(parameters)</a:t>
            </a:r>
          </a:p>
          <a:p>
            <a:r>
              <a:rPr lang="en-US" b="1" dirty="0">
                <a:solidFill>
                  <a:srgbClr val="C00000"/>
                </a:solidFill>
              </a:rPr>
              <a:t>BEGIN</a:t>
            </a:r>
          </a:p>
          <a:p>
            <a:r>
              <a:rPr lang="en-US" dirty="0"/>
              <a:t>   </a:t>
            </a:r>
            <a:r>
              <a:rPr lang="en-US" b="1" dirty="0"/>
              <a:t>statements;</a:t>
            </a:r>
          </a:p>
          <a:p>
            <a:r>
              <a:rPr lang="en-US" b="1" dirty="0">
                <a:solidFill>
                  <a:srgbClr val="C00000"/>
                </a:solidFill>
              </a:rPr>
              <a:t>END //</a:t>
            </a:r>
          </a:p>
          <a:p>
            <a:r>
              <a:rPr lang="en-US" dirty="0"/>
              <a:t>Delimiter;</a:t>
            </a:r>
          </a:p>
          <a:p>
            <a:pPr algn="just"/>
            <a:endParaRPr lang="en-US" sz="2000" dirty="0"/>
          </a:p>
          <a:p>
            <a:pPr algn="just"/>
            <a:r>
              <a:rPr lang="en-US" b="0" i="0" dirty="0">
                <a:solidFill>
                  <a:srgbClr val="0A0C10"/>
                </a:solidFill>
                <a:effectLst/>
              </a:rPr>
              <a:t>In MySQL, </a:t>
            </a:r>
            <a:r>
              <a:rPr lang="en-US" b="1" i="0" dirty="0">
                <a:solidFill>
                  <a:srgbClr val="000099"/>
                </a:solidFill>
                <a:effectLst/>
              </a:rPr>
              <a:t>we use a semicolon (;) as a default delimiter to separate the statements </a:t>
            </a:r>
            <a:r>
              <a:rPr lang="en-US" b="0" i="0" dirty="0">
                <a:solidFill>
                  <a:srgbClr val="0A0C10"/>
                </a:solidFill>
                <a:effectLst/>
              </a:rPr>
              <a:t>and execute them separately.</a:t>
            </a:r>
            <a:r>
              <a:rPr lang="en-US" dirty="0"/>
              <a:t> </a:t>
            </a:r>
          </a:p>
          <a:p>
            <a:endParaRPr lang="en-US" sz="2000" dirty="0"/>
          </a:p>
        </p:txBody>
      </p:sp>
      <p:sp>
        <p:nvSpPr>
          <p:cNvPr id="5" name="Content Placeholder 2">
            <a:extLst>
              <a:ext uri="{FF2B5EF4-FFF2-40B4-BE49-F238E27FC236}">
                <a16:creationId xmlns="" xmlns:a16="http://schemas.microsoft.com/office/drawing/2014/main" id="{56313995-203F-AAFA-A825-BADEF008C2D5}"/>
              </a:ext>
            </a:extLst>
          </p:cNvPr>
          <p:cNvSpPr txBox="1">
            <a:spLocks/>
          </p:cNvSpPr>
          <p:nvPr/>
        </p:nvSpPr>
        <p:spPr>
          <a:xfrm>
            <a:off x="290945" y="1931123"/>
            <a:ext cx="6068291" cy="442277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The </a:t>
            </a:r>
            <a:r>
              <a:rPr lang="en-US" b="1" dirty="0"/>
              <a:t>name of the procedure</a:t>
            </a:r>
            <a:r>
              <a:rPr lang="en-US" dirty="0"/>
              <a:t> must be specified after the Create Procedure keyword</a:t>
            </a:r>
          </a:p>
          <a:p>
            <a:pPr algn="just"/>
            <a:r>
              <a:rPr lang="en-US" dirty="0"/>
              <a:t>After the name of the procedure, </a:t>
            </a:r>
            <a:r>
              <a:rPr lang="en-US" b="1" dirty="0"/>
              <a:t>the list of parameters </a:t>
            </a:r>
            <a:r>
              <a:rPr lang="en-US" dirty="0"/>
              <a:t>must be specified in the parenthesis. The parameter list must be comma-separated</a:t>
            </a:r>
          </a:p>
          <a:p>
            <a:pPr algn="just"/>
            <a:r>
              <a:rPr lang="en-US" dirty="0"/>
              <a:t>The </a:t>
            </a:r>
            <a:r>
              <a:rPr lang="en-US" b="1" dirty="0"/>
              <a:t>SQL Queries and code must be written between BEGIN and END keywords</a:t>
            </a:r>
          </a:p>
          <a:p>
            <a:pPr algn="just"/>
            <a:r>
              <a:rPr lang="en-US" sz="2800" dirty="0"/>
              <a:t>Delimiters are used when we need to </a:t>
            </a:r>
            <a:r>
              <a:rPr lang="en-US" sz="2800" b="1" dirty="0"/>
              <a:t>define the stored procedures as well as to create triggers</a:t>
            </a:r>
            <a:r>
              <a:rPr lang="en-US" sz="2800" dirty="0"/>
              <a:t>.</a:t>
            </a:r>
          </a:p>
          <a:p>
            <a:pPr algn="just"/>
            <a:endParaRPr lang="en-US" dirty="0"/>
          </a:p>
        </p:txBody>
      </p:sp>
    </p:spTree>
    <p:extLst>
      <p:ext uri="{BB962C8B-B14F-4D97-AF65-F5344CB8AC3E}">
        <p14:creationId xmlns:p14="http://schemas.microsoft.com/office/powerpoint/2010/main" val="6589974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519BA3-9906-58C1-A1D4-EEF842F973B4}"/>
              </a:ext>
            </a:extLst>
          </p:cNvPr>
          <p:cNvSpPr>
            <a:spLocks noGrp="1"/>
          </p:cNvSpPr>
          <p:nvPr>
            <p:ph type="title"/>
          </p:nvPr>
        </p:nvSpPr>
        <p:spPr/>
        <p:txBody>
          <a:bodyPr>
            <a:normAutofit/>
          </a:bodyPr>
          <a:lstStyle/>
          <a:p>
            <a:r>
              <a:rPr lang="en-US" sz="4000" b="1" dirty="0">
                <a:latin typeface="+mn-lt"/>
              </a:rPr>
              <a:t>Why Do We Need Delimiter?</a:t>
            </a:r>
            <a:br>
              <a:rPr lang="en-US" sz="4000" b="1" dirty="0">
                <a:latin typeface="+mn-lt"/>
              </a:rPr>
            </a:br>
            <a:endParaRPr lang="en-US" sz="4000" dirty="0">
              <a:latin typeface="+mn-lt"/>
            </a:endParaRPr>
          </a:p>
        </p:txBody>
      </p:sp>
      <p:sp>
        <p:nvSpPr>
          <p:cNvPr id="5" name="Content Placeholder 2">
            <a:extLst>
              <a:ext uri="{FF2B5EF4-FFF2-40B4-BE49-F238E27FC236}">
                <a16:creationId xmlns="" xmlns:a16="http://schemas.microsoft.com/office/drawing/2014/main" id="{56313995-203F-AAFA-A825-BADEF008C2D5}"/>
              </a:ext>
            </a:extLst>
          </p:cNvPr>
          <p:cNvSpPr txBox="1">
            <a:spLocks/>
          </p:cNvSpPr>
          <p:nvPr/>
        </p:nvSpPr>
        <p:spPr>
          <a:xfrm>
            <a:off x="387927" y="2507673"/>
            <a:ext cx="11651671" cy="38462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p>
        </p:txBody>
      </p:sp>
      <p:sp>
        <p:nvSpPr>
          <p:cNvPr id="6" name="Content Placeholder 5">
            <a:extLst>
              <a:ext uri="{FF2B5EF4-FFF2-40B4-BE49-F238E27FC236}">
                <a16:creationId xmlns="" xmlns:a16="http://schemas.microsoft.com/office/drawing/2014/main" id="{8341EB2C-D41C-A8AE-1865-3ACEB101B3C8}"/>
              </a:ext>
            </a:extLst>
          </p:cNvPr>
          <p:cNvSpPr>
            <a:spLocks noGrp="1"/>
          </p:cNvSpPr>
          <p:nvPr>
            <p:ph idx="1"/>
          </p:nvPr>
        </p:nvSpPr>
        <p:spPr>
          <a:xfrm>
            <a:off x="387927" y="1205344"/>
            <a:ext cx="11416146" cy="5444837"/>
          </a:xfrm>
        </p:spPr>
        <p:txBody>
          <a:bodyPr>
            <a:normAutofit fontScale="92500" lnSpcReduction="20000"/>
          </a:bodyPr>
          <a:lstStyle/>
          <a:p>
            <a:pPr algn="just"/>
            <a:r>
              <a:rPr lang="en-US" dirty="0"/>
              <a:t>When </a:t>
            </a:r>
            <a:r>
              <a:rPr lang="en-US" b="1" dirty="0">
                <a:solidFill>
                  <a:srgbClr val="000099"/>
                </a:solidFill>
              </a:rPr>
              <a:t>you write an individual statement you will need only a semicolon </a:t>
            </a:r>
            <a:r>
              <a:rPr lang="en-US" dirty="0"/>
              <a:t>at the end of the statement. </a:t>
            </a:r>
          </a:p>
          <a:p>
            <a:pPr algn="just"/>
            <a:r>
              <a:rPr lang="en-US" dirty="0"/>
              <a:t>But </a:t>
            </a:r>
            <a:r>
              <a:rPr lang="en-US" dirty="0">
                <a:solidFill>
                  <a:srgbClr val="C00000"/>
                </a:solidFill>
              </a:rPr>
              <a:t>what </a:t>
            </a:r>
            <a:r>
              <a:rPr lang="en-US" b="1" dirty="0">
                <a:solidFill>
                  <a:srgbClr val="C00000"/>
                </a:solidFill>
              </a:rPr>
              <a:t>if you want to write a block of statements that works as a single unit</a:t>
            </a:r>
            <a:r>
              <a:rPr lang="en-US" dirty="0">
                <a:solidFill>
                  <a:srgbClr val="C00000"/>
                </a:solidFill>
              </a:rPr>
              <a:t>? </a:t>
            </a:r>
            <a:r>
              <a:rPr lang="en-US" b="1" dirty="0">
                <a:solidFill>
                  <a:srgbClr val="C00000"/>
                </a:solidFill>
              </a:rPr>
              <a:t>In that case, you will need to change the delimiter</a:t>
            </a:r>
            <a:r>
              <a:rPr lang="en-US" b="1" dirty="0"/>
              <a:t>.</a:t>
            </a:r>
          </a:p>
          <a:p>
            <a:pPr algn="just"/>
            <a:r>
              <a:rPr lang="en-US" b="0" i="0" dirty="0">
                <a:effectLst/>
              </a:rPr>
              <a:t>In MySQL, </a:t>
            </a:r>
            <a:r>
              <a:rPr lang="en-US" b="1" i="0" dirty="0">
                <a:solidFill>
                  <a:srgbClr val="000099"/>
                </a:solidFill>
                <a:effectLst/>
              </a:rPr>
              <a:t>stored procedures, functions and triggers are the blocks of statements </a:t>
            </a:r>
            <a:r>
              <a:rPr lang="en-US" b="0" i="0" dirty="0">
                <a:effectLst/>
              </a:rPr>
              <a:t>where you need the delimiter other than the default semicolon. </a:t>
            </a:r>
            <a:r>
              <a:rPr lang="en-US" b="1" i="0" dirty="0">
                <a:solidFill>
                  <a:srgbClr val="000099"/>
                </a:solidFill>
                <a:effectLst/>
              </a:rPr>
              <a:t>The delimiter helps MySQL to acknowledge the group of statements as a single unit or single task. </a:t>
            </a:r>
            <a:r>
              <a:rPr lang="en-US" b="0" i="0" dirty="0">
                <a:effectLst/>
              </a:rPr>
              <a:t>However, </a:t>
            </a:r>
            <a:r>
              <a:rPr lang="en-US" b="1" i="0" dirty="0">
                <a:solidFill>
                  <a:srgbClr val="000099"/>
                </a:solidFill>
                <a:effectLst/>
              </a:rPr>
              <a:t>the individual statements in the blocks end with semicolons.</a:t>
            </a:r>
            <a:endParaRPr lang="en-US" b="1" dirty="0">
              <a:solidFill>
                <a:srgbClr val="000099"/>
              </a:solidFill>
            </a:endParaRPr>
          </a:p>
          <a:p>
            <a:pPr algn="just"/>
            <a:r>
              <a:rPr lang="en-US" dirty="0"/>
              <a:t>If you are considering multiple statements, then </a:t>
            </a:r>
            <a:r>
              <a:rPr lang="en-US" b="1" dirty="0">
                <a:solidFill>
                  <a:srgbClr val="000099"/>
                </a:solidFill>
              </a:rPr>
              <a:t>you need to use different delimiters like $$ or //.</a:t>
            </a:r>
          </a:p>
          <a:p>
            <a:pPr algn="just"/>
            <a:r>
              <a:rPr lang="en-US" b="1" dirty="0"/>
              <a:t>How To Change the Delimiter?</a:t>
            </a:r>
          </a:p>
          <a:p>
            <a:pPr algn="just"/>
            <a:r>
              <a:rPr lang="en-US" dirty="0"/>
              <a:t>You can change the delimiter by </a:t>
            </a:r>
            <a:r>
              <a:rPr lang="en-US" b="1" dirty="0">
                <a:solidFill>
                  <a:srgbClr val="000099"/>
                </a:solidFill>
              </a:rPr>
              <a:t>using the DELIMITER keyword.</a:t>
            </a:r>
          </a:p>
          <a:p>
            <a:pPr algn="just"/>
            <a:r>
              <a:rPr lang="en-US" b="1" dirty="0"/>
              <a:t>DELIMITER </a:t>
            </a:r>
            <a:r>
              <a:rPr lang="en-US" b="1" dirty="0" err="1"/>
              <a:t>delimiter_character</a:t>
            </a:r>
            <a:r>
              <a:rPr lang="en-US" b="1" dirty="0"/>
              <a:t>;</a:t>
            </a:r>
          </a:p>
          <a:p>
            <a:pPr algn="just"/>
            <a:r>
              <a:rPr lang="en-US" dirty="0"/>
              <a:t>The </a:t>
            </a:r>
            <a:r>
              <a:rPr lang="en-US" dirty="0" err="1"/>
              <a:t>delimiter_character</a:t>
            </a:r>
            <a:r>
              <a:rPr lang="en-US" dirty="0"/>
              <a:t> must be an unreserved character in MySQL for example, // , $$, ## etc.</a:t>
            </a:r>
          </a:p>
          <a:p>
            <a:endParaRPr lang="en-US" dirty="0"/>
          </a:p>
        </p:txBody>
      </p:sp>
    </p:spTree>
    <p:extLst>
      <p:ext uri="{BB962C8B-B14F-4D97-AF65-F5344CB8AC3E}">
        <p14:creationId xmlns:p14="http://schemas.microsoft.com/office/powerpoint/2010/main" val="160608537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9FBEF3-CEA6-8E74-A2D2-F5DB34D68868}"/>
              </a:ext>
            </a:extLst>
          </p:cNvPr>
          <p:cNvSpPr>
            <a:spLocks noGrp="1"/>
          </p:cNvSpPr>
          <p:nvPr>
            <p:ph type="title"/>
          </p:nvPr>
        </p:nvSpPr>
        <p:spPr>
          <a:xfrm>
            <a:off x="200891" y="171161"/>
            <a:ext cx="10515600" cy="1325563"/>
          </a:xfrm>
        </p:spPr>
        <p:txBody>
          <a:bodyPr>
            <a:normAutofit/>
          </a:bodyPr>
          <a:lstStyle/>
          <a:p>
            <a:r>
              <a:rPr lang="en-US" sz="4000" b="1" dirty="0">
                <a:latin typeface="+mn-lt"/>
              </a:rPr>
              <a:t>Create Procedure Example</a:t>
            </a:r>
          </a:p>
        </p:txBody>
      </p:sp>
      <p:sp>
        <p:nvSpPr>
          <p:cNvPr id="3" name="Content Placeholder 2">
            <a:extLst>
              <a:ext uri="{FF2B5EF4-FFF2-40B4-BE49-F238E27FC236}">
                <a16:creationId xmlns="" xmlns:a16="http://schemas.microsoft.com/office/drawing/2014/main" id="{84867B0C-D10C-597F-F3A1-002E946FDAEB}"/>
              </a:ext>
            </a:extLst>
          </p:cNvPr>
          <p:cNvSpPr>
            <a:spLocks noGrp="1"/>
          </p:cNvSpPr>
          <p:nvPr>
            <p:ph idx="1"/>
          </p:nvPr>
        </p:nvSpPr>
        <p:spPr>
          <a:xfrm>
            <a:off x="838200" y="1246909"/>
            <a:ext cx="6130636" cy="4930054"/>
          </a:xfrm>
        </p:spPr>
        <p:txBody>
          <a:bodyPr>
            <a:normAutofit/>
          </a:bodyPr>
          <a:lstStyle/>
          <a:p>
            <a:pPr marL="0" indent="0">
              <a:buNone/>
            </a:pPr>
            <a:r>
              <a:rPr lang="en-US" dirty="0"/>
              <a:t>use company;</a:t>
            </a:r>
          </a:p>
          <a:p>
            <a:pPr marL="0" indent="0">
              <a:buNone/>
            </a:pPr>
            <a:r>
              <a:rPr lang="en-US" dirty="0"/>
              <a:t>DELIMITER //</a:t>
            </a:r>
          </a:p>
          <a:p>
            <a:pPr marL="0" indent="0">
              <a:buNone/>
            </a:pPr>
            <a:r>
              <a:rPr lang="en-US" b="1" dirty="0">
                <a:solidFill>
                  <a:srgbClr val="000099"/>
                </a:solidFill>
              </a:rPr>
              <a:t>CREATE PROCEDURE </a:t>
            </a:r>
            <a:r>
              <a:rPr lang="en-US" b="1" dirty="0" err="1">
                <a:solidFill>
                  <a:srgbClr val="000099"/>
                </a:solidFill>
              </a:rPr>
              <a:t>viewEmployees</a:t>
            </a:r>
            <a:r>
              <a:rPr lang="en-US" b="1" dirty="0">
                <a:solidFill>
                  <a:srgbClr val="000099"/>
                </a:solidFill>
              </a:rPr>
              <a:t>()</a:t>
            </a:r>
          </a:p>
          <a:p>
            <a:pPr marL="0" indent="0">
              <a:buNone/>
            </a:pPr>
            <a:r>
              <a:rPr lang="en-US" dirty="0"/>
              <a:t>BEGIN</a:t>
            </a:r>
          </a:p>
          <a:p>
            <a:pPr marL="0" indent="0">
              <a:buNone/>
            </a:pPr>
            <a:r>
              <a:rPr lang="en-US" dirty="0"/>
              <a:t>    </a:t>
            </a:r>
            <a:r>
              <a:rPr lang="en-US" b="1" dirty="0">
                <a:solidFill>
                  <a:srgbClr val="000099"/>
                </a:solidFill>
              </a:rPr>
              <a:t>SELECT *  FROM Employee;</a:t>
            </a:r>
          </a:p>
          <a:p>
            <a:pPr marL="0" indent="0">
              <a:buNone/>
            </a:pPr>
            <a:r>
              <a:rPr lang="en-US" dirty="0"/>
              <a:t>END //</a:t>
            </a:r>
          </a:p>
          <a:p>
            <a:pPr marL="0" indent="0">
              <a:buNone/>
            </a:pPr>
            <a:r>
              <a:rPr lang="en-US" dirty="0"/>
              <a:t>DELIMITER ;</a:t>
            </a:r>
          </a:p>
          <a:p>
            <a:pPr marL="0" indent="0">
              <a:buNone/>
            </a:pPr>
            <a:endParaRPr lang="en-US" dirty="0"/>
          </a:p>
          <a:p>
            <a:pPr marL="0" indent="0">
              <a:buNone/>
            </a:pPr>
            <a:r>
              <a:rPr lang="en-US" b="1" dirty="0" err="1">
                <a:solidFill>
                  <a:srgbClr val="000099"/>
                </a:solidFill>
              </a:rPr>
              <a:t>mysql</a:t>
            </a:r>
            <a:r>
              <a:rPr lang="en-US" b="1" dirty="0">
                <a:solidFill>
                  <a:srgbClr val="000099"/>
                </a:solidFill>
              </a:rPr>
              <a:t>&gt; CALL </a:t>
            </a:r>
            <a:r>
              <a:rPr lang="en-US" b="1" dirty="0" err="1">
                <a:solidFill>
                  <a:srgbClr val="000099"/>
                </a:solidFill>
              </a:rPr>
              <a:t>viewEmployees</a:t>
            </a:r>
            <a:r>
              <a:rPr lang="en-US" b="1" dirty="0">
                <a:solidFill>
                  <a:srgbClr val="000099"/>
                </a:solidFill>
              </a:rPr>
              <a:t>();</a:t>
            </a:r>
          </a:p>
        </p:txBody>
      </p:sp>
    </p:spTree>
    <p:extLst>
      <p:ext uri="{BB962C8B-B14F-4D97-AF65-F5344CB8AC3E}">
        <p14:creationId xmlns:p14="http://schemas.microsoft.com/office/powerpoint/2010/main" val="408127275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9FBEF3-CEA6-8E74-A2D2-F5DB34D68868}"/>
              </a:ext>
            </a:extLst>
          </p:cNvPr>
          <p:cNvSpPr>
            <a:spLocks noGrp="1"/>
          </p:cNvSpPr>
          <p:nvPr>
            <p:ph type="title"/>
          </p:nvPr>
        </p:nvSpPr>
        <p:spPr>
          <a:xfrm>
            <a:off x="200891" y="171161"/>
            <a:ext cx="10515600" cy="886547"/>
          </a:xfrm>
        </p:spPr>
        <p:txBody>
          <a:bodyPr>
            <a:normAutofit/>
          </a:bodyPr>
          <a:lstStyle/>
          <a:p>
            <a:r>
              <a:rPr lang="en-US" sz="4000" b="1" dirty="0">
                <a:latin typeface="+mn-lt"/>
              </a:rPr>
              <a:t>Create Procedure Example</a:t>
            </a:r>
          </a:p>
        </p:txBody>
      </p:sp>
      <p:sp>
        <p:nvSpPr>
          <p:cNvPr id="3" name="Content Placeholder 2">
            <a:extLst>
              <a:ext uri="{FF2B5EF4-FFF2-40B4-BE49-F238E27FC236}">
                <a16:creationId xmlns="" xmlns:a16="http://schemas.microsoft.com/office/drawing/2014/main" id="{84867B0C-D10C-597F-F3A1-002E946FDAEB}"/>
              </a:ext>
            </a:extLst>
          </p:cNvPr>
          <p:cNvSpPr>
            <a:spLocks noGrp="1"/>
          </p:cNvSpPr>
          <p:nvPr>
            <p:ph idx="1"/>
          </p:nvPr>
        </p:nvSpPr>
        <p:spPr>
          <a:xfrm>
            <a:off x="200891" y="963973"/>
            <a:ext cx="7529945" cy="5561518"/>
          </a:xfrm>
        </p:spPr>
        <p:txBody>
          <a:bodyPr>
            <a:normAutofit/>
          </a:bodyPr>
          <a:lstStyle/>
          <a:p>
            <a:pPr marL="0" indent="0">
              <a:buNone/>
            </a:pPr>
            <a:r>
              <a:rPr lang="en-US" b="1" i="0" dirty="0">
                <a:effectLst/>
              </a:rPr>
              <a:t>Display all records of </a:t>
            </a:r>
            <a:r>
              <a:rPr lang="en-US" b="1" i="0" dirty="0" err="1">
                <a:effectLst/>
              </a:rPr>
              <a:t>studentinfo</a:t>
            </a:r>
            <a:r>
              <a:rPr lang="en-US" b="1" i="0" dirty="0">
                <a:effectLst/>
              </a:rPr>
              <a:t> table whose marks  are greater than 70</a:t>
            </a:r>
            <a:r>
              <a:rPr lang="en-US" b="0" i="0" dirty="0">
                <a:effectLst/>
              </a:rPr>
              <a:t> </a:t>
            </a:r>
          </a:p>
          <a:p>
            <a:pPr marL="0" indent="0">
              <a:buNone/>
            </a:pPr>
            <a:endParaRPr lang="en-US" b="1" dirty="0"/>
          </a:p>
          <a:p>
            <a:pPr marL="0" indent="0">
              <a:buNone/>
            </a:pPr>
            <a:r>
              <a:rPr lang="en-US" b="1" dirty="0"/>
              <a:t>DELIMITER &amp;&amp;  </a:t>
            </a:r>
          </a:p>
          <a:p>
            <a:pPr marL="0" indent="0">
              <a:buNone/>
            </a:pPr>
            <a:r>
              <a:rPr lang="en-US" b="1" dirty="0">
                <a:solidFill>
                  <a:srgbClr val="000099"/>
                </a:solidFill>
              </a:rPr>
              <a:t>CREATE PROCEDURE </a:t>
            </a:r>
            <a:r>
              <a:rPr lang="en-US" b="1" dirty="0" err="1">
                <a:solidFill>
                  <a:srgbClr val="000099"/>
                </a:solidFill>
              </a:rPr>
              <a:t>get_merit_student</a:t>
            </a:r>
            <a:r>
              <a:rPr lang="en-US" b="1" dirty="0">
                <a:solidFill>
                  <a:srgbClr val="000099"/>
                </a:solidFill>
              </a:rPr>
              <a:t> ()  </a:t>
            </a:r>
          </a:p>
          <a:p>
            <a:pPr marL="0" indent="0">
              <a:buNone/>
            </a:pPr>
            <a:r>
              <a:rPr lang="en-US" b="1" dirty="0"/>
              <a:t>BEGIN  </a:t>
            </a:r>
          </a:p>
          <a:p>
            <a:pPr marL="0" indent="0">
              <a:buNone/>
            </a:pPr>
            <a:r>
              <a:rPr lang="en-US" b="1" dirty="0"/>
              <a:t>    </a:t>
            </a:r>
            <a:r>
              <a:rPr lang="en-US" b="1" dirty="0">
                <a:solidFill>
                  <a:srgbClr val="000099"/>
                </a:solidFill>
              </a:rPr>
              <a:t>SELECT * FROM </a:t>
            </a:r>
            <a:r>
              <a:rPr lang="en-US" b="1" dirty="0" err="1">
                <a:solidFill>
                  <a:srgbClr val="000099"/>
                </a:solidFill>
              </a:rPr>
              <a:t>studentinfo</a:t>
            </a:r>
            <a:r>
              <a:rPr lang="en-US" b="1" dirty="0">
                <a:solidFill>
                  <a:srgbClr val="000099"/>
                </a:solidFill>
              </a:rPr>
              <a:t> WHERE marks &gt; 70;   </a:t>
            </a:r>
          </a:p>
          <a:p>
            <a:pPr marL="0" indent="0">
              <a:buNone/>
            </a:pPr>
            <a:r>
              <a:rPr lang="en-US" b="1" dirty="0"/>
              <a:t>END &amp;&amp;  </a:t>
            </a:r>
          </a:p>
          <a:p>
            <a:pPr marL="0" indent="0">
              <a:buNone/>
            </a:pPr>
            <a:r>
              <a:rPr lang="en-US" b="1" dirty="0"/>
              <a:t>DELIMITER ; </a:t>
            </a:r>
          </a:p>
        </p:txBody>
      </p:sp>
      <p:pic>
        <p:nvPicPr>
          <p:cNvPr id="5" name="Picture 4">
            <a:extLst>
              <a:ext uri="{FF2B5EF4-FFF2-40B4-BE49-F238E27FC236}">
                <a16:creationId xmlns="" xmlns:a16="http://schemas.microsoft.com/office/drawing/2014/main" id="{AFE6BDF3-823F-9E61-3EEF-E4715B715443}"/>
              </a:ext>
            </a:extLst>
          </p:cNvPr>
          <p:cNvPicPr>
            <a:picLocks noChangeAspect="1"/>
          </p:cNvPicPr>
          <p:nvPr/>
        </p:nvPicPr>
        <p:blipFill>
          <a:blip r:embed="rId2"/>
          <a:stretch>
            <a:fillRect/>
          </a:stretch>
        </p:blipFill>
        <p:spPr>
          <a:xfrm>
            <a:off x="7704859" y="171161"/>
            <a:ext cx="4286250" cy="2849129"/>
          </a:xfrm>
          <a:prstGeom prst="rect">
            <a:avLst/>
          </a:prstGeom>
        </p:spPr>
      </p:pic>
      <p:pic>
        <p:nvPicPr>
          <p:cNvPr id="9" name="Picture 8">
            <a:extLst>
              <a:ext uri="{FF2B5EF4-FFF2-40B4-BE49-F238E27FC236}">
                <a16:creationId xmlns="" xmlns:a16="http://schemas.microsoft.com/office/drawing/2014/main" id="{8F161A3F-7CF4-F8BC-8053-487961D924F0}"/>
              </a:ext>
            </a:extLst>
          </p:cNvPr>
          <p:cNvPicPr>
            <a:picLocks noChangeAspect="1"/>
          </p:cNvPicPr>
          <p:nvPr/>
        </p:nvPicPr>
        <p:blipFill>
          <a:blip r:embed="rId3"/>
          <a:stretch>
            <a:fillRect/>
          </a:stretch>
        </p:blipFill>
        <p:spPr>
          <a:xfrm>
            <a:off x="7905750" y="3117273"/>
            <a:ext cx="4286250" cy="2438400"/>
          </a:xfrm>
          <a:prstGeom prst="rect">
            <a:avLst/>
          </a:prstGeom>
        </p:spPr>
      </p:pic>
    </p:spTree>
    <p:extLst>
      <p:ext uri="{BB962C8B-B14F-4D97-AF65-F5344CB8AC3E}">
        <p14:creationId xmlns:p14="http://schemas.microsoft.com/office/powerpoint/2010/main" val="262761472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Limit Clause</a:t>
            </a:r>
            <a:endParaRPr lang="en-US" b="1" dirty="0"/>
          </a:p>
        </p:txBody>
      </p:sp>
      <p:sp>
        <p:nvSpPr>
          <p:cNvPr id="3" name="Content Placeholder 2"/>
          <p:cNvSpPr>
            <a:spLocks noGrp="1"/>
          </p:cNvSpPr>
          <p:nvPr>
            <p:ph idx="1"/>
          </p:nvPr>
        </p:nvSpPr>
        <p:spPr>
          <a:xfrm>
            <a:off x="7482626" y="1403797"/>
            <a:ext cx="4456090" cy="4773166"/>
          </a:xfrm>
        </p:spPr>
        <p:txBody>
          <a:bodyPr>
            <a:normAutofit lnSpcReduction="10000"/>
          </a:bodyPr>
          <a:lstStyle/>
          <a:p>
            <a:r>
              <a:rPr lang="en-US" sz="2000" b="1" dirty="0">
                <a:solidFill>
                  <a:srgbClr val="000099"/>
                </a:solidFill>
              </a:rPr>
              <a:t>Example 1: </a:t>
            </a:r>
            <a:r>
              <a:rPr lang="en-US" sz="2000" dirty="0">
                <a:solidFill>
                  <a:srgbClr val="000099"/>
                </a:solidFill>
              </a:rPr>
              <a:t>Find the record of the first three employees.</a:t>
            </a:r>
          </a:p>
          <a:p>
            <a:r>
              <a:rPr lang="en-US" dirty="0">
                <a:solidFill>
                  <a:srgbClr val="FF0000"/>
                </a:solidFill>
              </a:rPr>
              <a:t>SELECT </a:t>
            </a:r>
            <a:r>
              <a:rPr lang="en-US" dirty="0" smtClean="0">
                <a:solidFill>
                  <a:srgbClr val="FF0000"/>
                </a:solidFill>
              </a:rPr>
              <a:t>* FROM </a:t>
            </a:r>
            <a:r>
              <a:rPr lang="en-US" dirty="0">
                <a:solidFill>
                  <a:srgbClr val="FF0000"/>
                </a:solidFill>
              </a:rPr>
              <a:t>Employee</a:t>
            </a:r>
          </a:p>
          <a:p>
            <a:pPr marL="0" indent="0">
              <a:buNone/>
            </a:pPr>
            <a:r>
              <a:rPr lang="en-US" dirty="0">
                <a:solidFill>
                  <a:srgbClr val="FF0000"/>
                </a:solidFill>
              </a:rPr>
              <a:t>LIMIT 3;</a:t>
            </a:r>
          </a:p>
          <a:p>
            <a:r>
              <a:rPr lang="en-US" sz="2000" b="1" dirty="0">
                <a:solidFill>
                  <a:srgbClr val="000099"/>
                </a:solidFill>
              </a:rPr>
              <a:t>Example 2:</a:t>
            </a:r>
            <a:r>
              <a:rPr lang="en-US" sz="2000" dirty="0">
                <a:solidFill>
                  <a:srgbClr val="000099"/>
                </a:solidFill>
              </a:rPr>
              <a:t> Find the record of the first three employees (Employee ID, Name, Department, Education, and CTC) who are undergraduates</a:t>
            </a:r>
            <a:r>
              <a:rPr lang="en-US" sz="2000" dirty="0" smtClean="0">
                <a:solidFill>
                  <a:srgbClr val="000099"/>
                </a:solidFill>
              </a:rPr>
              <a:t>.</a:t>
            </a:r>
          </a:p>
          <a:p>
            <a:r>
              <a:rPr lang="en-US" dirty="0">
                <a:solidFill>
                  <a:srgbClr val="FF0000"/>
                </a:solidFill>
              </a:rPr>
              <a:t>SELECT Employee ID, Name, Department, Education, CTC  FROM Employee WHERE Education = ‘UG’ LIMIT 3;</a:t>
            </a:r>
          </a:p>
          <a:p>
            <a:endParaRPr lang="en-US" sz="2000" dirty="0">
              <a:solidFill>
                <a:srgbClr val="000099"/>
              </a:solidFill>
            </a:endParaRPr>
          </a:p>
        </p:txBody>
      </p:sp>
      <p:pic>
        <p:nvPicPr>
          <p:cNvPr id="3074"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3486" t="36807" r="40422" b="16056"/>
          <a:stretch/>
        </p:blipFill>
        <p:spPr bwMode="auto">
          <a:xfrm>
            <a:off x="270456" y="1944710"/>
            <a:ext cx="6838683" cy="3232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65165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9FBEF3-CEA6-8E74-A2D2-F5DB34D68868}"/>
              </a:ext>
            </a:extLst>
          </p:cNvPr>
          <p:cNvSpPr>
            <a:spLocks noGrp="1"/>
          </p:cNvSpPr>
          <p:nvPr>
            <p:ph type="title"/>
          </p:nvPr>
        </p:nvSpPr>
        <p:spPr>
          <a:xfrm>
            <a:off x="200891" y="171161"/>
            <a:ext cx="10515600" cy="886547"/>
          </a:xfrm>
        </p:spPr>
        <p:txBody>
          <a:bodyPr>
            <a:normAutofit/>
          </a:bodyPr>
          <a:lstStyle/>
          <a:p>
            <a:r>
              <a:rPr lang="en-US" sz="4000" b="1" dirty="0">
                <a:latin typeface="+mn-lt"/>
              </a:rPr>
              <a:t>Create Procedure Example</a:t>
            </a:r>
          </a:p>
        </p:txBody>
      </p:sp>
      <p:sp>
        <p:nvSpPr>
          <p:cNvPr id="3" name="Content Placeholder 2">
            <a:extLst>
              <a:ext uri="{FF2B5EF4-FFF2-40B4-BE49-F238E27FC236}">
                <a16:creationId xmlns="" xmlns:a16="http://schemas.microsoft.com/office/drawing/2014/main" id="{84867B0C-D10C-597F-F3A1-002E946FDAEB}"/>
              </a:ext>
            </a:extLst>
          </p:cNvPr>
          <p:cNvSpPr>
            <a:spLocks noGrp="1"/>
          </p:cNvSpPr>
          <p:nvPr>
            <p:ph idx="1"/>
          </p:nvPr>
        </p:nvSpPr>
        <p:spPr>
          <a:xfrm>
            <a:off x="200891" y="963973"/>
            <a:ext cx="7529945" cy="5561518"/>
          </a:xfrm>
        </p:spPr>
        <p:txBody>
          <a:bodyPr>
            <a:normAutofit fontScale="70000" lnSpcReduction="20000"/>
          </a:bodyPr>
          <a:lstStyle/>
          <a:p>
            <a:pPr algn="just"/>
            <a:r>
              <a:rPr lang="en-US" b="0" i="0" dirty="0">
                <a:effectLst/>
              </a:rPr>
              <a:t>Procedures with Parameter</a:t>
            </a:r>
            <a:endParaRPr lang="en-US" dirty="0"/>
          </a:p>
          <a:p>
            <a:pPr algn="just"/>
            <a:r>
              <a:rPr lang="en-US" b="1" i="0" dirty="0">
                <a:solidFill>
                  <a:srgbClr val="000099"/>
                </a:solidFill>
                <a:effectLst/>
              </a:rPr>
              <a:t>DELIMITER &amp;&amp;  </a:t>
            </a:r>
          </a:p>
          <a:p>
            <a:pPr algn="just"/>
            <a:r>
              <a:rPr lang="en-US" b="1" i="0" dirty="0">
                <a:solidFill>
                  <a:srgbClr val="000099"/>
                </a:solidFill>
                <a:effectLst/>
              </a:rPr>
              <a:t>CREATE PROCEDURE </a:t>
            </a:r>
            <a:r>
              <a:rPr lang="en-US" b="1" i="0" dirty="0" err="1">
                <a:solidFill>
                  <a:srgbClr val="000099"/>
                </a:solidFill>
                <a:effectLst/>
              </a:rPr>
              <a:t>get_student</a:t>
            </a:r>
            <a:r>
              <a:rPr lang="en-US" b="1" i="0" dirty="0">
                <a:solidFill>
                  <a:srgbClr val="000099"/>
                </a:solidFill>
                <a:effectLst/>
              </a:rPr>
              <a:t> (</a:t>
            </a:r>
            <a:r>
              <a:rPr lang="en-US" b="1" i="0" dirty="0">
                <a:effectLst/>
              </a:rPr>
              <a:t>IN var1 INT</a:t>
            </a:r>
            <a:r>
              <a:rPr lang="en-US" b="1" i="0" dirty="0">
                <a:solidFill>
                  <a:srgbClr val="000099"/>
                </a:solidFill>
                <a:effectLst/>
              </a:rPr>
              <a:t>)  </a:t>
            </a:r>
          </a:p>
          <a:p>
            <a:pPr algn="just"/>
            <a:r>
              <a:rPr lang="en-US" b="1" i="0" dirty="0">
                <a:solidFill>
                  <a:srgbClr val="000099"/>
                </a:solidFill>
                <a:effectLst/>
              </a:rPr>
              <a:t>BEGIN  </a:t>
            </a:r>
          </a:p>
          <a:p>
            <a:pPr algn="just"/>
            <a:r>
              <a:rPr lang="en-US" b="1" i="0" dirty="0">
                <a:solidFill>
                  <a:srgbClr val="000099"/>
                </a:solidFill>
                <a:effectLst/>
              </a:rPr>
              <a:t>    SELECT * FROM </a:t>
            </a:r>
            <a:r>
              <a:rPr lang="en-US" b="1" i="0" dirty="0" err="1">
                <a:solidFill>
                  <a:srgbClr val="000099"/>
                </a:solidFill>
                <a:effectLst/>
              </a:rPr>
              <a:t>studentinfo</a:t>
            </a:r>
            <a:r>
              <a:rPr lang="en-US" b="1" i="0" dirty="0">
                <a:solidFill>
                  <a:srgbClr val="000099"/>
                </a:solidFill>
                <a:effectLst/>
              </a:rPr>
              <a:t> LIMIT var1;  </a:t>
            </a:r>
          </a:p>
          <a:p>
            <a:pPr algn="just"/>
            <a:r>
              <a:rPr lang="en-US" b="1" i="0" dirty="0">
                <a:solidFill>
                  <a:srgbClr val="000099"/>
                </a:solidFill>
                <a:effectLst/>
              </a:rPr>
              <a:t>    END &amp;&amp;  </a:t>
            </a:r>
          </a:p>
          <a:p>
            <a:pPr algn="just"/>
            <a:r>
              <a:rPr lang="en-US" b="1" i="0" dirty="0">
                <a:solidFill>
                  <a:srgbClr val="000099"/>
                </a:solidFill>
                <a:effectLst/>
              </a:rPr>
              <a:t>DELIMITER ; </a:t>
            </a:r>
          </a:p>
          <a:p>
            <a:pPr algn="just"/>
            <a:endParaRPr lang="en-US" b="0" i="0" dirty="0" smtClean="0">
              <a:effectLst/>
            </a:endParaRPr>
          </a:p>
          <a:p>
            <a:pPr algn="just"/>
            <a:r>
              <a:rPr lang="en-US" b="1" i="0" dirty="0" smtClean="0">
                <a:solidFill>
                  <a:srgbClr val="C00000"/>
                </a:solidFill>
                <a:effectLst/>
              </a:rPr>
              <a:t>DELIMITER </a:t>
            </a:r>
            <a:r>
              <a:rPr lang="en-US" b="1" i="0" dirty="0">
                <a:solidFill>
                  <a:srgbClr val="C00000"/>
                </a:solidFill>
                <a:effectLst/>
              </a:rPr>
              <a:t>&amp;&amp;  </a:t>
            </a:r>
          </a:p>
          <a:p>
            <a:pPr algn="just"/>
            <a:r>
              <a:rPr lang="en-US" b="1" i="0" dirty="0">
                <a:solidFill>
                  <a:srgbClr val="C00000"/>
                </a:solidFill>
                <a:effectLst/>
              </a:rPr>
              <a:t>CREATE PROCEDURE </a:t>
            </a:r>
            <a:r>
              <a:rPr lang="en-US" b="1" i="0" dirty="0" err="1">
                <a:solidFill>
                  <a:srgbClr val="C00000"/>
                </a:solidFill>
                <a:effectLst/>
              </a:rPr>
              <a:t>display_max_mark</a:t>
            </a:r>
            <a:r>
              <a:rPr lang="en-US" b="1" i="0" dirty="0">
                <a:solidFill>
                  <a:srgbClr val="C00000"/>
                </a:solidFill>
                <a:effectLst/>
              </a:rPr>
              <a:t> (</a:t>
            </a:r>
            <a:r>
              <a:rPr lang="en-US" b="1" i="0" dirty="0">
                <a:effectLst/>
              </a:rPr>
              <a:t>OUT </a:t>
            </a:r>
            <a:r>
              <a:rPr lang="en-US" b="1" i="0" dirty="0" err="1">
                <a:effectLst/>
              </a:rPr>
              <a:t>highestmark</a:t>
            </a:r>
            <a:r>
              <a:rPr lang="en-US" b="1" i="0" dirty="0">
                <a:effectLst/>
              </a:rPr>
              <a:t> INT)  </a:t>
            </a:r>
          </a:p>
          <a:p>
            <a:pPr algn="just"/>
            <a:r>
              <a:rPr lang="en-US" b="1" i="0" dirty="0">
                <a:solidFill>
                  <a:srgbClr val="C00000"/>
                </a:solidFill>
                <a:effectLst/>
              </a:rPr>
              <a:t>BEGIN  </a:t>
            </a:r>
          </a:p>
          <a:p>
            <a:pPr algn="just"/>
            <a:r>
              <a:rPr lang="en-US" b="1" i="0" dirty="0">
                <a:solidFill>
                  <a:srgbClr val="C00000"/>
                </a:solidFill>
                <a:effectLst/>
              </a:rPr>
              <a:t>    SELECT MAX(marks) INTO </a:t>
            </a:r>
            <a:r>
              <a:rPr lang="en-US" b="1" i="0" dirty="0" err="1">
                <a:solidFill>
                  <a:srgbClr val="C00000"/>
                </a:solidFill>
                <a:effectLst/>
              </a:rPr>
              <a:t>highestmark</a:t>
            </a:r>
            <a:r>
              <a:rPr lang="en-US" b="1" i="0" dirty="0">
                <a:solidFill>
                  <a:srgbClr val="C00000"/>
                </a:solidFill>
                <a:effectLst/>
              </a:rPr>
              <a:t> FROM </a:t>
            </a:r>
            <a:r>
              <a:rPr lang="en-US" b="1" i="0" dirty="0" err="1">
                <a:solidFill>
                  <a:srgbClr val="C00000"/>
                </a:solidFill>
                <a:effectLst/>
              </a:rPr>
              <a:t>studentinfo</a:t>
            </a:r>
            <a:r>
              <a:rPr lang="en-US" b="1" i="0" dirty="0">
                <a:solidFill>
                  <a:srgbClr val="C00000"/>
                </a:solidFill>
                <a:effectLst/>
              </a:rPr>
              <a:t>; </a:t>
            </a:r>
          </a:p>
          <a:p>
            <a:pPr algn="just"/>
            <a:r>
              <a:rPr lang="en-US" b="1" i="0" dirty="0">
                <a:solidFill>
                  <a:srgbClr val="C00000"/>
                </a:solidFill>
                <a:effectLst/>
              </a:rPr>
              <a:t>END &amp;&amp;  </a:t>
            </a:r>
          </a:p>
          <a:p>
            <a:pPr algn="just"/>
            <a:r>
              <a:rPr lang="en-US" b="1" i="0" dirty="0">
                <a:solidFill>
                  <a:srgbClr val="C00000"/>
                </a:solidFill>
                <a:effectLst/>
              </a:rPr>
              <a:t>DELIMITER ;</a:t>
            </a:r>
          </a:p>
          <a:p>
            <a:pPr algn="just"/>
            <a:r>
              <a:rPr lang="en-US" b="1" u="sng" dirty="0"/>
              <a:t>@M is Session </a:t>
            </a:r>
            <a:r>
              <a:rPr lang="en-US" b="1" u="sng" dirty="0" err="1"/>
              <a:t>vaiable</a:t>
            </a:r>
            <a:endParaRPr lang="en-US" b="1" u="sng" dirty="0"/>
          </a:p>
          <a:p>
            <a:pPr algn="just"/>
            <a:endParaRPr lang="en-US" b="1" i="0" dirty="0">
              <a:solidFill>
                <a:srgbClr val="C00000"/>
              </a:solidFill>
              <a:effectLst/>
            </a:endParaRPr>
          </a:p>
        </p:txBody>
      </p:sp>
      <p:pic>
        <p:nvPicPr>
          <p:cNvPr id="6" name="Picture 5">
            <a:extLst>
              <a:ext uri="{FF2B5EF4-FFF2-40B4-BE49-F238E27FC236}">
                <a16:creationId xmlns="" xmlns:a16="http://schemas.microsoft.com/office/drawing/2014/main" id="{7EA2AA1F-F04B-7805-2DA0-9980A60FC46E}"/>
              </a:ext>
            </a:extLst>
          </p:cNvPr>
          <p:cNvPicPr>
            <a:picLocks noChangeAspect="1"/>
          </p:cNvPicPr>
          <p:nvPr/>
        </p:nvPicPr>
        <p:blipFill>
          <a:blip r:embed="rId3"/>
          <a:stretch>
            <a:fillRect/>
          </a:stretch>
        </p:blipFill>
        <p:spPr>
          <a:xfrm>
            <a:off x="7298747" y="171161"/>
            <a:ext cx="4581525" cy="3552825"/>
          </a:xfrm>
          <a:prstGeom prst="rect">
            <a:avLst/>
          </a:prstGeom>
        </p:spPr>
      </p:pic>
      <p:pic>
        <p:nvPicPr>
          <p:cNvPr id="8" name="Picture 7">
            <a:extLst>
              <a:ext uri="{FF2B5EF4-FFF2-40B4-BE49-F238E27FC236}">
                <a16:creationId xmlns="" xmlns:a16="http://schemas.microsoft.com/office/drawing/2014/main" id="{96CB3B5E-BB3A-0371-8818-2D8ECBF56967}"/>
              </a:ext>
            </a:extLst>
          </p:cNvPr>
          <p:cNvPicPr>
            <a:picLocks noChangeAspect="1"/>
          </p:cNvPicPr>
          <p:nvPr/>
        </p:nvPicPr>
        <p:blipFill>
          <a:blip r:embed="rId4"/>
          <a:stretch>
            <a:fillRect/>
          </a:stretch>
        </p:blipFill>
        <p:spPr>
          <a:xfrm>
            <a:off x="7730835" y="3746753"/>
            <a:ext cx="4351193" cy="3124200"/>
          </a:xfrm>
          <a:prstGeom prst="rect">
            <a:avLst/>
          </a:prstGeom>
        </p:spPr>
      </p:pic>
    </p:spTree>
    <p:extLst>
      <p:ext uri="{BB962C8B-B14F-4D97-AF65-F5344CB8AC3E}">
        <p14:creationId xmlns:p14="http://schemas.microsoft.com/office/powerpoint/2010/main" val="6825026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803" y="780915"/>
            <a:ext cx="10648391" cy="241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33167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BBC23B-8E9F-08F1-A88B-FC1C139E0198}"/>
              </a:ext>
            </a:extLst>
          </p:cNvPr>
          <p:cNvSpPr>
            <a:spLocks noGrp="1"/>
          </p:cNvSpPr>
          <p:nvPr>
            <p:ph type="title"/>
          </p:nvPr>
        </p:nvSpPr>
        <p:spPr>
          <a:xfrm>
            <a:off x="339436" y="233217"/>
            <a:ext cx="10515600" cy="895639"/>
          </a:xfrm>
        </p:spPr>
        <p:txBody>
          <a:bodyPr>
            <a:normAutofit/>
          </a:bodyPr>
          <a:lstStyle/>
          <a:p>
            <a:r>
              <a:rPr lang="en-US" sz="4000" b="1" dirty="0">
                <a:latin typeface="+mn-lt"/>
              </a:rPr>
              <a:t>Triggers in SQL</a:t>
            </a:r>
          </a:p>
        </p:txBody>
      </p:sp>
      <p:sp>
        <p:nvSpPr>
          <p:cNvPr id="3" name="Content Placeholder 2">
            <a:extLst>
              <a:ext uri="{FF2B5EF4-FFF2-40B4-BE49-F238E27FC236}">
                <a16:creationId xmlns="" xmlns:a16="http://schemas.microsoft.com/office/drawing/2014/main" id="{3BFC02BB-DB5B-36F0-9DD6-0F723F887B71}"/>
              </a:ext>
            </a:extLst>
          </p:cNvPr>
          <p:cNvSpPr>
            <a:spLocks noGrp="1"/>
          </p:cNvSpPr>
          <p:nvPr>
            <p:ph idx="1"/>
          </p:nvPr>
        </p:nvSpPr>
        <p:spPr>
          <a:xfrm>
            <a:off x="339435" y="1128856"/>
            <a:ext cx="11686309" cy="5048107"/>
          </a:xfrm>
        </p:spPr>
        <p:txBody>
          <a:bodyPr>
            <a:normAutofit lnSpcReduction="10000"/>
          </a:bodyPr>
          <a:lstStyle/>
          <a:p>
            <a:pPr algn="just"/>
            <a:r>
              <a:rPr lang="en-US" b="0" i="0" dirty="0">
                <a:effectLst/>
              </a:rPr>
              <a:t>Triggers are a set of  SQL statements which are stored in the database catalog. These statements are executed whenever an event associated with a table occurs. </a:t>
            </a:r>
          </a:p>
          <a:p>
            <a:pPr algn="just"/>
            <a:r>
              <a:rPr lang="en-US" b="0" i="0" dirty="0">
                <a:effectLst/>
              </a:rPr>
              <a:t>So, a </a:t>
            </a:r>
            <a:r>
              <a:rPr lang="en-US" b="1" i="0" dirty="0">
                <a:effectLst/>
              </a:rPr>
              <a:t>trigger</a:t>
            </a:r>
            <a:r>
              <a:rPr lang="en-US" b="0" i="0" dirty="0">
                <a:effectLst/>
              </a:rPr>
              <a:t> can be invoked either </a:t>
            </a:r>
            <a:r>
              <a:rPr lang="en-US" b="1" i="0" dirty="0">
                <a:effectLst/>
              </a:rPr>
              <a:t>BEFORE</a:t>
            </a:r>
            <a:r>
              <a:rPr lang="en-US" b="0" i="0" dirty="0">
                <a:effectLst/>
              </a:rPr>
              <a:t> or </a:t>
            </a:r>
            <a:r>
              <a:rPr lang="en-US" b="1" i="0" dirty="0">
                <a:effectLst/>
              </a:rPr>
              <a:t>AFTER</a:t>
            </a:r>
            <a:r>
              <a:rPr lang="en-US" b="0" i="0" dirty="0">
                <a:effectLst/>
              </a:rPr>
              <a:t> the data is changed by</a:t>
            </a:r>
            <a:r>
              <a:rPr lang="en-US" b="1" i="0" dirty="0">
                <a:effectLst/>
              </a:rPr>
              <a:t> INSERT</a:t>
            </a:r>
            <a:r>
              <a:rPr lang="en-US" b="0" i="0" dirty="0">
                <a:effectLst/>
              </a:rPr>
              <a:t>, </a:t>
            </a:r>
            <a:r>
              <a:rPr lang="en-US" b="1" i="0" dirty="0">
                <a:effectLst/>
              </a:rPr>
              <a:t>UPDATE</a:t>
            </a:r>
            <a:r>
              <a:rPr lang="en-US" b="0" i="0" dirty="0">
                <a:effectLst/>
              </a:rPr>
              <a:t> or </a:t>
            </a:r>
            <a:r>
              <a:rPr lang="en-US" b="1" i="0" dirty="0">
                <a:effectLst/>
              </a:rPr>
              <a:t>DELETE</a:t>
            </a:r>
            <a:r>
              <a:rPr lang="en-US" b="0" i="0" dirty="0">
                <a:effectLst/>
              </a:rPr>
              <a:t> statement. </a:t>
            </a:r>
          </a:p>
          <a:p>
            <a:pPr algn="just"/>
            <a:r>
              <a:rPr lang="en-US" b="1" dirty="0">
                <a:solidFill>
                  <a:srgbClr val="000099"/>
                </a:solidFill>
              </a:rPr>
              <a:t>Before Insert</a:t>
            </a:r>
            <a:r>
              <a:rPr lang="en-US" dirty="0"/>
              <a:t>: It is activated before the insertion of data into the table.</a:t>
            </a:r>
          </a:p>
          <a:p>
            <a:pPr algn="just"/>
            <a:r>
              <a:rPr lang="en-US" b="1" dirty="0"/>
              <a:t>After Insert</a:t>
            </a:r>
            <a:r>
              <a:rPr lang="en-US" dirty="0"/>
              <a:t>: It is activated after the insertion of data into the table.</a:t>
            </a:r>
          </a:p>
          <a:p>
            <a:pPr algn="just"/>
            <a:r>
              <a:rPr lang="en-US" b="1" dirty="0">
                <a:solidFill>
                  <a:srgbClr val="000099"/>
                </a:solidFill>
              </a:rPr>
              <a:t>Before Update</a:t>
            </a:r>
            <a:r>
              <a:rPr lang="en-US" dirty="0"/>
              <a:t>: It is activated before the update of data in the table.</a:t>
            </a:r>
          </a:p>
          <a:p>
            <a:pPr algn="just"/>
            <a:r>
              <a:rPr lang="en-US" b="1" dirty="0"/>
              <a:t>After Update</a:t>
            </a:r>
            <a:r>
              <a:rPr lang="en-US" dirty="0"/>
              <a:t>: It is activated after the update of the data in the table.</a:t>
            </a:r>
          </a:p>
          <a:p>
            <a:pPr algn="just"/>
            <a:r>
              <a:rPr lang="en-US" b="1" dirty="0">
                <a:solidFill>
                  <a:srgbClr val="000099"/>
                </a:solidFill>
              </a:rPr>
              <a:t>Before Delete</a:t>
            </a:r>
            <a:r>
              <a:rPr lang="en-US" dirty="0"/>
              <a:t>: It is activated before the data is removed from the table.</a:t>
            </a:r>
          </a:p>
          <a:p>
            <a:pPr algn="just"/>
            <a:r>
              <a:rPr lang="en-US" b="1" dirty="0"/>
              <a:t>After Delete</a:t>
            </a:r>
            <a:r>
              <a:rPr lang="en-US" dirty="0"/>
              <a:t>: It is activated after the deletion of data from the table.</a:t>
            </a:r>
          </a:p>
        </p:txBody>
      </p:sp>
    </p:spTree>
    <p:extLst>
      <p:ext uri="{BB962C8B-B14F-4D97-AF65-F5344CB8AC3E}">
        <p14:creationId xmlns:p14="http://schemas.microsoft.com/office/powerpoint/2010/main" val="301312868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002061978"/>
              </p:ext>
            </p:extLst>
          </p:nvPr>
        </p:nvGraphicFramePr>
        <p:xfrm>
          <a:off x="566671" y="425002"/>
          <a:ext cx="11410680" cy="5917188"/>
        </p:xfrm>
        <a:graphic>
          <a:graphicData uri="http://schemas.openxmlformats.org/drawingml/2006/table">
            <a:tbl>
              <a:tblPr>
                <a:tableStyleId>{BC89EF96-8CEA-46FF-86C4-4CE0E7609802}</a:tableStyleId>
              </a:tblPr>
              <a:tblGrid>
                <a:gridCol w="669701"/>
                <a:gridCol w="1365160"/>
                <a:gridCol w="4842457"/>
                <a:gridCol w="4533362"/>
              </a:tblGrid>
              <a:tr h="370468">
                <a:tc>
                  <a:txBody>
                    <a:bodyPr/>
                    <a:lstStyle/>
                    <a:p>
                      <a:pPr algn="ctr" fontAlgn="base"/>
                      <a:r>
                        <a:rPr lang="en-US" sz="1800" b="1" dirty="0" smtClean="0">
                          <a:effectLst/>
                        </a:rPr>
                        <a:t>SN</a:t>
                      </a:r>
                      <a:endParaRPr lang="en-US" sz="1800" b="1" dirty="0">
                        <a:effectLst/>
                      </a:endParaRPr>
                    </a:p>
                  </a:txBody>
                  <a:tcPr marL="26436" marR="26436" marT="66090" marB="66090" anchor="ctr">
                    <a:solidFill>
                      <a:schemeClr val="accent5"/>
                    </a:solidFill>
                  </a:tcPr>
                </a:tc>
                <a:tc>
                  <a:txBody>
                    <a:bodyPr/>
                    <a:lstStyle/>
                    <a:p>
                      <a:pPr algn="ctr" fontAlgn="base"/>
                      <a:r>
                        <a:rPr lang="en-US" sz="1800" b="1" dirty="0">
                          <a:effectLst/>
                        </a:rPr>
                        <a:t>Parameters</a:t>
                      </a:r>
                    </a:p>
                  </a:txBody>
                  <a:tcPr marL="66090" marR="66090" marT="66090" marB="66090" anchor="ctr">
                    <a:solidFill>
                      <a:schemeClr val="accent5"/>
                    </a:solidFill>
                  </a:tcPr>
                </a:tc>
                <a:tc>
                  <a:txBody>
                    <a:bodyPr/>
                    <a:lstStyle/>
                    <a:p>
                      <a:pPr algn="ctr" fontAlgn="base"/>
                      <a:r>
                        <a:rPr lang="en-US" sz="1800" b="1" dirty="0">
                          <a:effectLst/>
                        </a:rPr>
                        <a:t>Triggers</a:t>
                      </a:r>
                    </a:p>
                  </a:txBody>
                  <a:tcPr marL="66090" marR="66090" marT="66090" marB="66090" anchor="ctr">
                    <a:solidFill>
                      <a:schemeClr val="accent5"/>
                    </a:solidFill>
                  </a:tcPr>
                </a:tc>
                <a:tc>
                  <a:txBody>
                    <a:bodyPr/>
                    <a:lstStyle/>
                    <a:p>
                      <a:pPr algn="ctr" fontAlgn="base"/>
                      <a:r>
                        <a:rPr lang="en-US" sz="1800" b="1" dirty="0">
                          <a:effectLst/>
                        </a:rPr>
                        <a:t>Procedures</a:t>
                      </a:r>
                    </a:p>
                  </a:txBody>
                  <a:tcPr marL="66090" marR="66090" marT="66090" marB="66090" anchor="ctr">
                    <a:solidFill>
                      <a:schemeClr val="accent5"/>
                    </a:solidFill>
                  </a:tcPr>
                </a:tc>
              </a:tr>
              <a:tr h="955123">
                <a:tc>
                  <a:txBody>
                    <a:bodyPr/>
                    <a:lstStyle/>
                    <a:p>
                      <a:pPr algn="ctr" fontAlgn="base"/>
                      <a:r>
                        <a:rPr lang="en-US" sz="1200" dirty="0">
                          <a:effectLst/>
                        </a:rPr>
                        <a:t>1.</a:t>
                      </a:r>
                      <a:endParaRPr lang="en-US" sz="1200" b="1" dirty="0">
                        <a:effectLst/>
                      </a:endParaRPr>
                    </a:p>
                  </a:txBody>
                  <a:tcPr marL="26436" marR="26436" marT="48417" marB="48417" anchor="ctr"/>
                </a:tc>
                <a:tc>
                  <a:txBody>
                    <a:bodyPr/>
                    <a:lstStyle/>
                    <a:p>
                      <a:pPr algn="ctr" fontAlgn="base"/>
                      <a:r>
                        <a:rPr lang="en-US" sz="1200">
                          <a:effectLst/>
                        </a:rPr>
                        <a:t>Basics</a:t>
                      </a:r>
                      <a:endParaRPr lang="en-US" sz="1200" b="1">
                        <a:effectLst/>
                      </a:endParaRPr>
                    </a:p>
                  </a:txBody>
                  <a:tcPr marL="48417" marR="48417" marT="48417" marB="48417" anchor="ctr"/>
                </a:tc>
                <a:tc>
                  <a:txBody>
                    <a:bodyPr/>
                    <a:lstStyle/>
                    <a:p>
                      <a:pPr algn="l" fontAlgn="base"/>
                      <a:r>
                        <a:rPr lang="en-US" sz="1600" dirty="0">
                          <a:effectLst/>
                        </a:rPr>
                        <a:t>A Trigger is implicitly invoked whenever any event such as INSERT, DELETE, or UPDATE occurs in a TABLE.</a:t>
                      </a:r>
                      <a:endParaRPr lang="en-US" sz="1600" b="0" dirty="0">
                        <a:effectLst/>
                      </a:endParaRPr>
                    </a:p>
                  </a:txBody>
                  <a:tcPr marL="66090" marR="66090" marT="92525" marB="92525" anchor="ctr"/>
                </a:tc>
                <a:tc>
                  <a:txBody>
                    <a:bodyPr/>
                    <a:lstStyle/>
                    <a:p>
                      <a:pPr algn="l" fontAlgn="base"/>
                      <a:r>
                        <a:rPr lang="en-US" sz="1600">
                          <a:effectLst/>
                        </a:rPr>
                        <a:t>A Procedure is explicitly called by the user/application using statements or commands such as exec, EXECUTE, or simply procedure name</a:t>
                      </a:r>
                      <a:endParaRPr lang="en-US" sz="1600" b="0">
                        <a:effectLst/>
                      </a:endParaRPr>
                    </a:p>
                  </a:txBody>
                  <a:tcPr marL="66090" marR="66090" marT="92525" marB="92525" anchor="ctr"/>
                </a:tc>
              </a:tr>
              <a:tr h="598011">
                <a:tc>
                  <a:txBody>
                    <a:bodyPr/>
                    <a:lstStyle/>
                    <a:p>
                      <a:pPr algn="ctr" fontAlgn="base"/>
                      <a:r>
                        <a:rPr lang="en-US" sz="1200">
                          <a:effectLst/>
                        </a:rPr>
                        <a:t>2.</a:t>
                      </a:r>
                      <a:endParaRPr lang="en-US" sz="1200" b="1">
                        <a:effectLst/>
                      </a:endParaRPr>
                    </a:p>
                  </a:txBody>
                  <a:tcPr marL="26436" marR="26436" marT="48417" marB="48417" anchor="ctr"/>
                </a:tc>
                <a:tc>
                  <a:txBody>
                    <a:bodyPr/>
                    <a:lstStyle/>
                    <a:p>
                      <a:pPr algn="ctr" fontAlgn="base"/>
                      <a:r>
                        <a:rPr lang="en-US" sz="1200">
                          <a:effectLst/>
                        </a:rPr>
                        <a:t>Action</a:t>
                      </a:r>
                      <a:endParaRPr lang="en-US" sz="1200" b="1">
                        <a:effectLst/>
                      </a:endParaRPr>
                    </a:p>
                  </a:txBody>
                  <a:tcPr marL="48417" marR="48417" marT="48417" marB="48417" anchor="ctr"/>
                </a:tc>
                <a:tc>
                  <a:txBody>
                    <a:bodyPr/>
                    <a:lstStyle/>
                    <a:p>
                      <a:pPr algn="l" fontAlgn="base"/>
                      <a:r>
                        <a:rPr lang="en-US" sz="1600" dirty="0">
                          <a:effectLst/>
                        </a:rPr>
                        <a:t>When an event occurs, a trigger helps to execute an action automatically.</a:t>
                      </a:r>
                      <a:endParaRPr lang="en-US" sz="1600" b="0" dirty="0">
                        <a:effectLst/>
                      </a:endParaRPr>
                    </a:p>
                  </a:txBody>
                  <a:tcPr marL="66090" marR="66090" marT="92525" marB="92525" anchor="ctr"/>
                </a:tc>
                <a:tc>
                  <a:txBody>
                    <a:bodyPr/>
                    <a:lstStyle/>
                    <a:p>
                      <a:pPr algn="l" fontAlgn="base"/>
                      <a:r>
                        <a:rPr lang="en-US" sz="1600">
                          <a:effectLst/>
                        </a:rPr>
                        <a:t>A procedure helps to perform a specified task when it is invoked.</a:t>
                      </a:r>
                      <a:endParaRPr lang="en-US" sz="1600" b="0">
                        <a:effectLst/>
                      </a:endParaRPr>
                    </a:p>
                  </a:txBody>
                  <a:tcPr marL="66090" marR="66090" marT="92525" marB="92525" anchor="ctr"/>
                </a:tc>
              </a:tr>
              <a:tr h="776567">
                <a:tc>
                  <a:txBody>
                    <a:bodyPr/>
                    <a:lstStyle/>
                    <a:p>
                      <a:pPr algn="ctr" fontAlgn="base"/>
                      <a:r>
                        <a:rPr lang="en-US" sz="1200">
                          <a:effectLst/>
                        </a:rPr>
                        <a:t>3.</a:t>
                      </a:r>
                      <a:endParaRPr lang="en-US" sz="1200" b="1">
                        <a:effectLst/>
                      </a:endParaRPr>
                    </a:p>
                  </a:txBody>
                  <a:tcPr marL="26436" marR="26436" marT="48417" marB="48417" anchor="ctr"/>
                </a:tc>
                <a:tc>
                  <a:txBody>
                    <a:bodyPr/>
                    <a:lstStyle/>
                    <a:p>
                      <a:pPr algn="ctr" fontAlgn="base"/>
                      <a:r>
                        <a:rPr lang="en-US" sz="1200">
                          <a:effectLst/>
                        </a:rPr>
                        <a:t>Define/ call</a:t>
                      </a:r>
                      <a:endParaRPr lang="en-US" sz="1200" b="1">
                        <a:effectLst/>
                      </a:endParaRPr>
                    </a:p>
                  </a:txBody>
                  <a:tcPr marL="48417" marR="48417" marT="48417" marB="48417" anchor="ctr"/>
                </a:tc>
                <a:tc>
                  <a:txBody>
                    <a:bodyPr/>
                    <a:lstStyle/>
                    <a:p>
                      <a:pPr algn="l" fontAlgn="base"/>
                      <a:r>
                        <a:rPr lang="en-US" sz="1600" smtClean="0">
                          <a:effectLst/>
                        </a:rPr>
                        <a:t>We </a:t>
                      </a:r>
                      <a:r>
                        <a:rPr lang="en-US" sz="1600" dirty="0">
                          <a:effectLst/>
                        </a:rPr>
                        <a:t>cannot define/call a trigger inside another trigger.</a:t>
                      </a:r>
                      <a:endParaRPr lang="en-US" sz="1600" b="0" dirty="0">
                        <a:effectLst/>
                      </a:endParaRPr>
                    </a:p>
                  </a:txBody>
                  <a:tcPr marL="66090" marR="66090" marT="92525" marB="92525" anchor="ctr"/>
                </a:tc>
                <a:tc>
                  <a:txBody>
                    <a:bodyPr/>
                    <a:lstStyle/>
                    <a:p>
                      <a:pPr algn="l" fontAlgn="base"/>
                      <a:r>
                        <a:rPr lang="en-US" sz="1600">
                          <a:effectLst/>
                        </a:rPr>
                        <a:t>We can define/call procedures inside another procedure.</a:t>
                      </a:r>
                      <a:endParaRPr lang="en-US" sz="1600" b="0">
                        <a:effectLst/>
                      </a:endParaRPr>
                    </a:p>
                  </a:txBody>
                  <a:tcPr marL="66090" marR="66090" marT="92525" marB="92525" anchor="ctr"/>
                </a:tc>
              </a:tr>
              <a:tr h="776567">
                <a:tc>
                  <a:txBody>
                    <a:bodyPr/>
                    <a:lstStyle/>
                    <a:p>
                      <a:pPr algn="ctr" fontAlgn="base"/>
                      <a:r>
                        <a:rPr lang="en-US" sz="1200">
                          <a:effectLst/>
                        </a:rPr>
                        <a:t>4.</a:t>
                      </a:r>
                      <a:endParaRPr lang="en-US" sz="1200" b="1">
                        <a:effectLst/>
                      </a:endParaRPr>
                    </a:p>
                  </a:txBody>
                  <a:tcPr marL="26436" marR="26436" marT="48417" marB="48417" anchor="ctr"/>
                </a:tc>
                <a:tc>
                  <a:txBody>
                    <a:bodyPr/>
                    <a:lstStyle/>
                    <a:p>
                      <a:pPr algn="ctr" fontAlgn="base"/>
                      <a:r>
                        <a:rPr lang="en-US" sz="1200">
                          <a:effectLst/>
                        </a:rPr>
                        <a:t>Syntax</a:t>
                      </a:r>
                      <a:endParaRPr lang="en-US" sz="1200" b="1">
                        <a:effectLst/>
                      </a:endParaRPr>
                    </a:p>
                  </a:txBody>
                  <a:tcPr marL="48417" marR="48417" marT="48417" marB="48417" anchor="ctr"/>
                </a:tc>
                <a:tc>
                  <a:txBody>
                    <a:bodyPr/>
                    <a:lstStyle/>
                    <a:p>
                      <a:pPr algn="l" fontAlgn="base"/>
                      <a:r>
                        <a:rPr lang="en-US" sz="1600" dirty="0">
                          <a:effectLst/>
                        </a:rPr>
                        <a:t>In a database, the syntax to define a trigger: CREATE TRIGGER TRIGGER_NAME</a:t>
                      </a:r>
                      <a:endParaRPr lang="en-US" sz="1600" b="0" dirty="0">
                        <a:effectLst/>
                      </a:endParaRPr>
                    </a:p>
                  </a:txBody>
                  <a:tcPr marL="66090" marR="66090" marT="92525" marB="92525" anchor="ctr"/>
                </a:tc>
                <a:tc>
                  <a:txBody>
                    <a:bodyPr/>
                    <a:lstStyle/>
                    <a:p>
                      <a:pPr algn="l" fontAlgn="base"/>
                      <a:r>
                        <a:rPr lang="en-US" sz="1600">
                          <a:effectLst/>
                        </a:rPr>
                        <a:t>In a database, the syntax to define a procedure: CREATE PROCEDURE PROCEDURE_NAME</a:t>
                      </a:r>
                      <a:endParaRPr lang="en-US" sz="1600" b="0">
                        <a:effectLst/>
                      </a:endParaRPr>
                    </a:p>
                  </a:txBody>
                  <a:tcPr marL="66090" marR="66090" marT="92525" marB="92525" anchor="ctr"/>
                </a:tc>
              </a:tr>
              <a:tr h="776567">
                <a:tc>
                  <a:txBody>
                    <a:bodyPr/>
                    <a:lstStyle/>
                    <a:p>
                      <a:pPr algn="ctr" fontAlgn="base"/>
                      <a:r>
                        <a:rPr lang="en-US" sz="1200">
                          <a:effectLst/>
                        </a:rPr>
                        <a:t>5.</a:t>
                      </a:r>
                      <a:endParaRPr lang="en-US" sz="1200" b="1">
                        <a:effectLst/>
                      </a:endParaRPr>
                    </a:p>
                  </a:txBody>
                  <a:tcPr marL="26436" marR="26436" marT="48417" marB="48417" anchor="ctr"/>
                </a:tc>
                <a:tc>
                  <a:txBody>
                    <a:bodyPr/>
                    <a:lstStyle/>
                    <a:p>
                      <a:pPr algn="ctr" fontAlgn="base"/>
                      <a:r>
                        <a:rPr lang="en-US" sz="1200">
                          <a:effectLst/>
                        </a:rPr>
                        <a:t>Transaction statements</a:t>
                      </a:r>
                      <a:endParaRPr lang="en-US" sz="1200" b="1">
                        <a:effectLst/>
                      </a:endParaRPr>
                    </a:p>
                  </a:txBody>
                  <a:tcPr marL="48417" marR="48417" marT="48417" marB="48417" anchor="ctr"/>
                </a:tc>
                <a:tc>
                  <a:txBody>
                    <a:bodyPr/>
                    <a:lstStyle/>
                    <a:p>
                      <a:pPr algn="l" fontAlgn="base"/>
                      <a:r>
                        <a:rPr lang="en-US" sz="1600" dirty="0">
                          <a:effectLst/>
                        </a:rPr>
                        <a:t>Transaction statements such as COMMIT, ROLLBACK, and SAVEPOINT are not allowed in triggers.</a:t>
                      </a:r>
                      <a:endParaRPr lang="en-US" sz="1600" b="0" dirty="0">
                        <a:effectLst/>
                      </a:endParaRPr>
                    </a:p>
                  </a:txBody>
                  <a:tcPr marL="66090" marR="66090" marT="92525" marB="92525" anchor="ctr"/>
                </a:tc>
                <a:tc>
                  <a:txBody>
                    <a:bodyPr/>
                    <a:lstStyle/>
                    <a:p>
                      <a:pPr algn="l" fontAlgn="base"/>
                      <a:r>
                        <a:rPr lang="en-US" sz="1600">
                          <a:effectLst/>
                        </a:rPr>
                        <a:t>All transaction statements such as COMMIT and ROLLBACK are allowed in procedures.</a:t>
                      </a:r>
                      <a:endParaRPr lang="en-US" sz="1600" b="0">
                        <a:effectLst/>
                      </a:endParaRPr>
                    </a:p>
                  </a:txBody>
                  <a:tcPr marL="66090" marR="66090" marT="92525" marB="92525" anchor="ctr"/>
                </a:tc>
              </a:tr>
              <a:tr h="776567">
                <a:tc>
                  <a:txBody>
                    <a:bodyPr/>
                    <a:lstStyle/>
                    <a:p>
                      <a:pPr algn="ctr" fontAlgn="base"/>
                      <a:r>
                        <a:rPr lang="en-US" sz="1200">
                          <a:effectLst/>
                        </a:rPr>
                        <a:t>6.</a:t>
                      </a:r>
                      <a:endParaRPr lang="en-US" sz="1200" b="1">
                        <a:effectLst/>
                      </a:endParaRPr>
                    </a:p>
                  </a:txBody>
                  <a:tcPr marL="26436" marR="26436" marT="48417" marB="48417" anchor="ctr"/>
                </a:tc>
                <a:tc>
                  <a:txBody>
                    <a:bodyPr/>
                    <a:lstStyle/>
                    <a:p>
                      <a:pPr algn="ctr" fontAlgn="base"/>
                      <a:r>
                        <a:rPr lang="en-US" sz="1200">
                          <a:effectLst/>
                        </a:rPr>
                        <a:t>Usage</a:t>
                      </a:r>
                      <a:endParaRPr lang="en-US" sz="1200" b="1">
                        <a:effectLst/>
                      </a:endParaRPr>
                    </a:p>
                  </a:txBody>
                  <a:tcPr marL="48417" marR="48417" marT="48417" marB="48417" anchor="ctr"/>
                </a:tc>
                <a:tc>
                  <a:txBody>
                    <a:bodyPr/>
                    <a:lstStyle/>
                    <a:p>
                      <a:pPr algn="l" fontAlgn="base"/>
                      <a:r>
                        <a:rPr lang="en-US" sz="1600" dirty="0">
                          <a:effectLst/>
                        </a:rPr>
                        <a:t>Triggers are used to maintain referential integrity by keeping a record of activities performed on the table.</a:t>
                      </a:r>
                      <a:endParaRPr lang="en-US" sz="1600" b="0" dirty="0">
                        <a:effectLst/>
                      </a:endParaRPr>
                    </a:p>
                  </a:txBody>
                  <a:tcPr marL="66090" marR="66090" marT="92525" marB="92525" anchor="ctr"/>
                </a:tc>
                <a:tc>
                  <a:txBody>
                    <a:bodyPr/>
                    <a:lstStyle/>
                    <a:p>
                      <a:pPr algn="l" fontAlgn="base"/>
                      <a:r>
                        <a:rPr lang="en-US" sz="1600">
                          <a:effectLst/>
                        </a:rPr>
                        <a:t>Procedures are used to perform tasks defined or specified by the users.</a:t>
                      </a:r>
                      <a:endParaRPr lang="en-US" sz="1600" b="0">
                        <a:effectLst/>
                      </a:endParaRPr>
                    </a:p>
                  </a:txBody>
                  <a:tcPr marL="66090" marR="66090" marT="92525" marB="92525" anchor="ctr"/>
                </a:tc>
              </a:tr>
              <a:tr h="776567">
                <a:tc>
                  <a:txBody>
                    <a:bodyPr/>
                    <a:lstStyle/>
                    <a:p>
                      <a:pPr algn="ctr" fontAlgn="base"/>
                      <a:r>
                        <a:rPr lang="en-US" sz="1200">
                          <a:effectLst/>
                        </a:rPr>
                        <a:t>7.</a:t>
                      </a:r>
                      <a:endParaRPr lang="en-US" sz="1200" b="1">
                        <a:effectLst/>
                      </a:endParaRPr>
                    </a:p>
                  </a:txBody>
                  <a:tcPr marL="26436" marR="26436" marT="48417" marB="48417" anchor="ctr"/>
                </a:tc>
                <a:tc>
                  <a:txBody>
                    <a:bodyPr/>
                    <a:lstStyle/>
                    <a:p>
                      <a:pPr algn="ctr" fontAlgn="base"/>
                      <a:r>
                        <a:rPr lang="en-US" sz="1200">
                          <a:effectLst/>
                        </a:rPr>
                        <a:t>Return value</a:t>
                      </a:r>
                      <a:endParaRPr lang="en-US" sz="1200" b="1">
                        <a:effectLst/>
                      </a:endParaRPr>
                    </a:p>
                  </a:txBody>
                  <a:tcPr marL="48417" marR="48417" marT="48417" marB="48417" anchor="ctr"/>
                </a:tc>
                <a:tc>
                  <a:txBody>
                    <a:bodyPr/>
                    <a:lstStyle/>
                    <a:p>
                      <a:pPr algn="l" fontAlgn="base"/>
                      <a:r>
                        <a:rPr lang="en-US" sz="1600" dirty="0">
                          <a:effectLst/>
                        </a:rPr>
                        <a:t>We cannot return values in a trigger. Also, as an input, we cannot pass values as a parameter.</a:t>
                      </a:r>
                      <a:endParaRPr lang="en-US" sz="1600" b="0" dirty="0">
                        <a:effectLst/>
                      </a:endParaRPr>
                    </a:p>
                  </a:txBody>
                  <a:tcPr marL="66090" marR="66090" marT="92525" marB="92525" anchor="ctr"/>
                </a:tc>
                <a:tc>
                  <a:txBody>
                    <a:bodyPr/>
                    <a:lstStyle/>
                    <a:p>
                      <a:pPr algn="l" fontAlgn="base"/>
                      <a:r>
                        <a:rPr lang="en-US" sz="1600" dirty="0">
                          <a:effectLst/>
                        </a:rPr>
                        <a:t>We can return 0 to n values. However, we can pass values as parameters.</a:t>
                      </a:r>
                      <a:endParaRPr lang="en-US" sz="1600" b="0" dirty="0">
                        <a:effectLst/>
                      </a:endParaRPr>
                    </a:p>
                  </a:txBody>
                  <a:tcPr marL="66090" marR="66090" marT="92525" marB="92525" anchor="ctr"/>
                </a:tc>
              </a:tr>
            </a:tbl>
          </a:graphicData>
        </a:graphic>
      </p:graphicFrame>
      <p:sp>
        <p:nvSpPr>
          <p:cNvPr id="5" name="Rectangle 1"/>
          <p:cNvSpPr>
            <a:spLocks noChangeArrowheads="1"/>
          </p:cNvSpPr>
          <p:nvPr/>
        </p:nvSpPr>
        <p:spPr bwMode="auto">
          <a:xfrm>
            <a:off x="2447925" y="177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1415"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273239"/>
                </a:solidFill>
                <a:effectLst/>
                <a:latin typeface="urw-din"/>
                <a:cs typeface="Arial" pitchFamily="34" charset="0"/>
              </a:rPr>
              <a:t/>
            </a:r>
            <a:br>
              <a:rPr kumimoji="0" lang="en-US" sz="1200" b="0" i="0" u="none" strike="noStrike" cap="none" normalizeH="0" baseline="0" smtClean="0">
                <a:ln>
                  <a:noFill/>
                </a:ln>
                <a:solidFill>
                  <a:srgbClr val="273239"/>
                </a:solidFill>
                <a:effectLst/>
                <a:latin typeface="urw-din"/>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70834291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BBC23B-8E9F-08F1-A88B-FC1C139E0198}"/>
              </a:ext>
            </a:extLst>
          </p:cNvPr>
          <p:cNvSpPr>
            <a:spLocks noGrp="1"/>
          </p:cNvSpPr>
          <p:nvPr>
            <p:ph type="title"/>
          </p:nvPr>
        </p:nvSpPr>
        <p:spPr>
          <a:xfrm>
            <a:off x="339436" y="233217"/>
            <a:ext cx="10515600" cy="895639"/>
          </a:xfrm>
        </p:spPr>
        <p:txBody>
          <a:bodyPr>
            <a:normAutofit/>
          </a:bodyPr>
          <a:lstStyle/>
          <a:p>
            <a:r>
              <a:rPr lang="en-US" sz="4000" b="1" dirty="0">
                <a:latin typeface="+mn-lt"/>
              </a:rPr>
              <a:t>Triggers in SQL</a:t>
            </a:r>
          </a:p>
        </p:txBody>
      </p:sp>
      <p:sp>
        <p:nvSpPr>
          <p:cNvPr id="3" name="Content Placeholder 2">
            <a:extLst>
              <a:ext uri="{FF2B5EF4-FFF2-40B4-BE49-F238E27FC236}">
                <a16:creationId xmlns="" xmlns:a16="http://schemas.microsoft.com/office/drawing/2014/main" id="{3BFC02BB-DB5B-36F0-9DD6-0F723F887B71}"/>
              </a:ext>
            </a:extLst>
          </p:cNvPr>
          <p:cNvSpPr>
            <a:spLocks noGrp="1"/>
          </p:cNvSpPr>
          <p:nvPr>
            <p:ph idx="1"/>
          </p:nvPr>
        </p:nvSpPr>
        <p:spPr>
          <a:xfrm>
            <a:off x="339436" y="1128856"/>
            <a:ext cx="6546274" cy="5048107"/>
          </a:xfrm>
        </p:spPr>
        <p:txBody>
          <a:bodyPr>
            <a:normAutofit/>
          </a:bodyPr>
          <a:lstStyle/>
          <a:p>
            <a:pPr algn="just"/>
            <a:r>
              <a:rPr lang="en-US" b="0" i="0" dirty="0">
                <a:effectLst/>
              </a:rPr>
              <a:t>Syntax:</a:t>
            </a:r>
          </a:p>
          <a:p>
            <a:pPr marL="0" indent="0" algn="just">
              <a:buNone/>
            </a:pPr>
            <a:r>
              <a:rPr lang="en-US" sz="2400" b="1" i="0" dirty="0">
                <a:solidFill>
                  <a:srgbClr val="006699"/>
                </a:solidFill>
                <a:effectLst/>
              </a:rPr>
              <a:t>CREATE</a:t>
            </a:r>
            <a:r>
              <a:rPr lang="en-US" sz="2400" b="0" i="0" dirty="0">
                <a:solidFill>
                  <a:srgbClr val="000000"/>
                </a:solidFill>
                <a:effectLst/>
              </a:rPr>
              <a:t> </a:t>
            </a:r>
            <a:r>
              <a:rPr lang="en-US" sz="2400" b="1" i="0" dirty="0">
                <a:solidFill>
                  <a:srgbClr val="006699"/>
                </a:solidFill>
                <a:effectLst/>
              </a:rPr>
              <a:t>TRIGGER</a:t>
            </a:r>
            <a:r>
              <a:rPr lang="en-US" sz="2400" b="0" i="0" dirty="0">
                <a:solidFill>
                  <a:srgbClr val="000000"/>
                </a:solidFill>
                <a:effectLst/>
              </a:rPr>
              <a:t> </a:t>
            </a:r>
            <a:r>
              <a:rPr lang="en-US" sz="2400" b="0" i="0" dirty="0" err="1">
                <a:solidFill>
                  <a:srgbClr val="000000"/>
                </a:solidFill>
                <a:effectLst/>
              </a:rPr>
              <a:t>trigger_name</a:t>
            </a:r>
            <a:r>
              <a:rPr lang="en-US" sz="2400" b="0" i="0" dirty="0">
                <a:solidFill>
                  <a:srgbClr val="000000"/>
                </a:solidFill>
                <a:effectLst/>
              </a:rPr>
              <a:t>    </a:t>
            </a:r>
          </a:p>
          <a:p>
            <a:pPr marL="0" indent="0" algn="just">
              <a:buNone/>
            </a:pPr>
            <a:r>
              <a:rPr lang="en-US" sz="2400" b="0" i="0" dirty="0">
                <a:solidFill>
                  <a:srgbClr val="000000"/>
                </a:solidFill>
                <a:effectLst/>
              </a:rPr>
              <a:t>    (</a:t>
            </a:r>
            <a:r>
              <a:rPr lang="en-US" sz="2400" b="1" i="0" dirty="0">
                <a:solidFill>
                  <a:srgbClr val="006699"/>
                </a:solidFill>
                <a:effectLst/>
              </a:rPr>
              <a:t>AFTER</a:t>
            </a:r>
            <a:r>
              <a:rPr lang="en-US" sz="2400" b="0" i="0" dirty="0">
                <a:solidFill>
                  <a:srgbClr val="000000"/>
                </a:solidFill>
                <a:effectLst/>
              </a:rPr>
              <a:t> | BEFORE) (</a:t>
            </a:r>
            <a:r>
              <a:rPr lang="en-US" sz="2400" b="1" i="0" dirty="0">
                <a:solidFill>
                  <a:srgbClr val="006699"/>
                </a:solidFill>
                <a:effectLst/>
              </a:rPr>
              <a:t>INSERT</a:t>
            </a:r>
            <a:r>
              <a:rPr lang="en-US" sz="2400" b="0" i="0" dirty="0">
                <a:solidFill>
                  <a:srgbClr val="000000"/>
                </a:solidFill>
                <a:effectLst/>
              </a:rPr>
              <a:t> | </a:t>
            </a:r>
            <a:r>
              <a:rPr lang="en-US" sz="2400" b="1" i="0" dirty="0">
                <a:solidFill>
                  <a:srgbClr val="006699"/>
                </a:solidFill>
                <a:effectLst/>
              </a:rPr>
              <a:t>UPDATE</a:t>
            </a:r>
            <a:r>
              <a:rPr lang="en-US" sz="2400" b="0" i="0" dirty="0">
                <a:solidFill>
                  <a:srgbClr val="000000"/>
                </a:solidFill>
                <a:effectLst/>
              </a:rPr>
              <a:t> | </a:t>
            </a:r>
            <a:r>
              <a:rPr lang="en-US" sz="2400" b="1" i="0" dirty="0">
                <a:solidFill>
                  <a:srgbClr val="006699"/>
                </a:solidFill>
                <a:effectLst/>
              </a:rPr>
              <a:t>DELETE</a:t>
            </a:r>
            <a:r>
              <a:rPr lang="en-US" sz="2400" b="0" i="0" dirty="0">
                <a:solidFill>
                  <a:srgbClr val="000000"/>
                </a:solidFill>
                <a:effectLst/>
              </a:rPr>
              <a:t>)  </a:t>
            </a:r>
          </a:p>
          <a:p>
            <a:pPr marL="0" indent="0" algn="just">
              <a:buNone/>
            </a:pPr>
            <a:r>
              <a:rPr lang="en-US" sz="2400" b="0" i="0" dirty="0">
                <a:solidFill>
                  <a:srgbClr val="000000"/>
                </a:solidFill>
                <a:effectLst/>
              </a:rPr>
              <a:t>         </a:t>
            </a:r>
            <a:r>
              <a:rPr lang="en-US" sz="2400" b="1" i="0" dirty="0">
                <a:solidFill>
                  <a:srgbClr val="006699"/>
                </a:solidFill>
                <a:effectLst/>
              </a:rPr>
              <a:t>ON</a:t>
            </a:r>
            <a:r>
              <a:rPr lang="en-US" sz="2400" b="0" i="0" dirty="0">
                <a:solidFill>
                  <a:srgbClr val="000000"/>
                </a:solidFill>
                <a:effectLst/>
              </a:rPr>
              <a:t> </a:t>
            </a:r>
            <a:r>
              <a:rPr lang="en-US" sz="2400" b="0" i="0" dirty="0" err="1">
                <a:solidFill>
                  <a:srgbClr val="000000"/>
                </a:solidFill>
                <a:effectLst/>
              </a:rPr>
              <a:t>table_name</a:t>
            </a:r>
            <a:r>
              <a:rPr lang="en-US" sz="2400" b="0" i="0" dirty="0">
                <a:solidFill>
                  <a:srgbClr val="000000"/>
                </a:solidFill>
                <a:effectLst/>
              </a:rPr>
              <a:t> </a:t>
            </a:r>
            <a:r>
              <a:rPr lang="en-US" sz="2400" b="1" i="0" dirty="0">
                <a:solidFill>
                  <a:srgbClr val="006699"/>
                </a:solidFill>
                <a:effectLst/>
              </a:rPr>
              <a:t>FOR</a:t>
            </a:r>
            <a:r>
              <a:rPr lang="en-US" sz="2400" b="0" i="0" dirty="0">
                <a:solidFill>
                  <a:srgbClr val="000000"/>
                </a:solidFill>
                <a:effectLst/>
              </a:rPr>
              <a:t> EACH ROW    </a:t>
            </a:r>
          </a:p>
          <a:p>
            <a:pPr marL="0" indent="0" algn="just">
              <a:buNone/>
            </a:pPr>
            <a:r>
              <a:rPr lang="en-US" sz="2400" b="0" i="0" dirty="0">
                <a:solidFill>
                  <a:srgbClr val="000000"/>
                </a:solidFill>
                <a:effectLst/>
              </a:rPr>
              <a:t>         </a:t>
            </a:r>
            <a:r>
              <a:rPr lang="en-US" sz="2400" b="1" i="0" dirty="0">
                <a:solidFill>
                  <a:srgbClr val="006699"/>
                </a:solidFill>
                <a:effectLst/>
              </a:rPr>
              <a:t>BEGIN</a:t>
            </a:r>
            <a:r>
              <a:rPr lang="en-US" sz="2400" b="0" i="0" dirty="0">
                <a:solidFill>
                  <a:srgbClr val="000000"/>
                </a:solidFill>
                <a:effectLst/>
              </a:rPr>
              <a:t>    </a:t>
            </a:r>
          </a:p>
          <a:p>
            <a:pPr marL="0" indent="0" algn="just">
              <a:buNone/>
            </a:pPr>
            <a:r>
              <a:rPr lang="en-US" sz="2400" b="0" i="0" dirty="0">
                <a:solidFill>
                  <a:srgbClr val="000000"/>
                </a:solidFill>
                <a:effectLst/>
              </a:rPr>
              <a:t>        </a:t>
            </a:r>
            <a:r>
              <a:rPr lang="en-US" sz="2400" b="0" i="0" dirty="0">
                <a:solidFill>
                  <a:srgbClr val="008200"/>
                </a:solidFill>
                <a:effectLst/>
              </a:rPr>
              <a:t>--variable declarations  </a:t>
            </a:r>
            <a:r>
              <a:rPr lang="en-US" sz="2400" b="0" i="0" dirty="0">
                <a:solidFill>
                  <a:srgbClr val="000000"/>
                </a:solidFill>
                <a:effectLst/>
              </a:rPr>
              <a:t>  </a:t>
            </a:r>
          </a:p>
          <a:p>
            <a:pPr marL="0" indent="0" algn="just">
              <a:buNone/>
            </a:pPr>
            <a:r>
              <a:rPr lang="en-US" sz="2400" b="0" i="0" dirty="0">
                <a:solidFill>
                  <a:srgbClr val="000000"/>
                </a:solidFill>
                <a:effectLst/>
              </a:rPr>
              <a:t>        </a:t>
            </a:r>
            <a:r>
              <a:rPr lang="en-US" sz="2400" b="0" i="0" dirty="0">
                <a:solidFill>
                  <a:srgbClr val="008200"/>
                </a:solidFill>
                <a:effectLst/>
              </a:rPr>
              <a:t>--trigger code  </a:t>
            </a:r>
            <a:r>
              <a:rPr lang="en-US" sz="2400" b="0" i="0" dirty="0">
                <a:solidFill>
                  <a:srgbClr val="000000"/>
                </a:solidFill>
                <a:effectLst/>
              </a:rPr>
              <a:t>  </a:t>
            </a:r>
          </a:p>
          <a:p>
            <a:pPr marL="0" indent="0" algn="just">
              <a:buNone/>
            </a:pPr>
            <a:r>
              <a:rPr lang="en-US" sz="2400" b="0" i="0" dirty="0">
                <a:solidFill>
                  <a:srgbClr val="000000"/>
                </a:solidFill>
                <a:effectLst/>
              </a:rPr>
              <a:t>        </a:t>
            </a:r>
            <a:r>
              <a:rPr lang="en-US" sz="2400" b="1" i="0" dirty="0">
                <a:solidFill>
                  <a:srgbClr val="006699"/>
                </a:solidFill>
                <a:effectLst/>
              </a:rPr>
              <a:t>END</a:t>
            </a:r>
            <a:r>
              <a:rPr lang="en-US" sz="2400" b="0" i="0" dirty="0">
                <a:solidFill>
                  <a:srgbClr val="000000"/>
                </a:solidFill>
                <a:effectLst/>
              </a:rPr>
              <a:t>;     </a:t>
            </a:r>
          </a:p>
          <a:p>
            <a:pPr algn="just"/>
            <a:endParaRPr lang="en-US" dirty="0"/>
          </a:p>
        </p:txBody>
      </p:sp>
      <p:sp>
        <p:nvSpPr>
          <p:cNvPr id="4" name="Content Placeholder 2">
            <a:extLst>
              <a:ext uri="{FF2B5EF4-FFF2-40B4-BE49-F238E27FC236}">
                <a16:creationId xmlns="" xmlns:a16="http://schemas.microsoft.com/office/drawing/2014/main" id="{EF27631C-FE47-169F-DCC6-8CEDBFEC2AA4}"/>
              </a:ext>
            </a:extLst>
          </p:cNvPr>
          <p:cNvSpPr txBox="1">
            <a:spLocks/>
          </p:cNvSpPr>
          <p:nvPr/>
        </p:nvSpPr>
        <p:spPr>
          <a:xfrm>
            <a:off x="7038109" y="540327"/>
            <a:ext cx="4814455" cy="3200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0" dirty="0">
                <a:solidFill>
                  <a:srgbClr val="006699"/>
                </a:solidFill>
                <a:effectLst/>
              </a:rPr>
              <a:t>Use Student;</a:t>
            </a:r>
          </a:p>
          <a:p>
            <a:pPr marL="0" indent="0" algn="just">
              <a:buNone/>
            </a:pPr>
            <a:r>
              <a:rPr lang="en-US" sz="2400" b="1" i="0" dirty="0">
                <a:solidFill>
                  <a:srgbClr val="006699"/>
                </a:solidFill>
                <a:effectLst/>
              </a:rPr>
              <a:t>CREATE</a:t>
            </a:r>
            <a:r>
              <a:rPr lang="en-US" sz="2400" b="0" i="0" dirty="0">
                <a:solidFill>
                  <a:srgbClr val="000000"/>
                </a:solidFill>
                <a:effectLst/>
              </a:rPr>
              <a:t> </a:t>
            </a:r>
            <a:r>
              <a:rPr lang="en-US" sz="2400" b="1" i="0" dirty="0">
                <a:solidFill>
                  <a:srgbClr val="006699"/>
                </a:solidFill>
                <a:effectLst/>
              </a:rPr>
              <a:t>TABLE</a:t>
            </a:r>
            <a:r>
              <a:rPr lang="en-US" sz="2400" b="0" i="0" dirty="0">
                <a:solidFill>
                  <a:srgbClr val="000000"/>
                </a:solidFill>
                <a:effectLst/>
              </a:rPr>
              <a:t> employee(  </a:t>
            </a:r>
          </a:p>
          <a:p>
            <a:pPr marL="0" indent="0" algn="just">
              <a:buNone/>
            </a:pPr>
            <a:r>
              <a:rPr lang="en-US" sz="2400" b="0" i="0" dirty="0">
                <a:solidFill>
                  <a:srgbClr val="000000"/>
                </a:solidFill>
                <a:effectLst/>
              </a:rPr>
              <a:t>    </a:t>
            </a:r>
            <a:r>
              <a:rPr lang="en-US" sz="2400" b="1" i="0" dirty="0">
                <a:solidFill>
                  <a:srgbClr val="006699"/>
                </a:solidFill>
                <a:effectLst/>
              </a:rPr>
              <a:t>name</a:t>
            </a:r>
            <a:r>
              <a:rPr lang="en-US" sz="2400" b="0" i="0" dirty="0">
                <a:solidFill>
                  <a:srgbClr val="000000"/>
                </a:solidFill>
                <a:effectLst/>
              </a:rPr>
              <a:t> </a:t>
            </a:r>
            <a:r>
              <a:rPr lang="en-US" sz="2400" b="1" i="0" dirty="0">
                <a:solidFill>
                  <a:srgbClr val="006699"/>
                </a:solidFill>
                <a:effectLst/>
              </a:rPr>
              <a:t>varchar</a:t>
            </a:r>
            <a:r>
              <a:rPr lang="en-US" sz="2400" b="0" i="0" dirty="0">
                <a:solidFill>
                  <a:srgbClr val="000000"/>
                </a:solidFill>
                <a:effectLst/>
              </a:rPr>
              <a:t>(45) </a:t>
            </a:r>
            <a:r>
              <a:rPr lang="en-US" sz="2400" b="0" i="0" dirty="0">
                <a:solidFill>
                  <a:srgbClr val="808080"/>
                </a:solidFill>
                <a:effectLst/>
              </a:rPr>
              <a:t>NOT</a:t>
            </a:r>
            <a:r>
              <a:rPr lang="en-US" sz="2400" b="0" i="0" dirty="0">
                <a:solidFill>
                  <a:srgbClr val="000000"/>
                </a:solidFill>
                <a:effectLst/>
              </a:rPr>
              <a:t> </a:t>
            </a:r>
            <a:r>
              <a:rPr lang="en-US" sz="2400" b="0" i="0" dirty="0">
                <a:solidFill>
                  <a:srgbClr val="808080"/>
                </a:solidFill>
                <a:effectLst/>
              </a:rPr>
              <a:t>NULL</a:t>
            </a:r>
            <a:r>
              <a:rPr lang="en-US" sz="2400" b="0" i="0" dirty="0">
                <a:solidFill>
                  <a:srgbClr val="000000"/>
                </a:solidFill>
                <a:effectLst/>
              </a:rPr>
              <a:t>,    </a:t>
            </a:r>
          </a:p>
          <a:p>
            <a:pPr marL="0" indent="0" algn="just">
              <a:buNone/>
            </a:pPr>
            <a:r>
              <a:rPr lang="en-US" sz="2400" b="0" i="0" dirty="0">
                <a:solidFill>
                  <a:srgbClr val="000000"/>
                </a:solidFill>
                <a:effectLst/>
              </a:rPr>
              <a:t>    occupation </a:t>
            </a:r>
            <a:r>
              <a:rPr lang="en-US" sz="2400" b="1" i="0" dirty="0">
                <a:solidFill>
                  <a:srgbClr val="006699"/>
                </a:solidFill>
                <a:effectLst/>
              </a:rPr>
              <a:t>varchar</a:t>
            </a:r>
            <a:r>
              <a:rPr lang="en-US" sz="2400" b="0" i="0" dirty="0">
                <a:solidFill>
                  <a:srgbClr val="000000"/>
                </a:solidFill>
                <a:effectLst/>
              </a:rPr>
              <a:t>(35) </a:t>
            </a:r>
            <a:r>
              <a:rPr lang="en-US" sz="2400" b="0" i="0" dirty="0">
                <a:solidFill>
                  <a:srgbClr val="808080"/>
                </a:solidFill>
                <a:effectLst/>
              </a:rPr>
              <a:t>NOT</a:t>
            </a:r>
            <a:r>
              <a:rPr lang="en-US" sz="2400" b="0" i="0" dirty="0">
                <a:solidFill>
                  <a:srgbClr val="000000"/>
                </a:solidFill>
                <a:effectLst/>
              </a:rPr>
              <a:t> </a:t>
            </a:r>
            <a:r>
              <a:rPr lang="en-US" sz="2400" b="0" i="0" dirty="0">
                <a:solidFill>
                  <a:srgbClr val="808080"/>
                </a:solidFill>
                <a:effectLst/>
              </a:rPr>
              <a:t>NULL</a:t>
            </a:r>
            <a:r>
              <a:rPr lang="en-US" sz="2400" b="0" i="0" dirty="0">
                <a:solidFill>
                  <a:srgbClr val="000000"/>
                </a:solidFill>
                <a:effectLst/>
              </a:rPr>
              <a:t>,     </a:t>
            </a:r>
            <a:r>
              <a:rPr lang="en-US" sz="2400" b="0" i="0" dirty="0" err="1">
                <a:solidFill>
                  <a:srgbClr val="000000"/>
                </a:solidFill>
                <a:effectLst/>
              </a:rPr>
              <a:t>working_date</a:t>
            </a:r>
            <a:r>
              <a:rPr lang="en-US" sz="2400" b="0" i="0" dirty="0">
                <a:solidFill>
                  <a:srgbClr val="000000"/>
                </a:solidFill>
                <a:effectLst/>
              </a:rPr>
              <a:t> </a:t>
            </a:r>
            <a:r>
              <a:rPr lang="en-US" sz="2400" b="1" i="0" dirty="0">
                <a:solidFill>
                  <a:srgbClr val="006699"/>
                </a:solidFill>
                <a:effectLst/>
              </a:rPr>
              <a:t>date</a:t>
            </a:r>
            <a:r>
              <a:rPr lang="en-US" sz="2400" b="0" i="0" dirty="0">
                <a:solidFill>
                  <a:srgbClr val="000000"/>
                </a:solidFill>
                <a:effectLst/>
              </a:rPr>
              <a:t>,  </a:t>
            </a:r>
          </a:p>
          <a:p>
            <a:pPr marL="0" indent="0" algn="just">
              <a:buNone/>
            </a:pPr>
            <a:r>
              <a:rPr lang="en-US" sz="2400" b="0" i="0" dirty="0">
                <a:solidFill>
                  <a:srgbClr val="000000"/>
                </a:solidFill>
                <a:effectLst/>
              </a:rPr>
              <a:t>    </a:t>
            </a:r>
            <a:r>
              <a:rPr lang="en-US" sz="2400" b="0" i="0" dirty="0" err="1">
                <a:solidFill>
                  <a:srgbClr val="000000"/>
                </a:solidFill>
                <a:effectLst/>
              </a:rPr>
              <a:t>working_hours</a:t>
            </a:r>
            <a:r>
              <a:rPr lang="en-US" sz="2400" b="0" i="0" dirty="0">
                <a:solidFill>
                  <a:srgbClr val="000000"/>
                </a:solidFill>
                <a:effectLst/>
              </a:rPr>
              <a:t> </a:t>
            </a:r>
            <a:r>
              <a:rPr lang="en-US" sz="2400" b="1" i="0" dirty="0">
                <a:solidFill>
                  <a:srgbClr val="006699"/>
                </a:solidFill>
                <a:effectLst/>
              </a:rPr>
              <a:t>varchar</a:t>
            </a:r>
            <a:r>
              <a:rPr lang="en-US" sz="2400" b="0" i="0" dirty="0">
                <a:solidFill>
                  <a:srgbClr val="000000"/>
                </a:solidFill>
                <a:effectLst/>
              </a:rPr>
              <a:t>(10)  </a:t>
            </a:r>
          </a:p>
          <a:p>
            <a:pPr marL="0" indent="0" algn="just">
              <a:buNone/>
            </a:pPr>
            <a:r>
              <a:rPr lang="en-US" sz="2400" b="0" i="0" dirty="0">
                <a:solidFill>
                  <a:srgbClr val="000000"/>
                </a:solidFill>
                <a:effectLst/>
              </a:rPr>
              <a:t>);  </a:t>
            </a:r>
          </a:p>
          <a:p>
            <a:endParaRPr lang="en-US" dirty="0"/>
          </a:p>
          <a:p>
            <a:endParaRPr lang="en-IN" dirty="0"/>
          </a:p>
        </p:txBody>
      </p:sp>
      <p:sp>
        <p:nvSpPr>
          <p:cNvPr id="5" name="Content Placeholder 2">
            <a:extLst>
              <a:ext uri="{FF2B5EF4-FFF2-40B4-BE49-F238E27FC236}">
                <a16:creationId xmlns="" xmlns:a16="http://schemas.microsoft.com/office/drawing/2014/main" id="{8E93D3AA-00B0-B182-7AEE-283169483067}"/>
              </a:ext>
            </a:extLst>
          </p:cNvPr>
          <p:cNvSpPr txBox="1">
            <a:spLocks/>
          </p:cNvSpPr>
          <p:nvPr/>
        </p:nvSpPr>
        <p:spPr>
          <a:xfrm>
            <a:off x="2687782" y="4463474"/>
            <a:ext cx="9164782" cy="216130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0" dirty="0">
                <a:solidFill>
                  <a:srgbClr val="006699"/>
                </a:solidFill>
                <a:effectLst/>
              </a:rPr>
              <a:t>INSERT</a:t>
            </a:r>
            <a:r>
              <a:rPr lang="en-US" sz="2400" b="0" i="0" dirty="0">
                <a:solidFill>
                  <a:srgbClr val="000000"/>
                </a:solidFill>
                <a:effectLst/>
              </a:rPr>
              <a:t> </a:t>
            </a:r>
            <a:r>
              <a:rPr lang="en-US" sz="2400" b="1" i="0" dirty="0">
                <a:solidFill>
                  <a:srgbClr val="006699"/>
                </a:solidFill>
                <a:effectLst/>
              </a:rPr>
              <a:t>INTO</a:t>
            </a:r>
            <a:r>
              <a:rPr lang="en-US" sz="2400" b="0" i="0" dirty="0">
                <a:solidFill>
                  <a:srgbClr val="000000"/>
                </a:solidFill>
                <a:effectLst/>
              </a:rPr>
              <a:t> employee </a:t>
            </a:r>
            <a:r>
              <a:rPr lang="en-US" sz="2400" b="1" i="0" dirty="0">
                <a:solidFill>
                  <a:srgbClr val="006699"/>
                </a:solidFill>
                <a:effectLst/>
              </a:rPr>
              <a:t>VALUES</a:t>
            </a:r>
            <a:r>
              <a:rPr lang="en-US" sz="2400" b="0" i="0" dirty="0">
                <a:solidFill>
                  <a:srgbClr val="000000"/>
                </a:solidFill>
                <a:effectLst/>
              </a:rPr>
              <a:t>  (</a:t>
            </a:r>
            <a:r>
              <a:rPr lang="en-US" sz="2400" b="0" i="0" dirty="0">
                <a:solidFill>
                  <a:srgbClr val="0000FF"/>
                </a:solidFill>
                <a:effectLst/>
              </a:rPr>
              <a:t>'Robin'</a:t>
            </a:r>
            <a:r>
              <a:rPr lang="en-US" sz="2400" b="0" i="0" dirty="0">
                <a:solidFill>
                  <a:srgbClr val="000000"/>
                </a:solidFill>
                <a:effectLst/>
              </a:rPr>
              <a:t>, </a:t>
            </a:r>
            <a:r>
              <a:rPr lang="en-US" sz="2400" b="0" i="0" dirty="0">
                <a:solidFill>
                  <a:srgbClr val="0000FF"/>
                </a:solidFill>
                <a:effectLst/>
              </a:rPr>
              <a:t>'Scientist'</a:t>
            </a:r>
            <a:r>
              <a:rPr lang="en-US" sz="2400" b="0" i="0" dirty="0">
                <a:solidFill>
                  <a:srgbClr val="000000"/>
                </a:solidFill>
                <a:effectLst/>
              </a:rPr>
              <a:t>, </a:t>
            </a:r>
            <a:r>
              <a:rPr lang="en-US" sz="2400" b="0" i="0" dirty="0">
                <a:solidFill>
                  <a:srgbClr val="0000FF"/>
                </a:solidFill>
                <a:effectLst/>
              </a:rPr>
              <a:t>'2020-10-04'</a:t>
            </a:r>
            <a:r>
              <a:rPr lang="en-US" sz="2400" b="0" i="0" dirty="0">
                <a:solidFill>
                  <a:srgbClr val="000000"/>
                </a:solidFill>
                <a:effectLst/>
              </a:rPr>
              <a:t>, 12),  </a:t>
            </a:r>
          </a:p>
          <a:p>
            <a:pPr marL="0" indent="0" algn="just">
              <a:buNone/>
            </a:pPr>
            <a:r>
              <a:rPr lang="en-US" sz="2400" b="0" i="0" dirty="0">
                <a:solidFill>
                  <a:srgbClr val="000000"/>
                </a:solidFill>
                <a:effectLst/>
              </a:rPr>
              <a:t>(</a:t>
            </a:r>
            <a:r>
              <a:rPr lang="en-US" sz="2400" b="0" i="0" dirty="0">
                <a:solidFill>
                  <a:srgbClr val="0000FF"/>
                </a:solidFill>
                <a:effectLst/>
              </a:rPr>
              <a:t>'Warner'</a:t>
            </a:r>
            <a:r>
              <a:rPr lang="en-US" sz="2400" b="0" i="0" dirty="0">
                <a:solidFill>
                  <a:srgbClr val="000000"/>
                </a:solidFill>
                <a:effectLst/>
              </a:rPr>
              <a:t>, </a:t>
            </a:r>
            <a:r>
              <a:rPr lang="en-US" sz="2400" b="0" i="0" dirty="0">
                <a:solidFill>
                  <a:srgbClr val="0000FF"/>
                </a:solidFill>
                <a:effectLst/>
              </a:rPr>
              <a:t>'Engineer'</a:t>
            </a:r>
            <a:r>
              <a:rPr lang="en-US" sz="2400" b="0" i="0" dirty="0">
                <a:solidFill>
                  <a:srgbClr val="000000"/>
                </a:solidFill>
                <a:effectLst/>
              </a:rPr>
              <a:t>, </a:t>
            </a:r>
            <a:r>
              <a:rPr lang="en-US" sz="2400" b="0" i="0" dirty="0">
                <a:solidFill>
                  <a:srgbClr val="0000FF"/>
                </a:solidFill>
                <a:effectLst/>
              </a:rPr>
              <a:t>'2020-10-04'</a:t>
            </a:r>
            <a:r>
              <a:rPr lang="en-US" sz="2400" b="0" i="0" dirty="0">
                <a:solidFill>
                  <a:srgbClr val="000000"/>
                </a:solidFill>
                <a:effectLst/>
              </a:rPr>
              <a:t>, 10), (</a:t>
            </a:r>
            <a:r>
              <a:rPr lang="en-US" sz="2400" b="0" i="0" dirty="0">
                <a:solidFill>
                  <a:srgbClr val="0000FF"/>
                </a:solidFill>
                <a:effectLst/>
              </a:rPr>
              <a:t>'Peter'</a:t>
            </a:r>
            <a:r>
              <a:rPr lang="en-US" sz="2400" b="0" i="0" dirty="0">
                <a:solidFill>
                  <a:srgbClr val="000000"/>
                </a:solidFill>
                <a:effectLst/>
              </a:rPr>
              <a:t>, </a:t>
            </a:r>
            <a:r>
              <a:rPr lang="en-US" sz="2400" b="0" i="0" dirty="0">
                <a:solidFill>
                  <a:srgbClr val="0000FF"/>
                </a:solidFill>
                <a:effectLst/>
              </a:rPr>
              <a:t>'Actor'</a:t>
            </a:r>
            <a:r>
              <a:rPr lang="en-US" sz="2400" b="0" i="0" dirty="0">
                <a:solidFill>
                  <a:srgbClr val="000000"/>
                </a:solidFill>
                <a:effectLst/>
              </a:rPr>
              <a:t>, </a:t>
            </a:r>
            <a:r>
              <a:rPr lang="en-US" sz="2400" b="0" i="0" dirty="0">
                <a:solidFill>
                  <a:srgbClr val="0000FF"/>
                </a:solidFill>
                <a:effectLst/>
              </a:rPr>
              <a:t>'2020-10-04'</a:t>
            </a:r>
            <a:r>
              <a:rPr lang="en-US" sz="2400" b="0" i="0" dirty="0">
                <a:solidFill>
                  <a:srgbClr val="000000"/>
                </a:solidFill>
                <a:effectLst/>
              </a:rPr>
              <a:t>, 13),  </a:t>
            </a:r>
          </a:p>
          <a:p>
            <a:pPr marL="0" indent="0" algn="just">
              <a:buNone/>
            </a:pPr>
            <a:r>
              <a:rPr lang="en-US" sz="2400" b="0" i="0" dirty="0">
                <a:solidFill>
                  <a:srgbClr val="000000"/>
                </a:solidFill>
                <a:effectLst/>
              </a:rPr>
              <a:t>(</a:t>
            </a:r>
            <a:r>
              <a:rPr lang="en-US" sz="2400" b="0" i="0" dirty="0">
                <a:solidFill>
                  <a:srgbClr val="0000FF"/>
                </a:solidFill>
                <a:effectLst/>
              </a:rPr>
              <a:t>'Marco'</a:t>
            </a:r>
            <a:r>
              <a:rPr lang="en-US" sz="2400" b="0" i="0" dirty="0">
                <a:solidFill>
                  <a:srgbClr val="000000"/>
                </a:solidFill>
                <a:effectLst/>
              </a:rPr>
              <a:t>, </a:t>
            </a:r>
            <a:r>
              <a:rPr lang="en-US" sz="2400" b="0" i="0" dirty="0">
                <a:solidFill>
                  <a:srgbClr val="0000FF"/>
                </a:solidFill>
                <a:effectLst/>
              </a:rPr>
              <a:t>'Doctor'</a:t>
            </a:r>
            <a:r>
              <a:rPr lang="en-US" sz="2400" b="0" i="0" dirty="0">
                <a:solidFill>
                  <a:srgbClr val="000000"/>
                </a:solidFill>
                <a:effectLst/>
              </a:rPr>
              <a:t>, </a:t>
            </a:r>
            <a:r>
              <a:rPr lang="en-US" sz="2400" b="0" i="0" dirty="0">
                <a:solidFill>
                  <a:srgbClr val="0000FF"/>
                </a:solidFill>
                <a:effectLst/>
              </a:rPr>
              <a:t>'2020-10-04'</a:t>
            </a:r>
            <a:r>
              <a:rPr lang="en-US" sz="2400" b="0" i="0" dirty="0">
                <a:solidFill>
                  <a:srgbClr val="000000"/>
                </a:solidFill>
                <a:effectLst/>
              </a:rPr>
              <a:t>, 14),(</a:t>
            </a:r>
            <a:r>
              <a:rPr lang="en-US" sz="2400" b="0" i="0" dirty="0">
                <a:solidFill>
                  <a:srgbClr val="0000FF"/>
                </a:solidFill>
                <a:effectLst/>
              </a:rPr>
              <a:t>'Brayden'</a:t>
            </a:r>
            <a:r>
              <a:rPr lang="en-US" sz="2400" b="0" i="0" dirty="0">
                <a:solidFill>
                  <a:srgbClr val="000000"/>
                </a:solidFill>
                <a:effectLst/>
              </a:rPr>
              <a:t>, </a:t>
            </a:r>
            <a:r>
              <a:rPr lang="en-US" sz="2400" b="0" i="0" dirty="0">
                <a:solidFill>
                  <a:srgbClr val="0000FF"/>
                </a:solidFill>
                <a:effectLst/>
              </a:rPr>
              <a:t>'Teacher'</a:t>
            </a:r>
            <a:r>
              <a:rPr lang="en-US" sz="2400" b="0" i="0" dirty="0">
                <a:solidFill>
                  <a:srgbClr val="000000"/>
                </a:solidFill>
                <a:effectLst/>
              </a:rPr>
              <a:t>, </a:t>
            </a:r>
            <a:r>
              <a:rPr lang="en-US" sz="2400" b="0" i="0" dirty="0">
                <a:solidFill>
                  <a:srgbClr val="0000FF"/>
                </a:solidFill>
                <a:effectLst/>
              </a:rPr>
              <a:t>'2020-10-04'</a:t>
            </a:r>
            <a:r>
              <a:rPr lang="en-US" sz="2400" b="0" i="0" dirty="0">
                <a:solidFill>
                  <a:srgbClr val="000000"/>
                </a:solidFill>
                <a:effectLst/>
              </a:rPr>
              <a:t>, 12),  </a:t>
            </a:r>
          </a:p>
          <a:p>
            <a:pPr marL="0" indent="0" algn="just">
              <a:buNone/>
            </a:pPr>
            <a:r>
              <a:rPr lang="en-US" sz="2400" b="0" i="0" dirty="0">
                <a:solidFill>
                  <a:srgbClr val="000000"/>
                </a:solidFill>
                <a:effectLst/>
              </a:rPr>
              <a:t>(</a:t>
            </a:r>
            <a:r>
              <a:rPr lang="en-US" sz="2400" b="0" i="0" dirty="0">
                <a:solidFill>
                  <a:srgbClr val="0000FF"/>
                </a:solidFill>
                <a:effectLst/>
              </a:rPr>
              <a:t>'Antonio'</a:t>
            </a:r>
            <a:r>
              <a:rPr lang="en-US" sz="2400" b="0" i="0" dirty="0">
                <a:solidFill>
                  <a:srgbClr val="000000"/>
                </a:solidFill>
                <a:effectLst/>
              </a:rPr>
              <a:t>, </a:t>
            </a:r>
            <a:r>
              <a:rPr lang="en-US" sz="2400" b="0" i="0" dirty="0">
                <a:solidFill>
                  <a:srgbClr val="0000FF"/>
                </a:solidFill>
                <a:effectLst/>
              </a:rPr>
              <a:t>'Business'</a:t>
            </a:r>
            <a:r>
              <a:rPr lang="en-US" sz="2400" b="0" i="0" dirty="0">
                <a:solidFill>
                  <a:srgbClr val="000000"/>
                </a:solidFill>
                <a:effectLst/>
              </a:rPr>
              <a:t>, </a:t>
            </a:r>
            <a:r>
              <a:rPr lang="en-US" sz="2400" b="0" i="0" dirty="0">
                <a:solidFill>
                  <a:srgbClr val="0000FF"/>
                </a:solidFill>
                <a:effectLst/>
              </a:rPr>
              <a:t>'2020-10-04'</a:t>
            </a:r>
            <a:r>
              <a:rPr lang="en-US" sz="2400" b="0" i="0" dirty="0">
                <a:solidFill>
                  <a:srgbClr val="000000"/>
                </a:solidFill>
                <a:effectLst/>
              </a:rPr>
              <a:t>, 11);  </a:t>
            </a:r>
          </a:p>
          <a:p>
            <a:endParaRPr lang="en-US" dirty="0"/>
          </a:p>
          <a:p>
            <a:endParaRPr lang="en-IN" dirty="0"/>
          </a:p>
        </p:txBody>
      </p:sp>
    </p:spTree>
    <p:extLst>
      <p:ext uri="{BB962C8B-B14F-4D97-AF65-F5344CB8AC3E}">
        <p14:creationId xmlns:p14="http://schemas.microsoft.com/office/powerpoint/2010/main" val="184697967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BBC23B-8E9F-08F1-A88B-FC1C139E0198}"/>
              </a:ext>
            </a:extLst>
          </p:cNvPr>
          <p:cNvSpPr>
            <a:spLocks noGrp="1"/>
          </p:cNvSpPr>
          <p:nvPr>
            <p:ph type="title"/>
          </p:nvPr>
        </p:nvSpPr>
        <p:spPr>
          <a:xfrm>
            <a:off x="339436" y="233217"/>
            <a:ext cx="10515600" cy="895639"/>
          </a:xfrm>
        </p:spPr>
        <p:txBody>
          <a:bodyPr>
            <a:normAutofit/>
          </a:bodyPr>
          <a:lstStyle/>
          <a:p>
            <a:r>
              <a:rPr lang="en-US" sz="4000" b="1" dirty="0">
                <a:latin typeface="+mn-lt"/>
              </a:rPr>
              <a:t>Triggers in SQL</a:t>
            </a:r>
          </a:p>
        </p:txBody>
      </p:sp>
      <p:sp>
        <p:nvSpPr>
          <p:cNvPr id="3" name="Content Placeholder 2">
            <a:extLst>
              <a:ext uri="{FF2B5EF4-FFF2-40B4-BE49-F238E27FC236}">
                <a16:creationId xmlns="" xmlns:a16="http://schemas.microsoft.com/office/drawing/2014/main" id="{3BFC02BB-DB5B-36F0-9DD6-0F723F887B71}"/>
              </a:ext>
            </a:extLst>
          </p:cNvPr>
          <p:cNvSpPr>
            <a:spLocks noGrp="1"/>
          </p:cNvSpPr>
          <p:nvPr>
            <p:ph idx="1"/>
          </p:nvPr>
        </p:nvSpPr>
        <p:spPr>
          <a:xfrm>
            <a:off x="339436" y="1128856"/>
            <a:ext cx="6546274" cy="5048107"/>
          </a:xfrm>
        </p:spPr>
        <p:txBody>
          <a:bodyPr>
            <a:normAutofit/>
          </a:bodyPr>
          <a:lstStyle/>
          <a:p>
            <a:pPr algn="just"/>
            <a:r>
              <a:rPr lang="en-US" b="0" i="0" dirty="0">
                <a:solidFill>
                  <a:srgbClr val="333333"/>
                </a:solidFill>
                <a:effectLst/>
                <a:latin typeface="inter-regular"/>
              </a:rPr>
              <a:t>we will create a </a:t>
            </a:r>
            <a:r>
              <a:rPr lang="en-US" b="1" i="0" u="none" strike="noStrike" dirty="0">
                <a:solidFill>
                  <a:srgbClr val="008000"/>
                </a:solidFill>
                <a:effectLst/>
                <a:latin typeface="inter-bold"/>
              </a:rPr>
              <a:t>BEFORE INSERT trigger</a:t>
            </a:r>
            <a:r>
              <a:rPr lang="en-US" b="0" i="0" dirty="0">
                <a:solidFill>
                  <a:srgbClr val="333333"/>
                </a:solidFill>
                <a:effectLst/>
                <a:latin typeface="inter-regular"/>
              </a:rPr>
              <a:t>. This trigger is invoked automatically insert the </a:t>
            </a:r>
            <a:r>
              <a:rPr lang="en-US" b="1" i="0" dirty="0" err="1">
                <a:solidFill>
                  <a:srgbClr val="333333"/>
                </a:solidFill>
                <a:effectLst/>
                <a:latin typeface="inter-bold"/>
              </a:rPr>
              <a:t>working_hours</a:t>
            </a:r>
            <a:r>
              <a:rPr lang="en-US" b="1" i="0" dirty="0">
                <a:solidFill>
                  <a:srgbClr val="333333"/>
                </a:solidFill>
                <a:effectLst/>
                <a:latin typeface="inter-bold"/>
              </a:rPr>
              <a:t> = 0</a:t>
            </a:r>
            <a:r>
              <a:rPr lang="en-US" b="0" i="0" dirty="0">
                <a:solidFill>
                  <a:srgbClr val="333333"/>
                </a:solidFill>
                <a:effectLst/>
                <a:latin typeface="inter-regular"/>
              </a:rPr>
              <a:t> if someone tries to insert </a:t>
            </a:r>
            <a:r>
              <a:rPr lang="en-US" b="1" i="0" dirty="0" err="1">
                <a:solidFill>
                  <a:srgbClr val="333333"/>
                </a:solidFill>
                <a:effectLst/>
                <a:latin typeface="inter-bold"/>
              </a:rPr>
              <a:t>working_hours</a:t>
            </a:r>
            <a:r>
              <a:rPr lang="en-US" b="1" i="0" dirty="0">
                <a:solidFill>
                  <a:srgbClr val="333333"/>
                </a:solidFill>
                <a:effectLst/>
                <a:latin typeface="inter-bold"/>
              </a:rPr>
              <a:t> &lt; 0</a:t>
            </a:r>
            <a:r>
              <a:rPr lang="en-US" b="0" i="0" dirty="0">
                <a:solidFill>
                  <a:srgbClr val="333333"/>
                </a:solidFill>
                <a:effectLst/>
                <a:latin typeface="inter-regular"/>
              </a:rPr>
              <a:t>.</a:t>
            </a:r>
          </a:p>
          <a:p>
            <a:pPr algn="just"/>
            <a:endParaRPr lang="en-US" dirty="0"/>
          </a:p>
        </p:txBody>
      </p:sp>
      <p:sp>
        <p:nvSpPr>
          <p:cNvPr id="5" name="Content Placeholder 2">
            <a:extLst>
              <a:ext uri="{FF2B5EF4-FFF2-40B4-BE49-F238E27FC236}">
                <a16:creationId xmlns="" xmlns:a16="http://schemas.microsoft.com/office/drawing/2014/main" id="{8E93D3AA-00B0-B182-7AEE-283169483067}"/>
              </a:ext>
            </a:extLst>
          </p:cNvPr>
          <p:cNvSpPr txBox="1">
            <a:spLocks/>
          </p:cNvSpPr>
          <p:nvPr/>
        </p:nvSpPr>
        <p:spPr>
          <a:xfrm>
            <a:off x="280556" y="2967182"/>
            <a:ext cx="8461662" cy="365760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0" dirty="0">
                <a:solidFill>
                  <a:srgbClr val="006699"/>
                </a:solidFill>
                <a:effectLst/>
              </a:rPr>
              <a:t>DELIMITER //  </a:t>
            </a:r>
          </a:p>
          <a:p>
            <a:pPr marL="0" indent="0" algn="just">
              <a:buNone/>
            </a:pPr>
            <a:r>
              <a:rPr lang="en-US" sz="2400" b="1" i="0" dirty="0">
                <a:solidFill>
                  <a:srgbClr val="006699"/>
                </a:solidFill>
                <a:effectLst/>
              </a:rPr>
              <a:t>  Create Trigger </a:t>
            </a:r>
            <a:r>
              <a:rPr lang="en-US" sz="2400" b="1" i="0" dirty="0" err="1">
                <a:solidFill>
                  <a:srgbClr val="C00000"/>
                </a:solidFill>
                <a:effectLst/>
              </a:rPr>
              <a:t>before_insert_empworkinghours</a:t>
            </a:r>
            <a:r>
              <a:rPr lang="en-US" sz="2400" b="1" i="0" dirty="0">
                <a:solidFill>
                  <a:srgbClr val="C00000"/>
                </a:solidFill>
                <a:effectLst/>
              </a:rPr>
              <a:t>   </a:t>
            </a:r>
          </a:p>
          <a:p>
            <a:pPr marL="0" indent="0" algn="just">
              <a:buNone/>
            </a:pPr>
            <a:r>
              <a:rPr lang="en-US" sz="2400" b="1" i="0" dirty="0">
                <a:solidFill>
                  <a:srgbClr val="006699"/>
                </a:solidFill>
                <a:effectLst/>
              </a:rPr>
              <a:t>  BEFORE INSERT ON employee FOR EACH ROW  </a:t>
            </a:r>
          </a:p>
          <a:p>
            <a:pPr marL="0" indent="0" algn="just">
              <a:buNone/>
            </a:pPr>
            <a:r>
              <a:rPr lang="en-US" sz="2400" b="1" i="0" dirty="0">
                <a:solidFill>
                  <a:srgbClr val="006699"/>
                </a:solidFill>
                <a:effectLst/>
              </a:rPr>
              <a:t>BEGIN  </a:t>
            </a:r>
          </a:p>
          <a:p>
            <a:pPr marL="0" indent="0" algn="just">
              <a:buNone/>
            </a:pPr>
            <a:r>
              <a:rPr lang="en-US" sz="2400" b="1" i="0" dirty="0">
                <a:solidFill>
                  <a:srgbClr val="C00000"/>
                </a:solidFill>
                <a:effectLst/>
              </a:rPr>
              <a:t>  IF </a:t>
            </a:r>
            <a:r>
              <a:rPr lang="en-US" sz="2400" b="1" i="0" dirty="0" err="1">
                <a:solidFill>
                  <a:srgbClr val="C00000"/>
                </a:solidFill>
                <a:effectLst/>
              </a:rPr>
              <a:t>NEW.working_hours</a:t>
            </a:r>
            <a:r>
              <a:rPr lang="en-US" sz="2400" b="1" i="0" dirty="0">
                <a:solidFill>
                  <a:srgbClr val="C00000"/>
                </a:solidFill>
                <a:effectLst/>
              </a:rPr>
              <a:t> &lt; 0 THEN SET </a:t>
            </a:r>
            <a:r>
              <a:rPr lang="en-US" sz="2400" b="1" i="0" dirty="0" err="1">
                <a:solidFill>
                  <a:srgbClr val="C00000"/>
                </a:solidFill>
                <a:effectLst/>
              </a:rPr>
              <a:t>NEW.working_hours</a:t>
            </a:r>
            <a:r>
              <a:rPr lang="en-US" sz="2400" b="1" i="0" dirty="0">
                <a:solidFill>
                  <a:srgbClr val="C00000"/>
                </a:solidFill>
                <a:effectLst/>
              </a:rPr>
              <a:t> = 0;  </a:t>
            </a:r>
          </a:p>
          <a:p>
            <a:pPr marL="0" indent="0" algn="just">
              <a:buNone/>
            </a:pPr>
            <a:r>
              <a:rPr lang="en-US" sz="2400" b="1" i="0" dirty="0">
                <a:solidFill>
                  <a:srgbClr val="006699"/>
                </a:solidFill>
                <a:effectLst/>
              </a:rPr>
              <a:t>  END IF;  </a:t>
            </a:r>
          </a:p>
          <a:p>
            <a:pPr marL="0" indent="0" algn="just">
              <a:buNone/>
            </a:pPr>
            <a:r>
              <a:rPr lang="en-US" sz="2400" b="1" i="0" dirty="0">
                <a:solidFill>
                  <a:srgbClr val="006699"/>
                </a:solidFill>
                <a:effectLst/>
              </a:rPr>
              <a:t>END // </a:t>
            </a:r>
          </a:p>
          <a:p>
            <a:pPr marL="0" indent="0" algn="just">
              <a:buNone/>
            </a:pPr>
            <a:r>
              <a:rPr lang="en-US" dirty="0"/>
              <a:t>DELIMITER ;</a:t>
            </a:r>
          </a:p>
          <a:p>
            <a:endParaRPr lang="en-IN" dirty="0"/>
          </a:p>
        </p:txBody>
      </p:sp>
      <p:pic>
        <p:nvPicPr>
          <p:cNvPr id="7" name="Picture 6">
            <a:extLst>
              <a:ext uri="{FF2B5EF4-FFF2-40B4-BE49-F238E27FC236}">
                <a16:creationId xmlns="" xmlns:a16="http://schemas.microsoft.com/office/drawing/2014/main" id="{6971D83E-2E48-D7FC-21E6-48EBF17CAB5D}"/>
              </a:ext>
            </a:extLst>
          </p:cNvPr>
          <p:cNvPicPr>
            <a:picLocks noChangeAspect="1"/>
          </p:cNvPicPr>
          <p:nvPr/>
        </p:nvPicPr>
        <p:blipFill>
          <a:blip r:embed="rId2"/>
          <a:stretch>
            <a:fillRect/>
          </a:stretch>
        </p:blipFill>
        <p:spPr>
          <a:xfrm>
            <a:off x="2701636" y="5055033"/>
            <a:ext cx="5791200" cy="753052"/>
          </a:xfrm>
          <a:prstGeom prst="rect">
            <a:avLst/>
          </a:prstGeom>
        </p:spPr>
      </p:pic>
      <p:pic>
        <p:nvPicPr>
          <p:cNvPr id="9" name="Picture 8">
            <a:extLst>
              <a:ext uri="{FF2B5EF4-FFF2-40B4-BE49-F238E27FC236}">
                <a16:creationId xmlns="" xmlns:a16="http://schemas.microsoft.com/office/drawing/2014/main" id="{E02E53C8-E3AF-1AEC-3EBB-9FA2FE7B0675}"/>
              </a:ext>
            </a:extLst>
          </p:cNvPr>
          <p:cNvPicPr>
            <a:picLocks noChangeAspect="1"/>
          </p:cNvPicPr>
          <p:nvPr/>
        </p:nvPicPr>
        <p:blipFill>
          <a:blip r:embed="rId3"/>
          <a:stretch>
            <a:fillRect/>
          </a:stretch>
        </p:blipFill>
        <p:spPr>
          <a:xfrm>
            <a:off x="2660877" y="5808085"/>
            <a:ext cx="6286500" cy="1019175"/>
          </a:xfrm>
          <a:prstGeom prst="rect">
            <a:avLst/>
          </a:prstGeom>
        </p:spPr>
      </p:pic>
      <p:pic>
        <p:nvPicPr>
          <p:cNvPr id="11" name="Picture 10">
            <a:extLst>
              <a:ext uri="{FF2B5EF4-FFF2-40B4-BE49-F238E27FC236}">
                <a16:creationId xmlns="" xmlns:a16="http://schemas.microsoft.com/office/drawing/2014/main" id="{C0B514B6-4CDE-B58F-74F5-EB9039AE831B}"/>
              </a:ext>
            </a:extLst>
          </p:cNvPr>
          <p:cNvPicPr>
            <a:picLocks noChangeAspect="1"/>
          </p:cNvPicPr>
          <p:nvPr/>
        </p:nvPicPr>
        <p:blipFill>
          <a:blip r:embed="rId4"/>
          <a:stretch>
            <a:fillRect/>
          </a:stretch>
        </p:blipFill>
        <p:spPr>
          <a:xfrm>
            <a:off x="6885710" y="233218"/>
            <a:ext cx="5025734" cy="3604492"/>
          </a:xfrm>
          <a:prstGeom prst="rect">
            <a:avLst/>
          </a:prstGeom>
        </p:spPr>
      </p:pic>
    </p:spTree>
    <p:extLst>
      <p:ext uri="{BB962C8B-B14F-4D97-AF65-F5344CB8AC3E}">
        <p14:creationId xmlns:p14="http://schemas.microsoft.com/office/powerpoint/2010/main" val="18871256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INSERT Trigger</a:t>
            </a:r>
          </a:p>
        </p:txBody>
      </p:sp>
      <p:sp>
        <p:nvSpPr>
          <p:cNvPr id="3" name="Content Placeholder 2"/>
          <p:cNvSpPr>
            <a:spLocks noGrp="1"/>
          </p:cNvSpPr>
          <p:nvPr>
            <p:ph idx="1"/>
          </p:nvPr>
        </p:nvSpPr>
        <p:spPr>
          <a:xfrm>
            <a:off x="838200" y="1493949"/>
            <a:ext cx="10515600" cy="4683014"/>
          </a:xfrm>
        </p:spPr>
        <p:txBody>
          <a:bodyPr>
            <a:normAutofit fontScale="77500" lnSpcReduction="20000"/>
          </a:bodyPr>
          <a:lstStyle/>
          <a:p>
            <a:r>
              <a:rPr lang="en-US" dirty="0"/>
              <a:t>This trigger ensures that a new employee's salary is at least 3000 before inserting a record</a:t>
            </a:r>
            <a:endParaRPr lang="en-US" dirty="0" smtClean="0"/>
          </a:p>
          <a:p>
            <a:endParaRPr lang="en-US" dirty="0"/>
          </a:p>
          <a:p>
            <a:pPr marL="0" indent="0">
              <a:buNone/>
            </a:pPr>
            <a:r>
              <a:rPr lang="en-US" dirty="0" smtClean="0"/>
              <a:t>DELIMITER </a:t>
            </a:r>
            <a:r>
              <a:rPr lang="en-US" dirty="0"/>
              <a:t>$$</a:t>
            </a:r>
          </a:p>
          <a:p>
            <a:pPr marL="0" indent="0">
              <a:buNone/>
            </a:pPr>
            <a:r>
              <a:rPr lang="en-US" dirty="0" smtClean="0"/>
              <a:t>CREATE </a:t>
            </a:r>
            <a:r>
              <a:rPr lang="en-US" dirty="0"/>
              <a:t>TRIGGER </a:t>
            </a:r>
            <a:r>
              <a:rPr lang="en-US" dirty="0" err="1"/>
              <a:t>before_employee_insert</a:t>
            </a:r>
            <a:endParaRPr lang="en-US" dirty="0"/>
          </a:p>
          <a:p>
            <a:pPr marL="0" indent="0">
              <a:buNone/>
            </a:pPr>
            <a:r>
              <a:rPr lang="en-US" dirty="0"/>
              <a:t>BEFORE INSERT ON employees</a:t>
            </a:r>
          </a:p>
          <a:p>
            <a:pPr marL="0" indent="0">
              <a:buNone/>
            </a:pPr>
            <a:r>
              <a:rPr lang="en-US" dirty="0"/>
              <a:t>FOR EACH ROW</a:t>
            </a:r>
          </a:p>
          <a:p>
            <a:pPr marL="0" indent="0">
              <a:buNone/>
            </a:pPr>
            <a:r>
              <a:rPr lang="en-US" dirty="0"/>
              <a:t>BEGIN</a:t>
            </a:r>
          </a:p>
          <a:p>
            <a:pPr marL="0" indent="0">
              <a:buNone/>
            </a:pPr>
            <a:r>
              <a:rPr lang="en-US" dirty="0"/>
              <a:t>    IF </a:t>
            </a:r>
            <a:r>
              <a:rPr lang="en-US" dirty="0" err="1"/>
              <a:t>NEW.salary</a:t>
            </a:r>
            <a:r>
              <a:rPr lang="en-US" dirty="0"/>
              <a:t> &lt; 3000 THEN</a:t>
            </a:r>
          </a:p>
          <a:p>
            <a:pPr marL="0" indent="0">
              <a:buNone/>
            </a:pPr>
            <a:r>
              <a:rPr lang="en-US" dirty="0"/>
              <a:t>        SET </a:t>
            </a:r>
            <a:r>
              <a:rPr lang="en-US" dirty="0" err="1"/>
              <a:t>NEW.salary</a:t>
            </a:r>
            <a:r>
              <a:rPr lang="en-US" dirty="0"/>
              <a:t> = 3000;</a:t>
            </a:r>
          </a:p>
          <a:p>
            <a:pPr marL="0" indent="0">
              <a:buNone/>
            </a:pPr>
            <a:r>
              <a:rPr lang="en-US" dirty="0"/>
              <a:t>    END IF;</a:t>
            </a:r>
          </a:p>
          <a:p>
            <a:pPr marL="0" indent="0">
              <a:buNone/>
            </a:pPr>
            <a:r>
              <a:rPr lang="en-US" dirty="0"/>
              <a:t>END $$</a:t>
            </a:r>
          </a:p>
          <a:p>
            <a:pPr marL="0" indent="0">
              <a:buNone/>
            </a:pPr>
            <a:r>
              <a:rPr lang="en-US" dirty="0" smtClean="0"/>
              <a:t>DELIMITER </a:t>
            </a:r>
            <a:r>
              <a:rPr lang="en-US" dirty="0"/>
              <a:t>;</a:t>
            </a:r>
          </a:p>
        </p:txBody>
      </p:sp>
    </p:spTree>
    <p:extLst>
      <p:ext uri="{BB962C8B-B14F-4D97-AF65-F5344CB8AC3E}">
        <p14:creationId xmlns:p14="http://schemas.microsoft.com/office/powerpoint/2010/main" val="15470608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DELETE Trigger</a:t>
            </a:r>
          </a:p>
        </p:txBody>
      </p:sp>
      <p:sp>
        <p:nvSpPr>
          <p:cNvPr id="3" name="Content Placeholder 2"/>
          <p:cNvSpPr>
            <a:spLocks noGrp="1"/>
          </p:cNvSpPr>
          <p:nvPr>
            <p:ph idx="1"/>
          </p:nvPr>
        </p:nvSpPr>
        <p:spPr/>
        <p:txBody>
          <a:bodyPr>
            <a:normAutofit fontScale="77500" lnSpcReduction="20000"/>
          </a:bodyPr>
          <a:lstStyle/>
          <a:p>
            <a:r>
              <a:rPr lang="en-US" dirty="0"/>
              <a:t>This trigger logs the deleted employee’s details into another table before deleting them</a:t>
            </a:r>
            <a:r>
              <a:rPr lang="en-US" dirty="0" smtClean="0"/>
              <a:t>.</a:t>
            </a:r>
          </a:p>
          <a:p>
            <a:endParaRPr lang="en-US" dirty="0"/>
          </a:p>
          <a:p>
            <a:pPr marL="0" indent="0">
              <a:buNone/>
            </a:pPr>
            <a:r>
              <a:rPr lang="en-US" dirty="0" smtClean="0"/>
              <a:t>DELIMITER </a:t>
            </a:r>
            <a:r>
              <a:rPr lang="en-US" dirty="0"/>
              <a:t>$$</a:t>
            </a:r>
          </a:p>
          <a:p>
            <a:pPr marL="0" indent="0">
              <a:buNone/>
            </a:pPr>
            <a:r>
              <a:rPr lang="en-US" dirty="0" smtClean="0"/>
              <a:t>CREATE </a:t>
            </a:r>
            <a:r>
              <a:rPr lang="en-US" dirty="0"/>
              <a:t>TRIGGER </a:t>
            </a:r>
            <a:r>
              <a:rPr lang="en-US" dirty="0" err="1"/>
              <a:t>before_employee_delete</a:t>
            </a:r>
            <a:endParaRPr lang="en-US" dirty="0"/>
          </a:p>
          <a:p>
            <a:pPr marL="0" indent="0">
              <a:buNone/>
            </a:pPr>
            <a:r>
              <a:rPr lang="en-US" dirty="0"/>
              <a:t>BEFORE DELETE ON employees</a:t>
            </a:r>
          </a:p>
          <a:p>
            <a:pPr marL="0" indent="0">
              <a:buNone/>
            </a:pPr>
            <a:r>
              <a:rPr lang="en-US" dirty="0"/>
              <a:t>FOR EACH ROW</a:t>
            </a:r>
          </a:p>
          <a:p>
            <a:pPr marL="0" indent="0">
              <a:buNone/>
            </a:pPr>
            <a:r>
              <a:rPr lang="en-US" dirty="0"/>
              <a:t>BEGIN</a:t>
            </a:r>
          </a:p>
          <a:p>
            <a:pPr marL="0" indent="0">
              <a:buNone/>
            </a:pPr>
            <a:r>
              <a:rPr lang="en-US" dirty="0"/>
              <a:t>    INSERT INTO </a:t>
            </a:r>
            <a:r>
              <a:rPr lang="en-US" dirty="0" err="1"/>
              <a:t>employees_log</a:t>
            </a:r>
            <a:r>
              <a:rPr lang="en-US" dirty="0"/>
              <a:t> (</a:t>
            </a:r>
            <a:r>
              <a:rPr lang="en-US" dirty="0" err="1"/>
              <a:t>employee_id</a:t>
            </a:r>
            <a:r>
              <a:rPr lang="en-US" dirty="0"/>
              <a:t>, name, action, </a:t>
            </a:r>
            <a:r>
              <a:rPr lang="en-US" dirty="0" err="1"/>
              <a:t>action_time</a:t>
            </a:r>
            <a:r>
              <a:rPr lang="en-US" dirty="0"/>
              <a:t>)</a:t>
            </a:r>
          </a:p>
          <a:p>
            <a:pPr marL="0" indent="0">
              <a:buNone/>
            </a:pPr>
            <a:r>
              <a:rPr lang="en-US" dirty="0"/>
              <a:t>    VALUES (OLD.id, OLD.name, 'DELETE', NOW());</a:t>
            </a:r>
          </a:p>
          <a:p>
            <a:pPr marL="0" indent="0">
              <a:buNone/>
            </a:pPr>
            <a:r>
              <a:rPr lang="en-US" dirty="0"/>
              <a:t>END $$</a:t>
            </a:r>
          </a:p>
          <a:p>
            <a:pPr marL="0" indent="0">
              <a:buNone/>
            </a:pPr>
            <a:r>
              <a:rPr lang="en-US" dirty="0" smtClean="0"/>
              <a:t>DELIMITER </a:t>
            </a:r>
            <a:r>
              <a:rPr lang="en-US" dirty="0"/>
              <a:t>;</a:t>
            </a:r>
          </a:p>
        </p:txBody>
      </p:sp>
    </p:spTree>
    <p:extLst>
      <p:ext uri="{BB962C8B-B14F-4D97-AF65-F5344CB8AC3E}">
        <p14:creationId xmlns:p14="http://schemas.microsoft.com/office/powerpoint/2010/main" val="24506196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UPDATE Trigger</a:t>
            </a:r>
          </a:p>
        </p:txBody>
      </p:sp>
      <p:sp>
        <p:nvSpPr>
          <p:cNvPr id="3" name="Content Placeholder 2"/>
          <p:cNvSpPr>
            <a:spLocks noGrp="1"/>
          </p:cNvSpPr>
          <p:nvPr>
            <p:ph idx="1"/>
          </p:nvPr>
        </p:nvSpPr>
        <p:spPr/>
        <p:txBody>
          <a:bodyPr>
            <a:normAutofit fontScale="77500" lnSpcReduction="20000"/>
          </a:bodyPr>
          <a:lstStyle/>
          <a:p>
            <a:r>
              <a:rPr lang="en-US" dirty="0"/>
              <a:t>This trigger prevents an employee’s salary from decreasing.</a:t>
            </a:r>
            <a:endParaRPr lang="en-US" dirty="0" smtClean="0"/>
          </a:p>
          <a:p>
            <a:endParaRPr lang="en-US" dirty="0"/>
          </a:p>
          <a:p>
            <a:pPr marL="0" indent="0">
              <a:buNone/>
            </a:pPr>
            <a:r>
              <a:rPr lang="en-US" dirty="0" smtClean="0"/>
              <a:t>DELIMITER </a:t>
            </a:r>
            <a:r>
              <a:rPr lang="en-US" dirty="0"/>
              <a:t>$$</a:t>
            </a:r>
          </a:p>
          <a:p>
            <a:pPr marL="0" indent="0">
              <a:buNone/>
            </a:pPr>
            <a:r>
              <a:rPr lang="en-US" dirty="0" smtClean="0"/>
              <a:t>CREATE </a:t>
            </a:r>
            <a:r>
              <a:rPr lang="en-US" dirty="0"/>
              <a:t>TRIGGER </a:t>
            </a:r>
            <a:r>
              <a:rPr lang="en-US" dirty="0" err="1"/>
              <a:t>before_employee_update</a:t>
            </a:r>
            <a:endParaRPr lang="en-US" dirty="0"/>
          </a:p>
          <a:p>
            <a:pPr marL="0" indent="0">
              <a:buNone/>
            </a:pPr>
            <a:r>
              <a:rPr lang="en-US" dirty="0"/>
              <a:t>BEFORE UPDATE ON employees</a:t>
            </a:r>
          </a:p>
          <a:p>
            <a:pPr marL="0" indent="0">
              <a:buNone/>
            </a:pPr>
            <a:r>
              <a:rPr lang="en-US" dirty="0"/>
              <a:t>FOR EACH ROW</a:t>
            </a:r>
          </a:p>
          <a:p>
            <a:pPr marL="0" indent="0">
              <a:buNone/>
            </a:pPr>
            <a:r>
              <a:rPr lang="en-US" dirty="0"/>
              <a:t>BEGIN</a:t>
            </a:r>
          </a:p>
          <a:p>
            <a:pPr marL="0" indent="0">
              <a:buNone/>
            </a:pPr>
            <a:r>
              <a:rPr lang="en-US" dirty="0" smtClean="0"/>
              <a:t>  </a:t>
            </a:r>
            <a:r>
              <a:rPr lang="en-US" dirty="0"/>
              <a:t>IF </a:t>
            </a:r>
            <a:r>
              <a:rPr lang="en-US" dirty="0" err="1"/>
              <a:t>NEW.salary</a:t>
            </a:r>
            <a:r>
              <a:rPr lang="en-US" dirty="0"/>
              <a:t> &lt; </a:t>
            </a:r>
            <a:r>
              <a:rPr lang="en-US" dirty="0" err="1"/>
              <a:t>OLD.salary</a:t>
            </a:r>
            <a:r>
              <a:rPr lang="en-US" dirty="0"/>
              <a:t> THEN</a:t>
            </a:r>
          </a:p>
          <a:p>
            <a:pPr marL="0" indent="0">
              <a:buNone/>
            </a:pPr>
            <a:r>
              <a:rPr lang="en-US" dirty="0" smtClean="0"/>
              <a:t>SET </a:t>
            </a:r>
            <a:r>
              <a:rPr lang="en-US" dirty="0"/>
              <a:t>MESSAGE_TEXT = 'Salary cannot be decreased!';</a:t>
            </a:r>
          </a:p>
          <a:p>
            <a:pPr marL="0" indent="0">
              <a:buNone/>
            </a:pPr>
            <a:r>
              <a:rPr lang="en-US" dirty="0"/>
              <a:t>    END IF;</a:t>
            </a:r>
          </a:p>
          <a:p>
            <a:pPr marL="0" indent="0">
              <a:buNone/>
            </a:pPr>
            <a:r>
              <a:rPr lang="en-US" dirty="0"/>
              <a:t>END $$</a:t>
            </a:r>
          </a:p>
          <a:p>
            <a:r>
              <a:rPr lang="en-US" dirty="0" smtClean="0"/>
              <a:t>DELIMITER </a:t>
            </a:r>
            <a:r>
              <a:rPr lang="en-US" dirty="0"/>
              <a:t>;</a:t>
            </a:r>
          </a:p>
        </p:txBody>
      </p:sp>
    </p:spTree>
    <p:extLst>
      <p:ext uri="{BB962C8B-B14F-4D97-AF65-F5344CB8AC3E}">
        <p14:creationId xmlns:p14="http://schemas.microsoft.com/office/powerpoint/2010/main" val="28191441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Triggers -constraints to be consider</a:t>
            </a:r>
            <a:endParaRPr lang="en-US" b="1" dirty="0"/>
          </a:p>
        </p:txBody>
      </p:sp>
      <p:sp>
        <p:nvSpPr>
          <p:cNvPr id="3" name="Content Placeholder 2"/>
          <p:cNvSpPr>
            <a:spLocks noGrp="1"/>
          </p:cNvSpPr>
          <p:nvPr>
            <p:ph idx="1"/>
          </p:nvPr>
        </p:nvSpPr>
        <p:spPr/>
        <p:txBody>
          <a:bodyPr/>
          <a:lstStyle/>
          <a:p>
            <a:r>
              <a:rPr lang="en-US" dirty="0"/>
              <a:t>The following are the main characteristics that distinguish triggers from stored procedures:</a:t>
            </a:r>
          </a:p>
          <a:p>
            <a:pPr lvl="0"/>
            <a:r>
              <a:rPr lang="en-US" dirty="0"/>
              <a:t>We cannot manually execute/invoked triggers.</a:t>
            </a:r>
          </a:p>
          <a:p>
            <a:pPr lvl="0"/>
            <a:r>
              <a:rPr lang="en-US" dirty="0"/>
              <a:t>Triggers have no chance of receiving parameters.</a:t>
            </a:r>
          </a:p>
          <a:p>
            <a:pPr lvl="0"/>
            <a:r>
              <a:rPr lang="en-US" dirty="0"/>
              <a:t>A transaction cannot be committed or rolled back inside a trigger.</a:t>
            </a:r>
          </a:p>
          <a:p>
            <a:endParaRPr lang="en-US" dirty="0"/>
          </a:p>
        </p:txBody>
      </p:sp>
    </p:spTree>
    <p:extLst>
      <p:ext uri="{BB962C8B-B14F-4D97-AF65-F5344CB8AC3E}">
        <p14:creationId xmlns:p14="http://schemas.microsoft.com/office/powerpoint/2010/main" val="18116438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C06D4-B639-F4DF-CECA-E2763BDDE198}"/>
              </a:ext>
            </a:extLst>
          </p:cNvPr>
          <p:cNvSpPr>
            <a:spLocks noGrp="1"/>
          </p:cNvSpPr>
          <p:nvPr>
            <p:ph type="title"/>
          </p:nvPr>
        </p:nvSpPr>
        <p:spPr>
          <a:xfrm>
            <a:off x="339437" y="191654"/>
            <a:ext cx="10515600" cy="978766"/>
          </a:xfrm>
        </p:spPr>
        <p:txBody>
          <a:bodyPr>
            <a:normAutofit/>
          </a:bodyPr>
          <a:lstStyle/>
          <a:p>
            <a:r>
              <a:rPr lang="en-US" sz="4000" b="1" dirty="0">
                <a:latin typeface="+mn-lt"/>
              </a:rPr>
              <a:t>Views in SQL</a:t>
            </a:r>
          </a:p>
        </p:txBody>
      </p:sp>
      <p:sp>
        <p:nvSpPr>
          <p:cNvPr id="3" name="Content Placeholder 2">
            <a:extLst>
              <a:ext uri="{FF2B5EF4-FFF2-40B4-BE49-F238E27FC236}">
                <a16:creationId xmlns="" xmlns:a16="http://schemas.microsoft.com/office/drawing/2014/main" id="{D7E65D77-348C-2F3D-B523-C0AE1A5A63AA}"/>
              </a:ext>
            </a:extLst>
          </p:cNvPr>
          <p:cNvSpPr>
            <a:spLocks noGrp="1"/>
          </p:cNvSpPr>
          <p:nvPr>
            <p:ph idx="1"/>
          </p:nvPr>
        </p:nvSpPr>
        <p:spPr>
          <a:xfrm>
            <a:off x="339437" y="1066800"/>
            <a:ext cx="11513126" cy="5599546"/>
          </a:xfrm>
        </p:spPr>
        <p:txBody>
          <a:bodyPr>
            <a:normAutofit/>
          </a:bodyPr>
          <a:lstStyle/>
          <a:p>
            <a:pPr algn="just">
              <a:lnSpc>
                <a:spcPct val="120000"/>
              </a:lnSpc>
              <a:spcBef>
                <a:spcPts val="0"/>
              </a:spcBef>
            </a:pPr>
            <a:r>
              <a:rPr lang="en-US" b="0" i="0" dirty="0">
                <a:solidFill>
                  <a:srgbClr val="000000"/>
                </a:solidFill>
                <a:effectLst/>
              </a:rPr>
              <a:t>VIEW is a database object that can be created like a table. In SQL, a </a:t>
            </a:r>
            <a:r>
              <a:rPr lang="en-US" b="1" i="0" dirty="0">
                <a:solidFill>
                  <a:srgbClr val="000099"/>
                </a:solidFill>
                <a:effectLst/>
              </a:rPr>
              <a:t>VIEW is similar to a virtual table. But unlike tables VIEWS don’t actually store data. </a:t>
            </a:r>
          </a:p>
          <a:p>
            <a:pPr algn="just">
              <a:lnSpc>
                <a:spcPct val="120000"/>
              </a:lnSpc>
              <a:spcBef>
                <a:spcPts val="0"/>
              </a:spcBef>
            </a:pPr>
            <a:r>
              <a:rPr lang="en-US" b="0" i="0" dirty="0">
                <a:solidFill>
                  <a:srgbClr val="000000"/>
                </a:solidFill>
                <a:effectLst/>
              </a:rPr>
              <a:t>For </a:t>
            </a:r>
            <a:r>
              <a:rPr lang="en-US" b="1" i="0" dirty="0">
                <a:solidFill>
                  <a:srgbClr val="000099"/>
                </a:solidFill>
                <a:effectLst/>
              </a:rPr>
              <a:t>security purposes, we can restrict users from accessing underlying tables and instead give access to views or virtual tables with limited columns</a:t>
            </a:r>
            <a:r>
              <a:rPr lang="en-US" b="0" i="0" dirty="0">
                <a:solidFill>
                  <a:srgbClr val="000000"/>
                </a:solidFill>
                <a:effectLst/>
              </a:rPr>
              <a:t>. </a:t>
            </a:r>
          </a:p>
          <a:p>
            <a:pPr algn="just">
              <a:lnSpc>
                <a:spcPct val="120000"/>
              </a:lnSpc>
              <a:spcBef>
                <a:spcPts val="0"/>
              </a:spcBef>
            </a:pPr>
            <a:r>
              <a:rPr lang="en-US" b="0" i="0" dirty="0">
                <a:solidFill>
                  <a:srgbClr val="000000"/>
                </a:solidFill>
                <a:effectLst/>
              </a:rPr>
              <a:t>Since, every time user request view, </a:t>
            </a:r>
            <a:r>
              <a:rPr lang="en-US" b="1" i="0" dirty="0">
                <a:solidFill>
                  <a:srgbClr val="000099"/>
                </a:solidFill>
                <a:effectLst/>
              </a:rPr>
              <a:t>the database engine recreates the result set, which always returns up-to-date data rows from views.</a:t>
            </a:r>
            <a:endParaRPr lang="en-US" b="1" dirty="0">
              <a:solidFill>
                <a:srgbClr val="000099"/>
              </a:solidFill>
            </a:endParaRPr>
          </a:p>
          <a:p>
            <a:endParaRPr lang="en-US" dirty="0"/>
          </a:p>
        </p:txBody>
      </p:sp>
      <p:pic>
        <p:nvPicPr>
          <p:cNvPr id="5122" name="Picture 2" descr="What is a View in MySQL?">
            <a:extLst>
              <a:ext uri="{FF2B5EF4-FFF2-40B4-BE49-F238E27FC236}">
                <a16:creationId xmlns="" xmlns:a16="http://schemas.microsoft.com/office/drawing/2014/main" id="{260B4A4C-966E-8747-6BDD-00AD238A2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1078" y="4849091"/>
            <a:ext cx="5372100" cy="1593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64338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C06D4-B639-F4DF-CECA-E2763BDDE198}"/>
              </a:ext>
            </a:extLst>
          </p:cNvPr>
          <p:cNvSpPr>
            <a:spLocks noGrp="1"/>
          </p:cNvSpPr>
          <p:nvPr>
            <p:ph type="title"/>
          </p:nvPr>
        </p:nvSpPr>
        <p:spPr>
          <a:xfrm>
            <a:off x="339437" y="191654"/>
            <a:ext cx="10515600" cy="978766"/>
          </a:xfrm>
        </p:spPr>
        <p:txBody>
          <a:bodyPr>
            <a:normAutofit/>
          </a:bodyPr>
          <a:lstStyle/>
          <a:p>
            <a:r>
              <a:rPr lang="en-US" sz="4000" b="1" dirty="0">
                <a:latin typeface="+mn-lt"/>
              </a:rPr>
              <a:t>Views in SQL</a:t>
            </a:r>
          </a:p>
        </p:txBody>
      </p:sp>
      <p:sp>
        <p:nvSpPr>
          <p:cNvPr id="3" name="Content Placeholder 2">
            <a:extLst>
              <a:ext uri="{FF2B5EF4-FFF2-40B4-BE49-F238E27FC236}">
                <a16:creationId xmlns="" xmlns:a16="http://schemas.microsoft.com/office/drawing/2014/main" id="{D7E65D77-348C-2F3D-B523-C0AE1A5A63AA}"/>
              </a:ext>
            </a:extLst>
          </p:cNvPr>
          <p:cNvSpPr>
            <a:spLocks noGrp="1"/>
          </p:cNvSpPr>
          <p:nvPr>
            <p:ph idx="1"/>
          </p:nvPr>
        </p:nvSpPr>
        <p:spPr>
          <a:xfrm>
            <a:off x="339437" y="1066800"/>
            <a:ext cx="11513126" cy="5599546"/>
          </a:xfrm>
        </p:spPr>
        <p:txBody>
          <a:bodyPr>
            <a:normAutofit/>
          </a:bodyPr>
          <a:lstStyle/>
          <a:p>
            <a:pPr algn="just" fontAlgn="base"/>
            <a:r>
              <a:rPr lang="en-US" b="1" i="0" dirty="0">
                <a:solidFill>
                  <a:srgbClr val="000000"/>
                </a:solidFill>
                <a:effectLst/>
                <a:latin typeface="arial" panose="020B0604020202020204" pitchFamily="34" charset="0"/>
              </a:rPr>
              <a:t>Table Vs View</a:t>
            </a:r>
            <a:endParaRPr lang="en-US" b="0" i="0" dirty="0">
              <a:solidFill>
                <a:srgbClr val="3A3A3A"/>
              </a:solidFill>
              <a:effectLst/>
              <a:latin typeface="-apple-system"/>
            </a:endParaRPr>
          </a:p>
          <a:p>
            <a:pPr algn="just" fontAlgn="base">
              <a:lnSpc>
                <a:spcPct val="120000"/>
              </a:lnSpc>
              <a:spcBef>
                <a:spcPts val="0"/>
              </a:spcBef>
              <a:buFont typeface="+mj-lt"/>
              <a:buAutoNum type="arabicPeriod"/>
            </a:pPr>
            <a:r>
              <a:rPr lang="en-US" b="0" i="0" dirty="0">
                <a:solidFill>
                  <a:srgbClr val="000000"/>
                </a:solidFill>
                <a:effectLst/>
              </a:rPr>
              <a:t>The </a:t>
            </a:r>
            <a:r>
              <a:rPr lang="en-US" b="1" i="0" dirty="0">
                <a:solidFill>
                  <a:srgbClr val="000099"/>
                </a:solidFill>
                <a:effectLst/>
              </a:rPr>
              <a:t>table is physical i.e. it is an actual table whereas the view is logical </a:t>
            </a:r>
            <a:r>
              <a:rPr lang="en-US" b="0" i="0" dirty="0">
                <a:solidFill>
                  <a:srgbClr val="000000"/>
                </a:solidFill>
                <a:effectLst/>
              </a:rPr>
              <a:t>i.e. it is a virtual table.</a:t>
            </a:r>
            <a:endParaRPr lang="en-US" b="0" i="0" dirty="0">
              <a:solidFill>
                <a:srgbClr val="212529"/>
              </a:solidFill>
              <a:effectLst/>
            </a:endParaRPr>
          </a:p>
          <a:p>
            <a:pPr algn="just" fontAlgn="base">
              <a:lnSpc>
                <a:spcPct val="120000"/>
              </a:lnSpc>
              <a:spcBef>
                <a:spcPts val="0"/>
              </a:spcBef>
              <a:buFont typeface="+mj-lt"/>
              <a:buAutoNum type="arabicPeriod"/>
            </a:pPr>
            <a:r>
              <a:rPr lang="en-US" b="0" i="0" dirty="0">
                <a:solidFill>
                  <a:srgbClr val="000000"/>
                </a:solidFill>
                <a:effectLst/>
              </a:rPr>
              <a:t>A </a:t>
            </a:r>
            <a:r>
              <a:rPr lang="en-US" b="1" i="0" dirty="0">
                <a:solidFill>
                  <a:srgbClr val="000099"/>
                </a:solidFill>
                <a:effectLst/>
              </a:rPr>
              <a:t>Table is an independent object whereas a view is a dependent object</a:t>
            </a:r>
            <a:r>
              <a:rPr lang="en-US" b="0" i="0" dirty="0">
                <a:solidFill>
                  <a:srgbClr val="000000"/>
                </a:solidFill>
                <a:effectLst/>
              </a:rPr>
              <a:t>. </a:t>
            </a:r>
            <a:endParaRPr lang="en-US" b="0" i="0" dirty="0">
              <a:solidFill>
                <a:srgbClr val="212529"/>
              </a:solidFill>
              <a:effectLst/>
            </a:endParaRPr>
          </a:p>
          <a:p>
            <a:pPr algn="just" fontAlgn="base">
              <a:lnSpc>
                <a:spcPct val="120000"/>
              </a:lnSpc>
              <a:spcBef>
                <a:spcPts val="0"/>
              </a:spcBef>
              <a:buFont typeface="+mj-lt"/>
              <a:buAutoNum type="arabicPeriod"/>
            </a:pPr>
            <a:r>
              <a:rPr lang="en-US" b="0" i="0" dirty="0">
                <a:solidFill>
                  <a:srgbClr val="000000"/>
                </a:solidFill>
                <a:effectLst/>
              </a:rPr>
              <a:t>The </a:t>
            </a:r>
            <a:r>
              <a:rPr lang="en-US" b="1" i="0" dirty="0">
                <a:solidFill>
                  <a:srgbClr val="000000"/>
                </a:solidFill>
                <a:effectLst/>
              </a:rPr>
              <a:t>Table stores the actual data of the database whereas View creates a logical subset of data from one or more tables</a:t>
            </a:r>
            <a:r>
              <a:rPr lang="en-US" b="0" i="0" dirty="0">
                <a:solidFill>
                  <a:srgbClr val="000000"/>
                </a:solidFill>
                <a:effectLst/>
              </a:rPr>
              <a:t>.</a:t>
            </a:r>
            <a:endParaRPr lang="en-US" b="0" i="0" dirty="0">
              <a:solidFill>
                <a:srgbClr val="212529"/>
              </a:solidFill>
              <a:effectLst/>
            </a:endParaRPr>
          </a:p>
          <a:p>
            <a:pPr algn="just" fontAlgn="base">
              <a:lnSpc>
                <a:spcPct val="120000"/>
              </a:lnSpc>
              <a:spcBef>
                <a:spcPts val="0"/>
              </a:spcBef>
              <a:buFont typeface="+mj-lt"/>
              <a:buAutoNum type="arabicPeriod"/>
            </a:pPr>
            <a:r>
              <a:rPr lang="en-US" b="0" i="0" dirty="0">
                <a:solidFill>
                  <a:srgbClr val="000000"/>
                </a:solidFill>
                <a:effectLst/>
              </a:rPr>
              <a:t>When a </a:t>
            </a:r>
            <a:r>
              <a:rPr lang="en-US" b="1" i="0" dirty="0">
                <a:solidFill>
                  <a:srgbClr val="000099"/>
                </a:solidFill>
                <a:effectLst/>
              </a:rPr>
              <a:t>new table is created from an existing table</a:t>
            </a:r>
            <a:r>
              <a:rPr lang="en-US" b="0" i="0" dirty="0">
                <a:solidFill>
                  <a:srgbClr val="000000"/>
                </a:solidFill>
                <a:effectLst/>
              </a:rPr>
              <a:t>, the new and old tables are </a:t>
            </a:r>
            <a:r>
              <a:rPr lang="en-US" b="1" i="0" dirty="0">
                <a:solidFill>
                  <a:srgbClr val="000099"/>
                </a:solidFill>
                <a:effectLst/>
              </a:rPr>
              <a:t>independent themselves</a:t>
            </a:r>
            <a:r>
              <a:rPr lang="en-US" b="0" i="0" dirty="0">
                <a:solidFill>
                  <a:srgbClr val="000000"/>
                </a:solidFill>
                <a:effectLst/>
              </a:rPr>
              <a:t>, that is the changes of one table will not be reflected into the other table </a:t>
            </a:r>
            <a:r>
              <a:rPr lang="en-US" b="1" i="0" dirty="0">
                <a:solidFill>
                  <a:srgbClr val="000099"/>
                </a:solidFill>
                <a:effectLst/>
              </a:rPr>
              <a:t>whereas if a view is created based on a table, any changes that are performed on the table will reflect into the view and any changes performed on the view reflected in the table also.</a:t>
            </a:r>
          </a:p>
          <a:p>
            <a:endParaRPr lang="en-US" dirty="0"/>
          </a:p>
        </p:txBody>
      </p:sp>
    </p:spTree>
    <p:extLst>
      <p:ext uri="{BB962C8B-B14F-4D97-AF65-F5344CB8AC3E}">
        <p14:creationId xmlns:p14="http://schemas.microsoft.com/office/powerpoint/2010/main" val="177952495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C06D4-B639-F4DF-CECA-E2763BDDE198}"/>
              </a:ext>
            </a:extLst>
          </p:cNvPr>
          <p:cNvSpPr>
            <a:spLocks noGrp="1"/>
          </p:cNvSpPr>
          <p:nvPr>
            <p:ph type="title"/>
          </p:nvPr>
        </p:nvSpPr>
        <p:spPr>
          <a:xfrm>
            <a:off x="339437" y="191654"/>
            <a:ext cx="10515600" cy="978766"/>
          </a:xfrm>
        </p:spPr>
        <p:txBody>
          <a:bodyPr>
            <a:normAutofit/>
          </a:bodyPr>
          <a:lstStyle/>
          <a:p>
            <a:r>
              <a:rPr lang="en-US" sz="4000" b="1" dirty="0">
                <a:latin typeface="+mn-lt"/>
              </a:rPr>
              <a:t>Views in SQL</a:t>
            </a:r>
          </a:p>
        </p:txBody>
      </p:sp>
      <p:sp>
        <p:nvSpPr>
          <p:cNvPr id="3" name="Content Placeholder 2">
            <a:extLst>
              <a:ext uri="{FF2B5EF4-FFF2-40B4-BE49-F238E27FC236}">
                <a16:creationId xmlns="" xmlns:a16="http://schemas.microsoft.com/office/drawing/2014/main" id="{D7E65D77-348C-2F3D-B523-C0AE1A5A63AA}"/>
              </a:ext>
            </a:extLst>
          </p:cNvPr>
          <p:cNvSpPr>
            <a:spLocks noGrp="1"/>
          </p:cNvSpPr>
          <p:nvPr>
            <p:ph idx="1"/>
          </p:nvPr>
        </p:nvSpPr>
        <p:spPr>
          <a:xfrm>
            <a:off x="166254" y="1069110"/>
            <a:ext cx="11346871" cy="3200400"/>
          </a:xfrm>
        </p:spPr>
        <p:txBody>
          <a:bodyPr>
            <a:normAutofit/>
          </a:bodyPr>
          <a:lstStyle/>
          <a:p>
            <a:pPr algn="l" fontAlgn="base"/>
            <a:r>
              <a:rPr lang="en-US" sz="2400" b="0" i="0" dirty="0">
                <a:effectLst/>
              </a:rPr>
              <a:t>-- Populate the Employee Table with test data</a:t>
            </a:r>
          </a:p>
          <a:p>
            <a:pPr algn="l" fontAlgn="base"/>
            <a:r>
              <a:rPr lang="en-US" sz="2400" b="1" i="0" dirty="0">
                <a:effectLst/>
              </a:rPr>
              <a:t>INSERT</a:t>
            </a:r>
            <a:r>
              <a:rPr lang="en-US" sz="2400" b="0" i="0" dirty="0">
                <a:effectLst/>
              </a:rPr>
              <a:t> </a:t>
            </a:r>
            <a:r>
              <a:rPr lang="en-US" sz="2400" b="1" i="0" dirty="0">
                <a:effectLst/>
              </a:rPr>
              <a:t>INTO</a:t>
            </a:r>
            <a:r>
              <a:rPr lang="en-US" sz="2400" b="0" i="0" dirty="0">
                <a:effectLst/>
              </a:rPr>
              <a:t> Employee </a:t>
            </a:r>
            <a:r>
              <a:rPr lang="en-US" sz="2400" b="1" i="0" dirty="0">
                <a:effectLst/>
              </a:rPr>
              <a:t>VALUES</a:t>
            </a:r>
            <a:r>
              <a:rPr lang="en-US" sz="2400" b="0" i="0" dirty="0">
                <a:effectLst/>
              </a:rPr>
              <a:t>(1, '</a:t>
            </a:r>
            <a:r>
              <a:rPr lang="en-US" sz="2400" b="0" i="0" dirty="0" err="1">
                <a:effectLst/>
              </a:rPr>
              <a:t>Pranaya</a:t>
            </a:r>
            <a:r>
              <a:rPr lang="en-US" sz="2400" b="0" i="0" dirty="0">
                <a:effectLst/>
              </a:rPr>
              <a:t>', 1, 20000, 'IT');</a:t>
            </a:r>
          </a:p>
          <a:p>
            <a:pPr algn="l" fontAlgn="base"/>
            <a:r>
              <a:rPr lang="en-US" sz="2400" b="1" i="0" dirty="0">
                <a:effectLst/>
              </a:rPr>
              <a:t>INSERT</a:t>
            </a:r>
            <a:r>
              <a:rPr lang="en-US" sz="2400" b="0" i="0" dirty="0">
                <a:effectLst/>
              </a:rPr>
              <a:t> </a:t>
            </a:r>
            <a:r>
              <a:rPr lang="en-US" sz="2400" b="1" i="0" dirty="0">
                <a:effectLst/>
              </a:rPr>
              <a:t>INTO</a:t>
            </a:r>
            <a:r>
              <a:rPr lang="en-US" sz="2400" b="0" i="0" dirty="0">
                <a:effectLst/>
              </a:rPr>
              <a:t> Employee </a:t>
            </a:r>
            <a:r>
              <a:rPr lang="en-US" sz="2400" b="1" i="0" dirty="0">
                <a:effectLst/>
              </a:rPr>
              <a:t>VALUES</a:t>
            </a:r>
            <a:r>
              <a:rPr lang="en-US" sz="2400" b="0" i="0" dirty="0">
                <a:effectLst/>
              </a:rPr>
              <a:t>(2, 'Priyanka', 2, 30000, 'HR');</a:t>
            </a:r>
          </a:p>
          <a:p>
            <a:pPr algn="l" fontAlgn="base"/>
            <a:r>
              <a:rPr lang="en-US" sz="2400" b="1" i="0" dirty="0">
                <a:effectLst/>
              </a:rPr>
              <a:t>INSERT</a:t>
            </a:r>
            <a:r>
              <a:rPr lang="en-US" sz="2400" b="0" i="0" dirty="0">
                <a:effectLst/>
              </a:rPr>
              <a:t> </a:t>
            </a:r>
            <a:r>
              <a:rPr lang="en-US" sz="2400" b="1" i="0" dirty="0">
                <a:effectLst/>
              </a:rPr>
              <a:t>INTO</a:t>
            </a:r>
            <a:r>
              <a:rPr lang="en-US" sz="2400" b="0" i="0" dirty="0">
                <a:effectLst/>
              </a:rPr>
              <a:t> Employee </a:t>
            </a:r>
            <a:r>
              <a:rPr lang="en-US" sz="2400" b="1" i="0" dirty="0">
                <a:effectLst/>
              </a:rPr>
              <a:t>VALUES</a:t>
            </a:r>
            <a:r>
              <a:rPr lang="en-US" sz="2400" b="0" i="0" dirty="0">
                <a:effectLst/>
              </a:rPr>
              <a:t>(3, 'Anurag', 1, 40000, 'IT');</a:t>
            </a:r>
          </a:p>
          <a:p>
            <a:pPr algn="l" fontAlgn="base"/>
            <a:r>
              <a:rPr lang="en-US" sz="2400" b="1" i="0" dirty="0">
                <a:effectLst/>
              </a:rPr>
              <a:t>INSERT</a:t>
            </a:r>
            <a:r>
              <a:rPr lang="en-US" sz="2400" b="0" i="0" dirty="0">
                <a:effectLst/>
              </a:rPr>
              <a:t> </a:t>
            </a:r>
            <a:r>
              <a:rPr lang="en-US" sz="2400" b="1" i="0" dirty="0">
                <a:effectLst/>
              </a:rPr>
              <a:t>INTO</a:t>
            </a:r>
            <a:r>
              <a:rPr lang="en-US" sz="2400" b="0" i="0" dirty="0">
                <a:effectLst/>
              </a:rPr>
              <a:t> Employee </a:t>
            </a:r>
            <a:r>
              <a:rPr lang="en-US" sz="2400" b="1" i="0" dirty="0">
                <a:effectLst/>
              </a:rPr>
              <a:t>VALUES</a:t>
            </a:r>
            <a:r>
              <a:rPr lang="en-US" sz="2400" b="0" i="0" dirty="0">
                <a:effectLst/>
              </a:rPr>
              <a:t>(4, '</a:t>
            </a:r>
            <a:r>
              <a:rPr lang="en-US" sz="2400" b="0" i="0" dirty="0" err="1">
                <a:effectLst/>
              </a:rPr>
              <a:t>Preety</a:t>
            </a:r>
            <a:r>
              <a:rPr lang="en-US" sz="2400" b="0" i="0" dirty="0">
                <a:effectLst/>
              </a:rPr>
              <a:t>', 2, 25000, 'HR');</a:t>
            </a:r>
          </a:p>
          <a:p>
            <a:pPr algn="l" fontAlgn="base"/>
            <a:r>
              <a:rPr lang="en-US" sz="2400" b="1" i="0" dirty="0">
                <a:effectLst/>
              </a:rPr>
              <a:t>INSERT</a:t>
            </a:r>
            <a:r>
              <a:rPr lang="en-US" sz="2400" b="0" i="0" dirty="0">
                <a:effectLst/>
              </a:rPr>
              <a:t> </a:t>
            </a:r>
            <a:r>
              <a:rPr lang="en-US" sz="2400" b="1" i="0" dirty="0">
                <a:effectLst/>
              </a:rPr>
              <a:t>INTO</a:t>
            </a:r>
            <a:r>
              <a:rPr lang="en-US" sz="2400" b="0" i="0" dirty="0">
                <a:effectLst/>
              </a:rPr>
              <a:t> Employee </a:t>
            </a:r>
            <a:r>
              <a:rPr lang="en-US" sz="2400" b="1" i="0" dirty="0">
                <a:effectLst/>
              </a:rPr>
              <a:t>VALUES</a:t>
            </a:r>
            <a:r>
              <a:rPr lang="en-US" sz="2400" b="0" i="0" dirty="0">
                <a:effectLst/>
              </a:rPr>
              <a:t>(5, '</a:t>
            </a:r>
            <a:r>
              <a:rPr lang="en-US" sz="2400" b="0" i="0" dirty="0" err="1">
                <a:effectLst/>
              </a:rPr>
              <a:t>Sambit</a:t>
            </a:r>
            <a:r>
              <a:rPr lang="en-US" sz="2400" b="0" i="0" dirty="0">
                <a:effectLst/>
              </a:rPr>
              <a:t>', 3, 35000, 'INFRA');</a:t>
            </a:r>
          </a:p>
          <a:p>
            <a:pPr algn="l" fontAlgn="base"/>
            <a:r>
              <a:rPr lang="en-US" sz="2400" b="1" i="0" dirty="0">
                <a:effectLst/>
              </a:rPr>
              <a:t>INSERT</a:t>
            </a:r>
            <a:r>
              <a:rPr lang="en-US" sz="2400" b="0" i="0" dirty="0">
                <a:effectLst/>
              </a:rPr>
              <a:t> </a:t>
            </a:r>
            <a:r>
              <a:rPr lang="en-US" sz="2400" b="1" i="0" dirty="0">
                <a:effectLst/>
              </a:rPr>
              <a:t>INTO</a:t>
            </a:r>
            <a:r>
              <a:rPr lang="en-US" sz="2400" b="0" i="0" dirty="0">
                <a:effectLst/>
              </a:rPr>
              <a:t> Employee </a:t>
            </a:r>
            <a:r>
              <a:rPr lang="en-US" sz="2400" b="1" i="0" dirty="0">
                <a:effectLst/>
              </a:rPr>
              <a:t>VALUES</a:t>
            </a:r>
            <a:r>
              <a:rPr lang="en-US" sz="2400" b="0" i="0" dirty="0">
                <a:effectLst/>
              </a:rPr>
              <a:t>(6, '</a:t>
            </a:r>
            <a:r>
              <a:rPr lang="en-US" sz="2400" b="0" i="0" dirty="0" err="1">
                <a:effectLst/>
              </a:rPr>
              <a:t>Hina</a:t>
            </a:r>
            <a:r>
              <a:rPr lang="en-US" sz="2400" b="0" i="0" dirty="0">
                <a:effectLst/>
              </a:rPr>
              <a:t>', 2, 45000, 'HR');</a:t>
            </a:r>
          </a:p>
          <a:p>
            <a:endParaRPr lang="en-US" dirty="0"/>
          </a:p>
        </p:txBody>
      </p:sp>
      <p:sp>
        <p:nvSpPr>
          <p:cNvPr id="4" name="Content Placeholder 2">
            <a:extLst>
              <a:ext uri="{FF2B5EF4-FFF2-40B4-BE49-F238E27FC236}">
                <a16:creationId xmlns="" xmlns:a16="http://schemas.microsoft.com/office/drawing/2014/main" id="{4B5A790C-3932-5ACB-A58F-375B81725B22}"/>
              </a:ext>
            </a:extLst>
          </p:cNvPr>
          <p:cNvSpPr txBox="1">
            <a:spLocks/>
          </p:cNvSpPr>
          <p:nvPr/>
        </p:nvSpPr>
        <p:spPr>
          <a:xfrm>
            <a:off x="8454733" y="332509"/>
            <a:ext cx="3387437" cy="320040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800" b="1" i="0" dirty="0">
                <a:solidFill>
                  <a:srgbClr val="006699"/>
                </a:solidFill>
                <a:effectLst/>
              </a:rPr>
              <a:t>Use Student;</a:t>
            </a:r>
          </a:p>
          <a:p>
            <a:pPr algn="l" fontAlgn="base"/>
            <a:r>
              <a:rPr lang="en-US" sz="3800" b="0" i="0" dirty="0">
                <a:solidFill>
                  <a:srgbClr val="6B7C8B"/>
                </a:solidFill>
                <a:effectLst/>
              </a:rPr>
              <a:t>-- Create Employee Table</a:t>
            </a:r>
            <a:endParaRPr lang="en-US" sz="3800" b="0" i="0" dirty="0">
              <a:solidFill>
                <a:srgbClr val="596174"/>
              </a:solidFill>
              <a:effectLst/>
            </a:endParaRPr>
          </a:p>
          <a:p>
            <a:pPr marL="0" indent="0" algn="l" fontAlgn="base">
              <a:buNone/>
            </a:pPr>
            <a:r>
              <a:rPr lang="en-US" sz="3800" b="1" i="0" dirty="0">
                <a:solidFill>
                  <a:srgbClr val="000099"/>
                </a:solidFill>
                <a:effectLst/>
              </a:rPr>
              <a:t>CREATE</a:t>
            </a:r>
            <a:r>
              <a:rPr lang="en-US" sz="3800" b="0" i="0" dirty="0">
                <a:solidFill>
                  <a:srgbClr val="000099"/>
                </a:solidFill>
                <a:effectLst/>
              </a:rPr>
              <a:t> </a:t>
            </a:r>
            <a:r>
              <a:rPr lang="en-US" sz="3800" b="1" i="0" dirty="0">
                <a:solidFill>
                  <a:srgbClr val="000099"/>
                </a:solidFill>
                <a:effectLst/>
              </a:rPr>
              <a:t>TABLE</a:t>
            </a:r>
            <a:r>
              <a:rPr lang="en-US" sz="3800" b="0" i="0" dirty="0">
                <a:solidFill>
                  <a:srgbClr val="000099"/>
                </a:solidFill>
                <a:effectLst/>
              </a:rPr>
              <a:t> Employee1</a:t>
            </a:r>
          </a:p>
          <a:p>
            <a:pPr marL="0" indent="0" algn="l" fontAlgn="base">
              <a:buNone/>
            </a:pPr>
            <a:r>
              <a:rPr lang="en-US" sz="3800" b="0" i="0" dirty="0">
                <a:solidFill>
                  <a:srgbClr val="000099"/>
                </a:solidFill>
                <a:effectLst/>
              </a:rPr>
              <a:t>(</a:t>
            </a:r>
          </a:p>
          <a:p>
            <a:pPr marL="0" indent="0" algn="l" fontAlgn="base">
              <a:buNone/>
            </a:pPr>
            <a:r>
              <a:rPr lang="en-US" sz="3800" b="0" i="0" dirty="0">
                <a:solidFill>
                  <a:srgbClr val="000099"/>
                </a:solidFill>
                <a:effectLst/>
              </a:rPr>
              <a:t>Id </a:t>
            </a:r>
            <a:r>
              <a:rPr lang="en-US" sz="3800" b="1" i="0" dirty="0">
                <a:solidFill>
                  <a:srgbClr val="000099"/>
                </a:solidFill>
                <a:effectLst/>
              </a:rPr>
              <a:t>INT</a:t>
            </a:r>
            <a:r>
              <a:rPr lang="en-US" sz="3800" b="0" i="0" dirty="0">
                <a:solidFill>
                  <a:srgbClr val="000099"/>
                </a:solidFill>
                <a:effectLst/>
              </a:rPr>
              <a:t> </a:t>
            </a:r>
            <a:r>
              <a:rPr lang="en-US" sz="3800" b="1" i="0" dirty="0">
                <a:solidFill>
                  <a:srgbClr val="000099"/>
                </a:solidFill>
                <a:effectLst/>
              </a:rPr>
              <a:t>PRIMARY KEY</a:t>
            </a:r>
            <a:r>
              <a:rPr lang="en-US" sz="3800" b="0" i="0" dirty="0">
                <a:solidFill>
                  <a:srgbClr val="000099"/>
                </a:solidFill>
                <a:effectLst/>
              </a:rPr>
              <a:t>,</a:t>
            </a:r>
          </a:p>
          <a:p>
            <a:pPr marL="0" indent="0" algn="l" fontAlgn="base">
              <a:buNone/>
            </a:pPr>
            <a:r>
              <a:rPr lang="en-US" sz="3800" b="0" i="0" dirty="0">
                <a:solidFill>
                  <a:srgbClr val="000099"/>
                </a:solidFill>
                <a:effectLst/>
              </a:rPr>
              <a:t>Name </a:t>
            </a:r>
            <a:r>
              <a:rPr lang="en-US" sz="3800" b="1" i="0" dirty="0">
                <a:solidFill>
                  <a:srgbClr val="000099"/>
                </a:solidFill>
                <a:effectLst/>
              </a:rPr>
              <a:t>VARCHAR</a:t>
            </a:r>
            <a:r>
              <a:rPr lang="en-US" sz="3800" b="0" i="0" dirty="0">
                <a:solidFill>
                  <a:srgbClr val="000099"/>
                </a:solidFill>
                <a:effectLst/>
              </a:rPr>
              <a:t>(50),</a:t>
            </a:r>
          </a:p>
          <a:p>
            <a:pPr marL="0" indent="0" algn="l" fontAlgn="base">
              <a:buNone/>
            </a:pPr>
            <a:r>
              <a:rPr lang="en-US" sz="3800" b="0" i="0" dirty="0" err="1">
                <a:solidFill>
                  <a:srgbClr val="000099"/>
                </a:solidFill>
                <a:effectLst/>
              </a:rPr>
              <a:t>GenderId</a:t>
            </a:r>
            <a:r>
              <a:rPr lang="en-US" sz="3800" b="0" i="0" dirty="0">
                <a:solidFill>
                  <a:srgbClr val="000099"/>
                </a:solidFill>
                <a:effectLst/>
              </a:rPr>
              <a:t> </a:t>
            </a:r>
            <a:r>
              <a:rPr lang="en-US" sz="3800" b="1" i="0" dirty="0">
                <a:solidFill>
                  <a:srgbClr val="000099"/>
                </a:solidFill>
                <a:effectLst/>
              </a:rPr>
              <a:t>VARCHAR</a:t>
            </a:r>
            <a:r>
              <a:rPr lang="en-US" sz="3800" b="0" i="0" dirty="0">
                <a:solidFill>
                  <a:srgbClr val="000099"/>
                </a:solidFill>
                <a:effectLst/>
              </a:rPr>
              <a:t>(50),</a:t>
            </a:r>
          </a:p>
          <a:p>
            <a:pPr marL="0" indent="0" algn="l" fontAlgn="base">
              <a:buNone/>
            </a:pPr>
            <a:r>
              <a:rPr lang="en-US" sz="3800" b="0" i="0" dirty="0">
                <a:solidFill>
                  <a:srgbClr val="000099"/>
                </a:solidFill>
                <a:effectLst/>
              </a:rPr>
              <a:t>Salary </a:t>
            </a:r>
            <a:r>
              <a:rPr lang="en-US" sz="3800" b="1" i="0" dirty="0">
                <a:solidFill>
                  <a:srgbClr val="000099"/>
                </a:solidFill>
                <a:effectLst/>
              </a:rPr>
              <a:t>INT</a:t>
            </a:r>
            <a:r>
              <a:rPr lang="en-US" sz="3800" b="0" i="0" dirty="0">
                <a:solidFill>
                  <a:srgbClr val="000099"/>
                </a:solidFill>
                <a:effectLst/>
              </a:rPr>
              <a:t>,</a:t>
            </a:r>
          </a:p>
          <a:p>
            <a:pPr marL="0" indent="0" algn="l" fontAlgn="base">
              <a:buNone/>
            </a:pPr>
            <a:r>
              <a:rPr lang="en-US" sz="3800" b="0" i="0" dirty="0">
                <a:solidFill>
                  <a:srgbClr val="000099"/>
                </a:solidFill>
                <a:effectLst/>
              </a:rPr>
              <a:t>Department </a:t>
            </a:r>
            <a:r>
              <a:rPr lang="en-US" sz="3800" b="1" i="0" dirty="0">
                <a:solidFill>
                  <a:srgbClr val="000099"/>
                </a:solidFill>
                <a:effectLst/>
              </a:rPr>
              <a:t>VARCHAR</a:t>
            </a:r>
            <a:r>
              <a:rPr lang="en-US" sz="3800" b="0" i="0" dirty="0">
                <a:solidFill>
                  <a:srgbClr val="000099"/>
                </a:solidFill>
                <a:effectLst/>
              </a:rPr>
              <a:t>(50)</a:t>
            </a:r>
          </a:p>
          <a:p>
            <a:pPr marL="0" indent="0" algn="l" fontAlgn="base">
              <a:buNone/>
            </a:pPr>
            <a:r>
              <a:rPr lang="en-US" sz="3800" b="0" i="0" dirty="0">
                <a:solidFill>
                  <a:srgbClr val="000099"/>
                </a:solidFill>
                <a:effectLst/>
              </a:rPr>
              <a:t>);</a:t>
            </a:r>
          </a:p>
          <a:p>
            <a:endParaRPr lang="en-US" dirty="0"/>
          </a:p>
          <a:p>
            <a:endParaRPr lang="en-IN" dirty="0"/>
          </a:p>
        </p:txBody>
      </p:sp>
      <p:sp>
        <p:nvSpPr>
          <p:cNvPr id="5" name="Content Placeholder 2">
            <a:extLst>
              <a:ext uri="{FF2B5EF4-FFF2-40B4-BE49-F238E27FC236}">
                <a16:creationId xmlns="" xmlns:a16="http://schemas.microsoft.com/office/drawing/2014/main" id="{60FC0760-431F-19E7-A6A4-89D91EFF582E}"/>
              </a:ext>
            </a:extLst>
          </p:cNvPr>
          <p:cNvSpPr txBox="1">
            <a:spLocks/>
          </p:cNvSpPr>
          <p:nvPr/>
        </p:nvSpPr>
        <p:spPr>
          <a:xfrm>
            <a:off x="339437" y="4410365"/>
            <a:ext cx="10023764" cy="1814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sz="2800" b="1" i="0" dirty="0">
                <a:solidFill>
                  <a:srgbClr val="000000"/>
                </a:solidFill>
                <a:effectLst/>
              </a:rPr>
              <a:t>How to Create a View in MySQL?</a:t>
            </a:r>
            <a:endParaRPr lang="en-US" sz="2800" b="0" i="0" dirty="0">
              <a:solidFill>
                <a:srgbClr val="3A3A3A"/>
              </a:solidFill>
              <a:effectLst/>
            </a:endParaRPr>
          </a:p>
          <a:p>
            <a:r>
              <a:rPr lang="en-US" b="1" i="0" dirty="0">
                <a:solidFill>
                  <a:srgbClr val="0000FF"/>
                </a:solidFill>
                <a:effectLst/>
                <a:latin typeface="arial" panose="020B0604020202020204" pitchFamily="34" charset="0"/>
              </a:rPr>
              <a:t>CREATE VIEW </a:t>
            </a:r>
            <a:r>
              <a:rPr lang="en-US" b="1" i="0" dirty="0" err="1">
                <a:solidFill>
                  <a:srgbClr val="0000FF"/>
                </a:solidFill>
                <a:effectLst/>
                <a:latin typeface="arial" panose="020B0604020202020204" pitchFamily="34" charset="0"/>
              </a:rPr>
              <a:t>vwEmployee</a:t>
            </a:r>
            <a:r>
              <a:rPr lang="en-US" b="1" i="0" dirty="0">
                <a:solidFill>
                  <a:srgbClr val="0000FF"/>
                </a:solidFill>
                <a:effectLst/>
                <a:latin typeface="arial" panose="020B0604020202020204" pitchFamily="34" charset="0"/>
              </a:rPr>
              <a:t> AS SELECT * FROM Employee;</a:t>
            </a:r>
            <a:endParaRPr lang="en-US" dirty="0"/>
          </a:p>
          <a:p>
            <a:endParaRPr lang="en-IN" dirty="0"/>
          </a:p>
        </p:txBody>
      </p:sp>
      <p:pic>
        <p:nvPicPr>
          <p:cNvPr id="6146" name="Picture 2" descr="How to Create a View in MySQL?">
            <a:extLst>
              <a:ext uri="{FF2B5EF4-FFF2-40B4-BE49-F238E27FC236}">
                <a16:creationId xmlns="" xmlns:a16="http://schemas.microsoft.com/office/drawing/2014/main" id="{2F741B76-E4E4-4CF7-4F07-796A4C4DC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135" y="3678384"/>
            <a:ext cx="3762375" cy="120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26897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959690-4F9B-4E7B-89D4-F6A0D82210EA}"/>
              </a:ext>
            </a:extLst>
          </p:cNvPr>
          <p:cNvSpPr>
            <a:spLocks noGrp="1"/>
          </p:cNvSpPr>
          <p:nvPr>
            <p:ph type="title"/>
          </p:nvPr>
        </p:nvSpPr>
        <p:spPr/>
        <p:txBody>
          <a:bodyPr/>
          <a:lstStyle/>
          <a:p>
            <a:r>
              <a:rPr lang="en-IN" b="1" dirty="0"/>
              <a:t>Data Query Language </a:t>
            </a:r>
            <a:br>
              <a:rPr lang="en-IN" b="1" dirty="0"/>
            </a:br>
            <a:endParaRPr lang="en-IN" dirty="0"/>
          </a:p>
        </p:txBody>
      </p:sp>
      <p:sp>
        <p:nvSpPr>
          <p:cNvPr id="3" name="Content Placeholder 2">
            <a:extLst>
              <a:ext uri="{FF2B5EF4-FFF2-40B4-BE49-F238E27FC236}">
                <a16:creationId xmlns="" xmlns:a16="http://schemas.microsoft.com/office/drawing/2014/main" id="{8D2C0D6A-5BAA-438A-9259-5898BB350649}"/>
              </a:ext>
            </a:extLst>
          </p:cNvPr>
          <p:cNvSpPr>
            <a:spLocks noGrp="1"/>
          </p:cNvSpPr>
          <p:nvPr>
            <p:ph idx="1"/>
          </p:nvPr>
        </p:nvSpPr>
        <p:spPr/>
        <p:txBody>
          <a:bodyPr>
            <a:normAutofit fontScale="92500" lnSpcReduction="20000"/>
          </a:bodyPr>
          <a:lstStyle/>
          <a:p>
            <a:r>
              <a:rPr lang="en-US" dirty="0"/>
              <a:t>DQL is used to fetch the data from the database. </a:t>
            </a:r>
          </a:p>
          <a:p>
            <a:r>
              <a:rPr lang="en-US" dirty="0"/>
              <a:t>It uses only one command:</a:t>
            </a:r>
          </a:p>
          <a:p>
            <a:pPr>
              <a:buFont typeface="Arial" panose="020B0604020202020204" pitchFamily="34" charset="0"/>
              <a:buChar char="•"/>
            </a:pPr>
            <a:r>
              <a:rPr lang="en-US" b="1" dirty="0">
                <a:solidFill>
                  <a:srgbClr val="000099"/>
                </a:solidFill>
              </a:rPr>
              <a:t>SELECT</a:t>
            </a:r>
          </a:p>
          <a:p>
            <a:r>
              <a:rPr lang="en-US" b="1" dirty="0"/>
              <a:t>SELECT:</a:t>
            </a:r>
            <a:r>
              <a:rPr lang="en-US" dirty="0"/>
              <a:t> This is the same as the projection operation of relational algebra. It is used to select the attribute based on the condition described by WHERE clause. </a:t>
            </a:r>
          </a:p>
          <a:p>
            <a:pPr marL="0" indent="0">
              <a:buNone/>
            </a:pPr>
            <a:r>
              <a:rPr lang="en-US" b="1" dirty="0"/>
              <a:t>Syntax: 	</a:t>
            </a:r>
            <a:r>
              <a:rPr lang="en-US" dirty="0"/>
              <a:t>SELECT expressions     	</a:t>
            </a:r>
            <a:r>
              <a:rPr lang="en-US" b="1" dirty="0">
                <a:solidFill>
                  <a:srgbClr val="000099"/>
                </a:solidFill>
              </a:rPr>
              <a:t>SELECT </a:t>
            </a:r>
            <a:r>
              <a:rPr lang="en-US" b="1" dirty="0" err="1">
                <a:solidFill>
                  <a:srgbClr val="000099"/>
                </a:solidFill>
              </a:rPr>
              <a:t>emp_name</a:t>
            </a:r>
            <a:r>
              <a:rPr lang="en-US" b="1" dirty="0">
                <a:solidFill>
                  <a:srgbClr val="000099"/>
                </a:solidFill>
              </a:rPr>
              <a:t>  </a:t>
            </a:r>
          </a:p>
          <a:p>
            <a:pPr marL="0" indent="0">
              <a:buNone/>
            </a:pPr>
            <a:r>
              <a:rPr lang="en-US" dirty="0"/>
              <a:t>    		FROM TABLES    		</a:t>
            </a:r>
            <a:r>
              <a:rPr lang="en-US" b="1" dirty="0">
                <a:solidFill>
                  <a:srgbClr val="000099"/>
                </a:solidFill>
              </a:rPr>
              <a:t>FROM employee  </a:t>
            </a:r>
          </a:p>
          <a:p>
            <a:pPr marL="0" indent="0">
              <a:buNone/>
            </a:pPr>
            <a:r>
              <a:rPr lang="en-US" dirty="0"/>
              <a:t>    		WHERE conditions;  	            </a:t>
            </a:r>
            <a:r>
              <a:rPr lang="en-US" b="1" dirty="0">
                <a:solidFill>
                  <a:srgbClr val="000099"/>
                </a:solidFill>
              </a:rPr>
              <a:t>WHERE age &gt; 20; </a:t>
            </a:r>
          </a:p>
          <a:p>
            <a:pPr marL="0" indent="0">
              <a:buNone/>
            </a:pPr>
            <a:r>
              <a:rPr lang="en-US" dirty="0"/>
              <a:t>		</a:t>
            </a:r>
          </a:p>
          <a:p>
            <a:pPr marL="0" indent="0">
              <a:buNone/>
            </a:pPr>
            <a:r>
              <a:rPr lang="en-US" dirty="0"/>
              <a:t>		</a:t>
            </a:r>
          </a:p>
          <a:p>
            <a:endParaRPr lang="en-US" dirty="0"/>
          </a:p>
          <a:p>
            <a:endParaRPr lang="en-IN" dirty="0"/>
          </a:p>
        </p:txBody>
      </p:sp>
    </p:spTree>
    <p:extLst>
      <p:ext uri="{BB962C8B-B14F-4D97-AF65-F5344CB8AC3E}">
        <p14:creationId xmlns:p14="http://schemas.microsoft.com/office/powerpoint/2010/main" val="253118297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Cursors</a:t>
            </a:r>
            <a:endParaRPr lang="en-US" b="1"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8954"/>
          <a:stretch/>
        </p:blipFill>
        <p:spPr bwMode="auto">
          <a:xfrm>
            <a:off x="772732" y="2024634"/>
            <a:ext cx="10650829" cy="3964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60865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Cursors - Implicit</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823" y="1558344"/>
            <a:ext cx="10406129" cy="4662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80224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Cursors- </a:t>
            </a:r>
            <a:r>
              <a:rPr lang="en-US" b="1" dirty="0"/>
              <a:t>Implicit</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248" y="1815921"/>
            <a:ext cx="10457645" cy="4636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10949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Cursors - </a:t>
            </a:r>
            <a:r>
              <a:rPr lang="en-US" b="1" dirty="0" smtClean="0"/>
              <a:t>Explicit</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941" y="1406540"/>
            <a:ext cx="11462197" cy="442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11684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Create Explicit Cursor?</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smtClean="0"/>
              <a:t>1] Declare </a:t>
            </a:r>
            <a:r>
              <a:rPr lang="en-US" b="1" dirty="0"/>
              <a:t>Cursor Object</a:t>
            </a:r>
            <a:endParaRPr lang="en-US" dirty="0"/>
          </a:p>
          <a:p>
            <a:pPr fontAlgn="base"/>
            <a:r>
              <a:rPr lang="en-US" b="1" dirty="0"/>
              <a:t>Syntax:</a:t>
            </a:r>
            <a:endParaRPr lang="en-US" dirty="0"/>
          </a:p>
          <a:p>
            <a:pPr fontAlgn="base"/>
            <a:r>
              <a:rPr lang="en-US" dirty="0"/>
              <a:t>DECLARE </a:t>
            </a:r>
            <a:r>
              <a:rPr lang="en-US" dirty="0" err="1"/>
              <a:t>cursor_name</a:t>
            </a:r>
            <a:r>
              <a:rPr lang="en-US" dirty="0"/>
              <a:t> CURSOR FOR SELECT * FROM </a:t>
            </a:r>
            <a:r>
              <a:rPr lang="en-US" dirty="0" err="1"/>
              <a:t>table_name</a:t>
            </a:r>
            <a:endParaRPr lang="en-US" dirty="0"/>
          </a:p>
          <a:p>
            <a:pPr fontAlgn="base"/>
            <a:r>
              <a:rPr lang="en-US" b="1" dirty="0"/>
              <a:t>Query:</a:t>
            </a:r>
            <a:endParaRPr lang="en-US" dirty="0"/>
          </a:p>
          <a:p>
            <a:r>
              <a:rPr lang="en-US" dirty="0"/>
              <a:t>DECLARE s1 CURSOR FOR SELECT * FROM </a:t>
            </a:r>
            <a:r>
              <a:rPr lang="en-US" dirty="0" err="1" smtClean="0"/>
              <a:t>studDetails</a:t>
            </a:r>
            <a:endParaRPr lang="en-US" dirty="0" smtClean="0"/>
          </a:p>
          <a:p>
            <a:pPr fontAlgn="base"/>
            <a:r>
              <a:rPr lang="en-US" dirty="0" smtClean="0"/>
              <a:t>2]</a:t>
            </a:r>
            <a:r>
              <a:rPr lang="en-US" dirty="0"/>
              <a:t> . </a:t>
            </a:r>
            <a:r>
              <a:rPr lang="en-US" b="1" dirty="0"/>
              <a:t>Open Cursor Connection</a:t>
            </a:r>
            <a:endParaRPr lang="en-US" dirty="0"/>
          </a:p>
          <a:p>
            <a:pPr fontAlgn="base"/>
            <a:r>
              <a:rPr lang="en-US" dirty="0"/>
              <a:t> </a:t>
            </a:r>
            <a:r>
              <a:rPr lang="en-US" b="1" dirty="0"/>
              <a:t>Syntax:</a:t>
            </a:r>
            <a:endParaRPr lang="en-US" dirty="0"/>
          </a:p>
          <a:p>
            <a:pPr fontAlgn="base"/>
            <a:r>
              <a:rPr lang="en-US" dirty="0"/>
              <a:t>OPEN </a:t>
            </a:r>
            <a:r>
              <a:rPr lang="en-US" dirty="0" err="1"/>
              <a:t>cursor_connection</a:t>
            </a:r>
            <a:endParaRPr lang="en-US" dirty="0"/>
          </a:p>
          <a:p>
            <a:pPr fontAlgn="base"/>
            <a:r>
              <a:rPr lang="en-US" b="1" dirty="0"/>
              <a:t>Query:</a:t>
            </a:r>
            <a:endParaRPr lang="en-US" dirty="0"/>
          </a:p>
          <a:p>
            <a:r>
              <a:rPr lang="en-US" dirty="0"/>
              <a:t>OPEN s1</a:t>
            </a:r>
          </a:p>
        </p:txBody>
      </p:sp>
    </p:spTree>
    <p:extLst>
      <p:ext uri="{BB962C8B-B14F-4D97-AF65-F5344CB8AC3E}">
        <p14:creationId xmlns:p14="http://schemas.microsoft.com/office/powerpoint/2010/main" val="95711761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Create Explicit Cursor?</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b="1" dirty="0"/>
              <a:t>Fetch Data from the Cursor </a:t>
            </a:r>
            <a:r>
              <a:rPr lang="en-US" dirty="0"/>
              <a:t>There is a total of 6 methods to access data from the cursor. They are as follows: </a:t>
            </a:r>
          </a:p>
          <a:p>
            <a:pPr fontAlgn="base"/>
            <a:r>
              <a:rPr lang="en-US" b="1" dirty="0"/>
              <a:t>FIRST</a:t>
            </a:r>
            <a:r>
              <a:rPr lang="en-US" dirty="0"/>
              <a:t> is used to fetch only the first row from the cursor table. </a:t>
            </a:r>
          </a:p>
          <a:p>
            <a:pPr fontAlgn="base"/>
            <a:r>
              <a:rPr lang="en-US" b="1" dirty="0"/>
              <a:t>LAST</a:t>
            </a:r>
            <a:r>
              <a:rPr lang="en-US" dirty="0"/>
              <a:t> is used to fetch only the last row from the cursor table. </a:t>
            </a:r>
          </a:p>
          <a:p>
            <a:pPr fontAlgn="base"/>
            <a:r>
              <a:rPr lang="en-US" b="1" dirty="0"/>
              <a:t>NEXT</a:t>
            </a:r>
            <a:r>
              <a:rPr lang="en-US" dirty="0"/>
              <a:t> is used to fetch data in a forward direction from the cursor table. </a:t>
            </a:r>
          </a:p>
          <a:p>
            <a:pPr fontAlgn="base"/>
            <a:r>
              <a:rPr lang="en-US" b="1" dirty="0"/>
              <a:t>PRIOR</a:t>
            </a:r>
            <a:r>
              <a:rPr lang="en-US" dirty="0"/>
              <a:t> is used to fetch data in a backward direction from the cursor table. </a:t>
            </a:r>
          </a:p>
          <a:p>
            <a:pPr fontAlgn="base"/>
            <a:r>
              <a:rPr lang="en-US" b="1" dirty="0"/>
              <a:t>ABSOLUTE n</a:t>
            </a:r>
            <a:r>
              <a:rPr lang="en-US" dirty="0"/>
              <a:t> is used to fetch the exact n</a:t>
            </a:r>
            <a:r>
              <a:rPr lang="en-US" baseline="30000" dirty="0"/>
              <a:t>th</a:t>
            </a:r>
            <a:r>
              <a:rPr lang="en-US" dirty="0"/>
              <a:t> row from the cursor table. </a:t>
            </a:r>
          </a:p>
          <a:p>
            <a:pPr fontAlgn="base"/>
            <a:r>
              <a:rPr lang="en-US" b="1" dirty="0"/>
              <a:t>RELATIVE n</a:t>
            </a:r>
            <a:r>
              <a:rPr lang="en-US" dirty="0"/>
              <a:t> is used to fetch the data in an incremental way as well as a </a:t>
            </a:r>
            <a:r>
              <a:rPr lang="en-US" dirty="0" err="1"/>
              <a:t>decremental</a:t>
            </a:r>
            <a:r>
              <a:rPr lang="en-US" dirty="0"/>
              <a:t> way. </a:t>
            </a:r>
          </a:p>
          <a:p>
            <a:pPr fontAlgn="base"/>
            <a:r>
              <a:rPr lang="en-US" b="1" dirty="0"/>
              <a:t>Syntax:</a:t>
            </a:r>
            <a:endParaRPr lang="en-US" dirty="0"/>
          </a:p>
          <a:p>
            <a:pPr fontAlgn="base"/>
            <a:r>
              <a:rPr lang="en-US" dirty="0"/>
              <a:t> FETCH NEXT/FIRST/LAST/PRIOR/ABSOLUTE n/RELATIVE n FROM </a:t>
            </a:r>
            <a:r>
              <a:rPr lang="en-US" dirty="0" err="1"/>
              <a:t>cursor_name</a:t>
            </a:r>
            <a:endParaRPr lang="en-US" dirty="0"/>
          </a:p>
          <a:p>
            <a:pPr fontAlgn="base"/>
            <a:r>
              <a:rPr lang="en-US" b="1" dirty="0"/>
              <a:t>Query:</a:t>
            </a:r>
            <a:endParaRPr lang="en-US" dirty="0"/>
          </a:p>
          <a:p>
            <a:r>
              <a:rPr lang="en-US" dirty="0"/>
              <a:t>FETCH FIRST FROM s1 </a:t>
            </a:r>
            <a:r>
              <a:rPr lang="en-US" dirty="0" smtClean="0"/>
              <a:t>,FETCH </a:t>
            </a:r>
            <a:r>
              <a:rPr lang="en-US" dirty="0"/>
              <a:t>LAST FROM </a:t>
            </a:r>
            <a:r>
              <a:rPr lang="en-US" dirty="0" smtClean="0"/>
              <a:t>s1, </a:t>
            </a:r>
            <a:r>
              <a:rPr lang="en-US" dirty="0"/>
              <a:t>FETCH NEXT FROM </a:t>
            </a:r>
            <a:r>
              <a:rPr lang="en-US" dirty="0" smtClean="0"/>
              <a:t>s1, </a:t>
            </a:r>
            <a:r>
              <a:rPr lang="en-US" dirty="0"/>
              <a:t>FETCH PRIOR FROM </a:t>
            </a:r>
            <a:r>
              <a:rPr lang="en-US" dirty="0" smtClean="0"/>
              <a:t>s1, </a:t>
            </a:r>
            <a:r>
              <a:rPr lang="en-US" dirty="0"/>
              <a:t>FETCH ABSOLUTE 7 FROM </a:t>
            </a:r>
            <a:r>
              <a:rPr lang="en-US" dirty="0" smtClean="0"/>
              <a:t>s1, </a:t>
            </a:r>
            <a:r>
              <a:rPr lang="en-US" dirty="0"/>
              <a:t>FETCH RELATIVE -2 FROM s1</a:t>
            </a:r>
          </a:p>
        </p:txBody>
      </p:sp>
    </p:spTree>
    <p:extLst>
      <p:ext uri="{BB962C8B-B14F-4D97-AF65-F5344CB8AC3E}">
        <p14:creationId xmlns:p14="http://schemas.microsoft.com/office/powerpoint/2010/main" val="174453662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Create Explicit Cursor?</a:t>
            </a: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a:t>Close cursor connection</a:t>
            </a:r>
            <a:endParaRPr lang="en-US" dirty="0"/>
          </a:p>
          <a:p>
            <a:pPr fontAlgn="base"/>
            <a:r>
              <a:rPr lang="en-US" b="1" dirty="0"/>
              <a:t>Syntax:</a:t>
            </a:r>
            <a:endParaRPr lang="en-US" dirty="0"/>
          </a:p>
          <a:p>
            <a:pPr fontAlgn="base"/>
            <a:r>
              <a:rPr lang="en-US" dirty="0"/>
              <a:t> CLOSE </a:t>
            </a:r>
            <a:r>
              <a:rPr lang="en-US" dirty="0" err="1"/>
              <a:t>cursor_name</a:t>
            </a:r>
            <a:endParaRPr lang="en-US" dirty="0"/>
          </a:p>
          <a:p>
            <a:pPr fontAlgn="base"/>
            <a:r>
              <a:rPr lang="en-US" b="1" dirty="0"/>
              <a:t>Query:</a:t>
            </a:r>
            <a:endParaRPr lang="en-US" dirty="0"/>
          </a:p>
          <a:p>
            <a:r>
              <a:rPr lang="en-US" dirty="0"/>
              <a:t>CLOSE </a:t>
            </a:r>
            <a:r>
              <a:rPr lang="en-US" dirty="0" smtClean="0"/>
              <a:t>s1</a:t>
            </a:r>
          </a:p>
          <a:p>
            <a:pPr fontAlgn="base"/>
            <a:r>
              <a:rPr lang="en-US" b="1" dirty="0" err="1"/>
              <a:t>Deallocate</a:t>
            </a:r>
            <a:r>
              <a:rPr lang="en-US" b="1" dirty="0"/>
              <a:t> cursor memory</a:t>
            </a:r>
            <a:endParaRPr lang="en-US" dirty="0"/>
          </a:p>
          <a:p>
            <a:pPr fontAlgn="base"/>
            <a:r>
              <a:rPr lang="en-US" dirty="0"/>
              <a:t> </a:t>
            </a:r>
            <a:r>
              <a:rPr lang="en-US" b="1" dirty="0"/>
              <a:t>Syntax:</a:t>
            </a:r>
            <a:endParaRPr lang="en-US" dirty="0"/>
          </a:p>
          <a:p>
            <a:pPr fontAlgn="base"/>
            <a:r>
              <a:rPr lang="en-US" dirty="0"/>
              <a:t>DEALLOCATE </a:t>
            </a:r>
            <a:r>
              <a:rPr lang="en-US" dirty="0" err="1"/>
              <a:t>cursor_name</a:t>
            </a:r>
            <a:endParaRPr lang="en-US" dirty="0"/>
          </a:p>
          <a:p>
            <a:pPr fontAlgn="base"/>
            <a:r>
              <a:rPr lang="en-US" b="1" dirty="0"/>
              <a:t>Query:</a:t>
            </a:r>
            <a:endParaRPr lang="en-US" dirty="0"/>
          </a:p>
          <a:p>
            <a:r>
              <a:rPr lang="en-US" dirty="0"/>
              <a:t>DEALLOCATE s1</a:t>
            </a:r>
          </a:p>
        </p:txBody>
      </p:sp>
    </p:spTree>
    <p:extLst>
      <p:ext uri="{BB962C8B-B14F-4D97-AF65-F5344CB8AC3E}">
        <p14:creationId xmlns:p14="http://schemas.microsoft.com/office/powerpoint/2010/main" val="401078627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712" y="107547"/>
            <a:ext cx="10515600" cy="703821"/>
          </a:xfrm>
        </p:spPr>
        <p:txBody>
          <a:bodyPr/>
          <a:lstStyle/>
          <a:p>
            <a:r>
              <a:rPr lang="en-US" b="1" dirty="0" smtClean="0"/>
              <a:t>Example</a:t>
            </a:r>
            <a:endParaRPr lang="en-US" b="1" dirty="0"/>
          </a:p>
        </p:txBody>
      </p:sp>
      <p:sp>
        <p:nvSpPr>
          <p:cNvPr id="3" name="Content Placeholder 2"/>
          <p:cNvSpPr>
            <a:spLocks noGrp="1"/>
          </p:cNvSpPr>
          <p:nvPr>
            <p:ph idx="1"/>
          </p:nvPr>
        </p:nvSpPr>
        <p:spPr>
          <a:xfrm>
            <a:off x="477592" y="924104"/>
            <a:ext cx="11267940" cy="4351338"/>
          </a:xfrm>
        </p:spPr>
        <p:txBody>
          <a:bodyPr>
            <a:normAutofit/>
          </a:bodyPr>
          <a:lstStyle/>
          <a:p>
            <a:pPr algn="just"/>
            <a:r>
              <a:rPr lang="en-US" sz="2400" dirty="0"/>
              <a:t>Suppose we have a table called employees with columns </a:t>
            </a:r>
            <a:r>
              <a:rPr lang="en-US" sz="2400" dirty="0" err="1"/>
              <a:t>employee_id</a:t>
            </a:r>
            <a:r>
              <a:rPr lang="en-US" sz="2400" dirty="0"/>
              <a:t>, </a:t>
            </a:r>
            <a:r>
              <a:rPr lang="en-US" sz="2400" dirty="0" err="1"/>
              <a:t>first_name</a:t>
            </a:r>
            <a:r>
              <a:rPr lang="en-US" sz="2400" dirty="0"/>
              <a:t>, and </a:t>
            </a:r>
            <a:r>
              <a:rPr lang="en-US" sz="2400" dirty="0" err="1"/>
              <a:t>last_name</a:t>
            </a:r>
            <a:r>
              <a:rPr lang="en-US" sz="2400" dirty="0"/>
              <a:t>. We want to iterate over each row in the employees table and print the </a:t>
            </a:r>
            <a:r>
              <a:rPr lang="en-US" sz="2400" dirty="0" err="1"/>
              <a:t>employee_id</a:t>
            </a:r>
            <a:r>
              <a:rPr lang="en-US" sz="2400" dirty="0"/>
              <a:t>, </a:t>
            </a:r>
            <a:r>
              <a:rPr lang="en-US" sz="2400" dirty="0" err="1"/>
              <a:t>first_name</a:t>
            </a:r>
            <a:r>
              <a:rPr lang="en-US" sz="2400" dirty="0"/>
              <a:t>, </a:t>
            </a:r>
            <a:r>
              <a:rPr lang="en-US" sz="2400" dirty="0" smtClean="0"/>
              <a:t>and </a:t>
            </a:r>
            <a:r>
              <a:rPr lang="en-US" sz="2400" dirty="0" err="1"/>
              <a:t>last_name</a:t>
            </a:r>
            <a:r>
              <a:rPr lang="en-US" sz="2400" dirty="0"/>
              <a:t> of each employee</a:t>
            </a:r>
            <a:r>
              <a:rPr lang="en-US" sz="2400" dirty="0" smtClean="0"/>
              <a:t>.</a:t>
            </a:r>
          </a:p>
          <a:p>
            <a:pPr algn="just"/>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57590"/>
            <a:ext cx="7392473" cy="503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613" y="2530842"/>
            <a:ext cx="4240435" cy="1278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661074"/>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of Cursor in an SQL server</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algn="just" fontAlgn="base"/>
            <a:r>
              <a:rPr lang="en-US" dirty="0" smtClean="0">
                <a:solidFill>
                  <a:srgbClr val="FF0000"/>
                </a:solidFill>
              </a:rPr>
              <a:t>Cursors </a:t>
            </a:r>
            <a:r>
              <a:rPr lang="en-US" dirty="0">
                <a:solidFill>
                  <a:srgbClr val="FF0000"/>
                </a:solidFill>
              </a:rPr>
              <a:t>allow us to process data row-by-row</a:t>
            </a:r>
            <a:r>
              <a:rPr lang="en-US" dirty="0"/>
              <a:t>, which can be useful when we need to perform complex calculations or transformations on the data.</a:t>
            </a:r>
          </a:p>
          <a:p>
            <a:pPr algn="just" fontAlgn="base"/>
            <a:r>
              <a:rPr lang="en-US" dirty="0">
                <a:solidFill>
                  <a:srgbClr val="FF0000"/>
                </a:solidFill>
              </a:rPr>
              <a:t>Cursors allow us to iterate over a result set multiple times</a:t>
            </a:r>
            <a:r>
              <a:rPr lang="en-US" dirty="0"/>
              <a:t>, which can be useful when we need to perform multiple operations on the same data.</a:t>
            </a:r>
          </a:p>
          <a:p>
            <a:pPr algn="just" fontAlgn="base"/>
            <a:r>
              <a:rPr lang="en-US" dirty="0">
                <a:solidFill>
                  <a:srgbClr val="FF0000"/>
                </a:solidFill>
              </a:rPr>
              <a:t>Cursors can be useful when we need to join multiple tables with complex relationships</a:t>
            </a:r>
            <a:r>
              <a:rPr lang="en-US" dirty="0"/>
              <a:t>, such as when processing hierarchical data structures or when performing recursive queries.</a:t>
            </a:r>
          </a:p>
          <a:p>
            <a:pPr algn="just" fontAlgn="base"/>
            <a:r>
              <a:rPr lang="en-US" dirty="0"/>
              <a:t>Cursors allow us to perform operations such as </a:t>
            </a:r>
            <a:r>
              <a:rPr lang="en-US" dirty="0">
                <a:solidFill>
                  <a:srgbClr val="FF0000"/>
                </a:solidFill>
              </a:rPr>
              <a:t>updating, deleting, or inserting records based on some condition or criteria.</a:t>
            </a:r>
          </a:p>
          <a:p>
            <a:pPr algn="just" fontAlgn="base"/>
            <a:r>
              <a:rPr lang="en-US" dirty="0">
                <a:solidFill>
                  <a:srgbClr val="FF0000"/>
                </a:solidFill>
              </a:rPr>
              <a:t>Cursors are especially useful </a:t>
            </a:r>
            <a:r>
              <a:rPr lang="en-US" dirty="0"/>
              <a:t>when processing data from multiple tables where the </a:t>
            </a:r>
            <a:r>
              <a:rPr lang="en-US" dirty="0">
                <a:solidFill>
                  <a:srgbClr val="FF0000"/>
                </a:solidFill>
              </a:rPr>
              <a:t>relationships are not straightforward.</a:t>
            </a:r>
          </a:p>
          <a:p>
            <a:endParaRPr lang="en-US" dirty="0"/>
          </a:p>
        </p:txBody>
      </p:sp>
    </p:spTree>
    <p:extLst>
      <p:ext uri="{BB962C8B-B14F-4D97-AF65-F5344CB8AC3E}">
        <p14:creationId xmlns:p14="http://schemas.microsoft.com/office/powerpoint/2010/main" val="41029856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9711</TotalTime>
  <Words>8183</Words>
  <Application>Microsoft Office PowerPoint</Application>
  <PresentationFormat>Custom</PresentationFormat>
  <Paragraphs>1177</Paragraphs>
  <Slides>113</Slides>
  <Notes>34</Notes>
  <HiddenSlides>0</HiddenSlides>
  <MMClips>0</MMClips>
  <ScaleCrop>false</ScaleCrop>
  <HeadingPairs>
    <vt:vector size="4" baseType="variant">
      <vt:variant>
        <vt:lpstr>Theme</vt:lpstr>
      </vt:variant>
      <vt:variant>
        <vt:i4>1</vt:i4>
      </vt:variant>
      <vt:variant>
        <vt:lpstr>Slide Titles</vt:lpstr>
      </vt:variant>
      <vt:variant>
        <vt:i4>113</vt:i4>
      </vt:variant>
    </vt:vector>
  </HeadingPairs>
  <TitlesOfParts>
    <vt:vector size="114" baseType="lpstr">
      <vt:lpstr>Office Theme</vt:lpstr>
      <vt:lpstr>Unit 3 Query Languages</vt:lpstr>
      <vt:lpstr>Query Languages</vt:lpstr>
      <vt:lpstr>Relational Algebra </vt:lpstr>
      <vt:lpstr>Relational Algebra </vt:lpstr>
      <vt:lpstr>PowerPoint Presentation</vt:lpstr>
      <vt:lpstr>Relational Algebra : Operations</vt:lpstr>
      <vt:lpstr>Relational Algebra : Operations</vt:lpstr>
      <vt:lpstr>AND and OR Conjunctive Operators</vt:lpstr>
      <vt:lpstr>PowerPoint Presentation</vt:lpstr>
      <vt:lpstr>Relational Algebra : Operations</vt:lpstr>
      <vt:lpstr>Relational Algebra : Operations</vt:lpstr>
      <vt:lpstr>Relational Algebra : Operations</vt:lpstr>
      <vt:lpstr>Examples</vt:lpstr>
      <vt:lpstr>Examples</vt:lpstr>
      <vt:lpstr>Relational Algebra : Operations</vt:lpstr>
      <vt:lpstr>Relational Algebra : Operations</vt:lpstr>
      <vt:lpstr>PowerPoint Presentation</vt:lpstr>
      <vt:lpstr>Relational Algebra : Operations</vt:lpstr>
      <vt:lpstr>Relational Algebra examples</vt:lpstr>
      <vt:lpstr>Relational Algebra examples</vt:lpstr>
      <vt:lpstr>Relational Algebra example </vt:lpstr>
      <vt:lpstr>PowerPoint Presentation</vt:lpstr>
      <vt:lpstr>Relational Algebra : Joins</vt:lpstr>
      <vt:lpstr>Relational Algebra : Joins (The Inner Joins)</vt:lpstr>
      <vt:lpstr>Relational Algebra : Joins(Equi Joins)</vt:lpstr>
      <vt:lpstr>Relational Algebra : Joins (The Inner Joins)</vt:lpstr>
      <vt:lpstr>Relational Algebra : Joins (The Outer Joins)</vt:lpstr>
      <vt:lpstr>Relational Algebra : Joins (The Outer Joins)</vt:lpstr>
      <vt:lpstr>Relational Algebra : Joins (The Outer Joins)</vt:lpstr>
      <vt:lpstr>Relational Algebra : Joins (The Outer Joins)</vt:lpstr>
      <vt:lpstr>PowerPoint Presentation</vt:lpstr>
      <vt:lpstr>PowerPoint Presentation</vt:lpstr>
      <vt:lpstr>Relational Algebra:Summary</vt:lpstr>
      <vt:lpstr>Joins Vs Views</vt:lpstr>
      <vt:lpstr>Joins vs views</vt:lpstr>
      <vt:lpstr>What is SQL? </vt:lpstr>
      <vt:lpstr>SQL Datatype </vt:lpstr>
      <vt:lpstr>SQL  Text Data type example </vt:lpstr>
      <vt:lpstr>SQL Datatype </vt:lpstr>
      <vt:lpstr>PowerPoint Presentation</vt:lpstr>
      <vt:lpstr>SQL Commands </vt:lpstr>
      <vt:lpstr>SQL Commands </vt:lpstr>
      <vt:lpstr>Data Definition Language (DDL) </vt:lpstr>
      <vt:lpstr>Data Definition Language (DDL) </vt:lpstr>
      <vt:lpstr>Data Definition Language (DDL) </vt:lpstr>
      <vt:lpstr>Data Definition Language (DDL) </vt:lpstr>
      <vt:lpstr>Data Definition Language (DDL) </vt:lpstr>
      <vt:lpstr>Data Manipulation Language </vt:lpstr>
      <vt:lpstr>Data Manipulation Language </vt:lpstr>
      <vt:lpstr>Data Manipulation Language </vt:lpstr>
      <vt:lpstr>Data Manipulation Language </vt:lpstr>
      <vt:lpstr>Examples</vt:lpstr>
      <vt:lpstr>Data Manipulation Language </vt:lpstr>
      <vt:lpstr>PowerPoint Presentation</vt:lpstr>
      <vt:lpstr>PowerPoint Presentation</vt:lpstr>
      <vt:lpstr>Having and Where Clause Example</vt:lpstr>
      <vt:lpstr>PowerPoint Presentation</vt:lpstr>
      <vt:lpstr>Aggregate Functions</vt:lpstr>
      <vt:lpstr>PowerPoint Presentation</vt:lpstr>
      <vt:lpstr>PowerPoint Presentation</vt:lpstr>
      <vt:lpstr>Aggregate Functions</vt:lpstr>
      <vt:lpstr>PowerPoint Presentation</vt:lpstr>
      <vt:lpstr>PowerPoint Presentation</vt:lpstr>
      <vt:lpstr>Group by -aggregate example</vt:lpstr>
      <vt:lpstr>SQL Commands: Set Operations </vt:lpstr>
      <vt:lpstr>SQL Commands: Set Operations </vt:lpstr>
      <vt:lpstr>SQL Commands: Set Operations </vt:lpstr>
      <vt:lpstr>SQL Commands: Set Operations </vt:lpstr>
      <vt:lpstr>Date Functions in SQL </vt:lpstr>
      <vt:lpstr>PowerPoint Presentation</vt:lpstr>
      <vt:lpstr>String Functions in SQL </vt:lpstr>
      <vt:lpstr>Nested queries in SQL </vt:lpstr>
      <vt:lpstr>Nested queries in SQL </vt:lpstr>
      <vt:lpstr>Nested queries in SQL</vt:lpstr>
      <vt:lpstr>Finding second highest salary through nested query</vt:lpstr>
      <vt:lpstr>PowerPoint Presentation</vt:lpstr>
      <vt:lpstr>Nested Query Examples</vt:lpstr>
      <vt:lpstr>Co-related Nested Queries/Correlated Sub query</vt:lpstr>
      <vt:lpstr>Exists and Not exist keyword</vt:lpstr>
      <vt:lpstr>PowerPoint Presentation</vt:lpstr>
      <vt:lpstr>Data Control Language </vt:lpstr>
      <vt:lpstr>Transaction Control Language </vt:lpstr>
      <vt:lpstr>Transaction Control Language </vt:lpstr>
      <vt:lpstr>Transaction Control Language </vt:lpstr>
      <vt:lpstr>SQL Stored Procedures</vt:lpstr>
      <vt:lpstr>SQL Stored Procedures</vt:lpstr>
      <vt:lpstr>Why Do We Need Delimiter? </vt:lpstr>
      <vt:lpstr>Create Procedure Example</vt:lpstr>
      <vt:lpstr>Create Procedure Example</vt:lpstr>
      <vt:lpstr>Limit Clause</vt:lpstr>
      <vt:lpstr>Create Procedure Example</vt:lpstr>
      <vt:lpstr>PowerPoint Presentation</vt:lpstr>
      <vt:lpstr>Triggers in SQL</vt:lpstr>
      <vt:lpstr>PowerPoint Presentation</vt:lpstr>
      <vt:lpstr>Triggers in SQL</vt:lpstr>
      <vt:lpstr>Triggers in SQL</vt:lpstr>
      <vt:lpstr>BEFORE INSERT Trigger</vt:lpstr>
      <vt:lpstr>BEFORE DELETE Trigger</vt:lpstr>
      <vt:lpstr>BEFORE UPDATE Trigger</vt:lpstr>
      <vt:lpstr>Triggers -constraints to be consider</vt:lpstr>
      <vt:lpstr>Views in SQL</vt:lpstr>
      <vt:lpstr>Views in SQL</vt:lpstr>
      <vt:lpstr>Views in SQL</vt:lpstr>
      <vt:lpstr>Data Query Language  </vt:lpstr>
      <vt:lpstr>Cursors</vt:lpstr>
      <vt:lpstr>Types of Cursors - Implicit</vt:lpstr>
      <vt:lpstr>Types of Cursors- Implicit</vt:lpstr>
      <vt:lpstr>Types of Cursors - Explicit</vt:lpstr>
      <vt:lpstr>How To Create Explicit Cursor? </vt:lpstr>
      <vt:lpstr>How To Create Explicit Cursor? </vt:lpstr>
      <vt:lpstr>How To Create Explicit Cursor?</vt:lpstr>
      <vt:lpstr>Example</vt:lpstr>
      <vt:lpstr>Need of Cursor in an SQL server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Programming</dc:title>
  <dc:creator>Ranjeetsingh Suryawanshi</dc:creator>
  <cp:lastModifiedBy>DELL-PC</cp:lastModifiedBy>
  <cp:revision>396</cp:revision>
  <dcterms:created xsi:type="dcterms:W3CDTF">2021-07-04T14:34:29Z</dcterms:created>
  <dcterms:modified xsi:type="dcterms:W3CDTF">2025-08-21T11:26:48Z</dcterms:modified>
</cp:coreProperties>
</file>