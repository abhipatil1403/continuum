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945600" cy="27432000"/>
  <p:notesSz cx="8086725" cy="145811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33FF"/>
    <a:srgbClr val="FFFFFF"/>
    <a:srgbClr val="FFD7AF"/>
    <a:srgbClr val="FFCC99"/>
    <a:srgbClr val="FFF1B7"/>
    <a:srgbClr val="FFE9A3"/>
    <a:srgbClr val="000099"/>
    <a:srgbClr val="002368"/>
    <a:srgbClr val="001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5196" autoAdjust="0"/>
  </p:normalViewPr>
  <p:slideViewPr>
    <p:cSldViewPr>
      <p:cViewPr>
        <p:scale>
          <a:sx n="25" d="100"/>
          <a:sy n="25" d="100"/>
        </p:scale>
        <p:origin x="2309" y="-322"/>
      </p:cViewPr>
      <p:guideLst>
        <p:guide orient="horz" pos="8640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062" y="8522231"/>
            <a:ext cx="18653478" cy="58790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2122" y="15544272"/>
            <a:ext cx="15361356" cy="7011459"/>
          </a:xfrm>
        </p:spPr>
        <p:txBody>
          <a:bodyPr/>
          <a:lstStyle>
            <a:lvl1pPr marL="0" indent="0" algn="ctr">
              <a:buNone/>
              <a:defRPr/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F61FB-C699-4369-BCD0-576971F41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4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70B5B-D87D-44CA-B889-C37574F353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39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0" y="17627867"/>
            <a:ext cx="18653478" cy="5447772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0" y="11627115"/>
            <a:ext cx="18653478" cy="6000750"/>
          </a:xfrm>
        </p:spPr>
        <p:txBody>
          <a:bodyPr anchor="b"/>
          <a:lstStyle>
            <a:lvl1pPr marL="0" indent="0">
              <a:buNone/>
              <a:defRPr sz="1667"/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F99E8-17F9-4E94-ABDF-AF80E5AA5E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0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845" y="6400272"/>
            <a:ext cx="9841089" cy="18104115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06669" y="6400272"/>
            <a:ext cx="9841795" cy="18104115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969A86-2BD0-441D-AA0A-211A547D38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8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0" y="1098021"/>
            <a:ext cx="19751322" cy="457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139" y="6140981"/>
            <a:ext cx="9696450" cy="25585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139" y="8699501"/>
            <a:ext cx="9696450" cy="15804887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7778" y="6140981"/>
            <a:ext cx="9700684" cy="25585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7778" y="8699501"/>
            <a:ext cx="9700684" cy="15804887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01DF0-6899-4DBB-A121-56DE456346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C8D2A-9069-41F0-9363-6CB81D298E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73E9A-6A58-4866-B49A-AF6087C23D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1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0" y="1092729"/>
            <a:ext cx="7219950" cy="4647407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261" y="1092731"/>
            <a:ext cx="12268200" cy="23411657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140" y="5740136"/>
            <a:ext cx="7219950" cy="18764250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5ECC7-5BE7-4664-8373-42FF09653D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2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774" y="19202139"/>
            <a:ext cx="13167078" cy="2267479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774" y="2451366"/>
            <a:ext cx="13167078" cy="16458407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774" y="21469617"/>
            <a:ext cx="13167078" cy="3218657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9ECCF-669C-4CC5-8F55-EB6A84F68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7C2BE-BCFE-4987-AD0E-198EB24F3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10984" y="1098022"/>
            <a:ext cx="4937478" cy="234063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846" y="1098022"/>
            <a:ext cx="14745406" cy="234063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CB5AE-25CF-4E64-8AF3-BC8D68197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97845" y="1098021"/>
            <a:ext cx="1975061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7845" y="6400272"/>
            <a:ext cx="19750617" cy="1810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7846" y="24980637"/>
            <a:ext cx="51202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8646" y="24980637"/>
            <a:ext cx="69490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algn="ctr"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728246" y="24980637"/>
            <a:ext cx="51202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algn="r"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fld id="{79402945-30C9-4744-A21F-5C99D0EC6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+mj-lt"/>
          <a:ea typeface="+mj-ea"/>
          <a:cs typeface="+mj-cs"/>
        </a:defRPr>
      </a:lvl1pPr>
      <a:lvl2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2pPr>
      <a:lvl3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3pPr>
      <a:lvl4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4pPr>
      <a:lvl5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5pPr>
      <a:lvl6pPr marL="380985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6pPr>
      <a:lvl7pPr marL="761970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7pPr>
      <a:lvl8pPr marL="1142954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8pPr>
      <a:lvl9pPr marL="1523939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9pPr>
    </p:titleStyle>
    <p:bodyStyle>
      <a:lvl1pPr marL="1471024" indent="-1471024" algn="l" defTabSz="3918322" rtl="0" eaLnBrk="0" fontAlgn="base" hangingPunct="0">
        <a:spcBef>
          <a:spcPct val="20000"/>
        </a:spcBef>
        <a:spcAft>
          <a:spcPct val="0"/>
        </a:spcAft>
        <a:buChar char="•"/>
        <a:defRPr sz="13666">
          <a:solidFill>
            <a:schemeClr val="tx1"/>
          </a:solidFill>
          <a:latin typeface="+mn-lt"/>
          <a:ea typeface="+mn-ea"/>
          <a:cs typeface="+mn-cs"/>
        </a:defRPr>
      </a:lvl1pPr>
      <a:lvl2pPr marL="3182810" indent="-1223649" algn="l" defTabSz="3918322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98565" indent="-980242" algn="l" defTabSz="3918322" rtl="0" eaLnBrk="0" fontAlgn="base" hangingPunct="0">
        <a:spcBef>
          <a:spcPct val="20000"/>
        </a:spcBef>
        <a:spcAft>
          <a:spcPct val="0"/>
        </a:spcAft>
        <a:buChar char="•"/>
        <a:defRPr sz="10250">
          <a:solidFill>
            <a:schemeClr val="tx1"/>
          </a:solidFill>
          <a:latin typeface="+mn-lt"/>
        </a:defRPr>
      </a:lvl3pPr>
      <a:lvl4pPr marL="6857726" indent="-980242" algn="l" defTabSz="3918322" rtl="0" eaLnBrk="0" fontAlgn="base" hangingPunct="0">
        <a:spcBef>
          <a:spcPct val="20000"/>
        </a:spcBef>
        <a:spcAft>
          <a:spcPct val="0"/>
        </a:spcAft>
        <a:buChar char="–"/>
        <a:defRPr sz="8583">
          <a:solidFill>
            <a:schemeClr val="tx1"/>
          </a:solidFill>
          <a:latin typeface="+mn-lt"/>
        </a:defRPr>
      </a:lvl4pPr>
      <a:lvl5pPr marL="8816887" indent="-980242" algn="l" defTabSz="3918322" rtl="0" eaLnBrk="0" fontAlgn="base" hangingPunct="0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5pPr>
      <a:lvl6pPr marL="9197872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6pPr>
      <a:lvl7pPr marL="9578857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7pPr>
      <a:lvl8pPr marL="9959842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8pPr>
      <a:lvl9pPr marL="10340826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9"/>
          <p:cNvSpPr>
            <a:spLocks noChangeArrowheads="1"/>
          </p:cNvSpPr>
          <p:nvPr/>
        </p:nvSpPr>
        <p:spPr bwMode="auto">
          <a:xfrm>
            <a:off x="0" y="2"/>
            <a:ext cx="21945600" cy="2920998"/>
          </a:xfrm>
          <a:prstGeom prst="rect">
            <a:avLst/>
          </a:prstGeom>
          <a:solidFill>
            <a:srgbClr val="002368"/>
          </a:solidFill>
          <a:ln>
            <a:noFill/>
          </a:ln>
          <a:effectLst/>
        </p:spPr>
        <p:txBody>
          <a:bodyPr lIns="120313" tIns="60156" rIns="120313" bIns="60156" anchor="ctr"/>
          <a:lstStyle/>
          <a:p>
            <a:pPr algn="ctr"/>
            <a:endParaRPr lang="en-US" sz="3000" i="1" dirty="0">
              <a:solidFill>
                <a:schemeClr val="bg1"/>
              </a:solidFill>
              <a:latin typeface="Trebuchet MS" pitchFamily="34" charset="0"/>
              <a:cs typeface="Helvetica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0" y="7358"/>
            <a:ext cx="21949410" cy="335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000" dirty="0" err="1">
                <a:solidFill>
                  <a:schemeClr val="bg1"/>
                </a:solidFill>
                <a:ea typeface="Tahoma" panose="020B0604030504040204" pitchFamily="34" charset="0"/>
                <a:cs typeface="Helvetica" panose="020B0604020202020204" pitchFamily="34" charset="0"/>
              </a:rPr>
              <a:t>Dawatrack</a:t>
            </a:r>
            <a:r>
              <a:rPr lang="en-US" sz="4000" dirty="0">
                <a:solidFill>
                  <a:schemeClr val="bg1"/>
                </a:solidFill>
                <a:ea typeface="Tahoma" panose="020B0604030504040204" pitchFamily="34" charset="0"/>
                <a:cs typeface="Helvetica" panose="020B0604020202020204" pitchFamily="34" charset="0"/>
              </a:rPr>
              <a:t> – your personal medical guardian</a:t>
            </a:r>
          </a:p>
          <a:p>
            <a:pPr algn="ctr" defTabSz="4701986">
              <a:lnSpc>
                <a:spcPct val="110000"/>
              </a:lnSpc>
            </a:pPr>
            <a:r>
              <a:rPr lang="en-US" sz="2667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  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ASE Project 2 Guide </a:t>
            </a:r>
            <a:r>
              <a:rPr lang="en-US" sz="2800" b="1" dirty="0">
                <a:solidFill>
                  <a:srgbClr val="FFFF00"/>
                </a:solidFill>
                <a:cs typeface="Helvetica" panose="020B0604020202020204" pitchFamily="34" charset="0"/>
              </a:rPr>
              <a:t> Pooja </a:t>
            </a:r>
            <a:r>
              <a:rPr lang="en-US" sz="2800" b="1" dirty="0" err="1">
                <a:solidFill>
                  <a:srgbClr val="FFFF00"/>
                </a:solidFill>
                <a:cs typeface="Helvetica" panose="020B0604020202020204" pitchFamily="34" charset="0"/>
              </a:rPr>
              <a:t>Wanjale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Aditi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Patil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Abhishek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Patil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 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Adit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Pakhode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</a:t>
            </a:r>
          </a:p>
          <a:p>
            <a:pPr algn="ctr" defTabSz="4701986">
              <a:lnSpc>
                <a:spcPct val="110000"/>
              </a:lnSpc>
            </a:pP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Abhinandan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Bardia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Pradyumna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cs typeface="Helvetica" panose="020B0604020202020204" pitchFamily="34" charset="0"/>
              </a:rPr>
              <a:t>Adhari</a:t>
            </a:r>
            <a:r>
              <a:rPr lang="en-US" sz="2800" dirty="0">
                <a:solidFill>
                  <a:srgbClr val="FFFF00"/>
                </a:solidFill>
                <a:cs typeface="Helvetica" panose="020B0604020202020204" pitchFamily="34" charset="0"/>
              </a:rPr>
              <a:t>, Abhishek Singh</a:t>
            </a:r>
          </a:p>
          <a:p>
            <a:pPr algn="ctr" defTabSz="3918322">
              <a:lnSpc>
                <a:spcPct val="110000"/>
              </a:lnSpc>
            </a:pPr>
            <a:r>
              <a:rPr lang="en-US" sz="2000" i="1" dirty="0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Department of Engineering Science  and Humanities (DESH) </a:t>
            </a:r>
          </a:p>
          <a:p>
            <a:pPr algn="ctr" defTabSz="3918322">
              <a:lnSpc>
                <a:spcPct val="110000"/>
              </a:lnSpc>
            </a:pPr>
            <a:r>
              <a:rPr lang="en-US" sz="2000" i="1" dirty="0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Vishwakarma Institute of Technology, </a:t>
            </a:r>
            <a:r>
              <a:rPr lang="en-US" sz="2000" i="1" dirty="0" err="1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Bibwewadi</a:t>
            </a:r>
            <a:r>
              <a:rPr lang="en-US" sz="2000" i="1" dirty="0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  , Pune</a:t>
            </a:r>
          </a:p>
          <a:p>
            <a:pPr algn="ctr" defTabSz="3918322"/>
            <a:endParaRPr lang="en-US" sz="1000" i="1" dirty="0">
              <a:solidFill>
                <a:schemeClr val="bg1"/>
              </a:solidFill>
              <a:latin typeface="+mn-lt"/>
              <a:cs typeface="Helvetica" panose="020B0604020202020204" pitchFamily="34" charset="0"/>
            </a:endParaRPr>
          </a:p>
          <a:p>
            <a:pPr algn="ctr" defTabSz="3918322">
              <a:lnSpc>
                <a:spcPct val="110000"/>
              </a:lnSpc>
            </a:pPr>
            <a:r>
              <a:rPr lang="en-US" sz="2333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Students’ Conference on Applied Science &amp; Engineering Projects - JUNE 2025</a:t>
            </a:r>
            <a:endParaRPr lang="en-US" sz="2333" dirty="0">
              <a:solidFill>
                <a:srgbClr val="FFFF00"/>
              </a:solidFill>
              <a:latin typeface="Trebuchet MS" pitchFamily="34" charset="0"/>
              <a:cs typeface="Helvetica" panose="020B0604020202020204" pitchFamily="34" charset="0"/>
            </a:endParaRPr>
          </a:p>
          <a:p>
            <a:endParaRPr lang="en-US" sz="26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B73FA-57B3-58E4-0129-624B1D3D1251}"/>
              </a:ext>
            </a:extLst>
          </p:cNvPr>
          <p:cNvSpPr txBox="1"/>
          <p:nvPr/>
        </p:nvSpPr>
        <p:spPr>
          <a:xfrm>
            <a:off x="19088100" y="15766"/>
            <a:ext cx="2857500" cy="2862322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0033CC"/>
                </a:solidFill>
                <a:highlight>
                  <a:srgbClr val="FFFFFF"/>
                </a:highlight>
              </a:rPr>
              <a:t>ASE</a:t>
            </a:r>
            <a:r>
              <a:rPr lang="en-IN" sz="3000" b="1" dirty="0">
                <a:solidFill>
                  <a:srgbClr val="0033CC"/>
                </a:solidFill>
              </a:rPr>
              <a:t>P2</a:t>
            </a:r>
          </a:p>
          <a:p>
            <a:pPr algn="ctr"/>
            <a:r>
              <a:rPr lang="en-IN" sz="3000" b="1" dirty="0">
                <a:solidFill>
                  <a:srgbClr val="0033CC"/>
                </a:solidFill>
              </a:rPr>
              <a:t>GROUP NO.</a:t>
            </a:r>
          </a:p>
          <a:p>
            <a:pPr algn="ctr"/>
            <a:r>
              <a:rPr lang="en-IN" sz="6000" b="1" dirty="0">
                <a:solidFill>
                  <a:srgbClr val="0033CC"/>
                </a:solidFill>
              </a:rPr>
              <a:t>CSAIML- A2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1AC704-5B9F-6100-6AB8-8DA6A00C3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" y="23439"/>
            <a:ext cx="2036214" cy="1761715"/>
          </a:xfrm>
          <a:prstGeom prst="rect">
            <a:avLst/>
          </a:prstGeom>
          <a:noFill/>
          <a:ln w="12700">
            <a:solidFill>
              <a:srgbClr val="000099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3A7396-14C9-F4C9-7E88-9C03C505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7904"/>
            <a:ext cx="2048712" cy="1065054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71781" y="3819054"/>
            <a:ext cx="21602038" cy="24679746"/>
            <a:chOff x="171781" y="3998939"/>
            <a:chExt cx="21602038" cy="24347461"/>
          </a:xfrm>
        </p:grpSpPr>
        <p:sp>
          <p:nvSpPr>
            <p:cNvPr id="143" name="TextBox 142"/>
            <p:cNvSpPr txBox="1"/>
            <p:nvPr/>
          </p:nvSpPr>
          <p:spPr>
            <a:xfrm>
              <a:off x="179083" y="4038600"/>
              <a:ext cx="10333651" cy="4339650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 err="1"/>
                <a:t>DawaTrack</a:t>
              </a:r>
              <a:r>
                <a:rPr lang="en-US" sz="2300" dirty="0"/>
                <a:t> is a digital health solution designed to improve medication compliance.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/>
                <a:t>Tracks expiry dates, sends </a:t>
              </a:r>
              <a:r>
                <a:rPr lang="en-US" sz="2300" b="1" dirty="0"/>
                <a:t>email reminders</a:t>
              </a:r>
              <a:r>
                <a:rPr lang="en-US" sz="2300" dirty="0"/>
                <a:t>, and integrates with the </a:t>
              </a:r>
              <a:r>
                <a:rPr lang="en-US" sz="2300" b="1" dirty="0"/>
                <a:t>Google Calendar API</a:t>
              </a:r>
              <a:r>
                <a:rPr lang="en-US" sz="2300" dirty="0"/>
                <a:t> for seamless scheduling.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/>
                <a:t>Securely stores prescriptions and medical data using </a:t>
              </a:r>
              <a:r>
                <a:rPr lang="en-US" sz="2300" b="1" dirty="0" err="1"/>
                <a:t>Supabase</a:t>
              </a:r>
              <a:r>
                <a:rPr lang="en-US" sz="2300" dirty="0"/>
                <a:t> with its </a:t>
              </a:r>
              <a:r>
                <a:rPr lang="en-US" sz="2300" b="1" dirty="0"/>
                <a:t>SQL editor</a:t>
              </a:r>
              <a:r>
                <a:rPr lang="en-US" sz="2300" dirty="0"/>
                <a:t> backend.</a:t>
              </a:r>
            </a:p>
            <a:p>
              <a:pPr marL="342900" lvl="0" indent="-342900" eaLnBrk="0" hangingPunct="0">
                <a:buFont typeface="Wingdings" panose="05000000000000000000" pitchFamily="2" charset="2"/>
                <a:buChar char="ü"/>
              </a:pPr>
              <a:r>
                <a:rPr lang="en-US" altLang="en-US" sz="2300" dirty="0">
                  <a:latin typeface="Arial" panose="020B0604020202020204" pitchFamily="34" charset="0"/>
                </a:rPr>
                <a:t>Designed with a clean and responsive frontend using </a:t>
              </a:r>
              <a:r>
                <a:rPr lang="en-US" altLang="en-US" sz="2300" b="1" dirty="0">
                  <a:latin typeface="Arial" panose="020B0604020202020204" pitchFamily="34" charset="0"/>
                </a:rPr>
                <a:t>HTML, CSS, and JavaScript</a:t>
              </a:r>
              <a:r>
                <a:rPr lang="en-US" altLang="en-US" sz="2300" dirty="0">
                  <a:latin typeface="Arial" panose="020B0604020202020204" pitchFamily="34" charset="0"/>
                </a:rPr>
                <a:t>.</a:t>
              </a:r>
            </a:p>
            <a:p>
              <a:pPr marL="342900" lvl="0" indent="-342900" eaLnBrk="0" hangingPunct="0">
                <a:buFont typeface="Wingdings" panose="05000000000000000000" pitchFamily="2" charset="2"/>
                <a:buChar char="ü"/>
              </a:pPr>
              <a:r>
                <a:rPr lang="en-US" altLang="en-US" sz="2300" dirty="0">
                  <a:latin typeface="Arial" panose="020B0604020202020204" pitchFamily="34" charset="0"/>
                </a:rPr>
                <a:t>Features include </a:t>
              </a:r>
              <a:r>
                <a:rPr lang="en-US" altLang="en-US" sz="2300" b="1" dirty="0">
                  <a:latin typeface="Arial" panose="020B0604020202020204" pitchFamily="34" charset="0"/>
                </a:rPr>
                <a:t>checkup reminders</a:t>
              </a:r>
              <a:r>
                <a:rPr lang="en-US" altLang="en-US" sz="2300" dirty="0">
                  <a:latin typeface="Arial" panose="020B0604020202020204" pitchFamily="34" charset="0"/>
                </a:rPr>
                <a:t>, </a:t>
              </a:r>
              <a:r>
                <a:rPr lang="en-US" altLang="en-US" sz="2300" b="1" dirty="0">
                  <a:latin typeface="Arial" panose="020B0604020202020204" pitchFamily="34" charset="0"/>
                </a:rPr>
                <a:t>secure prescription storage</a:t>
              </a:r>
              <a:r>
                <a:rPr lang="en-US" altLang="en-US" sz="2300" dirty="0">
                  <a:latin typeface="Arial" panose="020B0604020202020204" pitchFamily="34" charset="0"/>
                </a:rPr>
                <a:t>, and </a:t>
              </a:r>
              <a:r>
                <a:rPr lang="en-US" altLang="en-US" sz="2300" b="1" dirty="0">
                  <a:latin typeface="Arial" panose="020B0604020202020204" pitchFamily="34" charset="0"/>
                </a:rPr>
                <a:t>real-time vitals monitoring</a:t>
              </a:r>
              <a:r>
                <a:rPr lang="en-US" altLang="en-US" sz="2300" dirty="0">
                  <a:latin typeface="Arial" panose="020B0604020202020204" pitchFamily="34" charset="0"/>
                </a:rPr>
                <a:t> (heart rate and </a:t>
              </a:r>
              <a:r>
                <a:rPr lang="en-US" altLang="en-US" sz="2300" dirty="0" err="1">
                  <a:latin typeface="Arial" panose="020B0604020202020204" pitchFamily="34" charset="0"/>
                </a:rPr>
                <a:t>SpO</a:t>
              </a:r>
              <a:r>
                <a:rPr lang="en-US" altLang="en-US" sz="2300" dirty="0">
                  <a:latin typeface="Arial" panose="020B0604020202020204" pitchFamily="34" charset="0"/>
                </a:rPr>
                <a:t>₂) using </a:t>
              </a:r>
              <a:r>
                <a:rPr lang="en-US" altLang="en-US" sz="2300" b="1" dirty="0">
                  <a:latin typeface="Arial" panose="020B0604020202020204" pitchFamily="34" charset="0"/>
                </a:rPr>
                <a:t>ESP32 sensors</a:t>
              </a:r>
              <a:r>
                <a:rPr lang="en-US" altLang="en-US" sz="2300" dirty="0">
                  <a:latin typeface="Arial" panose="020B0604020202020204" pitchFamily="34" charset="0"/>
                </a:rPr>
                <a:t>.</a:t>
              </a:r>
            </a:p>
            <a:p>
              <a:pPr marL="342900" lvl="0" indent="-342900" eaLnBrk="0" hangingPunct="0">
                <a:buFont typeface="Wingdings" panose="05000000000000000000" pitchFamily="2" charset="2"/>
                <a:buChar char="ü"/>
              </a:pPr>
              <a:r>
                <a:rPr lang="en-US" altLang="en-US" sz="2300" dirty="0">
                  <a:latin typeface="Arial" panose="020B0604020202020204" pitchFamily="34" charset="0"/>
                </a:rPr>
                <a:t>A </a:t>
              </a:r>
              <a:r>
                <a:rPr lang="en-US" altLang="en-US" sz="2300" b="1" dirty="0">
                  <a:latin typeface="Arial" panose="020B0604020202020204" pitchFamily="34" charset="0"/>
                </a:rPr>
                <a:t>hamburger menu</a:t>
              </a:r>
              <a:r>
                <a:rPr lang="en-US" altLang="en-US" sz="2300" dirty="0">
                  <a:latin typeface="Arial" panose="020B0604020202020204" pitchFamily="34" charset="0"/>
                </a:rPr>
                <a:t> offers quick access to </a:t>
              </a:r>
              <a:r>
                <a:rPr lang="en-US" altLang="en-US" sz="2300" b="1" dirty="0" err="1">
                  <a:latin typeface="Arial" panose="020B0604020202020204" pitchFamily="34" charset="0"/>
                </a:rPr>
                <a:t>ChatBot</a:t>
              </a:r>
              <a:r>
                <a:rPr lang="en-US" altLang="en-US" sz="2300" dirty="0">
                  <a:latin typeface="Arial" panose="020B0604020202020204" pitchFamily="34" charset="0"/>
                </a:rPr>
                <a:t>, </a:t>
              </a:r>
              <a:r>
                <a:rPr lang="en-US" altLang="en-US" sz="2300" b="1" dirty="0">
                  <a:latin typeface="Arial" panose="020B0604020202020204" pitchFamily="34" charset="0"/>
                </a:rPr>
                <a:t>Reminder</a:t>
              </a:r>
              <a:r>
                <a:rPr lang="en-US" sz="2300" b="1" dirty="0"/>
                <a:t> Calendar</a:t>
              </a:r>
              <a:r>
                <a:rPr lang="en-US" sz="2300" dirty="0"/>
                <a:t>, </a:t>
              </a:r>
              <a:r>
                <a:rPr lang="en-US" sz="2300" b="1" dirty="0"/>
                <a:t>My Medicines</a:t>
              </a:r>
              <a:r>
                <a:rPr lang="en-US" sz="2300" dirty="0"/>
                <a:t>, </a:t>
              </a:r>
              <a:r>
                <a:rPr lang="en-US" sz="2300" b="1" dirty="0"/>
                <a:t>Medicine Library</a:t>
              </a:r>
              <a:r>
                <a:rPr lang="en-US" sz="2300" dirty="0"/>
                <a:t>, and </a:t>
              </a:r>
              <a:r>
                <a:rPr lang="en-US" sz="2300" b="1" dirty="0"/>
                <a:t>Health Tips</a:t>
              </a:r>
              <a:r>
                <a:rPr lang="en-US" sz="2300" dirty="0"/>
                <a:t>.</a:t>
              </a:r>
              <a:endParaRPr lang="en-US" sz="2300" dirty="0">
                <a:latin typeface="ArialMT"/>
              </a:endParaRPr>
            </a:p>
          </p:txBody>
        </p:sp>
        <p:pic>
          <p:nvPicPr>
            <p:cNvPr id="165" name="Picture 16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1907" y="4419552"/>
              <a:ext cx="8404943" cy="4021127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4A1859D-1AEF-8B81-86FF-271D7BB64C52}"/>
                </a:ext>
              </a:extLst>
            </p:cNvPr>
            <p:cNvSpPr txBox="1"/>
            <p:nvPr/>
          </p:nvSpPr>
          <p:spPr>
            <a:xfrm>
              <a:off x="11171743" y="3998939"/>
              <a:ext cx="10453138" cy="4480560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IN" sz="2400" b="1" dirty="0">
                  <a:latin typeface="ArialMT"/>
                </a:rPr>
                <a:t>IMAGE 1: </a:t>
              </a:r>
              <a:r>
                <a:rPr lang="en-IN" sz="2400" b="1" dirty="0" err="1">
                  <a:latin typeface="ArialMT"/>
                </a:rPr>
                <a:t>ChatBot</a:t>
              </a: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11378398" y="14765442"/>
              <a:ext cx="10306486" cy="478379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701986"/>
              <a:endParaRPr lang="en-US">
                <a:latin typeface="Arial" pitchFamily="34" charset="0"/>
              </a:endParaRPr>
            </a:p>
          </p:txBody>
        </p:sp>
        <p:sp useBgFill="1">
          <p:nvSpPr>
            <p:cNvPr id="142" name="Rectangle 141"/>
            <p:cNvSpPr/>
            <p:nvPr/>
          </p:nvSpPr>
          <p:spPr bwMode="auto">
            <a:xfrm>
              <a:off x="8705132" y="28202282"/>
              <a:ext cx="249105" cy="144118"/>
            </a:xfrm>
            <a:prstGeom prst="rect">
              <a:avLst/>
            </a:prstGeom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701986"/>
              <a:endParaRPr lang="en-US">
                <a:latin typeface="Arial" pitchFamily="34" charset="0"/>
              </a:endParaRPr>
            </a:p>
          </p:txBody>
        </p:sp>
        <p:sp>
          <p:nvSpPr>
            <p:cNvPr id="144" name="Rectangle 23"/>
            <p:cNvSpPr>
              <a:spLocks noChangeArrowheads="1"/>
            </p:cNvSpPr>
            <p:nvPr/>
          </p:nvSpPr>
          <p:spPr bwMode="auto">
            <a:xfrm>
              <a:off x="171781" y="13871729"/>
              <a:ext cx="10348323" cy="675359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r>
                <a:rPr lang="en-US" sz="4400" b="1" dirty="0">
                  <a:solidFill>
                    <a:schemeClr val="bg1"/>
                  </a:solidFill>
                  <a:highlight>
                    <a:srgbClr val="000080"/>
                  </a:highlight>
                  <a:latin typeface="+mj-lt"/>
                  <a:cs typeface="Helvetica" panose="020B0604020202020204" pitchFamily="34" charset="0"/>
                </a:rPr>
                <a:t>HARDWARE INTEGRATION  </a:t>
              </a:r>
            </a:p>
          </p:txBody>
        </p:sp>
        <p:sp>
          <p:nvSpPr>
            <p:cNvPr id="145" name="Rectangle 23"/>
            <p:cNvSpPr>
              <a:spLocks noChangeArrowheads="1"/>
            </p:cNvSpPr>
            <p:nvPr/>
          </p:nvSpPr>
          <p:spPr bwMode="auto">
            <a:xfrm>
              <a:off x="199194" y="19825614"/>
              <a:ext cx="10468381" cy="675359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pPr defTabSz="4701986"/>
              <a:r>
                <a:rPr lang="en-US" sz="4400" b="1" cap="small" dirty="0">
                  <a:solidFill>
                    <a:schemeClr val="bg1"/>
                  </a:solidFill>
                  <a:latin typeface="+mj-lt"/>
                  <a:cs typeface="Helvetica" panose="020B0604020202020204" pitchFamily="34" charset="0"/>
                </a:rPr>
                <a:t>RESULTS AND DISCUSSIONS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06571" y="20659041"/>
              <a:ext cx="10446050" cy="2847161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b="1" dirty="0">
                  <a:latin typeface="ArialMT"/>
                </a:rPr>
                <a:t>85% of users</a:t>
              </a:r>
              <a:r>
                <a:rPr lang="en-US" sz="2400" dirty="0">
                  <a:latin typeface="ArialMT"/>
                </a:rPr>
                <a:t> reported improved medication compliance.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b="1" dirty="0">
                  <a:latin typeface="ArialMT"/>
                </a:rPr>
                <a:t>40% reduction</a:t>
              </a:r>
              <a:r>
                <a:rPr lang="en-US" sz="2400" dirty="0">
                  <a:latin typeface="ArialMT"/>
                </a:rPr>
                <a:t> in expired medication usage due to expiry tracking.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b="1" dirty="0">
                  <a:latin typeface="ArialMT"/>
                </a:rPr>
                <a:t>78% of users</a:t>
              </a:r>
              <a:r>
                <a:rPr lang="en-US" sz="2400" dirty="0">
                  <a:latin typeface="ArialMT"/>
                </a:rPr>
                <a:t> found prescription storage highly useful.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b="1" dirty="0">
                  <a:latin typeface="ArialMT"/>
                </a:rPr>
                <a:t>Checkup reminders</a:t>
              </a:r>
              <a:r>
                <a:rPr lang="en-US" sz="2400" dirty="0">
                  <a:latin typeface="ArialMT"/>
                </a:rPr>
                <a:t> were added to ensure timely medical appointments.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>
                  <a:latin typeface="ArialMT"/>
                </a:rPr>
                <a:t>Users appreciated the </a:t>
              </a:r>
              <a:r>
                <a:rPr lang="en-US" sz="2400" b="1" dirty="0">
                  <a:latin typeface="ArialMT"/>
                </a:rPr>
                <a:t>email reminders</a:t>
              </a:r>
              <a:r>
                <a:rPr lang="en-US" sz="2400" dirty="0">
                  <a:latin typeface="ArialMT"/>
                </a:rPr>
                <a:t> and secure storage features.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>
                  <a:latin typeface="ArialMT"/>
                </a:rPr>
                <a:t>Demonstrated potential to reduce hospital visits and improve healthcare efficiency.</a:t>
              </a:r>
            </a:p>
            <a:p>
              <a:pPr marL="285738" indent="-285738">
                <a:lnSpc>
                  <a:spcPct val="110000"/>
                </a:lnSpc>
                <a:buFont typeface="Wingdings" pitchFamily="2" charset="2"/>
                <a:buChar char="ü"/>
              </a:pPr>
              <a:endParaRPr lang="en-IN" sz="2400" dirty="0">
                <a:latin typeface="ArialMT"/>
              </a:endParaRPr>
            </a:p>
          </p:txBody>
        </p:sp>
        <p:sp>
          <p:nvSpPr>
            <p:cNvPr id="147" name="Rectangle 23"/>
            <p:cNvSpPr>
              <a:spLocks noChangeArrowheads="1"/>
            </p:cNvSpPr>
            <p:nvPr/>
          </p:nvSpPr>
          <p:spPr bwMode="auto">
            <a:xfrm>
              <a:off x="11186988" y="18197056"/>
              <a:ext cx="10483629" cy="675359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pPr defTabSz="4701986"/>
              <a:r>
                <a:rPr lang="en-US" sz="4400" b="1" cap="small" dirty="0">
                  <a:solidFill>
                    <a:schemeClr val="bg1"/>
                  </a:solidFill>
                  <a:latin typeface="+mj-lt"/>
                  <a:cs typeface="Helvetica" panose="020B0604020202020204" pitchFamily="34" charset="0"/>
                </a:rPr>
                <a:t>NOVELTY FEATURES / FINDINGS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1201252" y="18959529"/>
              <a:ext cx="10483629" cy="3647152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b="1" dirty="0">
                  <a:latin typeface="ArialMT"/>
                </a:rPr>
                <a:t>Email Reminders</a:t>
              </a:r>
              <a:r>
                <a:rPr lang="en-US" sz="2400" dirty="0">
                  <a:latin typeface="ArialMT"/>
                </a:rPr>
                <a:t>: Timely notifications for medication and checkups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Expiry Tracking</a:t>
              </a:r>
              <a:r>
                <a:rPr lang="en-US" sz="2300" dirty="0">
                  <a:latin typeface="ArialMT"/>
                </a:rPr>
                <a:t>: Alerts users about expired medications to ensure safety.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Prescription Storage</a:t>
              </a:r>
              <a:r>
                <a:rPr lang="en-US" sz="2300" dirty="0">
                  <a:latin typeface="ArialMT"/>
                </a:rPr>
                <a:t>: Safely stores and organizes prescriptions electronically using </a:t>
              </a:r>
              <a:r>
                <a:rPr lang="en-US" sz="2300" dirty="0" err="1">
                  <a:latin typeface="ArialMT"/>
                </a:rPr>
                <a:t>Supabase</a:t>
              </a:r>
              <a:r>
                <a:rPr lang="en-US" sz="2300" dirty="0">
                  <a:latin typeface="ArialMT"/>
                </a:rPr>
                <a:t>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Checkup Reminders</a:t>
              </a:r>
              <a:r>
                <a:rPr lang="en-US" sz="2300" dirty="0">
                  <a:latin typeface="ArialMT"/>
                </a:rPr>
                <a:t>: Syncs appointments via Google </a:t>
              </a:r>
              <a:r>
                <a:rPr lang="en-US" sz="2300" dirty="0" err="1">
                  <a:latin typeface="ArialMT"/>
                </a:rPr>
                <a:t>Calender</a:t>
              </a:r>
              <a:r>
                <a:rPr lang="en-US" sz="2300" dirty="0">
                  <a:latin typeface="ArialMT"/>
                </a:rPr>
                <a:t>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Vitals Monitoring : </a:t>
              </a:r>
              <a:r>
                <a:rPr lang="en-US" sz="2300" dirty="0">
                  <a:latin typeface="ArialMT"/>
                </a:rPr>
                <a:t>Tracks  heart rate and SPO2 using ESP32 sensors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User-Friendly Interface</a:t>
              </a:r>
              <a:r>
                <a:rPr lang="en-US" sz="2300" dirty="0">
                  <a:latin typeface="ArialMT"/>
                </a:rPr>
                <a:t>: Designed with </a:t>
              </a:r>
              <a:r>
                <a:rPr lang="en-US" sz="2300" b="1" dirty="0">
                  <a:latin typeface="ArialMT"/>
                </a:rPr>
                <a:t>HTML, CSS, and JavaScript</a:t>
              </a:r>
              <a:r>
                <a:rPr lang="en-US" sz="2300" dirty="0">
                  <a:latin typeface="ArialMT"/>
                </a:rPr>
                <a:t> for ease of use..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Hamburger menu</a:t>
              </a:r>
              <a:r>
                <a:rPr lang="en-US" sz="2300" dirty="0">
                  <a:latin typeface="ArialMT"/>
                </a:rPr>
                <a:t>: Quick access to </a:t>
              </a:r>
              <a:r>
                <a:rPr lang="en-US" sz="2300" dirty="0" err="1">
                  <a:latin typeface="ArialMT"/>
                </a:rPr>
                <a:t>Calender</a:t>
              </a:r>
              <a:r>
                <a:rPr lang="en-US" sz="2300" dirty="0">
                  <a:latin typeface="ArialMT"/>
                </a:rPr>
                <a:t> , Medicines library and Heath Tips.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79083" y="24485441"/>
              <a:ext cx="10425039" cy="2607318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Unit Testing </a:t>
              </a:r>
              <a:r>
                <a:rPr lang="en-US" sz="2300" dirty="0">
                  <a:latin typeface="ArialMT"/>
                </a:rPr>
                <a:t>done for reminders, expiry tracking, and </a:t>
              </a:r>
              <a:r>
                <a:rPr lang="en-US" sz="2300" dirty="0" err="1">
                  <a:latin typeface="ArialMT"/>
                </a:rPr>
                <a:t>calender</a:t>
              </a:r>
              <a:r>
                <a:rPr lang="en-US" sz="2300" dirty="0">
                  <a:latin typeface="ArialMT"/>
                </a:rPr>
                <a:t> sync.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Integration Testing </a:t>
              </a:r>
              <a:r>
                <a:rPr lang="en-US" sz="2300" dirty="0">
                  <a:latin typeface="ArialMT"/>
                </a:rPr>
                <a:t>ensured smooth frontend-backend Interaction.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ESP32 Sensors </a:t>
              </a:r>
              <a:r>
                <a:rPr lang="en-US" sz="2300" dirty="0">
                  <a:latin typeface="ArialMT"/>
                </a:rPr>
                <a:t>tested for accurate heart rate and SpO2 data.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UI/UX Testing </a:t>
              </a:r>
              <a:r>
                <a:rPr lang="en-US" sz="2300" dirty="0">
                  <a:latin typeface="ArialMT"/>
                </a:rPr>
                <a:t>focused on responsiveness and menu navigation.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Google </a:t>
              </a:r>
              <a:r>
                <a:rPr lang="en-US" sz="2300" b="1" dirty="0" err="1">
                  <a:latin typeface="ArialMT"/>
                </a:rPr>
                <a:t>Calender</a:t>
              </a:r>
              <a:r>
                <a:rPr lang="en-US" sz="2300" b="1" dirty="0">
                  <a:latin typeface="ArialMT"/>
                </a:rPr>
                <a:t> API </a:t>
              </a:r>
              <a:r>
                <a:rPr lang="en-US" sz="2300" dirty="0">
                  <a:latin typeface="ArialMT"/>
                </a:rPr>
                <a:t>tested for event Creation and sync.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User feedback </a:t>
              </a:r>
              <a:r>
                <a:rPr lang="en-US" sz="2300" dirty="0">
                  <a:latin typeface="ArialMT"/>
                </a:rPr>
                <a:t>collected to fix bugs and </a:t>
              </a:r>
              <a:r>
                <a:rPr lang="en-US" sz="2300" dirty="0" err="1">
                  <a:latin typeface="ArialMT"/>
                </a:rPr>
                <a:t>inprovs</a:t>
              </a:r>
              <a:r>
                <a:rPr lang="en-US" sz="2300" dirty="0">
                  <a:latin typeface="ArialMT"/>
                </a:rPr>
                <a:t> usability.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Performance Testing </a:t>
              </a:r>
              <a:r>
                <a:rPr lang="en-US" sz="2300" dirty="0">
                  <a:latin typeface="ArialMT"/>
                </a:rPr>
                <a:t>ensured fast load times and smooth </a:t>
              </a:r>
              <a:r>
                <a:rPr lang="en-US" sz="2300" dirty="0" err="1">
                  <a:latin typeface="ArialMT"/>
                </a:rPr>
                <a:t>functionalbility</a:t>
              </a:r>
              <a:endParaRPr lang="en-US" sz="2300" b="1" dirty="0">
                <a:latin typeface="ArialMT"/>
              </a:endParaRPr>
            </a:p>
          </p:txBody>
        </p:sp>
        <p:sp>
          <p:nvSpPr>
            <p:cNvPr id="150" name="Rectangle 23"/>
            <p:cNvSpPr>
              <a:spLocks noChangeArrowheads="1"/>
            </p:cNvSpPr>
            <p:nvPr/>
          </p:nvSpPr>
          <p:spPr bwMode="auto">
            <a:xfrm>
              <a:off x="11201252" y="23041012"/>
              <a:ext cx="10572567" cy="675359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pPr defTabSz="4701986"/>
              <a:r>
                <a:rPr lang="en-US" sz="4400" b="1" cap="small" dirty="0">
                  <a:solidFill>
                    <a:schemeClr val="bg1"/>
                  </a:solidFill>
                  <a:latin typeface="+mj-lt"/>
                  <a:cs typeface="Helvetica" panose="020B0604020202020204" pitchFamily="34" charset="0"/>
                </a:rPr>
                <a:t>CONCLUSIONS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1253344" y="23803486"/>
              <a:ext cx="10468383" cy="3277820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 err="1">
                  <a:latin typeface="ArialMT"/>
                </a:rPr>
                <a:t>DawaTrack</a:t>
              </a:r>
              <a:r>
                <a:rPr lang="en-US" sz="2300" dirty="0">
                  <a:latin typeface="ArialMT"/>
                </a:rPr>
                <a:t> effectively addresses medication non-compliance and improves adherence.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Reduces medication wastage and enhances patient safety.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Email reminders</a:t>
              </a:r>
              <a:r>
                <a:rPr lang="en-US" sz="2300" dirty="0">
                  <a:latin typeface="ArialMT"/>
                </a:rPr>
                <a:t> and secure storage make it accessible and user-friendly.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b="1" dirty="0">
                  <a:latin typeface="ArialMT"/>
                </a:rPr>
                <a:t>Checkup reminders</a:t>
              </a:r>
              <a:r>
                <a:rPr lang="en-US" sz="2300" dirty="0">
                  <a:latin typeface="ArialMT"/>
                </a:rPr>
                <a:t> ensure holistic healthcare management.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Future developments include voice alerts, wearable integration, and advanced analytics.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A scalable solution for improving healthcare outcomes through digital innovation.</a:t>
              </a:r>
            </a:p>
          </p:txBody>
        </p:sp>
        <p:sp>
          <p:nvSpPr>
            <p:cNvPr id="152" name="Rectangle 23">
              <a:extLst>
                <a:ext uri="{FF2B5EF4-FFF2-40B4-BE49-F238E27FC236}">
                  <a16:creationId xmlns:a16="http://schemas.microsoft.com/office/drawing/2014/main" id="{B2C68C77-351B-3C51-3D50-9E2D04D5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83" y="8731376"/>
              <a:ext cx="10333729" cy="503725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pPr defTabSz="4701986"/>
              <a:r>
                <a:rPr lang="en-US" sz="4400" b="1" cap="small" dirty="0">
                  <a:solidFill>
                    <a:schemeClr val="bg1"/>
                  </a:solidFill>
                  <a:latin typeface="+mj-lt"/>
                  <a:cs typeface="Helvetica" panose="020B0604020202020204" pitchFamily="34" charset="0"/>
                </a:rPr>
                <a:t>INTRODUCTION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C14C945-EB88-4644-A9D3-DE9A1D906FCD}"/>
                </a:ext>
              </a:extLst>
            </p:cNvPr>
            <p:cNvSpPr txBox="1"/>
            <p:nvPr/>
          </p:nvSpPr>
          <p:spPr>
            <a:xfrm>
              <a:off x="179083" y="9332556"/>
              <a:ext cx="10345466" cy="4402777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Medication non-compliance leads to health risks like worsened conditions and hospitalizations.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Manual tracking and paper prescriptions are error-prone and inefficient.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 err="1">
                  <a:latin typeface="ArialMT"/>
                </a:rPr>
                <a:t>DawaTrack</a:t>
              </a:r>
              <a:r>
                <a:rPr lang="en-US" sz="2300" dirty="0">
                  <a:latin typeface="ArialMT"/>
                </a:rPr>
                <a:t> offers a digital solution with </a:t>
              </a:r>
              <a:r>
                <a:rPr lang="en-US" sz="2300" b="1" dirty="0">
                  <a:latin typeface="ArialMT"/>
                </a:rPr>
                <a:t>email reminders</a:t>
              </a:r>
              <a:r>
                <a:rPr lang="en-US" sz="2300" dirty="0">
                  <a:latin typeface="ArialMT"/>
                </a:rPr>
                <a:t>, expiry tracking, and secure prescription storage.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Aims to reduce medication wastage and improve treatment outcomes.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>
                  <a:latin typeface="ArialMT"/>
                </a:rPr>
                <a:t>Bridges the gap between traditional medication management and modern healthcare technology.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/>
                <a:t>Includes real-time </a:t>
              </a:r>
              <a:r>
                <a:rPr lang="en-US" sz="2300" b="1" dirty="0"/>
                <a:t>heart rate and </a:t>
              </a:r>
              <a:r>
                <a:rPr lang="en-US" sz="2300" b="1" dirty="0" err="1"/>
                <a:t>SpO</a:t>
              </a:r>
              <a:r>
                <a:rPr lang="en-US" sz="2300" b="1" dirty="0"/>
                <a:t>₂ monitoring</a:t>
              </a:r>
              <a:r>
                <a:rPr lang="en-US" sz="2300" dirty="0"/>
                <a:t> using </a:t>
              </a:r>
              <a:r>
                <a:rPr lang="en-US" sz="2300" b="1" dirty="0"/>
                <a:t>ESP32 microcontroller and sensors</a:t>
              </a:r>
              <a:r>
                <a:rPr lang="en-US" sz="2300" dirty="0"/>
                <a:t>, promoting holistic health tracking.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300" dirty="0"/>
                <a:t>A user-friendly </a:t>
              </a:r>
              <a:r>
                <a:rPr lang="en-US" sz="2300" b="1" dirty="0"/>
                <a:t>hamburger menu</a:t>
              </a:r>
              <a:r>
                <a:rPr lang="en-US" sz="2300" dirty="0"/>
                <a:t> provides easy access to </a:t>
              </a:r>
              <a:r>
                <a:rPr lang="en-US" sz="2300" b="1" dirty="0"/>
                <a:t>Reminder Calendar</a:t>
              </a:r>
              <a:r>
                <a:rPr lang="en-US" sz="2300" dirty="0"/>
                <a:t>, </a:t>
              </a:r>
              <a:r>
                <a:rPr lang="en-US" sz="2300" b="1" dirty="0"/>
                <a:t>My Medicines</a:t>
              </a:r>
              <a:r>
                <a:rPr lang="en-US" sz="2300" dirty="0"/>
                <a:t>, </a:t>
              </a:r>
              <a:r>
                <a:rPr lang="en-US" sz="2300" b="1" dirty="0"/>
                <a:t>Medicine Library</a:t>
              </a:r>
              <a:r>
                <a:rPr lang="en-US" sz="2300" dirty="0"/>
                <a:t>, and </a:t>
              </a:r>
              <a:r>
                <a:rPr lang="en-US" sz="2300" b="1" dirty="0"/>
                <a:t>Health Tips</a:t>
              </a:r>
              <a:r>
                <a:rPr lang="en-US" sz="2300" dirty="0"/>
                <a:t>.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4A1859D-1AEF-8B81-86FF-271D7BB64C52}"/>
                </a:ext>
              </a:extLst>
            </p:cNvPr>
            <p:cNvSpPr txBox="1"/>
            <p:nvPr/>
          </p:nvSpPr>
          <p:spPr>
            <a:xfrm>
              <a:off x="11186988" y="8677077"/>
              <a:ext cx="10453138" cy="4572000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IN" sz="2400" b="1" dirty="0">
                  <a:latin typeface="ArialMT"/>
                </a:rPr>
                <a:t>IMAGE 2 : Medicine Library</a:t>
              </a: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BE156A4-0238-25D9-B7B5-4314ADF64E5C}"/>
                </a:ext>
              </a:extLst>
            </p:cNvPr>
            <p:cNvSpPr txBox="1"/>
            <p:nvPr/>
          </p:nvSpPr>
          <p:spPr>
            <a:xfrm>
              <a:off x="11171743" y="13408851"/>
              <a:ext cx="10468383" cy="4572000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IN" sz="2400" b="1" dirty="0">
                  <a:latin typeface="ArialMT"/>
                </a:rPr>
                <a:t>IMAGE 3 : Statistics</a:t>
              </a: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F0B70BA-46BA-FC36-80CD-CF20E4F67D43}"/>
                </a:ext>
              </a:extLst>
            </p:cNvPr>
            <p:cNvSpPr/>
            <p:nvPr/>
          </p:nvSpPr>
          <p:spPr>
            <a:xfrm>
              <a:off x="355338" y="10427716"/>
              <a:ext cx="10101196" cy="539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highlight>
                    <a:srgbClr val="000080"/>
                  </a:highlight>
                  <a:latin typeface="+mj-lt"/>
                  <a:cs typeface="Helvetica" panose="020B0604020202020204" pitchFamily="34" charset="0"/>
                </a:rPr>
                <a:t> 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966294E-2C46-0AB0-1D60-ED4758347B38}"/>
                </a:ext>
              </a:extLst>
            </p:cNvPr>
            <p:cNvSpPr txBox="1"/>
            <p:nvPr/>
          </p:nvSpPr>
          <p:spPr>
            <a:xfrm>
              <a:off x="209099" y="14683482"/>
              <a:ext cx="10303635" cy="4896356"/>
            </a:xfrm>
            <a:prstGeom prst="rect">
              <a:avLst/>
            </a:prstGeom>
            <a:noFill/>
            <a:ln>
              <a:solidFill>
                <a:srgbClr val="00009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  <a:p>
              <a:pPr>
                <a:lnSpc>
                  <a:spcPct val="110000"/>
                </a:lnSpc>
              </a:pPr>
              <a:endParaRPr lang="en-IN" sz="2400" b="1" dirty="0">
                <a:latin typeface="ArialMT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F05943D-35B3-BE69-2593-617C4343F901}"/>
                </a:ext>
              </a:extLst>
            </p:cNvPr>
            <p:cNvSpPr/>
            <p:nvPr/>
          </p:nvSpPr>
          <p:spPr>
            <a:xfrm>
              <a:off x="475735" y="21057727"/>
              <a:ext cx="10267836" cy="539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highlight>
                    <a:srgbClr val="000080"/>
                  </a:highlight>
                  <a:latin typeface="+mj-lt"/>
                  <a:cs typeface="Helvetica" panose="020B0604020202020204" pitchFamily="34" charset="0"/>
                </a:rPr>
                <a:t>   </a:t>
              </a:r>
            </a:p>
          </p:txBody>
        </p:sp>
        <p:sp>
          <p:nvSpPr>
            <p:cNvPr id="160" name="Rectangle 23">
              <a:extLst>
                <a:ext uri="{FF2B5EF4-FFF2-40B4-BE49-F238E27FC236}">
                  <a16:creationId xmlns:a16="http://schemas.microsoft.com/office/drawing/2014/main" id="{87A75942-D511-8852-7D7E-A8340DCFE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94" y="23756165"/>
              <a:ext cx="10468382" cy="675359"/>
            </a:xfrm>
            <a:prstGeom prst="rect">
              <a:avLst/>
            </a:prstGeom>
            <a:solidFill>
              <a:srgbClr val="00236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44376" tIns="72187" rIns="144376" bIns="72187" anchor="ctr"/>
            <a:lstStyle/>
            <a:p>
              <a:r>
                <a:rPr lang="en-US" sz="4400" b="1" dirty="0">
                  <a:solidFill>
                    <a:schemeClr val="bg1"/>
                  </a:solidFill>
                  <a:highlight>
                    <a:srgbClr val="000080"/>
                  </a:highlight>
                  <a:latin typeface="+mj-lt"/>
                  <a:cs typeface="Helvetica" panose="020B0604020202020204" pitchFamily="34" charset="0"/>
                </a:rPr>
                <a:t>TESTING / IMPLEMENTATION </a:t>
              </a:r>
            </a:p>
          </p:txBody>
        </p:sp>
        <p:pic>
          <p:nvPicPr>
            <p:cNvPr id="166" name="Picture 165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594"/>
            <a:stretch/>
          </p:blipFill>
          <p:spPr>
            <a:xfrm>
              <a:off x="12143862" y="9176498"/>
              <a:ext cx="8480487" cy="4021127"/>
            </a:xfrm>
            <a:prstGeom prst="rect">
              <a:avLst/>
            </a:prstGeom>
          </p:spPr>
        </p:pic>
        <p:pic>
          <p:nvPicPr>
            <p:cNvPr id="168" name="Picture 16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" t="210" r="-109" b="36161"/>
            <a:stretch/>
          </p:blipFill>
          <p:spPr>
            <a:xfrm>
              <a:off x="12170806" y="13871729"/>
              <a:ext cx="8468291" cy="3912965"/>
            </a:xfrm>
            <a:prstGeom prst="rect">
              <a:avLst/>
            </a:prstGeom>
          </p:spPr>
        </p:pic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B2C68C77-351B-3C51-3D50-9E2D04D5B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24" y="3137209"/>
            <a:ext cx="10333729" cy="503725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44376" tIns="72187" rIns="144376" bIns="72187" anchor="ctr"/>
          <a:lstStyle/>
          <a:p>
            <a:pPr defTabSz="4701986"/>
            <a:r>
              <a:rPr lang="en-US" sz="4400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ABSTRACT</a:t>
            </a:r>
          </a:p>
        </p:txBody>
      </p:sp>
      <p:sp>
        <p:nvSpPr>
          <p:cNvPr id="171" name="Rectangle 23">
            <a:extLst>
              <a:ext uri="{FF2B5EF4-FFF2-40B4-BE49-F238E27FC236}">
                <a16:creationId xmlns:a16="http://schemas.microsoft.com/office/drawing/2014/main" id="{B2C68C77-351B-3C51-3D50-9E2D04D5B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6988" y="3099120"/>
            <a:ext cx="10333729" cy="503725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44376" tIns="72187" rIns="144376" bIns="72187" anchor="ctr"/>
          <a:lstStyle/>
          <a:p>
            <a:pPr defTabSz="4701986"/>
            <a:r>
              <a:rPr lang="en-US" sz="4400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IMAGES</a:t>
            </a:r>
          </a:p>
        </p:txBody>
      </p:sp>
      <p:pic>
        <p:nvPicPr>
          <p:cNvPr id="3" name="Picture 2" descr="A circuit board with wires&#10;&#10;AI-generated content may be incorrect.">
            <a:extLst>
              <a:ext uri="{FF2B5EF4-FFF2-40B4-BE49-F238E27FC236}">
                <a16:creationId xmlns:a16="http://schemas.microsoft.com/office/drawing/2014/main" id="{ED4A902E-BF52-04AE-4496-274A2C802D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288" y="14170579"/>
            <a:ext cx="7772400" cy="6002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5886</TotalTime>
  <Words>579</Words>
  <Application>Microsoft Office PowerPoint</Application>
  <PresentationFormat>Custom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ArialMT</vt:lpstr>
      <vt:lpstr>Helvetica</vt:lpstr>
      <vt:lpstr>Tahoma</vt:lpstr>
      <vt:lpstr>Trebuchet MS</vt:lpstr>
      <vt:lpstr>Wingdings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ANIL PATIL</cp:lastModifiedBy>
  <cp:revision>149</cp:revision>
  <dcterms:created xsi:type="dcterms:W3CDTF">2004-07-27T21:05:42Z</dcterms:created>
  <dcterms:modified xsi:type="dcterms:W3CDTF">2025-06-10T08:30:55Z</dcterms:modified>
  <cp:category>scientific poster PowerPoint</cp:category>
</cp:coreProperties>
</file>