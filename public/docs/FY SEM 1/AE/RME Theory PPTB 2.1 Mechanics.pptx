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96" r:id="rId24"/>
    <p:sldId id="284" r:id="rId25"/>
    <p:sldId id="285" r:id="rId26"/>
    <p:sldId id="286" r:id="rId27"/>
    <p:sldId id="287" r:id="rId28"/>
    <p:sldId id="289" r:id="rId29"/>
    <p:sldId id="291" r:id="rId30"/>
    <p:sldId id="292" r:id="rId31"/>
    <p:sldId id="293" r:id="rId32"/>
    <p:sldId id="294" r:id="rId33"/>
    <p:sldId id="295" r:id="rId3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-456" y="2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HMK</a:t>
            </a:r>
          </a:p>
        </p:txBody>
      </p:sp>
      <p:grpSp>
        <p:nvGrpSpPr>
          <p:cNvPr id="2" name="Group 19"/>
          <p:cNvGrpSpPr/>
          <p:nvPr/>
        </p:nvGrpSpPr>
        <p:grpSpPr>
          <a:xfrm>
            <a:off x="914400" y="171450"/>
            <a:ext cx="2209800" cy="3200400"/>
            <a:chOff x="5429250" y="1490663"/>
            <a:chExt cx="2266950" cy="3876675"/>
          </a:xfrm>
        </p:grpSpPr>
        <p:pic>
          <p:nvPicPr>
            <p:cNvPr id="15" name="Picture 3" descr="D:\Harshavardhan\datafolder\hmksave\hmk vit\VIT 2018-20\AY 20202021 New Robotics Course\RMC Theory Lectures PPTs Videos  and Notes etc\Images For Lect 5 Electrical Elex\water bottle 1 - Copy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29250" y="1490663"/>
              <a:ext cx="2266950" cy="3876675"/>
            </a:xfrm>
            <a:prstGeom prst="rect">
              <a:avLst/>
            </a:prstGeom>
            <a:noFill/>
          </p:spPr>
        </p:pic>
        <p:sp>
          <p:nvSpPr>
            <p:cNvPr id="16" name="Freeform 15"/>
            <p:cNvSpPr/>
            <p:nvPr/>
          </p:nvSpPr>
          <p:spPr>
            <a:xfrm>
              <a:off x="5791200" y="3429000"/>
              <a:ext cx="1160696" cy="1822137"/>
            </a:xfrm>
            <a:custGeom>
              <a:avLst/>
              <a:gdLst>
                <a:gd name="connsiteX0" fmla="*/ 172387 w 1396583"/>
                <a:gd name="connsiteY0" fmla="*/ 152400 h 1846288"/>
                <a:gd name="connsiteX1" fmla="*/ 187377 w 1396583"/>
                <a:gd name="connsiteY1" fmla="*/ 1111771 h 1846288"/>
                <a:gd name="connsiteX2" fmla="*/ 127416 w 1396583"/>
                <a:gd name="connsiteY2" fmla="*/ 1636426 h 1846288"/>
                <a:gd name="connsiteX3" fmla="*/ 322288 w 1396583"/>
                <a:gd name="connsiteY3" fmla="*/ 1816308 h 1846288"/>
                <a:gd name="connsiteX4" fmla="*/ 1011836 w 1396583"/>
                <a:gd name="connsiteY4" fmla="*/ 1816308 h 1846288"/>
                <a:gd name="connsiteX5" fmla="*/ 1221698 w 1396583"/>
                <a:gd name="connsiteY5" fmla="*/ 1681397 h 1846288"/>
                <a:gd name="connsiteX6" fmla="*/ 1221698 w 1396583"/>
                <a:gd name="connsiteY6" fmla="*/ 1276662 h 1846288"/>
                <a:gd name="connsiteX7" fmla="*/ 1221698 w 1396583"/>
                <a:gd name="connsiteY7" fmla="*/ 197371 h 1846288"/>
                <a:gd name="connsiteX8" fmla="*/ 172387 w 1396583"/>
                <a:gd name="connsiteY8" fmla="*/ 152400 h 1846288"/>
                <a:gd name="connsiteX0" fmla="*/ 172387 w 1393044"/>
                <a:gd name="connsiteY0" fmla="*/ 152400 h 1846288"/>
                <a:gd name="connsiteX1" fmla="*/ 187377 w 1393044"/>
                <a:gd name="connsiteY1" fmla="*/ 1111771 h 1846288"/>
                <a:gd name="connsiteX2" fmla="*/ 127416 w 1393044"/>
                <a:gd name="connsiteY2" fmla="*/ 1636426 h 1846288"/>
                <a:gd name="connsiteX3" fmla="*/ 322288 w 1393044"/>
                <a:gd name="connsiteY3" fmla="*/ 1816308 h 1846288"/>
                <a:gd name="connsiteX4" fmla="*/ 1011836 w 1393044"/>
                <a:gd name="connsiteY4" fmla="*/ 1816308 h 1846288"/>
                <a:gd name="connsiteX5" fmla="*/ 1221698 w 1393044"/>
                <a:gd name="connsiteY5" fmla="*/ 1681397 h 1846288"/>
                <a:gd name="connsiteX6" fmla="*/ 1221698 w 1393044"/>
                <a:gd name="connsiteY6" fmla="*/ 1276662 h 1846288"/>
                <a:gd name="connsiteX7" fmla="*/ 1200462 w 1393044"/>
                <a:gd name="connsiteY7" fmla="*/ 547141 h 1846288"/>
                <a:gd name="connsiteX8" fmla="*/ 1221698 w 1393044"/>
                <a:gd name="connsiteY8" fmla="*/ 197371 h 1846288"/>
                <a:gd name="connsiteX9" fmla="*/ 172387 w 1393044"/>
                <a:gd name="connsiteY9" fmla="*/ 152400 h 1846288"/>
                <a:gd name="connsiteX0" fmla="*/ 168847 w 1368268"/>
                <a:gd name="connsiteY0" fmla="*/ 144905 h 1838793"/>
                <a:gd name="connsiteX1" fmla="*/ 183837 w 1368268"/>
                <a:gd name="connsiteY1" fmla="*/ 1104276 h 1838793"/>
                <a:gd name="connsiteX2" fmla="*/ 123876 w 1368268"/>
                <a:gd name="connsiteY2" fmla="*/ 1628931 h 1838793"/>
                <a:gd name="connsiteX3" fmla="*/ 318748 w 1368268"/>
                <a:gd name="connsiteY3" fmla="*/ 1808813 h 1838793"/>
                <a:gd name="connsiteX4" fmla="*/ 1008296 w 1368268"/>
                <a:gd name="connsiteY4" fmla="*/ 1808813 h 1838793"/>
                <a:gd name="connsiteX5" fmla="*/ 1218158 w 1368268"/>
                <a:gd name="connsiteY5" fmla="*/ 1673902 h 1838793"/>
                <a:gd name="connsiteX6" fmla="*/ 1218158 w 1368268"/>
                <a:gd name="connsiteY6" fmla="*/ 1269167 h 1838793"/>
                <a:gd name="connsiteX7" fmla="*/ 1196922 w 1368268"/>
                <a:gd name="connsiteY7" fmla="*/ 539646 h 1838793"/>
                <a:gd name="connsiteX8" fmla="*/ 1196922 w 1368268"/>
                <a:gd name="connsiteY8" fmla="*/ 234846 h 1838793"/>
                <a:gd name="connsiteX9" fmla="*/ 168847 w 1368268"/>
                <a:gd name="connsiteY9" fmla="*/ 144905 h 1838793"/>
                <a:gd name="connsiteX0" fmla="*/ 168847 w 1253135"/>
                <a:gd name="connsiteY0" fmla="*/ 144905 h 1838793"/>
                <a:gd name="connsiteX1" fmla="*/ 183837 w 1253135"/>
                <a:gd name="connsiteY1" fmla="*/ 1104276 h 1838793"/>
                <a:gd name="connsiteX2" fmla="*/ 123876 w 1253135"/>
                <a:gd name="connsiteY2" fmla="*/ 1628931 h 1838793"/>
                <a:gd name="connsiteX3" fmla="*/ 318748 w 1253135"/>
                <a:gd name="connsiteY3" fmla="*/ 1808813 h 1838793"/>
                <a:gd name="connsiteX4" fmla="*/ 1008296 w 1253135"/>
                <a:gd name="connsiteY4" fmla="*/ 1808813 h 1838793"/>
                <a:gd name="connsiteX5" fmla="*/ 1218158 w 1253135"/>
                <a:gd name="connsiteY5" fmla="*/ 1673902 h 1838793"/>
                <a:gd name="connsiteX6" fmla="*/ 1218158 w 1253135"/>
                <a:gd name="connsiteY6" fmla="*/ 1269167 h 1838793"/>
                <a:gd name="connsiteX7" fmla="*/ 1196922 w 1253135"/>
                <a:gd name="connsiteY7" fmla="*/ 539646 h 1838793"/>
                <a:gd name="connsiteX8" fmla="*/ 1196922 w 1253135"/>
                <a:gd name="connsiteY8" fmla="*/ 234846 h 1838793"/>
                <a:gd name="connsiteX9" fmla="*/ 168847 w 1253135"/>
                <a:gd name="connsiteY9" fmla="*/ 144905 h 1838793"/>
                <a:gd name="connsiteX0" fmla="*/ 186336 w 1270624"/>
                <a:gd name="connsiteY0" fmla="*/ 144905 h 1838793"/>
                <a:gd name="connsiteX1" fmla="*/ 223812 w 1270624"/>
                <a:gd name="connsiteY1" fmla="*/ 463446 h 1838793"/>
                <a:gd name="connsiteX2" fmla="*/ 201326 w 1270624"/>
                <a:gd name="connsiteY2" fmla="*/ 1104276 h 1838793"/>
                <a:gd name="connsiteX3" fmla="*/ 141365 w 1270624"/>
                <a:gd name="connsiteY3" fmla="*/ 1628931 h 1838793"/>
                <a:gd name="connsiteX4" fmla="*/ 336237 w 1270624"/>
                <a:gd name="connsiteY4" fmla="*/ 1808813 h 1838793"/>
                <a:gd name="connsiteX5" fmla="*/ 1025785 w 1270624"/>
                <a:gd name="connsiteY5" fmla="*/ 1808813 h 1838793"/>
                <a:gd name="connsiteX6" fmla="*/ 1235647 w 1270624"/>
                <a:gd name="connsiteY6" fmla="*/ 1673902 h 1838793"/>
                <a:gd name="connsiteX7" fmla="*/ 1235647 w 1270624"/>
                <a:gd name="connsiteY7" fmla="*/ 1269167 h 1838793"/>
                <a:gd name="connsiteX8" fmla="*/ 1214411 w 1270624"/>
                <a:gd name="connsiteY8" fmla="*/ 539646 h 1838793"/>
                <a:gd name="connsiteX9" fmla="*/ 1214411 w 1270624"/>
                <a:gd name="connsiteY9" fmla="*/ 234846 h 1838793"/>
                <a:gd name="connsiteX10" fmla="*/ 186336 w 1270624"/>
                <a:gd name="connsiteY10" fmla="*/ 144905 h 1838793"/>
                <a:gd name="connsiteX0" fmla="*/ 186336 w 1233148"/>
                <a:gd name="connsiteY0" fmla="*/ 144905 h 1901252"/>
                <a:gd name="connsiteX1" fmla="*/ 186336 w 1233148"/>
                <a:gd name="connsiteY1" fmla="*/ 525905 h 1901252"/>
                <a:gd name="connsiteX2" fmla="*/ 163850 w 1233148"/>
                <a:gd name="connsiteY2" fmla="*/ 1166735 h 1901252"/>
                <a:gd name="connsiteX3" fmla="*/ 103889 w 1233148"/>
                <a:gd name="connsiteY3" fmla="*/ 1691390 h 1901252"/>
                <a:gd name="connsiteX4" fmla="*/ 298761 w 1233148"/>
                <a:gd name="connsiteY4" fmla="*/ 1871272 h 1901252"/>
                <a:gd name="connsiteX5" fmla="*/ 988309 w 1233148"/>
                <a:gd name="connsiteY5" fmla="*/ 1871272 h 1901252"/>
                <a:gd name="connsiteX6" fmla="*/ 1198171 w 1233148"/>
                <a:gd name="connsiteY6" fmla="*/ 1736361 h 1901252"/>
                <a:gd name="connsiteX7" fmla="*/ 1198171 w 1233148"/>
                <a:gd name="connsiteY7" fmla="*/ 1331626 h 1901252"/>
                <a:gd name="connsiteX8" fmla="*/ 1176935 w 1233148"/>
                <a:gd name="connsiteY8" fmla="*/ 602105 h 1901252"/>
                <a:gd name="connsiteX9" fmla="*/ 1176935 w 1233148"/>
                <a:gd name="connsiteY9" fmla="*/ 297305 h 1901252"/>
                <a:gd name="connsiteX10" fmla="*/ 186336 w 1233148"/>
                <a:gd name="connsiteY10" fmla="*/ 144905 h 1901252"/>
                <a:gd name="connsiteX0" fmla="*/ 104932 w 1151744"/>
                <a:gd name="connsiteY0" fmla="*/ 144905 h 1901252"/>
                <a:gd name="connsiteX1" fmla="*/ 104932 w 1151744"/>
                <a:gd name="connsiteY1" fmla="*/ 525905 h 1901252"/>
                <a:gd name="connsiteX2" fmla="*/ 82446 w 1151744"/>
                <a:gd name="connsiteY2" fmla="*/ 1166735 h 1901252"/>
                <a:gd name="connsiteX3" fmla="*/ 22485 w 1151744"/>
                <a:gd name="connsiteY3" fmla="*/ 1691390 h 1901252"/>
                <a:gd name="connsiteX4" fmla="*/ 217357 w 1151744"/>
                <a:gd name="connsiteY4" fmla="*/ 1871272 h 1901252"/>
                <a:gd name="connsiteX5" fmla="*/ 906905 w 1151744"/>
                <a:gd name="connsiteY5" fmla="*/ 1871272 h 1901252"/>
                <a:gd name="connsiteX6" fmla="*/ 1116767 w 1151744"/>
                <a:gd name="connsiteY6" fmla="*/ 1736361 h 1901252"/>
                <a:gd name="connsiteX7" fmla="*/ 1116767 w 1151744"/>
                <a:gd name="connsiteY7" fmla="*/ 1331626 h 1901252"/>
                <a:gd name="connsiteX8" fmla="*/ 1095531 w 1151744"/>
                <a:gd name="connsiteY8" fmla="*/ 602105 h 1901252"/>
                <a:gd name="connsiteX9" fmla="*/ 1095531 w 1151744"/>
                <a:gd name="connsiteY9" fmla="*/ 297305 h 1901252"/>
                <a:gd name="connsiteX10" fmla="*/ 104932 w 1151744"/>
                <a:gd name="connsiteY10" fmla="*/ 144905 h 1901252"/>
                <a:gd name="connsiteX0" fmla="*/ 104932 w 1151744"/>
                <a:gd name="connsiteY0" fmla="*/ 0 h 1756347"/>
                <a:gd name="connsiteX1" fmla="*/ 104932 w 1151744"/>
                <a:gd name="connsiteY1" fmla="*/ 381000 h 1756347"/>
                <a:gd name="connsiteX2" fmla="*/ 82446 w 1151744"/>
                <a:gd name="connsiteY2" fmla="*/ 1021830 h 1756347"/>
                <a:gd name="connsiteX3" fmla="*/ 22485 w 1151744"/>
                <a:gd name="connsiteY3" fmla="*/ 1546485 h 1756347"/>
                <a:gd name="connsiteX4" fmla="*/ 217357 w 1151744"/>
                <a:gd name="connsiteY4" fmla="*/ 1726367 h 1756347"/>
                <a:gd name="connsiteX5" fmla="*/ 906905 w 1151744"/>
                <a:gd name="connsiteY5" fmla="*/ 1726367 h 1756347"/>
                <a:gd name="connsiteX6" fmla="*/ 1116767 w 1151744"/>
                <a:gd name="connsiteY6" fmla="*/ 1591456 h 1756347"/>
                <a:gd name="connsiteX7" fmla="*/ 1116767 w 1151744"/>
                <a:gd name="connsiteY7" fmla="*/ 1186721 h 1756347"/>
                <a:gd name="connsiteX8" fmla="*/ 1095531 w 1151744"/>
                <a:gd name="connsiteY8" fmla="*/ 457200 h 1756347"/>
                <a:gd name="connsiteX9" fmla="*/ 1095531 w 1151744"/>
                <a:gd name="connsiteY9" fmla="*/ 152400 h 1756347"/>
                <a:gd name="connsiteX10" fmla="*/ 104932 w 1151744"/>
                <a:gd name="connsiteY10" fmla="*/ 0 h 1756347"/>
                <a:gd name="connsiteX0" fmla="*/ 104932 w 1151744"/>
                <a:gd name="connsiteY0" fmla="*/ 65790 h 1822137"/>
                <a:gd name="connsiteX1" fmla="*/ 104932 w 1151744"/>
                <a:gd name="connsiteY1" fmla="*/ 446790 h 1822137"/>
                <a:gd name="connsiteX2" fmla="*/ 82446 w 1151744"/>
                <a:gd name="connsiteY2" fmla="*/ 1087620 h 1822137"/>
                <a:gd name="connsiteX3" fmla="*/ 22485 w 1151744"/>
                <a:gd name="connsiteY3" fmla="*/ 1612275 h 1822137"/>
                <a:gd name="connsiteX4" fmla="*/ 217357 w 1151744"/>
                <a:gd name="connsiteY4" fmla="*/ 1792157 h 1822137"/>
                <a:gd name="connsiteX5" fmla="*/ 906905 w 1151744"/>
                <a:gd name="connsiteY5" fmla="*/ 1792157 h 1822137"/>
                <a:gd name="connsiteX6" fmla="*/ 1116767 w 1151744"/>
                <a:gd name="connsiteY6" fmla="*/ 1657246 h 1822137"/>
                <a:gd name="connsiteX7" fmla="*/ 1116767 w 1151744"/>
                <a:gd name="connsiteY7" fmla="*/ 1252511 h 1822137"/>
                <a:gd name="connsiteX8" fmla="*/ 1095531 w 1151744"/>
                <a:gd name="connsiteY8" fmla="*/ 522990 h 1822137"/>
                <a:gd name="connsiteX9" fmla="*/ 1095532 w 1151744"/>
                <a:gd name="connsiteY9" fmla="*/ 65790 h 1822137"/>
                <a:gd name="connsiteX10" fmla="*/ 104932 w 1151744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04483 w 1160696"/>
                <a:gd name="connsiteY8" fmla="*/ 52299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43000 w 1160696"/>
                <a:gd name="connsiteY8" fmla="*/ 45720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0696" h="1822137">
                  <a:moveTo>
                    <a:pt x="113884" y="65790"/>
                  </a:moveTo>
                  <a:cubicBezTo>
                    <a:pt x="72453" y="127000"/>
                    <a:pt x="126584" y="281690"/>
                    <a:pt x="113884" y="446790"/>
                  </a:cubicBezTo>
                  <a:cubicBezTo>
                    <a:pt x="101184" y="611890"/>
                    <a:pt x="51425" y="862143"/>
                    <a:pt x="37684" y="1056390"/>
                  </a:cubicBezTo>
                  <a:cubicBezTo>
                    <a:pt x="23943" y="1250637"/>
                    <a:pt x="0" y="1489647"/>
                    <a:pt x="31437" y="1612275"/>
                  </a:cubicBezTo>
                  <a:cubicBezTo>
                    <a:pt x="62874" y="1734903"/>
                    <a:pt x="78906" y="1762177"/>
                    <a:pt x="226309" y="1792157"/>
                  </a:cubicBezTo>
                  <a:cubicBezTo>
                    <a:pt x="373712" y="1822137"/>
                    <a:pt x="765955" y="1814642"/>
                    <a:pt x="915857" y="1792157"/>
                  </a:cubicBezTo>
                  <a:cubicBezTo>
                    <a:pt x="1065759" y="1769672"/>
                    <a:pt x="1090742" y="1747187"/>
                    <a:pt x="1125719" y="1657246"/>
                  </a:cubicBezTo>
                  <a:cubicBezTo>
                    <a:pt x="1160696" y="1567305"/>
                    <a:pt x="1122839" y="1452519"/>
                    <a:pt x="1125719" y="1252511"/>
                  </a:cubicBezTo>
                  <a:cubicBezTo>
                    <a:pt x="1128599" y="1052503"/>
                    <a:pt x="1146539" y="654987"/>
                    <a:pt x="1143000" y="457200"/>
                  </a:cubicBezTo>
                  <a:cubicBezTo>
                    <a:pt x="1139461" y="259413"/>
                    <a:pt x="1069715" y="85360"/>
                    <a:pt x="1104484" y="65790"/>
                  </a:cubicBezTo>
                  <a:cubicBezTo>
                    <a:pt x="933138" y="0"/>
                    <a:pt x="317708" y="92023"/>
                    <a:pt x="113884" y="65790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2" descr="C:\Users\addmission\Desktop\image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7680" y="171450"/>
            <a:ext cx="4541520" cy="2971800"/>
          </a:xfrm>
          <a:prstGeom prst="rect">
            <a:avLst/>
          </a:prstGeom>
          <a:noFill/>
        </p:spPr>
      </p:pic>
      <p:grpSp>
        <p:nvGrpSpPr>
          <p:cNvPr id="3" name="Group 17"/>
          <p:cNvGrpSpPr/>
          <p:nvPr/>
        </p:nvGrpSpPr>
        <p:grpSpPr>
          <a:xfrm>
            <a:off x="914400" y="1885950"/>
            <a:ext cx="3962400" cy="3028950"/>
            <a:chOff x="990600" y="914400"/>
            <a:chExt cx="3962400" cy="4038600"/>
          </a:xfrm>
        </p:grpSpPr>
        <p:pic>
          <p:nvPicPr>
            <p:cNvPr id="19" name="Picture 18"/>
            <p:cNvPicPr/>
            <p:nvPr/>
          </p:nvPicPr>
          <p:blipFill>
            <a:blip r:embed="rId4" cstate="print"/>
            <a:srcRect l="32051" t="16517" r="33906" b="39339"/>
            <a:stretch>
              <a:fillRect/>
            </a:stretch>
          </p:blipFill>
          <p:spPr bwMode="auto">
            <a:xfrm>
              <a:off x="990600" y="914400"/>
              <a:ext cx="3886200" cy="312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38"/>
            <p:cNvGrpSpPr/>
            <p:nvPr/>
          </p:nvGrpSpPr>
          <p:grpSpPr>
            <a:xfrm>
              <a:off x="990600" y="4038600"/>
              <a:ext cx="3962400" cy="914400"/>
              <a:chOff x="3276600" y="4495800"/>
              <a:chExt cx="5029200" cy="10668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3276600" y="4495800"/>
                <a:ext cx="5029200" cy="1066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>
                <a:off x="6096000" y="4875212"/>
                <a:ext cx="7620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/>
              <p:cNvSpPr/>
              <p:nvPr/>
            </p:nvSpPr>
            <p:spPr>
              <a:xfrm>
                <a:off x="74676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F1</a:t>
                </a:r>
                <a:endPara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4770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F2</a:t>
                </a:r>
                <a:endPara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47244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F3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6576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F4</a:t>
                </a:r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>
                <a:off x="7086600" y="4875212"/>
                <a:ext cx="7620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rot="10800000" flipV="1">
                <a:off x="4800600" y="4876800"/>
                <a:ext cx="8382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rot="10800000" flipV="1">
                <a:off x="3733801" y="4878388"/>
                <a:ext cx="8382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rot="10800000">
                <a:off x="3429001" y="4876800"/>
                <a:ext cx="4648200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dash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38"/>
          <p:cNvGrpSpPr/>
          <p:nvPr/>
        </p:nvGrpSpPr>
        <p:grpSpPr>
          <a:xfrm>
            <a:off x="4648200" y="1143000"/>
            <a:ext cx="4191000" cy="3829050"/>
            <a:chOff x="5029200" y="990600"/>
            <a:chExt cx="3810000" cy="4800600"/>
          </a:xfrm>
        </p:grpSpPr>
        <p:pic>
          <p:nvPicPr>
            <p:cNvPr id="32" name="Picture 4"/>
            <p:cNvPicPr>
              <a:picLocks noChangeAspect="1" noChangeArrowheads="1"/>
            </p:cNvPicPr>
            <p:nvPr/>
          </p:nvPicPr>
          <p:blipFill>
            <a:blip r:embed="rId5" cstate="print">
              <a:lum bright="43000" contrast="48000"/>
            </a:blip>
            <a:srcRect l="17213"/>
            <a:stretch>
              <a:fillRect/>
            </a:stretch>
          </p:blipFill>
          <p:spPr bwMode="auto">
            <a:xfrm>
              <a:off x="5052067" y="2133600"/>
              <a:ext cx="3787133" cy="304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3" name="Rectangle 32"/>
            <p:cNvSpPr/>
            <p:nvPr/>
          </p:nvSpPr>
          <p:spPr>
            <a:xfrm>
              <a:off x="5029200" y="5257800"/>
              <a:ext cx="3810000" cy="5334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NON CONCURRENT FORCES 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029200" y="990600"/>
              <a:ext cx="3810000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t"/>
              <a:r>
                <a: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Lines of action are passing through</a:t>
              </a:r>
              <a:r>
                <a:rPr lang="en-US" sz="20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 multiple points.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rot="5400000">
              <a:off x="6172200" y="1752600"/>
              <a:ext cx="762000" cy="609600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34" idx="2"/>
            </p:cNvCxnSpPr>
            <p:nvPr/>
          </p:nvCxnSpPr>
          <p:spPr>
            <a:xfrm rot="5400000">
              <a:off x="5676900" y="2247900"/>
              <a:ext cx="1828800" cy="685800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16200000" flipH="1">
              <a:off x="6781800" y="1981200"/>
              <a:ext cx="1295400" cy="685800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16200000" flipH="1">
              <a:off x="6172199" y="2514601"/>
              <a:ext cx="2209802" cy="533399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 rot="20847134">
            <a:off x="1688467" y="1242362"/>
            <a:ext cx="6110202" cy="1995111"/>
          </a:xfrm>
          <a:prstGeom prst="rect">
            <a:avLst/>
          </a:prstGeom>
          <a:blipFill>
            <a:blip r:embed="rId6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Mechanics – 2.1 </a:t>
            </a:r>
          </a:p>
          <a:p>
            <a:pPr algn="ctr"/>
            <a:r>
              <a:rPr lang="en-US" sz="4400" b="1" dirty="0" smtClean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Basics of Mechanics</a:t>
            </a:r>
            <a:endParaRPr lang="en-US" sz="115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2800" b="1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FY – DESH – VIT</a:t>
            </a:r>
          </a:p>
          <a:p>
            <a:pPr algn="ctr"/>
            <a:endParaRPr lang="en-US" sz="9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6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40" name="Picture 4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1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43200" y="114300"/>
            <a:ext cx="3352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What is Mechanics ?</a:t>
            </a:r>
            <a:endParaRPr lang="en-US" sz="24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62000" y="613142"/>
            <a:ext cx="7924800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ea typeface="Verdana" pitchFamily="34" charset="0"/>
                <a:cs typeface="Arial" pitchFamily="34" charset="0"/>
              </a:rPr>
              <a:t>It is the study of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behavior of matter under the action of applied Forces.</a:t>
            </a:r>
          </a:p>
          <a:p>
            <a:pPr algn="just"/>
            <a:endParaRPr lang="en-US" sz="1100" dirty="0">
              <a:solidFill>
                <a:srgbClr val="0000FF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ea typeface="Verdana" pitchFamily="34" charset="0"/>
                <a:cs typeface="Arial" pitchFamily="34" charset="0"/>
              </a:rPr>
              <a:t>It is a science that deals with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study of Physical phenomenon.</a:t>
            </a:r>
            <a:endParaRPr lang="en-US" b="1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28800" y="1500485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What is Engineering Mechanics ?</a:t>
            </a:r>
            <a:endParaRPr lang="en-US" b="1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1885950"/>
            <a:ext cx="7315200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It deals with …..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1)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Laws and principles of Mechanics.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2) Application to the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Engineering problems.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33750"/>
            <a:ext cx="77724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helps an Engineer in …..</a:t>
            </a:r>
          </a:p>
          <a:p>
            <a:pPr marL="457200" indent="-457200" algn="just" fontAlgn="t">
              <a:buAutoNum type="arabicParenR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planning 2) designing 3) construction of various types of structures and machines. </a:t>
            </a:r>
          </a:p>
          <a:p>
            <a:pPr marL="457200" indent="-457200" algn="just" fontAlgn="t"/>
            <a:endParaRPr lang="en-US" sz="105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 algn="just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e.g.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Robots.</a:t>
            </a:r>
            <a:endParaRPr lang="en-US" sz="1600" b="1" dirty="0">
              <a:solidFill>
                <a:srgbClr val="0000FF"/>
              </a:solidFill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0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Roll of CG in Robotics</a:t>
            </a:r>
            <a:endParaRPr lang="en-US" sz="24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Picture 3" descr="D:\Harshavardhan\datafolder\hmksave\hmk vit\VIT 2018-20\AY 20202021 New Robotics Course\RMC Theory Lectures PPTs Videos  and Notes etc\Images For Lect 5 Electrical Elex\water bottle 1 - Cop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628651"/>
            <a:ext cx="1504950" cy="2907506"/>
          </a:xfrm>
          <a:prstGeom prst="rect">
            <a:avLst/>
          </a:prstGeom>
          <a:noFill/>
        </p:spPr>
      </p:pic>
      <p:grpSp>
        <p:nvGrpSpPr>
          <p:cNvPr id="2" name="Group 19"/>
          <p:cNvGrpSpPr/>
          <p:nvPr/>
        </p:nvGrpSpPr>
        <p:grpSpPr>
          <a:xfrm>
            <a:off x="3752850" y="628651"/>
            <a:ext cx="1504950" cy="2907506"/>
            <a:chOff x="5429250" y="1490663"/>
            <a:chExt cx="2266950" cy="3876675"/>
          </a:xfrm>
        </p:grpSpPr>
        <p:pic>
          <p:nvPicPr>
            <p:cNvPr id="22" name="Picture 3" descr="D:\Harshavardhan\datafolder\hmksave\hmk vit\VIT 2018-20\AY 20202021 New Robotics Course\RMC Theory Lectures PPTs Videos  and Notes etc\Images For Lect 5 Electrical Elex\water bottle 1 - Copy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29250" y="1490663"/>
              <a:ext cx="2266950" cy="3876675"/>
            </a:xfrm>
            <a:prstGeom prst="rect">
              <a:avLst/>
            </a:prstGeom>
            <a:noFill/>
          </p:spPr>
        </p:pic>
        <p:sp>
          <p:nvSpPr>
            <p:cNvPr id="23" name="Freeform 22"/>
            <p:cNvSpPr/>
            <p:nvPr/>
          </p:nvSpPr>
          <p:spPr>
            <a:xfrm>
              <a:off x="5791200" y="3429000"/>
              <a:ext cx="1160696" cy="1822137"/>
            </a:xfrm>
            <a:custGeom>
              <a:avLst/>
              <a:gdLst>
                <a:gd name="connsiteX0" fmla="*/ 172387 w 1396583"/>
                <a:gd name="connsiteY0" fmla="*/ 152400 h 1846288"/>
                <a:gd name="connsiteX1" fmla="*/ 187377 w 1396583"/>
                <a:gd name="connsiteY1" fmla="*/ 1111771 h 1846288"/>
                <a:gd name="connsiteX2" fmla="*/ 127416 w 1396583"/>
                <a:gd name="connsiteY2" fmla="*/ 1636426 h 1846288"/>
                <a:gd name="connsiteX3" fmla="*/ 322288 w 1396583"/>
                <a:gd name="connsiteY3" fmla="*/ 1816308 h 1846288"/>
                <a:gd name="connsiteX4" fmla="*/ 1011836 w 1396583"/>
                <a:gd name="connsiteY4" fmla="*/ 1816308 h 1846288"/>
                <a:gd name="connsiteX5" fmla="*/ 1221698 w 1396583"/>
                <a:gd name="connsiteY5" fmla="*/ 1681397 h 1846288"/>
                <a:gd name="connsiteX6" fmla="*/ 1221698 w 1396583"/>
                <a:gd name="connsiteY6" fmla="*/ 1276662 h 1846288"/>
                <a:gd name="connsiteX7" fmla="*/ 1221698 w 1396583"/>
                <a:gd name="connsiteY7" fmla="*/ 197371 h 1846288"/>
                <a:gd name="connsiteX8" fmla="*/ 172387 w 1396583"/>
                <a:gd name="connsiteY8" fmla="*/ 152400 h 1846288"/>
                <a:gd name="connsiteX0" fmla="*/ 172387 w 1393044"/>
                <a:gd name="connsiteY0" fmla="*/ 152400 h 1846288"/>
                <a:gd name="connsiteX1" fmla="*/ 187377 w 1393044"/>
                <a:gd name="connsiteY1" fmla="*/ 1111771 h 1846288"/>
                <a:gd name="connsiteX2" fmla="*/ 127416 w 1393044"/>
                <a:gd name="connsiteY2" fmla="*/ 1636426 h 1846288"/>
                <a:gd name="connsiteX3" fmla="*/ 322288 w 1393044"/>
                <a:gd name="connsiteY3" fmla="*/ 1816308 h 1846288"/>
                <a:gd name="connsiteX4" fmla="*/ 1011836 w 1393044"/>
                <a:gd name="connsiteY4" fmla="*/ 1816308 h 1846288"/>
                <a:gd name="connsiteX5" fmla="*/ 1221698 w 1393044"/>
                <a:gd name="connsiteY5" fmla="*/ 1681397 h 1846288"/>
                <a:gd name="connsiteX6" fmla="*/ 1221698 w 1393044"/>
                <a:gd name="connsiteY6" fmla="*/ 1276662 h 1846288"/>
                <a:gd name="connsiteX7" fmla="*/ 1200462 w 1393044"/>
                <a:gd name="connsiteY7" fmla="*/ 547141 h 1846288"/>
                <a:gd name="connsiteX8" fmla="*/ 1221698 w 1393044"/>
                <a:gd name="connsiteY8" fmla="*/ 197371 h 1846288"/>
                <a:gd name="connsiteX9" fmla="*/ 172387 w 1393044"/>
                <a:gd name="connsiteY9" fmla="*/ 152400 h 1846288"/>
                <a:gd name="connsiteX0" fmla="*/ 168847 w 1368268"/>
                <a:gd name="connsiteY0" fmla="*/ 144905 h 1838793"/>
                <a:gd name="connsiteX1" fmla="*/ 183837 w 1368268"/>
                <a:gd name="connsiteY1" fmla="*/ 1104276 h 1838793"/>
                <a:gd name="connsiteX2" fmla="*/ 123876 w 1368268"/>
                <a:gd name="connsiteY2" fmla="*/ 1628931 h 1838793"/>
                <a:gd name="connsiteX3" fmla="*/ 318748 w 1368268"/>
                <a:gd name="connsiteY3" fmla="*/ 1808813 h 1838793"/>
                <a:gd name="connsiteX4" fmla="*/ 1008296 w 1368268"/>
                <a:gd name="connsiteY4" fmla="*/ 1808813 h 1838793"/>
                <a:gd name="connsiteX5" fmla="*/ 1218158 w 1368268"/>
                <a:gd name="connsiteY5" fmla="*/ 1673902 h 1838793"/>
                <a:gd name="connsiteX6" fmla="*/ 1218158 w 1368268"/>
                <a:gd name="connsiteY6" fmla="*/ 1269167 h 1838793"/>
                <a:gd name="connsiteX7" fmla="*/ 1196922 w 1368268"/>
                <a:gd name="connsiteY7" fmla="*/ 539646 h 1838793"/>
                <a:gd name="connsiteX8" fmla="*/ 1196922 w 1368268"/>
                <a:gd name="connsiteY8" fmla="*/ 234846 h 1838793"/>
                <a:gd name="connsiteX9" fmla="*/ 168847 w 1368268"/>
                <a:gd name="connsiteY9" fmla="*/ 144905 h 1838793"/>
                <a:gd name="connsiteX0" fmla="*/ 168847 w 1253135"/>
                <a:gd name="connsiteY0" fmla="*/ 144905 h 1838793"/>
                <a:gd name="connsiteX1" fmla="*/ 183837 w 1253135"/>
                <a:gd name="connsiteY1" fmla="*/ 1104276 h 1838793"/>
                <a:gd name="connsiteX2" fmla="*/ 123876 w 1253135"/>
                <a:gd name="connsiteY2" fmla="*/ 1628931 h 1838793"/>
                <a:gd name="connsiteX3" fmla="*/ 318748 w 1253135"/>
                <a:gd name="connsiteY3" fmla="*/ 1808813 h 1838793"/>
                <a:gd name="connsiteX4" fmla="*/ 1008296 w 1253135"/>
                <a:gd name="connsiteY4" fmla="*/ 1808813 h 1838793"/>
                <a:gd name="connsiteX5" fmla="*/ 1218158 w 1253135"/>
                <a:gd name="connsiteY5" fmla="*/ 1673902 h 1838793"/>
                <a:gd name="connsiteX6" fmla="*/ 1218158 w 1253135"/>
                <a:gd name="connsiteY6" fmla="*/ 1269167 h 1838793"/>
                <a:gd name="connsiteX7" fmla="*/ 1196922 w 1253135"/>
                <a:gd name="connsiteY7" fmla="*/ 539646 h 1838793"/>
                <a:gd name="connsiteX8" fmla="*/ 1196922 w 1253135"/>
                <a:gd name="connsiteY8" fmla="*/ 234846 h 1838793"/>
                <a:gd name="connsiteX9" fmla="*/ 168847 w 1253135"/>
                <a:gd name="connsiteY9" fmla="*/ 144905 h 1838793"/>
                <a:gd name="connsiteX0" fmla="*/ 186336 w 1270624"/>
                <a:gd name="connsiteY0" fmla="*/ 144905 h 1838793"/>
                <a:gd name="connsiteX1" fmla="*/ 223812 w 1270624"/>
                <a:gd name="connsiteY1" fmla="*/ 463446 h 1838793"/>
                <a:gd name="connsiteX2" fmla="*/ 201326 w 1270624"/>
                <a:gd name="connsiteY2" fmla="*/ 1104276 h 1838793"/>
                <a:gd name="connsiteX3" fmla="*/ 141365 w 1270624"/>
                <a:gd name="connsiteY3" fmla="*/ 1628931 h 1838793"/>
                <a:gd name="connsiteX4" fmla="*/ 336237 w 1270624"/>
                <a:gd name="connsiteY4" fmla="*/ 1808813 h 1838793"/>
                <a:gd name="connsiteX5" fmla="*/ 1025785 w 1270624"/>
                <a:gd name="connsiteY5" fmla="*/ 1808813 h 1838793"/>
                <a:gd name="connsiteX6" fmla="*/ 1235647 w 1270624"/>
                <a:gd name="connsiteY6" fmla="*/ 1673902 h 1838793"/>
                <a:gd name="connsiteX7" fmla="*/ 1235647 w 1270624"/>
                <a:gd name="connsiteY7" fmla="*/ 1269167 h 1838793"/>
                <a:gd name="connsiteX8" fmla="*/ 1214411 w 1270624"/>
                <a:gd name="connsiteY8" fmla="*/ 539646 h 1838793"/>
                <a:gd name="connsiteX9" fmla="*/ 1214411 w 1270624"/>
                <a:gd name="connsiteY9" fmla="*/ 234846 h 1838793"/>
                <a:gd name="connsiteX10" fmla="*/ 186336 w 1270624"/>
                <a:gd name="connsiteY10" fmla="*/ 144905 h 1838793"/>
                <a:gd name="connsiteX0" fmla="*/ 186336 w 1233148"/>
                <a:gd name="connsiteY0" fmla="*/ 144905 h 1901252"/>
                <a:gd name="connsiteX1" fmla="*/ 186336 w 1233148"/>
                <a:gd name="connsiteY1" fmla="*/ 525905 h 1901252"/>
                <a:gd name="connsiteX2" fmla="*/ 163850 w 1233148"/>
                <a:gd name="connsiteY2" fmla="*/ 1166735 h 1901252"/>
                <a:gd name="connsiteX3" fmla="*/ 103889 w 1233148"/>
                <a:gd name="connsiteY3" fmla="*/ 1691390 h 1901252"/>
                <a:gd name="connsiteX4" fmla="*/ 298761 w 1233148"/>
                <a:gd name="connsiteY4" fmla="*/ 1871272 h 1901252"/>
                <a:gd name="connsiteX5" fmla="*/ 988309 w 1233148"/>
                <a:gd name="connsiteY5" fmla="*/ 1871272 h 1901252"/>
                <a:gd name="connsiteX6" fmla="*/ 1198171 w 1233148"/>
                <a:gd name="connsiteY6" fmla="*/ 1736361 h 1901252"/>
                <a:gd name="connsiteX7" fmla="*/ 1198171 w 1233148"/>
                <a:gd name="connsiteY7" fmla="*/ 1331626 h 1901252"/>
                <a:gd name="connsiteX8" fmla="*/ 1176935 w 1233148"/>
                <a:gd name="connsiteY8" fmla="*/ 602105 h 1901252"/>
                <a:gd name="connsiteX9" fmla="*/ 1176935 w 1233148"/>
                <a:gd name="connsiteY9" fmla="*/ 297305 h 1901252"/>
                <a:gd name="connsiteX10" fmla="*/ 186336 w 1233148"/>
                <a:gd name="connsiteY10" fmla="*/ 144905 h 1901252"/>
                <a:gd name="connsiteX0" fmla="*/ 104932 w 1151744"/>
                <a:gd name="connsiteY0" fmla="*/ 144905 h 1901252"/>
                <a:gd name="connsiteX1" fmla="*/ 104932 w 1151744"/>
                <a:gd name="connsiteY1" fmla="*/ 525905 h 1901252"/>
                <a:gd name="connsiteX2" fmla="*/ 82446 w 1151744"/>
                <a:gd name="connsiteY2" fmla="*/ 1166735 h 1901252"/>
                <a:gd name="connsiteX3" fmla="*/ 22485 w 1151744"/>
                <a:gd name="connsiteY3" fmla="*/ 1691390 h 1901252"/>
                <a:gd name="connsiteX4" fmla="*/ 217357 w 1151744"/>
                <a:gd name="connsiteY4" fmla="*/ 1871272 h 1901252"/>
                <a:gd name="connsiteX5" fmla="*/ 906905 w 1151744"/>
                <a:gd name="connsiteY5" fmla="*/ 1871272 h 1901252"/>
                <a:gd name="connsiteX6" fmla="*/ 1116767 w 1151744"/>
                <a:gd name="connsiteY6" fmla="*/ 1736361 h 1901252"/>
                <a:gd name="connsiteX7" fmla="*/ 1116767 w 1151744"/>
                <a:gd name="connsiteY7" fmla="*/ 1331626 h 1901252"/>
                <a:gd name="connsiteX8" fmla="*/ 1095531 w 1151744"/>
                <a:gd name="connsiteY8" fmla="*/ 602105 h 1901252"/>
                <a:gd name="connsiteX9" fmla="*/ 1095531 w 1151744"/>
                <a:gd name="connsiteY9" fmla="*/ 297305 h 1901252"/>
                <a:gd name="connsiteX10" fmla="*/ 104932 w 1151744"/>
                <a:gd name="connsiteY10" fmla="*/ 144905 h 1901252"/>
                <a:gd name="connsiteX0" fmla="*/ 104932 w 1151744"/>
                <a:gd name="connsiteY0" fmla="*/ 0 h 1756347"/>
                <a:gd name="connsiteX1" fmla="*/ 104932 w 1151744"/>
                <a:gd name="connsiteY1" fmla="*/ 381000 h 1756347"/>
                <a:gd name="connsiteX2" fmla="*/ 82446 w 1151744"/>
                <a:gd name="connsiteY2" fmla="*/ 1021830 h 1756347"/>
                <a:gd name="connsiteX3" fmla="*/ 22485 w 1151744"/>
                <a:gd name="connsiteY3" fmla="*/ 1546485 h 1756347"/>
                <a:gd name="connsiteX4" fmla="*/ 217357 w 1151744"/>
                <a:gd name="connsiteY4" fmla="*/ 1726367 h 1756347"/>
                <a:gd name="connsiteX5" fmla="*/ 906905 w 1151744"/>
                <a:gd name="connsiteY5" fmla="*/ 1726367 h 1756347"/>
                <a:gd name="connsiteX6" fmla="*/ 1116767 w 1151744"/>
                <a:gd name="connsiteY6" fmla="*/ 1591456 h 1756347"/>
                <a:gd name="connsiteX7" fmla="*/ 1116767 w 1151744"/>
                <a:gd name="connsiteY7" fmla="*/ 1186721 h 1756347"/>
                <a:gd name="connsiteX8" fmla="*/ 1095531 w 1151744"/>
                <a:gd name="connsiteY8" fmla="*/ 457200 h 1756347"/>
                <a:gd name="connsiteX9" fmla="*/ 1095531 w 1151744"/>
                <a:gd name="connsiteY9" fmla="*/ 152400 h 1756347"/>
                <a:gd name="connsiteX10" fmla="*/ 104932 w 1151744"/>
                <a:gd name="connsiteY10" fmla="*/ 0 h 1756347"/>
                <a:gd name="connsiteX0" fmla="*/ 104932 w 1151744"/>
                <a:gd name="connsiteY0" fmla="*/ 65790 h 1822137"/>
                <a:gd name="connsiteX1" fmla="*/ 104932 w 1151744"/>
                <a:gd name="connsiteY1" fmla="*/ 446790 h 1822137"/>
                <a:gd name="connsiteX2" fmla="*/ 82446 w 1151744"/>
                <a:gd name="connsiteY2" fmla="*/ 1087620 h 1822137"/>
                <a:gd name="connsiteX3" fmla="*/ 22485 w 1151744"/>
                <a:gd name="connsiteY3" fmla="*/ 1612275 h 1822137"/>
                <a:gd name="connsiteX4" fmla="*/ 217357 w 1151744"/>
                <a:gd name="connsiteY4" fmla="*/ 1792157 h 1822137"/>
                <a:gd name="connsiteX5" fmla="*/ 906905 w 1151744"/>
                <a:gd name="connsiteY5" fmla="*/ 1792157 h 1822137"/>
                <a:gd name="connsiteX6" fmla="*/ 1116767 w 1151744"/>
                <a:gd name="connsiteY6" fmla="*/ 1657246 h 1822137"/>
                <a:gd name="connsiteX7" fmla="*/ 1116767 w 1151744"/>
                <a:gd name="connsiteY7" fmla="*/ 1252511 h 1822137"/>
                <a:gd name="connsiteX8" fmla="*/ 1095531 w 1151744"/>
                <a:gd name="connsiteY8" fmla="*/ 522990 h 1822137"/>
                <a:gd name="connsiteX9" fmla="*/ 1095532 w 1151744"/>
                <a:gd name="connsiteY9" fmla="*/ 65790 h 1822137"/>
                <a:gd name="connsiteX10" fmla="*/ 104932 w 1151744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04483 w 1160696"/>
                <a:gd name="connsiteY8" fmla="*/ 52299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43000 w 1160696"/>
                <a:gd name="connsiteY8" fmla="*/ 45720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0696" h="1822137">
                  <a:moveTo>
                    <a:pt x="113884" y="65790"/>
                  </a:moveTo>
                  <a:cubicBezTo>
                    <a:pt x="72453" y="127000"/>
                    <a:pt x="126584" y="281690"/>
                    <a:pt x="113884" y="446790"/>
                  </a:cubicBezTo>
                  <a:cubicBezTo>
                    <a:pt x="101184" y="611890"/>
                    <a:pt x="51425" y="862143"/>
                    <a:pt x="37684" y="1056390"/>
                  </a:cubicBezTo>
                  <a:cubicBezTo>
                    <a:pt x="23943" y="1250637"/>
                    <a:pt x="0" y="1489647"/>
                    <a:pt x="31437" y="1612275"/>
                  </a:cubicBezTo>
                  <a:cubicBezTo>
                    <a:pt x="62874" y="1734903"/>
                    <a:pt x="78906" y="1762177"/>
                    <a:pt x="226309" y="1792157"/>
                  </a:cubicBezTo>
                  <a:cubicBezTo>
                    <a:pt x="373712" y="1822137"/>
                    <a:pt x="765955" y="1814642"/>
                    <a:pt x="915857" y="1792157"/>
                  </a:cubicBezTo>
                  <a:cubicBezTo>
                    <a:pt x="1065759" y="1769672"/>
                    <a:pt x="1090742" y="1747187"/>
                    <a:pt x="1125719" y="1657246"/>
                  </a:cubicBezTo>
                  <a:cubicBezTo>
                    <a:pt x="1160696" y="1567305"/>
                    <a:pt x="1122839" y="1452519"/>
                    <a:pt x="1125719" y="1252511"/>
                  </a:cubicBezTo>
                  <a:cubicBezTo>
                    <a:pt x="1128599" y="1052503"/>
                    <a:pt x="1146539" y="654987"/>
                    <a:pt x="1143000" y="457200"/>
                  </a:cubicBezTo>
                  <a:cubicBezTo>
                    <a:pt x="1139461" y="259413"/>
                    <a:pt x="1069715" y="85360"/>
                    <a:pt x="1104484" y="65790"/>
                  </a:cubicBezTo>
                  <a:cubicBezTo>
                    <a:pt x="933138" y="0"/>
                    <a:pt x="317708" y="92023"/>
                    <a:pt x="113884" y="65790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6477000" y="628651"/>
            <a:ext cx="1524000" cy="2907506"/>
            <a:chOff x="1730237" y="1600200"/>
            <a:chExt cx="2266950" cy="3876675"/>
          </a:xfrm>
        </p:grpSpPr>
        <p:pic>
          <p:nvPicPr>
            <p:cNvPr id="25" name="Picture 3" descr="D:\Harshavardhan\datafolder\hmksave\hmk vit\VIT 2018-20\AY 20202021 New Robotics Course\RMC Theory Lectures PPTs Videos  and Notes etc\Images For Lect 5 Electrical Elex\water bottle 1 - Copy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0800000">
              <a:off x="1730237" y="1600200"/>
              <a:ext cx="2266950" cy="3876675"/>
            </a:xfrm>
            <a:prstGeom prst="rect">
              <a:avLst/>
            </a:prstGeom>
            <a:noFill/>
          </p:spPr>
        </p:pic>
        <p:sp>
          <p:nvSpPr>
            <p:cNvPr id="26" name="Freeform 25"/>
            <p:cNvSpPr/>
            <p:nvPr/>
          </p:nvSpPr>
          <p:spPr>
            <a:xfrm>
              <a:off x="2485887" y="3289300"/>
              <a:ext cx="1159656" cy="1782372"/>
            </a:xfrm>
            <a:custGeom>
              <a:avLst/>
              <a:gdLst>
                <a:gd name="connsiteX0" fmla="*/ 169889 w 1301647"/>
                <a:gd name="connsiteY0" fmla="*/ 159895 h 1933731"/>
                <a:gd name="connsiteX1" fmla="*/ 124918 w 1301647"/>
                <a:gd name="connsiteY1" fmla="*/ 1044315 h 1933731"/>
                <a:gd name="connsiteX2" fmla="*/ 109928 w 1301647"/>
                <a:gd name="connsiteY2" fmla="*/ 1239187 h 1933731"/>
                <a:gd name="connsiteX3" fmla="*/ 199869 w 1301647"/>
                <a:gd name="connsiteY3" fmla="*/ 1404079 h 1933731"/>
                <a:gd name="connsiteX4" fmla="*/ 394741 w 1301647"/>
                <a:gd name="connsiteY4" fmla="*/ 1688892 h 1933731"/>
                <a:gd name="connsiteX5" fmla="*/ 499672 w 1301647"/>
                <a:gd name="connsiteY5" fmla="*/ 1733862 h 1933731"/>
                <a:gd name="connsiteX6" fmla="*/ 619594 w 1301647"/>
                <a:gd name="connsiteY6" fmla="*/ 1763843 h 1933731"/>
                <a:gd name="connsiteX7" fmla="*/ 619594 w 1301647"/>
                <a:gd name="connsiteY7" fmla="*/ 1883764 h 1933731"/>
                <a:gd name="connsiteX8" fmla="*/ 649574 w 1301647"/>
                <a:gd name="connsiteY8" fmla="*/ 1928734 h 1933731"/>
                <a:gd name="connsiteX9" fmla="*/ 859436 w 1301647"/>
                <a:gd name="connsiteY9" fmla="*/ 1898754 h 1933731"/>
                <a:gd name="connsiteX10" fmla="*/ 934387 w 1301647"/>
                <a:gd name="connsiteY10" fmla="*/ 1718872 h 1933731"/>
                <a:gd name="connsiteX11" fmla="*/ 1084289 w 1301647"/>
                <a:gd name="connsiteY11" fmla="*/ 1703882 h 1933731"/>
                <a:gd name="connsiteX12" fmla="*/ 1099279 w 1301647"/>
                <a:gd name="connsiteY12" fmla="*/ 1658911 h 1933731"/>
                <a:gd name="connsiteX13" fmla="*/ 1039318 w 1301647"/>
                <a:gd name="connsiteY13" fmla="*/ 1524000 h 1933731"/>
                <a:gd name="connsiteX14" fmla="*/ 1159240 w 1301647"/>
                <a:gd name="connsiteY14" fmla="*/ 1434059 h 1933731"/>
                <a:gd name="connsiteX15" fmla="*/ 1219200 w 1301647"/>
                <a:gd name="connsiteY15" fmla="*/ 1404079 h 1933731"/>
                <a:gd name="connsiteX16" fmla="*/ 1204210 w 1301647"/>
                <a:gd name="connsiteY16" fmla="*/ 1314138 h 1933731"/>
                <a:gd name="connsiteX17" fmla="*/ 1234190 w 1301647"/>
                <a:gd name="connsiteY17" fmla="*/ 1209207 h 1933731"/>
                <a:gd name="connsiteX18" fmla="*/ 1249181 w 1301647"/>
                <a:gd name="connsiteY18" fmla="*/ 1029325 h 1933731"/>
                <a:gd name="connsiteX19" fmla="*/ 1204210 w 1301647"/>
                <a:gd name="connsiteY19" fmla="*/ 684551 h 1933731"/>
                <a:gd name="connsiteX20" fmla="*/ 1129259 w 1301647"/>
                <a:gd name="connsiteY20" fmla="*/ 294807 h 1933731"/>
                <a:gd name="connsiteX21" fmla="*/ 1144250 w 1301647"/>
                <a:gd name="connsiteY21" fmla="*/ 84944 h 1933731"/>
                <a:gd name="connsiteX22" fmla="*/ 169889 w 1301647"/>
                <a:gd name="connsiteY22" fmla="*/ 159895 h 1933731"/>
                <a:gd name="connsiteX0" fmla="*/ 170305 w 1302063"/>
                <a:gd name="connsiteY0" fmla="*/ 104931 h 1878767"/>
                <a:gd name="connsiteX1" fmla="*/ 122836 w 1302063"/>
                <a:gd name="connsiteY1" fmla="*/ 540895 h 1878767"/>
                <a:gd name="connsiteX2" fmla="*/ 125334 w 1302063"/>
                <a:gd name="connsiteY2" fmla="*/ 989351 h 1878767"/>
                <a:gd name="connsiteX3" fmla="*/ 110344 w 1302063"/>
                <a:gd name="connsiteY3" fmla="*/ 1184223 h 1878767"/>
                <a:gd name="connsiteX4" fmla="*/ 200285 w 1302063"/>
                <a:gd name="connsiteY4" fmla="*/ 1349115 h 1878767"/>
                <a:gd name="connsiteX5" fmla="*/ 395157 w 1302063"/>
                <a:gd name="connsiteY5" fmla="*/ 1633928 h 1878767"/>
                <a:gd name="connsiteX6" fmla="*/ 500088 w 1302063"/>
                <a:gd name="connsiteY6" fmla="*/ 1678898 h 1878767"/>
                <a:gd name="connsiteX7" fmla="*/ 620010 w 1302063"/>
                <a:gd name="connsiteY7" fmla="*/ 1708879 h 1878767"/>
                <a:gd name="connsiteX8" fmla="*/ 620010 w 1302063"/>
                <a:gd name="connsiteY8" fmla="*/ 1828800 h 1878767"/>
                <a:gd name="connsiteX9" fmla="*/ 649990 w 1302063"/>
                <a:gd name="connsiteY9" fmla="*/ 1873770 h 1878767"/>
                <a:gd name="connsiteX10" fmla="*/ 859852 w 1302063"/>
                <a:gd name="connsiteY10" fmla="*/ 1843790 h 1878767"/>
                <a:gd name="connsiteX11" fmla="*/ 934803 w 1302063"/>
                <a:gd name="connsiteY11" fmla="*/ 1663908 h 1878767"/>
                <a:gd name="connsiteX12" fmla="*/ 1084705 w 1302063"/>
                <a:gd name="connsiteY12" fmla="*/ 1648918 h 1878767"/>
                <a:gd name="connsiteX13" fmla="*/ 1099695 w 1302063"/>
                <a:gd name="connsiteY13" fmla="*/ 1603947 h 1878767"/>
                <a:gd name="connsiteX14" fmla="*/ 1039734 w 1302063"/>
                <a:gd name="connsiteY14" fmla="*/ 1469036 h 1878767"/>
                <a:gd name="connsiteX15" fmla="*/ 1159656 w 1302063"/>
                <a:gd name="connsiteY15" fmla="*/ 1379095 h 1878767"/>
                <a:gd name="connsiteX16" fmla="*/ 1219616 w 1302063"/>
                <a:gd name="connsiteY16" fmla="*/ 1349115 h 1878767"/>
                <a:gd name="connsiteX17" fmla="*/ 1204626 w 1302063"/>
                <a:gd name="connsiteY17" fmla="*/ 1259174 h 1878767"/>
                <a:gd name="connsiteX18" fmla="*/ 1234606 w 1302063"/>
                <a:gd name="connsiteY18" fmla="*/ 1154243 h 1878767"/>
                <a:gd name="connsiteX19" fmla="*/ 1249597 w 1302063"/>
                <a:gd name="connsiteY19" fmla="*/ 974361 h 1878767"/>
                <a:gd name="connsiteX20" fmla="*/ 1204626 w 1302063"/>
                <a:gd name="connsiteY20" fmla="*/ 629587 h 1878767"/>
                <a:gd name="connsiteX21" fmla="*/ 1129675 w 1302063"/>
                <a:gd name="connsiteY21" fmla="*/ 239843 h 1878767"/>
                <a:gd name="connsiteX22" fmla="*/ 1144666 w 1302063"/>
                <a:gd name="connsiteY22" fmla="*/ 29980 h 1878767"/>
                <a:gd name="connsiteX23" fmla="*/ 170305 w 1302063"/>
                <a:gd name="connsiteY23" fmla="*/ 104931 h 1878767"/>
                <a:gd name="connsiteX0" fmla="*/ 170305 w 1302063"/>
                <a:gd name="connsiteY0" fmla="*/ 104931 h 1878767"/>
                <a:gd name="connsiteX1" fmla="*/ 122836 w 1302063"/>
                <a:gd name="connsiteY1" fmla="*/ 540895 h 1878767"/>
                <a:gd name="connsiteX2" fmla="*/ 125334 w 1302063"/>
                <a:gd name="connsiteY2" fmla="*/ 989351 h 1878767"/>
                <a:gd name="connsiteX3" fmla="*/ 110344 w 1302063"/>
                <a:gd name="connsiteY3" fmla="*/ 1184223 h 1878767"/>
                <a:gd name="connsiteX4" fmla="*/ 200285 w 1302063"/>
                <a:gd name="connsiteY4" fmla="*/ 1349115 h 1878767"/>
                <a:gd name="connsiteX5" fmla="*/ 395157 w 1302063"/>
                <a:gd name="connsiteY5" fmla="*/ 1633928 h 1878767"/>
                <a:gd name="connsiteX6" fmla="*/ 500088 w 1302063"/>
                <a:gd name="connsiteY6" fmla="*/ 1678898 h 1878767"/>
                <a:gd name="connsiteX7" fmla="*/ 620010 w 1302063"/>
                <a:gd name="connsiteY7" fmla="*/ 1708879 h 1878767"/>
                <a:gd name="connsiteX8" fmla="*/ 620010 w 1302063"/>
                <a:gd name="connsiteY8" fmla="*/ 1828800 h 1878767"/>
                <a:gd name="connsiteX9" fmla="*/ 649990 w 1302063"/>
                <a:gd name="connsiteY9" fmla="*/ 1873770 h 1878767"/>
                <a:gd name="connsiteX10" fmla="*/ 859852 w 1302063"/>
                <a:gd name="connsiteY10" fmla="*/ 1843790 h 1878767"/>
                <a:gd name="connsiteX11" fmla="*/ 934803 w 1302063"/>
                <a:gd name="connsiteY11" fmla="*/ 1663908 h 1878767"/>
                <a:gd name="connsiteX12" fmla="*/ 1084705 w 1302063"/>
                <a:gd name="connsiteY12" fmla="*/ 1648918 h 1878767"/>
                <a:gd name="connsiteX13" fmla="*/ 1099695 w 1302063"/>
                <a:gd name="connsiteY13" fmla="*/ 1603947 h 1878767"/>
                <a:gd name="connsiteX14" fmla="*/ 1039734 w 1302063"/>
                <a:gd name="connsiteY14" fmla="*/ 1469036 h 1878767"/>
                <a:gd name="connsiteX15" fmla="*/ 1159656 w 1302063"/>
                <a:gd name="connsiteY15" fmla="*/ 1379095 h 1878767"/>
                <a:gd name="connsiteX16" fmla="*/ 1219616 w 1302063"/>
                <a:gd name="connsiteY16" fmla="*/ 1349115 h 1878767"/>
                <a:gd name="connsiteX17" fmla="*/ 1204626 w 1302063"/>
                <a:gd name="connsiteY17" fmla="*/ 1259174 h 1878767"/>
                <a:gd name="connsiteX18" fmla="*/ 1234606 w 1302063"/>
                <a:gd name="connsiteY18" fmla="*/ 1154243 h 1878767"/>
                <a:gd name="connsiteX19" fmla="*/ 1249597 w 1302063"/>
                <a:gd name="connsiteY19" fmla="*/ 974361 h 1878767"/>
                <a:gd name="connsiteX20" fmla="*/ 1204626 w 1302063"/>
                <a:gd name="connsiteY20" fmla="*/ 629587 h 1878767"/>
                <a:gd name="connsiteX21" fmla="*/ 1129675 w 1302063"/>
                <a:gd name="connsiteY21" fmla="*/ 239843 h 1878767"/>
                <a:gd name="connsiteX22" fmla="*/ 1144666 w 1302063"/>
                <a:gd name="connsiteY22" fmla="*/ 29980 h 1878767"/>
                <a:gd name="connsiteX23" fmla="*/ 170305 w 1302063"/>
                <a:gd name="connsiteY23" fmla="*/ 104931 h 1878767"/>
                <a:gd name="connsiteX0" fmla="*/ 165100 w 1265628"/>
                <a:gd name="connsiteY0" fmla="*/ 127416 h 1901252"/>
                <a:gd name="connsiteX1" fmla="*/ 117631 w 1265628"/>
                <a:gd name="connsiteY1" fmla="*/ 563380 h 1901252"/>
                <a:gd name="connsiteX2" fmla="*/ 120129 w 1265628"/>
                <a:gd name="connsiteY2" fmla="*/ 1011836 h 1901252"/>
                <a:gd name="connsiteX3" fmla="*/ 105139 w 1265628"/>
                <a:gd name="connsiteY3" fmla="*/ 1206708 h 1901252"/>
                <a:gd name="connsiteX4" fmla="*/ 195080 w 1265628"/>
                <a:gd name="connsiteY4" fmla="*/ 1371600 h 1901252"/>
                <a:gd name="connsiteX5" fmla="*/ 389952 w 1265628"/>
                <a:gd name="connsiteY5" fmla="*/ 1656413 h 1901252"/>
                <a:gd name="connsiteX6" fmla="*/ 494883 w 1265628"/>
                <a:gd name="connsiteY6" fmla="*/ 1701383 h 1901252"/>
                <a:gd name="connsiteX7" fmla="*/ 614805 w 1265628"/>
                <a:gd name="connsiteY7" fmla="*/ 1731364 h 1901252"/>
                <a:gd name="connsiteX8" fmla="*/ 614805 w 1265628"/>
                <a:gd name="connsiteY8" fmla="*/ 1851285 h 1901252"/>
                <a:gd name="connsiteX9" fmla="*/ 644785 w 1265628"/>
                <a:gd name="connsiteY9" fmla="*/ 1896255 h 1901252"/>
                <a:gd name="connsiteX10" fmla="*/ 854647 w 1265628"/>
                <a:gd name="connsiteY10" fmla="*/ 1866275 h 1901252"/>
                <a:gd name="connsiteX11" fmla="*/ 929598 w 1265628"/>
                <a:gd name="connsiteY11" fmla="*/ 1686393 h 1901252"/>
                <a:gd name="connsiteX12" fmla="*/ 1079500 w 1265628"/>
                <a:gd name="connsiteY12" fmla="*/ 1671403 h 1901252"/>
                <a:gd name="connsiteX13" fmla="*/ 1094490 w 1265628"/>
                <a:gd name="connsiteY13" fmla="*/ 1626432 h 1901252"/>
                <a:gd name="connsiteX14" fmla="*/ 1034529 w 1265628"/>
                <a:gd name="connsiteY14" fmla="*/ 1491521 h 1901252"/>
                <a:gd name="connsiteX15" fmla="*/ 1154451 w 1265628"/>
                <a:gd name="connsiteY15" fmla="*/ 1401580 h 1901252"/>
                <a:gd name="connsiteX16" fmla="*/ 1214411 w 1265628"/>
                <a:gd name="connsiteY16" fmla="*/ 1371600 h 1901252"/>
                <a:gd name="connsiteX17" fmla="*/ 1199421 w 1265628"/>
                <a:gd name="connsiteY17" fmla="*/ 1281659 h 1901252"/>
                <a:gd name="connsiteX18" fmla="*/ 1229401 w 1265628"/>
                <a:gd name="connsiteY18" fmla="*/ 1176728 h 1901252"/>
                <a:gd name="connsiteX19" fmla="*/ 1244392 w 1265628"/>
                <a:gd name="connsiteY19" fmla="*/ 996846 h 1901252"/>
                <a:gd name="connsiteX20" fmla="*/ 1199421 w 1265628"/>
                <a:gd name="connsiteY20" fmla="*/ 652072 h 1901252"/>
                <a:gd name="connsiteX21" fmla="*/ 1124470 w 1265628"/>
                <a:gd name="connsiteY21" fmla="*/ 262328 h 1901252"/>
                <a:gd name="connsiteX22" fmla="*/ 1108231 w 1265628"/>
                <a:gd name="connsiteY22" fmla="*/ 29980 h 1901252"/>
                <a:gd name="connsiteX23" fmla="*/ 165100 w 1265628"/>
                <a:gd name="connsiteY23" fmla="*/ 127416 h 1901252"/>
                <a:gd name="connsiteX0" fmla="*/ 165100 w 1249389"/>
                <a:gd name="connsiteY0" fmla="*/ 127416 h 1901252"/>
                <a:gd name="connsiteX1" fmla="*/ 117631 w 1249389"/>
                <a:gd name="connsiteY1" fmla="*/ 563380 h 1901252"/>
                <a:gd name="connsiteX2" fmla="*/ 120129 w 1249389"/>
                <a:gd name="connsiteY2" fmla="*/ 1011836 h 1901252"/>
                <a:gd name="connsiteX3" fmla="*/ 105139 w 1249389"/>
                <a:gd name="connsiteY3" fmla="*/ 1206708 h 1901252"/>
                <a:gd name="connsiteX4" fmla="*/ 195080 w 1249389"/>
                <a:gd name="connsiteY4" fmla="*/ 1371600 h 1901252"/>
                <a:gd name="connsiteX5" fmla="*/ 389952 w 1249389"/>
                <a:gd name="connsiteY5" fmla="*/ 1656413 h 1901252"/>
                <a:gd name="connsiteX6" fmla="*/ 494883 w 1249389"/>
                <a:gd name="connsiteY6" fmla="*/ 1701383 h 1901252"/>
                <a:gd name="connsiteX7" fmla="*/ 614805 w 1249389"/>
                <a:gd name="connsiteY7" fmla="*/ 1731364 h 1901252"/>
                <a:gd name="connsiteX8" fmla="*/ 614805 w 1249389"/>
                <a:gd name="connsiteY8" fmla="*/ 1851285 h 1901252"/>
                <a:gd name="connsiteX9" fmla="*/ 644785 w 1249389"/>
                <a:gd name="connsiteY9" fmla="*/ 1896255 h 1901252"/>
                <a:gd name="connsiteX10" fmla="*/ 854647 w 1249389"/>
                <a:gd name="connsiteY10" fmla="*/ 1866275 h 1901252"/>
                <a:gd name="connsiteX11" fmla="*/ 929598 w 1249389"/>
                <a:gd name="connsiteY11" fmla="*/ 1686393 h 1901252"/>
                <a:gd name="connsiteX12" fmla="*/ 1079500 w 1249389"/>
                <a:gd name="connsiteY12" fmla="*/ 1671403 h 1901252"/>
                <a:gd name="connsiteX13" fmla="*/ 1094490 w 1249389"/>
                <a:gd name="connsiteY13" fmla="*/ 1626432 h 1901252"/>
                <a:gd name="connsiteX14" fmla="*/ 1034529 w 1249389"/>
                <a:gd name="connsiteY14" fmla="*/ 1491521 h 1901252"/>
                <a:gd name="connsiteX15" fmla="*/ 1154451 w 1249389"/>
                <a:gd name="connsiteY15" fmla="*/ 1401580 h 1901252"/>
                <a:gd name="connsiteX16" fmla="*/ 1214411 w 1249389"/>
                <a:gd name="connsiteY16" fmla="*/ 1371600 h 1901252"/>
                <a:gd name="connsiteX17" fmla="*/ 1199421 w 1249389"/>
                <a:gd name="connsiteY17" fmla="*/ 1281659 h 1901252"/>
                <a:gd name="connsiteX18" fmla="*/ 1229401 w 1249389"/>
                <a:gd name="connsiteY18" fmla="*/ 1176728 h 1901252"/>
                <a:gd name="connsiteX19" fmla="*/ 1244392 w 1249389"/>
                <a:gd name="connsiteY19" fmla="*/ 996846 h 1901252"/>
                <a:gd name="connsiteX20" fmla="*/ 1199421 w 1249389"/>
                <a:gd name="connsiteY20" fmla="*/ 652072 h 1901252"/>
                <a:gd name="connsiteX21" fmla="*/ 1124470 w 1249389"/>
                <a:gd name="connsiteY21" fmla="*/ 262328 h 1901252"/>
                <a:gd name="connsiteX22" fmla="*/ 1108231 w 1249389"/>
                <a:gd name="connsiteY22" fmla="*/ 29980 h 1901252"/>
                <a:gd name="connsiteX23" fmla="*/ 165100 w 1249389"/>
                <a:gd name="connsiteY23" fmla="*/ 127416 h 1901252"/>
                <a:gd name="connsiteX0" fmla="*/ 165100 w 1251887"/>
                <a:gd name="connsiteY0" fmla="*/ 127416 h 1901252"/>
                <a:gd name="connsiteX1" fmla="*/ 117631 w 1251887"/>
                <a:gd name="connsiteY1" fmla="*/ 563380 h 1901252"/>
                <a:gd name="connsiteX2" fmla="*/ 120129 w 1251887"/>
                <a:gd name="connsiteY2" fmla="*/ 1011836 h 1901252"/>
                <a:gd name="connsiteX3" fmla="*/ 105139 w 1251887"/>
                <a:gd name="connsiteY3" fmla="*/ 1206708 h 1901252"/>
                <a:gd name="connsiteX4" fmla="*/ 195080 w 1251887"/>
                <a:gd name="connsiteY4" fmla="*/ 1371600 h 1901252"/>
                <a:gd name="connsiteX5" fmla="*/ 389952 w 1251887"/>
                <a:gd name="connsiteY5" fmla="*/ 1656413 h 1901252"/>
                <a:gd name="connsiteX6" fmla="*/ 494883 w 1251887"/>
                <a:gd name="connsiteY6" fmla="*/ 1701383 h 1901252"/>
                <a:gd name="connsiteX7" fmla="*/ 614805 w 1251887"/>
                <a:gd name="connsiteY7" fmla="*/ 1731364 h 1901252"/>
                <a:gd name="connsiteX8" fmla="*/ 614805 w 1251887"/>
                <a:gd name="connsiteY8" fmla="*/ 1851285 h 1901252"/>
                <a:gd name="connsiteX9" fmla="*/ 644785 w 1251887"/>
                <a:gd name="connsiteY9" fmla="*/ 1896255 h 1901252"/>
                <a:gd name="connsiteX10" fmla="*/ 854647 w 1251887"/>
                <a:gd name="connsiteY10" fmla="*/ 1866275 h 1901252"/>
                <a:gd name="connsiteX11" fmla="*/ 929598 w 1251887"/>
                <a:gd name="connsiteY11" fmla="*/ 1686393 h 1901252"/>
                <a:gd name="connsiteX12" fmla="*/ 1079500 w 1251887"/>
                <a:gd name="connsiteY12" fmla="*/ 1671403 h 1901252"/>
                <a:gd name="connsiteX13" fmla="*/ 1094490 w 1251887"/>
                <a:gd name="connsiteY13" fmla="*/ 1626432 h 1901252"/>
                <a:gd name="connsiteX14" fmla="*/ 1034529 w 1251887"/>
                <a:gd name="connsiteY14" fmla="*/ 1491521 h 1901252"/>
                <a:gd name="connsiteX15" fmla="*/ 1154451 w 1251887"/>
                <a:gd name="connsiteY15" fmla="*/ 1401580 h 1901252"/>
                <a:gd name="connsiteX16" fmla="*/ 1214411 w 1251887"/>
                <a:gd name="connsiteY16" fmla="*/ 1371600 h 1901252"/>
                <a:gd name="connsiteX17" fmla="*/ 1199421 w 1251887"/>
                <a:gd name="connsiteY17" fmla="*/ 1281659 h 1901252"/>
                <a:gd name="connsiteX18" fmla="*/ 1229401 w 1251887"/>
                <a:gd name="connsiteY18" fmla="*/ 1176728 h 1901252"/>
                <a:gd name="connsiteX19" fmla="*/ 1244392 w 1251887"/>
                <a:gd name="connsiteY19" fmla="*/ 996846 h 1901252"/>
                <a:gd name="connsiteX20" fmla="*/ 1184431 w 1251887"/>
                <a:gd name="connsiteY20" fmla="*/ 639580 h 1901252"/>
                <a:gd name="connsiteX21" fmla="*/ 1124470 w 1251887"/>
                <a:gd name="connsiteY21" fmla="*/ 262328 h 1901252"/>
                <a:gd name="connsiteX22" fmla="*/ 1108231 w 1251887"/>
                <a:gd name="connsiteY22" fmla="*/ 29980 h 1901252"/>
                <a:gd name="connsiteX23" fmla="*/ 165100 w 1251887"/>
                <a:gd name="connsiteY23" fmla="*/ 127416 h 1901252"/>
                <a:gd name="connsiteX0" fmla="*/ 165100 w 1299356"/>
                <a:gd name="connsiteY0" fmla="*/ 88900 h 1960172"/>
                <a:gd name="connsiteX1" fmla="*/ 165100 w 1299356"/>
                <a:gd name="connsiteY1" fmla="*/ 622300 h 1960172"/>
                <a:gd name="connsiteX2" fmla="*/ 167598 w 1299356"/>
                <a:gd name="connsiteY2" fmla="*/ 1070756 h 1960172"/>
                <a:gd name="connsiteX3" fmla="*/ 152608 w 1299356"/>
                <a:gd name="connsiteY3" fmla="*/ 1265628 h 1960172"/>
                <a:gd name="connsiteX4" fmla="*/ 242549 w 1299356"/>
                <a:gd name="connsiteY4" fmla="*/ 1430520 h 1960172"/>
                <a:gd name="connsiteX5" fmla="*/ 437421 w 1299356"/>
                <a:gd name="connsiteY5" fmla="*/ 1715333 h 1960172"/>
                <a:gd name="connsiteX6" fmla="*/ 542352 w 1299356"/>
                <a:gd name="connsiteY6" fmla="*/ 1760303 h 1960172"/>
                <a:gd name="connsiteX7" fmla="*/ 662274 w 1299356"/>
                <a:gd name="connsiteY7" fmla="*/ 1790284 h 1960172"/>
                <a:gd name="connsiteX8" fmla="*/ 662274 w 1299356"/>
                <a:gd name="connsiteY8" fmla="*/ 1910205 h 1960172"/>
                <a:gd name="connsiteX9" fmla="*/ 692254 w 1299356"/>
                <a:gd name="connsiteY9" fmla="*/ 1955175 h 1960172"/>
                <a:gd name="connsiteX10" fmla="*/ 902116 w 1299356"/>
                <a:gd name="connsiteY10" fmla="*/ 1925195 h 1960172"/>
                <a:gd name="connsiteX11" fmla="*/ 977067 w 1299356"/>
                <a:gd name="connsiteY11" fmla="*/ 1745313 h 1960172"/>
                <a:gd name="connsiteX12" fmla="*/ 1126969 w 1299356"/>
                <a:gd name="connsiteY12" fmla="*/ 1730323 h 1960172"/>
                <a:gd name="connsiteX13" fmla="*/ 1141959 w 1299356"/>
                <a:gd name="connsiteY13" fmla="*/ 1685352 h 1960172"/>
                <a:gd name="connsiteX14" fmla="*/ 1081998 w 1299356"/>
                <a:gd name="connsiteY14" fmla="*/ 1550441 h 1960172"/>
                <a:gd name="connsiteX15" fmla="*/ 1201920 w 1299356"/>
                <a:gd name="connsiteY15" fmla="*/ 1460500 h 1960172"/>
                <a:gd name="connsiteX16" fmla="*/ 1261880 w 1299356"/>
                <a:gd name="connsiteY16" fmla="*/ 1430520 h 1960172"/>
                <a:gd name="connsiteX17" fmla="*/ 1246890 w 1299356"/>
                <a:gd name="connsiteY17" fmla="*/ 1340579 h 1960172"/>
                <a:gd name="connsiteX18" fmla="*/ 1276870 w 1299356"/>
                <a:gd name="connsiteY18" fmla="*/ 1235648 h 1960172"/>
                <a:gd name="connsiteX19" fmla="*/ 1291861 w 1299356"/>
                <a:gd name="connsiteY19" fmla="*/ 1055766 h 1960172"/>
                <a:gd name="connsiteX20" fmla="*/ 1231900 w 1299356"/>
                <a:gd name="connsiteY20" fmla="*/ 698500 h 1960172"/>
                <a:gd name="connsiteX21" fmla="*/ 1171939 w 1299356"/>
                <a:gd name="connsiteY21" fmla="*/ 321248 h 1960172"/>
                <a:gd name="connsiteX22" fmla="*/ 1155700 w 1299356"/>
                <a:gd name="connsiteY22" fmla="*/ 88900 h 1960172"/>
                <a:gd name="connsiteX23" fmla="*/ 165100 w 1299356"/>
                <a:gd name="connsiteY23" fmla="*/ 88900 h 1960172"/>
                <a:gd name="connsiteX0" fmla="*/ 165100 w 1223156"/>
                <a:gd name="connsiteY0" fmla="*/ 106180 h 1901252"/>
                <a:gd name="connsiteX1" fmla="*/ 88900 w 1223156"/>
                <a:gd name="connsiteY1" fmla="*/ 563380 h 1901252"/>
                <a:gd name="connsiteX2" fmla="*/ 91398 w 1223156"/>
                <a:gd name="connsiteY2" fmla="*/ 1011836 h 1901252"/>
                <a:gd name="connsiteX3" fmla="*/ 76408 w 1223156"/>
                <a:gd name="connsiteY3" fmla="*/ 1206708 h 1901252"/>
                <a:gd name="connsiteX4" fmla="*/ 166349 w 1223156"/>
                <a:gd name="connsiteY4" fmla="*/ 1371600 h 1901252"/>
                <a:gd name="connsiteX5" fmla="*/ 361221 w 1223156"/>
                <a:gd name="connsiteY5" fmla="*/ 1656413 h 1901252"/>
                <a:gd name="connsiteX6" fmla="*/ 466152 w 1223156"/>
                <a:gd name="connsiteY6" fmla="*/ 1701383 h 1901252"/>
                <a:gd name="connsiteX7" fmla="*/ 586074 w 1223156"/>
                <a:gd name="connsiteY7" fmla="*/ 1731364 h 1901252"/>
                <a:gd name="connsiteX8" fmla="*/ 586074 w 1223156"/>
                <a:gd name="connsiteY8" fmla="*/ 1851285 h 1901252"/>
                <a:gd name="connsiteX9" fmla="*/ 616054 w 1223156"/>
                <a:gd name="connsiteY9" fmla="*/ 1896255 h 1901252"/>
                <a:gd name="connsiteX10" fmla="*/ 825916 w 1223156"/>
                <a:gd name="connsiteY10" fmla="*/ 1866275 h 1901252"/>
                <a:gd name="connsiteX11" fmla="*/ 900867 w 1223156"/>
                <a:gd name="connsiteY11" fmla="*/ 1686393 h 1901252"/>
                <a:gd name="connsiteX12" fmla="*/ 1050769 w 1223156"/>
                <a:gd name="connsiteY12" fmla="*/ 1671403 h 1901252"/>
                <a:gd name="connsiteX13" fmla="*/ 1065759 w 1223156"/>
                <a:gd name="connsiteY13" fmla="*/ 1626432 h 1901252"/>
                <a:gd name="connsiteX14" fmla="*/ 1005798 w 1223156"/>
                <a:gd name="connsiteY14" fmla="*/ 1491521 h 1901252"/>
                <a:gd name="connsiteX15" fmla="*/ 1125720 w 1223156"/>
                <a:gd name="connsiteY15" fmla="*/ 1401580 h 1901252"/>
                <a:gd name="connsiteX16" fmla="*/ 1185680 w 1223156"/>
                <a:gd name="connsiteY16" fmla="*/ 1371600 h 1901252"/>
                <a:gd name="connsiteX17" fmla="*/ 1170690 w 1223156"/>
                <a:gd name="connsiteY17" fmla="*/ 1281659 h 1901252"/>
                <a:gd name="connsiteX18" fmla="*/ 1200670 w 1223156"/>
                <a:gd name="connsiteY18" fmla="*/ 1176728 h 1901252"/>
                <a:gd name="connsiteX19" fmla="*/ 1215661 w 1223156"/>
                <a:gd name="connsiteY19" fmla="*/ 996846 h 1901252"/>
                <a:gd name="connsiteX20" fmla="*/ 1155700 w 1223156"/>
                <a:gd name="connsiteY20" fmla="*/ 639580 h 1901252"/>
                <a:gd name="connsiteX21" fmla="*/ 1095739 w 1223156"/>
                <a:gd name="connsiteY21" fmla="*/ 262328 h 1901252"/>
                <a:gd name="connsiteX22" fmla="*/ 1079500 w 1223156"/>
                <a:gd name="connsiteY22" fmla="*/ 29980 h 1901252"/>
                <a:gd name="connsiteX23" fmla="*/ 165100 w 1223156"/>
                <a:gd name="connsiteY23" fmla="*/ 106180 h 1901252"/>
                <a:gd name="connsiteX0" fmla="*/ 165100 w 1223156"/>
                <a:gd name="connsiteY0" fmla="*/ 76200 h 1871272"/>
                <a:gd name="connsiteX1" fmla="*/ 88900 w 1223156"/>
                <a:gd name="connsiteY1" fmla="*/ 533400 h 1871272"/>
                <a:gd name="connsiteX2" fmla="*/ 91398 w 1223156"/>
                <a:gd name="connsiteY2" fmla="*/ 981856 h 1871272"/>
                <a:gd name="connsiteX3" fmla="*/ 76408 w 1223156"/>
                <a:gd name="connsiteY3" fmla="*/ 1176728 h 1871272"/>
                <a:gd name="connsiteX4" fmla="*/ 166349 w 1223156"/>
                <a:gd name="connsiteY4" fmla="*/ 1341620 h 1871272"/>
                <a:gd name="connsiteX5" fmla="*/ 361221 w 1223156"/>
                <a:gd name="connsiteY5" fmla="*/ 1626433 h 1871272"/>
                <a:gd name="connsiteX6" fmla="*/ 466152 w 1223156"/>
                <a:gd name="connsiteY6" fmla="*/ 1671403 h 1871272"/>
                <a:gd name="connsiteX7" fmla="*/ 586074 w 1223156"/>
                <a:gd name="connsiteY7" fmla="*/ 1701384 h 1871272"/>
                <a:gd name="connsiteX8" fmla="*/ 586074 w 1223156"/>
                <a:gd name="connsiteY8" fmla="*/ 1821305 h 1871272"/>
                <a:gd name="connsiteX9" fmla="*/ 616054 w 1223156"/>
                <a:gd name="connsiteY9" fmla="*/ 1866275 h 1871272"/>
                <a:gd name="connsiteX10" fmla="*/ 825916 w 1223156"/>
                <a:gd name="connsiteY10" fmla="*/ 1836295 h 1871272"/>
                <a:gd name="connsiteX11" fmla="*/ 900867 w 1223156"/>
                <a:gd name="connsiteY11" fmla="*/ 1656413 h 1871272"/>
                <a:gd name="connsiteX12" fmla="*/ 1050769 w 1223156"/>
                <a:gd name="connsiteY12" fmla="*/ 1641423 h 1871272"/>
                <a:gd name="connsiteX13" fmla="*/ 1065759 w 1223156"/>
                <a:gd name="connsiteY13" fmla="*/ 1596452 h 1871272"/>
                <a:gd name="connsiteX14" fmla="*/ 1005798 w 1223156"/>
                <a:gd name="connsiteY14" fmla="*/ 1461541 h 1871272"/>
                <a:gd name="connsiteX15" fmla="*/ 1125720 w 1223156"/>
                <a:gd name="connsiteY15" fmla="*/ 1371600 h 1871272"/>
                <a:gd name="connsiteX16" fmla="*/ 1185680 w 1223156"/>
                <a:gd name="connsiteY16" fmla="*/ 1341620 h 1871272"/>
                <a:gd name="connsiteX17" fmla="*/ 1170690 w 1223156"/>
                <a:gd name="connsiteY17" fmla="*/ 1251679 h 1871272"/>
                <a:gd name="connsiteX18" fmla="*/ 1200670 w 1223156"/>
                <a:gd name="connsiteY18" fmla="*/ 1146748 h 1871272"/>
                <a:gd name="connsiteX19" fmla="*/ 1215661 w 1223156"/>
                <a:gd name="connsiteY19" fmla="*/ 966866 h 1871272"/>
                <a:gd name="connsiteX20" fmla="*/ 1155700 w 1223156"/>
                <a:gd name="connsiteY20" fmla="*/ 609600 h 1871272"/>
                <a:gd name="connsiteX21" fmla="*/ 1095739 w 1223156"/>
                <a:gd name="connsiteY21" fmla="*/ 232348 h 1871272"/>
                <a:gd name="connsiteX22" fmla="*/ 1079500 w 1223156"/>
                <a:gd name="connsiteY22" fmla="*/ 76200 h 1871272"/>
                <a:gd name="connsiteX23" fmla="*/ 165100 w 1223156"/>
                <a:gd name="connsiteY23" fmla="*/ 76200 h 1871272"/>
                <a:gd name="connsiteX0" fmla="*/ 177384 w 1159240"/>
                <a:gd name="connsiteY0" fmla="*/ 106180 h 1825052"/>
                <a:gd name="connsiteX1" fmla="*/ 24984 w 1159240"/>
                <a:gd name="connsiteY1" fmla="*/ 487180 h 1825052"/>
                <a:gd name="connsiteX2" fmla="*/ 27482 w 1159240"/>
                <a:gd name="connsiteY2" fmla="*/ 935636 h 1825052"/>
                <a:gd name="connsiteX3" fmla="*/ 12492 w 1159240"/>
                <a:gd name="connsiteY3" fmla="*/ 1130508 h 1825052"/>
                <a:gd name="connsiteX4" fmla="*/ 102433 w 1159240"/>
                <a:gd name="connsiteY4" fmla="*/ 1295400 h 1825052"/>
                <a:gd name="connsiteX5" fmla="*/ 297305 w 1159240"/>
                <a:gd name="connsiteY5" fmla="*/ 1580213 h 1825052"/>
                <a:gd name="connsiteX6" fmla="*/ 402236 w 1159240"/>
                <a:gd name="connsiteY6" fmla="*/ 1625183 h 1825052"/>
                <a:gd name="connsiteX7" fmla="*/ 522158 w 1159240"/>
                <a:gd name="connsiteY7" fmla="*/ 1655164 h 1825052"/>
                <a:gd name="connsiteX8" fmla="*/ 522158 w 1159240"/>
                <a:gd name="connsiteY8" fmla="*/ 1775085 h 1825052"/>
                <a:gd name="connsiteX9" fmla="*/ 552138 w 1159240"/>
                <a:gd name="connsiteY9" fmla="*/ 1820055 h 1825052"/>
                <a:gd name="connsiteX10" fmla="*/ 762000 w 1159240"/>
                <a:gd name="connsiteY10" fmla="*/ 1790075 h 1825052"/>
                <a:gd name="connsiteX11" fmla="*/ 836951 w 1159240"/>
                <a:gd name="connsiteY11" fmla="*/ 1610193 h 1825052"/>
                <a:gd name="connsiteX12" fmla="*/ 986853 w 1159240"/>
                <a:gd name="connsiteY12" fmla="*/ 1595203 h 1825052"/>
                <a:gd name="connsiteX13" fmla="*/ 1001843 w 1159240"/>
                <a:gd name="connsiteY13" fmla="*/ 1550232 h 1825052"/>
                <a:gd name="connsiteX14" fmla="*/ 941882 w 1159240"/>
                <a:gd name="connsiteY14" fmla="*/ 1415321 h 1825052"/>
                <a:gd name="connsiteX15" fmla="*/ 1061804 w 1159240"/>
                <a:gd name="connsiteY15" fmla="*/ 1325380 h 1825052"/>
                <a:gd name="connsiteX16" fmla="*/ 1121764 w 1159240"/>
                <a:gd name="connsiteY16" fmla="*/ 1295400 h 1825052"/>
                <a:gd name="connsiteX17" fmla="*/ 1106774 w 1159240"/>
                <a:gd name="connsiteY17" fmla="*/ 1205459 h 1825052"/>
                <a:gd name="connsiteX18" fmla="*/ 1136754 w 1159240"/>
                <a:gd name="connsiteY18" fmla="*/ 1100528 h 1825052"/>
                <a:gd name="connsiteX19" fmla="*/ 1151745 w 1159240"/>
                <a:gd name="connsiteY19" fmla="*/ 920646 h 1825052"/>
                <a:gd name="connsiteX20" fmla="*/ 1091784 w 1159240"/>
                <a:gd name="connsiteY20" fmla="*/ 563380 h 1825052"/>
                <a:gd name="connsiteX21" fmla="*/ 1031823 w 1159240"/>
                <a:gd name="connsiteY21" fmla="*/ 186128 h 1825052"/>
                <a:gd name="connsiteX22" fmla="*/ 1015584 w 1159240"/>
                <a:gd name="connsiteY22" fmla="*/ 29980 h 1825052"/>
                <a:gd name="connsiteX23" fmla="*/ 177384 w 1159240"/>
                <a:gd name="connsiteY23" fmla="*/ 106180 h 1825052"/>
                <a:gd name="connsiteX0" fmla="*/ 177384 w 1159240"/>
                <a:gd name="connsiteY0" fmla="*/ 63500 h 1782372"/>
                <a:gd name="connsiteX1" fmla="*/ 24984 w 1159240"/>
                <a:gd name="connsiteY1" fmla="*/ 444500 h 1782372"/>
                <a:gd name="connsiteX2" fmla="*/ 27482 w 1159240"/>
                <a:gd name="connsiteY2" fmla="*/ 892956 h 1782372"/>
                <a:gd name="connsiteX3" fmla="*/ 12492 w 1159240"/>
                <a:gd name="connsiteY3" fmla="*/ 1087828 h 1782372"/>
                <a:gd name="connsiteX4" fmla="*/ 102433 w 1159240"/>
                <a:gd name="connsiteY4" fmla="*/ 1252720 h 1782372"/>
                <a:gd name="connsiteX5" fmla="*/ 297305 w 1159240"/>
                <a:gd name="connsiteY5" fmla="*/ 1537533 h 1782372"/>
                <a:gd name="connsiteX6" fmla="*/ 402236 w 1159240"/>
                <a:gd name="connsiteY6" fmla="*/ 1582503 h 1782372"/>
                <a:gd name="connsiteX7" fmla="*/ 522158 w 1159240"/>
                <a:gd name="connsiteY7" fmla="*/ 1612484 h 1782372"/>
                <a:gd name="connsiteX8" fmla="*/ 522158 w 1159240"/>
                <a:gd name="connsiteY8" fmla="*/ 1732405 h 1782372"/>
                <a:gd name="connsiteX9" fmla="*/ 552138 w 1159240"/>
                <a:gd name="connsiteY9" fmla="*/ 1777375 h 1782372"/>
                <a:gd name="connsiteX10" fmla="*/ 762000 w 1159240"/>
                <a:gd name="connsiteY10" fmla="*/ 1747395 h 1782372"/>
                <a:gd name="connsiteX11" fmla="*/ 836951 w 1159240"/>
                <a:gd name="connsiteY11" fmla="*/ 1567513 h 1782372"/>
                <a:gd name="connsiteX12" fmla="*/ 986853 w 1159240"/>
                <a:gd name="connsiteY12" fmla="*/ 1552523 h 1782372"/>
                <a:gd name="connsiteX13" fmla="*/ 1001843 w 1159240"/>
                <a:gd name="connsiteY13" fmla="*/ 1507552 h 1782372"/>
                <a:gd name="connsiteX14" fmla="*/ 941882 w 1159240"/>
                <a:gd name="connsiteY14" fmla="*/ 1372641 h 1782372"/>
                <a:gd name="connsiteX15" fmla="*/ 1061804 w 1159240"/>
                <a:gd name="connsiteY15" fmla="*/ 1282700 h 1782372"/>
                <a:gd name="connsiteX16" fmla="*/ 1121764 w 1159240"/>
                <a:gd name="connsiteY16" fmla="*/ 1252720 h 1782372"/>
                <a:gd name="connsiteX17" fmla="*/ 1106774 w 1159240"/>
                <a:gd name="connsiteY17" fmla="*/ 1162779 h 1782372"/>
                <a:gd name="connsiteX18" fmla="*/ 1136754 w 1159240"/>
                <a:gd name="connsiteY18" fmla="*/ 1057848 h 1782372"/>
                <a:gd name="connsiteX19" fmla="*/ 1151745 w 1159240"/>
                <a:gd name="connsiteY19" fmla="*/ 877966 h 1782372"/>
                <a:gd name="connsiteX20" fmla="*/ 1091784 w 1159240"/>
                <a:gd name="connsiteY20" fmla="*/ 520700 h 1782372"/>
                <a:gd name="connsiteX21" fmla="*/ 1031823 w 1159240"/>
                <a:gd name="connsiteY21" fmla="*/ 143448 h 1782372"/>
                <a:gd name="connsiteX22" fmla="*/ 1015584 w 1159240"/>
                <a:gd name="connsiteY22" fmla="*/ 63500 h 1782372"/>
                <a:gd name="connsiteX23" fmla="*/ 177384 w 1159240"/>
                <a:gd name="connsiteY23" fmla="*/ 63500 h 1782372"/>
                <a:gd name="connsiteX0" fmla="*/ 177800 w 1159656"/>
                <a:gd name="connsiteY0" fmla="*/ 63500 h 1782372"/>
                <a:gd name="connsiteX1" fmla="*/ 25400 w 1159656"/>
                <a:gd name="connsiteY1" fmla="*/ 139700 h 1782372"/>
                <a:gd name="connsiteX2" fmla="*/ 25400 w 1159656"/>
                <a:gd name="connsiteY2" fmla="*/ 444500 h 1782372"/>
                <a:gd name="connsiteX3" fmla="*/ 27898 w 1159656"/>
                <a:gd name="connsiteY3" fmla="*/ 892956 h 1782372"/>
                <a:gd name="connsiteX4" fmla="*/ 12908 w 1159656"/>
                <a:gd name="connsiteY4" fmla="*/ 1087828 h 1782372"/>
                <a:gd name="connsiteX5" fmla="*/ 102849 w 1159656"/>
                <a:gd name="connsiteY5" fmla="*/ 1252720 h 1782372"/>
                <a:gd name="connsiteX6" fmla="*/ 297721 w 1159656"/>
                <a:gd name="connsiteY6" fmla="*/ 1537533 h 1782372"/>
                <a:gd name="connsiteX7" fmla="*/ 402652 w 1159656"/>
                <a:gd name="connsiteY7" fmla="*/ 1582503 h 1782372"/>
                <a:gd name="connsiteX8" fmla="*/ 522574 w 1159656"/>
                <a:gd name="connsiteY8" fmla="*/ 1612484 h 1782372"/>
                <a:gd name="connsiteX9" fmla="*/ 522574 w 1159656"/>
                <a:gd name="connsiteY9" fmla="*/ 1732405 h 1782372"/>
                <a:gd name="connsiteX10" fmla="*/ 552554 w 1159656"/>
                <a:gd name="connsiteY10" fmla="*/ 1777375 h 1782372"/>
                <a:gd name="connsiteX11" fmla="*/ 762416 w 1159656"/>
                <a:gd name="connsiteY11" fmla="*/ 1747395 h 1782372"/>
                <a:gd name="connsiteX12" fmla="*/ 837367 w 1159656"/>
                <a:gd name="connsiteY12" fmla="*/ 1567513 h 1782372"/>
                <a:gd name="connsiteX13" fmla="*/ 987269 w 1159656"/>
                <a:gd name="connsiteY13" fmla="*/ 1552523 h 1782372"/>
                <a:gd name="connsiteX14" fmla="*/ 1002259 w 1159656"/>
                <a:gd name="connsiteY14" fmla="*/ 1507552 h 1782372"/>
                <a:gd name="connsiteX15" fmla="*/ 942298 w 1159656"/>
                <a:gd name="connsiteY15" fmla="*/ 1372641 h 1782372"/>
                <a:gd name="connsiteX16" fmla="*/ 1062220 w 1159656"/>
                <a:gd name="connsiteY16" fmla="*/ 1282700 h 1782372"/>
                <a:gd name="connsiteX17" fmla="*/ 1122180 w 1159656"/>
                <a:gd name="connsiteY17" fmla="*/ 1252720 h 1782372"/>
                <a:gd name="connsiteX18" fmla="*/ 1107190 w 1159656"/>
                <a:gd name="connsiteY18" fmla="*/ 1162779 h 1782372"/>
                <a:gd name="connsiteX19" fmla="*/ 1137170 w 1159656"/>
                <a:gd name="connsiteY19" fmla="*/ 1057848 h 1782372"/>
                <a:gd name="connsiteX20" fmla="*/ 1152161 w 1159656"/>
                <a:gd name="connsiteY20" fmla="*/ 877966 h 1782372"/>
                <a:gd name="connsiteX21" fmla="*/ 1092200 w 1159656"/>
                <a:gd name="connsiteY21" fmla="*/ 520700 h 1782372"/>
                <a:gd name="connsiteX22" fmla="*/ 1032239 w 1159656"/>
                <a:gd name="connsiteY22" fmla="*/ 143448 h 1782372"/>
                <a:gd name="connsiteX23" fmla="*/ 1016000 w 1159656"/>
                <a:gd name="connsiteY23" fmla="*/ 63500 h 1782372"/>
                <a:gd name="connsiteX24" fmla="*/ 177800 w 1159656"/>
                <a:gd name="connsiteY24" fmla="*/ 63500 h 1782372"/>
                <a:gd name="connsiteX0" fmla="*/ 177800 w 1159656"/>
                <a:gd name="connsiteY0" fmla="*/ 63500 h 1782372"/>
                <a:gd name="connsiteX1" fmla="*/ 25400 w 1159656"/>
                <a:gd name="connsiteY1" fmla="*/ 139700 h 1782372"/>
                <a:gd name="connsiteX2" fmla="*/ 25400 w 1159656"/>
                <a:gd name="connsiteY2" fmla="*/ 444500 h 1782372"/>
                <a:gd name="connsiteX3" fmla="*/ 27898 w 1159656"/>
                <a:gd name="connsiteY3" fmla="*/ 892956 h 1782372"/>
                <a:gd name="connsiteX4" fmla="*/ 12908 w 1159656"/>
                <a:gd name="connsiteY4" fmla="*/ 1087828 h 1782372"/>
                <a:gd name="connsiteX5" fmla="*/ 102849 w 1159656"/>
                <a:gd name="connsiteY5" fmla="*/ 1252720 h 1782372"/>
                <a:gd name="connsiteX6" fmla="*/ 177800 w 1159656"/>
                <a:gd name="connsiteY6" fmla="*/ 1435100 h 1782372"/>
                <a:gd name="connsiteX7" fmla="*/ 297721 w 1159656"/>
                <a:gd name="connsiteY7" fmla="*/ 1537533 h 1782372"/>
                <a:gd name="connsiteX8" fmla="*/ 402652 w 1159656"/>
                <a:gd name="connsiteY8" fmla="*/ 1582503 h 1782372"/>
                <a:gd name="connsiteX9" fmla="*/ 522574 w 1159656"/>
                <a:gd name="connsiteY9" fmla="*/ 1612484 h 1782372"/>
                <a:gd name="connsiteX10" fmla="*/ 522574 w 1159656"/>
                <a:gd name="connsiteY10" fmla="*/ 1732405 h 1782372"/>
                <a:gd name="connsiteX11" fmla="*/ 552554 w 1159656"/>
                <a:gd name="connsiteY11" fmla="*/ 1777375 h 1782372"/>
                <a:gd name="connsiteX12" fmla="*/ 762416 w 1159656"/>
                <a:gd name="connsiteY12" fmla="*/ 1747395 h 1782372"/>
                <a:gd name="connsiteX13" fmla="*/ 837367 w 1159656"/>
                <a:gd name="connsiteY13" fmla="*/ 1567513 h 1782372"/>
                <a:gd name="connsiteX14" fmla="*/ 987269 w 1159656"/>
                <a:gd name="connsiteY14" fmla="*/ 1552523 h 1782372"/>
                <a:gd name="connsiteX15" fmla="*/ 1002259 w 1159656"/>
                <a:gd name="connsiteY15" fmla="*/ 1507552 h 1782372"/>
                <a:gd name="connsiteX16" fmla="*/ 942298 w 1159656"/>
                <a:gd name="connsiteY16" fmla="*/ 1372641 h 1782372"/>
                <a:gd name="connsiteX17" fmla="*/ 1062220 w 1159656"/>
                <a:gd name="connsiteY17" fmla="*/ 1282700 h 1782372"/>
                <a:gd name="connsiteX18" fmla="*/ 1122180 w 1159656"/>
                <a:gd name="connsiteY18" fmla="*/ 1252720 h 1782372"/>
                <a:gd name="connsiteX19" fmla="*/ 1107190 w 1159656"/>
                <a:gd name="connsiteY19" fmla="*/ 1162779 h 1782372"/>
                <a:gd name="connsiteX20" fmla="*/ 1137170 w 1159656"/>
                <a:gd name="connsiteY20" fmla="*/ 1057848 h 1782372"/>
                <a:gd name="connsiteX21" fmla="*/ 1152161 w 1159656"/>
                <a:gd name="connsiteY21" fmla="*/ 877966 h 1782372"/>
                <a:gd name="connsiteX22" fmla="*/ 1092200 w 1159656"/>
                <a:gd name="connsiteY22" fmla="*/ 520700 h 1782372"/>
                <a:gd name="connsiteX23" fmla="*/ 1032239 w 1159656"/>
                <a:gd name="connsiteY23" fmla="*/ 143448 h 1782372"/>
                <a:gd name="connsiteX24" fmla="*/ 1016000 w 1159656"/>
                <a:gd name="connsiteY24" fmla="*/ 63500 h 1782372"/>
                <a:gd name="connsiteX25" fmla="*/ 177800 w 1159656"/>
                <a:gd name="connsiteY25" fmla="*/ 63500 h 178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59656" h="1782372">
                  <a:moveTo>
                    <a:pt x="177800" y="63500"/>
                  </a:moveTo>
                  <a:cubicBezTo>
                    <a:pt x="23110" y="71828"/>
                    <a:pt x="50800" y="76200"/>
                    <a:pt x="25400" y="139700"/>
                  </a:cubicBezTo>
                  <a:cubicBezTo>
                    <a:pt x="0" y="203200"/>
                    <a:pt x="35393" y="314585"/>
                    <a:pt x="25400" y="444500"/>
                  </a:cubicBezTo>
                  <a:cubicBezTo>
                    <a:pt x="17905" y="591903"/>
                    <a:pt x="29980" y="785735"/>
                    <a:pt x="27898" y="892956"/>
                  </a:cubicBezTo>
                  <a:cubicBezTo>
                    <a:pt x="25816" y="1000177"/>
                    <a:pt x="416" y="1027867"/>
                    <a:pt x="12908" y="1087828"/>
                  </a:cubicBezTo>
                  <a:cubicBezTo>
                    <a:pt x="25400" y="1147789"/>
                    <a:pt x="75367" y="1194841"/>
                    <a:pt x="102849" y="1252720"/>
                  </a:cubicBezTo>
                  <a:cubicBezTo>
                    <a:pt x="130331" y="1310599"/>
                    <a:pt x="145321" y="1387631"/>
                    <a:pt x="177800" y="1435100"/>
                  </a:cubicBezTo>
                  <a:cubicBezTo>
                    <a:pt x="210279" y="1482569"/>
                    <a:pt x="260246" y="1512966"/>
                    <a:pt x="297721" y="1537533"/>
                  </a:cubicBezTo>
                  <a:cubicBezTo>
                    <a:pt x="335196" y="1562100"/>
                    <a:pt x="365177" y="1570011"/>
                    <a:pt x="402652" y="1582503"/>
                  </a:cubicBezTo>
                  <a:cubicBezTo>
                    <a:pt x="440127" y="1594995"/>
                    <a:pt x="502587" y="1587500"/>
                    <a:pt x="522574" y="1612484"/>
                  </a:cubicBezTo>
                  <a:cubicBezTo>
                    <a:pt x="542561" y="1637468"/>
                    <a:pt x="517577" y="1704923"/>
                    <a:pt x="522574" y="1732405"/>
                  </a:cubicBezTo>
                  <a:cubicBezTo>
                    <a:pt x="527571" y="1759887"/>
                    <a:pt x="512580" y="1774877"/>
                    <a:pt x="552554" y="1777375"/>
                  </a:cubicBezTo>
                  <a:cubicBezTo>
                    <a:pt x="592528" y="1779873"/>
                    <a:pt x="714947" y="1782372"/>
                    <a:pt x="762416" y="1747395"/>
                  </a:cubicBezTo>
                  <a:cubicBezTo>
                    <a:pt x="809885" y="1712418"/>
                    <a:pt x="799892" y="1599992"/>
                    <a:pt x="837367" y="1567513"/>
                  </a:cubicBezTo>
                  <a:cubicBezTo>
                    <a:pt x="874842" y="1535034"/>
                    <a:pt x="959787" y="1562517"/>
                    <a:pt x="987269" y="1552523"/>
                  </a:cubicBezTo>
                  <a:cubicBezTo>
                    <a:pt x="1014751" y="1542530"/>
                    <a:pt x="1009754" y="1537532"/>
                    <a:pt x="1002259" y="1507552"/>
                  </a:cubicBezTo>
                  <a:cubicBezTo>
                    <a:pt x="994764" y="1477572"/>
                    <a:pt x="932305" y="1410116"/>
                    <a:pt x="942298" y="1372641"/>
                  </a:cubicBezTo>
                  <a:cubicBezTo>
                    <a:pt x="952292" y="1335166"/>
                    <a:pt x="1032240" y="1302687"/>
                    <a:pt x="1062220" y="1282700"/>
                  </a:cubicBezTo>
                  <a:cubicBezTo>
                    <a:pt x="1092200" y="1262713"/>
                    <a:pt x="1114685" y="1272707"/>
                    <a:pt x="1122180" y="1252720"/>
                  </a:cubicBezTo>
                  <a:cubicBezTo>
                    <a:pt x="1129675" y="1232733"/>
                    <a:pt x="1104692" y="1195258"/>
                    <a:pt x="1107190" y="1162779"/>
                  </a:cubicBezTo>
                  <a:cubicBezTo>
                    <a:pt x="1109688" y="1130300"/>
                    <a:pt x="1129675" y="1105317"/>
                    <a:pt x="1137170" y="1057848"/>
                  </a:cubicBezTo>
                  <a:cubicBezTo>
                    <a:pt x="1144665" y="1010379"/>
                    <a:pt x="1159656" y="967491"/>
                    <a:pt x="1152161" y="877966"/>
                  </a:cubicBezTo>
                  <a:cubicBezTo>
                    <a:pt x="1144666" y="788441"/>
                    <a:pt x="1112187" y="643120"/>
                    <a:pt x="1092200" y="520700"/>
                  </a:cubicBezTo>
                  <a:cubicBezTo>
                    <a:pt x="1072213" y="398280"/>
                    <a:pt x="1044939" y="219648"/>
                    <a:pt x="1032239" y="143448"/>
                  </a:cubicBezTo>
                  <a:cubicBezTo>
                    <a:pt x="1019539" y="67248"/>
                    <a:pt x="1052227" y="130955"/>
                    <a:pt x="1016000" y="63500"/>
                  </a:cubicBezTo>
                  <a:cubicBezTo>
                    <a:pt x="858603" y="33520"/>
                    <a:pt x="342900" y="0"/>
                    <a:pt x="177800" y="63500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19"/>
          <p:cNvGrpSpPr/>
          <p:nvPr/>
        </p:nvGrpSpPr>
        <p:grpSpPr>
          <a:xfrm>
            <a:off x="6477000" y="666750"/>
            <a:ext cx="1504950" cy="2907506"/>
            <a:chOff x="5400554" y="1490663"/>
            <a:chExt cx="2266950" cy="3876675"/>
          </a:xfrm>
        </p:grpSpPr>
        <p:pic>
          <p:nvPicPr>
            <p:cNvPr id="31" name="Picture 3" descr="D:\Harshavardhan\datafolder\hmksave\hmk vit\VIT 2018-20\AY 20202021 New Robotics Course\RMC Theory Lectures PPTs Videos  and Notes etc\Images For Lect 5 Electrical Elex\water bottle 1 - Copy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00554" y="1490663"/>
              <a:ext cx="2266950" cy="3876675"/>
            </a:xfrm>
            <a:prstGeom prst="rect">
              <a:avLst/>
            </a:prstGeom>
            <a:noFill/>
          </p:spPr>
        </p:pic>
        <p:sp>
          <p:nvSpPr>
            <p:cNvPr id="32" name="Freeform 31"/>
            <p:cNvSpPr/>
            <p:nvPr/>
          </p:nvSpPr>
          <p:spPr>
            <a:xfrm>
              <a:off x="5791200" y="3429000"/>
              <a:ext cx="1160696" cy="1822137"/>
            </a:xfrm>
            <a:custGeom>
              <a:avLst/>
              <a:gdLst>
                <a:gd name="connsiteX0" fmla="*/ 172387 w 1396583"/>
                <a:gd name="connsiteY0" fmla="*/ 152400 h 1846288"/>
                <a:gd name="connsiteX1" fmla="*/ 187377 w 1396583"/>
                <a:gd name="connsiteY1" fmla="*/ 1111771 h 1846288"/>
                <a:gd name="connsiteX2" fmla="*/ 127416 w 1396583"/>
                <a:gd name="connsiteY2" fmla="*/ 1636426 h 1846288"/>
                <a:gd name="connsiteX3" fmla="*/ 322288 w 1396583"/>
                <a:gd name="connsiteY3" fmla="*/ 1816308 h 1846288"/>
                <a:gd name="connsiteX4" fmla="*/ 1011836 w 1396583"/>
                <a:gd name="connsiteY4" fmla="*/ 1816308 h 1846288"/>
                <a:gd name="connsiteX5" fmla="*/ 1221698 w 1396583"/>
                <a:gd name="connsiteY5" fmla="*/ 1681397 h 1846288"/>
                <a:gd name="connsiteX6" fmla="*/ 1221698 w 1396583"/>
                <a:gd name="connsiteY6" fmla="*/ 1276662 h 1846288"/>
                <a:gd name="connsiteX7" fmla="*/ 1221698 w 1396583"/>
                <a:gd name="connsiteY7" fmla="*/ 197371 h 1846288"/>
                <a:gd name="connsiteX8" fmla="*/ 172387 w 1396583"/>
                <a:gd name="connsiteY8" fmla="*/ 152400 h 1846288"/>
                <a:gd name="connsiteX0" fmla="*/ 172387 w 1393044"/>
                <a:gd name="connsiteY0" fmla="*/ 152400 h 1846288"/>
                <a:gd name="connsiteX1" fmla="*/ 187377 w 1393044"/>
                <a:gd name="connsiteY1" fmla="*/ 1111771 h 1846288"/>
                <a:gd name="connsiteX2" fmla="*/ 127416 w 1393044"/>
                <a:gd name="connsiteY2" fmla="*/ 1636426 h 1846288"/>
                <a:gd name="connsiteX3" fmla="*/ 322288 w 1393044"/>
                <a:gd name="connsiteY3" fmla="*/ 1816308 h 1846288"/>
                <a:gd name="connsiteX4" fmla="*/ 1011836 w 1393044"/>
                <a:gd name="connsiteY4" fmla="*/ 1816308 h 1846288"/>
                <a:gd name="connsiteX5" fmla="*/ 1221698 w 1393044"/>
                <a:gd name="connsiteY5" fmla="*/ 1681397 h 1846288"/>
                <a:gd name="connsiteX6" fmla="*/ 1221698 w 1393044"/>
                <a:gd name="connsiteY6" fmla="*/ 1276662 h 1846288"/>
                <a:gd name="connsiteX7" fmla="*/ 1200462 w 1393044"/>
                <a:gd name="connsiteY7" fmla="*/ 547141 h 1846288"/>
                <a:gd name="connsiteX8" fmla="*/ 1221698 w 1393044"/>
                <a:gd name="connsiteY8" fmla="*/ 197371 h 1846288"/>
                <a:gd name="connsiteX9" fmla="*/ 172387 w 1393044"/>
                <a:gd name="connsiteY9" fmla="*/ 152400 h 1846288"/>
                <a:gd name="connsiteX0" fmla="*/ 168847 w 1368268"/>
                <a:gd name="connsiteY0" fmla="*/ 144905 h 1838793"/>
                <a:gd name="connsiteX1" fmla="*/ 183837 w 1368268"/>
                <a:gd name="connsiteY1" fmla="*/ 1104276 h 1838793"/>
                <a:gd name="connsiteX2" fmla="*/ 123876 w 1368268"/>
                <a:gd name="connsiteY2" fmla="*/ 1628931 h 1838793"/>
                <a:gd name="connsiteX3" fmla="*/ 318748 w 1368268"/>
                <a:gd name="connsiteY3" fmla="*/ 1808813 h 1838793"/>
                <a:gd name="connsiteX4" fmla="*/ 1008296 w 1368268"/>
                <a:gd name="connsiteY4" fmla="*/ 1808813 h 1838793"/>
                <a:gd name="connsiteX5" fmla="*/ 1218158 w 1368268"/>
                <a:gd name="connsiteY5" fmla="*/ 1673902 h 1838793"/>
                <a:gd name="connsiteX6" fmla="*/ 1218158 w 1368268"/>
                <a:gd name="connsiteY6" fmla="*/ 1269167 h 1838793"/>
                <a:gd name="connsiteX7" fmla="*/ 1196922 w 1368268"/>
                <a:gd name="connsiteY7" fmla="*/ 539646 h 1838793"/>
                <a:gd name="connsiteX8" fmla="*/ 1196922 w 1368268"/>
                <a:gd name="connsiteY8" fmla="*/ 234846 h 1838793"/>
                <a:gd name="connsiteX9" fmla="*/ 168847 w 1368268"/>
                <a:gd name="connsiteY9" fmla="*/ 144905 h 1838793"/>
                <a:gd name="connsiteX0" fmla="*/ 168847 w 1253135"/>
                <a:gd name="connsiteY0" fmla="*/ 144905 h 1838793"/>
                <a:gd name="connsiteX1" fmla="*/ 183837 w 1253135"/>
                <a:gd name="connsiteY1" fmla="*/ 1104276 h 1838793"/>
                <a:gd name="connsiteX2" fmla="*/ 123876 w 1253135"/>
                <a:gd name="connsiteY2" fmla="*/ 1628931 h 1838793"/>
                <a:gd name="connsiteX3" fmla="*/ 318748 w 1253135"/>
                <a:gd name="connsiteY3" fmla="*/ 1808813 h 1838793"/>
                <a:gd name="connsiteX4" fmla="*/ 1008296 w 1253135"/>
                <a:gd name="connsiteY4" fmla="*/ 1808813 h 1838793"/>
                <a:gd name="connsiteX5" fmla="*/ 1218158 w 1253135"/>
                <a:gd name="connsiteY5" fmla="*/ 1673902 h 1838793"/>
                <a:gd name="connsiteX6" fmla="*/ 1218158 w 1253135"/>
                <a:gd name="connsiteY6" fmla="*/ 1269167 h 1838793"/>
                <a:gd name="connsiteX7" fmla="*/ 1196922 w 1253135"/>
                <a:gd name="connsiteY7" fmla="*/ 539646 h 1838793"/>
                <a:gd name="connsiteX8" fmla="*/ 1196922 w 1253135"/>
                <a:gd name="connsiteY8" fmla="*/ 234846 h 1838793"/>
                <a:gd name="connsiteX9" fmla="*/ 168847 w 1253135"/>
                <a:gd name="connsiteY9" fmla="*/ 144905 h 1838793"/>
                <a:gd name="connsiteX0" fmla="*/ 186336 w 1270624"/>
                <a:gd name="connsiteY0" fmla="*/ 144905 h 1838793"/>
                <a:gd name="connsiteX1" fmla="*/ 223812 w 1270624"/>
                <a:gd name="connsiteY1" fmla="*/ 463446 h 1838793"/>
                <a:gd name="connsiteX2" fmla="*/ 201326 w 1270624"/>
                <a:gd name="connsiteY2" fmla="*/ 1104276 h 1838793"/>
                <a:gd name="connsiteX3" fmla="*/ 141365 w 1270624"/>
                <a:gd name="connsiteY3" fmla="*/ 1628931 h 1838793"/>
                <a:gd name="connsiteX4" fmla="*/ 336237 w 1270624"/>
                <a:gd name="connsiteY4" fmla="*/ 1808813 h 1838793"/>
                <a:gd name="connsiteX5" fmla="*/ 1025785 w 1270624"/>
                <a:gd name="connsiteY5" fmla="*/ 1808813 h 1838793"/>
                <a:gd name="connsiteX6" fmla="*/ 1235647 w 1270624"/>
                <a:gd name="connsiteY6" fmla="*/ 1673902 h 1838793"/>
                <a:gd name="connsiteX7" fmla="*/ 1235647 w 1270624"/>
                <a:gd name="connsiteY7" fmla="*/ 1269167 h 1838793"/>
                <a:gd name="connsiteX8" fmla="*/ 1214411 w 1270624"/>
                <a:gd name="connsiteY8" fmla="*/ 539646 h 1838793"/>
                <a:gd name="connsiteX9" fmla="*/ 1214411 w 1270624"/>
                <a:gd name="connsiteY9" fmla="*/ 234846 h 1838793"/>
                <a:gd name="connsiteX10" fmla="*/ 186336 w 1270624"/>
                <a:gd name="connsiteY10" fmla="*/ 144905 h 1838793"/>
                <a:gd name="connsiteX0" fmla="*/ 186336 w 1233148"/>
                <a:gd name="connsiteY0" fmla="*/ 144905 h 1901252"/>
                <a:gd name="connsiteX1" fmla="*/ 186336 w 1233148"/>
                <a:gd name="connsiteY1" fmla="*/ 525905 h 1901252"/>
                <a:gd name="connsiteX2" fmla="*/ 163850 w 1233148"/>
                <a:gd name="connsiteY2" fmla="*/ 1166735 h 1901252"/>
                <a:gd name="connsiteX3" fmla="*/ 103889 w 1233148"/>
                <a:gd name="connsiteY3" fmla="*/ 1691390 h 1901252"/>
                <a:gd name="connsiteX4" fmla="*/ 298761 w 1233148"/>
                <a:gd name="connsiteY4" fmla="*/ 1871272 h 1901252"/>
                <a:gd name="connsiteX5" fmla="*/ 988309 w 1233148"/>
                <a:gd name="connsiteY5" fmla="*/ 1871272 h 1901252"/>
                <a:gd name="connsiteX6" fmla="*/ 1198171 w 1233148"/>
                <a:gd name="connsiteY6" fmla="*/ 1736361 h 1901252"/>
                <a:gd name="connsiteX7" fmla="*/ 1198171 w 1233148"/>
                <a:gd name="connsiteY7" fmla="*/ 1331626 h 1901252"/>
                <a:gd name="connsiteX8" fmla="*/ 1176935 w 1233148"/>
                <a:gd name="connsiteY8" fmla="*/ 602105 h 1901252"/>
                <a:gd name="connsiteX9" fmla="*/ 1176935 w 1233148"/>
                <a:gd name="connsiteY9" fmla="*/ 297305 h 1901252"/>
                <a:gd name="connsiteX10" fmla="*/ 186336 w 1233148"/>
                <a:gd name="connsiteY10" fmla="*/ 144905 h 1901252"/>
                <a:gd name="connsiteX0" fmla="*/ 104932 w 1151744"/>
                <a:gd name="connsiteY0" fmla="*/ 144905 h 1901252"/>
                <a:gd name="connsiteX1" fmla="*/ 104932 w 1151744"/>
                <a:gd name="connsiteY1" fmla="*/ 525905 h 1901252"/>
                <a:gd name="connsiteX2" fmla="*/ 82446 w 1151744"/>
                <a:gd name="connsiteY2" fmla="*/ 1166735 h 1901252"/>
                <a:gd name="connsiteX3" fmla="*/ 22485 w 1151744"/>
                <a:gd name="connsiteY3" fmla="*/ 1691390 h 1901252"/>
                <a:gd name="connsiteX4" fmla="*/ 217357 w 1151744"/>
                <a:gd name="connsiteY4" fmla="*/ 1871272 h 1901252"/>
                <a:gd name="connsiteX5" fmla="*/ 906905 w 1151744"/>
                <a:gd name="connsiteY5" fmla="*/ 1871272 h 1901252"/>
                <a:gd name="connsiteX6" fmla="*/ 1116767 w 1151744"/>
                <a:gd name="connsiteY6" fmla="*/ 1736361 h 1901252"/>
                <a:gd name="connsiteX7" fmla="*/ 1116767 w 1151744"/>
                <a:gd name="connsiteY7" fmla="*/ 1331626 h 1901252"/>
                <a:gd name="connsiteX8" fmla="*/ 1095531 w 1151744"/>
                <a:gd name="connsiteY8" fmla="*/ 602105 h 1901252"/>
                <a:gd name="connsiteX9" fmla="*/ 1095531 w 1151744"/>
                <a:gd name="connsiteY9" fmla="*/ 297305 h 1901252"/>
                <a:gd name="connsiteX10" fmla="*/ 104932 w 1151744"/>
                <a:gd name="connsiteY10" fmla="*/ 144905 h 1901252"/>
                <a:gd name="connsiteX0" fmla="*/ 104932 w 1151744"/>
                <a:gd name="connsiteY0" fmla="*/ 0 h 1756347"/>
                <a:gd name="connsiteX1" fmla="*/ 104932 w 1151744"/>
                <a:gd name="connsiteY1" fmla="*/ 381000 h 1756347"/>
                <a:gd name="connsiteX2" fmla="*/ 82446 w 1151744"/>
                <a:gd name="connsiteY2" fmla="*/ 1021830 h 1756347"/>
                <a:gd name="connsiteX3" fmla="*/ 22485 w 1151744"/>
                <a:gd name="connsiteY3" fmla="*/ 1546485 h 1756347"/>
                <a:gd name="connsiteX4" fmla="*/ 217357 w 1151744"/>
                <a:gd name="connsiteY4" fmla="*/ 1726367 h 1756347"/>
                <a:gd name="connsiteX5" fmla="*/ 906905 w 1151744"/>
                <a:gd name="connsiteY5" fmla="*/ 1726367 h 1756347"/>
                <a:gd name="connsiteX6" fmla="*/ 1116767 w 1151744"/>
                <a:gd name="connsiteY6" fmla="*/ 1591456 h 1756347"/>
                <a:gd name="connsiteX7" fmla="*/ 1116767 w 1151744"/>
                <a:gd name="connsiteY7" fmla="*/ 1186721 h 1756347"/>
                <a:gd name="connsiteX8" fmla="*/ 1095531 w 1151744"/>
                <a:gd name="connsiteY8" fmla="*/ 457200 h 1756347"/>
                <a:gd name="connsiteX9" fmla="*/ 1095531 w 1151744"/>
                <a:gd name="connsiteY9" fmla="*/ 152400 h 1756347"/>
                <a:gd name="connsiteX10" fmla="*/ 104932 w 1151744"/>
                <a:gd name="connsiteY10" fmla="*/ 0 h 1756347"/>
                <a:gd name="connsiteX0" fmla="*/ 104932 w 1151744"/>
                <a:gd name="connsiteY0" fmla="*/ 65790 h 1822137"/>
                <a:gd name="connsiteX1" fmla="*/ 104932 w 1151744"/>
                <a:gd name="connsiteY1" fmla="*/ 446790 h 1822137"/>
                <a:gd name="connsiteX2" fmla="*/ 82446 w 1151744"/>
                <a:gd name="connsiteY2" fmla="*/ 1087620 h 1822137"/>
                <a:gd name="connsiteX3" fmla="*/ 22485 w 1151744"/>
                <a:gd name="connsiteY3" fmla="*/ 1612275 h 1822137"/>
                <a:gd name="connsiteX4" fmla="*/ 217357 w 1151744"/>
                <a:gd name="connsiteY4" fmla="*/ 1792157 h 1822137"/>
                <a:gd name="connsiteX5" fmla="*/ 906905 w 1151744"/>
                <a:gd name="connsiteY5" fmla="*/ 1792157 h 1822137"/>
                <a:gd name="connsiteX6" fmla="*/ 1116767 w 1151744"/>
                <a:gd name="connsiteY6" fmla="*/ 1657246 h 1822137"/>
                <a:gd name="connsiteX7" fmla="*/ 1116767 w 1151744"/>
                <a:gd name="connsiteY7" fmla="*/ 1252511 h 1822137"/>
                <a:gd name="connsiteX8" fmla="*/ 1095531 w 1151744"/>
                <a:gd name="connsiteY8" fmla="*/ 522990 h 1822137"/>
                <a:gd name="connsiteX9" fmla="*/ 1095532 w 1151744"/>
                <a:gd name="connsiteY9" fmla="*/ 65790 h 1822137"/>
                <a:gd name="connsiteX10" fmla="*/ 104932 w 1151744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04483 w 1160696"/>
                <a:gd name="connsiteY8" fmla="*/ 52299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43000 w 1160696"/>
                <a:gd name="connsiteY8" fmla="*/ 45720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0696" h="1822137">
                  <a:moveTo>
                    <a:pt x="113884" y="65790"/>
                  </a:moveTo>
                  <a:cubicBezTo>
                    <a:pt x="72453" y="127000"/>
                    <a:pt x="126584" y="281690"/>
                    <a:pt x="113884" y="446790"/>
                  </a:cubicBezTo>
                  <a:cubicBezTo>
                    <a:pt x="101184" y="611890"/>
                    <a:pt x="51425" y="862143"/>
                    <a:pt x="37684" y="1056390"/>
                  </a:cubicBezTo>
                  <a:cubicBezTo>
                    <a:pt x="23943" y="1250637"/>
                    <a:pt x="0" y="1489647"/>
                    <a:pt x="31437" y="1612275"/>
                  </a:cubicBezTo>
                  <a:cubicBezTo>
                    <a:pt x="62874" y="1734903"/>
                    <a:pt x="78906" y="1762177"/>
                    <a:pt x="226309" y="1792157"/>
                  </a:cubicBezTo>
                  <a:cubicBezTo>
                    <a:pt x="373712" y="1822137"/>
                    <a:pt x="765955" y="1814642"/>
                    <a:pt x="915857" y="1792157"/>
                  </a:cubicBezTo>
                  <a:cubicBezTo>
                    <a:pt x="1065759" y="1769672"/>
                    <a:pt x="1090742" y="1747187"/>
                    <a:pt x="1125719" y="1657246"/>
                  </a:cubicBezTo>
                  <a:cubicBezTo>
                    <a:pt x="1160696" y="1567305"/>
                    <a:pt x="1122839" y="1452519"/>
                    <a:pt x="1125719" y="1252511"/>
                  </a:cubicBezTo>
                  <a:cubicBezTo>
                    <a:pt x="1128599" y="1052503"/>
                    <a:pt x="1146539" y="654987"/>
                    <a:pt x="1143000" y="457200"/>
                  </a:cubicBezTo>
                  <a:cubicBezTo>
                    <a:pt x="1139461" y="259413"/>
                    <a:pt x="1069715" y="85360"/>
                    <a:pt x="1104484" y="65790"/>
                  </a:cubicBezTo>
                  <a:cubicBezTo>
                    <a:pt x="933138" y="0"/>
                    <a:pt x="317708" y="92023"/>
                    <a:pt x="113884" y="65790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/>
          <p:cNvSpPr/>
          <p:nvPr/>
        </p:nvSpPr>
        <p:spPr>
          <a:xfrm>
            <a:off x="914400" y="3543300"/>
            <a:ext cx="1828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Empty Bottle</a:t>
            </a:r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886200" y="3543300"/>
            <a:ext cx="167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Half filled</a:t>
            </a:r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19800" y="3543300"/>
            <a:ext cx="289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Turned upside down !</a:t>
            </a:r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9600" y="3829051"/>
            <a:ext cx="2590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Locate the CG of system of gripper and empty bottle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4200" y="3906619"/>
            <a:ext cx="281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Is the CG of system at the same point 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19800" y="3943350"/>
            <a:ext cx="281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Where is the CG of system now ?</a:t>
            </a:r>
          </a:p>
        </p:txBody>
      </p:sp>
      <p:grpSp>
        <p:nvGrpSpPr>
          <p:cNvPr id="24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7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0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9" presetClass="exit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Facets of Engineering Mechanics : A Glance</a:t>
            </a:r>
            <a:endParaRPr lang="en-US" sz="16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2" name="Group 73"/>
          <p:cNvGrpSpPr/>
          <p:nvPr/>
        </p:nvGrpSpPr>
        <p:grpSpPr>
          <a:xfrm>
            <a:off x="2438400" y="571500"/>
            <a:ext cx="5334000" cy="800100"/>
            <a:chOff x="2438400" y="762000"/>
            <a:chExt cx="5334000" cy="1066800"/>
          </a:xfrm>
        </p:grpSpPr>
        <p:cxnSp>
          <p:nvCxnSpPr>
            <p:cNvPr id="23" name="Straight Connector 22"/>
            <p:cNvCxnSpPr/>
            <p:nvPr/>
          </p:nvCxnSpPr>
          <p:spPr>
            <a:xfrm rot="5400000">
              <a:off x="4457700" y="1028700"/>
              <a:ext cx="5334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438400" y="1295400"/>
              <a:ext cx="5334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2171700" y="1562100"/>
              <a:ext cx="5334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7505700" y="1562100"/>
              <a:ext cx="5334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1066800" y="1371600"/>
            <a:ext cx="2819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Mechanics of Solids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19800" y="1371600"/>
            <a:ext cx="2819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Mechanics of Fluids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Mechanics of Rigid Bodies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810000" y="2286000"/>
            <a:ext cx="2514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Mechanics of Deformable Bodies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3" name="Group 74"/>
          <p:cNvGrpSpPr/>
          <p:nvPr/>
        </p:nvGrpSpPr>
        <p:grpSpPr>
          <a:xfrm>
            <a:off x="1828800" y="1828800"/>
            <a:ext cx="3276600" cy="457200"/>
            <a:chOff x="1828800" y="2438400"/>
            <a:chExt cx="3276600" cy="609600"/>
          </a:xfrm>
        </p:grpSpPr>
        <p:cxnSp>
          <p:nvCxnSpPr>
            <p:cNvPr id="35" name="Straight Connector 34"/>
            <p:cNvCxnSpPr/>
            <p:nvPr/>
          </p:nvCxnSpPr>
          <p:spPr>
            <a:xfrm rot="5400000">
              <a:off x="1676400" y="28956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953000" y="28956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1828800" y="2743200"/>
              <a:ext cx="32766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2286000" y="2590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/>
          <p:cNvSpPr/>
          <p:nvPr/>
        </p:nvSpPr>
        <p:spPr>
          <a:xfrm>
            <a:off x="914400" y="3200400"/>
            <a:ext cx="1143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Statics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438400" y="3200400"/>
            <a:ext cx="1600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Dynamics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524000" y="4114800"/>
            <a:ext cx="1600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Kinematics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429000" y="4114800"/>
            <a:ext cx="1295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Kinetics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4" name="Group 75"/>
          <p:cNvGrpSpPr/>
          <p:nvPr/>
        </p:nvGrpSpPr>
        <p:grpSpPr>
          <a:xfrm>
            <a:off x="1447800" y="2743200"/>
            <a:ext cx="1828800" cy="457200"/>
            <a:chOff x="1447800" y="3657600"/>
            <a:chExt cx="1828800" cy="609600"/>
          </a:xfrm>
        </p:grpSpPr>
        <p:cxnSp>
          <p:nvCxnSpPr>
            <p:cNvPr id="46" name="Straight Connector 45"/>
            <p:cNvCxnSpPr/>
            <p:nvPr/>
          </p:nvCxnSpPr>
          <p:spPr>
            <a:xfrm rot="5400000">
              <a:off x="1295400" y="4114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3124200" y="4114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447800" y="3962400"/>
              <a:ext cx="1828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2057400" y="3810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77"/>
          <p:cNvGrpSpPr/>
          <p:nvPr/>
        </p:nvGrpSpPr>
        <p:grpSpPr>
          <a:xfrm>
            <a:off x="2362200" y="3657600"/>
            <a:ext cx="1828800" cy="457200"/>
            <a:chOff x="2362200" y="4876800"/>
            <a:chExt cx="1828800" cy="609600"/>
          </a:xfrm>
        </p:grpSpPr>
        <p:cxnSp>
          <p:nvCxnSpPr>
            <p:cNvPr id="53" name="Straight Connector 52"/>
            <p:cNvCxnSpPr/>
            <p:nvPr/>
          </p:nvCxnSpPr>
          <p:spPr>
            <a:xfrm rot="5400000">
              <a:off x="2209800" y="5334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4038600" y="5334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362200" y="5181600"/>
              <a:ext cx="1828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124200" y="50292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/>
          <p:cNvSpPr/>
          <p:nvPr/>
        </p:nvSpPr>
        <p:spPr>
          <a:xfrm>
            <a:off x="4267200" y="3200400"/>
            <a:ext cx="1371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Elasticity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867400" y="3200400"/>
            <a:ext cx="1371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Plasticity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7" name="Group 76"/>
          <p:cNvGrpSpPr/>
          <p:nvPr/>
        </p:nvGrpSpPr>
        <p:grpSpPr>
          <a:xfrm>
            <a:off x="4800600" y="2743200"/>
            <a:ext cx="1828800" cy="457200"/>
            <a:chOff x="4800600" y="3657600"/>
            <a:chExt cx="1828800" cy="609600"/>
          </a:xfrm>
        </p:grpSpPr>
        <p:cxnSp>
          <p:nvCxnSpPr>
            <p:cNvPr id="60" name="Straight Connector 59"/>
            <p:cNvCxnSpPr/>
            <p:nvPr/>
          </p:nvCxnSpPr>
          <p:spPr>
            <a:xfrm rot="5400000">
              <a:off x="4648200" y="4114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5400000">
              <a:off x="6477000" y="41148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4800600" y="3962400"/>
              <a:ext cx="1828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5410200" y="3810000"/>
              <a:ext cx="3048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Straight Connector 65"/>
          <p:cNvCxnSpPr/>
          <p:nvPr/>
        </p:nvCxnSpPr>
        <p:spPr>
          <a:xfrm rot="5400000">
            <a:off x="6743700" y="2857500"/>
            <a:ext cx="2057400" cy="0"/>
          </a:xfrm>
          <a:prstGeom prst="line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019800" y="3886200"/>
            <a:ext cx="2667000" cy="800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Ideal fluid</a:t>
            </a:r>
          </a:p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Viscous fluid</a:t>
            </a:r>
          </a:p>
          <a:p>
            <a:pPr lvl="0" algn="ctr"/>
            <a:r>
              <a:rPr lang="en-US" sz="1600" b="1" dirty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Incompressible fluid</a:t>
            </a:r>
            <a:endParaRPr lang="en-US" sz="11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49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64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65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67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 animBg="1"/>
      <p:bldP spid="32" grpId="0" animBg="1"/>
      <p:bldP spid="33" grpId="0" animBg="1"/>
      <p:bldP spid="34" grpId="0" animBg="1"/>
      <p:bldP spid="42" grpId="0" animBg="1"/>
      <p:bldP spid="43" grpId="0" animBg="1"/>
      <p:bldP spid="44" grpId="0" animBg="1"/>
      <p:bldP spid="45" grpId="0" animBg="1"/>
      <p:bldP spid="58" grpId="0" animBg="1"/>
      <p:bldP spid="59" grpId="0" animBg="1"/>
      <p:bldP spid="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Statics And Dynamics</a:t>
            </a:r>
            <a:endParaRPr lang="en-US" sz="28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873636"/>
            <a:ext cx="7924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Statics –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Study of behavior of rigid bodies under the action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of 		   applied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forces when they are at 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Rest</a:t>
            </a:r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771650"/>
            <a:ext cx="7924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Dynamics –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Study of behavior of rigid bodies under the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action of 	        applied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forces when they are in 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Motion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</a:t>
            </a:r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Slide Number Placeholder 11"/>
          <p:cNvSpPr txBox="1">
            <a:spLocks/>
          </p:cNvSpPr>
          <p:nvPr/>
        </p:nvSpPr>
        <p:spPr>
          <a:xfrm>
            <a:off x="990600" y="4812030"/>
            <a:ext cx="1981200" cy="27432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52600" y="2876550"/>
            <a:ext cx="6934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indent="-1588" algn="just" fontAlgn="base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Kinetics –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Study of the Motion of the bodies 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due to the application of forces.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2600" y="3562350"/>
            <a:ext cx="685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indent="-1588" algn="just" fontAlgn="base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Kinematics –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Study of motion of the bodies 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without considering the forces </a:t>
            </a:r>
          </a:p>
        </p:txBody>
      </p:sp>
      <p:grpSp>
        <p:nvGrpSpPr>
          <p:cNvPr id="2" name="Group 20"/>
          <p:cNvGrpSpPr/>
          <p:nvPr/>
        </p:nvGrpSpPr>
        <p:grpSpPr>
          <a:xfrm>
            <a:off x="1370013" y="2114550"/>
            <a:ext cx="382587" cy="1676401"/>
            <a:chOff x="1370013" y="2338387"/>
            <a:chExt cx="382587" cy="2235201"/>
          </a:xfrm>
        </p:grpSpPr>
        <p:cxnSp>
          <p:nvCxnSpPr>
            <p:cNvPr id="17" name="Elbow Connector 16"/>
            <p:cNvCxnSpPr/>
            <p:nvPr/>
          </p:nvCxnSpPr>
          <p:spPr>
            <a:xfrm>
              <a:off x="1371600" y="3582988"/>
              <a:ext cx="381000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16"/>
            <p:cNvCxnSpPr/>
            <p:nvPr/>
          </p:nvCxnSpPr>
          <p:spPr>
            <a:xfrm>
              <a:off x="1371600" y="4572000"/>
              <a:ext cx="381000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16"/>
            <p:cNvCxnSpPr/>
            <p:nvPr/>
          </p:nvCxnSpPr>
          <p:spPr>
            <a:xfrm rot="5400000">
              <a:off x="253603" y="3454797"/>
              <a:ext cx="2234407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33350"/>
            <a:ext cx="4114800" cy="40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Dynamics - Example     </a:t>
            </a:r>
            <a:endParaRPr lang="en-US" sz="14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26" name="Picture 2" descr="C:\Users\addmission\Desktop\image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66750"/>
            <a:ext cx="4419600" cy="29718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5715000" y="1352550"/>
            <a:ext cx="259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Kinematics –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    How fast ??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    How far ?? 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    How long ??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36887"/>
            <a:ext cx="297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Kinetics –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Which forces ?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    What direction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363855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Rollercoaster </a:t>
            </a:r>
          </a:p>
        </p:txBody>
      </p:sp>
      <p:pic>
        <p:nvPicPr>
          <p:cNvPr id="15" name="Picture 14" descr="Question Mark Clipart - 64 cliparts | This or that questions, Smiley, Emoji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2838450"/>
            <a:ext cx="14478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90600" y="4114800"/>
            <a:ext cx="7086600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Can you make a list of different physical quantities associated with this system ??</a:t>
            </a:r>
          </a:p>
        </p:txBody>
      </p:sp>
      <p:grpSp>
        <p:nvGrpSpPr>
          <p:cNvPr id="17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1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3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66800" y="857250"/>
            <a:ext cx="58674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Robot is a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rigid body. </a:t>
            </a:r>
            <a:r>
              <a:rPr lang="en-US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(What is a Rigid Body ?)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257300"/>
            <a:ext cx="78486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Robot is acted by forces at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rest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in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motion.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771650"/>
            <a:ext cx="7924800" cy="182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Robot needs to have …..</a:t>
            </a:r>
          </a:p>
          <a:p>
            <a:pPr marL="1428750" lvl="2" indent="-514350" algn="just" fontAlgn="t">
              <a:buFont typeface="Wingdings" pitchFamily="2" charset="2"/>
              <a:buChar char="§"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Coordination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1428750" lvl="2" indent="-514350" algn="just" fontAlgn="t">
              <a:buFont typeface="Wingdings" pitchFamily="2" charset="2"/>
              <a:buChar char="§"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Synchronization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1428750" lvl="2" indent="-514350" algn="just" fontAlgn="t">
              <a:buFont typeface="Wingdings" pitchFamily="2" charset="2"/>
              <a:buChar char="§"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Stability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1428750" lvl="2" indent="-514350" algn="just" fontAlgn="t">
              <a:buFont typeface="Wingdings" pitchFamily="2" charset="2"/>
              <a:buChar char="§"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Balance </a:t>
            </a:r>
          </a:p>
          <a:p>
            <a:pPr marL="514350" lvl="2" indent="-169863" algn="just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within its structural parts at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rest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in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motion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as well.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7800" y="3943350"/>
            <a:ext cx="67818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ctr" fontAlgn="t"/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/>
              </a:rPr>
              <a:t>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Sound knowledge of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Statics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Dynamics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necessary !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8200" y="114300"/>
            <a:ext cx="8001000" cy="514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lvl="0"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Importance of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Statics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Dynamics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Robotics </a:t>
            </a:r>
            <a:endParaRPr lang="en-US" sz="20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endParaRPr lang="en-US" sz="14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9906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 rot="16200000" flipV="1">
            <a:off x="4153694" y="3753644"/>
            <a:ext cx="533400" cy="150812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6200000" flipV="1">
            <a:off x="5561806" y="3639344"/>
            <a:ext cx="457200" cy="303212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Particle – Body – Rigidity – Deformation  </a:t>
            </a:r>
            <a:endParaRPr lang="en-US" sz="20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0" y="628650"/>
            <a:ext cx="79248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fontAlgn="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particle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occupies a point in space with negligible dimensions and has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 size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shape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1257300"/>
            <a:ext cx="7924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fontAlgn="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body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composed of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infinite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number of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particles.</a:t>
            </a: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1657350"/>
            <a:ext cx="7924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fontAlgn="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body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has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definite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size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shape.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057400"/>
            <a:ext cx="7924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fontAlgn="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body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always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limited in all directions. </a:t>
            </a: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050" smtClean="0"/>
              <a:pPr/>
              <a:t>8</a:t>
            </a:fld>
            <a:endParaRPr lang="en-US" sz="1050"/>
          </a:p>
        </p:txBody>
      </p:sp>
      <p:sp>
        <p:nvSpPr>
          <p:cNvPr id="15" name="Rectangle 14"/>
          <p:cNvSpPr/>
          <p:nvPr/>
        </p:nvSpPr>
        <p:spPr>
          <a:xfrm>
            <a:off x="914400" y="2457450"/>
            <a:ext cx="8001000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 a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Rigid body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distance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between its particles does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not change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under the action of the forces.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143250"/>
            <a:ext cx="8001000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3838" indent="-223838" algn="just" fontAlgn="t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Rigid body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an idealized concept as there is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 body in the Universe which is 100% Rigid.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3771900"/>
            <a:ext cx="8001000" cy="971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925" indent="-288925" algn="just" fontAlgn="t"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Every body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always suffers from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deformation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However, if it is extremely small, can be neglected and will not change its overall dimensions.</a:t>
            </a:r>
          </a:p>
        </p:txBody>
      </p:sp>
      <p:grpSp>
        <p:nvGrpSpPr>
          <p:cNvPr id="19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800" y="285750"/>
            <a:ext cx="1828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Rigid Body </a:t>
            </a:r>
            <a:endParaRPr lang="en-US" sz="20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050" smtClean="0"/>
              <a:pPr/>
              <a:t>9</a:t>
            </a:fld>
            <a:endParaRPr lang="en-US" sz="1050" dirty="0"/>
          </a:p>
        </p:txBody>
      </p:sp>
      <p:sp>
        <p:nvSpPr>
          <p:cNvPr id="20" name="Rectangle 19"/>
          <p:cNvSpPr/>
          <p:nvPr/>
        </p:nvSpPr>
        <p:spPr>
          <a:xfrm>
            <a:off x="5867400" y="285750"/>
            <a:ext cx="2514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Deformable Body </a:t>
            </a:r>
            <a:endParaRPr lang="en-US" sz="20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19200" y="971550"/>
            <a:ext cx="1600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Negligible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2400" y="971550"/>
            <a:ext cx="1981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Deformation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971550"/>
            <a:ext cx="2209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Considerable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48000" y="1714500"/>
            <a:ext cx="3048000" cy="57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ctr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Distance </a:t>
            </a:r>
          </a:p>
          <a:p>
            <a:pPr marL="230188" indent="-230188" algn="ctr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between  particles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19200" y="1600200"/>
            <a:ext cx="1676400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Negligible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600200"/>
            <a:ext cx="2057400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/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Considerable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2400" y="2400300"/>
            <a:ext cx="1981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Equilibrium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8600" y="3028950"/>
            <a:ext cx="1447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9200" y="2400300"/>
            <a:ext cx="1981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Maintained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400300"/>
            <a:ext cx="1981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Disturbed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9200" y="3028950"/>
            <a:ext cx="1752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 Motion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8400" y="3086100"/>
            <a:ext cx="2743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fontAlgn="t"/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Motion takes place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rot="10800000">
            <a:off x="2971800" y="3314700"/>
            <a:ext cx="760412" cy="1191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10800000">
            <a:off x="2971801" y="2686050"/>
            <a:ext cx="760412" cy="1191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10800000">
            <a:off x="2971801" y="1941908"/>
            <a:ext cx="760412" cy="1191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>
            <a:off x="2971801" y="1257300"/>
            <a:ext cx="760412" cy="1191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562601" y="1257300"/>
            <a:ext cx="763587" cy="1191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486401" y="1941909"/>
            <a:ext cx="763587" cy="1191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486401" y="2684859"/>
            <a:ext cx="763587" cy="1191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486401" y="3313509"/>
            <a:ext cx="763587" cy="1191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505200" y="3657600"/>
            <a:ext cx="2133600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ctr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Size and </a:t>
            </a:r>
          </a:p>
          <a:p>
            <a:pPr marL="230188" indent="-230188" algn="ctr" fontAlgn="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Shape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rot="10800000">
            <a:off x="2971801" y="3830241"/>
            <a:ext cx="760412" cy="1191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486402" y="3829050"/>
            <a:ext cx="763587" cy="1191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219200" y="3600450"/>
            <a:ext cx="1752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algn="just" fontAlgn="t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 change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4600" y="3657600"/>
            <a:ext cx="1600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0188" indent="-230188" fontAlgn="t"/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Changes</a:t>
            </a:r>
          </a:p>
        </p:txBody>
      </p:sp>
      <p:grpSp>
        <p:nvGrpSpPr>
          <p:cNvPr id="37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5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5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7" grpId="0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269185"/>
            <a:ext cx="5257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What is a 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Force</a:t>
            </a:r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?</a:t>
            </a:r>
            <a:endParaRPr lang="en-US" sz="2400" b="1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4400" y="1600200"/>
            <a:ext cx="46482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Force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is the 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capacity to do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28900"/>
            <a:ext cx="76200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lvl="1" indent="-514350" algn="just" fontAlgn="t"/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Force is a 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vector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quantity, SI unit is 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Newton 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Kg.m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/s</a:t>
            </a:r>
            <a:r>
              <a:rPr lang="en-US" sz="20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114550"/>
            <a:ext cx="51054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Force produces motion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 the body.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86100"/>
            <a:ext cx="7924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lvl="1" indent="-514350" algn="just" fontAlgn="t"/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Force causes…. 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1) Translation or 2) Rotation or 3) both.   </a:t>
            </a:r>
          </a:p>
        </p:txBody>
      </p:sp>
      <p:grpSp>
        <p:nvGrpSpPr>
          <p:cNvPr id="15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19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1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Force has ………  </a:t>
            </a:r>
            <a:endParaRPr lang="en-US" sz="28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90600" y="666750"/>
            <a:ext cx="51054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Magnitude –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e.g. 100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Newtons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1123950"/>
            <a:ext cx="7772400" cy="1409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>
              <a:lnSpc>
                <a:spcPts val="4000"/>
              </a:lnSpc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Direction –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angle made with + X axis. For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e.g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….</a:t>
            </a:r>
          </a:p>
          <a:p>
            <a:pPr marL="514350" indent="-514350" algn="just" fontAlgn="t">
              <a:lnSpc>
                <a:spcPts val="4000"/>
              </a:lnSpc>
            </a:pPr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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+ 50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i.e.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CCW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(1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Quadrant) </a:t>
            </a:r>
          </a:p>
          <a:p>
            <a:pPr marL="514350" indent="-514350" algn="just" fontAlgn="t">
              <a:lnSpc>
                <a:spcPts val="4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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 40</a:t>
            </a:r>
            <a:r>
              <a:rPr lang="en-US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i.e. CW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(4</a:t>
            </a:r>
            <a:r>
              <a:rPr lang="en-US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Quadrant)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0600" y="2743200"/>
            <a:ext cx="49530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Sense –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either a Push or a Pull.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3200400"/>
            <a:ext cx="7772400" cy="857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Point of Application of Force –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is the point on the body at which the force can be assumed to be concentrated.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600" y="4114800"/>
            <a:ext cx="7696200" cy="62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Line of Action of Force –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line in which the force tends to move the body.</a:t>
            </a:r>
          </a:p>
        </p:txBody>
      </p:sp>
      <p:grpSp>
        <p:nvGrpSpPr>
          <p:cNvPr id="2" name="Group 33"/>
          <p:cNvGrpSpPr/>
          <p:nvPr/>
        </p:nvGrpSpPr>
        <p:grpSpPr>
          <a:xfrm>
            <a:off x="7391400" y="1371600"/>
            <a:ext cx="990600" cy="800100"/>
            <a:chOff x="7543800" y="1219200"/>
            <a:chExt cx="990600" cy="1143000"/>
          </a:xfrm>
        </p:grpSpPr>
        <p:cxnSp>
          <p:nvCxnSpPr>
            <p:cNvPr id="14" name="Straight Connector 13"/>
            <p:cNvCxnSpPr/>
            <p:nvPr/>
          </p:nvCxnSpPr>
          <p:spPr>
            <a:xfrm rot="5400000">
              <a:off x="7505700" y="1943100"/>
              <a:ext cx="838200" cy="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543800" y="1905000"/>
              <a:ext cx="914400" cy="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 flipH="1" flipV="1">
              <a:off x="7848600" y="1600200"/>
              <a:ext cx="381000" cy="2286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8153400" y="1219200"/>
              <a:ext cx="3810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 algn="just" fontAlgn="t"/>
              <a:r>
                <a:rPr lang="en-US" sz="16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F</a:t>
              </a:r>
            </a:p>
          </p:txBody>
        </p:sp>
      </p:grpSp>
      <p:grpSp>
        <p:nvGrpSpPr>
          <p:cNvPr id="3" name="Group 34"/>
          <p:cNvGrpSpPr/>
          <p:nvPr/>
        </p:nvGrpSpPr>
        <p:grpSpPr>
          <a:xfrm>
            <a:off x="6858000" y="2114550"/>
            <a:ext cx="1295400" cy="685800"/>
            <a:chOff x="7010400" y="2895600"/>
            <a:chExt cx="1295400" cy="1143000"/>
          </a:xfrm>
        </p:grpSpPr>
        <p:cxnSp>
          <p:nvCxnSpPr>
            <p:cNvPr id="28" name="Straight Connector 27"/>
            <p:cNvCxnSpPr/>
            <p:nvPr/>
          </p:nvCxnSpPr>
          <p:spPr>
            <a:xfrm rot="5400000">
              <a:off x="6972300" y="3314700"/>
              <a:ext cx="838200" cy="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10400" y="3276600"/>
              <a:ext cx="914400" cy="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7391400" y="3276600"/>
              <a:ext cx="533400" cy="4572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7924800" y="3429000"/>
              <a:ext cx="3810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 algn="just" fontAlgn="t"/>
              <a:r>
                <a:rPr lang="en-US" sz="16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F</a:t>
              </a:r>
            </a:p>
          </p:txBody>
        </p:sp>
      </p:grpSp>
      <p:grpSp>
        <p:nvGrpSpPr>
          <p:cNvPr id="27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4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5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8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Force System  </a:t>
            </a:r>
            <a:endParaRPr lang="en-US" sz="20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0600" y="800100"/>
            <a:ext cx="7696200" cy="1028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“Force System”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consists of multiple forces acting on a body at a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point.</a:t>
            </a:r>
          </a:p>
          <a:p>
            <a:pPr algn="jus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	Types of Force system are …..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2057400"/>
            <a:ext cx="7162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1) Co-planar and Non-Coplanar Force system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2628900"/>
            <a:ext cx="7162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2) Concurrent and Non-Concurrent Force system  </a:t>
            </a:r>
          </a:p>
          <a:p>
            <a:pPr marL="514350" indent="-514350" algn="just" fontAlgn="t">
              <a:buFont typeface="Wingdings" pitchFamily="2" charset="2"/>
              <a:buChar char="Ø"/>
            </a:pPr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0600" y="3200400"/>
            <a:ext cx="7162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Parallel and Non-Parallel Force system</a:t>
            </a:r>
          </a:p>
          <a:p>
            <a:pPr marL="514350" indent="-514350" algn="just" fontAlgn="t">
              <a:buFont typeface="Wingdings" pitchFamily="2" charset="2"/>
              <a:buChar char="Ø"/>
            </a:pPr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90600" y="3771900"/>
            <a:ext cx="7162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/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just" fontAlgn="t"/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4) Collinear and Non-Collinear Force system</a:t>
            </a:r>
          </a:p>
          <a:p>
            <a:pPr marL="514350" indent="-514350" algn="just" fontAlgn="t">
              <a:buFont typeface="Wingdings" pitchFamily="2" charset="2"/>
              <a:buChar char="Ø"/>
            </a:pPr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050" smtClean="0"/>
              <a:pPr/>
              <a:t>12</a:t>
            </a:fld>
            <a:endParaRPr lang="en-US" sz="1050" dirty="0"/>
          </a:p>
        </p:txBody>
      </p:sp>
      <p:grpSp>
        <p:nvGrpSpPr>
          <p:cNvPr id="17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1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3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82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Co-Planar and Non Co-Planar Force system</a:t>
            </a:r>
            <a:endParaRPr lang="en-US" sz="24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4876800" y="923097"/>
            <a:ext cx="3962400" cy="2907196"/>
            <a:chOff x="4876800" y="1230796"/>
            <a:chExt cx="3962400" cy="3876261"/>
          </a:xfrm>
        </p:grpSpPr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2" cstate="print">
              <a:lum bright="30000" contrast="74000"/>
            </a:blip>
            <a:srcRect l="23945" t="25743" r="36871"/>
            <a:stretch>
              <a:fillRect/>
            </a:stretch>
          </p:blipFill>
          <p:spPr bwMode="auto">
            <a:xfrm>
              <a:off x="4876800" y="1230796"/>
              <a:ext cx="3962400" cy="3876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Rectangle 20"/>
            <p:cNvSpPr/>
            <p:nvPr/>
          </p:nvSpPr>
          <p:spPr>
            <a:xfrm>
              <a:off x="7010400" y="1244600"/>
              <a:ext cx="1828800" cy="7620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Non Co-Planer Forces</a:t>
              </a: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3" name="Group 14"/>
          <p:cNvGrpSpPr/>
          <p:nvPr/>
        </p:nvGrpSpPr>
        <p:grpSpPr>
          <a:xfrm>
            <a:off x="914400" y="914400"/>
            <a:ext cx="3733800" cy="2924810"/>
            <a:chOff x="914400" y="1219200"/>
            <a:chExt cx="3733800" cy="3899746"/>
          </a:xfrm>
        </p:grpSpPr>
        <p:pic>
          <p:nvPicPr>
            <p:cNvPr id="18" name="Picture 1"/>
            <p:cNvPicPr>
              <a:picLocks noChangeAspect="1" noChangeArrowheads="1"/>
            </p:cNvPicPr>
            <p:nvPr/>
          </p:nvPicPr>
          <p:blipFill>
            <a:blip r:embed="rId3" cstate="print">
              <a:lum bright="34000" contrast="80000"/>
            </a:blip>
            <a:srcRect l="17888" t="36672" r="29326" b="2585"/>
            <a:stretch>
              <a:fillRect/>
            </a:stretch>
          </p:blipFill>
          <p:spPr bwMode="auto">
            <a:xfrm>
              <a:off x="914400" y="1219200"/>
              <a:ext cx="3733800" cy="38997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Rectangle 13"/>
            <p:cNvSpPr/>
            <p:nvPr/>
          </p:nvSpPr>
          <p:spPr>
            <a:xfrm>
              <a:off x="2819400" y="1295400"/>
              <a:ext cx="1828800" cy="762000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Co-Planer Forces</a:t>
              </a:r>
            </a:p>
          </p:txBody>
        </p:sp>
      </p:grpSp>
      <p:grpSp>
        <p:nvGrpSpPr>
          <p:cNvPr id="15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16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Concurrent and Non-concurrent force system  </a:t>
            </a:r>
          </a:p>
          <a:p>
            <a:pPr algn="ctr"/>
            <a:endParaRPr lang="en-US" sz="20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742950"/>
            <a:ext cx="3962400" cy="514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Lines of action are passing through</a:t>
            </a:r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 common point.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 cstate="print">
            <a:lum bright="33000" contrast="66000"/>
          </a:blip>
          <a:srcRect t="4805" r="7606" b="34783"/>
          <a:stretch>
            <a:fillRect/>
          </a:stretch>
        </p:blipFill>
        <p:spPr bwMode="auto">
          <a:xfrm>
            <a:off x="914400" y="1600200"/>
            <a:ext cx="404194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Rectangle 20"/>
          <p:cNvSpPr/>
          <p:nvPr/>
        </p:nvSpPr>
        <p:spPr>
          <a:xfrm>
            <a:off x="914400" y="3943350"/>
            <a:ext cx="4038600" cy="40005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CONCURRENT FORCES </a:t>
            </a:r>
          </a:p>
        </p:txBody>
      </p:sp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3" cstate="print">
            <a:lum bright="43000" contrast="48000"/>
          </a:blip>
          <a:srcRect l="17213"/>
          <a:stretch>
            <a:fillRect/>
          </a:stretch>
        </p:blipFill>
        <p:spPr bwMode="auto">
          <a:xfrm>
            <a:off x="5052068" y="1600200"/>
            <a:ext cx="378713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Rectangle 22"/>
          <p:cNvSpPr/>
          <p:nvPr/>
        </p:nvSpPr>
        <p:spPr>
          <a:xfrm>
            <a:off x="5029200" y="3943350"/>
            <a:ext cx="3810000" cy="40005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NON CONCURRENT FORCES 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9474-7286-4D4B-852D-085AF434F65B}" type="slidenum">
              <a:rPr lang="en-US" sz="1050" smtClean="0"/>
              <a:pPr/>
              <a:t>14</a:t>
            </a:fld>
            <a:endParaRPr lang="en-US" sz="1050"/>
          </a:p>
        </p:txBody>
      </p:sp>
      <p:sp>
        <p:nvSpPr>
          <p:cNvPr id="14" name="Rectangle 13"/>
          <p:cNvSpPr/>
          <p:nvPr/>
        </p:nvSpPr>
        <p:spPr>
          <a:xfrm>
            <a:off x="5029200" y="742950"/>
            <a:ext cx="3810000" cy="514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Lines of action are passing through</a:t>
            </a:r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multiple points.</a:t>
            </a:r>
          </a:p>
        </p:txBody>
      </p:sp>
      <p:cxnSp>
        <p:nvCxnSpPr>
          <p:cNvPr id="25" name="Straight Arrow Connector 24"/>
          <p:cNvCxnSpPr>
            <a:stCxn id="18" idx="2"/>
          </p:cNvCxnSpPr>
          <p:nvPr/>
        </p:nvCxnSpPr>
        <p:spPr>
          <a:xfrm rot="5400000">
            <a:off x="1943101" y="1447801"/>
            <a:ext cx="1143000" cy="761998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6267450" y="1238250"/>
            <a:ext cx="571500" cy="609600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2"/>
          </p:cNvCxnSpPr>
          <p:nvPr/>
        </p:nvCxnSpPr>
        <p:spPr>
          <a:xfrm rot="5400000">
            <a:off x="5905500" y="1600200"/>
            <a:ext cx="1371600" cy="685800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H="1">
            <a:off x="6943725" y="1400175"/>
            <a:ext cx="971550" cy="685800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6200000" flipH="1">
            <a:off x="6448424" y="1819276"/>
            <a:ext cx="1657352" cy="533399"/>
          </a:xfrm>
          <a:prstGeom prst="straightConnector1">
            <a:avLst/>
          </a:prstGeom>
          <a:ln w="31750">
            <a:solidFill>
              <a:srgbClr val="0000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9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1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0600" y="114300"/>
            <a:ext cx="7848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Parallel , Anti Parallel and Non-Parallel Forces</a:t>
            </a:r>
            <a:endParaRPr lang="en-US" sz="24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990600" y="685800"/>
            <a:ext cx="2971800" cy="1943100"/>
            <a:chOff x="914400" y="838200"/>
            <a:chExt cx="3238696" cy="2667000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2" cstate="print">
              <a:lum bright="43000" contrast="66000"/>
            </a:blip>
            <a:srcRect l="7194" t="4103" r="45324"/>
            <a:stretch>
              <a:fillRect/>
            </a:stretch>
          </p:blipFill>
          <p:spPr bwMode="auto">
            <a:xfrm>
              <a:off x="914400" y="838200"/>
              <a:ext cx="3238696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Rectangle 20"/>
            <p:cNvSpPr/>
            <p:nvPr/>
          </p:nvSpPr>
          <p:spPr>
            <a:xfrm>
              <a:off x="914400" y="2971800"/>
              <a:ext cx="3200400" cy="5334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PARALLEL FORCES</a:t>
              </a:r>
            </a:p>
          </p:txBody>
        </p:sp>
      </p:grpSp>
      <p:grpSp>
        <p:nvGrpSpPr>
          <p:cNvPr id="3" name="Group 41"/>
          <p:cNvGrpSpPr/>
          <p:nvPr/>
        </p:nvGrpSpPr>
        <p:grpSpPr>
          <a:xfrm>
            <a:off x="5943600" y="685800"/>
            <a:ext cx="2978834" cy="1943100"/>
            <a:chOff x="5943600" y="838200"/>
            <a:chExt cx="2978834" cy="2590800"/>
          </a:xfrm>
        </p:grpSpPr>
        <p:pic>
          <p:nvPicPr>
            <p:cNvPr id="19" name="Picture 3"/>
            <p:cNvPicPr>
              <a:picLocks noChangeAspect="1" noChangeArrowheads="1"/>
            </p:cNvPicPr>
            <p:nvPr/>
          </p:nvPicPr>
          <p:blipFill>
            <a:blip r:embed="rId2" cstate="print">
              <a:lum bright="31000" contrast="62000"/>
            </a:blip>
            <a:srcRect l="51079"/>
            <a:stretch>
              <a:fillRect/>
            </a:stretch>
          </p:blipFill>
          <p:spPr bwMode="auto">
            <a:xfrm>
              <a:off x="5943600" y="838200"/>
              <a:ext cx="2978834" cy="2020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Rectangle 21"/>
            <p:cNvSpPr/>
            <p:nvPr/>
          </p:nvSpPr>
          <p:spPr>
            <a:xfrm>
              <a:off x="5943600" y="2878830"/>
              <a:ext cx="2972736" cy="55017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ANTI - PARALLEL FORCES</a:t>
              </a:r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4" name="Group 40"/>
          <p:cNvGrpSpPr/>
          <p:nvPr/>
        </p:nvGrpSpPr>
        <p:grpSpPr>
          <a:xfrm>
            <a:off x="3276600" y="2686050"/>
            <a:ext cx="3352800" cy="2171700"/>
            <a:chOff x="3581400" y="3276600"/>
            <a:chExt cx="3352800" cy="2895600"/>
          </a:xfrm>
        </p:grpSpPr>
        <p:grpSp>
          <p:nvGrpSpPr>
            <p:cNvPr id="6" name="Group 35"/>
            <p:cNvGrpSpPr/>
            <p:nvPr/>
          </p:nvGrpSpPr>
          <p:grpSpPr>
            <a:xfrm>
              <a:off x="3581400" y="3276600"/>
              <a:ext cx="3352800" cy="2362200"/>
              <a:chOff x="2438400" y="4343400"/>
              <a:chExt cx="3352800" cy="2362200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2438400" y="4343400"/>
                <a:ext cx="3352800" cy="2362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Arrow Connector 15"/>
              <p:cNvCxnSpPr/>
              <p:nvPr/>
            </p:nvCxnSpPr>
            <p:spPr>
              <a:xfrm>
                <a:off x="2895600" y="4648200"/>
                <a:ext cx="19812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2895600" y="4951412"/>
                <a:ext cx="1981200" cy="382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 rot="10800000" flipV="1">
                <a:off x="2895600" y="5561010"/>
                <a:ext cx="1905000" cy="839789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rot="16200000" flipV="1">
                <a:off x="2514602" y="5867400"/>
                <a:ext cx="1371599" cy="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/>
              <p:cNvSpPr/>
              <p:nvPr/>
            </p:nvSpPr>
            <p:spPr>
              <a:xfrm>
                <a:off x="4953000" y="438404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20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F1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4953000" y="506984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20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F2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590800" y="590804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20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F3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2667000" y="49530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20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F4</a:t>
                </a: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3581400" y="5638800"/>
              <a:ext cx="3352800" cy="5334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NON-PARALLEL FORCES</a:t>
              </a:r>
            </a:p>
          </p:txBody>
        </p:sp>
      </p:grpSp>
      <p:grpSp>
        <p:nvGrpSpPr>
          <p:cNvPr id="26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6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9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8001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indent="-514350" algn="just" fontAlgn="t"/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ctr" fontAlgn="t"/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Collinear and Non Collinear force system</a:t>
            </a:r>
          </a:p>
          <a:p>
            <a:pPr marL="514350" indent="-514350" algn="just" fontAlgn="t">
              <a:buFont typeface="Wingdings" pitchFamily="2" charset="2"/>
              <a:buChar char="Ø"/>
            </a:pP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8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3771900"/>
            <a:ext cx="3886200" cy="4000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CO-LINEAR FORCE SYSTEM  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2" name="Group 40"/>
          <p:cNvGrpSpPr/>
          <p:nvPr/>
        </p:nvGrpSpPr>
        <p:grpSpPr>
          <a:xfrm>
            <a:off x="914400" y="685800"/>
            <a:ext cx="3962400" cy="3028950"/>
            <a:chOff x="990600" y="914400"/>
            <a:chExt cx="3962400" cy="4038600"/>
          </a:xfrm>
        </p:grpSpPr>
        <p:pic>
          <p:nvPicPr>
            <p:cNvPr id="10" name="Picture 9"/>
            <p:cNvPicPr/>
            <p:nvPr/>
          </p:nvPicPr>
          <p:blipFill>
            <a:blip r:embed="rId2" cstate="print"/>
            <a:srcRect l="32051" t="16517" r="33906" b="39339"/>
            <a:stretch>
              <a:fillRect/>
            </a:stretch>
          </p:blipFill>
          <p:spPr bwMode="auto">
            <a:xfrm>
              <a:off x="990600" y="914400"/>
              <a:ext cx="3886200" cy="312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oup 38"/>
            <p:cNvGrpSpPr/>
            <p:nvPr/>
          </p:nvGrpSpPr>
          <p:grpSpPr>
            <a:xfrm>
              <a:off x="990600" y="4038600"/>
              <a:ext cx="3962400" cy="914400"/>
              <a:chOff x="3276600" y="4495800"/>
              <a:chExt cx="5029200" cy="10668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276600" y="4495800"/>
                <a:ext cx="5029200" cy="1066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>
                <a:off x="6096000" y="4875212"/>
                <a:ext cx="7620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/>
              <p:cNvSpPr/>
              <p:nvPr/>
            </p:nvSpPr>
            <p:spPr>
              <a:xfrm>
                <a:off x="74676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F1</a:t>
                </a:r>
                <a:endPara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64770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F2</a:t>
                </a:r>
                <a:endPara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7244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F3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36576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F4</a:t>
                </a:r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>
                <a:off x="7086600" y="4875212"/>
                <a:ext cx="7620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rot="10800000" flipV="1">
                <a:off x="4800600" y="4876800"/>
                <a:ext cx="8382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rot="10800000" flipV="1">
                <a:off x="3733801" y="4878388"/>
                <a:ext cx="8382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rot="10800000">
                <a:off x="3429001" y="4876800"/>
                <a:ext cx="4648200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dash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Rectangle 39"/>
          <p:cNvSpPr/>
          <p:nvPr/>
        </p:nvSpPr>
        <p:spPr>
          <a:xfrm>
            <a:off x="5029200" y="3314700"/>
            <a:ext cx="3886200" cy="2857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WHAT  IS  THIS  SYSTEM 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3657600"/>
            <a:ext cx="3886200" cy="28575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IS  IT  NON-CONCURRENT  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4000500"/>
            <a:ext cx="3886200" cy="28575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IS  IT  CO-PLANER ?</a:t>
            </a:r>
          </a:p>
        </p:txBody>
      </p:sp>
      <p:grpSp>
        <p:nvGrpSpPr>
          <p:cNvPr id="4" name="Group 45"/>
          <p:cNvGrpSpPr/>
          <p:nvPr/>
        </p:nvGrpSpPr>
        <p:grpSpPr>
          <a:xfrm>
            <a:off x="4953000" y="685801"/>
            <a:ext cx="3962400" cy="2514600"/>
            <a:chOff x="4953000" y="914401"/>
            <a:chExt cx="3962400" cy="3352800"/>
          </a:xfrm>
        </p:grpSpPr>
        <p:pic>
          <p:nvPicPr>
            <p:cNvPr id="1027" name="Picture 3" descr="D:\Harshavardhan\datafolder\hmksave\hmk vit\VIT 2018-20\AY 20202021 New Robotics Course\RMC Theory Lectures PPTs Videos  and Notes etc\Images For Lect 5 Electrical Elex\net safety circus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53000" y="914401"/>
              <a:ext cx="3962400" cy="3352800"/>
            </a:xfrm>
            <a:prstGeom prst="rect">
              <a:avLst/>
            </a:prstGeom>
            <a:noFill/>
          </p:spPr>
        </p:pic>
        <p:sp>
          <p:nvSpPr>
            <p:cNvPr id="45" name="Rectangle 44"/>
            <p:cNvSpPr/>
            <p:nvPr/>
          </p:nvSpPr>
          <p:spPr>
            <a:xfrm>
              <a:off x="5410200" y="3810000"/>
              <a:ext cx="3048000" cy="457200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SAFETY  FALL  NET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5029200" y="4343400"/>
            <a:ext cx="3886200" cy="28575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IS  IT  PARALLEL ?</a:t>
            </a:r>
          </a:p>
        </p:txBody>
      </p:sp>
      <p:grpSp>
        <p:nvGrpSpPr>
          <p:cNvPr id="30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7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9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0" grpId="0" animBg="1"/>
      <p:bldP spid="43" grpId="0" animBg="1"/>
      <p:bldP spid="44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5943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Principle of 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Transmissibility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of Force - </a:t>
            </a:r>
            <a:endParaRPr lang="en-US" sz="24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90600" y="3543300"/>
            <a:ext cx="7848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“If a force acts at a point on a rigid body, then it is assumed to 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act at any point on the line of action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of force within the body.”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2" name="Group 42"/>
          <p:cNvGrpSpPr/>
          <p:nvPr/>
        </p:nvGrpSpPr>
        <p:grpSpPr>
          <a:xfrm>
            <a:off x="1371600" y="1143000"/>
            <a:ext cx="7239000" cy="2228850"/>
            <a:chOff x="1371600" y="1524000"/>
            <a:chExt cx="7239000" cy="2971800"/>
          </a:xfrm>
        </p:grpSpPr>
        <p:sp>
          <p:nvSpPr>
            <p:cNvPr id="13" name="Freeform 12"/>
            <p:cNvSpPr/>
            <p:nvPr/>
          </p:nvSpPr>
          <p:spPr>
            <a:xfrm>
              <a:off x="2819400" y="1524000"/>
              <a:ext cx="2953062" cy="2310968"/>
            </a:xfrm>
            <a:custGeom>
              <a:avLst/>
              <a:gdLst>
                <a:gd name="connsiteX0" fmla="*/ 224852 w 2953062"/>
                <a:gd name="connsiteY0" fmla="*/ 407217 h 2310968"/>
                <a:gd name="connsiteX1" fmla="*/ 224852 w 2953062"/>
                <a:gd name="connsiteY1" fmla="*/ 407217 h 2310968"/>
                <a:gd name="connsiteX2" fmla="*/ 344773 w 2953062"/>
                <a:gd name="connsiteY2" fmla="*/ 257316 h 2310968"/>
                <a:gd name="connsiteX3" fmla="*/ 389744 w 2953062"/>
                <a:gd name="connsiteY3" fmla="*/ 227336 h 2310968"/>
                <a:gd name="connsiteX4" fmla="*/ 449705 w 2953062"/>
                <a:gd name="connsiteY4" fmla="*/ 152385 h 2310968"/>
                <a:gd name="connsiteX5" fmla="*/ 479685 w 2953062"/>
                <a:gd name="connsiteY5" fmla="*/ 122404 h 2310968"/>
                <a:gd name="connsiteX6" fmla="*/ 509665 w 2953062"/>
                <a:gd name="connsiteY6" fmla="*/ 77434 h 2310968"/>
                <a:gd name="connsiteX7" fmla="*/ 554636 w 2953062"/>
                <a:gd name="connsiteY7" fmla="*/ 62444 h 2310968"/>
                <a:gd name="connsiteX8" fmla="*/ 584616 w 2953062"/>
                <a:gd name="connsiteY8" fmla="*/ 32463 h 2310968"/>
                <a:gd name="connsiteX9" fmla="*/ 674557 w 2953062"/>
                <a:gd name="connsiteY9" fmla="*/ 2483 h 2310968"/>
                <a:gd name="connsiteX10" fmla="*/ 1214203 w 2953062"/>
                <a:gd name="connsiteY10" fmla="*/ 17473 h 2310968"/>
                <a:gd name="connsiteX11" fmla="*/ 1289154 w 2953062"/>
                <a:gd name="connsiteY11" fmla="*/ 62444 h 2310968"/>
                <a:gd name="connsiteX12" fmla="*/ 1349114 w 2953062"/>
                <a:gd name="connsiteY12" fmla="*/ 92424 h 2310968"/>
                <a:gd name="connsiteX13" fmla="*/ 1439055 w 2953062"/>
                <a:gd name="connsiteY13" fmla="*/ 122404 h 2310968"/>
                <a:gd name="connsiteX14" fmla="*/ 1528996 w 2953062"/>
                <a:gd name="connsiteY14" fmla="*/ 197355 h 2310968"/>
                <a:gd name="connsiteX15" fmla="*/ 1633927 w 2953062"/>
                <a:gd name="connsiteY15" fmla="*/ 227336 h 2310968"/>
                <a:gd name="connsiteX16" fmla="*/ 1678898 w 2953062"/>
                <a:gd name="connsiteY16" fmla="*/ 242326 h 2310968"/>
                <a:gd name="connsiteX17" fmla="*/ 1738859 w 2953062"/>
                <a:gd name="connsiteY17" fmla="*/ 257316 h 2310968"/>
                <a:gd name="connsiteX18" fmla="*/ 1858780 w 2953062"/>
                <a:gd name="connsiteY18" fmla="*/ 287296 h 2310968"/>
                <a:gd name="connsiteX19" fmla="*/ 2038662 w 2953062"/>
                <a:gd name="connsiteY19" fmla="*/ 317276 h 2310968"/>
                <a:gd name="connsiteX20" fmla="*/ 2158583 w 2953062"/>
                <a:gd name="connsiteY20" fmla="*/ 377237 h 2310968"/>
                <a:gd name="connsiteX21" fmla="*/ 2203554 w 2953062"/>
                <a:gd name="connsiteY21" fmla="*/ 407217 h 2310968"/>
                <a:gd name="connsiteX22" fmla="*/ 2278505 w 2953062"/>
                <a:gd name="connsiteY22" fmla="*/ 422208 h 2310968"/>
                <a:gd name="connsiteX23" fmla="*/ 2413416 w 2953062"/>
                <a:gd name="connsiteY23" fmla="*/ 527139 h 2310968"/>
                <a:gd name="connsiteX24" fmla="*/ 2518347 w 2953062"/>
                <a:gd name="connsiteY24" fmla="*/ 662050 h 2310968"/>
                <a:gd name="connsiteX25" fmla="*/ 2578308 w 2953062"/>
                <a:gd name="connsiteY25" fmla="*/ 722011 h 2310968"/>
                <a:gd name="connsiteX26" fmla="*/ 2638268 w 2953062"/>
                <a:gd name="connsiteY26" fmla="*/ 766981 h 2310968"/>
                <a:gd name="connsiteX27" fmla="*/ 2653259 w 2953062"/>
                <a:gd name="connsiteY27" fmla="*/ 811952 h 2310968"/>
                <a:gd name="connsiteX28" fmla="*/ 2698229 w 2953062"/>
                <a:gd name="connsiteY28" fmla="*/ 841932 h 2310968"/>
                <a:gd name="connsiteX29" fmla="*/ 2728209 w 2953062"/>
                <a:gd name="connsiteY29" fmla="*/ 931873 h 2310968"/>
                <a:gd name="connsiteX30" fmla="*/ 2743200 w 2953062"/>
                <a:gd name="connsiteY30" fmla="*/ 976844 h 2310968"/>
                <a:gd name="connsiteX31" fmla="*/ 2788170 w 2953062"/>
                <a:gd name="connsiteY31" fmla="*/ 1006824 h 2310968"/>
                <a:gd name="connsiteX32" fmla="*/ 2878111 w 2953062"/>
                <a:gd name="connsiteY32" fmla="*/ 1096765 h 2310968"/>
                <a:gd name="connsiteX33" fmla="*/ 2908091 w 2953062"/>
                <a:gd name="connsiteY33" fmla="*/ 1141736 h 2310968"/>
                <a:gd name="connsiteX34" fmla="*/ 2923082 w 2953062"/>
                <a:gd name="connsiteY34" fmla="*/ 1201696 h 2310968"/>
                <a:gd name="connsiteX35" fmla="*/ 2953062 w 2953062"/>
                <a:gd name="connsiteY35" fmla="*/ 1291637 h 2310968"/>
                <a:gd name="connsiteX36" fmla="*/ 2938072 w 2953062"/>
                <a:gd name="connsiteY36" fmla="*/ 1666391 h 2310968"/>
                <a:gd name="connsiteX37" fmla="*/ 2908091 w 2953062"/>
                <a:gd name="connsiteY37" fmla="*/ 1726352 h 2310968"/>
                <a:gd name="connsiteX38" fmla="*/ 2818150 w 2953062"/>
                <a:gd name="connsiteY38" fmla="*/ 1861263 h 2310968"/>
                <a:gd name="connsiteX39" fmla="*/ 2788170 w 2953062"/>
                <a:gd name="connsiteY39" fmla="*/ 1891244 h 2310968"/>
                <a:gd name="connsiteX40" fmla="*/ 2743200 w 2953062"/>
                <a:gd name="connsiteY40" fmla="*/ 1921224 h 2310968"/>
                <a:gd name="connsiteX41" fmla="*/ 2698229 w 2953062"/>
                <a:gd name="connsiteY41" fmla="*/ 1981185 h 2310968"/>
                <a:gd name="connsiteX42" fmla="*/ 2563318 w 2953062"/>
                <a:gd name="connsiteY42" fmla="*/ 2086116 h 2310968"/>
                <a:gd name="connsiteX43" fmla="*/ 2473377 w 2953062"/>
                <a:gd name="connsiteY43" fmla="*/ 2131086 h 2310968"/>
                <a:gd name="connsiteX44" fmla="*/ 2428406 w 2953062"/>
                <a:gd name="connsiteY44" fmla="*/ 2161067 h 2310968"/>
                <a:gd name="connsiteX45" fmla="*/ 2398426 w 2953062"/>
                <a:gd name="connsiteY45" fmla="*/ 2206037 h 2310968"/>
                <a:gd name="connsiteX46" fmla="*/ 2323475 w 2953062"/>
                <a:gd name="connsiteY46" fmla="*/ 2221027 h 2310968"/>
                <a:gd name="connsiteX47" fmla="*/ 2233534 w 2953062"/>
                <a:gd name="connsiteY47" fmla="*/ 2251008 h 2310968"/>
                <a:gd name="connsiteX48" fmla="*/ 2158583 w 2953062"/>
                <a:gd name="connsiteY48" fmla="*/ 2280988 h 2310968"/>
                <a:gd name="connsiteX49" fmla="*/ 2038662 w 2953062"/>
                <a:gd name="connsiteY49" fmla="*/ 2295978 h 2310968"/>
                <a:gd name="connsiteX50" fmla="*/ 1948721 w 2953062"/>
                <a:gd name="connsiteY50" fmla="*/ 2310968 h 2310968"/>
                <a:gd name="connsiteX51" fmla="*/ 1409075 w 2953062"/>
                <a:gd name="connsiteY51" fmla="*/ 2295978 h 2310968"/>
                <a:gd name="connsiteX52" fmla="*/ 1259173 w 2953062"/>
                <a:gd name="connsiteY52" fmla="*/ 2280988 h 2310968"/>
                <a:gd name="connsiteX53" fmla="*/ 1169232 w 2953062"/>
                <a:gd name="connsiteY53" fmla="*/ 2265998 h 2310968"/>
                <a:gd name="connsiteX54" fmla="*/ 509665 w 2953062"/>
                <a:gd name="connsiteY54" fmla="*/ 2251008 h 2310968"/>
                <a:gd name="connsiteX55" fmla="*/ 449705 w 2953062"/>
                <a:gd name="connsiteY55" fmla="*/ 2191047 h 2310968"/>
                <a:gd name="connsiteX56" fmla="*/ 389744 w 2953062"/>
                <a:gd name="connsiteY56" fmla="*/ 2161067 h 2310968"/>
                <a:gd name="connsiteX57" fmla="*/ 329783 w 2953062"/>
                <a:gd name="connsiteY57" fmla="*/ 2086116 h 2310968"/>
                <a:gd name="connsiteX58" fmla="*/ 284813 w 2953062"/>
                <a:gd name="connsiteY58" fmla="*/ 1996175 h 2310968"/>
                <a:gd name="connsiteX59" fmla="*/ 254832 w 2953062"/>
                <a:gd name="connsiteY59" fmla="*/ 1966195 h 2310968"/>
                <a:gd name="connsiteX60" fmla="*/ 194872 w 2953062"/>
                <a:gd name="connsiteY60" fmla="*/ 1891244 h 2310968"/>
                <a:gd name="connsiteX61" fmla="*/ 179882 w 2953062"/>
                <a:gd name="connsiteY61" fmla="*/ 1846273 h 2310968"/>
                <a:gd name="connsiteX62" fmla="*/ 149901 w 2953062"/>
                <a:gd name="connsiteY62" fmla="*/ 1801303 h 2310968"/>
                <a:gd name="connsiteX63" fmla="*/ 104931 w 2953062"/>
                <a:gd name="connsiteY63" fmla="*/ 1681381 h 2310968"/>
                <a:gd name="connsiteX64" fmla="*/ 74950 w 2953062"/>
                <a:gd name="connsiteY64" fmla="*/ 1591440 h 2310968"/>
                <a:gd name="connsiteX65" fmla="*/ 59960 w 2953062"/>
                <a:gd name="connsiteY65" fmla="*/ 1531480 h 2310968"/>
                <a:gd name="connsiteX66" fmla="*/ 29980 w 2953062"/>
                <a:gd name="connsiteY66" fmla="*/ 1501499 h 2310968"/>
                <a:gd name="connsiteX67" fmla="*/ 0 w 2953062"/>
                <a:gd name="connsiteY67" fmla="*/ 1441539 h 2310968"/>
                <a:gd name="connsiteX68" fmla="*/ 14990 w 2953062"/>
                <a:gd name="connsiteY68" fmla="*/ 1096765 h 2310968"/>
                <a:gd name="connsiteX69" fmla="*/ 74950 w 2953062"/>
                <a:gd name="connsiteY69" fmla="*/ 991834 h 2310968"/>
                <a:gd name="connsiteX70" fmla="*/ 89941 w 2953062"/>
                <a:gd name="connsiteY70" fmla="*/ 946863 h 2310968"/>
                <a:gd name="connsiteX71" fmla="*/ 179882 w 2953062"/>
                <a:gd name="connsiteY71" fmla="*/ 856922 h 2310968"/>
                <a:gd name="connsiteX72" fmla="*/ 224852 w 2953062"/>
                <a:gd name="connsiteY72" fmla="*/ 811952 h 2310968"/>
                <a:gd name="connsiteX73" fmla="*/ 269823 w 2953062"/>
                <a:gd name="connsiteY73" fmla="*/ 751991 h 2310968"/>
                <a:gd name="connsiteX74" fmla="*/ 329783 w 2953062"/>
                <a:gd name="connsiteY74" fmla="*/ 737001 h 2310968"/>
                <a:gd name="connsiteX75" fmla="*/ 359764 w 2953062"/>
                <a:gd name="connsiteY75" fmla="*/ 707021 h 2310968"/>
                <a:gd name="connsiteX76" fmla="*/ 344773 w 2953062"/>
                <a:gd name="connsiteY76" fmla="*/ 602090 h 2310968"/>
                <a:gd name="connsiteX77" fmla="*/ 299803 w 2953062"/>
                <a:gd name="connsiteY77" fmla="*/ 512149 h 2310968"/>
                <a:gd name="connsiteX78" fmla="*/ 269823 w 2953062"/>
                <a:gd name="connsiteY78" fmla="*/ 482168 h 2310968"/>
                <a:gd name="connsiteX79" fmla="*/ 284813 w 2953062"/>
                <a:gd name="connsiteY79" fmla="*/ 347257 h 2310968"/>
                <a:gd name="connsiteX80" fmla="*/ 314793 w 2953062"/>
                <a:gd name="connsiteY80" fmla="*/ 317276 h 2310968"/>
                <a:gd name="connsiteX81" fmla="*/ 344773 w 2953062"/>
                <a:gd name="connsiteY81" fmla="*/ 317276 h 231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2953062" h="2310968">
                  <a:moveTo>
                    <a:pt x="224852" y="407217"/>
                  </a:moveTo>
                  <a:lnTo>
                    <a:pt x="224852" y="407217"/>
                  </a:lnTo>
                  <a:cubicBezTo>
                    <a:pt x="267179" y="347960"/>
                    <a:pt x="291576" y="301646"/>
                    <a:pt x="344773" y="257316"/>
                  </a:cubicBezTo>
                  <a:cubicBezTo>
                    <a:pt x="358613" y="245783"/>
                    <a:pt x="374754" y="237329"/>
                    <a:pt x="389744" y="227336"/>
                  </a:cubicBezTo>
                  <a:cubicBezTo>
                    <a:pt x="413521" y="156004"/>
                    <a:pt x="388064" y="201698"/>
                    <a:pt x="449705" y="152385"/>
                  </a:cubicBezTo>
                  <a:cubicBezTo>
                    <a:pt x="460741" y="143556"/>
                    <a:pt x="470856" y="133440"/>
                    <a:pt x="479685" y="122404"/>
                  </a:cubicBezTo>
                  <a:cubicBezTo>
                    <a:pt x="490939" y="108336"/>
                    <a:pt x="495597" y="88688"/>
                    <a:pt x="509665" y="77434"/>
                  </a:cubicBezTo>
                  <a:cubicBezTo>
                    <a:pt x="522004" y="67563"/>
                    <a:pt x="539646" y="67441"/>
                    <a:pt x="554636" y="62444"/>
                  </a:cubicBezTo>
                  <a:cubicBezTo>
                    <a:pt x="564629" y="52450"/>
                    <a:pt x="571975" y="38783"/>
                    <a:pt x="584616" y="32463"/>
                  </a:cubicBezTo>
                  <a:cubicBezTo>
                    <a:pt x="612882" y="18330"/>
                    <a:pt x="674557" y="2483"/>
                    <a:pt x="674557" y="2483"/>
                  </a:cubicBezTo>
                  <a:cubicBezTo>
                    <a:pt x="854439" y="7480"/>
                    <a:pt x="1035102" y="0"/>
                    <a:pt x="1214203" y="17473"/>
                  </a:cubicBezTo>
                  <a:cubicBezTo>
                    <a:pt x="1243201" y="20302"/>
                    <a:pt x="1263685" y="48294"/>
                    <a:pt x="1289154" y="62444"/>
                  </a:cubicBezTo>
                  <a:cubicBezTo>
                    <a:pt x="1308688" y="73296"/>
                    <a:pt x="1328366" y="84125"/>
                    <a:pt x="1349114" y="92424"/>
                  </a:cubicBezTo>
                  <a:cubicBezTo>
                    <a:pt x="1378456" y="104161"/>
                    <a:pt x="1439055" y="122404"/>
                    <a:pt x="1439055" y="122404"/>
                  </a:cubicBezTo>
                  <a:cubicBezTo>
                    <a:pt x="1464864" y="148213"/>
                    <a:pt x="1496332" y="182508"/>
                    <a:pt x="1528996" y="197355"/>
                  </a:cubicBezTo>
                  <a:cubicBezTo>
                    <a:pt x="1562112" y="212408"/>
                    <a:pt x="1599084" y="216883"/>
                    <a:pt x="1633927" y="227336"/>
                  </a:cubicBezTo>
                  <a:cubicBezTo>
                    <a:pt x="1649062" y="231876"/>
                    <a:pt x="1663705" y="237985"/>
                    <a:pt x="1678898" y="242326"/>
                  </a:cubicBezTo>
                  <a:cubicBezTo>
                    <a:pt x="1698707" y="247986"/>
                    <a:pt x="1719050" y="251656"/>
                    <a:pt x="1738859" y="257316"/>
                  </a:cubicBezTo>
                  <a:cubicBezTo>
                    <a:pt x="1819953" y="280485"/>
                    <a:pt x="1749061" y="269010"/>
                    <a:pt x="1858780" y="287296"/>
                  </a:cubicBezTo>
                  <a:cubicBezTo>
                    <a:pt x="1934918" y="299986"/>
                    <a:pt x="1968016" y="299614"/>
                    <a:pt x="2038662" y="317276"/>
                  </a:cubicBezTo>
                  <a:cubicBezTo>
                    <a:pt x="2091933" y="330594"/>
                    <a:pt x="2105742" y="344212"/>
                    <a:pt x="2158583" y="377237"/>
                  </a:cubicBezTo>
                  <a:cubicBezTo>
                    <a:pt x="2173861" y="386785"/>
                    <a:pt x="2186685" y="400891"/>
                    <a:pt x="2203554" y="407217"/>
                  </a:cubicBezTo>
                  <a:cubicBezTo>
                    <a:pt x="2227410" y="416163"/>
                    <a:pt x="2253521" y="417211"/>
                    <a:pt x="2278505" y="422208"/>
                  </a:cubicBezTo>
                  <a:cubicBezTo>
                    <a:pt x="2386085" y="493927"/>
                    <a:pt x="2342968" y="456689"/>
                    <a:pt x="2413416" y="527139"/>
                  </a:cubicBezTo>
                  <a:cubicBezTo>
                    <a:pt x="2441814" y="612332"/>
                    <a:pt x="2417233" y="560935"/>
                    <a:pt x="2518347" y="662050"/>
                  </a:cubicBezTo>
                  <a:lnTo>
                    <a:pt x="2578308" y="722011"/>
                  </a:lnTo>
                  <a:lnTo>
                    <a:pt x="2638268" y="766981"/>
                  </a:lnTo>
                  <a:cubicBezTo>
                    <a:pt x="2643265" y="781971"/>
                    <a:pt x="2643388" y="799613"/>
                    <a:pt x="2653259" y="811952"/>
                  </a:cubicBezTo>
                  <a:cubicBezTo>
                    <a:pt x="2664513" y="826020"/>
                    <a:pt x="2688681" y="826655"/>
                    <a:pt x="2698229" y="841932"/>
                  </a:cubicBezTo>
                  <a:cubicBezTo>
                    <a:pt x="2714978" y="868731"/>
                    <a:pt x="2718216" y="901893"/>
                    <a:pt x="2728209" y="931873"/>
                  </a:cubicBezTo>
                  <a:cubicBezTo>
                    <a:pt x="2733206" y="946863"/>
                    <a:pt x="2730053" y="968079"/>
                    <a:pt x="2743200" y="976844"/>
                  </a:cubicBezTo>
                  <a:lnTo>
                    <a:pt x="2788170" y="1006824"/>
                  </a:lnTo>
                  <a:cubicBezTo>
                    <a:pt x="2858824" y="1112807"/>
                    <a:pt x="2766551" y="985205"/>
                    <a:pt x="2878111" y="1096765"/>
                  </a:cubicBezTo>
                  <a:cubicBezTo>
                    <a:pt x="2890850" y="1109504"/>
                    <a:pt x="2898098" y="1126746"/>
                    <a:pt x="2908091" y="1141736"/>
                  </a:cubicBezTo>
                  <a:cubicBezTo>
                    <a:pt x="2913088" y="1161723"/>
                    <a:pt x="2917162" y="1181963"/>
                    <a:pt x="2923082" y="1201696"/>
                  </a:cubicBezTo>
                  <a:cubicBezTo>
                    <a:pt x="2932163" y="1231965"/>
                    <a:pt x="2953062" y="1291637"/>
                    <a:pt x="2953062" y="1291637"/>
                  </a:cubicBezTo>
                  <a:cubicBezTo>
                    <a:pt x="2948065" y="1416555"/>
                    <a:pt x="2950936" y="1542037"/>
                    <a:pt x="2938072" y="1666391"/>
                  </a:cubicBezTo>
                  <a:cubicBezTo>
                    <a:pt x="2935773" y="1688619"/>
                    <a:pt x="2918943" y="1706818"/>
                    <a:pt x="2908091" y="1726352"/>
                  </a:cubicBezTo>
                  <a:cubicBezTo>
                    <a:pt x="2879296" y="1778182"/>
                    <a:pt x="2855710" y="1816191"/>
                    <a:pt x="2818150" y="1861263"/>
                  </a:cubicBezTo>
                  <a:cubicBezTo>
                    <a:pt x="2809102" y="1872120"/>
                    <a:pt x="2799206" y="1882415"/>
                    <a:pt x="2788170" y="1891244"/>
                  </a:cubicBezTo>
                  <a:cubicBezTo>
                    <a:pt x="2774102" y="1902498"/>
                    <a:pt x="2755939" y="1908485"/>
                    <a:pt x="2743200" y="1921224"/>
                  </a:cubicBezTo>
                  <a:cubicBezTo>
                    <a:pt x="2725534" y="1938890"/>
                    <a:pt x="2714827" y="1962512"/>
                    <a:pt x="2698229" y="1981185"/>
                  </a:cubicBezTo>
                  <a:cubicBezTo>
                    <a:pt x="2609290" y="2081241"/>
                    <a:pt x="2653734" y="2034450"/>
                    <a:pt x="2563318" y="2086116"/>
                  </a:cubicBezTo>
                  <a:cubicBezTo>
                    <a:pt x="2481954" y="2132609"/>
                    <a:pt x="2555826" y="2103603"/>
                    <a:pt x="2473377" y="2131086"/>
                  </a:cubicBezTo>
                  <a:cubicBezTo>
                    <a:pt x="2458387" y="2141080"/>
                    <a:pt x="2441145" y="2148328"/>
                    <a:pt x="2428406" y="2161067"/>
                  </a:cubicBezTo>
                  <a:cubicBezTo>
                    <a:pt x="2415667" y="2173806"/>
                    <a:pt x="2414068" y="2197099"/>
                    <a:pt x="2398426" y="2206037"/>
                  </a:cubicBezTo>
                  <a:cubicBezTo>
                    <a:pt x="2376304" y="2218678"/>
                    <a:pt x="2348056" y="2214323"/>
                    <a:pt x="2323475" y="2221027"/>
                  </a:cubicBezTo>
                  <a:cubicBezTo>
                    <a:pt x="2292986" y="2229342"/>
                    <a:pt x="2263233" y="2240208"/>
                    <a:pt x="2233534" y="2251008"/>
                  </a:cubicBezTo>
                  <a:cubicBezTo>
                    <a:pt x="2208246" y="2260204"/>
                    <a:pt x="2184802" y="2274937"/>
                    <a:pt x="2158583" y="2280988"/>
                  </a:cubicBezTo>
                  <a:cubicBezTo>
                    <a:pt x="2119330" y="2290046"/>
                    <a:pt x="2078542" y="2290281"/>
                    <a:pt x="2038662" y="2295978"/>
                  </a:cubicBezTo>
                  <a:cubicBezTo>
                    <a:pt x="2008574" y="2300276"/>
                    <a:pt x="1978701" y="2305971"/>
                    <a:pt x="1948721" y="2310968"/>
                  </a:cubicBezTo>
                  <a:lnTo>
                    <a:pt x="1409075" y="2295978"/>
                  </a:lnTo>
                  <a:cubicBezTo>
                    <a:pt x="1358906" y="2293797"/>
                    <a:pt x="1309002" y="2287217"/>
                    <a:pt x="1259173" y="2280988"/>
                  </a:cubicBezTo>
                  <a:cubicBezTo>
                    <a:pt x="1229014" y="2277218"/>
                    <a:pt x="1199602" y="2267213"/>
                    <a:pt x="1169232" y="2265998"/>
                  </a:cubicBezTo>
                  <a:cubicBezTo>
                    <a:pt x="949495" y="2257209"/>
                    <a:pt x="729521" y="2256005"/>
                    <a:pt x="509665" y="2251008"/>
                  </a:cubicBezTo>
                  <a:cubicBezTo>
                    <a:pt x="389741" y="2211031"/>
                    <a:pt x="529655" y="2270996"/>
                    <a:pt x="449705" y="2191047"/>
                  </a:cubicBezTo>
                  <a:cubicBezTo>
                    <a:pt x="433904" y="2175246"/>
                    <a:pt x="409731" y="2171060"/>
                    <a:pt x="389744" y="2161067"/>
                  </a:cubicBezTo>
                  <a:cubicBezTo>
                    <a:pt x="360561" y="2073517"/>
                    <a:pt x="397588" y="2153921"/>
                    <a:pt x="329783" y="2086116"/>
                  </a:cubicBezTo>
                  <a:cubicBezTo>
                    <a:pt x="272922" y="2029255"/>
                    <a:pt x="321389" y="2057134"/>
                    <a:pt x="284813" y="1996175"/>
                  </a:cubicBezTo>
                  <a:cubicBezTo>
                    <a:pt x="277542" y="1984056"/>
                    <a:pt x="264826" y="1976188"/>
                    <a:pt x="254832" y="1966195"/>
                  </a:cubicBezTo>
                  <a:cubicBezTo>
                    <a:pt x="217154" y="1853158"/>
                    <a:pt x="272362" y="1988108"/>
                    <a:pt x="194872" y="1891244"/>
                  </a:cubicBezTo>
                  <a:cubicBezTo>
                    <a:pt x="185001" y="1878905"/>
                    <a:pt x="186949" y="1860406"/>
                    <a:pt x="179882" y="1846273"/>
                  </a:cubicBezTo>
                  <a:cubicBezTo>
                    <a:pt x="171825" y="1830159"/>
                    <a:pt x="159895" y="1816293"/>
                    <a:pt x="149901" y="1801303"/>
                  </a:cubicBezTo>
                  <a:cubicBezTo>
                    <a:pt x="114365" y="1623621"/>
                    <a:pt x="161073" y="1807701"/>
                    <a:pt x="104931" y="1681381"/>
                  </a:cubicBezTo>
                  <a:cubicBezTo>
                    <a:pt x="92096" y="1652503"/>
                    <a:pt x="82615" y="1622099"/>
                    <a:pt x="74950" y="1591440"/>
                  </a:cubicBezTo>
                  <a:cubicBezTo>
                    <a:pt x="69953" y="1571453"/>
                    <a:pt x="69173" y="1549907"/>
                    <a:pt x="59960" y="1531480"/>
                  </a:cubicBezTo>
                  <a:cubicBezTo>
                    <a:pt x="53640" y="1518839"/>
                    <a:pt x="37819" y="1513258"/>
                    <a:pt x="29980" y="1501499"/>
                  </a:cubicBezTo>
                  <a:cubicBezTo>
                    <a:pt x="17585" y="1482906"/>
                    <a:pt x="9993" y="1461526"/>
                    <a:pt x="0" y="1441539"/>
                  </a:cubicBezTo>
                  <a:cubicBezTo>
                    <a:pt x="4997" y="1326614"/>
                    <a:pt x="2287" y="1211095"/>
                    <a:pt x="14990" y="1096765"/>
                  </a:cubicBezTo>
                  <a:cubicBezTo>
                    <a:pt x="18744" y="1062975"/>
                    <a:pt x="60214" y="1021306"/>
                    <a:pt x="74950" y="991834"/>
                  </a:cubicBezTo>
                  <a:cubicBezTo>
                    <a:pt x="82017" y="977701"/>
                    <a:pt x="80240" y="959336"/>
                    <a:pt x="89941" y="946863"/>
                  </a:cubicBezTo>
                  <a:cubicBezTo>
                    <a:pt x="115971" y="913396"/>
                    <a:pt x="149902" y="886902"/>
                    <a:pt x="179882" y="856922"/>
                  </a:cubicBezTo>
                  <a:cubicBezTo>
                    <a:pt x="194872" y="841932"/>
                    <a:pt x="212133" y="828911"/>
                    <a:pt x="224852" y="811952"/>
                  </a:cubicBezTo>
                  <a:cubicBezTo>
                    <a:pt x="239842" y="791965"/>
                    <a:pt x="249493" y="766513"/>
                    <a:pt x="269823" y="751991"/>
                  </a:cubicBezTo>
                  <a:cubicBezTo>
                    <a:pt x="286587" y="740016"/>
                    <a:pt x="309796" y="741998"/>
                    <a:pt x="329783" y="737001"/>
                  </a:cubicBezTo>
                  <a:cubicBezTo>
                    <a:pt x="339777" y="727008"/>
                    <a:pt x="358203" y="721068"/>
                    <a:pt x="359764" y="707021"/>
                  </a:cubicBezTo>
                  <a:cubicBezTo>
                    <a:pt x="363666" y="671905"/>
                    <a:pt x="351702" y="636736"/>
                    <a:pt x="344773" y="602090"/>
                  </a:cubicBezTo>
                  <a:cubicBezTo>
                    <a:pt x="337384" y="565145"/>
                    <a:pt x="323386" y="541629"/>
                    <a:pt x="299803" y="512149"/>
                  </a:cubicBezTo>
                  <a:cubicBezTo>
                    <a:pt x="290974" y="501113"/>
                    <a:pt x="279816" y="492162"/>
                    <a:pt x="269823" y="482168"/>
                  </a:cubicBezTo>
                  <a:cubicBezTo>
                    <a:pt x="274820" y="437198"/>
                    <a:pt x="272908" y="390910"/>
                    <a:pt x="284813" y="347257"/>
                  </a:cubicBezTo>
                  <a:cubicBezTo>
                    <a:pt x="288532" y="333622"/>
                    <a:pt x="314793" y="317276"/>
                    <a:pt x="314793" y="317276"/>
                  </a:cubicBezTo>
                  <a:lnTo>
                    <a:pt x="344773" y="317276"/>
                  </a:lnTo>
                </a:path>
              </a:pathLst>
            </a:custGeom>
            <a:solidFill>
              <a:srgbClr val="FFC000"/>
            </a:solidFill>
            <a:ln w="317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1752600" y="3048000"/>
              <a:ext cx="1808018" cy="685800"/>
            </a:xfrm>
            <a:prstGeom prst="straightConnector1">
              <a:avLst/>
            </a:prstGeom>
            <a:ln w="50800">
              <a:solidFill>
                <a:srgbClr val="FF000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3733800" y="2819400"/>
              <a:ext cx="401781" cy="15240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5126182" y="1752600"/>
              <a:ext cx="1808018" cy="685800"/>
            </a:xfrm>
            <a:prstGeom prst="straightConnector1">
              <a:avLst/>
            </a:prstGeom>
            <a:ln w="50800">
              <a:solidFill>
                <a:srgbClr val="FF000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5049982" y="2362200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267200" y="2667000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505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371600" y="3352800"/>
              <a:ext cx="3810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 algn="just" fontAlgn="t"/>
              <a:r>
                <a:rPr lang="en-US" sz="24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P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724400" y="1828800"/>
              <a:ext cx="3810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 algn="just" fontAlgn="t"/>
              <a:r>
                <a:rPr lang="en-US" sz="24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038600" y="2133600"/>
              <a:ext cx="3810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 algn="just" fontAlgn="t"/>
              <a:r>
                <a:rPr lang="en-US" sz="24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76600" y="2438400"/>
              <a:ext cx="3810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 algn="just" fontAlgn="t"/>
              <a:r>
                <a:rPr lang="en-US" sz="24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flipV="1">
              <a:off x="4551219" y="2514600"/>
              <a:ext cx="401781" cy="15240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4572000" y="3886200"/>
              <a:ext cx="40386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14350" indent="-514350" algn="just" fontAlgn="t"/>
              <a:r>
                <a:rPr lang="en-US" sz="20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Line of action of the Force</a:t>
              </a: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 rot="16200000" flipV="1">
              <a:off x="4391891" y="3075709"/>
              <a:ext cx="1295400" cy="477982"/>
            </a:xfrm>
            <a:prstGeom prst="straightConnector1">
              <a:avLst/>
            </a:prstGeom>
            <a:ln w="25400">
              <a:solidFill>
                <a:srgbClr val="0000FF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6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7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3581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indent="-514350" algn="just" fontAlgn="t"/>
            <a:endParaRPr lang="en-US" sz="20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fontAlgn="t"/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Resolution of a Force - </a:t>
            </a:r>
          </a:p>
          <a:p>
            <a:pPr marL="514350" indent="-514350" algn="just" fontAlgn="t">
              <a:buFont typeface="Wingdings" pitchFamily="2" charset="2"/>
              <a:buChar char="Ø"/>
            </a:pPr>
            <a:endParaRPr lang="en-US" sz="20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1543050"/>
            <a:ext cx="6096000" cy="40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fontAlgn="t"/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Along….. 1) X axis     2) Y axis</a:t>
            </a:r>
            <a:endParaRPr lang="en-US" sz="1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382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14400" y="628650"/>
            <a:ext cx="8001000" cy="857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 fontAlgn="t"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Force is a vector quantity. So, it can be assumed to be composed of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two fictitious components.</a:t>
            </a:r>
            <a:endParaRPr lang="en-US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AutoShape 34"/>
          <p:cNvCxnSpPr>
            <a:cxnSpLocks noChangeShapeType="1"/>
          </p:cNvCxnSpPr>
          <p:nvPr/>
        </p:nvCxnSpPr>
        <p:spPr bwMode="auto">
          <a:xfrm flipV="1">
            <a:off x="2682369" y="4057650"/>
            <a:ext cx="5294453" cy="1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</p:cxnSp>
      <p:cxnSp>
        <p:nvCxnSpPr>
          <p:cNvPr id="21" name="AutoShape 34"/>
          <p:cNvCxnSpPr>
            <a:cxnSpLocks noChangeShapeType="1"/>
          </p:cNvCxnSpPr>
          <p:nvPr/>
        </p:nvCxnSpPr>
        <p:spPr bwMode="auto">
          <a:xfrm rot="5400000" flipH="1" flipV="1">
            <a:off x="1757190" y="3134385"/>
            <a:ext cx="1848132" cy="2229"/>
          </a:xfrm>
          <a:prstGeom prst="straightConnector1">
            <a:avLst/>
          </a:prstGeom>
          <a:noFill/>
          <a:ln w="38100">
            <a:solidFill>
              <a:srgbClr val="006600"/>
            </a:solidFill>
            <a:round/>
            <a:headEnd/>
            <a:tailEnd type="stealth" w="lg" len="lg"/>
          </a:ln>
        </p:spPr>
      </p:cxn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7824422" y="411480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X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2033222" y="2057400"/>
            <a:ext cx="481379" cy="536322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8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Y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008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AutoShape 34"/>
          <p:cNvCxnSpPr>
            <a:cxnSpLocks noChangeShapeType="1"/>
          </p:cNvCxnSpPr>
          <p:nvPr/>
        </p:nvCxnSpPr>
        <p:spPr bwMode="auto">
          <a:xfrm flipV="1">
            <a:off x="2675062" y="2686050"/>
            <a:ext cx="3807156" cy="1363405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lg"/>
          </a:ln>
        </p:spPr>
      </p:cxnSp>
      <p:sp>
        <p:nvSpPr>
          <p:cNvPr id="25" name="Text Box 27"/>
          <p:cNvSpPr txBox="1">
            <a:spLocks noChangeArrowheads="1"/>
          </p:cNvSpPr>
          <p:nvPr/>
        </p:nvSpPr>
        <p:spPr bwMode="auto">
          <a:xfrm>
            <a:off x="5638800" y="2206878"/>
            <a:ext cx="1877158" cy="422022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Force F</a:t>
            </a:r>
            <a:endParaRPr kumimoji="0" lang="en-US" sz="40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Arc 29"/>
          <p:cNvSpPr/>
          <p:nvPr/>
        </p:nvSpPr>
        <p:spPr>
          <a:xfrm rot="821367">
            <a:off x="3697752" y="3432154"/>
            <a:ext cx="1036816" cy="1099403"/>
          </a:xfrm>
          <a:prstGeom prst="arc">
            <a:avLst>
              <a:gd name="adj1" fmla="val 16200000"/>
              <a:gd name="adj2" fmla="val 21190838"/>
            </a:avLst>
          </a:prstGeom>
          <a:ln w="28575" cmpd="sng">
            <a:solidFill>
              <a:schemeClr val="tx1"/>
            </a:solidFill>
            <a:prstDash val="solid"/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3982183" y="3616161"/>
            <a:ext cx="641838" cy="61294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defTabSz="914400" fontAlgn="base">
              <a:spcBef>
                <a:spcPct val="0"/>
              </a:spcBef>
              <a:spcAft>
                <a:spcPts val="1000"/>
              </a:spcAft>
            </a:pPr>
            <a:r>
              <a:rPr lang="en-US" sz="2400" b="1" dirty="0">
                <a:latin typeface="Calibri" pitchFamily="34" charset="0"/>
                <a:ea typeface="Arial" pitchFamily="34" charset="0"/>
                <a:cs typeface="Arial" pitchFamily="34" charset="0"/>
                <a:sym typeface="Symbol"/>
              </a:rPr>
              <a:t></a:t>
            </a: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5" name="AutoShape 34"/>
          <p:cNvCxnSpPr>
            <a:cxnSpLocks noChangeShapeType="1"/>
          </p:cNvCxnSpPr>
          <p:nvPr/>
        </p:nvCxnSpPr>
        <p:spPr bwMode="auto">
          <a:xfrm rot="5400000" flipH="1" flipV="1">
            <a:off x="5767022" y="3371850"/>
            <a:ext cx="1371600" cy="1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none" w="lg" len="lg"/>
          </a:ln>
        </p:spPr>
      </p:cxnSp>
      <p:cxnSp>
        <p:nvCxnSpPr>
          <p:cNvPr id="37" name="AutoShape 34"/>
          <p:cNvCxnSpPr>
            <a:cxnSpLocks noChangeShapeType="1"/>
          </p:cNvCxnSpPr>
          <p:nvPr/>
        </p:nvCxnSpPr>
        <p:spPr bwMode="auto">
          <a:xfrm>
            <a:off x="2743200" y="2686050"/>
            <a:ext cx="3657600" cy="1191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none" w="lg" len="lg"/>
          </a:ln>
        </p:spPr>
      </p:cxnSp>
      <p:cxnSp>
        <p:nvCxnSpPr>
          <p:cNvPr id="45" name="AutoShape 34"/>
          <p:cNvCxnSpPr>
            <a:cxnSpLocks noChangeShapeType="1"/>
          </p:cNvCxnSpPr>
          <p:nvPr/>
        </p:nvCxnSpPr>
        <p:spPr bwMode="auto">
          <a:xfrm rot="10800000" flipV="1">
            <a:off x="2719021" y="4398118"/>
            <a:ext cx="3733798" cy="2432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 type="triangle" w="lg" len="lg"/>
            <a:tailEnd type="triangle" w="lg" len="lg"/>
          </a:ln>
        </p:spPr>
      </p:cxnSp>
      <p:cxnSp>
        <p:nvCxnSpPr>
          <p:cNvPr id="46" name="AutoShape 34"/>
          <p:cNvCxnSpPr>
            <a:cxnSpLocks noChangeShapeType="1"/>
          </p:cNvCxnSpPr>
          <p:nvPr/>
        </p:nvCxnSpPr>
        <p:spPr bwMode="auto">
          <a:xfrm rot="5400000" flipH="1" flipV="1">
            <a:off x="1447799" y="3371850"/>
            <a:ext cx="1371600" cy="1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 type="triangle" w="lg" len="lg"/>
            <a:tailEnd type="triangle" w="lg" len="lg"/>
          </a:ln>
        </p:spPr>
      </p:cxnSp>
      <p:sp>
        <p:nvSpPr>
          <p:cNvPr id="47" name="Text Box 27"/>
          <p:cNvSpPr txBox="1">
            <a:spLocks noChangeArrowheads="1"/>
          </p:cNvSpPr>
          <p:nvPr/>
        </p:nvSpPr>
        <p:spPr bwMode="auto">
          <a:xfrm>
            <a:off x="3938222" y="4229100"/>
            <a:ext cx="1395779" cy="342900"/>
          </a:xfrm>
          <a:prstGeom prst="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 cos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  <a:sym typeface="Symbol"/>
              </a:rPr>
              <a:t></a:t>
            </a:r>
            <a:endParaRPr kumimoji="0" lang="en-US" sz="4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Text Box 27"/>
          <p:cNvSpPr txBox="1">
            <a:spLocks noChangeArrowheads="1"/>
          </p:cNvSpPr>
          <p:nvPr/>
        </p:nvSpPr>
        <p:spPr bwMode="auto">
          <a:xfrm>
            <a:off x="1371600" y="3200400"/>
            <a:ext cx="1143000" cy="342900"/>
          </a:xfrm>
          <a:prstGeom prst="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 sin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Arial" pitchFamily="34" charset="0"/>
                <a:cs typeface="Arial" pitchFamily="34" charset="0"/>
                <a:sym typeface="Symbol"/>
              </a:rPr>
              <a:t></a:t>
            </a:r>
            <a:endParaRPr kumimoji="0" lang="en-US" sz="4400" b="1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9" name="AutoShape 34"/>
          <p:cNvCxnSpPr>
            <a:cxnSpLocks noChangeShapeType="1"/>
          </p:cNvCxnSpPr>
          <p:nvPr/>
        </p:nvCxnSpPr>
        <p:spPr bwMode="auto">
          <a:xfrm>
            <a:off x="2667000" y="4057650"/>
            <a:ext cx="3810000" cy="1"/>
          </a:xfrm>
          <a:prstGeom prst="straightConnector1">
            <a:avLst/>
          </a:prstGeom>
          <a:noFill/>
          <a:ln w="76200">
            <a:solidFill>
              <a:srgbClr val="FF0000"/>
            </a:solidFill>
            <a:round/>
            <a:headEnd type="none"/>
            <a:tailEnd type="triangle" w="med" len="lg"/>
          </a:ln>
        </p:spPr>
      </p:cxnSp>
      <p:cxnSp>
        <p:nvCxnSpPr>
          <p:cNvPr id="51" name="AutoShape 34"/>
          <p:cNvCxnSpPr>
            <a:cxnSpLocks noChangeShapeType="1"/>
          </p:cNvCxnSpPr>
          <p:nvPr/>
        </p:nvCxnSpPr>
        <p:spPr bwMode="auto">
          <a:xfrm rot="5400000" flipH="1" flipV="1">
            <a:off x="1971535" y="3381517"/>
            <a:ext cx="1390933" cy="1"/>
          </a:xfrm>
          <a:prstGeom prst="straightConnector1">
            <a:avLst/>
          </a:prstGeom>
          <a:noFill/>
          <a:ln w="76200">
            <a:solidFill>
              <a:srgbClr val="006600"/>
            </a:solidFill>
            <a:round/>
            <a:headEnd type="none"/>
            <a:tailEnd type="triangle" w="med" len="lg"/>
          </a:ln>
        </p:spPr>
      </p:cxnSp>
      <p:grpSp>
        <p:nvGrpSpPr>
          <p:cNvPr id="26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3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4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3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0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 animBg="1"/>
      <p:bldP spid="30" grpId="0" animBg="1"/>
      <p:bldP spid="31" grpId="0" animBg="1"/>
      <p:bldP spid="47" grpId="0" animBg="1"/>
      <p:bldP spid="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3200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Resultant Force -   </a:t>
            </a:r>
            <a:endParaRPr lang="en-US" sz="24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3" name="Cube 12"/>
          <p:cNvSpPr/>
          <p:nvPr/>
        </p:nvSpPr>
        <p:spPr>
          <a:xfrm>
            <a:off x="2133600" y="1371600"/>
            <a:ext cx="876298" cy="571500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AutoShape 34"/>
          <p:cNvCxnSpPr>
            <a:cxnSpLocks noChangeShapeType="1"/>
          </p:cNvCxnSpPr>
          <p:nvPr/>
        </p:nvCxnSpPr>
        <p:spPr bwMode="auto">
          <a:xfrm>
            <a:off x="2514600" y="1714501"/>
            <a:ext cx="2667000" cy="342899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</p:cxnSp>
      <p:cxnSp>
        <p:nvCxnSpPr>
          <p:cNvPr id="18" name="AutoShape 34"/>
          <p:cNvCxnSpPr>
            <a:cxnSpLocks noChangeShapeType="1"/>
          </p:cNvCxnSpPr>
          <p:nvPr/>
        </p:nvCxnSpPr>
        <p:spPr bwMode="auto">
          <a:xfrm rot="10800000">
            <a:off x="1295400" y="1314450"/>
            <a:ext cx="1219202" cy="400052"/>
          </a:xfrm>
          <a:prstGeom prst="straightConnector1">
            <a:avLst/>
          </a:prstGeom>
          <a:noFill/>
          <a:ln w="38100">
            <a:solidFill>
              <a:srgbClr val="006600"/>
            </a:solidFill>
            <a:round/>
            <a:headEnd/>
            <a:tailEnd type="stealth" w="lg" len="lg"/>
          </a:ln>
        </p:spPr>
      </p:cxnSp>
      <p:cxnSp>
        <p:nvCxnSpPr>
          <p:cNvPr id="19" name="AutoShape 34"/>
          <p:cNvCxnSpPr>
            <a:cxnSpLocks noChangeShapeType="1"/>
          </p:cNvCxnSpPr>
          <p:nvPr/>
        </p:nvCxnSpPr>
        <p:spPr bwMode="auto">
          <a:xfrm flipV="1">
            <a:off x="2514600" y="1151194"/>
            <a:ext cx="1749756" cy="563306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lg"/>
          </a:ln>
        </p:spPr>
      </p:cxnSp>
      <p:cxnSp>
        <p:nvCxnSpPr>
          <p:cNvPr id="20" name="AutoShape 34"/>
          <p:cNvCxnSpPr>
            <a:cxnSpLocks noChangeShapeType="1"/>
          </p:cNvCxnSpPr>
          <p:nvPr/>
        </p:nvCxnSpPr>
        <p:spPr bwMode="auto">
          <a:xfrm rot="5400000" flipH="1" flipV="1">
            <a:off x="1905001" y="1790700"/>
            <a:ext cx="685801" cy="533401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solid"/>
            <a:round/>
            <a:headEnd type="triangle" w="lg" len="lg"/>
            <a:tailEnd type="none" w="lg" len="lg"/>
          </a:ln>
        </p:spPr>
      </p:cxnSp>
      <p:cxnSp>
        <p:nvCxnSpPr>
          <p:cNvPr id="27" name="AutoShape 34"/>
          <p:cNvCxnSpPr>
            <a:cxnSpLocks noChangeShapeType="1"/>
          </p:cNvCxnSpPr>
          <p:nvPr/>
        </p:nvCxnSpPr>
        <p:spPr bwMode="auto">
          <a:xfrm flipV="1">
            <a:off x="3581400" y="2879842"/>
            <a:ext cx="1676400" cy="546653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lg"/>
          </a:ln>
        </p:spPr>
      </p:cxnSp>
      <p:cxnSp>
        <p:nvCxnSpPr>
          <p:cNvPr id="29" name="AutoShape 34"/>
          <p:cNvCxnSpPr>
            <a:cxnSpLocks noChangeShapeType="1"/>
          </p:cNvCxnSpPr>
          <p:nvPr/>
        </p:nvCxnSpPr>
        <p:spPr bwMode="auto">
          <a:xfrm rot="5400000" flipH="1" flipV="1">
            <a:off x="7391400" y="3274095"/>
            <a:ext cx="685801" cy="533401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solid"/>
            <a:round/>
            <a:headEnd type="triangle" w="lg" len="lg"/>
            <a:tailEnd type="none" w="lg" len="lg"/>
          </a:ln>
        </p:spPr>
      </p:cxnSp>
      <p:cxnSp>
        <p:nvCxnSpPr>
          <p:cNvPr id="32" name="AutoShape 34"/>
          <p:cNvCxnSpPr>
            <a:cxnSpLocks noChangeShapeType="1"/>
          </p:cNvCxnSpPr>
          <p:nvPr/>
        </p:nvCxnSpPr>
        <p:spPr bwMode="auto">
          <a:xfrm rot="10800000">
            <a:off x="6248401" y="3483643"/>
            <a:ext cx="1219202" cy="400052"/>
          </a:xfrm>
          <a:prstGeom prst="straightConnector1">
            <a:avLst/>
          </a:prstGeom>
          <a:noFill/>
          <a:ln w="38100">
            <a:solidFill>
              <a:srgbClr val="006600"/>
            </a:solidFill>
            <a:round/>
            <a:headEnd/>
            <a:tailEnd type="stealth" w="lg" len="lg"/>
          </a:ln>
        </p:spPr>
      </p:cxnSp>
      <p:cxnSp>
        <p:nvCxnSpPr>
          <p:cNvPr id="35" name="AutoShape 34"/>
          <p:cNvCxnSpPr>
            <a:cxnSpLocks noChangeShapeType="1"/>
          </p:cNvCxnSpPr>
          <p:nvPr/>
        </p:nvCxnSpPr>
        <p:spPr bwMode="auto">
          <a:xfrm>
            <a:off x="3581400" y="3426495"/>
            <a:ext cx="2743200" cy="57150"/>
          </a:xfrm>
          <a:prstGeom prst="straightConnector1">
            <a:avLst/>
          </a:prstGeom>
          <a:noFill/>
          <a:ln w="76200">
            <a:solidFill>
              <a:schemeClr val="tx1"/>
            </a:solidFill>
            <a:prstDash val="dash"/>
            <a:round/>
            <a:headEnd type="none"/>
            <a:tailEnd type="stealth" w="med" len="lg"/>
          </a:ln>
        </p:spPr>
      </p:cxnSp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4243021" y="89535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F1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 Box 27"/>
          <p:cNvSpPr txBox="1">
            <a:spLocks noChangeArrowheads="1"/>
          </p:cNvSpPr>
          <p:nvPr/>
        </p:nvSpPr>
        <p:spPr bwMode="auto">
          <a:xfrm>
            <a:off x="5157422" y="182629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F2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 Box 27"/>
          <p:cNvSpPr txBox="1">
            <a:spLocks noChangeArrowheads="1"/>
          </p:cNvSpPr>
          <p:nvPr/>
        </p:nvSpPr>
        <p:spPr bwMode="auto">
          <a:xfrm>
            <a:off x="2133601" y="222634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F3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1066801" y="91440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F4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 Box 27"/>
          <p:cNvSpPr txBox="1">
            <a:spLocks noChangeArrowheads="1"/>
          </p:cNvSpPr>
          <p:nvPr/>
        </p:nvSpPr>
        <p:spPr bwMode="auto">
          <a:xfrm>
            <a:off x="2743200" y="3600450"/>
            <a:ext cx="2971800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alibri" pitchFamily="34" charset="0"/>
                <a:ea typeface="Arial" pitchFamily="34" charset="0"/>
                <a:cs typeface="Arial" pitchFamily="34" charset="0"/>
              </a:rPr>
              <a:t>Resultant  Force</a:t>
            </a:r>
            <a:endParaRPr kumimoji="0" lang="en-US" sz="3600" b="1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8" name="AutoShape 34"/>
          <p:cNvCxnSpPr>
            <a:cxnSpLocks noChangeShapeType="1"/>
          </p:cNvCxnSpPr>
          <p:nvPr/>
        </p:nvCxnSpPr>
        <p:spPr bwMode="auto">
          <a:xfrm>
            <a:off x="5257800" y="2912145"/>
            <a:ext cx="2743200" cy="2857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</p:cxn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4953001" y="241935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F1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Text Box 27"/>
          <p:cNvSpPr txBox="1">
            <a:spLocks noChangeArrowheads="1"/>
          </p:cNvSpPr>
          <p:nvPr/>
        </p:nvSpPr>
        <p:spPr bwMode="auto">
          <a:xfrm>
            <a:off x="7924801" y="285249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F2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7620001" y="376939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F3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 Box 27"/>
          <p:cNvSpPr txBox="1">
            <a:spLocks noChangeArrowheads="1"/>
          </p:cNvSpPr>
          <p:nvPr/>
        </p:nvSpPr>
        <p:spPr bwMode="auto">
          <a:xfrm>
            <a:off x="5867401" y="348364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F4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914400" y="4112295"/>
            <a:ext cx="6781800" cy="8026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alibri" pitchFamily="34" charset="0"/>
                <a:ea typeface="Arial" pitchFamily="34" charset="0"/>
                <a:cs typeface="Arial" pitchFamily="34" charset="0"/>
              </a:rPr>
              <a:t>Resultant  Force = vector sum of all forces.</a:t>
            </a:r>
          </a:p>
          <a:p>
            <a:pPr lvl="0" algn="ctr" fontAlgn="base">
              <a:spcBef>
                <a:spcPct val="0"/>
              </a:spcBef>
              <a:spcAft>
                <a:spcPts val="1000"/>
              </a:spcAft>
            </a:pPr>
            <a:r>
              <a:rPr lang="en-US" sz="2000" b="1" dirty="0">
                <a:latin typeface="Calibri" pitchFamily="34" charset="0"/>
                <a:ea typeface="Arial" pitchFamily="34" charset="0"/>
                <a:cs typeface="Arial" pitchFamily="34" charset="0"/>
              </a:rPr>
              <a:t>		(algebraic sum)</a:t>
            </a:r>
            <a:endParaRPr kumimoji="0" lang="en-US" sz="2000" b="1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4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6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7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3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14300"/>
            <a:ext cx="4267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lvl="0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Law of Parallelogram of Forces -  </a:t>
            </a:r>
          </a:p>
          <a:p>
            <a:pPr lvl="0" algn="ctr"/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US" sz="20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050" smtClean="0"/>
              <a:pPr/>
              <a:t>20</a:t>
            </a:fld>
            <a:endParaRPr lang="en-US" sz="1050" dirty="0"/>
          </a:p>
        </p:txBody>
      </p:sp>
      <p:cxnSp>
        <p:nvCxnSpPr>
          <p:cNvPr id="13" name="AutoShape 34"/>
          <p:cNvCxnSpPr>
            <a:cxnSpLocks noChangeShapeType="1"/>
          </p:cNvCxnSpPr>
          <p:nvPr/>
        </p:nvCxnSpPr>
        <p:spPr bwMode="auto">
          <a:xfrm flipV="1">
            <a:off x="1691769" y="3279522"/>
            <a:ext cx="5294453" cy="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</p:cxnSp>
      <p:cxnSp>
        <p:nvCxnSpPr>
          <p:cNvPr id="14" name="AutoShape 34"/>
          <p:cNvCxnSpPr>
            <a:cxnSpLocks noChangeShapeType="1"/>
          </p:cNvCxnSpPr>
          <p:nvPr/>
        </p:nvCxnSpPr>
        <p:spPr bwMode="auto">
          <a:xfrm rot="5400000" flipH="1" flipV="1">
            <a:off x="766590" y="2356257"/>
            <a:ext cx="1848132" cy="222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</p:cxn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7062422" y="308610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Calibri" pitchFamily="34" charset="0"/>
                <a:ea typeface="Arial" pitchFamily="34" charset="0"/>
                <a:cs typeface="Arial" pitchFamily="34" charset="0"/>
              </a:rPr>
              <a:t>X</a:t>
            </a:r>
            <a:endParaRPr kumimoji="0" lang="en-US" sz="4000" b="1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1271222" y="1028700"/>
            <a:ext cx="481379" cy="536322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Calibri" pitchFamily="34" charset="0"/>
                <a:ea typeface="Arial" pitchFamily="34" charset="0"/>
                <a:cs typeface="Arial" pitchFamily="34" charset="0"/>
              </a:rPr>
              <a:t>Y</a:t>
            </a:r>
            <a:endParaRPr kumimoji="0" lang="en-US" sz="4000" b="1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1" name="AutoShape 34"/>
          <p:cNvCxnSpPr>
            <a:cxnSpLocks noChangeShapeType="1"/>
          </p:cNvCxnSpPr>
          <p:nvPr/>
        </p:nvCxnSpPr>
        <p:spPr bwMode="auto">
          <a:xfrm flipV="1">
            <a:off x="1684462" y="1107822"/>
            <a:ext cx="4944938" cy="2163506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lg"/>
          </a:ln>
        </p:spPr>
      </p:cxn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6019800" y="666750"/>
            <a:ext cx="2971800" cy="6858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R = Resultant is the diagonal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Arc 22"/>
          <p:cNvSpPr/>
          <p:nvPr/>
        </p:nvSpPr>
        <p:spPr>
          <a:xfrm rot="21311039">
            <a:off x="1583705" y="2663767"/>
            <a:ext cx="1036816" cy="1099403"/>
          </a:xfrm>
          <a:prstGeom prst="arc">
            <a:avLst>
              <a:gd name="adj1" fmla="val 16200000"/>
              <a:gd name="adj2" fmla="val 21190838"/>
            </a:avLst>
          </a:prstGeom>
          <a:ln w="28575" cmpd="sng">
            <a:solidFill>
              <a:schemeClr val="tx1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2253762" y="2307972"/>
            <a:ext cx="641838" cy="457200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defTabSz="914400" fontAlgn="base">
              <a:spcBef>
                <a:spcPct val="0"/>
              </a:spcBef>
              <a:spcAft>
                <a:spcPts val="1000"/>
              </a:spcAft>
            </a:pPr>
            <a:r>
              <a:rPr lang="en-US" sz="2400" b="1" dirty="0">
                <a:latin typeface="Calibri" pitchFamily="34" charset="0"/>
                <a:ea typeface="Arial" pitchFamily="34" charset="0"/>
                <a:cs typeface="Arial" pitchFamily="34" charset="0"/>
                <a:sym typeface="Symbol"/>
              </a:rPr>
              <a:t></a:t>
            </a: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AutoShape 34"/>
          <p:cNvCxnSpPr>
            <a:cxnSpLocks noChangeShapeType="1"/>
          </p:cNvCxnSpPr>
          <p:nvPr/>
        </p:nvCxnSpPr>
        <p:spPr bwMode="auto">
          <a:xfrm rot="5400000" flipH="1" flipV="1">
            <a:off x="5291985" y="1321292"/>
            <a:ext cx="1657349" cy="1116112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none" w="lg" len="lg"/>
          </a:ln>
        </p:spPr>
      </p:cxnSp>
      <p:cxnSp>
        <p:nvCxnSpPr>
          <p:cNvPr id="26" name="AutoShape 34"/>
          <p:cNvCxnSpPr>
            <a:cxnSpLocks noChangeShapeType="1"/>
          </p:cNvCxnSpPr>
          <p:nvPr/>
        </p:nvCxnSpPr>
        <p:spPr bwMode="auto">
          <a:xfrm flipV="1">
            <a:off x="2590800" y="1075521"/>
            <a:ext cx="4114800" cy="603802"/>
          </a:xfrm>
          <a:prstGeom prst="straightConnector1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</p:cNvCxnSpPr>
          <p:nvPr/>
        </p:nvCxnSpPr>
        <p:spPr bwMode="auto">
          <a:xfrm flipV="1">
            <a:off x="1676400" y="2708022"/>
            <a:ext cx="3886200" cy="5715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none"/>
            <a:tailEnd type="triangle" w="med" len="lg"/>
          </a:ln>
        </p:spPr>
      </p:cxnSp>
      <p:cxnSp>
        <p:nvCxnSpPr>
          <p:cNvPr id="32" name="AutoShape 34"/>
          <p:cNvCxnSpPr>
            <a:cxnSpLocks noChangeShapeType="1"/>
          </p:cNvCxnSpPr>
          <p:nvPr/>
        </p:nvCxnSpPr>
        <p:spPr bwMode="auto">
          <a:xfrm rot="5400000" flipH="1" flipV="1">
            <a:off x="1323834" y="2031890"/>
            <a:ext cx="1619534" cy="914400"/>
          </a:xfrm>
          <a:prstGeom prst="straightConnector1">
            <a:avLst/>
          </a:prstGeom>
          <a:noFill/>
          <a:ln w="38100">
            <a:solidFill>
              <a:srgbClr val="006600"/>
            </a:solidFill>
            <a:round/>
            <a:headEnd type="none"/>
            <a:tailEnd type="triangle" w="med" len="lg"/>
          </a:ln>
        </p:spPr>
      </p:cxn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5562600" y="2650872"/>
            <a:ext cx="685800" cy="422022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P</a:t>
            </a:r>
            <a:endParaRPr kumimoji="0" lang="en-US" sz="40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1981200" y="1279272"/>
            <a:ext cx="685800" cy="422022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Q</a:t>
            </a:r>
            <a:endParaRPr kumimoji="0" lang="en-US" sz="40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 Box 27"/>
          <p:cNvSpPr txBox="1">
            <a:spLocks noChangeArrowheads="1"/>
          </p:cNvSpPr>
          <p:nvPr/>
        </p:nvSpPr>
        <p:spPr bwMode="auto">
          <a:xfrm>
            <a:off x="6172200" y="1823373"/>
            <a:ext cx="2895600" cy="1053177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P and Q are </a:t>
            </a:r>
            <a:r>
              <a:rPr lang="en-US" sz="2000" b="1" dirty="0" err="1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coplaner</a:t>
            </a:r>
            <a:r>
              <a:rPr lang="en-US" sz="20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and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concurrent</a:t>
            </a:r>
            <a:r>
              <a:rPr lang="en-US" sz="20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forces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1447800" y="4248150"/>
            <a:ext cx="4495800" cy="424527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Is Pythagoras theorem related to this ?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6" name="Picture 55" descr="Question Mark Clipart - 64 cliparts | This or that questions, Smiley, Emoji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3562350"/>
            <a:ext cx="121920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1"/>
          <p:cNvGrpSpPr/>
          <p:nvPr/>
        </p:nvGrpSpPr>
        <p:grpSpPr>
          <a:xfrm>
            <a:off x="1371600" y="3543300"/>
            <a:ext cx="4876800" cy="685800"/>
            <a:chOff x="838200" y="4800600"/>
            <a:chExt cx="5105400" cy="914400"/>
          </a:xfrm>
        </p:grpSpPr>
        <p:sp>
          <p:nvSpPr>
            <p:cNvPr id="27" name="Rectangle 26"/>
            <p:cNvSpPr/>
            <p:nvPr/>
          </p:nvSpPr>
          <p:spPr>
            <a:xfrm>
              <a:off x="838200" y="4800600"/>
              <a:ext cx="5105400" cy="9144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sz="20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R = 	   P</a:t>
              </a:r>
              <a:r>
                <a:rPr lang="en-US" sz="2400" b="1" baseline="300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0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 + Q</a:t>
              </a:r>
              <a:r>
                <a:rPr lang="en-US" sz="2400" b="1" baseline="300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0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 + 2 P Q </a:t>
              </a:r>
              <a:r>
                <a:rPr lang="en-US" sz="2000" b="1" dirty="0" err="1" smtClean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cos</a:t>
              </a:r>
              <a:endParaRPr lang="en-US" sz="2000" b="1" dirty="0">
                <a:solidFill>
                  <a:srgbClr val="0000FF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28" name="AutoShape 34"/>
            <p:cNvCxnSpPr>
              <a:cxnSpLocks noChangeShapeType="1"/>
            </p:cNvCxnSpPr>
            <p:nvPr/>
          </p:nvCxnSpPr>
          <p:spPr bwMode="auto">
            <a:xfrm flipV="1">
              <a:off x="1981200" y="4927600"/>
              <a:ext cx="2971800" cy="25405"/>
            </a:xfrm>
            <a:prstGeom prst="straightConnector1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33" name="AutoShape 34"/>
            <p:cNvCxnSpPr>
              <a:cxnSpLocks noChangeShapeType="1"/>
            </p:cNvCxnSpPr>
            <p:nvPr/>
          </p:nvCxnSpPr>
          <p:spPr bwMode="auto">
            <a:xfrm rot="5400000">
              <a:off x="1562102" y="5143501"/>
              <a:ext cx="609597" cy="228600"/>
            </a:xfrm>
            <a:prstGeom prst="straightConnector1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35" name="AutoShape 34"/>
            <p:cNvCxnSpPr>
              <a:cxnSpLocks noChangeShapeType="1"/>
            </p:cNvCxnSpPr>
            <p:nvPr/>
          </p:nvCxnSpPr>
          <p:spPr bwMode="auto">
            <a:xfrm rot="16200000" flipH="1">
              <a:off x="1562102" y="5372098"/>
              <a:ext cx="304797" cy="76200"/>
            </a:xfrm>
            <a:prstGeom prst="straightConnector1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grpSp>
          <p:nvGrpSpPr>
            <p:cNvPr id="3" name="Group 45"/>
            <p:cNvGrpSpPr/>
            <p:nvPr/>
          </p:nvGrpSpPr>
          <p:grpSpPr>
            <a:xfrm>
              <a:off x="4674397" y="5130800"/>
              <a:ext cx="152404" cy="304800"/>
              <a:chOff x="6859136" y="3765550"/>
              <a:chExt cx="228604" cy="381000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6859142" y="3765550"/>
                <a:ext cx="228598" cy="381000"/>
              </a:xfrm>
              <a:prstGeom prst="ellipse">
                <a:avLst/>
              </a:prstGeom>
              <a:noFill/>
              <a:ln w="381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40" name="AutoShape 34"/>
              <p:cNvCxnSpPr>
                <a:cxnSpLocks noChangeShapeType="1"/>
                <a:stCxn id="39" idx="2"/>
                <a:endCxn id="39" idx="6"/>
              </p:cNvCxnSpPr>
              <p:nvPr/>
            </p:nvCxnSpPr>
            <p:spPr bwMode="auto">
              <a:xfrm rot="10800000" flipH="1">
                <a:off x="6859136" y="3956050"/>
                <a:ext cx="228598" cy="1588"/>
              </a:xfrm>
              <a:prstGeom prst="straightConnector1">
                <a:avLst/>
              </a:prstGeom>
              <a:solidFill>
                <a:srgbClr val="FFFF99"/>
              </a:solidFill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</p:spPr>
          </p:cxnSp>
        </p:grpSp>
      </p:grpSp>
      <p:grpSp>
        <p:nvGrpSpPr>
          <p:cNvPr id="34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41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2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0"/>
                            </p:stCondLst>
                            <p:childTnLst>
                              <p:par>
                                <p:cTn id="8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2" grpId="0" animBg="1"/>
      <p:bldP spid="23" grpId="0" animBg="1"/>
      <p:bldP spid="24" grpId="0" animBg="1"/>
      <p:bldP spid="50" grpId="0" animBg="1"/>
      <p:bldP spid="51" grpId="0" animBg="1"/>
      <p:bldP spid="54" grpId="0" animBg="1"/>
      <p:bldP spid="5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57150"/>
            <a:ext cx="5715000" cy="342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lvl="0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Law Of Parallelogram of Forces - Derivation</a:t>
            </a:r>
          </a:p>
          <a:p>
            <a:pPr lvl="0" algn="ctr"/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US" sz="24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1066800" y="514350"/>
            <a:ext cx="6172200" cy="4419600"/>
            <a:chOff x="1828800" y="1066800"/>
            <a:chExt cx="6096000" cy="5410200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28800" y="1066800"/>
              <a:ext cx="6096000" cy="541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17073" t="22818" r="13415" b="34398"/>
            <a:stretch>
              <a:fillRect/>
            </a:stretch>
          </p:blipFill>
          <p:spPr bwMode="auto">
            <a:xfrm>
              <a:off x="4876800" y="1066800"/>
              <a:ext cx="3040380" cy="198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14400" y="492633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990600" y="4533900"/>
            <a:ext cx="6248400" cy="40005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00FF"/>
              </a:solidFill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14" name="Picture 4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57150"/>
            <a:ext cx="5029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Law Of Parallelogram of Forces - </a:t>
            </a:r>
            <a:endParaRPr lang="en-US" sz="2000" b="1" dirty="0">
              <a:solidFill>
                <a:srgbClr val="00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38200" y="492633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050" smtClean="0"/>
              <a:pPr/>
              <a:t>22</a:t>
            </a:fld>
            <a:endParaRPr lang="en-US" sz="1050" dirty="0"/>
          </a:p>
        </p:txBody>
      </p:sp>
      <p:pic>
        <p:nvPicPr>
          <p:cNvPr id="1026" name="Picture 2" descr="D:\Harshavardhan\datafolder\hmksave\hmk vit\VIT 2018-20\AY 20202021 New Robotics Course\Applied Mechanics SSS\Paralleogram Theorem figure only Triang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66750"/>
            <a:ext cx="4343400" cy="2286000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4648200" y="1962150"/>
            <a:ext cx="4419600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2000"/>
              </a:lnSpc>
            </a:pP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	</a:t>
            </a:r>
            <a:r>
              <a:rPr lang="en-US" b="1" dirty="0" smtClean="0">
                <a:solidFill>
                  <a:srgbClr val="0000FF"/>
                </a:solidFill>
                <a:latin typeface="+mj-lt"/>
                <a:cs typeface="Arial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CD	   </a:t>
            </a:r>
            <a:r>
              <a:rPr lang="en-US" b="1" dirty="0" err="1">
                <a:solidFill>
                  <a:srgbClr val="0000FF"/>
                </a:solidFill>
                <a:latin typeface="+mj-lt"/>
                <a:cs typeface="Arial" pitchFamily="34" charset="0"/>
              </a:rPr>
              <a:t>CD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 	  </a:t>
            </a:r>
            <a:r>
              <a:rPr lang="en-US" b="1" dirty="0" smtClean="0">
                <a:solidFill>
                  <a:srgbClr val="0000FF"/>
                </a:solidFill>
                <a:latin typeface="+mj-lt"/>
                <a:cs typeface="Arial" pitchFamily="34" charset="0"/>
              </a:rPr>
              <a:t>   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Q sin 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</a:t>
            </a:r>
            <a:endParaRPr lang="en-US" b="1" dirty="0">
              <a:solidFill>
                <a:srgbClr val="0000FF"/>
              </a:solidFill>
              <a:latin typeface="+mj-lt"/>
              <a:cs typeface="Arial" pitchFamily="34" charset="0"/>
            </a:endParaRPr>
          </a:p>
          <a:p>
            <a:pPr lvl="0">
              <a:lnSpc>
                <a:spcPts val="2000"/>
              </a:lnSpc>
            </a:pP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  tan 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 = -------- = -------------- = ------------------ </a:t>
            </a:r>
          </a:p>
          <a:p>
            <a:pPr lvl="0">
              <a:lnSpc>
                <a:spcPts val="2000"/>
              </a:lnSpc>
            </a:pP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	</a:t>
            </a:r>
            <a:r>
              <a:rPr lang="en-US" b="1" dirty="0" smtClean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OD         OA 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+ AD 	 P + Q cos  </a:t>
            </a:r>
            <a:endParaRPr lang="en-US" b="1" dirty="0">
              <a:solidFill>
                <a:srgbClr val="0000FF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24400" y="2952750"/>
            <a:ext cx="43434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ts val="2000"/>
              </a:lnSpc>
            </a:pP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	       	</a:t>
            </a:r>
            <a:r>
              <a:rPr lang="en-US" b="1" dirty="0" smtClean="0">
                <a:solidFill>
                  <a:srgbClr val="FF0000"/>
                </a:solidFill>
                <a:latin typeface="+mj-lt"/>
                <a:cs typeface="Arial" pitchFamily="34" charset="0"/>
              </a:rPr>
              <a:t> Q </a:t>
            </a: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sin </a:t>
            </a: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</a:t>
            </a:r>
            <a:endParaRPr lang="en-US" b="1" dirty="0">
              <a:solidFill>
                <a:srgbClr val="FF0000"/>
              </a:solidFill>
              <a:latin typeface="+mj-lt"/>
              <a:cs typeface="Arial" pitchFamily="34" charset="0"/>
            </a:endParaRPr>
          </a:p>
          <a:p>
            <a:pPr lvl="0">
              <a:lnSpc>
                <a:spcPts val="2000"/>
              </a:lnSpc>
            </a:pP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      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</a:t>
            </a: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 = tan</a:t>
            </a:r>
            <a:r>
              <a:rPr lang="en-US" sz="2400" b="1" baseline="30000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-1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--------------------</a:t>
            </a:r>
            <a:r>
              <a:rPr lang="en-US" sz="6000" dirty="0" smtClean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  <a:sym typeface="Symbol"/>
            </a:endParaRPr>
          </a:p>
          <a:p>
            <a:pPr lvl="0">
              <a:lnSpc>
                <a:spcPts val="2000"/>
              </a:lnSpc>
            </a:pP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	        </a:t>
            </a:r>
            <a:r>
              <a:rPr lang="en-US" b="1" dirty="0" smtClean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       P </a:t>
            </a:r>
            <a:r>
              <a:rPr lang="en-US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+ Q cos  </a:t>
            </a:r>
            <a:endParaRPr lang="en-US" b="1" dirty="0">
              <a:solidFill>
                <a:srgbClr val="FF00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800" y="3962400"/>
            <a:ext cx="7696200" cy="742950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/>
            <a:r>
              <a:rPr lang="en-US" sz="2000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IMP Note -</a:t>
            </a:r>
            <a:r>
              <a:rPr lang="en-US" sz="2800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  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is the angle of the Resultant </a:t>
            </a:r>
            <a:r>
              <a:rPr lang="en-US" b="1" dirty="0" err="1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w.r.t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. Force P </a:t>
            </a:r>
            <a:r>
              <a:rPr lang="en-US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.</a:t>
            </a:r>
            <a:endParaRPr lang="en-US" b="1" dirty="0">
              <a:solidFill>
                <a:srgbClr val="FF00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12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0" name="Picture 4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41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2438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Equilibrium -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628650"/>
            <a:ext cx="7848600" cy="8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 rigid body is said to be in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equilibrium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when the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resultant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of the force system on it is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zero.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1352550"/>
            <a:ext cx="7848600" cy="57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The resultant of the force system can be a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Force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or a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Moment.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2000250"/>
            <a:ext cx="7848600" cy="57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If the resultant is zero, it implies that the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resultant force (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∑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F)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and resultant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moment (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∑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M)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both are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zero.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8200" y="2724150"/>
            <a:ext cx="76200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If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resultant force </a:t>
            </a:r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∑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F = 0,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there is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 Translation.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200" y="3638550"/>
            <a:ext cx="7848600" cy="742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Thus the body is said to be in a </a:t>
            </a:r>
            <a: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…….</a:t>
            </a:r>
            <a:r>
              <a:rPr lang="en-US" b="1" u="sng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Complete </a:t>
            </a:r>
            <a:r>
              <a:rPr lang="en-US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Static Equilibrium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050" smtClean="0"/>
              <a:pPr/>
              <a:t>24</a:t>
            </a:fld>
            <a:endParaRPr lang="en-US" sz="1050" dirty="0"/>
          </a:p>
        </p:txBody>
      </p:sp>
      <p:sp>
        <p:nvSpPr>
          <p:cNvPr id="18" name="Rectangle 17"/>
          <p:cNvSpPr/>
          <p:nvPr/>
        </p:nvSpPr>
        <p:spPr>
          <a:xfrm>
            <a:off x="838200" y="3257550"/>
            <a:ext cx="76962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If the resultant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moment </a:t>
            </a:r>
            <a:r>
              <a:rPr lang="en-US" sz="1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∑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 = 0,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there is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 Rotation.</a:t>
            </a:r>
          </a:p>
        </p:txBody>
      </p:sp>
      <p:grpSp>
        <p:nvGrpSpPr>
          <p:cNvPr id="19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0600" y="114300"/>
            <a:ext cx="7848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Equilibrant = the balancing Force which brings 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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0600" y="800100"/>
            <a:ext cx="7848600" cy="182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Equilibrant is a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force which is ….. </a:t>
            </a:r>
          </a:p>
          <a:p>
            <a:pPr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1) equal in magnitude </a:t>
            </a:r>
          </a:p>
          <a:p>
            <a:pPr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2) opposite in direction </a:t>
            </a:r>
          </a:p>
          <a:p>
            <a:pPr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3) collinear to the resultant of the force system.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914400" y="492633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050" smtClean="0"/>
              <a:pPr/>
              <a:t>25</a:t>
            </a:fld>
            <a:endParaRPr lang="en-US" sz="1050" dirty="0"/>
          </a:p>
        </p:txBody>
      </p:sp>
      <p:sp>
        <p:nvSpPr>
          <p:cNvPr id="17" name="Rectangle 16"/>
          <p:cNvSpPr/>
          <p:nvPr/>
        </p:nvSpPr>
        <p:spPr>
          <a:xfrm>
            <a:off x="990600" y="2800350"/>
            <a:ext cx="7848600" cy="182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Equilibrium is achieved when, all are satisfied.</a:t>
            </a: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1)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∑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Fx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0 		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….. X components</a:t>
            </a:r>
            <a:endParaRPr lang="en-US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2)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∑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Fy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0 		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….. Y components</a:t>
            </a:r>
            <a:endParaRPr lang="en-US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 fontAlgn="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3)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∑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M = 0 		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….. Moments</a:t>
            </a:r>
          </a:p>
        </p:txBody>
      </p:sp>
      <p:grpSp>
        <p:nvGrpSpPr>
          <p:cNvPr id="11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12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361950"/>
            <a:ext cx="8229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Free Body Diagram (F.B.D.) </a:t>
            </a:r>
            <a:r>
              <a:rPr lang="en-US" sz="2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US" sz="2000" b="1" dirty="0" smtClean="0">
                <a:solidFill>
                  <a:srgbClr val="FF0000"/>
                </a:solidFill>
              </a:rPr>
              <a:t>(Short sketch of the system)</a:t>
            </a:r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000" y="971550"/>
            <a:ext cx="8229600" cy="1257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/>
            <a:r>
              <a:rPr lang="en-US" sz="20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In a physical system, to study the equilibrium, the actual machine parts and structures are replaced by respective active, passive forces, reactions and moments. </a:t>
            </a:r>
            <a:endParaRPr lang="en-US" sz="2000" b="1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11430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z="1100" smtClean="0"/>
              <a:pPr/>
              <a:t>26</a:t>
            </a:fld>
            <a:endParaRPr lang="en-US" sz="1100" dirty="0"/>
          </a:p>
        </p:txBody>
      </p:sp>
      <p:sp>
        <p:nvSpPr>
          <p:cNvPr id="12" name="Rectangle 11"/>
          <p:cNvSpPr/>
          <p:nvPr/>
        </p:nvSpPr>
        <p:spPr>
          <a:xfrm>
            <a:off x="762000" y="2400300"/>
            <a:ext cx="8229600" cy="2171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/>
            <a:r>
              <a:rPr lang="en-US" sz="2000" b="1" dirty="0" err="1">
                <a:solidFill>
                  <a:srgbClr val="FF0000"/>
                </a:solidFill>
                <a:latin typeface="+mj-lt"/>
              </a:rPr>
              <a:t>FBD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features ….</a:t>
            </a:r>
          </a:p>
          <a:p>
            <a:pPr marL="457200" indent="-457200" algn="just" fontAlgn="t">
              <a:buAutoNum type="arabicParenR"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It is a sketch of a body of interest only.</a:t>
            </a:r>
          </a:p>
          <a:p>
            <a:pPr marL="457200" indent="-457200" algn="just" fontAlgn="t">
              <a:buAutoNum type="arabicParenR"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All the surrounding bodies are removed.</a:t>
            </a:r>
          </a:p>
          <a:p>
            <a:pPr marL="457200" indent="-457200" algn="just" fontAlgn="t">
              <a:buAutoNum type="arabicParenR"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All of the forces acting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on the body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are considered and shown. </a:t>
            </a:r>
          </a:p>
          <a:p>
            <a:pPr marL="457200" indent="-457200" algn="just" fontAlgn="t">
              <a:buFontTx/>
              <a:buAutoNum type="arabicParenR"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All of the forces acted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by the body on other bodies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are </a:t>
            </a:r>
            <a:r>
              <a:rPr lang="en-US" sz="2000" b="1" dirty="0">
                <a:solidFill>
                  <a:srgbClr val="0000FF"/>
                </a:solidFill>
                <a:latin typeface="+mj-lt"/>
              </a:rPr>
              <a:t>NOT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considered.</a:t>
            </a:r>
            <a:endParaRPr lang="en-US" sz="2000" b="1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18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19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21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AutoShape 34"/>
          <p:cNvCxnSpPr>
            <a:cxnSpLocks noChangeShapeType="1"/>
          </p:cNvCxnSpPr>
          <p:nvPr/>
        </p:nvCxnSpPr>
        <p:spPr bwMode="auto">
          <a:xfrm>
            <a:off x="7013574" y="3238500"/>
            <a:ext cx="780877" cy="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</p:cxnSp>
      <p:cxnSp>
        <p:nvCxnSpPr>
          <p:cNvPr id="67" name="AutoShape 34"/>
          <p:cNvCxnSpPr>
            <a:cxnSpLocks noChangeShapeType="1"/>
          </p:cNvCxnSpPr>
          <p:nvPr/>
        </p:nvCxnSpPr>
        <p:spPr bwMode="auto">
          <a:xfrm rot="16200000" flipV="1">
            <a:off x="6124464" y="2317268"/>
            <a:ext cx="1143595" cy="58456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</p:cxnSp>
      <p:sp>
        <p:nvSpPr>
          <p:cNvPr id="5" name="Rectangle 4"/>
          <p:cNvSpPr/>
          <p:nvPr/>
        </p:nvSpPr>
        <p:spPr>
          <a:xfrm>
            <a:off x="914400" y="114300"/>
            <a:ext cx="6934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How to draw Free Body Diagram ? -    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11430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31" name="AutoShape 34"/>
          <p:cNvCxnSpPr>
            <a:cxnSpLocks noChangeShapeType="1"/>
          </p:cNvCxnSpPr>
          <p:nvPr/>
        </p:nvCxnSpPr>
        <p:spPr bwMode="auto">
          <a:xfrm>
            <a:off x="3279777" y="3409950"/>
            <a:ext cx="780877" cy="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</p:cxnSp>
      <p:grpSp>
        <p:nvGrpSpPr>
          <p:cNvPr id="2" name="Group 75"/>
          <p:cNvGrpSpPr/>
          <p:nvPr/>
        </p:nvGrpSpPr>
        <p:grpSpPr>
          <a:xfrm>
            <a:off x="1066800" y="1809751"/>
            <a:ext cx="1520824" cy="2514599"/>
            <a:chOff x="1292224" y="2133603"/>
            <a:chExt cx="1520824" cy="3352798"/>
          </a:xfrm>
        </p:grpSpPr>
        <p:cxnSp>
          <p:nvCxnSpPr>
            <p:cNvPr id="10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-156872" y="3808702"/>
              <a:ext cx="3352798" cy="260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15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79336" y="2527489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18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0130" y="3720118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19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0130" y="3899089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0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0924" y="4101118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1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0130" y="4329718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2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0924" y="4558318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3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0924" y="4813489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4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1718" y="5015518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5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2512" y="3491518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6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1718" y="3289489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7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3306" y="2679889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8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2512" y="2908489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29" name="AutoShape 34"/>
            <p:cNvCxnSpPr>
              <a:cxnSpLocks noChangeShapeType="1"/>
            </p:cNvCxnSpPr>
            <p:nvPr/>
          </p:nvCxnSpPr>
          <p:spPr bwMode="auto">
            <a:xfrm rot="5400000" flipH="1" flipV="1">
              <a:off x="1283306" y="3137089"/>
              <a:ext cx="255170" cy="2293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sp>
          <p:nvSpPr>
            <p:cNvPr id="30" name="Oval 29"/>
            <p:cNvSpPr/>
            <p:nvPr/>
          </p:nvSpPr>
          <p:spPr>
            <a:xfrm>
              <a:off x="1520824" y="3556000"/>
              <a:ext cx="1292224" cy="1625600"/>
            </a:xfrm>
            <a:prstGeom prst="ellipse">
              <a:avLst/>
            </a:prstGeom>
            <a:gradFill flip="none" rotWithShape="1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AutoShape 34"/>
            <p:cNvCxnSpPr>
              <a:cxnSpLocks noChangeShapeType="1"/>
            </p:cNvCxnSpPr>
            <p:nvPr/>
          </p:nvCxnSpPr>
          <p:spPr bwMode="auto">
            <a:xfrm rot="16200000" flipV="1">
              <a:off x="925513" y="3189289"/>
              <a:ext cx="1879600" cy="68262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</p:grpSp>
      <p:cxnSp>
        <p:nvCxnSpPr>
          <p:cNvPr id="38" name="AutoShape 34"/>
          <p:cNvCxnSpPr>
            <a:cxnSpLocks noChangeShapeType="1"/>
          </p:cNvCxnSpPr>
          <p:nvPr/>
        </p:nvCxnSpPr>
        <p:spPr bwMode="auto">
          <a:xfrm rot="5400000">
            <a:off x="4191001" y="3943350"/>
            <a:ext cx="1066798" cy="1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</p:cxnSp>
      <p:sp>
        <p:nvSpPr>
          <p:cNvPr id="40" name="Rectangle 39"/>
          <p:cNvSpPr/>
          <p:nvPr/>
        </p:nvSpPr>
        <p:spPr>
          <a:xfrm>
            <a:off x="914400" y="628650"/>
            <a:ext cx="6934200" cy="1028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/>
            <a:r>
              <a:rPr lang="en-US" sz="2000" b="1" dirty="0">
                <a:solidFill>
                  <a:srgbClr val="FF0000"/>
                </a:solidFill>
                <a:latin typeface="+mj-lt"/>
              </a:rPr>
              <a:t>A sphere of weight W is resting on a rigid wall and is held by a string </a:t>
            </a:r>
            <a:r>
              <a:rPr lang="en-US" sz="2000" b="1" dirty="0">
                <a:solidFill>
                  <a:srgbClr val="FF0000"/>
                </a:solidFill>
              </a:rPr>
              <a:t>as shown…… </a:t>
            </a:r>
          </a:p>
          <a:p>
            <a:pPr algn="just" fontAlgn="t"/>
            <a:r>
              <a:rPr lang="en-US" sz="2000" b="1" dirty="0">
                <a:solidFill>
                  <a:srgbClr val="FF0000"/>
                </a:solidFill>
              </a:rPr>
              <a:t>Draw the </a:t>
            </a:r>
            <a:r>
              <a:rPr lang="en-US" sz="2000" b="1" dirty="0" err="1">
                <a:solidFill>
                  <a:srgbClr val="FF0000"/>
                </a:solidFill>
              </a:rPr>
              <a:t>FBD</a:t>
            </a:r>
            <a:r>
              <a:rPr lang="en-US" sz="2000" b="1" dirty="0">
                <a:solidFill>
                  <a:srgbClr val="FF0000"/>
                </a:solidFill>
              </a:rPr>
              <a:t> of the sphere.</a:t>
            </a:r>
            <a:endParaRPr lang="en-US" sz="2000" b="1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575176" y="4381500"/>
            <a:ext cx="6096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</a:t>
            </a:r>
          </a:p>
        </p:txBody>
      </p:sp>
      <p:grpSp>
        <p:nvGrpSpPr>
          <p:cNvPr id="4" name="Group 76"/>
          <p:cNvGrpSpPr/>
          <p:nvPr/>
        </p:nvGrpSpPr>
        <p:grpSpPr>
          <a:xfrm>
            <a:off x="4038458" y="1733550"/>
            <a:ext cx="1289190" cy="2324382"/>
            <a:chOff x="4263882" y="2108200"/>
            <a:chExt cx="1289190" cy="3099176"/>
          </a:xfrm>
        </p:grpSpPr>
        <p:sp>
          <p:nvSpPr>
            <p:cNvPr id="56" name="Oval 55"/>
            <p:cNvSpPr/>
            <p:nvPr/>
          </p:nvSpPr>
          <p:spPr>
            <a:xfrm>
              <a:off x="4264024" y="3530600"/>
              <a:ext cx="1289048" cy="167560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AutoShape 34"/>
            <p:cNvCxnSpPr>
              <a:cxnSpLocks noChangeShapeType="1"/>
            </p:cNvCxnSpPr>
            <p:nvPr/>
          </p:nvCxnSpPr>
          <p:spPr bwMode="auto">
            <a:xfrm rot="16200000" flipV="1">
              <a:off x="2715159" y="3656923"/>
              <a:ext cx="3099176" cy="173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</p:grpSp>
      <p:cxnSp>
        <p:nvCxnSpPr>
          <p:cNvPr id="65" name="AutoShape 34"/>
          <p:cNvCxnSpPr>
            <a:cxnSpLocks noChangeShapeType="1"/>
          </p:cNvCxnSpPr>
          <p:nvPr/>
        </p:nvCxnSpPr>
        <p:spPr bwMode="auto">
          <a:xfrm rot="5400000">
            <a:off x="6455146" y="3752652"/>
            <a:ext cx="1142999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</p:cxnSp>
      <p:sp>
        <p:nvSpPr>
          <p:cNvPr id="66" name="Oval 65"/>
          <p:cNvSpPr/>
          <p:nvPr/>
        </p:nvSpPr>
        <p:spPr>
          <a:xfrm>
            <a:off x="6934200" y="3143250"/>
            <a:ext cx="168644" cy="1905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798044" y="4267200"/>
            <a:ext cx="6096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51176" y="2952750"/>
            <a:ext cx="6096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376" y="2266950"/>
            <a:ext cx="6096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80174" y="1866900"/>
            <a:ext cx="6096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6974" y="2781300"/>
            <a:ext cx="609600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</a:t>
            </a:r>
          </a:p>
        </p:txBody>
      </p:sp>
      <p:grpSp>
        <p:nvGrpSpPr>
          <p:cNvPr id="44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45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6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7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038600" y="1943518"/>
            <a:ext cx="685801" cy="1466432"/>
            <a:chOff x="4038600" y="1943518"/>
            <a:chExt cx="685801" cy="1466432"/>
          </a:xfrm>
        </p:grpSpPr>
        <p:cxnSp>
          <p:nvCxnSpPr>
            <p:cNvPr id="58" name="AutoShape 34"/>
            <p:cNvCxnSpPr>
              <a:cxnSpLocks noChangeShapeType="1"/>
            </p:cNvCxnSpPr>
            <p:nvPr/>
          </p:nvCxnSpPr>
          <p:spPr bwMode="auto">
            <a:xfrm rot="16200000" flipV="1">
              <a:off x="3724484" y="2257634"/>
              <a:ext cx="1161632" cy="53340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</p:cxnSp>
        <p:cxnSp>
          <p:nvCxnSpPr>
            <p:cNvPr id="77" name="AutoShape 34"/>
            <p:cNvCxnSpPr>
              <a:cxnSpLocks noChangeShapeType="1"/>
              <a:endCxn id="73" idx="1"/>
            </p:cNvCxnSpPr>
            <p:nvPr/>
          </p:nvCxnSpPr>
          <p:spPr bwMode="auto">
            <a:xfrm rot="16200000" flipV="1">
              <a:off x="4025901" y="2711451"/>
              <a:ext cx="942975" cy="45402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59" grpId="0"/>
      <p:bldP spid="66" grpId="0" animBg="1"/>
      <p:bldP spid="69" grpId="0"/>
      <p:bldP spid="72" grpId="0"/>
      <p:bldP spid="73" grpId="0"/>
      <p:bldP spid="74" grpId="0"/>
      <p:bldP spid="7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114300"/>
            <a:ext cx="3200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Lami's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Theorem -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85800"/>
            <a:ext cx="78486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/>
            <a:r>
              <a:rPr lang="en-US" sz="20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If there are a few forces acting on a body and the body is in a static equilibrium, then according to </a:t>
            </a:r>
            <a:r>
              <a:rPr lang="en-US" sz="2000" b="1" dirty="0" err="1">
                <a:solidFill>
                  <a:schemeClr val="tx1"/>
                </a:solidFill>
                <a:latin typeface="+mj-lt"/>
                <a:cs typeface="Arial" pitchFamily="34" charset="0"/>
              </a:rPr>
              <a:t>Lami’s</a:t>
            </a:r>
            <a:r>
              <a:rPr lang="en-US" sz="20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 Theorem ………. </a:t>
            </a:r>
            <a:endParaRPr lang="en-US" sz="2000" b="1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430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90600" y="3105150"/>
            <a:ext cx="4343400" cy="1066800"/>
          </a:xfrm>
          <a:prstGeom prst="rect">
            <a:avLst/>
          </a:prstGeom>
          <a:solidFill>
            <a:srgbClr val="FFFF99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2000"/>
              </a:lnSpc>
            </a:pPr>
            <a:r>
              <a:rPr lang="en-US" sz="2400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    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	</a:t>
            </a:r>
            <a:r>
              <a:rPr lang="en-US" sz="2400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         Q 	    </a:t>
            </a:r>
            <a:r>
              <a:rPr lang="en-US" sz="2400" b="1" dirty="0" smtClean="0">
                <a:solidFill>
                  <a:srgbClr val="0000FF"/>
                </a:solidFill>
                <a:latin typeface="+mj-lt"/>
                <a:cs typeface="Arial" pitchFamily="34" charset="0"/>
              </a:rPr>
              <a:t>        </a:t>
            </a:r>
            <a:r>
              <a:rPr lang="en-US" sz="2400" b="1" dirty="0" smtClean="0">
                <a:solidFill>
                  <a:srgbClr val="008000"/>
                </a:solidFill>
                <a:latin typeface="+mj-lt"/>
                <a:cs typeface="Arial" pitchFamily="34" charset="0"/>
              </a:rPr>
              <a:t>R</a:t>
            </a:r>
            <a:endParaRPr lang="en-US" sz="2400" b="1" dirty="0">
              <a:solidFill>
                <a:srgbClr val="008000"/>
              </a:solidFill>
              <a:latin typeface="+mj-lt"/>
              <a:cs typeface="Arial" pitchFamily="34" charset="0"/>
            </a:endParaRPr>
          </a:p>
          <a:p>
            <a:pPr lvl="0">
              <a:lnSpc>
                <a:spcPts val="2000"/>
              </a:lnSpc>
            </a:pPr>
            <a:r>
              <a:rPr lang="en-US" sz="2400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 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--------</a:t>
            </a:r>
            <a:r>
              <a:rPr lang="en-US" sz="2400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 = --------- = </a:t>
            </a:r>
            <a:r>
              <a:rPr lang="en-US" sz="2400" b="1" dirty="0">
                <a:solidFill>
                  <a:srgbClr val="008000"/>
                </a:solidFill>
                <a:latin typeface="+mj-lt"/>
                <a:cs typeface="Arial" pitchFamily="34" charset="0"/>
                <a:sym typeface="Symbol"/>
              </a:rPr>
              <a:t>--------- </a:t>
            </a:r>
          </a:p>
          <a:p>
            <a:pPr lvl="0">
              <a:lnSpc>
                <a:spcPts val="2000"/>
              </a:lnSpc>
            </a:pPr>
            <a:r>
              <a:rPr lang="en-US" sz="2400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  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  <a:sym typeface="Symbol"/>
              </a:rPr>
              <a:t>sin a</a:t>
            </a:r>
            <a:r>
              <a:rPr lang="en-US" sz="2400" b="1" dirty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      </a:t>
            </a:r>
            <a:r>
              <a:rPr lang="en-US" sz="2400" b="1" dirty="0">
                <a:solidFill>
                  <a:srgbClr val="0000FF"/>
                </a:solidFill>
                <a:cs typeface="Arial" pitchFamily="34" charset="0"/>
                <a:sym typeface="Symbol"/>
              </a:rPr>
              <a:t>sin b </a:t>
            </a:r>
            <a:r>
              <a:rPr lang="en-US" sz="2400" b="1" dirty="0" smtClean="0">
                <a:solidFill>
                  <a:srgbClr val="0000FF"/>
                </a:solidFill>
                <a:cs typeface="Arial" pitchFamily="34" charset="0"/>
                <a:sym typeface="Symbol"/>
              </a:rPr>
              <a:t>      </a:t>
            </a:r>
            <a:r>
              <a:rPr lang="en-US" sz="2400" b="1" dirty="0" smtClean="0">
                <a:solidFill>
                  <a:srgbClr val="0000FF"/>
                </a:solidFill>
                <a:latin typeface="+mj-lt"/>
                <a:cs typeface="Arial" pitchFamily="34" charset="0"/>
                <a:sym typeface="Symbol"/>
              </a:rPr>
              <a:t>   </a:t>
            </a:r>
            <a:r>
              <a:rPr lang="en-US" sz="2400" b="1" dirty="0">
                <a:solidFill>
                  <a:srgbClr val="008000"/>
                </a:solidFill>
                <a:cs typeface="Arial" pitchFamily="34" charset="0"/>
                <a:sym typeface="Symbol"/>
              </a:rPr>
              <a:t>sin c</a:t>
            </a:r>
            <a:endParaRPr lang="en-US" sz="2400" b="1" dirty="0">
              <a:solidFill>
                <a:srgbClr val="0080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7900622" y="165484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P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" name="AutoShape 34"/>
          <p:cNvCxnSpPr>
            <a:cxnSpLocks noChangeShapeType="1"/>
          </p:cNvCxnSpPr>
          <p:nvPr/>
        </p:nvCxnSpPr>
        <p:spPr bwMode="auto">
          <a:xfrm rot="16200000" flipH="1">
            <a:off x="6788761" y="3416911"/>
            <a:ext cx="1181100" cy="633778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lg"/>
          </a:ln>
        </p:spPr>
      </p:cxnSp>
      <p:sp>
        <p:nvSpPr>
          <p:cNvPr id="16" name="Arc 15"/>
          <p:cNvSpPr/>
          <p:nvPr/>
        </p:nvSpPr>
        <p:spPr>
          <a:xfrm rot="1609566">
            <a:off x="6372724" y="2418258"/>
            <a:ext cx="1557487" cy="1441604"/>
          </a:xfrm>
          <a:prstGeom prst="arc">
            <a:avLst>
              <a:gd name="adj1" fmla="val 17280615"/>
              <a:gd name="adj2" fmla="val 2482515"/>
            </a:avLst>
          </a:prstGeom>
          <a:ln w="28575" cmpd="sng">
            <a:solidFill>
              <a:schemeClr val="tx1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AutoShape 34"/>
          <p:cNvCxnSpPr>
            <a:cxnSpLocks noChangeShapeType="1"/>
          </p:cNvCxnSpPr>
          <p:nvPr/>
        </p:nvCxnSpPr>
        <p:spPr bwMode="auto">
          <a:xfrm flipV="1">
            <a:off x="7062422" y="1657350"/>
            <a:ext cx="1700578" cy="150787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none"/>
            <a:tailEnd type="triangle" w="med" len="lg"/>
          </a:ln>
        </p:spPr>
      </p:cxnSp>
      <p:cxnSp>
        <p:nvCxnSpPr>
          <p:cNvPr id="22" name="AutoShape 34"/>
          <p:cNvCxnSpPr>
            <a:cxnSpLocks noChangeShapeType="1"/>
          </p:cNvCxnSpPr>
          <p:nvPr/>
        </p:nvCxnSpPr>
        <p:spPr bwMode="auto">
          <a:xfrm rot="10800000">
            <a:off x="6248401" y="2724151"/>
            <a:ext cx="814035" cy="419109"/>
          </a:xfrm>
          <a:prstGeom prst="straightConnector1">
            <a:avLst/>
          </a:prstGeom>
          <a:noFill/>
          <a:ln w="38100">
            <a:solidFill>
              <a:srgbClr val="006600"/>
            </a:solidFill>
            <a:round/>
            <a:headEnd type="none"/>
            <a:tailEnd type="triangle" w="med" len="lg"/>
          </a:ln>
        </p:spPr>
      </p:cxn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7824422" y="411229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Q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 Box 27"/>
          <p:cNvSpPr txBox="1">
            <a:spLocks noChangeArrowheads="1"/>
          </p:cNvSpPr>
          <p:nvPr/>
        </p:nvSpPr>
        <p:spPr bwMode="auto">
          <a:xfrm>
            <a:off x="5462222" y="239779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8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R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008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Arc 35"/>
          <p:cNvSpPr/>
          <p:nvPr/>
        </p:nvSpPr>
        <p:spPr>
          <a:xfrm rot="17472487">
            <a:off x="6643585" y="2640999"/>
            <a:ext cx="1048351" cy="1083123"/>
          </a:xfrm>
          <a:prstGeom prst="arc">
            <a:avLst>
              <a:gd name="adj1" fmla="val 16347621"/>
              <a:gd name="adj2" fmla="val 870974"/>
            </a:avLst>
          </a:prstGeom>
          <a:ln w="28575" cmpd="sng">
            <a:solidFill>
              <a:schemeClr val="tx1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/>
          <p:cNvSpPr/>
          <p:nvPr/>
        </p:nvSpPr>
        <p:spPr>
          <a:xfrm rot="10800000">
            <a:off x="6472604" y="2343150"/>
            <a:ext cx="1147396" cy="1295400"/>
          </a:xfrm>
          <a:prstGeom prst="arc">
            <a:avLst>
              <a:gd name="adj1" fmla="val 14806475"/>
              <a:gd name="adj2" fmla="val 979883"/>
            </a:avLst>
          </a:prstGeom>
          <a:ln w="28575" cmpd="sng">
            <a:solidFill>
              <a:schemeClr val="tx1"/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6172200" y="320040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a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6781800" y="2038350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00FF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b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 Box 27"/>
          <p:cNvSpPr txBox="1">
            <a:spLocks noChangeArrowheads="1"/>
          </p:cNvSpPr>
          <p:nvPr/>
        </p:nvSpPr>
        <p:spPr bwMode="auto">
          <a:xfrm>
            <a:off x="7848600" y="3026445"/>
            <a:ext cx="481379" cy="459705"/>
          </a:xfrm>
          <a:prstGeom prst="rect">
            <a:avLst/>
          </a:prstGeom>
          <a:solidFill>
            <a:schemeClr val="accent4">
              <a:lumMod val="20000"/>
              <a:lumOff val="80000"/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8000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c</a:t>
            </a:r>
            <a:endParaRPr kumimoji="0" lang="en-US" sz="4800" b="1" i="0" u="none" strike="noStrike" cap="none" normalizeH="0" baseline="0" dirty="0">
              <a:ln>
                <a:noFill/>
              </a:ln>
              <a:solidFill>
                <a:srgbClr val="008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14400" y="1581150"/>
            <a:ext cx="4419600" cy="1543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/>
            <a:r>
              <a:rPr lang="en-US" sz="20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P, Q and R are the 3 forces keeping the body in equilibrium. </a:t>
            </a:r>
          </a:p>
          <a:p>
            <a:pPr algn="just" fontAlgn="t"/>
            <a:endParaRPr lang="en-US" sz="2000" b="1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algn="just" fontAlgn="t"/>
            <a:r>
              <a:rPr lang="en-US" sz="20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a, b and c are the respective angles.</a:t>
            </a:r>
            <a:endParaRPr lang="en-US" sz="2000" b="1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934200" y="3028950"/>
            <a:ext cx="228600" cy="1714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990600" y="4286250"/>
            <a:ext cx="4343400" cy="342900"/>
          </a:xfrm>
          <a:prstGeom prst="rect">
            <a:avLst/>
          </a:prstGeom>
          <a:solidFill>
            <a:srgbClr val="FFFF99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2000"/>
              </a:lnSpc>
            </a:pPr>
            <a:r>
              <a:rPr lang="en-US" sz="2000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Also called as law of </a:t>
            </a:r>
            <a:r>
              <a:rPr lang="en-US" sz="2000" b="1" dirty="0" err="1">
                <a:solidFill>
                  <a:srgbClr val="0000FF"/>
                </a:solidFill>
                <a:latin typeface="+mj-lt"/>
                <a:cs typeface="Arial" pitchFamily="34" charset="0"/>
              </a:rPr>
              <a:t>sines</a:t>
            </a:r>
            <a:r>
              <a:rPr lang="en-US" sz="2000" b="1" dirty="0">
                <a:solidFill>
                  <a:srgbClr val="0000FF"/>
                </a:solidFill>
                <a:latin typeface="+mj-lt"/>
                <a:cs typeface="Arial" pitchFamily="34" charset="0"/>
              </a:rPr>
              <a:t>.</a:t>
            </a:r>
            <a:endParaRPr lang="en-US" sz="2000" b="1" dirty="0">
              <a:solidFill>
                <a:srgbClr val="008000"/>
              </a:solidFill>
              <a:latin typeface="+mj-lt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25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29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1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8200" y="114300"/>
            <a:ext cx="2971800" cy="342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Numerical Example 1 - 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3962400" y="114300"/>
            <a:ext cx="5029200" cy="1543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Find the resultant Force R</a:t>
            </a: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if …..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F1 = 40 N, F2 = 80 N, F3 = 60 N and F4 = 30 N </a:t>
            </a:r>
          </a:p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and the respective angles are ……</a:t>
            </a:r>
          </a:p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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1 = 45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0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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2 =  150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0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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3 = 240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0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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4 = - 40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0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48" name="AutoShape 24"/>
          <p:cNvCxnSpPr>
            <a:cxnSpLocks noChangeShapeType="1"/>
          </p:cNvCxnSpPr>
          <p:nvPr/>
        </p:nvCxnSpPr>
        <p:spPr bwMode="auto">
          <a:xfrm flipV="1">
            <a:off x="3218075" y="1894021"/>
            <a:ext cx="1223615" cy="782804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cxnSp>
        <p:nvCxnSpPr>
          <p:cNvPr id="1049" name="AutoShape 25"/>
          <p:cNvCxnSpPr>
            <a:cxnSpLocks noChangeShapeType="1"/>
          </p:cNvCxnSpPr>
          <p:nvPr/>
        </p:nvCxnSpPr>
        <p:spPr bwMode="auto">
          <a:xfrm>
            <a:off x="3218074" y="2676825"/>
            <a:ext cx="1049126" cy="35374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cxnSp>
        <p:nvCxnSpPr>
          <p:cNvPr id="1050" name="AutoShape 26"/>
          <p:cNvCxnSpPr>
            <a:cxnSpLocks noChangeShapeType="1"/>
          </p:cNvCxnSpPr>
          <p:nvPr/>
        </p:nvCxnSpPr>
        <p:spPr bwMode="auto">
          <a:xfrm rot="10800000">
            <a:off x="990600" y="2236921"/>
            <a:ext cx="2227474" cy="43990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cxnSp>
        <p:nvCxnSpPr>
          <p:cNvPr id="1051" name="AutoShape 27"/>
          <p:cNvCxnSpPr>
            <a:cxnSpLocks noChangeShapeType="1"/>
          </p:cNvCxnSpPr>
          <p:nvPr/>
        </p:nvCxnSpPr>
        <p:spPr bwMode="auto">
          <a:xfrm rot="5400000">
            <a:off x="1984372" y="3060615"/>
            <a:ext cx="1617497" cy="849914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sp>
        <p:nvSpPr>
          <p:cNvPr id="1052" name="Text Box 28"/>
          <p:cNvSpPr txBox="1">
            <a:spLocks noChangeArrowheads="1"/>
          </p:cNvSpPr>
          <p:nvPr/>
        </p:nvSpPr>
        <p:spPr bwMode="auto">
          <a:xfrm>
            <a:off x="4495800" y="1627332"/>
            <a:ext cx="13716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F1 = 40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3" name="Text Box 29"/>
          <p:cNvSpPr txBox="1">
            <a:spLocks noChangeArrowheads="1"/>
          </p:cNvSpPr>
          <p:nvPr/>
        </p:nvSpPr>
        <p:spPr bwMode="auto">
          <a:xfrm>
            <a:off x="838200" y="1844942"/>
            <a:ext cx="15240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F2 = 80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Text Box 30"/>
          <p:cNvSpPr txBox="1">
            <a:spLocks noChangeArrowheads="1"/>
          </p:cNvSpPr>
          <p:nvPr/>
        </p:nvSpPr>
        <p:spPr bwMode="auto">
          <a:xfrm>
            <a:off x="1219201" y="4065721"/>
            <a:ext cx="12192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F3 = 60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5" name="Text Box 31"/>
          <p:cNvSpPr txBox="1">
            <a:spLocks noChangeArrowheads="1"/>
          </p:cNvSpPr>
          <p:nvPr/>
        </p:nvSpPr>
        <p:spPr bwMode="auto">
          <a:xfrm>
            <a:off x="4267200" y="2987942"/>
            <a:ext cx="12954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F4 = 30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56" name="AutoShape 32"/>
          <p:cNvCxnSpPr>
            <a:cxnSpLocks noChangeShapeType="1"/>
          </p:cNvCxnSpPr>
          <p:nvPr/>
        </p:nvCxnSpPr>
        <p:spPr bwMode="auto">
          <a:xfrm>
            <a:off x="1116344" y="2676824"/>
            <a:ext cx="4239386" cy="843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</p:cxnSp>
      <p:cxnSp>
        <p:nvCxnSpPr>
          <p:cNvPr id="1057" name="AutoShape 33"/>
          <p:cNvCxnSpPr>
            <a:cxnSpLocks noChangeShapeType="1"/>
          </p:cNvCxnSpPr>
          <p:nvPr/>
        </p:nvCxnSpPr>
        <p:spPr bwMode="auto">
          <a:xfrm>
            <a:off x="3164183" y="1436821"/>
            <a:ext cx="89817" cy="2555031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</p:cxnSp>
      <p:sp>
        <p:nvSpPr>
          <p:cNvPr id="1058" name="Arc 34"/>
          <p:cNvSpPr>
            <a:spLocks/>
          </p:cNvSpPr>
          <p:nvPr/>
        </p:nvSpPr>
        <p:spPr bwMode="auto">
          <a:xfrm rot="596321">
            <a:off x="1520888" y="2207367"/>
            <a:ext cx="2420282" cy="675259"/>
          </a:xfrm>
          <a:custGeom>
            <a:avLst/>
            <a:gdLst>
              <a:gd name="G0" fmla="+- 0 0 0"/>
              <a:gd name="G1" fmla="+- 11951 0 0"/>
              <a:gd name="G2" fmla="+- 21600 0 0"/>
              <a:gd name="T0" fmla="*/ 17992 w 20450"/>
              <a:gd name="T1" fmla="*/ 0 h 11951"/>
              <a:gd name="T2" fmla="*/ 20450 w 20450"/>
              <a:gd name="T3" fmla="*/ 4997 h 11951"/>
              <a:gd name="T4" fmla="*/ 0 w 20450"/>
              <a:gd name="T5" fmla="*/ 11951 h 119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450" h="11951" fill="none" extrusionOk="0">
                <a:moveTo>
                  <a:pt x="17992" y="-1"/>
                </a:moveTo>
                <a:cubicBezTo>
                  <a:pt x="19023" y="1552"/>
                  <a:pt x="19849" y="3232"/>
                  <a:pt x="20449" y="4997"/>
                </a:cubicBezTo>
              </a:path>
              <a:path w="20450" h="11951" stroke="0" extrusionOk="0">
                <a:moveTo>
                  <a:pt x="17992" y="-1"/>
                </a:moveTo>
                <a:cubicBezTo>
                  <a:pt x="19023" y="1552"/>
                  <a:pt x="19849" y="3232"/>
                  <a:pt x="20449" y="4997"/>
                </a:cubicBezTo>
                <a:lnTo>
                  <a:pt x="0" y="11951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 type="triangle" w="lg" len="lg"/>
            <a:tailEnd type="triangle" w="lg" len="lg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0" name="Arc 36"/>
          <p:cNvSpPr>
            <a:spLocks/>
          </p:cNvSpPr>
          <p:nvPr/>
        </p:nvSpPr>
        <p:spPr bwMode="auto">
          <a:xfrm rot="596321">
            <a:off x="2038794" y="1776735"/>
            <a:ext cx="2392509" cy="1858023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6355 w 42544"/>
              <a:gd name="T1" fmla="*/ 42553 h 42553"/>
              <a:gd name="T2" fmla="*/ 42544 w 42544"/>
              <a:gd name="T3" fmla="*/ 16317 h 42553"/>
              <a:gd name="T4" fmla="*/ 21600 w 42544"/>
              <a:gd name="T5" fmla="*/ 21600 h 42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544" h="42553" fill="none" extrusionOk="0">
                <a:moveTo>
                  <a:pt x="16354" y="42553"/>
                </a:moveTo>
                <a:cubicBezTo>
                  <a:pt x="6742" y="40147"/>
                  <a:pt x="0" y="3150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494" y="-1"/>
                  <a:pt x="40123" y="6722"/>
                  <a:pt x="42543" y="16317"/>
                </a:cubicBezTo>
              </a:path>
              <a:path w="42544" h="42553" stroke="0" extrusionOk="0">
                <a:moveTo>
                  <a:pt x="16354" y="42553"/>
                </a:moveTo>
                <a:cubicBezTo>
                  <a:pt x="6742" y="40147"/>
                  <a:pt x="0" y="3150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494" y="-1"/>
                  <a:pt x="40123" y="6722"/>
                  <a:pt x="42543" y="16317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 type="triangle" w="lg" len="lg"/>
            <a:tailEnd type="triangle" w="lg" len="lg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1" name="Arc 37"/>
          <p:cNvSpPr>
            <a:spLocks/>
          </p:cNvSpPr>
          <p:nvPr/>
        </p:nvSpPr>
        <p:spPr bwMode="auto">
          <a:xfrm rot="5400000">
            <a:off x="3379826" y="2184877"/>
            <a:ext cx="381863" cy="1057451"/>
          </a:xfrm>
          <a:custGeom>
            <a:avLst/>
            <a:gdLst>
              <a:gd name="G0" fmla="+- 0 0 0"/>
              <a:gd name="G1" fmla="+- 21127 0 0"/>
              <a:gd name="G2" fmla="+- 21600 0 0"/>
              <a:gd name="T0" fmla="*/ 4496 w 12031"/>
              <a:gd name="T1" fmla="*/ 0 h 21127"/>
              <a:gd name="T2" fmla="*/ 12031 w 12031"/>
              <a:gd name="T3" fmla="*/ 3188 h 21127"/>
              <a:gd name="T4" fmla="*/ 0 w 12031"/>
              <a:gd name="T5" fmla="*/ 21127 h 21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031" h="21127" fill="none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</a:path>
              <a:path w="12031" h="21127" stroke="0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  <a:lnTo>
                  <a:pt x="0" y="211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 type="triangle" w="lg" len="med"/>
            <a:tailEnd type="triangle" w="lg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3429001" y="2922721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-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40</a:t>
            </a:r>
            <a:r>
              <a:rPr kumimoji="0" lang="en-US" sz="20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endParaRPr kumimoji="0" lang="en-US" sz="2000" b="1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/>
        </p:nvSpPr>
        <p:spPr bwMode="auto">
          <a:xfrm>
            <a:off x="1921225" y="3398971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Symbol" pitchFamily="18" charset="2"/>
                <a:ea typeface="Arial" pitchFamily="34" charset="0"/>
                <a:cs typeface="Arial" pitchFamily="34" charset="0"/>
              </a:rPr>
              <a:t>240</a:t>
            </a:r>
            <a:r>
              <a:rPr lang="en-US" sz="2000" b="1" baseline="30000" dirty="0"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4" name="Text Box 40"/>
          <p:cNvSpPr txBox="1">
            <a:spLocks noChangeArrowheads="1"/>
          </p:cNvSpPr>
          <p:nvPr/>
        </p:nvSpPr>
        <p:spPr bwMode="auto">
          <a:xfrm>
            <a:off x="2209801" y="1959242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150</a:t>
            </a:r>
            <a:r>
              <a:rPr kumimoji="0" lang="en-US" sz="20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5" name="Text Box 41"/>
          <p:cNvSpPr txBox="1">
            <a:spLocks noChangeArrowheads="1"/>
          </p:cNvSpPr>
          <p:nvPr/>
        </p:nvSpPr>
        <p:spPr bwMode="auto">
          <a:xfrm>
            <a:off x="3276600" y="2122621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45</a:t>
            </a:r>
            <a:r>
              <a:rPr kumimoji="0" lang="en-US" sz="20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endParaRPr kumimoji="0" lang="en-US" sz="2000" b="1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867400" y="2228850"/>
            <a:ext cx="3048000" cy="201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ts val="3000"/>
              </a:lnSpc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IMP Note - All angles are measured from +</a:t>
            </a:r>
            <a:r>
              <a:rPr lang="en-US" sz="20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ve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X axis.</a:t>
            </a:r>
          </a:p>
          <a:p>
            <a:pPr algn="r">
              <a:lnSpc>
                <a:spcPts val="3000"/>
              </a:lnSpc>
            </a:pPr>
            <a:r>
              <a:rPr lang="en-US" sz="2000" b="1" dirty="0" err="1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CCW</a:t>
            </a:r>
            <a:r>
              <a:rPr lang="en-US" sz="2000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 angles are +</a:t>
            </a:r>
            <a:r>
              <a:rPr lang="en-US" sz="2000" b="1" dirty="0" err="1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ve</a:t>
            </a:r>
            <a:endParaRPr lang="en-US" sz="2000" b="1" dirty="0">
              <a:solidFill>
                <a:srgbClr val="0000FF"/>
              </a:solidFill>
              <a:latin typeface="Calibri" pitchFamily="34" charset="0"/>
              <a:cs typeface="Calibri" pitchFamily="34" charset="0"/>
              <a:sym typeface="Symbol"/>
            </a:endParaRPr>
          </a:p>
          <a:p>
            <a:pPr algn="r">
              <a:lnSpc>
                <a:spcPts val="3000"/>
              </a:lnSpc>
            </a:pPr>
            <a:r>
              <a:rPr lang="en-US" sz="2000" b="1" dirty="0" err="1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CW</a:t>
            </a:r>
            <a:r>
              <a:rPr lang="en-US" sz="2000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 angles are –</a:t>
            </a:r>
            <a:r>
              <a:rPr lang="en-US" sz="2000" b="1" dirty="0" err="1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ve</a:t>
            </a:r>
            <a:endParaRPr lang="en-US" sz="2000" b="1" dirty="0">
              <a:solidFill>
                <a:srgbClr val="0000FF"/>
              </a:solidFill>
              <a:latin typeface="Calibri" pitchFamily="34" charset="0"/>
              <a:cs typeface="Calibri" pitchFamily="34" charset="0"/>
              <a:sym typeface="Symbol"/>
            </a:endParaRPr>
          </a:p>
          <a:p>
            <a:pPr algn="r">
              <a:lnSpc>
                <a:spcPts val="3000"/>
              </a:lnSpc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Thus,  + 60</a:t>
            </a:r>
            <a:r>
              <a:rPr lang="en-US" sz="2000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= - 300</a:t>
            </a:r>
            <a:r>
              <a:rPr lang="en-US" sz="2000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</a:t>
            </a:r>
          </a:p>
        </p:txBody>
      </p:sp>
      <p:sp>
        <p:nvSpPr>
          <p:cNvPr id="29" name="Arc 28"/>
          <p:cNvSpPr/>
          <p:nvPr/>
        </p:nvSpPr>
        <p:spPr>
          <a:xfrm>
            <a:off x="2362200" y="2008321"/>
            <a:ext cx="1752600" cy="1257300"/>
          </a:xfrm>
          <a:prstGeom prst="arc">
            <a:avLst>
              <a:gd name="adj1" fmla="val 11363812"/>
              <a:gd name="adj2" fmla="val 174930"/>
            </a:avLst>
          </a:prstGeom>
          <a:ln w="19050">
            <a:solidFill>
              <a:srgbClr val="0000FF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0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1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3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52" grpId="0"/>
      <p:bldP spid="1053" grpId="0"/>
      <p:bldP spid="1054" grpId="0"/>
      <p:bldP spid="1055" grpId="0"/>
      <p:bldP spid="1058" grpId="0" animBg="1"/>
      <p:bldP spid="1060" grpId="0" animBg="1"/>
      <p:bldP spid="1061" grpId="0" animBg="1"/>
      <p:bldP spid="1062" grpId="0"/>
      <p:bldP spid="1063" grpId="0"/>
      <p:bldP spid="1064" grpId="0"/>
      <p:bldP spid="1065" grpId="0"/>
      <p:bldP spid="63" grpId="0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133350"/>
            <a:ext cx="2514600" cy="285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Ex. 1 Solution - 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3276600" y="133350"/>
            <a:ext cx="5638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Resolve each Force into X and Y components and sum up. </a:t>
            </a:r>
          </a:p>
        </p:txBody>
      </p:sp>
      <p:cxnSp>
        <p:nvCxnSpPr>
          <p:cNvPr id="1048" name="AutoShape 24"/>
          <p:cNvCxnSpPr>
            <a:cxnSpLocks noChangeShapeType="1"/>
          </p:cNvCxnSpPr>
          <p:nvPr/>
        </p:nvCxnSpPr>
        <p:spPr bwMode="auto">
          <a:xfrm flipV="1">
            <a:off x="3218075" y="1200151"/>
            <a:ext cx="1223615" cy="782804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cxnSp>
        <p:nvCxnSpPr>
          <p:cNvPr id="1049" name="AutoShape 25"/>
          <p:cNvCxnSpPr>
            <a:cxnSpLocks noChangeShapeType="1"/>
          </p:cNvCxnSpPr>
          <p:nvPr/>
        </p:nvCxnSpPr>
        <p:spPr bwMode="auto">
          <a:xfrm>
            <a:off x="3218074" y="1982954"/>
            <a:ext cx="1049126" cy="35374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cxnSp>
        <p:nvCxnSpPr>
          <p:cNvPr id="1050" name="AutoShape 26"/>
          <p:cNvCxnSpPr>
            <a:cxnSpLocks noChangeShapeType="1"/>
          </p:cNvCxnSpPr>
          <p:nvPr/>
        </p:nvCxnSpPr>
        <p:spPr bwMode="auto">
          <a:xfrm rot="10800000">
            <a:off x="990600" y="1485900"/>
            <a:ext cx="2227474" cy="49705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cxnSp>
        <p:nvCxnSpPr>
          <p:cNvPr id="1051" name="AutoShape 27"/>
          <p:cNvCxnSpPr>
            <a:cxnSpLocks noChangeShapeType="1"/>
          </p:cNvCxnSpPr>
          <p:nvPr/>
        </p:nvCxnSpPr>
        <p:spPr bwMode="auto">
          <a:xfrm rot="5400000">
            <a:off x="1984372" y="2366745"/>
            <a:ext cx="1617497" cy="849914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lg" len="lg"/>
          </a:ln>
        </p:spPr>
      </p:cxnSp>
      <p:sp>
        <p:nvSpPr>
          <p:cNvPr id="1052" name="Text Box 28"/>
          <p:cNvSpPr txBox="1">
            <a:spLocks noChangeArrowheads="1"/>
          </p:cNvSpPr>
          <p:nvPr/>
        </p:nvSpPr>
        <p:spPr bwMode="auto">
          <a:xfrm>
            <a:off x="3810000" y="914401"/>
            <a:ext cx="13716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F1 = 40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3" name="Text Box 29"/>
          <p:cNvSpPr txBox="1">
            <a:spLocks noChangeArrowheads="1"/>
          </p:cNvSpPr>
          <p:nvPr/>
        </p:nvSpPr>
        <p:spPr bwMode="auto">
          <a:xfrm>
            <a:off x="838200" y="1036771"/>
            <a:ext cx="15240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F2 = 80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Text Box 30"/>
          <p:cNvSpPr txBox="1">
            <a:spLocks noChangeArrowheads="1"/>
          </p:cNvSpPr>
          <p:nvPr/>
        </p:nvSpPr>
        <p:spPr bwMode="auto">
          <a:xfrm>
            <a:off x="1219201" y="3371850"/>
            <a:ext cx="12192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F3 = 60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5" name="Text Box 31"/>
          <p:cNvSpPr txBox="1">
            <a:spLocks noChangeArrowheads="1"/>
          </p:cNvSpPr>
          <p:nvPr/>
        </p:nvSpPr>
        <p:spPr bwMode="auto">
          <a:xfrm>
            <a:off x="4114800" y="2000251"/>
            <a:ext cx="1295400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F4 = 30 N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56" name="AutoShape 32"/>
          <p:cNvCxnSpPr>
            <a:cxnSpLocks noChangeShapeType="1"/>
          </p:cNvCxnSpPr>
          <p:nvPr/>
        </p:nvCxnSpPr>
        <p:spPr bwMode="auto">
          <a:xfrm>
            <a:off x="1116344" y="1982953"/>
            <a:ext cx="4239386" cy="843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</p:cxnSp>
      <p:cxnSp>
        <p:nvCxnSpPr>
          <p:cNvPr id="1057" name="AutoShape 33"/>
          <p:cNvCxnSpPr>
            <a:cxnSpLocks noChangeShapeType="1"/>
          </p:cNvCxnSpPr>
          <p:nvPr/>
        </p:nvCxnSpPr>
        <p:spPr bwMode="auto">
          <a:xfrm>
            <a:off x="3164183" y="742950"/>
            <a:ext cx="89817" cy="2555031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</p:cxnSp>
      <p:sp>
        <p:nvSpPr>
          <p:cNvPr id="1058" name="Arc 34"/>
          <p:cNvSpPr>
            <a:spLocks/>
          </p:cNvSpPr>
          <p:nvPr/>
        </p:nvSpPr>
        <p:spPr bwMode="auto">
          <a:xfrm rot="596321">
            <a:off x="1510344" y="1512579"/>
            <a:ext cx="2420282" cy="797447"/>
          </a:xfrm>
          <a:custGeom>
            <a:avLst/>
            <a:gdLst>
              <a:gd name="G0" fmla="+- 0 0 0"/>
              <a:gd name="G1" fmla="+- 11951 0 0"/>
              <a:gd name="G2" fmla="+- 21600 0 0"/>
              <a:gd name="T0" fmla="*/ 17992 w 20450"/>
              <a:gd name="T1" fmla="*/ 0 h 11951"/>
              <a:gd name="T2" fmla="*/ 20450 w 20450"/>
              <a:gd name="T3" fmla="*/ 4997 h 11951"/>
              <a:gd name="T4" fmla="*/ 0 w 20450"/>
              <a:gd name="T5" fmla="*/ 11951 h 119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450" h="11951" fill="none" extrusionOk="0">
                <a:moveTo>
                  <a:pt x="17992" y="-1"/>
                </a:moveTo>
                <a:cubicBezTo>
                  <a:pt x="19023" y="1552"/>
                  <a:pt x="19849" y="3232"/>
                  <a:pt x="20449" y="4997"/>
                </a:cubicBezTo>
              </a:path>
              <a:path w="20450" h="11951" stroke="0" extrusionOk="0">
                <a:moveTo>
                  <a:pt x="17992" y="-1"/>
                </a:moveTo>
                <a:cubicBezTo>
                  <a:pt x="19023" y="1552"/>
                  <a:pt x="19849" y="3232"/>
                  <a:pt x="20449" y="4997"/>
                </a:cubicBezTo>
                <a:lnTo>
                  <a:pt x="0" y="11951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 type="triangle" w="lg" len="lg"/>
            <a:tailEnd type="triangle" w="lg" len="lg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0" name="Arc 36"/>
          <p:cNvSpPr>
            <a:spLocks/>
          </p:cNvSpPr>
          <p:nvPr/>
        </p:nvSpPr>
        <p:spPr bwMode="auto">
          <a:xfrm rot="596321">
            <a:off x="1964805" y="1071608"/>
            <a:ext cx="2566252" cy="1886559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6355 w 42544"/>
              <a:gd name="T1" fmla="*/ 42553 h 42553"/>
              <a:gd name="T2" fmla="*/ 42544 w 42544"/>
              <a:gd name="T3" fmla="*/ 16317 h 42553"/>
              <a:gd name="T4" fmla="*/ 21600 w 42544"/>
              <a:gd name="T5" fmla="*/ 21600 h 42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544" h="42553" fill="none" extrusionOk="0">
                <a:moveTo>
                  <a:pt x="16354" y="42553"/>
                </a:moveTo>
                <a:cubicBezTo>
                  <a:pt x="6742" y="40147"/>
                  <a:pt x="0" y="3150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494" y="-1"/>
                  <a:pt x="40123" y="6722"/>
                  <a:pt x="42543" y="16317"/>
                </a:cubicBezTo>
              </a:path>
              <a:path w="42544" h="42553" stroke="0" extrusionOk="0">
                <a:moveTo>
                  <a:pt x="16354" y="42553"/>
                </a:moveTo>
                <a:cubicBezTo>
                  <a:pt x="6742" y="40147"/>
                  <a:pt x="0" y="3150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494" y="-1"/>
                  <a:pt x="40123" y="6722"/>
                  <a:pt x="42543" y="16317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 type="triangle" w="lg" len="lg"/>
            <a:tailEnd type="triangle" w="lg" len="lg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1" name="Arc 37"/>
          <p:cNvSpPr>
            <a:spLocks/>
          </p:cNvSpPr>
          <p:nvPr/>
        </p:nvSpPr>
        <p:spPr bwMode="auto">
          <a:xfrm rot="5400000">
            <a:off x="3379826" y="1491007"/>
            <a:ext cx="381863" cy="1057451"/>
          </a:xfrm>
          <a:custGeom>
            <a:avLst/>
            <a:gdLst>
              <a:gd name="G0" fmla="+- 0 0 0"/>
              <a:gd name="G1" fmla="+- 21127 0 0"/>
              <a:gd name="G2" fmla="+- 21600 0 0"/>
              <a:gd name="T0" fmla="*/ 4496 w 12031"/>
              <a:gd name="T1" fmla="*/ 0 h 21127"/>
              <a:gd name="T2" fmla="*/ 12031 w 12031"/>
              <a:gd name="T3" fmla="*/ 3188 h 21127"/>
              <a:gd name="T4" fmla="*/ 0 w 12031"/>
              <a:gd name="T5" fmla="*/ 21127 h 21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031" h="21127" fill="none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</a:path>
              <a:path w="12031" h="21127" stroke="0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  <a:lnTo>
                  <a:pt x="0" y="211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dash"/>
            <a:round/>
            <a:headEnd type="triangle" w="lg" len="med"/>
            <a:tailEnd type="triangle" w="lg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3429001" y="2228851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-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40</a:t>
            </a:r>
            <a:r>
              <a:rPr kumimoji="0" lang="en-US" sz="20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endParaRPr kumimoji="0" lang="en-US" sz="2000" b="1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/>
        </p:nvSpPr>
        <p:spPr bwMode="auto">
          <a:xfrm>
            <a:off x="1921226" y="2865571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Symbol" pitchFamily="18" charset="2"/>
                <a:ea typeface="Arial" pitchFamily="34" charset="0"/>
                <a:cs typeface="Arial" pitchFamily="34" charset="0"/>
              </a:rPr>
              <a:t>240</a:t>
            </a:r>
            <a:r>
              <a:rPr lang="en-US" sz="2000" b="1" baseline="30000" dirty="0"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4" name="Text Box 40"/>
          <p:cNvSpPr txBox="1">
            <a:spLocks noChangeArrowheads="1"/>
          </p:cNvSpPr>
          <p:nvPr/>
        </p:nvSpPr>
        <p:spPr bwMode="auto">
          <a:xfrm>
            <a:off x="2209801" y="1265371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150</a:t>
            </a:r>
            <a:r>
              <a:rPr kumimoji="0" lang="en-US" sz="20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5" name="Text Box 41"/>
          <p:cNvSpPr txBox="1">
            <a:spLocks noChangeArrowheads="1"/>
          </p:cNvSpPr>
          <p:nvPr/>
        </p:nvSpPr>
        <p:spPr bwMode="auto">
          <a:xfrm>
            <a:off x="3276600" y="1428751"/>
            <a:ext cx="898175" cy="3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45</a:t>
            </a:r>
            <a:r>
              <a:rPr kumimoji="0" lang="en-US" sz="20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endParaRPr kumimoji="0" lang="en-US" sz="2000" b="1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81600" y="666750"/>
            <a:ext cx="3733800" cy="152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Note : F1 = 40 N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45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is the polar format. Convert it to Rectangular (Cartesian) using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P to R function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on  calculator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.   </a:t>
            </a:r>
            <a:r>
              <a:rPr lang="en-US" b="1" dirty="0" err="1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  <a:sym typeface="Symbol"/>
              </a:rPr>
              <a:t>Pol</a:t>
            </a:r>
            <a:r>
              <a:rPr lang="en-US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  <a:sym typeface="Symbol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  <a:sym typeface="Symbol"/>
              </a:rPr>
              <a:t>(+)   and   </a:t>
            </a:r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  <a:sym typeface="Symbol"/>
              </a:rPr>
              <a:t>Rec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  <a:sym typeface="Symbol"/>
              </a:rPr>
              <a:t> (-)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266950"/>
            <a:ext cx="4343400" cy="152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3000"/>
              </a:lnSpc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F1 =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40 N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45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= (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28.2842,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28.2842 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)</a:t>
            </a:r>
          </a:p>
          <a:p>
            <a:pPr algn="just">
              <a:lnSpc>
                <a:spcPts val="3000"/>
              </a:lnSpc>
            </a:pP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F2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80 N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150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= (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-69.2820,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40 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)</a:t>
            </a:r>
          </a:p>
          <a:p>
            <a:pPr algn="just">
              <a:lnSpc>
                <a:spcPts val="3000"/>
              </a:lnSpc>
            </a:pP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F3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60 N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240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= (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-30,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-51.9615 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)</a:t>
            </a:r>
          </a:p>
          <a:p>
            <a:pPr algn="just">
              <a:lnSpc>
                <a:spcPts val="3000"/>
              </a:lnSpc>
            </a:pPr>
            <a:r>
              <a:rPr 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F4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30 N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- 40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= ( </a:t>
            </a: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21.2132,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-21.2132 )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886200"/>
            <a:ext cx="4343400" cy="1123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/>
              </a:rPr>
              <a:t> </a:t>
            </a:r>
            <a:r>
              <a:rPr lang="en-US" b="1" dirty="0" err="1">
                <a:solidFill>
                  <a:srgbClr val="0000FF"/>
                </a:solidFill>
              </a:rPr>
              <a:t>Fx</a:t>
            </a:r>
            <a:r>
              <a:rPr lang="en-US" b="1" dirty="0">
                <a:solidFill>
                  <a:srgbClr val="0000FF"/>
                </a:solidFill>
              </a:rPr>
              <a:t> = - 49.7846 ,  </a:t>
            </a:r>
            <a:r>
              <a:rPr lang="en-US" b="1" dirty="0">
                <a:solidFill>
                  <a:srgbClr val="FF0000"/>
                </a:solidFill>
                <a:sym typeface="Symbol"/>
              </a:rPr>
              <a:t></a:t>
            </a:r>
            <a:r>
              <a:rPr lang="en-US" b="1" dirty="0">
                <a:solidFill>
                  <a:srgbClr val="0000FF"/>
                </a:solidFill>
                <a:sym typeface="Symbol"/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Fy</a:t>
            </a:r>
            <a:r>
              <a:rPr lang="en-US" b="1" dirty="0">
                <a:solidFill>
                  <a:srgbClr val="FF0000"/>
                </a:solidFill>
              </a:rPr>
              <a:t> = - 4.8905</a:t>
            </a:r>
          </a:p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Convert to Polar</a:t>
            </a:r>
          </a:p>
          <a:p>
            <a:pPr>
              <a:lnSpc>
                <a:spcPts val="3000"/>
              </a:lnSpc>
            </a:pPr>
            <a:r>
              <a:rPr lang="en-US" b="1" dirty="0">
                <a:solidFill>
                  <a:srgbClr val="0000FF"/>
                </a:solidFill>
                <a:latin typeface="Calibri" pitchFamily="34" charset="0"/>
                <a:cs typeface="Calibri" pitchFamily="34" charset="0"/>
                <a:sym typeface="Symbol"/>
              </a:rPr>
              <a:t> R = 50.0242 N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-174.39</a:t>
            </a:r>
            <a:r>
              <a:rPr lang="en-US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… Answer</a:t>
            </a:r>
            <a:endParaRPr lang="en-US" b="1" dirty="0">
              <a:solidFill>
                <a:srgbClr val="0000FF"/>
              </a:solidFill>
              <a:latin typeface="Calibri" pitchFamily="34" charset="0"/>
              <a:cs typeface="Calibri" pitchFamily="34" charset="0"/>
              <a:sym typeface="Symbo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" y="3867150"/>
            <a:ext cx="3810000" cy="1143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2000" dirty="0">
                <a:solidFill>
                  <a:srgbClr val="0000FF"/>
                </a:solidFill>
              </a:rPr>
              <a:t>IMP </a:t>
            </a:r>
            <a:r>
              <a:rPr lang="en-US" sz="2000" dirty="0" smtClean="0">
                <a:solidFill>
                  <a:srgbClr val="0000FF"/>
                </a:solidFill>
              </a:rPr>
              <a:t>:  </a:t>
            </a:r>
            <a:r>
              <a:rPr lang="en-US" sz="2000" dirty="0">
                <a:solidFill>
                  <a:srgbClr val="0000FF"/>
                </a:solidFill>
              </a:rPr>
              <a:t>All angles are </a:t>
            </a:r>
            <a:r>
              <a:rPr lang="en-US" sz="2000" dirty="0" smtClean="0">
                <a:solidFill>
                  <a:srgbClr val="0000FF"/>
                </a:solidFill>
              </a:rPr>
              <a:t>measured </a:t>
            </a:r>
            <a:r>
              <a:rPr lang="en-US" sz="2000" dirty="0">
                <a:solidFill>
                  <a:srgbClr val="0000FF"/>
                </a:solidFill>
              </a:rPr>
              <a:t>from +</a:t>
            </a:r>
            <a:r>
              <a:rPr lang="en-US" sz="2000" dirty="0" err="1">
                <a:solidFill>
                  <a:srgbClr val="0000FF"/>
                </a:solidFill>
              </a:rPr>
              <a:t>ve</a:t>
            </a:r>
            <a:r>
              <a:rPr lang="en-US" sz="2000" dirty="0">
                <a:solidFill>
                  <a:srgbClr val="0000FF"/>
                </a:solidFill>
              </a:rPr>
              <a:t> X </a:t>
            </a:r>
            <a:r>
              <a:rPr lang="en-US" sz="2000" dirty="0" smtClean="0">
                <a:solidFill>
                  <a:srgbClr val="0000FF"/>
                </a:solidFill>
              </a:rPr>
              <a:t>axis.</a:t>
            </a:r>
          </a:p>
          <a:p>
            <a:pPr>
              <a:lnSpc>
                <a:spcPts val="3000"/>
              </a:lnSpc>
            </a:pP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CW = – </a:t>
            </a: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ve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 and CCW = + </a:t>
            </a: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ve</a:t>
            </a:r>
            <a:endParaRPr lang="en-US" sz="2000" b="1" dirty="0">
              <a:solidFill>
                <a:srgbClr val="FF0000"/>
              </a:solidFill>
              <a:latin typeface="Calibri" pitchFamily="34" charset="0"/>
              <a:cs typeface="Calibri" pitchFamily="34" charset="0"/>
              <a:sym typeface="Symbol"/>
            </a:endParaRPr>
          </a:p>
        </p:txBody>
      </p:sp>
      <p:cxnSp>
        <p:nvCxnSpPr>
          <p:cNvPr id="31" name="AutoShape 27"/>
          <p:cNvCxnSpPr>
            <a:cxnSpLocks noChangeShapeType="1"/>
          </p:cNvCxnSpPr>
          <p:nvPr/>
        </p:nvCxnSpPr>
        <p:spPr bwMode="auto">
          <a:xfrm rot="10800000" flipV="1">
            <a:off x="1600202" y="1967388"/>
            <a:ext cx="1600198" cy="147161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762000" y="2171700"/>
            <a:ext cx="1981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R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= 50.0242 N</a:t>
            </a:r>
          </a:p>
          <a:p>
            <a:pPr lvl="0" fontAlgn="base">
              <a:lnSpc>
                <a:spcPts val="28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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 =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-174.39</a:t>
            </a:r>
            <a:r>
              <a:rPr lang="en-US" sz="2000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0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Arc 36"/>
          <p:cNvSpPr/>
          <p:nvPr/>
        </p:nvSpPr>
        <p:spPr>
          <a:xfrm rot="5081472">
            <a:off x="2639970" y="1516102"/>
            <a:ext cx="888339" cy="1254046"/>
          </a:xfrm>
          <a:prstGeom prst="arc">
            <a:avLst>
              <a:gd name="adj1" fmla="val 15143911"/>
              <a:gd name="adj2" fmla="val 6573892"/>
            </a:avLst>
          </a:prstGeom>
          <a:ln w="22225"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/>
          <p:cNvSpPr/>
          <p:nvPr/>
        </p:nvSpPr>
        <p:spPr>
          <a:xfrm>
            <a:off x="2438400" y="1314450"/>
            <a:ext cx="1752600" cy="1257300"/>
          </a:xfrm>
          <a:prstGeom prst="arc">
            <a:avLst>
              <a:gd name="adj1" fmla="val 11515924"/>
              <a:gd name="adj2" fmla="val 234862"/>
            </a:avLst>
          </a:prstGeom>
          <a:ln w="19050">
            <a:solidFill>
              <a:srgbClr val="0000FF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8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9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0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7" grpId="0" animBg="1"/>
      <p:bldP spid="28" grpId="0" animBg="1"/>
      <p:bldP spid="29" grpId="0" animBg="1"/>
      <p:bldP spid="30" grpId="0" animBg="1"/>
      <p:bldP spid="34" grpId="0"/>
      <p:bldP spid="3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8200" y="114300"/>
            <a:ext cx="3124200" cy="40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Numerical Example 2 - 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914400" y="486918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191000" y="228600"/>
            <a:ext cx="4572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Find the magnitudes of components of the force F of 750 N in the directions OP and </a:t>
            </a:r>
            <a:r>
              <a:rPr lang="en-US" sz="20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000" b="1" dirty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/>
            </a:endParaRPr>
          </a:p>
        </p:txBody>
      </p:sp>
      <p:cxnSp>
        <p:nvCxnSpPr>
          <p:cNvPr id="1048" name="AutoShape 24"/>
          <p:cNvCxnSpPr>
            <a:cxnSpLocks noChangeShapeType="1"/>
          </p:cNvCxnSpPr>
          <p:nvPr/>
        </p:nvCxnSpPr>
        <p:spPr bwMode="auto">
          <a:xfrm flipV="1">
            <a:off x="2691523" y="2201140"/>
            <a:ext cx="2470681" cy="952113"/>
          </a:xfrm>
          <a:prstGeom prst="straightConnector1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</p:cxnSp>
      <p:cxnSp>
        <p:nvCxnSpPr>
          <p:cNvPr id="1049" name="AutoShape 25"/>
          <p:cNvCxnSpPr>
            <a:cxnSpLocks noChangeShapeType="1"/>
          </p:cNvCxnSpPr>
          <p:nvPr/>
        </p:nvCxnSpPr>
        <p:spPr bwMode="auto">
          <a:xfrm flipV="1">
            <a:off x="2667001" y="2560015"/>
            <a:ext cx="3268703" cy="58323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</p:spPr>
      </p:cxnSp>
      <p:cxnSp>
        <p:nvCxnSpPr>
          <p:cNvPr id="1050" name="AutoShape 26"/>
          <p:cNvCxnSpPr>
            <a:cxnSpLocks noChangeShapeType="1"/>
          </p:cNvCxnSpPr>
          <p:nvPr/>
        </p:nvCxnSpPr>
        <p:spPr bwMode="auto">
          <a:xfrm rot="16200000" flipV="1">
            <a:off x="1480871" y="1942601"/>
            <a:ext cx="1847464" cy="573841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</p:spPr>
      </p:cxnSp>
      <p:sp>
        <p:nvSpPr>
          <p:cNvPr id="1052" name="Text Box 28"/>
          <p:cNvSpPr txBox="1">
            <a:spLocks noChangeArrowheads="1"/>
          </p:cNvSpPr>
          <p:nvPr/>
        </p:nvSpPr>
        <p:spPr bwMode="auto">
          <a:xfrm>
            <a:off x="4800600" y="1827067"/>
            <a:ext cx="1238596" cy="344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F = 750 N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56" name="AutoShape 32"/>
          <p:cNvCxnSpPr>
            <a:cxnSpLocks noChangeShapeType="1"/>
          </p:cNvCxnSpPr>
          <p:nvPr/>
        </p:nvCxnSpPr>
        <p:spPr bwMode="auto">
          <a:xfrm>
            <a:off x="1977692" y="3154451"/>
            <a:ext cx="4118308" cy="1697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stealth" w="lg" len="lg"/>
            <a:tailEnd type="stealth" w="lg" len="lg"/>
          </a:ln>
        </p:spPr>
      </p:cxnSp>
      <p:cxnSp>
        <p:nvCxnSpPr>
          <p:cNvPr id="1057" name="AutoShape 33"/>
          <p:cNvCxnSpPr>
            <a:cxnSpLocks noChangeShapeType="1"/>
          </p:cNvCxnSpPr>
          <p:nvPr/>
        </p:nvCxnSpPr>
        <p:spPr bwMode="auto">
          <a:xfrm rot="16200000" flipH="1">
            <a:off x="1321343" y="2214032"/>
            <a:ext cx="2686052" cy="8679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stealth" w="lg" len="lg"/>
            <a:tailEnd type="stealth" w="lg" len="lg"/>
          </a:ln>
        </p:spPr>
      </p:cxnSp>
      <p:sp>
        <p:nvSpPr>
          <p:cNvPr id="1061" name="Arc 37"/>
          <p:cNvSpPr>
            <a:spLocks/>
          </p:cNvSpPr>
          <p:nvPr/>
        </p:nvSpPr>
        <p:spPr bwMode="auto">
          <a:xfrm rot="3330661">
            <a:off x="3766179" y="2527171"/>
            <a:ext cx="522888" cy="1355645"/>
          </a:xfrm>
          <a:custGeom>
            <a:avLst/>
            <a:gdLst>
              <a:gd name="G0" fmla="+- 0 0 0"/>
              <a:gd name="G1" fmla="+- 21127 0 0"/>
              <a:gd name="G2" fmla="+- 21600 0 0"/>
              <a:gd name="T0" fmla="*/ 4496 w 12031"/>
              <a:gd name="T1" fmla="*/ 0 h 21127"/>
              <a:gd name="T2" fmla="*/ 12031 w 12031"/>
              <a:gd name="T3" fmla="*/ 3188 h 21127"/>
              <a:gd name="T4" fmla="*/ 0 w 12031"/>
              <a:gd name="T5" fmla="*/ 21127 h 21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031" h="21127" fill="none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</a:path>
              <a:path w="12031" h="21127" stroke="0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  <a:lnTo>
                  <a:pt x="0" y="211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solid"/>
            <a:round/>
            <a:headEnd type="triangle" w="lg" len="med"/>
            <a:tailEnd type="triangle" w="lg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3" name="Text Box 39"/>
          <p:cNvSpPr txBox="1">
            <a:spLocks noChangeArrowheads="1"/>
          </p:cNvSpPr>
          <p:nvPr/>
        </p:nvSpPr>
        <p:spPr bwMode="auto">
          <a:xfrm>
            <a:off x="4648200" y="2724150"/>
            <a:ext cx="746760" cy="3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Symbol" pitchFamily="18" charset="2"/>
                <a:ea typeface="Arial" pitchFamily="34" charset="0"/>
                <a:cs typeface="Arial" pitchFamily="34" charset="0"/>
              </a:rPr>
              <a:t>20</a:t>
            </a:r>
            <a:r>
              <a:rPr lang="en-US" sz="2000" b="1" baseline="30000" dirty="0"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4" name="Text Box 40"/>
          <p:cNvSpPr txBox="1">
            <a:spLocks noChangeArrowheads="1"/>
          </p:cNvSpPr>
          <p:nvPr/>
        </p:nvSpPr>
        <p:spPr bwMode="auto">
          <a:xfrm>
            <a:off x="2133600" y="1200150"/>
            <a:ext cx="609600" cy="29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15</a:t>
            </a:r>
            <a:r>
              <a:rPr kumimoji="0" lang="en-US" sz="20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28"/>
          <p:cNvSpPr txBox="1">
            <a:spLocks noChangeArrowheads="1"/>
          </p:cNvSpPr>
          <p:nvPr/>
        </p:nvSpPr>
        <p:spPr bwMode="auto">
          <a:xfrm>
            <a:off x="6147262" y="3165134"/>
            <a:ext cx="405938" cy="321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X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2667000" y="685801"/>
            <a:ext cx="381000" cy="318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Y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 Box 28"/>
          <p:cNvSpPr txBox="1">
            <a:spLocks noChangeArrowheads="1"/>
          </p:cNvSpPr>
          <p:nvPr/>
        </p:nvSpPr>
        <p:spPr bwMode="auto">
          <a:xfrm>
            <a:off x="5960226" y="2282535"/>
            <a:ext cx="440575" cy="346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</a:t>
            </a:r>
          </a:p>
        </p:txBody>
      </p:sp>
      <p:sp>
        <p:nvSpPr>
          <p:cNvPr id="58" name="Text Box 28"/>
          <p:cNvSpPr txBox="1">
            <a:spLocks noChangeArrowheads="1"/>
          </p:cNvSpPr>
          <p:nvPr/>
        </p:nvSpPr>
        <p:spPr bwMode="auto">
          <a:xfrm>
            <a:off x="1647306" y="1143001"/>
            <a:ext cx="410095" cy="351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alibri" pitchFamily="34" charset="0"/>
                <a:cs typeface="Arial" pitchFamily="34" charset="0"/>
              </a:rPr>
              <a:t>Q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39"/>
          <p:cNvSpPr txBox="1">
            <a:spLocks noChangeArrowheads="1"/>
          </p:cNvSpPr>
          <p:nvPr/>
        </p:nvSpPr>
        <p:spPr bwMode="auto">
          <a:xfrm>
            <a:off x="4419600" y="2421080"/>
            <a:ext cx="746760" cy="379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Symbol" pitchFamily="18" charset="2"/>
                <a:ea typeface="Arial" pitchFamily="34" charset="0"/>
                <a:cs typeface="Arial" pitchFamily="34" charset="0"/>
              </a:rPr>
              <a:t>20</a:t>
            </a:r>
            <a:r>
              <a:rPr lang="en-US" sz="2000" b="1" baseline="30000" dirty="0"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Arc 37"/>
          <p:cNvSpPr>
            <a:spLocks/>
          </p:cNvSpPr>
          <p:nvPr/>
        </p:nvSpPr>
        <p:spPr bwMode="auto">
          <a:xfrm rot="2347453">
            <a:off x="3688245" y="2431828"/>
            <a:ext cx="575212" cy="1131842"/>
          </a:xfrm>
          <a:custGeom>
            <a:avLst/>
            <a:gdLst>
              <a:gd name="G0" fmla="+- 0 0 0"/>
              <a:gd name="G1" fmla="+- 21127 0 0"/>
              <a:gd name="G2" fmla="+- 21600 0 0"/>
              <a:gd name="T0" fmla="*/ 4496 w 12031"/>
              <a:gd name="T1" fmla="*/ 0 h 21127"/>
              <a:gd name="T2" fmla="*/ 12031 w 12031"/>
              <a:gd name="T3" fmla="*/ 3188 h 21127"/>
              <a:gd name="T4" fmla="*/ 0 w 12031"/>
              <a:gd name="T5" fmla="*/ 21127 h 21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031" h="21127" fill="none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</a:path>
              <a:path w="12031" h="21127" stroke="0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  <a:lnTo>
                  <a:pt x="0" y="211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solid"/>
            <a:round/>
            <a:headEnd type="triangle" w="lg" len="med"/>
            <a:tailEnd type="triangle" w="lg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Arc 37"/>
          <p:cNvSpPr>
            <a:spLocks/>
          </p:cNvSpPr>
          <p:nvPr/>
        </p:nvSpPr>
        <p:spPr bwMode="auto">
          <a:xfrm rot="18597767">
            <a:off x="2515909" y="1371518"/>
            <a:ext cx="557402" cy="1387109"/>
          </a:xfrm>
          <a:custGeom>
            <a:avLst/>
            <a:gdLst>
              <a:gd name="G0" fmla="+- 0 0 0"/>
              <a:gd name="G1" fmla="+- 21127 0 0"/>
              <a:gd name="G2" fmla="+- 21600 0 0"/>
              <a:gd name="T0" fmla="*/ 4496 w 12031"/>
              <a:gd name="T1" fmla="*/ 0 h 21127"/>
              <a:gd name="T2" fmla="*/ 12031 w 12031"/>
              <a:gd name="T3" fmla="*/ 3188 h 21127"/>
              <a:gd name="T4" fmla="*/ 0 w 12031"/>
              <a:gd name="T5" fmla="*/ 21127 h 21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031" h="21127" fill="none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</a:path>
              <a:path w="12031" h="21127" stroke="0" extrusionOk="0">
                <a:moveTo>
                  <a:pt x="4495" y="0"/>
                </a:moveTo>
                <a:cubicBezTo>
                  <a:pt x="7187" y="572"/>
                  <a:pt x="9745" y="1654"/>
                  <a:pt x="12031" y="3187"/>
                </a:cubicBezTo>
                <a:lnTo>
                  <a:pt x="0" y="211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prstDash val="solid"/>
            <a:round/>
            <a:headEnd type="triangle" w="lg" len="med"/>
            <a:tailEnd type="triangle" w="lg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Text Box 28"/>
          <p:cNvSpPr txBox="1">
            <a:spLocks noChangeArrowheads="1"/>
          </p:cNvSpPr>
          <p:nvPr/>
        </p:nvSpPr>
        <p:spPr bwMode="auto">
          <a:xfrm>
            <a:off x="2269376" y="3177886"/>
            <a:ext cx="397625" cy="308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alibri" pitchFamily="34" charset="0"/>
                <a:cs typeface="Arial" pitchFamily="34" charset="0"/>
              </a:rPr>
              <a:t>O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200400" y="3543300"/>
            <a:ext cx="3886200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Can you find this angle ?</a:t>
            </a:r>
            <a:endParaRPr lang="en-US" sz="2400" b="1" baseline="30000" dirty="0">
              <a:solidFill>
                <a:srgbClr val="FF0000"/>
              </a:solidFill>
              <a:latin typeface="Calibri" pitchFamily="34" charset="0"/>
              <a:cs typeface="Calibri" pitchFamily="34" charset="0"/>
              <a:sym typeface="Symbol"/>
            </a:endParaRPr>
          </a:p>
        </p:txBody>
      </p:sp>
      <p:sp>
        <p:nvSpPr>
          <p:cNvPr id="92" name="Arc 91"/>
          <p:cNvSpPr/>
          <p:nvPr/>
        </p:nvSpPr>
        <p:spPr>
          <a:xfrm rot="17996032">
            <a:off x="2825672" y="2014417"/>
            <a:ext cx="318139" cy="1308616"/>
          </a:xfrm>
          <a:prstGeom prst="arc">
            <a:avLst>
              <a:gd name="adj1" fmla="val 16534382"/>
              <a:gd name="adj2" fmla="val 4801455"/>
            </a:avLst>
          </a:prstGeom>
          <a:ln w="22225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 Box 39"/>
          <p:cNvSpPr txBox="1">
            <a:spLocks noChangeArrowheads="1"/>
          </p:cNvSpPr>
          <p:nvPr/>
        </p:nvSpPr>
        <p:spPr bwMode="auto">
          <a:xfrm>
            <a:off x="2895600" y="2135331"/>
            <a:ext cx="746760" cy="379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FF0000"/>
                </a:solidFill>
                <a:latin typeface="Symbol" pitchFamily="18" charset="2"/>
                <a:ea typeface="Arial" pitchFamily="34" charset="0"/>
                <a:cs typeface="Arial" pitchFamily="34" charset="0"/>
              </a:rPr>
              <a:t>65</a:t>
            </a:r>
            <a:r>
              <a:rPr lang="en-US" sz="2400" b="1" baseline="30000" dirty="0">
                <a:solidFill>
                  <a:srgbClr val="FF0000"/>
                </a:solidFill>
                <a:latin typeface="Symbol" pitchFamily="18" charset="2"/>
                <a:ea typeface="Arial" pitchFamily="34" charset="0"/>
                <a:cs typeface="Arial" pitchFamily="34" charset="0"/>
              </a:rPr>
              <a:t>0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 Box 39"/>
          <p:cNvSpPr txBox="1">
            <a:spLocks noChangeArrowheads="1"/>
          </p:cNvSpPr>
          <p:nvPr/>
        </p:nvSpPr>
        <p:spPr bwMode="auto">
          <a:xfrm>
            <a:off x="2743200" y="2571750"/>
            <a:ext cx="457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FF0000"/>
                </a:solidFill>
                <a:latin typeface="Symbol" pitchFamily="18" charset="2"/>
                <a:ea typeface="Arial" pitchFamily="34" charset="0"/>
                <a:cs typeface="Arial" pitchFamily="34" charset="0"/>
              </a:rPr>
              <a:t>?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95600" y="3943350"/>
            <a:ext cx="4038600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What is angle </a:t>
            </a: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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  <a:sym typeface="Symbol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POQ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= ?</a:t>
            </a:r>
            <a:endParaRPr lang="en-US" sz="2400" b="1" baseline="30000" dirty="0">
              <a:solidFill>
                <a:srgbClr val="FF0000"/>
              </a:solidFill>
              <a:latin typeface="Calibri" pitchFamily="34" charset="0"/>
              <a:cs typeface="Calibri" pitchFamily="34" charset="0"/>
              <a:sym typeface="Symbol"/>
            </a:endParaRPr>
          </a:p>
        </p:txBody>
      </p:sp>
      <p:grpSp>
        <p:nvGrpSpPr>
          <p:cNvPr id="32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10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0"/>
                            </p:stCondLst>
                            <p:childTnLst>
                              <p:par>
                                <p:cTn id="12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052" grpId="0"/>
      <p:bldP spid="1061" grpId="0" animBg="1"/>
      <p:bldP spid="1063" grpId="0"/>
      <p:bldP spid="1064" grpId="0"/>
      <p:bldP spid="55" grpId="0"/>
      <p:bldP spid="56" grpId="0"/>
      <p:bldP spid="57" grpId="0"/>
      <p:bldP spid="58" grpId="0"/>
      <p:bldP spid="60" grpId="0"/>
      <p:bldP spid="65" grpId="0" animBg="1"/>
      <p:bldP spid="66" grpId="0" animBg="1"/>
      <p:bldP spid="69" grpId="0"/>
      <p:bldP spid="90" grpId="0"/>
      <p:bldP spid="92" grpId="0" animBg="1"/>
      <p:bldP spid="93" grpId="0"/>
      <p:bldP spid="29" grpId="0"/>
      <p:bldP spid="29" grpId="1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8200" y="114300"/>
            <a:ext cx="2133600" cy="40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Ex. 2 - Solution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914400" y="4857750"/>
            <a:ext cx="1981200" cy="274320"/>
          </a:xfrm>
        </p:spPr>
        <p:txBody>
          <a:bodyPr/>
          <a:lstStyle/>
          <a:p>
            <a:fld id="{97099474-7286-4D4B-852D-085AF434F65B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3" name="Group 71"/>
          <p:cNvGrpSpPr/>
          <p:nvPr/>
        </p:nvGrpSpPr>
        <p:grpSpPr>
          <a:xfrm>
            <a:off x="762000" y="514350"/>
            <a:ext cx="3810000" cy="1885950"/>
            <a:chOff x="1371600" y="1361766"/>
            <a:chExt cx="4191000" cy="2676833"/>
          </a:xfrm>
        </p:grpSpPr>
        <p:cxnSp>
          <p:nvCxnSpPr>
            <p:cNvPr id="73" name="AutoShape 24"/>
            <p:cNvCxnSpPr>
              <a:cxnSpLocks noChangeShapeType="1"/>
            </p:cNvCxnSpPr>
            <p:nvPr/>
          </p:nvCxnSpPr>
          <p:spPr bwMode="auto">
            <a:xfrm flipV="1">
              <a:off x="2379874" y="2335160"/>
              <a:ext cx="2176886" cy="1070779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</p:spPr>
        </p:cxnSp>
        <p:cxnSp>
          <p:nvCxnSpPr>
            <p:cNvPr id="74" name="AutoShape 25"/>
            <p:cNvCxnSpPr>
              <a:cxnSpLocks noChangeShapeType="1"/>
              <a:endCxn id="84" idx="1"/>
            </p:cNvCxnSpPr>
            <p:nvPr/>
          </p:nvCxnSpPr>
          <p:spPr bwMode="auto">
            <a:xfrm flipV="1">
              <a:off x="2379874" y="2830925"/>
              <a:ext cx="2496926" cy="553818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lg" len="lg"/>
            </a:ln>
          </p:spPr>
        </p:cxnSp>
        <p:cxnSp>
          <p:nvCxnSpPr>
            <p:cNvPr id="75" name="AutoShape 26"/>
            <p:cNvCxnSpPr>
              <a:cxnSpLocks noChangeShapeType="1"/>
            </p:cNvCxnSpPr>
            <p:nvPr/>
          </p:nvCxnSpPr>
          <p:spPr bwMode="auto">
            <a:xfrm rot="16200000" flipV="1">
              <a:off x="1295929" y="2321992"/>
              <a:ext cx="1729540" cy="438351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lg" len="lg"/>
            </a:ln>
          </p:spPr>
        </p:cxnSp>
        <p:sp>
          <p:nvSpPr>
            <p:cNvPr id="76" name="Text Box 28"/>
            <p:cNvSpPr txBox="1">
              <a:spLocks noChangeArrowheads="1"/>
            </p:cNvSpPr>
            <p:nvPr/>
          </p:nvSpPr>
          <p:spPr bwMode="auto">
            <a:xfrm>
              <a:off x="4267200" y="1767346"/>
              <a:ext cx="1295400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F = 750 N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77" name="AutoShape 32"/>
            <p:cNvCxnSpPr>
              <a:cxnSpLocks noChangeShapeType="1"/>
            </p:cNvCxnSpPr>
            <p:nvPr/>
          </p:nvCxnSpPr>
          <p:spPr bwMode="auto">
            <a:xfrm>
              <a:off x="1371600" y="3407060"/>
              <a:ext cx="3145930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78" name="AutoShape 33"/>
            <p:cNvCxnSpPr>
              <a:cxnSpLocks noChangeShapeType="1"/>
            </p:cNvCxnSpPr>
            <p:nvPr/>
          </p:nvCxnSpPr>
          <p:spPr bwMode="auto">
            <a:xfrm rot="16200000" flipH="1">
              <a:off x="1101831" y="2748150"/>
              <a:ext cx="2514601" cy="662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</p:cxnSp>
        <p:sp>
          <p:nvSpPr>
            <p:cNvPr id="79" name="Arc 37"/>
            <p:cNvSpPr>
              <a:spLocks/>
            </p:cNvSpPr>
            <p:nvPr/>
          </p:nvSpPr>
          <p:spPr bwMode="auto">
            <a:xfrm rot="3330661">
              <a:off x="3301049" y="2967661"/>
              <a:ext cx="439398" cy="1059597"/>
            </a:xfrm>
            <a:custGeom>
              <a:avLst/>
              <a:gdLst>
                <a:gd name="G0" fmla="+- 0 0 0"/>
                <a:gd name="G1" fmla="+- 21127 0 0"/>
                <a:gd name="G2" fmla="+- 21600 0 0"/>
                <a:gd name="T0" fmla="*/ 4496 w 12031"/>
                <a:gd name="T1" fmla="*/ 0 h 21127"/>
                <a:gd name="T2" fmla="*/ 12031 w 12031"/>
                <a:gd name="T3" fmla="*/ 3188 h 21127"/>
                <a:gd name="T4" fmla="*/ 0 w 12031"/>
                <a:gd name="T5" fmla="*/ 21127 h 2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31" h="21127" fill="none" extrusionOk="0">
                  <a:moveTo>
                    <a:pt x="4495" y="0"/>
                  </a:moveTo>
                  <a:cubicBezTo>
                    <a:pt x="7187" y="572"/>
                    <a:pt x="9745" y="1654"/>
                    <a:pt x="12031" y="3187"/>
                  </a:cubicBezTo>
                </a:path>
                <a:path w="12031" h="21127" stroke="0" extrusionOk="0">
                  <a:moveTo>
                    <a:pt x="4495" y="0"/>
                  </a:moveTo>
                  <a:cubicBezTo>
                    <a:pt x="7187" y="572"/>
                    <a:pt x="9745" y="1654"/>
                    <a:pt x="12031" y="3187"/>
                  </a:cubicBezTo>
                  <a:lnTo>
                    <a:pt x="0" y="21127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  <a:headEnd type="triangle" w="lg" len="med"/>
              <a:tailEnd type="triangle" w="lg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Text Box 39"/>
            <p:cNvSpPr txBox="1">
              <a:spLocks noChangeArrowheads="1"/>
            </p:cNvSpPr>
            <p:nvPr/>
          </p:nvSpPr>
          <p:spPr bwMode="auto">
            <a:xfrm>
              <a:off x="3954780" y="2894069"/>
              <a:ext cx="685801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Symbol" pitchFamily="18" charset="2"/>
                  <a:ea typeface="Arial" pitchFamily="34" charset="0"/>
                  <a:cs typeface="Arial" pitchFamily="34" charset="0"/>
                </a:rPr>
                <a:t>20</a:t>
              </a:r>
              <a:r>
                <a:rPr lang="en-US" b="1" baseline="30000" dirty="0">
                  <a:latin typeface="Symbol" pitchFamily="18" charset="2"/>
                  <a:ea typeface="Arial" pitchFamily="34" charset="0"/>
                  <a:cs typeface="Arial" pitchFamily="34" charset="0"/>
                </a:rPr>
                <a:t>0</a:t>
              </a:r>
              <a:r>
                <a:rPr kumimoji="0" lang="en-US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 </a:t>
              </a:r>
              <a:endPara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Text Box 40"/>
            <p:cNvSpPr txBox="1">
              <a:spLocks noChangeArrowheads="1"/>
            </p:cNvSpPr>
            <p:nvPr/>
          </p:nvSpPr>
          <p:spPr bwMode="auto">
            <a:xfrm>
              <a:off x="1874520" y="1361766"/>
              <a:ext cx="609600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ea typeface="Arial" pitchFamily="34" charset="0"/>
                  <a:cs typeface="Arial" pitchFamily="34" charset="0"/>
                </a:rPr>
                <a:t>15</a:t>
              </a:r>
              <a:r>
                <a:rPr kumimoji="0" lang="en-US" sz="1600" b="1" i="0" u="none" strike="noStrike" cap="none" normalizeH="0" baseline="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ea typeface="Arial" pitchFamily="34" charset="0"/>
                  <a:cs typeface="Arial" pitchFamily="34" charset="0"/>
                </a:rPr>
                <a:t>0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 </a:t>
              </a: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" name="Text Box 28"/>
            <p:cNvSpPr txBox="1">
              <a:spLocks noChangeArrowheads="1"/>
            </p:cNvSpPr>
            <p:nvPr/>
          </p:nvSpPr>
          <p:spPr bwMode="auto">
            <a:xfrm>
              <a:off x="4495800" y="3363559"/>
              <a:ext cx="457200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X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3" name="Text Box 28"/>
            <p:cNvSpPr txBox="1">
              <a:spLocks noChangeArrowheads="1"/>
            </p:cNvSpPr>
            <p:nvPr/>
          </p:nvSpPr>
          <p:spPr bwMode="auto">
            <a:xfrm>
              <a:off x="2438400" y="1600198"/>
              <a:ext cx="457200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Y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4" name="Text Box 28"/>
            <p:cNvSpPr txBox="1">
              <a:spLocks noChangeArrowheads="1"/>
            </p:cNvSpPr>
            <p:nvPr/>
          </p:nvSpPr>
          <p:spPr bwMode="auto">
            <a:xfrm>
              <a:off x="4876800" y="2569605"/>
              <a:ext cx="457200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P</a:t>
              </a:r>
            </a:p>
          </p:txBody>
        </p:sp>
        <p:sp>
          <p:nvSpPr>
            <p:cNvPr id="85" name="Text Box 28"/>
            <p:cNvSpPr txBox="1">
              <a:spLocks noChangeArrowheads="1"/>
            </p:cNvSpPr>
            <p:nvPr/>
          </p:nvSpPr>
          <p:spPr bwMode="auto">
            <a:xfrm>
              <a:off x="1524000" y="1676398"/>
              <a:ext cx="457200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Calibri" pitchFamily="34" charset="0"/>
                  <a:cs typeface="Arial" pitchFamily="34" charset="0"/>
                </a:rPr>
                <a:t>Q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6" name="Text Box 39"/>
            <p:cNvSpPr txBox="1">
              <a:spLocks noChangeArrowheads="1"/>
            </p:cNvSpPr>
            <p:nvPr/>
          </p:nvSpPr>
          <p:spPr bwMode="auto">
            <a:xfrm>
              <a:off x="3870960" y="2551470"/>
              <a:ext cx="685801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Symbol" pitchFamily="18" charset="2"/>
                  <a:ea typeface="Arial" pitchFamily="34" charset="0"/>
                  <a:cs typeface="Arial" pitchFamily="34" charset="0"/>
                </a:rPr>
                <a:t>20</a:t>
              </a:r>
              <a:r>
                <a:rPr lang="en-US" b="1" baseline="30000" dirty="0">
                  <a:latin typeface="Symbol" pitchFamily="18" charset="2"/>
                  <a:ea typeface="Arial" pitchFamily="34" charset="0"/>
                  <a:cs typeface="Arial" pitchFamily="34" charset="0"/>
                </a:rPr>
                <a:t>0</a:t>
              </a:r>
              <a:r>
                <a:rPr kumimoji="0" lang="en-US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 </a:t>
              </a:r>
              <a:endPara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7" name="Arc 37"/>
            <p:cNvSpPr>
              <a:spLocks/>
            </p:cNvSpPr>
            <p:nvPr/>
          </p:nvSpPr>
          <p:spPr bwMode="auto">
            <a:xfrm rot="2988495">
              <a:off x="3173192" y="2730763"/>
              <a:ext cx="566966" cy="821187"/>
            </a:xfrm>
            <a:custGeom>
              <a:avLst/>
              <a:gdLst>
                <a:gd name="G0" fmla="+- 0 0 0"/>
                <a:gd name="G1" fmla="+- 21127 0 0"/>
                <a:gd name="G2" fmla="+- 21600 0 0"/>
                <a:gd name="T0" fmla="*/ 4496 w 12031"/>
                <a:gd name="T1" fmla="*/ 0 h 21127"/>
                <a:gd name="T2" fmla="*/ 12031 w 12031"/>
                <a:gd name="T3" fmla="*/ 3188 h 21127"/>
                <a:gd name="T4" fmla="*/ 0 w 12031"/>
                <a:gd name="T5" fmla="*/ 21127 h 2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31" h="21127" fill="none" extrusionOk="0">
                  <a:moveTo>
                    <a:pt x="4495" y="0"/>
                  </a:moveTo>
                  <a:cubicBezTo>
                    <a:pt x="7187" y="572"/>
                    <a:pt x="9745" y="1654"/>
                    <a:pt x="12031" y="3187"/>
                  </a:cubicBezTo>
                </a:path>
                <a:path w="12031" h="21127" stroke="0" extrusionOk="0">
                  <a:moveTo>
                    <a:pt x="4495" y="0"/>
                  </a:moveTo>
                  <a:cubicBezTo>
                    <a:pt x="7187" y="572"/>
                    <a:pt x="9745" y="1654"/>
                    <a:pt x="12031" y="3187"/>
                  </a:cubicBezTo>
                  <a:lnTo>
                    <a:pt x="0" y="21127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  <a:headEnd type="triangle" w="lg" len="med"/>
              <a:tailEnd type="triangle" w="lg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Arc 37"/>
            <p:cNvSpPr>
              <a:spLocks/>
            </p:cNvSpPr>
            <p:nvPr/>
          </p:nvSpPr>
          <p:spPr bwMode="auto">
            <a:xfrm rot="18597767">
              <a:off x="2222604" y="1887069"/>
              <a:ext cx="517537" cy="1059597"/>
            </a:xfrm>
            <a:custGeom>
              <a:avLst/>
              <a:gdLst>
                <a:gd name="G0" fmla="+- 0 0 0"/>
                <a:gd name="G1" fmla="+- 21127 0 0"/>
                <a:gd name="G2" fmla="+- 21600 0 0"/>
                <a:gd name="T0" fmla="*/ 4496 w 12031"/>
                <a:gd name="T1" fmla="*/ 0 h 21127"/>
                <a:gd name="T2" fmla="*/ 12031 w 12031"/>
                <a:gd name="T3" fmla="*/ 3188 h 21127"/>
                <a:gd name="T4" fmla="*/ 0 w 12031"/>
                <a:gd name="T5" fmla="*/ 21127 h 2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31" h="21127" fill="none" extrusionOk="0">
                  <a:moveTo>
                    <a:pt x="4495" y="0"/>
                  </a:moveTo>
                  <a:cubicBezTo>
                    <a:pt x="7187" y="572"/>
                    <a:pt x="9745" y="1654"/>
                    <a:pt x="12031" y="3187"/>
                  </a:cubicBezTo>
                </a:path>
                <a:path w="12031" h="21127" stroke="0" extrusionOk="0">
                  <a:moveTo>
                    <a:pt x="4495" y="0"/>
                  </a:moveTo>
                  <a:cubicBezTo>
                    <a:pt x="7187" y="572"/>
                    <a:pt x="9745" y="1654"/>
                    <a:pt x="12031" y="3187"/>
                  </a:cubicBezTo>
                  <a:lnTo>
                    <a:pt x="0" y="21127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  <a:headEnd type="triangle" w="lg" len="med"/>
              <a:tailEnd type="triangle" w="lg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Text Box 28"/>
            <p:cNvSpPr txBox="1">
              <a:spLocks noChangeArrowheads="1"/>
            </p:cNvSpPr>
            <p:nvPr/>
          </p:nvSpPr>
          <p:spPr bwMode="auto">
            <a:xfrm>
              <a:off x="2057400" y="3428998"/>
              <a:ext cx="457200" cy="522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Calibri" pitchFamily="34" charset="0"/>
                  <a:cs typeface="Arial" pitchFamily="34" charset="0"/>
                </a:rPr>
                <a:t>O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114800" y="1581150"/>
            <a:ext cx="49530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Formulae – </a:t>
            </a:r>
          </a:p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 along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F * [ sin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/ sin (FP + </a:t>
            </a:r>
            <a:r>
              <a:rPr lang="en-US" sz="20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]</a:t>
            </a:r>
          </a:p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 along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F * [ sin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FP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/ sin (FP + </a:t>
            </a:r>
            <a:r>
              <a:rPr lang="en-US" sz="20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]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2000" y="2743200"/>
            <a:ext cx="4191000" cy="112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</a:t>
            </a:r>
            <a:r>
              <a:rPr lang="en-US" sz="2400" b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F * [ sin </a:t>
            </a:r>
            <a:r>
              <a:rPr lang="en-US" sz="20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/ sin (FP + </a:t>
            </a:r>
            <a:r>
              <a:rPr lang="en-US" sz="20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]</a:t>
            </a:r>
          </a:p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   = 750 * [ sin 65 / sin (65 + 20) ]</a:t>
            </a:r>
          </a:p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   =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682.3273 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3581400"/>
            <a:ext cx="4191000" cy="1276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</a:t>
            </a:r>
            <a:r>
              <a:rPr lang="en-US" sz="2400" b="1" baseline="-25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F * [ sin FP / sin (FP + </a:t>
            </a:r>
            <a:r>
              <a:rPr lang="en-US" sz="20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FQ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]</a:t>
            </a:r>
          </a:p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   = 750 * [ sin 20 / sin (65 + 20) ]</a:t>
            </a:r>
          </a:p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   =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257.4949 </a:t>
            </a: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N ….. Answer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Symbo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419600" y="114300"/>
            <a:ext cx="4572000" cy="781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This is just opposite to the Parallelogram Law.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Symbol"/>
            </a:endParaRPr>
          </a:p>
        </p:txBody>
      </p:sp>
      <p:cxnSp>
        <p:nvCxnSpPr>
          <p:cNvPr id="51" name="AutoShape 32"/>
          <p:cNvCxnSpPr>
            <a:cxnSpLocks noChangeShapeType="1"/>
          </p:cNvCxnSpPr>
          <p:nvPr/>
        </p:nvCxnSpPr>
        <p:spPr bwMode="auto">
          <a:xfrm flipV="1">
            <a:off x="1600200" y="1200152"/>
            <a:ext cx="2057400" cy="380998"/>
          </a:xfrm>
          <a:prstGeom prst="straightConnector1">
            <a:avLst/>
          </a:prstGeom>
          <a:noFill/>
          <a:ln w="25400">
            <a:solidFill>
              <a:srgbClr val="000000"/>
            </a:solidFill>
            <a:prstDash val="sysDash"/>
            <a:round/>
            <a:headEnd/>
            <a:tailEnd/>
          </a:ln>
        </p:spPr>
      </p:cxnSp>
      <p:cxnSp>
        <p:nvCxnSpPr>
          <p:cNvPr id="61" name="AutoShape 32"/>
          <p:cNvCxnSpPr>
            <a:cxnSpLocks noChangeShapeType="1"/>
          </p:cNvCxnSpPr>
          <p:nvPr/>
        </p:nvCxnSpPr>
        <p:spPr bwMode="auto">
          <a:xfrm rot="16200000" flipH="1">
            <a:off x="3474670" y="1354998"/>
            <a:ext cx="381004" cy="71300"/>
          </a:xfrm>
          <a:prstGeom prst="straightConnector1">
            <a:avLst/>
          </a:prstGeom>
          <a:noFill/>
          <a:ln w="25400">
            <a:solidFill>
              <a:srgbClr val="000000"/>
            </a:solidFill>
            <a:prstDash val="sysDash"/>
            <a:round/>
            <a:headEnd/>
            <a:tailEnd/>
          </a:ln>
        </p:spPr>
      </p:cxnSp>
      <p:grpSp>
        <p:nvGrpSpPr>
          <p:cNvPr id="32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33" name="Picture 4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35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38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HMK</a:t>
            </a:r>
          </a:p>
        </p:txBody>
      </p:sp>
      <p:grpSp>
        <p:nvGrpSpPr>
          <p:cNvPr id="2" name="Group 19"/>
          <p:cNvGrpSpPr/>
          <p:nvPr/>
        </p:nvGrpSpPr>
        <p:grpSpPr>
          <a:xfrm>
            <a:off x="914400" y="171450"/>
            <a:ext cx="2209800" cy="3200400"/>
            <a:chOff x="5429250" y="1490663"/>
            <a:chExt cx="2266950" cy="3876675"/>
          </a:xfrm>
        </p:grpSpPr>
        <p:pic>
          <p:nvPicPr>
            <p:cNvPr id="15" name="Picture 3" descr="D:\Harshavardhan\datafolder\hmksave\hmk vit\VIT 2018-20\AY 20202021 New Robotics Course\RMC Theory Lectures PPTs Videos  and Notes etc\Images For Lect 5 Electrical Elex\water bottle 1 - Copy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29250" y="1490663"/>
              <a:ext cx="2266950" cy="3876675"/>
            </a:xfrm>
            <a:prstGeom prst="rect">
              <a:avLst/>
            </a:prstGeom>
            <a:noFill/>
          </p:spPr>
        </p:pic>
        <p:sp>
          <p:nvSpPr>
            <p:cNvPr id="16" name="Freeform 15"/>
            <p:cNvSpPr/>
            <p:nvPr/>
          </p:nvSpPr>
          <p:spPr>
            <a:xfrm>
              <a:off x="5791200" y="3429000"/>
              <a:ext cx="1160696" cy="1822137"/>
            </a:xfrm>
            <a:custGeom>
              <a:avLst/>
              <a:gdLst>
                <a:gd name="connsiteX0" fmla="*/ 172387 w 1396583"/>
                <a:gd name="connsiteY0" fmla="*/ 152400 h 1846288"/>
                <a:gd name="connsiteX1" fmla="*/ 187377 w 1396583"/>
                <a:gd name="connsiteY1" fmla="*/ 1111771 h 1846288"/>
                <a:gd name="connsiteX2" fmla="*/ 127416 w 1396583"/>
                <a:gd name="connsiteY2" fmla="*/ 1636426 h 1846288"/>
                <a:gd name="connsiteX3" fmla="*/ 322288 w 1396583"/>
                <a:gd name="connsiteY3" fmla="*/ 1816308 h 1846288"/>
                <a:gd name="connsiteX4" fmla="*/ 1011836 w 1396583"/>
                <a:gd name="connsiteY4" fmla="*/ 1816308 h 1846288"/>
                <a:gd name="connsiteX5" fmla="*/ 1221698 w 1396583"/>
                <a:gd name="connsiteY5" fmla="*/ 1681397 h 1846288"/>
                <a:gd name="connsiteX6" fmla="*/ 1221698 w 1396583"/>
                <a:gd name="connsiteY6" fmla="*/ 1276662 h 1846288"/>
                <a:gd name="connsiteX7" fmla="*/ 1221698 w 1396583"/>
                <a:gd name="connsiteY7" fmla="*/ 197371 h 1846288"/>
                <a:gd name="connsiteX8" fmla="*/ 172387 w 1396583"/>
                <a:gd name="connsiteY8" fmla="*/ 152400 h 1846288"/>
                <a:gd name="connsiteX0" fmla="*/ 172387 w 1393044"/>
                <a:gd name="connsiteY0" fmla="*/ 152400 h 1846288"/>
                <a:gd name="connsiteX1" fmla="*/ 187377 w 1393044"/>
                <a:gd name="connsiteY1" fmla="*/ 1111771 h 1846288"/>
                <a:gd name="connsiteX2" fmla="*/ 127416 w 1393044"/>
                <a:gd name="connsiteY2" fmla="*/ 1636426 h 1846288"/>
                <a:gd name="connsiteX3" fmla="*/ 322288 w 1393044"/>
                <a:gd name="connsiteY3" fmla="*/ 1816308 h 1846288"/>
                <a:gd name="connsiteX4" fmla="*/ 1011836 w 1393044"/>
                <a:gd name="connsiteY4" fmla="*/ 1816308 h 1846288"/>
                <a:gd name="connsiteX5" fmla="*/ 1221698 w 1393044"/>
                <a:gd name="connsiteY5" fmla="*/ 1681397 h 1846288"/>
                <a:gd name="connsiteX6" fmla="*/ 1221698 w 1393044"/>
                <a:gd name="connsiteY6" fmla="*/ 1276662 h 1846288"/>
                <a:gd name="connsiteX7" fmla="*/ 1200462 w 1393044"/>
                <a:gd name="connsiteY7" fmla="*/ 547141 h 1846288"/>
                <a:gd name="connsiteX8" fmla="*/ 1221698 w 1393044"/>
                <a:gd name="connsiteY8" fmla="*/ 197371 h 1846288"/>
                <a:gd name="connsiteX9" fmla="*/ 172387 w 1393044"/>
                <a:gd name="connsiteY9" fmla="*/ 152400 h 1846288"/>
                <a:gd name="connsiteX0" fmla="*/ 168847 w 1368268"/>
                <a:gd name="connsiteY0" fmla="*/ 144905 h 1838793"/>
                <a:gd name="connsiteX1" fmla="*/ 183837 w 1368268"/>
                <a:gd name="connsiteY1" fmla="*/ 1104276 h 1838793"/>
                <a:gd name="connsiteX2" fmla="*/ 123876 w 1368268"/>
                <a:gd name="connsiteY2" fmla="*/ 1628931 h 1838793"/>
                <a:gd name="connsiteX3" fmla="*/ 318748 w 1368268"/>
                <a:gd name="connsiteY3" fmla="*/ 1808813 h 1838793"/>
                <a:gd name="connsiteX4" fmla="*/ 1008296 w 1368268"/>
                <a:gd name="connsiteY4" fmla="*/ 1808813 h 1838793"/>
                <a:gd name="connsiteX5" fmla="*/ 1218158 w 1368268"/>
                <a:gd name="connsiteY5" fmla="*/ 1673902 h 1838793"/>
                <a:gd name="connsiteX6" fmla="*/ 1218158 w 1368268"/>
                <a:gd name="connsiteY6" fmla="*/ 1269167 h 1838793"/>
                <a:gd name="connsiteX7" fmla="*/ 1196922 w 1368268"/>
                <a:gd name="connsiteY7" fmla="*/ 539646 h 1838793"/>
                <a:gd name="connsiteX8" fmla="*/ 1196922 w 1368268"/>
                <a:gd name="connsiteY8" fmla="*/ 234846 h 1838793"/>
                <a:gd name="connsiteX9" fmla="*/ 168847 w 1368268"/>
                <a:gd name="connsiteY9" fmla="*/ 144905 h 1838793"/>
                <a:gd name="connsiteX0" fmla="*/ 168847 w 1253135"/>
                <a:gd name="connsiteY0" fmla="*/ 144905 h 1838793"/>
                <a:gd name="connsiteX1" fmla="*/ 183837 w 1253135"/>
                <a:gd name="connsiteY1" fmla="*/ 1104276 h 1838793"/>
                <a:gd name="connsiteX2" fmla="*/ 123876 w 1253135"/>
                <a:gd name="connsiteY2" fmla="*/ 1628931 h 1838793"/>
                <a:gd name="connsiteX3" fmla="*/ 318748 w 1253135"/>
                <a:gd name="connsiteY3" fmla="*/ 1808813 h 1838793"/>
                <a:gd name="connsiteX4" fmla="*/ 1008296 w 1253135"/>
                <a:gd name="connsiteY4" fmla="*/ 1808813 h 1838793"/>
                <a:gd name="connsiteX5" fmla="*/ 1218158 w 1253135"/>
                <a:gd name="connsiteY5" fmla="*/ 1673902 h 1838793"/>
                <a:gd name="connsiteX6" fmla="*/ 1218158 w 1253135"/>
                <a:gd name="connsiteY6" fmla="*/ 1269167 h 1838793"/>
                <a:gd name="connsiteX7" fmla="*/ 1196922 w 1253135"/>
                <a:gd name="connsiteY7" fmla="*/ 539646 h 1838793"/>
                <a:gd name="connsiteX8" fmla="*/ 1196922 w 1253135"/>
                <a:gd name="connsiteY8" fmla="*/ 234846 h 1838793"/>
                <a:gd name="connsiteX9" fmla="*/ 168847 w 1253135"/>
                <a:gd name="connsiteY9" fmla="*/ 144905 h 1838793"/>
                <a:gd name="connsiteX0" fmla="*/ 186336 w 1270624"/>
                <a:gd name="connsiteY0" fmla="*/ 144905 h 1838793"/>
                <a:gd name="connsiteX1" fmla="*/ 223812 w 1270624"/>
                <a:gd name="connsiteY1" fmla="*/ 463446 h 1838793"/>
                <a:gd name="connsiteX2" fmla="*/ 201326 w 1270624"/>
                <a:gd name="connsiteY2" fmla="*/ 1104276 h 1838793"/>
                <a:gd name="connsiteX3" fmla="*/ 141365 w 1270624"/>
                <a:gd name="connsiteY3" fmla="*/ 1628931 h 1838793"/>
                <a:gd name="connsiteX4" fmla="*/ 336237 w 1270624"/>
                <a:gd name="connsiteY4" fmla="*/ 1808813 h 1838793"/>
                <a:gd name="connsiteX5" fmla="*/ 1025785 w 1270624"/>
                <a:gd name="connsiteY5" fmla="*/ 1808813 h 1838793"/>
                <a:gd name="connsiteX6" fmla="*/ 1235647 w 1270624"/>
                <a:gd name="connsiteY6" fmla="*/ 1673902 h 1838793"/>
                <a:gd name="connsiteX7" fmla="*/ 1235647 w 1270624"/>
                <a:gd name="connsiteY7" fmla="*/ 1269167 h 1838793"/>
                <a:gd name="connsiteX8" fmla="*/ 1214411 w 1270624"/>
                <a:gd name="connsiteY8" fmla="*/ 539646 h 1838793"/>
                <a:gd name="connsiteX9" fmla="*/ 1214411 w 1270624"/>
                <a:gd name="connsiteY9" fmla="*/ 234846 h 1838793"/>
                <a:gd name="connsiteX10" fmla="*/ 186336 w 1270624"/>
                <a:gd name="connsiteY10" fmla="*/ 144905 h 1838793"/>
                <a:gd name="connsiteX0" fmla="*/ 186336 w 1233148"/>
                <a:gd name="connsiteY0" fmla="*/ 144905 h 1901252"/>
                <a:gd name="connsiteX1" fmla="*/ 186336 w 1233148"/>
                <a:gd name="connsiteY1" fmla="*/ 525905 h 1901252"/>
                <a:gd name="connsiteX2" fmla="*/ 163850 w 1233148"/>
                <a:gd name="connsiteY2" fmla="*/ 1166735 h 1901252"/>
                <a:gd name="connsiteX3" fmla="*/ 103889 w 1233148"/>
                <a:gd name="connsiteY3" fmla="*/ 1691390 h 1901252"/>
                <a:gd name="connsiteX4" fmla="*/ 298761 w 1233148"/>
                <a:gd name="connsiteY4" fmla="*/ 1871272 h 1901252"/>
                <a:gd name="connsiteX5" fmla="*/ 988309 w 1233148"/>
                <a:gd name="connsiteY5" fmla="*/ 1871272 h 1901252"/>
                <a:gd name="connsiteX6" fmla="*/ 1198171 w 1233148"/>
                <a:gd name="connsiteY6" fmla="*/ 1736361 h 1901252"/>
                <a:gd name="connsiteX7" fmla="*/ 1198171 w 1233148"/>
                <a:gd name="connsiteY7" fmla="*/ 1331626 h 1901252"/>
                <a:gd name="connsiteX8" fmla="*/ 1176935 w 1233148"/>
                <a:gd name="connsiteY8" fmla="*/ 602105 h 1901252"/>
                <a:gd name="connsiteX9" fmla="*/ 1176935 w 1233148"/>
                <a:gd name="connsiteY9" fmla="*/ 297305 h 1901252"/>
                <a:gd name="connsiteX10" fmla="*/ 186336 w 1233148"/>
                <a:gd name="connsiteY10" fmla="*/ 144905 h 1901252"/>
                <a:gd name="connsiteX0" fmla="*/ 104932 w 1151744"/>
                <a:gd name="connsiteY0" fmla="*/ 144905 h 1901252"/>
                <a:gd name="connsiteX1" fmla="*/ 104932 w 1151744"/>
                <a:gd name="connsiteY1" fmla="*/ 525905 h 1901252"/>
                <a:gd name="connsiteX2" fmla="*/ 82446 w 1151744"/>
                <a:gd name="connsiteY2" fmla="*/ 1166735 h 1901252"/>
                <a:gd name="connsiteX3" fmla="*/ 22485 w 1151744"/>
                <a:gd name="connsiteY3" fmla="*/ 1691390 h 1901252"/>
                <a:gd name="connsiteX4" fmla="*/ 217357 w 1151744"/>
                <a:gd name="connsiteY4" fmla="*/ 1871272 h 1901252"/>
                <a:gd name="connsiteX5" fmla="*/ 906905 w 1151744"/>
                <a:gd name="connsiteY5" fmla="*/ 1871272 h 1901252"/>
                <a:gd name="connsiteX6" fmla="*/ 1116767 w 1151744"/>
                <a:gd name="connsiteY6" fmla="*/ 1736361 h 1901252"/>
                <a:gd name="connsiteX7" fmla="*/ 1116767 w 1151744"/>
                <a:gd name="connsiteY7" fmla="*/ 1331626 h 1901252"/>
                <a:gd name="connsiteX8" fmla="*/ 1095531 w 1151744"/>
                <a:gd name="connsiteY8" fmla="*/ 602105 h 1901252"/>
                <a:gd name="connsiteX9" fmla="*/ 1095531 w 1151744"/>
                <a:gd name="connsiteY9" fmla="*/ 297305 h 1901252"/>
                <a:gd name="connsiteX10" fmla="*/ 104932 w 1151744"/>
                <a:gd name="connsiteY10" fmla="*/ 144905 h 1901252"/>
                <a:gd name="connsiteX0" fmla="*/ 104932 w 1151744"/>
                <a:gd name="connsiteY0" fmla="*/ 0 h 1756347"/>
                <a:gd name="connsiteX1" fmla="*/ 104932 w 1151744"/>
                <a:gd name="connsiteY1" fmla="*/ 381000 h 1756347"/>
                <a:gd name="connsiteX2" fmla="*/ 82446 w 1151744"/>
                <a:gd name="connsiteY2" fmla="*/ 1021830 h 1756347"/>
                <a:gd name="connsiteX3" fmla="*/ 22485 w 1151744"/>
                <a:gd name="connsiteY3" fmla="*/ 1546485 h 1756347"/>
                <a:gd name="connsiteX4" fmla="*/ 217357 w 1151744"/>
                <a:gd name="connsiteY4" fmla="*/ 1726367 h 1756347"/>
                <a:gd name="connsiteX5" fmla="*/ 906905 w 1151744"/>
                <a:gd name="connsiteY5" fmla="*/ 1726367 h 1756347"/>
                <a:gd name="connsiteX6" fmla="*/ 1116767 w 1151744"/>
                <a:gd name="connsiteY6" fmla="*/ 1591456 h 1756347"/>
                <a:gd name="connsiteX7" fmla="*/ 1116767 w 1151744"/>
                <a:gd name="connsiteY7" fmla="*/ 1186721 h 1756347"/>
                <a:gd name="connsiteX8" fmla="*/ 1095531 w 1151744"/>
                <a:gd name="connsiteY8" fmla="*/ 457200 h 1756347"/>
                <a:gd name="connsiteX9" fmla="*/ 1095531 w 1151744"/>
                <a:gd name="connsiteY9" fmla="*/ 152400 h 1756347"/>
                <a:gd name="connsiteX10" fmla="*/ 104932 w 1151744"/>
                <a:gd name="connsiteY10" fmla="*/ 0 h 1756347"/>
                <a:gd name="connsiteX0" fmla="*/ 104932 w 1151744"/>
                <a:gd name="connsiteY0" fmla="*/ 65790 h 1822137"/>
                <a:gd name="connsiteX1" fmla="*/ 104932 w 1151744"/>
                <a:gd name="connsiteY1" fmla="*/ 446790 h 1822137"/>
                <a:gd name="connsiteX2" fmla="*/ 82446 w 1151744"/>
                <a:gd name="connsiteY2" fmla="*/ 1087620 h 1822137"/>
                <a:gd name="connsiteX3" fmla="*/ 22485 w 1151744"/>
                <a:gd name="connsiteY3" fmla="*/ 1612275 h 1822137"/>
                <a:gd name="connsiteX4" fmla="*/ 217357 w 1151744"/>
                <a:gd name="connsiteY4" fmla="*/ 1792157 h 1822137"/>
                <a:gd name="connsiteX5" fmla="*/ 906905 w 1151744"/>
                <a:gd name="connsiteY5" fmla="*/ 1792157 h 1822137"/>
                <a:gd name="connsiteX6" fmla="*/ 1116767 w 1151744"/>
                <a:gd name="connsiteY6" fmla="*/ 1657246 h 1822137"/>
                <a:gd name="connsiteX7" fmla="*/ 1116767 w 1151744"/>
                <a:gd name="connsiteY7" fmla="*/ 1252511 h 1822137"/>
                <a:gd name="connsiteX8" fmla="*/ 1095531 w 1151744"/>
                <a:gd name="connsiteY8" fmla="*/ 522990 h 1822137"/>
                <a:gd name="connsiteX9" fmla="*/ 1095532 w 1151744"/>
                <a:gd name="connsiteY9" fmla="*/ 65790 h 1822137"/>
                <a:gd name="connsiteX10" fmla="*/ 104932 w 1151744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04483 w 1160696"/>
                <a:gd name="connsiteY8" fmla="*/ 52299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  <a:gd name="connsiteX0" fmla="*/ 113884 w 1160696"/>
                <a:gd name="connsiteY0" fmla="*/ 65790 h 1822137"/>
                <a:gd name="connsiteX1" fmla="*/ 113884 w 1160696"/>
                <a:gd name="connsiteY1" fmla="*/ 446790 h 1822137"/>
                <a:gd name="connsiteX2" fmla="*/ 37684 w 1160696"/>
                <a:gd name="connsiteY2" fmla="*/ 1056390 h 1822137"/>
                <a:gd name="connsiteX3" fmla="*/ 31437 w 1160696"/>
                <a:gd name="connsiteY3" fmla="*/ 1612275 h 1822137"/>
                <a:gd name="connsiteX4" fmla="*/ 226309 w 1160696"/>
                <a:gd name="connsiteY4" fmla="*/ 1792157 h 1822137"/>
                <a:gd name="connsiteX5" fmla="*/ 915857 w 1160696"/>
                <a:gd name="connsiteY5" fmla="*/ 1792157 h 1822137"/>
                <a:gd name="connsiteX6" fmla="*/ 1125719 w 1160696"/>
                <a:gd name="connsiteY6" fmla="*/ 1657246 h 1822137"/>
                <a:gd name="connsiteX7" fmla="*/ 1125719 w 1160696"/>
                <a:gd name="connsiteY7" fmla="*/ 1252511 h 1822137"/>
                <a:gd name="connsiteX8" fmla="*/ 1143000 w 1160696"/>
                <a:gd name="connsiteY8" fmla="*/ 457200 h 1822137"/>
                <a:gd name="connsiteX9" fmla="*/ 1104484 w 1160696"/>
                <a:gd name="connsiteY9" fmla="*/ 65790 h 1822137"/>
                <a:gd name="connsiteX10" fmla="*/ 113884 w 1160696"/>
                <a:gd name="connsiteY10" fmla="*/ 65790 h 182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0696" h="1822137">
                  <a:moveTo>
                    <a:pt x="113884" y="65790"/>
                  </a:moveTo>
                  <a:cubicBezTo>
                    <a:pt x="72453" y="127000"/>
                    <a:pt x="126584" y="281690"/>
                    <a:pt x="113884" y="446790"/>
                  </a:cubicBezTo>
                  <a:cubicBezTo>
                    <a:pt x="101184" y="611890"/>
                    <a:pt x="51425" y="862143"/>
                    <a:pt x="37684" y="1056390"/>
                  </a:cubicBezTo>
                  <a:cubicBezTo>
                    <a:pt x="23943" y="1250637"/>
                    <a:pt x="0" y="1489647"/>
                    <a:pt x="31437" y="1612275"/>
                  </a:cubicBezTo>
                  <a:cubicBezTo>
                    <a:pt x="62874" y="1734903"/>
                    <a:pt x="78906" y="1762177"/>
                    <a:pt x="226309" y="1792157"/>
                  </a:cubicBezTo>
                  <a:cubicBezTo>
                    <a:pt x="373712" y="1822137"/>
                    <a:pt x="765955" y="1814642"/>
                    <a:pt x="915857" y="1792157"/>
                  </a:cubicBezTo>
                  <a:cubicBezTo>
                    <a:pt x="1065759" y="1769672"/>
                    <a:pt x="1090742" y="1747187"/>
                    <a:pt x="1125719" y="1657246"/>
                  </a:cubicBezTo>
                  <a:cubicBezTo>
                    <a:pt x="1160696" y="1567305"/>
                    <a:pt x="1122839" y="1452519"/>
                    <a:pt x="1125719" y="1252511"/>
                  </a:cubicBezTo>
                  <a:cubicBezTo>
                    <a:pt x="1128599" y="1052503"/>
                    <a:pt x="1146539" y="654987"/>
                    <a:pt x="1143000" y="457200"/>
                  </a:cubicBezTo>
                  <a:cubicBezTo>
                    <a:pt x="1139461" y="259413"/>
                    <a:pt x="1069715" y="85360"/>
                    <a:pt x="1104484" y="65790"/>
                  </a:cubicBezTo>
                  <a:cubicBezTo>
                    <a:pt x="933138" y="0"/>
                    <a:pt x="317708" y="92023"/>
                    <a:pt x="113884" y="65790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2" descr="C:\Users\addmission\Desktop\image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7680" y="171450"/>
            <a:ext cx="4541520" cy="2971800"/>
          </a:xfrm>
          <a:prstGeom prst="rect">
            <a:avLst/>
          </a:prstGeom>
          <a:noFill/>
        </p:spPr>
      </p:pic>
      <p:grpSp>
        <p:nvGrpSpPr>
          <p:cNvPr id="3" name="Group 17"/>
          <p:cNvGrpSpPr/>
          <p:nvPr/>
        </p:nvGrpSpPr>
        <p:grpSpPr>
          <a:xfrm>
            <a:off x="914400" y="1885950"/>
            <a:ext cx="3962400" cy="3028950"/>
            <a:chOff x="990600" y="914400"/>
            <a:chExt cx="3962400" cy="4038600"/>
          </a:xfrm>
        </p:grpSpPr>
        <p:pic>
          <p:nvPicPr>
            <p:cNvPr id="19" name="Picture 18"/>
            <p:cNvPicPr/>
            <p:nvPr/>
          </p:nvPicPr>
          <p:blipFill>
            <a:blip r:embed="rId4" cstate="print"/>
            <a:srcRect l="32051" t="16517" r="33906" b="39339"/>
            <a:stretch>
              <a:fillRect/>
            </a:stretch>
          </p:blipFill>
          <p:spPr bwMode="auto">
            <a:xfrm>
              <a:off x="990600" y="914400"/>
              <a:ext cx="3886200" cy="312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38"/>
            <p:cNvGrpSpPr/>
            <p:nvPr/>
          </p:nvGrpSpPr>
          <p:grpSpPr>
            <a:xfrm>
              <a:off x="990600" y="4038600"/>
              <a:ext cx="3962400" cy="914400"/>
              <a:chOff x="3276600" y="4495800"/>
              <a:chExt cx="5029200" cy="10668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3276600" y="4495800"/>
                <a:ext cx="5029200" cy="1066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>
                <a:off x="6096000" y="4875212"/>
                <a:ext cx="7620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/>
              <p:cNvSpPr/>
              <p:nvPr/>
            </p:nvSpPr>
            <p:spPr>
              <a:xfrm>
                <a:off x="74676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F1</a:t>
                </a:r>
                <a:endPara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4770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F2</a:t>
                </a:r>
                <a:endPara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47244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F3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657600" y="4876800"/>
                <a:ext cx="533400" cy="568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indent="-514350" algn="just" fontAlgn="t"/>
                <a:r>
                  <a:rPr lang="en-US" sz="16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F4</a:t>
                </a:r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>
                <a:off x="7086600" y="4875212"/>
                <a:ext cx="7620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rot="10800000" flipV="1">
                <a:off x="4800600" y="4876800"/>
                <a:ext cx="8382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rot="10800000" flipV="1">
                <a:off x="3733801" y="4878388"/>
                <a:ext cx="838200" cy="15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rot="10800000">
                <a:off x="3429001" y="4876800"/>
                <a:ext cx="4648200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dash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38"/>
          <p:cNvGrpSpPr/>
          <p:nvPr/>
        </p:nvGrpSpPr>
        <p:grpSpPr>
          <a:xfrm>
            <a:off x="4648200" y="1143000"/>
            <a:ext cx="4191000" cy="3829050"/>
            <a:chOff x="5029200" y="990600"/>
            <a:chExt cx="3810000" cy="4800600"/>
          </a:xfrm>
        </p:grpSpPr>
        <p:pic>
          <p:nvPicPr>
            <p:cNvPr id="32" name="Picture 4"/>
            <p:cNvPicPr>
              <a:picLocks noChangeAspect="1" noChangeArrowheads="1"/>
            </p:cNvPicPr>
            <p:nvPr/>
          </p:nvPicPr>
          <p:blipFill>
            <a:blip r:embed="rId5" cstate="print">
              <a:lum bright="43000" contrast="48000"/>
            </a:blip>
            <a:srcRect l="17213"/>
            <a:stretch>
              <a:fillRect/>
            </a:stretch>
          </p:blipFill>
          <p:spPr bwMode="auto">
            <a:xfrm>
              <a:off x="5052067" y="2133600"/>
              <a:ext cx="3787133" cy="304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3" name="Rectangle 32"/>
            <p:cNvSpPr/>
            <p:nvPr/>
          </p:nvSpPr>
          <p:spPr>
            <a:xfrm>
              <a:off x="5029200" y="5257800"/>
              <a:ext cx="3810000" cy="5334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NON CONCURRENT FORCES 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029200" y="990600"/>
              <a:ext cx="3810000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t"/>
              <a:r>
                <a:rPr lang="en-US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Lines of action are passing through</a:t>
              </a:r>
              <a:r>
                <a:rPr lang="en-US" sz="2000" b="1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 multiple points.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rot="5400000">
              <a:off x="6172200" y="1752600"/>
              <a:ext cx="762000" cy="609600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34" idx="2"/>
            </p:cNvCxnSpPr>
            <p:nvPr/>
          </p:nvCxnSpPr>
          <p:spPr>
            <a:xfrm rot="5400000">
              <a:off x="5676900" y="2247900"/>
              <a:ext cx="1828800" cy="685800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16200000" flipH="1">
              <a:off x="6781800" y="1981200"/>
              <a:ext cx="1295400" cy="685800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16200000" flipH="1">
              <a:off x="6172199" y="2514601"/>
              <a:ext cx="2209802" cy="533399"/>
            </a:xfrm>
            <a:prstGeom prst="straightConnector1">
              <a:avLst/>
            </a:prstGeom>
            <a:ln w="31750"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 rot="20847134">
            <a:off x="1743226" y="1236342"/>
            <a:ext cx="6110202" cy="2499216"/>
          </a:xfrm>
          <a:prstGeom prst="rect">
            <a:avLst/>
          </a:prstGeom>
          <a:blipFill>
            <a:blip r:embed="rId6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Mechanics – 2.1 </a:t>
            </a:r>
          </a:p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Basics of Mechanics</a:t>
            </a:r>
          </a:p>
          <a:p>
            <a:pPr algn="ctr"/>
            <a:r>
              <a:rPr lang="en-US" sz="4800" b="1" dirty="0" smtClean="0">
                <a:solidFill>
                  <a:srgbClr val="0000FF"/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Thanks !</a:t>
            </a:r>
            <a:endParaRPr lang="en-US" sz="13800" b="1" dirty="0" smtClean="0">
              <a:solidFill>
                <a:srgbClr val="FF0000"/>
              </a:solidFill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 algn="ctr"/>
            <a:r>
              <a:rPr lang="en-US" sz="2800" b="1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Verdana" pitchFamily="34" charset="0"/>
                <a:cs typeface="Arial" pitchFamily="34" charset="0"/>
              </a:rPr>
              <a:t>FY – DESH – VIT</a:t>
            </a:r>
          </a:p>
          <a:p>
            <a:pPr algn="ctr"/>
            <a:endParaRPr lang="en-US" sz="900" b="1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6" name="Group 7"/>
          <p:cNvGrpSpPr/>
          <p:nvPr/>
        </p:nvGrpSpPr>
        <p:grpSpPr>
          <a:xfrm>
            <a:off x="76200" y="95465"/>
            <a:ext cx="533401" cy="4914685"/>
            <a:chOff x="14625" y="-684038"/>
            <a:chExt cx="598680" cy="6435703"/>
          </a:xfrm>
        </p:grpSpPr>
        <p:pic>
          <p:nvPicPr>
            <p:cNvPr id="40" name="Picture 4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4625" y="-684038"/>
              <a:ext cx="598680" cy="89080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41" name="Text Box 14"/>
            <p:cNvSpPr txBox="1">
              <a:spLocks noChangeArrowheads="1"/>
            </p:cNvSpPr>
            <p:nvPr/>
          </p:nvSpPr>
          <p:spPr bwMode="auto">
            <a:xfrm rot="16198651">
              <a:off x="-2592937" y="2797640"/>
              <a:ext cx="5562442" cy="345443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t"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Century Gothic" pitchFamily="34" charset="0"/>
                </a:rPr>
                <a:t>Vishwakarma  Institute  of  Technology</a:t>
              </a:r>
            </a:p>
          </p:txBody>
        </p:sp>
        <p:sp>
          <p:nvSpPr>
            <p:cNvPr id="42" name="Text Box 14">
              <a:extLst>
                <a:ext uri="{FF2B5EF4-FFF2-40B4-BE49-F238E27FC236}">
                  <a16:creationId xmlns:a16="http://schemas.microsoft.com/office/drawing/2014/main" xmlns="" id="{08D90372-4075-403D-BB31-3D2C4B3C5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2314811" y="2823549"/>
              <a:ext cx="5562604" cy="2936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100" b="1" dirty="0">
                  <a:solidFill>
                    <a:srgbClr val="002060"/>
                  </a:solidFill>
                  <a:latin typeface="Century Gothic" pitchFamily="34" charset="0"/>
                </a:rPr>
                <a:t>FY - Department of Engineering, Sciences and Humanities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2224</Words>
  <Application>Microsoft Office PowerPoint</Application>
  <PresentationFormat>On-screen Show (16:9)</PresentationFormat>
  <Paragraphs>432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30</cp:revision>
  <dcterms:created xsi:type="dcterms:W3CDTF">2006-08-16T00:00:00Z</dcterms:created>
  <dcterms:modified xsi:type="dcterms:W3CDTF">2022-01-12T07:13:31Z</dcterms:modified>
</cp:coreProperties>
</file>