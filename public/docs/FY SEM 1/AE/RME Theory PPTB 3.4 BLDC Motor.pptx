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59" r:id="rId5"/>
    <p:sldId id="263" r:id="rId6"/>
    <p:sldId id="265" r:id="rId7"/>
    <p:sldId id="260" r:id="rId8"/>
    <p:sldId id="269" r:id="rId9"/>
    <p:sldId id="270" r:id="rId10"/>
    <p:sldId id="271" r:id="rId11"/>
    <p:sldId id="268" r:id="rId12"/>
    <p:sldId id="264" r:id="rId13"/>
    <p:sldId id="274" r:id="rId14"/>
    <p:sldId id="275" r:id="rId15"/>
    <p:sldId id="261" r:id="rId16"/>
    <p:sldId id="278" r:id="rId17"/>
    <p:sldId id="281" r:id="rId18"/>
    <p:sldId id="280" r:id="rId19"/>
    <p:sldId id="277" r:id="rId20"/>
    <p:sldId id="279" r:id="rId21"/>
    <p:sldId id="282" r:id="rId22"/>
    <p:sldId id="283" r:id="rId23"/>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FFCC"/>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88" autoAdjust="0"/>
    <p:restoredTop sz="94624" autoAdjust="0"/>
  </p:normalViewPr>
  <p:slideViewPr>
    <p:cSldViewPr>
      <p:cViewPr>
        <p:scale>
          <a:sx n="80" d="100"/>
          <a:sy n="80" d="100"/>
        </p:scale>
        <p:origin x="-1086" y="-300"/>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2/14/2022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2/14/2022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2/14/2022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2/14/2022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2/14/2022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2/14/2022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2/14/2022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2/14/2022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lumMod val="40000"/>
            <a:lumOff val="6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2/14/2022</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emf"/><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4.gif"/><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7.gif"/><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emf"/><Relationship Id="rId1" Type="http://schemas.openxmlformats.org/officeDocument/2006/relationships/slideLayout" Target="../slideLayouts/slideLayout7.xml"/><Relationship Id="rId5" Type="http://schemas.openxmlformats.org/officeDocument/2006/relationships/image" Target="../media/image9.jpeg"/><Relationship Id="rId4" Type="http://schemas.openxmlformats.org/officeDocument/2006/relationships/image" Target="../media/image8.gif"/></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emf"/><Relationship Id="rId1" Type="http://schemas.openxmlformats.org/officeDocument/2006/relationships/slideLayout" Target="../slideLayouts/slideLayout7.xml"/><Relationship Id="rId4" Type="http://schemas.openxmlformats.org/officeDocument/2006/relationships/image" Target="../media/image10.jpeg"/></Relationships>
</file>

<file path=ppt/slides/_rels/slide1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emf"/><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emf"/><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emf"/><Relationship Id="rId1" Type="http://schemas.openxmlformats.org/officeDocument/2006/relationships/slideLayout" Target="../slideLayouts/slideLayout7.xml"/><Relationship Id="rId6" Type="http://schemas.openxmlformats.org/officeDocument/2006/relationships/image" Target="../media/image20.jpeg"/><Relationship Id="rId5" Type="http://schemas.openxmlformats.org/officeDocument/2006/relationships/image" Target="../media/image19.jpeg"/><Relationship Id="rId4" Type="http://schemas.openxmlformats.org/officeDocument/2006/relationships/image" Target="../media/image18.jpeg"/></Relationships>
</file>

<file path=ppt/slides/_rels/slide2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emf"/><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4.gif"/><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76200" y="112129"/>
            <a:ext cx="533400" cy="4919239"/>
            <a:chOff x="14626" y="14712"/>
            <a:chExt cx="598680" cy="6386091"/>
          </a:xfrm>
        </p:grpSpPr>
        <p:pic>
          <p:nvPicPr>
            <p:cNvPr id="3" name="Picture 2"/>
            <p:cNvPicPr>
              <a:picLocks noChangeAspect="1" noChangeArrowheads="1"/>
            </p:cNvPicPr>
            <p:nvPr/>
          </p:nvPicPr>
          <p:blipFill>
            <a:blip r:embed="rId2" cstate="print"/>
            <a:srcRect/>
            <a:stretch>
              <a:fillRect/>
            </a:stretch>
          </p:blipFill>
          <p:spPr bwMode="auto">
            <a:xfrm>
              <a:off x="14626" y="14712"/>
              <a:ext cx="598680" cy="846471"/>
            </a:xfrm>
            <a:prstGeom prst="rect">
              <a:avLst/>
            </a:prstGeom>
            <a:noFill/>
            <a:ln w="9525">
              <a:solidFill>
                <a:srgbClr val="0000FF"/>
              </a:solidFill>
              <a:miter lim="800000"/>
              <a:headEnd/>
              <a:tailEnd/>
            </a:ln>
          </p:spPr>
        </p:pic>
        <p:sp>
          <p:nvSpPr>
            <p:cNvPr id="4" name="Text Box 14"/>
            <p:cNvSpPr txBox="1">
              <a:spLocks noChangeArrowheads="1"/>
            </p:cNvSpPr>
            <p:nvPr/>
          </p:nvSpPr>
          <p:spPr bwMode="auto">
            <a:xfrm rot="16198651">
              <a:off x="-2592929" y="3446777"/>
              <a:ext cx="5562442" cy="345444"/>
            </a:xfrm>
            <a:prstGeom prst="rect">
              <a:avLst/>
            </a:prstGeom>
            <a:solidFill>
              <a:srgbClr val="000080"/>
            </a:solidFill>
            <a:ln w="9525">
              <a:noFill/>
              <a:miter lim="800000"/>
              <a:headEnd/>
              <a:tailEnd/>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50000"/>
                </a:spcBef>
              </a:pPr>
              <a:r>
                <a:rPr lang="en-US" sz="1400" b="1" dirty="0">
                  <a:solidFill>
                    <a:schemeClr val="bg1"/>
                  </a:solidFill>
                  <a:latin typeface="Century Gothic" pitchFamily="34" charset="0"/>
                </a:rPr>
                <a:t>Vishwakarma  Institute  of  Technology</a:t>
              </a:r>
            </a:p>
          </p:txBody>
        </p:sp>
        <p:sp>
          <p:nvSpPr>
            <p:cNvPr id="5" name="Text Box 14">
              <a:extLst>
                <a:ext uri="{FF2B5EF4-FFF2-40B4-BE49-F238E27FC236}">
                  <a16:creationId xmlns:lc="http://schemas.openxmlformats.org/drawingml/2006/lockedCanvas" xmlns="" xmlns:a16="http://schemas.microsoft.com/office/drawing/2014/main" id="{08D90372-4075-403D-BB31-3D2C4B3C58A2}"/>
                </a:ext>
              </a:extLst>
            </p:cNvPr>
            <p:cNvSpPr txBox="1">
              <a:spLocks noChangeArrowheads="1"/>
            </p:cNvSpPr>
            <p:nvPr/>
          </p:nvSpPr>
          <p:spPr bwMode="auto">
            <a:xfrm rot="16200000">
              <a:off x="-2314809" y="3472688"/>
              <a:ext cx="5562602" cy="293627"/>
            </a:xfrm>
            <a:prstGeom prst="rect">
              <a:avLst/>
            </a:prstGeom>
            <a:solidFill>
              <a:srgbClr val="FFFF99"/>
            </a:solidFill>
            <a:ln w="9525">
              <a:solidFill>
                <a:srgbClr val="002060"/>
              </a:solidFill>
              <a:miter lim="800000"/>
              <a:headEnd/>
              <a:tailEnd/>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50000"/>
                </a:spcBef>
              </a:pPr>
              <a:r>
                <a:rPr lang="en-US" sz="1100" b="1" dirty="0">
                  <a:solidFill>
                    <a:srgbClr val="002060"/>
                  </a:solidFill>
                  <a:latin typeface="Century Gothic" pitchFamily="34" charset="0"/>
                </a:rPr>
                <a:t>FY - Department of Engineering, Sciences and Humanities</a:t>
              </a:r>
            </a:p>
          </p:txBody>
        </p:sp>
      </p:grpSp>
      <p:pic>
        <p:nvPicPr>
          <p:cNvPr id="4098" name="Picture 2" descr="D:\Harshavardhan\datafolder\hmksave\hmk vit\VIT 2018-20\AY 20202021 New Robotics Course\1 RMC 1920 Theory Lectures PPTs Videos  and Notes etc\Images For Lect 5 Electrical Elex\BLDC motor internal.jpg"/>
          <p:cNvPicPr>
            <a:picLocks noChangeAspect="1" noChangeArrowheads="1"/>
          </p:cNvPicPr>
          <p:nvPr/>
        </p:nvPicPr>
        <p:blipFill>
          <a:blip r:embed="rId3" cstate="print"/>
          <a:srcRect/>
          <a:stretch>
            <a:fillRect/>
          </a:stretch>
        </p:blipFill>
        <p:spPr bwMode="auto">
          <a:xfrm>
            <a:off x="5105400" y="209550"/>
            <a:ext cx="3810000" cy="2375297"/>
          </a:xfrm>
          <a:prstGeom prst="rect">
            <a:avLst/>
          </a:prstGeom>
          <a:noFill/>
        </p:spPr>
      </p:pic>
      <p:pic>
        <p:nvPicPr>
          <p:cNvPr id="4099" name="Picture 3" descr="D:\Harshavardhan\datafolder\hmksave\hmk vit\VIT 2018-20\AY 20202021 New Robotics Course\1 RMC 1920 Theory Lectures PPTs Videos  and Notes etc\Images For Lect 5 Electrical Elex\BLDC internal.jpg"/>
          <p:cNvPicPr>
            <a:picLocks noChangeAspect="1" noChangeArrowheads="1"/>
          </p:cNvPicPr>
          <p:nvPr/>
        </p:nvPicPr>
        <p:blipFill>
          <a:blip r:embed="rId4" cstate="print"/>
          <a:srcRect/>
          <a:stretch>
            <a:fillRect/>
          </a:stretch>
        </p:blipFill>
        <p:spPr bwMode="auto">
          <a:xfrm>
            <a:off x="762000" y="2976562"/>
            <a:ext cx="3728358" cy="1957388"/>
          </a:xfrm>
          <a:prstGeom prst="rect">
            <a:avLst/>
          </a:prstGeom>
          <a:noFill/>
        </p:spPr>
      </p:pic>
      <p:pic>
        <p:nvPicPr>
          <p:cNvPr id="11" name="Picture 8" descr="D:\Harshavardhan\datafolder\hmksave\hmk vit\VIT 2018-20\AY 20202021 New Robotics Course\1 RMC 1920 Theory Lectures PPTs Videos  and Notes etc\Images For Lect 5 Electrical Elex\Hall effect sensor 3.gif"/>
          <p:cNvPicPr>
            <a:picLocks noChangeAspect="1" noChangeArrowheads="1"/>
          </p:cNvPicPr>
          <p:nvPr/>
        </p:nvPicPr>
        <p:blipFill>
          <a:blip r:embed="rId5" cstate="print"/>
          <a:srcRect/>
          <a:stretch>
            <a:fillRect/>
          </a:stretch>
        </p:blipFill>
        <p:spPr bwMode="auto">
          <a:xfrm>
            <a:off x="762000" y="209550"/>
            <a:ext cx="4059000" cy="3429000"/>
          </a:xfrm>
          <a:prstGeom prst="rect">
            <a:avLst/>
          </a:prstGeom>
          <a:noFill/>
        </p:spPr>
      </p:pic>
      <p:pic>
        <p:nvPicPr>
          <p:cNvPr id="12" name="Picture 3" descr="D:\Harshavardhan\datafolder\hmksave\hmk vit\VIT 2018-20\AY 20202021 New Robotics Course\1 RMC 1920 Theory Lectures PPTs Videos  and Notes etc\Images For Lect 5 Electrical Elex\Hall effect sensor A3144.jpg"/>
          <p:cNvPicPr>
            <a:picLocks noChangeAspect="1" noChangeArrowheads="1"/>
          </p:cNvPicPr>
          <p:nvPr/>
        </p:nvPicPr>
        <p:blipFill>
          <a:blip r:embed="rId6" cstate="print"/>
          <a:srcRect/>
          <a:stretch>
            <a:fillRect/>
          </a:stretch>
        </p:blipFill>
        <p:spPr bwMode="auto">
          <a:xfrm>
            <a:off x="4724400" y="2647950"/>
            <a:ext cx="4191000" cy="2286000"/>
          </a:xfrm>
          <a:prstGeom prst="rect">
            <a:avLst/>
          </a:prstGeom>
          <a:noFill/>
        </p:spPr>
      </p:pic>
      <p:sp>
        <p:nvSpPr>
          <p:cNvPr id="44" name="Rectangle 43"/>
          <p:cNvSpPr/>
          <p:nvPr/>
        </p:nvSpPr>
        <p:spPr>
          <a:xfrm rot="20537006">
            <a:off x="1686340" y="1336336"/>
            <a:ext cx="6121394" cy="2024672"/>
          </a:xfrm>
          <a:prstGeom prst="rect">
            <a:avLst/>
          </a:prstGeom>
          <a:solidFill>
            <a:schemeClr val="accent6">
              <a:lumMod val="40000"/>
              <a:lumOff val="60000"/>
            </a:schemeClr>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solidFill>
                  <a:srgbClr val="FF0000"/>
                </a:solidFill>
                <a:latin typeface="Arial" pitchFamily="34" charset="0"/>
                <a:ea typeface="Verdana" pitchFamily="34" charset="0"/>
                <a:cs typeface="Arial" pitchFamily="34" charset="0"/>
              </a:rPr>
              <a:t>Actuators – 3.4</a:t>
            </a:r>
            <a:endParaRPr lang="en-US" sz="4800" b="1" dirty="0" smtClean="0">
              <a:solidFill>
                <a:srgbClr val="FF0000"/>
              </a:solidFill>
              <a:latin typeface="Arial" pitchFamily="34" charset="0"/>
              <a:ea typeface="Verdana" pitchFamily="34" charset="0"/>
              <a:cs typeface="Arial" pitchFamily="34" charset="0"/>
            </a:endParaRPr>
          </a:p>
          <a:p>
            <a:pPr algn="ctr"/>
            <a:r>
              <a:rPr lang="en-US" sz="4400" b="1" dirty="0" smtClean="0">
                <a:solidFill>
                  <a:srgbClr val="0000FF"/>
                </a:solidFill>
                <a:latin typeface="Arial" pitchFamily="34" charset="0"/>
                <a:ea typeface="Verdana" pitchFamily="34" charset="0"/>
                <a:cs typeface="Arial" pitchFamily="34" charset="0"/>
              </a:rPr>
              <a:t>Brushless DC Motors</a:t>
            </a:r>
          </a:p>
          <a:p>
            <a:pPr algn="ctr"/>
            <a:endParaRPr lang="en-US" sz="1200" b="1" dirty="0" smtClean="0">
              <a:solidFill>
                <a:schemeClr val="accent3">
                  <a:lumMod val="50000"/>
                </a:schemeClr>
              </a:solidFill>
              <a:latin typeface="Arial" pitchFamily="34" charset="0"/>
              <a:ea typeface="Verdana" pitchFamily="34" charset="0"/>
              <a:cs typeface="Arial" pitchFamily="34" charset="0"/>
            </a:endParaRPr>
          </a:p>
          <a:p>
            <a:pPr algn="ctr"/>
            <a:r>
              <a:rPr lang="en-US" sz="2400" b="1" dirty="0" smtClean="0">
                <a:solidFill>
                  <a:schemeClr val="accent3">
                    <a:lumMod val="50000"/>
                  </a:schemeClr>
                </a:solidFill>
                <a:latin typeface="Arial" pitchFamily="34" charset="0"/>
                <a:ea typeface="Verdana" pitchFamily="34" charset="0"/>
                <a:cs typeface="Arial" pitchFamily="34" charset="0"/>
              </a:rPr>
              <a:t>FY – </a:t>
            </a:r>
            <a:r>
              <a:rPr lang="en-US" sz="2400" b="1" dirty="0" err="1" smtClean="0">
                <a:solidFill>
                  <a:schemeClr val="accent3">
                    <a:lumMod val="50000"/>
                  </a:schemeClr>
                </a:solidFill>
                <a:latin typeface="Arial" pitchFamily="34" charset="0"/>
                <a:ea typeface="Verdana" pitchFamily="34" charset="0"/>
                <a:cs typeface="Arial" pitchFamily="34" charset="0"/>
              </a:rPr>
              <a:t>DESH</a:t>
            </a:r>
            <a:r>
              <a:rPr lang="en-US" sz="2400" b="1" dirty="0" smtClean="0">
                <a:solidFill>
                  <a:schemeClr val="accent3">
                    <a:lumMod val="50000"/>
                  </a:schemeClr>
                </a:solidFill>
                <a:latin typeface="Arial" pitchFamily="34" charset="0"/>
                <a:ea typeface="Verdana" pitchFamily="34" charset="0"/>
                <a:cs typeface="Arial" pitchFamily="34" charset="0"/>
              </a:rPr>
              <a:t> – </a:t>
            </a:r>
            <a:r>
              <a:rPr lang="en-US" sz="2400" b="1" dirty="0" err="1" smtClean="0">
                <a:solidFill>
                  <a:schemeClr val="accent3">
                    <a:lumMod val="50000"/>
                  </a:schemeClr>
                </a:solidFill>
                <a:latin typeface="Arial" pitchFamily="34" charset="0"/>
                <a:ea typeface="Verdana" pitchFamily="34" charset="0"/>
                <a:cs typeface="Arial" pitchFamily="34" charset="0"/>
              </a:rPr>
              <a:t>VIT</a:t>
            </a:r>
            <a:endParaRPr lang="en-US" sz="2400" b="1" dirty="0" smtClean="0">
              <a:solidFill>
                <a:schemeClr val="accent3">
                  <a:lumMod val="50000"/>
                </a:schemeClr>
              </a:solidFill>
              <a:latin typeface="Arial" pitchFamily="34" charset="0"/>
              <a:ea typeface="Verdana" pitchFamily="34" charset="0"/>
              <a:cs typeface="Arial" pitchFamily="34" charset="0"/>
            </a:endParaRPr>
          </a:p>
          <a:p>
            <a:pPr algn="ctr"/>
            <a:endParaRPr lang="en-US" sz="700" b="1" dirty="0">
              <a:solidFill>
                <a:srgbClr val="FF0000"/>
              </a:solidFill>
              <a:latin typeface="Verdana" pitchFamily="34" charset="0"/>
              <a:ea typeface="Verdana" pitchFamily="34" charset="0"/>
              <a:cs typeface="Verdana"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iterate type="lt">
                                    <p:tmPct val="5000"/>
                                  </p:iterate>
                                  <p:childTnLst>
                                    <p:set>
                                      <p:cBhvr>
                                        <p:cTn id="6" dur="1" fill="hold">
                                          <p:stCondLst>
                                            <p:cond delay="0"/>
                                          </p:stCondLst>
                                        </p:cTn>
                                        <p:tgtEl>
                                          <p:spTgt spid="11"/>
                                        </p:tgtEl>
                                        <p:attrNameLst>
                                          <p:attrName>style.visibility</p:attrName>
                                        </p:attrNameLst>
                                      </p:cBhvr>
                                      <p:to>
                                        <p:strVal val="visible"/>
                                      </p:to>
                                    </p:set>
                                    <p:anim calcmode="lin" valueType="num">
                                      <p:cBhvr>
                                        <p:cTn id="7" dur="1000" fill="hold"/>
                                        <p:tgtEl>
                                          <p:spTgt spid="11"/>
                                        </p:tgtEl>
                                        <p:attrNameLst>
                                          <p:attrName>ppt_w</p:attrName>
                                        </p:attrNameLst>
                                      </p:cBhvr>
                                      <p:tavLst>
                                        <p:tav tm="0">
                                          <p:val>
                                            <p:fltVal val="0"/>
                                          </p:val>
                                        </p:tav>
                                        <p:tav tm="100000">
                                          <p:val>
                                            <p:strVal val="#ppt_w"/>
                                          </p:val>
                                        </p:tav>
                                      </p:tavLst>
                                    </p:anim>
                                    <p:anim calcmode="lin" valueType="num">
                                      <p:cBhvr>
                                        <p:cTn id="8" dur="1000" fill="hold"/>
                                        <p:tgtEl>
                                          <p:spTgt spid="11"/>
                                        </p:tgtEl>
                                        <p:attrNameLst>
                                          <p:attrName>ppt_h</p:attrName>
                                        </p:attrNameLst>
                                      </p:cBhvr>
                                      <p:tavLst>
                                        <p:tav tm="0">
                                          <p:val>
                                            <p:fltVal val="0"/>
                                          </p:val>
                                        </p:tav>
                                        <p:tav tm="100000">
                                          <p:val>
                                            <p:strVal val="#ppt_h"/>
                                          </p:val>
                                        </p:tav>
                                      </p:tavLst>
                                    </p:anim>
                                    <p:anim calcmode="lin" valueType="num">
                                      <p:cBhvr>
                                        <p:cTn id="9" dur="1000" fill="hold"/>
                                        <p:tgtEl>
                                          <p:spTgt spid="11"/>
                                        </p:tgtEl>
                                        <p:attrNameLst>
                                          <p:attrName>style.rotation</p:attrName>
                                        </p:attrNameLst>
                                      </p:cBhvr>
                                      <p:tavLst>
                                        <p:tav tm="0">
                                          <p:val>
                                            <p:fltVal val="90"/>
                                          </p:val>
                                        </p:tav>
                                        <p:tav tm="100000">
                                          <p:val>
                                            <p:fltVal val="0"/>
                                          </p:val>
                                        </p:tav>
                                      </p:tavLst>
                                    </p:anim>
                                    <p:animEffect transition="in" filter="fade">
                                      <p:cBhvr>
                                        <p:cTn id="10" dur="1000"/>
                                        <p:tgtEl>
                                          <p:spTgt spid="11"/>
                                        </p:tgtEl>
                                      </p:cBhvr>
                                    </p:animEffect>
                                  </p:childTnLst>
                                </p:cTn>
                              </p:par>
                            </p:childTnLst>
                          </p:cTn>
                        </p:par>
                        <p:par>
                          <p:cTn id="11" fill="hold">
                            <p:stCondLst>
                              <p:cond delay="1000"/>
                            </p:stCondLst>
                            <p:childTnLst>
                              <p:par>
                                <p:cTn id="12" presetID="31" presetClass="entr" presetSubtype="0" fill="hold" nodeType="afterEffect">
                                  <p:stCondLst>
                                    <p:cond delay="0"/>
                                  </p:stCondLst>
                                  <p:iterate type="lt">
                                    <p:tmPct val="5000"/>
                                  </p:iterate>
                                  <p:childTnLst>
                                    <p:set>
                                      <p:cBhvr>
                                        <p:cTn id="13" dur="1" fill="hold">
                                          <p:stCondLst>
                                            <p:cond delay="0"/>
                                          </p:stCondLst>
                                        </p:cTn>
                                        <p:tgtEl>
                                          <p:spTgt spid="4098"/>
                                        </p:tgtEl>
                                        <p:attrNameLst>
                                          <p:attrName>style.visibility</p:attrName>
                                        </p:attrNameLst>
                                      </p:cBhvr>
                                      <p:to>
                                        <p:strVal val="visible"/>
                                      </p:to>
                                    </p:set>
                                    <p:anim calcmode="lin" valueType="num">
                                      <p:cBhvr>
                                        <p:cTn id="14" dur="1000" fill="hold"/>
                                        <p:tgtEl>
                                          <p:spTgt spid="4098"/>
                                        </p:tgtEl>
                                        <p:attrNameLst>
                                          <p:attrName>ppt_w</p:attrName>
                                        </p:attrNameLst>
                                      </p:cBhvr>
                                      <p:tavLst>
                                        <p:tav tm="0">
                                          <p:val>
                                            <p:fltVal val="0"/>
                                          </p:val>
                                        </p:tav>
                                        <p:tav tm="100000">
                                          <p:val>
                                            <p:strVal val="#ppt_w"/>
                                          </p:val>
                                        </p:tav>
                                      </p:tavLst>
                                    </p:anim>
                                    <p:anim calcmode="lin" valueType="num">
                                      <p:cBhvr>
                                        <p:cTn id="15" dur="1000" fill="hold"/>
                                        <p:tgtEl>
                                          <p:spTgt spid="4098"/>
                                        </p:tgtEl>
                                        <p:attrNameLst>
                                          <p:attrName>ppt_h</p:attrName>
                                        </p:attrNameLst>
                                      </p:cBhvr>
                                      <p:tavLst>
                                        <p:tav tm="0">
                                          <p:val>
                                            <p:fltVal val="0"/>
                                          </p:val>
                                        </p:tav>
                                        <p:tav tm="100000">
                                          <p:val>
                                            <p:strVal val="#ppt_h"/>
                                          </p:val>
                                        </p:tav>
                                      </p:tavLst>
                                    </p:anim>
                                    <p:anim calcmode="lin" valueType="num">
                                      <p:cBhvr>
                                        <p:cTn id="16" dur="1000" fill="hold"/>
                                        <p:tgtEl>
                                          <p:spTgt spid="4098"/>
                                        </p:tgtEl>
                                        <p:attrNameLst>
                                          <p:attrName>style.rotation</p:attrName>
                                        </p:attrNameLst>
                                      </p:cBhvr>
                                      <p:tavLst>
                                        <p:tav tm="0">
                                          <p:val>
                                            <p:fltVal val="90"/>
                                          </p:val>
                                        </p:tav>
                                        <p:tav tm="100000">
                                          <p:val>
                                            <p:fltVal val="0"/>
                                          </p:val>
                                        </p:tav>
                                      </p:tavLst>
                                    </p:anim>
                                    <p:animEffect transition="in" filter="fade">
                                      <p:cBhvr>
                                        <p:cTn id="17" dur="1000"/>
                                        <p:tgtEl>
                                          <p:spTgt spid="4098"/>
                                        </p:tgtEl>
                                      </p:cBhvr>
                                    </p:animEffect>
                                  </p:childTnLst>
                                </p:cTn>
                              </p:par>
                            </p:childTnLst>
                          </p:cTn>
                        </p:par>
                        <p:par>
                          <p:cTn id="18" fill="hold">
                            <p:stCondLst>
                              <p:cond delay="2000"/>
                            </p:stCondLst>
                            <p:childTnLst>
                              <p:par>
                                <p:cTn id="19" presetID="31" presetClass="entr" presetSubtype="0" fill="hold" nodeType="afterEffect">
                                  <p:stCondLst>
                                    <p:cond delay="0"/>
                                  </p:stCondLst>
                                  <p:iterate type="lt">
                                    <p:tmPct val="5000"/>
                                  </p:iterate>
                                  <p:childTnLst>
                                    <p:set>
                                      <p:cBhvr>
                                        <p:cTn id="20" dur="1" fill="hold">
                                          <p:stCondLst>
                                            <p:cond delay="0"/>
                                          </p:stCondLst>
                                        </p:cTn>
                                        <p:tgtEl>
                                          <p:spTgt spid="12"/>
                                        </p:tgtEl>
                                        <p:attrNameLst>
                                          <p:attrName>style.visibility</p:attrName>
                                        </p:attrNameLst>
                                      </p:cBhvr>
                                      <p:to>
                                        <p:strVal val="visible"/>
                                      </p:to>
                                    </p:set>
                                    <p:anim calcmode="lin" valueType="num">
                                      <p:cBhvr>
                                        <p:cTn id="21" dur="1000" fill="hold"/>
                                        <p:tgtEl>
                                          <p:spTgt spid="12"/>
                                        </p:tgtEl>
                                        <p:attrNameLst>
                                          <p:attrName>ppt_w</p:attrName>
                                        </p:attrNameLst>
                                      </p:cBhvr>
                                      <p:tavLst>
                                        <p:tav tm="0">
                                          <p:val>
                                            <p:fltVal val="0"/>
                                          </p:val>
                                        </p:tav>
                                        <p:tav tm="100000">
                                          <p:val>
                                            <p:strVal val="#ppt_w"/>
                                          </p:val>
                                        </p:tav>
                                      </p:tavLst>
                                    </p:anim>
                                    <p:anim calcmode="lin" valueType="num">
                                      <p:cBhvr>
                                        <p:cTn id="22" dur="1000" fill="hold"/>
                                        <p:tgtEl>
                                          <p:spTgt spid="12"/>
                                        </p:tgtEl>
                                        <p:attrNameLst>
                                          <p:attrName>ppt_h</p:attrName>
                                        </p:attrNameLst>
                                      </p:cBhvr>
                                      <p:tavLst>
                                        <p:tav tm="0">
                                          <p:val>
                                            <p:fltVal val="0"/>
                                          </p:val>
                                        </p:tav>
                                        <p:tav tm="100000">
                                          <p:val>
                                            <p:strVal val="#ppt_h"/>
                                          </p:val>
                                        </p:tav>
                                      </p:tavLst>
                                    </p:anim>
                                    <p:anim calcmode="lin" valueType="num">
                                      <p:cBhvr>
                                        <p:cTn id="23" dur="1000" fill="hold"/>
                                        <p:tgtEl>
                                          <p:spTgt spid="12"/>
                                        </p:tgtEl>
                                        <p:attrNameLst>
                                          <p:attrName>style.rotation</p:attrName>
                                        </p:attrNameLst>
                                      </p:cBhvr>
                                      <p:tavLst>
                                        <p:tav tm="0">
                                          <p:val>
                                            <p:fltVal val="90"/>
                                          </p:val>
                                        </p:tav>
                                        <p:tav tm="100000">
                                          <p:val>
                                            <p:fltVal val="0"/>
                                          </p:val>
                                        </p:tav>
                                      </p:tavLst>
                                    </p:anim>
                                    <p:animEffect transition="in" filter="fade">
                                      <p:cBhvr>
                                        <p:cTn id="24" dur="1000"/>
                                        <p:tgtEl>
                                          <p:spTgt spid="12"/>
                                        </p:tgtEl>
                                      </p:cBhvr>
                                    </p:animEffect>
                                  </p:childTnLst>
                                </p:cTn>
                              </p:par>
                            </p:childTnLst>
                          </p:cTn>
                        </p:par>
                        <p:par>
                          <p:cTn id="25" fill="hold">
                            <p:stCondLst>
                              <p:cond delay="3000"/>
                            </p:stCondLst>
                            <p:childTnLst>
                              <p:par>
                                <p:cTn id="26" presetID="31" presetClass="entr" presetSubtype="0" fill="hold" nodeType="afterEffect">
                                  <p:stCondLst>
                                    <p:cond delay="0"/>
                                  </p:stCondLst>
                                  <p:iterate type="lt">
                                    <p:tmPct val="5000"/>
                                  </p:iterate>
                                  <p:childTnLst>
                                    <p:set>
                                      <p:cBhvr>
                                        <p:cTn id="27" dur="1" fill="hold">
                                          <p:stCondLst>
                                            <p:cond delay="0"/>
                                          </p:stCondLst>
                                        </p:cTn>
                                        <p:tgtEl>
                                          <p:spTgt spid="4099"/>
                                        </p:tgtEl>
                                        <p:attrNameLst>
                                          <p:attrName>style.visibility</p:attrName>
                                        </p:attrNameLst>
                                      </p:cBhvr>
                                      <p:to>
                                        <p:strVal val="visible"/>
                                      </p:to>
                                    </p:set>
                                    <p:anim calcmode="lin" valueType="num">
                                      <p:cBhvr>
                                        <p:cTn id="28" dur="1000" fill="hold"/>
                                        <p:tgtEl>
                                          <p:spTgt spid="4099"/>
                                        </p:tgtEl>
                                        <p:attrNameLst>
                                          <p:attrName>ppt_w</p:attrName>
                                        </p:attrNameLst>
                                      </p:cBhvr>
                                      <p:tavLst>
                                        <p:tav tm="0">
                                          <p:val>
                                            <p:fltVal val="0"/>
                                          </p:val>
                                        </p:tav>
                                        <p:tav tm="100000">
                                          <p:val>
                                            <p:strVal val="#ppt_w"/>
                                          </p:val>
                                        </p:tav>
                                      </p:tavLst>
                                    </p:anim>
                                    <p:anim calcmode="lin" valueType="num">
                                      <p:cBhvr>
                                        <p:cTn id="29" dur="1000" fill="hold"/>
                                        <p:tgtEl>
                                          <p:spTgt spid="4099"/>
                                        </p:tgtEl>
                                        <p:attrNameLst>
                                          <p:attrName>ppt_h</p:attrName>
                                        </p:attrNameLst>
                                      </p:cBhvr>
                                      <p:tavLst>
                                        <p:tav tm="0">
                                          <p:val>
                                            <p:fltVal val="0"/>
                                          </p:val>
                                        </p:tav>
                                        <p:tav tm="100000">
                                          <p:val>
                                            <p:strVal val="#ppt_h"/>
                                          </p:val>
                                        </p:tav>
                                      </p:tavLst>
                                    </p:anim>
                                    <p:anim calcmode="lin" valueType="num">
                                      <p:cBhvr>
                                        <p:cTn id="30" dur="1000" fill="hold"/>
                                        <p:tgtEl>
                                          <p:spTgt spid="4099"/>
                                        </p:tgtEl>
                                        <p:attrNameLst>
                                          <p:attrName>style.rotation</p:attrName>
                                        </p:attrNameLst>
                                      </p:cBhvr>
                                      <p:tavLst>
                                        <p:tav tm="0">
                                          <p:val>
                                            <p:fltVal val="90"/>
                                          </p:val>
                                        </p:tav>
                                        <p:tav tm="100000">
                                          <p:val>
                                            <p:fltVal val="0"/>
                                          </p:val>
                                        </p:tav>
                                      </p:tavLst>
                                    </p:anim>
                                    <p:animEffect transition="in" filter="fade">
                                      <p:cBhvr>
                                        <p:cTn id="31" dur="1000"/>
                                        <p:tgtEl>
                                          <p:spTgt spid="4099"/>
                                        </p:tgtEl>
                                      </p:cBhvr>
                                    </p:animEffect>
                                  </p:childTnLst>
                                </p:cTn>
                              </p:par>
                            </p:childTnLst>
                          </p:cTn>
                        </p:par>
                        <p:par>
                          <p:cTn id="32" fill="hold">
                            <p:stCondLst>
                              <p:cond delay="4000"/>
                            </p:stCondLst>
                            <p:childTnLst>
                              <p:par>
                                <p:cTn id="33" presetID="31" presetClass="entr" presetSubtype="0" fill="hold" grpId="1" nodeType="afterEffect">
                                  <p:stCondLst>
                                    <p:cond delay="0"/>
                                  </p:stCondLst>
                                  <p:iterate type="lt">
                                    <p:tmPct val="5000"/>
                                  </p:iterate>
                                  <p:childTnLst>
                                    <p:set>
                                      <p:cBhvr>
                                        <p:cTn id="34" dur="1" fill="hold">
                                          <p:stCondLst>
                                            <p:cond delay="0"/>
                                          </p:stCondLst>
                                        </p:cTn>
                                        <p:tgtEl>
                                          <p:spTgt spid="44"/>
                                        </p:tgtEl>
                                        <p:attrNameLst>
                                          <p:attrName>style.visibility</p:attrName>
                                        </p:attrNameLst>
                                      </p:cBhvr>
                                      <p:to>
                                        <p:strVal val="visible"/>
                                      </p:to>
                                    </p:set>
                                    <p:anim calcmode="lin" valueType="num">
                                      <p:cBhvr>
                                        <p:cTn id="35" dur="1000" fill="hold"/>
                                        <p:tgtEl>
                                          <p:spTgt spid="44"/>
                                        </p:tgtEl>
                                        <p:attrNameLst>
                                          <p:attrName>ppt_w</p:attrName>
                                        </p:attrNameLst>
                                      </p:cBhvr>
                                      <p:tavLst>
                                        <p:tav tm="0">
                                          <p:val>
                                            <p:fltVal val="0"/>
                                          </p:val>
                                        </p:tav>
                                        <p:tav tm="100000">
                                          <p:val>
                                            <p:strVal val="#ppt_w"/>
                                          </p:val>
                                        </p:tav>
                                      </p:tavLst>
                                    </p:anim>
                                    <p:anim calcmode="lin" valueType="num">
                                      <p:cBhvr>
                                        <p:cTn id="36" dur="1000" fill="hold"/>
                                        <p:tgtEl>
                                          <p:spTgt spid="44"/>
                                        </p:tgtEl>
                                        <p:attrNameLst>
                                          <p:attrName>ppt_h</p:attrName>
                                        </p:attrNameLst>
                                      </p:cBhvr>
                                      <p:tavLst>
                                        <p:tav tm="0">
                                          <p:val>
                                            <p:fltVal val="0"/>
                                          </p:val>
                                        </p:tav>
                                        <p:tav tm="100000">
                                          <p:val>
                                            <p:strVal val="#ppt_h"/>
                                          </p:val>
                                        </p:tav>
                                      </p:tavLst>
                                    </p:anim>
                                    <p:anim calcmode="lin" valueType="num">
                                      <p:cBhvr>
                                        <p:cTn id="37" dur="1000" fill="hold"/>
                                        <p:tgtEl>
                                          <p:spTgt spid="44"/>
                                        </p:tgtEl>
                                        <p:attrNameLst>
                                          <p:attrName>style.rotation</p:attrName>
                                        </p:attrNameLst>
                                      </p:cBhvr>
                                      <p:tavLst>
                                        <p:tav tm="0">
                                          <p:val>
                                            <p:fltVal val="90"/>
                                          </p:val>
                                        </p:tav>
                                        <p:tav tm="100000">
                                          <p:val>
                                            <p:fltVal val="0"/>
                                          </p:val>
                                        </p:tav>
                                      </p:tavLst>
                                    </p:anim>
                                    <p:animEffect transition="in" filter="fade">
                                      <p:cBhvr>
                                        <p:cTn id="38" dur="10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1"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76200" y="112129"/>
            <a:ext cx="533400" cy="4919239"/>
            <a:chOff x="14626" y="14712"/>
            <a:chExt cx="598680" cy="6386091"/>
          </a:xfrm>
        </p:grpSpPr>
        <p:pic>
          <p:nvPicPr>
            <p:cNvPr id="3" name="Picture 2"/>
            <p:cNvPicPr>
              <a:picLocks noChangeAspect="1" noChangeArrowheads="1"/>
            </p:cNvPicPr>
            <p:nvPr/>
          </p:nvPicPr>
          <p:blipFill>
            <a:blip r:embed="rId2" cstate="print"/>
            <a:srcRect/>
            <a:stretch>
              <a:fillRect/>
            </a:stretch>
          </p:blipFill>
          <p:spPr bwMode="auto">
            <a:xfrm>
              <a:off x="14626" y="14712"/>
              <a:ext cx="598680" cy="846471"/>
            </a:xfrm>
            <a:prstGeom prst="rect">
              <a:avLst/>
            </a:prstGeom>
            <a:noFill/>
            <a:ln w="9525">
              <a:solidFill>
                <a:srgbClr val="0000FF"/>
              </a:solidFill>
              <a:miter lim="800000"/>
              <a:headEnd/>
              <a:tailEnd/>
            </a:ln>
          </p:spPr>
        </p:pic>
        <p:sp>
          <p:nvSpPr>
            <p:cNvPr id="4" name="Text Box 14"/>
            <p:cNvSpPr txBox="1">
              <a:spLocks noChangeArrowheads="1"/>
            </p:cNvSpPr>
            <p:nvPr/>
          </p:nvSpPr>
          <p:spPr bwMode="auto">
            <a:xfrm rot="16198651">
              <a:off x="-2592929" y="3446777"/>
              <a:ext cx="5562442" cy="345444"/>
            </a:xfrm>
            <a:prstGeom prst="rect">
              <a:avLst/>
            </a:prstGeom>
            <a:solidFill>
              <a:srgbClr val="000080"/>
            </a:solidFill>
            <a:ln w="9525">
              <a:noFill/>
              <a:miter lim="800000"/>
              <a:headEnd/>
              <a:tailEnd/>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50000"/>
                </a:spcBef>
              </a:pPr>
              <a:r>
                <a:rPr lang="en-US" sz="1400" b="1" dirty="0">
                  <a:solidFill>
                    <a:schemeClr val="bg1"/>
                  </a:solidFill>
                  <a:latin typeface="Century Gothic" pitchFamily="34" charset="0"/>
                </a:rPr>
                <a:t>Vishwakarma  Institute  of  Technology</a:t>
              </a:r>
            </a:p>
          </p:txBody>
        </p:sp>
        <p:sp>
          <p:nvSpPr>
            <p:cNvPr id="5" name="Text Box 14">
              <a:extLst>
                <a:ext uri="{FF2B5EF4-FFF2-40B4-BE49-F238E27FC236}">
                  <a16:creationId xmlns:lc="http://schemas.openxmlformats.org/drawingml/2006/lockedCanvas" xmlns="" xmlns:a16="http://schemas.microsoft.com/office/drawing/2014/main" id="{08D90372-4075-403D-BB31-3D2C4B3C58A2}"/>
                </a:ext>
              </a:extLst>
            </p:cNvPr>
            <p:cNvSpPr txBox="1">
              <a:spLocks noChangeArrowheads="1"/>
            </p:cNvSpPr>
            <p:nvPr/>
          </p:nvSpPr>
          <p:spPr bwMode="auto">
            <a:xfrm rot="16200000">
              <a:off x="-2314809" y="3472688"/>
              <a:ext cx="5562602" cy="293627"/>
            </a:xfrm>
            <a:prstGeom prst="rect">
              <a:avLst/>
            </a:prstGeom>
            <a:solidFill>
              <a:srgbClr val="FFFF99"/>
            </a:solidFill>
            <a:ln w="9525">
              <a:solidFill>
                <a:srgbClr val="002060"/>
              </a:solidFill>
              <a:miter lim="800000"/>
              <a:headEnd/>
              <a:tailEnd/>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50000"/>
                </a:spcBef>
              </a:pPr>
              <a:r>
                <a:rPr lang="en-US" sz="1100" b="1" dirty="0">
                  <a:solidFill>
                    <a:srgbClr val="002060"/>
                  </a:solidFill>
                  <a:latin typeface="Century Gothic" pitchFamily="34" charset="0"/>
                </a:rPr>
                <a:t>FY - Department of Engineering, Sciences and Humanities</a:t>
              </a:r>
            </a:p>
          </p:txBody>
        </p:sp>
      </p:grpSp>
      <p:sp>
        <p:nvSpPr>
          <p:cNvPr id="6" name="Rectangle 5"/>
          <p:cNvSpPr/>
          <p:nvPr/>
        </p:nvSpPr>
        <p:spPr>
          <a:xfrm>
            <a:off x="762000" y="133350"/>
            <a:ext cx="3962400" cy="457200"/>
          </a:xfrm>
          <a:prstGeom prst="rect">
            <a:avLst/>
          </a:prstGeom>
          <a:solidFill>
            <a:schemeClr val="accent6">
              <a:lumMod val="40000"/>
              <a:lumOff val="60000"/>
            </a:schemeClr>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b="1" dirty="0" smtClean="0">
                <a:solidFill>
                  <a:srgbClr val="FF0000"/>
                </a:solidFill>
                <a:latin typeface="Arial" pitchFamily="34" charset="0"/>
                <a:ea typeface="Verdana" pitchFamily="34" charset="0"/>
                <a:cs typeface="Arial" pitchFamily="34" charset="0"/>
              </a:rPr>
              <a:t>Merits of DC Brush motors –  </a:t>
            </a:r>
            <a:endParaRPr lang="en-US" sz="400" b="1" dirty="0">
              <a:solidFill>
                <a:srgbClr val="FF0000"/>
              </a:solidFill>
              <a:latin typeface="Verdana" pitchFamily="34" charset="0"/>
              <a:ea typeface="Verdana" pitchFamily="34" charset="0"/>
              <a:cs typeface="Verdana" pitchFamily="34" charset="0"/>
            </a:endParaRPr>
          </a:p>
        </p:txBody>
      </p:sp>
      <p:sp>
        <p:nvSpPr>
          <p:cNvPr id="7" name="Rectangle 6"/>
          <p:cNvSpPr>
            <a:spLocks/>
          </p:cNvSpPr>
          <p:nvPr/>
        </p:nvSpPr>
        <p:spPr>
          <a:xfrm>
            <a:off x="685800" y="590550"/>
            <a:ext cx="8229600" cy="2895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50000"/>
              </a:lnSpc>
            </a:pPr>
            <a:r>
              <a:rPr lang="en-US" sz="2000" b="1" dirty="0" smtClean="0">
                <a:solidFill>
                  <a:srgbClr val="FF0000"/>
                </a:solidFill>
                <a:latin typeface="Arial" pitchFamily="34" charset="0"/>
                <a:ea typeface="Verdana" pitchFamily="34" charset="0"/>
                <a:cs typeface="Arial" pitchFamily="34" charset="0"/>
              </a:rPr>
              <a:t>1) Speed control over a wide range is possible. </a:t>
            </a:r>
          </a:p>
          <a:p>
            <a:pPr algn="just">
              <a:lnSpc>
                <a:spcPct val="150000"/>
              </a:lnSpc>
            </a:pPr>
            <a:r>
              <a:rPr lang="en-US" sz="2000" b="1" dirty="0" smtClean="0">
                <a:solidFill>
                  <a:srgbClr val="0000FF"/>
                </a:solidFill>
                <a:latin typeface="Arial" pitchFamily="34" charset="0"/>
                <a:ea typeface="Verdana" pitchFamily="34" charset="0"/>
                <a:cs typeface="Arial" pitchFamily="34" charset="0"/>
              </a:rPr>
              <a:t>2) Very high HP capacity motors are available. </a:t>
            </a:r>
          </a:p>
          <a:p>
            <a:pPr algn="just">
              <a:lnSpc>
                <a:spcPct val="150000"/>
              </a:lnSpc>
            </a:pPr>
            <a:r>
              <a:rPr lang="en-US" sz="2000" b="1" dirty="0" smtClean="0">
                <a:solidFill>
                  <a:srgbClr val="FF0000"/>
                </a:solidFill>
                <a:latin typeface="Arial" pitchFamily="34" charset="0"/>
                <a:ea typeface="Verdana" pitchFamily="34" charset="0"/>
                <a:cs typeface="Arial" pitchFamily="34" charset="0"/>
              </a:rPr>
              <a:t>3) Relatively ease of speed control.</a:t>
            </a:r>
          </a:p>
          <a:p>
            <a:pPr algn="just">
              <a:lnSpc>
                <a:spcPct val="150000"/>
              </a:lnSpc>
            </a:pPr>
            <a:r>
              <a:rPr lang="en-US" sz="2000" b="1" dirty="0" smtClean="0">
                <a:solidFill>
                  <a:srgbClr val="0000FF"/>
                </a:solidFill>
                <a:latin typeface="Arial" pitchFamily="34" charset="0"/>
                <a:ea typeface="Verdana" pitchFamily="34" charset="0"/>
                <a:cs typeface="Arial" pitchFamily="34" charset="0"/>
              </a:rPr>
              <a:t>4) Moderate technology power supply and starters are sufficient.</a:t>
            </a:r>
          </a:p>
          <a:p>
            <a:pPr algn="just">
              <a:lnSpc>
                <a:spcPct val="150000"/>
              </a:lnSpc>
            </a:pPr>
            <a:r>
              <a:rPr lang="en-US" sz="2000" b="1" dirty="0" smtClean="0">
                <a:solidFill>
                  <a:srgbClr val="FF0000"/>
                </a:solidFill>
                <a:latin typeface="Arial" pitchFamily="34" charset="0"/>
                <a:ea typeface="Verdana" pitchFamily="34" charset="0"/>
                <a:cs typeface="Arial" pitchFamily="34" charset="0"/>
              </a:rPr>
              <a:t>5) High expertise not required for maintenance.</a:t>
            </a:r>
          </a:p>
          <a:p>
            <a:pPr algn="just">
              <a:lnSpc>
                <a:spcPct val="150000"/>
              </a:lnSpc>
            </a:pPr>
            <a:r>
              <a:rPr lang="en-US" sz="2000" b="1" dirty="0" smtClean="0">
                <a:solidFill>
                  <a:srgbClr val="0000FF"/>
                </a:solidFill>
                <a:latin typeface="Arial" pitchFamily="34" charset="0"/>
                <a:ea typeface="Verdana" pitchFamily="34" charset="0"/>
                <a:cs typeface="Arial" pitchFamily="34" charset="0"/>
              </a:rPr>
              <a:t>6) Cheap and cost effective.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2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wipe(left)">
                                      <p:cBhvr>
                                        <p:cTn id="12" dur="2000"/>
                                        <p:tgtEl>
                                          <p:spTgt spid="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xEl>
                                              <p:pRg st="1" end="1"/>
                                            </p:txEl>
                                          </p:spTgt>
                                        </p:tgtEl>
                                        <p:attrNameLst>
                                          <p:attrName>style.visibility</p:attrName>
                                        </p:attrNameLst>
                                      </p:cBhvr>
                                      <p:to>
                                        <p:strVal val="visible"/>
                                      </p:to>
                                    </p:set>
                                    <p:animEffect transition="in" filter="wipe(left)">
                                      <p:cBhvr>
                                        <p:cTn id="17" dur="2000"/>
                                        <p:tgtEl>
                                          <p:spTgt spid="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
                                            <p:txEl>
                                              <p:pRg st="2" end="2"/>
                                            </p:txEl>
                                          </p:spTgt>
                                        </p:tgtEl>
                                        <p:attrNameLst>
                                          <p:attrName>style.visibility</p:attrName>
                                        </p:attrNameLst>
                                      </p:cBhvr>
                                      <p:to>
                                        <p:strVal val="visible"/>
                                      </p:to>
                                    </p:set>
                                    <p:animEffect transition="in" filter="wipe(left)">
                                      <p:cBhvr>
                                        <p:cTn id="22" dur="2000"/>
                                        <p:tgtEl>
                                          <p:spTgt spid="7">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
                                            <p:txEl>
                                              <p:pRg st="3" end="3"/>
                                            </p:txEl>
                                          </p:spTgt>
                                        </p:tgtEl>
                                        <p:attrNameLst>
                                          <p:attrName>style.visibility</p:attrName>
                                        </p:attrNameLst>
                                      </p:cBhvr>
                                      <p:to>
                                        <p:strVal val="visible"/>
                                      </p:to>
                                    </p:set>
                                    <p:animEffect transition="in" filter="wipe(left)">
                                      <p:cBhvr>
                                        <p:cTn id="27" dur="2000"/>
                                        <p:tgtEl>
                                          <p:spTgt spid="7">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
                                            <p:txEl>
                                              <p:pRg st="4" end="4"/>
                                            </p:txEl>
                                          </p:spTgt>
                                        </p:tgtEl>
                                        <p:attrNameLst>
                                          <p:attrName>style.visibility</p:attrName>
                                        </p:attrNameLst>
                                      </p:cBhvr>
                                      <p:to>
                                        <p:strVal val="visible"/>
                                      </p:to>
                                    </p:set>
                                    <p:animEffect transition="in" filter="wipe(left)">
                                      <p:cBhvr>
                                        <p:cTn id="32" dur="2000"/>
                                        <p:tgtEl>
                                          <p:spTgt spid="7">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7">
                                            <p:txEl>
                                              <p:pRg st="5" end="5"/>
                                            </p:txEl>
                                          </p:spTgt>
                                        </p:tgtEl>
                                        <p:attrNameLst>
                                          <p:attrName>style.visibility</p:attrName>
                                        </p:attrNameLst>
                                      </p:cBhvr>
                                      <p:to>
                                        <p:strVal val="visible"/>
                                      </p:to>
                                    </p:set>
                                    <p:animEffect transition="in" filter="wipe(left)">
                                      <p:cBhvr>
                                        <p:cTn id="37" dur="20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build="p" bldLvl="3"/>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76200" y="112129"/>
            <a:ext cx="533400" cy="4919239"/>
            <a:chOff x="14626" y="14712"/>
            <a:chExt cx="598680" cy="6386091"/>
          </a:xfrm>
        </p:grpSpPr>
        <p:pic>
          <p:nvPicPr>
            <p:cNvPr id="3" name="Picture 2"/>
            <p:cNvPicPr>
              <a:picLocks noChangeAspect="1" noChangeArrowheads="1"/>
            </p:cNvPicPr>
            <p:nvPr/>
          </p:nvPicPr>
          <p:blipFill>
            <a:blip r:embed="rId2" cstate="print"/>
            <a:srcRect/>
            <a:stretch>
              <a:fillRect/>
            </a:stretch>
          </p:blipFill>
          <p:spPr bwMode="auto">
            <a:xfrm>
              <a:off x="14626" y="14712"/>
              <a:ext cx="598680" cy="846471"/>
            </a:xfrm>
            <a:prstGeom prst="rect">
              <a:avLst/>
            </a:prstGeom>
            <a:noFill/>
            <a:ln w="9525">
              <a:solidFill>
                <a:srgbClr val="0000FF"/>
              </a:solidFill>
              <a:miter lim="800000"/>
              <a:headEnd/>
              <a:tailEnd/>
            </a:ln>
          </p:spPr>
        </p:pic>
        <p:sp>
          <p:nvSpPr>
            <p:cNvPr id="4" name="Text Box 14"/>
            <p:cNvSpPr txBox="1">
              <a:spLocks noChangeArrowheads="1"/>
            </p:cNvSpPr>
            <p:nvPr/>
          </p:nvSpPr>
          <p:spPr bwMode="auto">
            <a:xfrm rot="16198651">
              <a:off x="-2592929" y="3446777"/>
              <a:ext cx="5562442" cy="345444"/>
            </a:xfrm>
            <a:prstGeom prst="rect">
              <a:avLst/>
            </a:prstGeom>
            <a:solidFill>
              <a:srgbClr val="000080"/>
            </a:solidFill>
            <a:ln w="9525">
              <a:noFill/>
              <a:miter lim="800000"/>
              <a:headEnd/>
              <a:tailEnd/>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50000"/>
                </a:spcBef>
              </a:pPr>
              <a:r>
                <a:rPr lang="en-US" sz="1400" b="1" dirty="0">
                  <a:solidFill>
                    <a:schemeClr val="bg1"/>
                  </a:solidFill>
                  <a:latin typeface="Century Gothic" pitchFamily="34" charset="0"/>
                </a:rPr>
                <a:t>Vishwakarma  Institute  of  Technology</a:t>
              </a:r>
            </a:p>
          </p:txBody>
        </p:sp>
        <p:sp>
          <p:nvSpPr>
            <p:cNvPr id="5" name="Text Box 14">
              <a:extLst>
                <a:ext uri="{FF2B5EF4-FFF2-40B4-BE49-F238E27FC236}">
                  <a16:creationId xmlns:lc="http://schemas.openxmlformats.org/drawingml/2006/lockedCanvas" xmlns="" xmlns:a16="http://schemas.microsoft.com/office/drawing/2014/main" id="{08D90372-4075-403D-BB31-3D2C4B3C58A2}"/>
                </a:ext>
              </a:extLst>
            </p:cNvPr>
            <p:cNvSpPr txBox="1">
              <a:spLocks noChangeArrowheads="1"/>
            </p:cNvSpPr>
            <p:nvPr/>
          </p:nvSpPr>
          <p:spPr bwMode="auto">
            <a:xfrm rot="16200000">
              <a:off x="-2314809" y="3472688"/>
              <a:ext cx="5562602" cy="293627"/>
            </a:xfrm>
            <a:prstGeom prst="rect">
              <a:avLst/>
            </a:prstGeom>
            <a:solidFill>
              <a:srgbClr val="FFFF99"/>
            </a:solidFill>
            <a:ln w="9525">
              <a:solidFill>
                <a:srgbClr val="002060"/>
              </a:solidFill>
              <a:miter lim="800000"/>
              <a:headEnd/>
              <a:tailEnd/>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50000"/>
                </a:spcBef>
              </a:pPr>
              <a:r>
                <a:rPr lang="en-US" sz="1100" b="1" dirty="0">
                  <a:solidFill>
                    <a:srgbClr val="002060"/>
                  </a:solidFill>
                  <a:latin typeface="Century Gothic" pitchFamily="34" charset="0"/>
                </a:rPr>
                <a:t>FY - Department of Engineering, Sciences and Humanities</a:t>
              </a:r>
            </a:p>
          </p:txBody>
        </p:sp>
      </p:grpSp>
      <p:sp>
        <p:nvSpPr>
          <p:cNvPr id="6" name="Rectangle 5"/>
          <p:cNvSpPr/>
          <p:nvPr/>
        </p:nvSpPr>
        <p:spPr>
          <a:xfrm>
            <a:off x="762000" y="133350"/>
            <a:ext cx="4267200" cy="457200"/>
          </a:xfrm>
          <a:prstGeom prst="rect">
            <a:avLst/>
          </a:prstGeom>
          <a:solidFill>
            <a:schemeClr val="accent6">
              <a:lumMod val="40000"/>
              <a:lumOff val="60000"/>
            </a:schemeClr>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b="1" dirty="0" smtClean="0">
                <a:solidFill>
                  <a:srgbClr val="FF0000"/>
                </a:solidFill>
                <a:latin typeface="Arial" pitchFamily="34" charset="0"/>
                <a:ea typeface="Verdana" pitchFamily="34" charset="0"/>
                <a:cs typeface="Arial" pitchFamily="34" charset="0"/>
              </a:rPr>
              <a:t>Demerits of DC Brush motors –  </a:t>
            </a:r>
            <a:endParaRPr lang="en-US" sz="400" b="1" dirty="0">
              <a:solidFill>
                <a:srgbClr val="FF0000"/>
              </a:solidFill>
              <a:latin typeface="Verdana" pitchFamily="34" charset="0"/>
              <a:ea typeface="Verdana" pitchFamily="34" charset="0"/>
              <a:cs typeface="Verdana" pitchFamily="34" charset="0"/>
            </a:endParaRPr>
          </a:p>
        </p:txBody>
      </p:sp>
      <p:sp>
        <p:nvSpPr>
          <p:cNvPr id="7" name="Rectangle 6"/>
          <p:cNvSpPr>
            <a:spLocks/>
          </p:cNvSpPr>
          <p:nvPr/>
        </p:nvSpPr>
        <p:spPr>
          <a:xfrm>
            <a:off x="609600" y="666750"/>
            <a:ext cx="8458200" cy="403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763" indent="6350" algn="just">
              <a:lnSpc>
                <a:spcPts val="2800"/>
              </a:lnSpc>
              <a:buAutoNum type="arabicParenR"/>
            </a:pPr>
            <a:r>
              <a:rPr lang="en-US" b="1" dirty="0" smtClean="0">
                <a:solidFill>
                  <a:srgbClr val="0000FF"/>
                </a:solidFill>
                <a:latin typeface="Arial" pitchFamily="34" charset="0"/>
                <a:ea typeface="Verdana" pitchFamily="34" charset="0"/>
                <a:cs typeface="Arial" pitchFamily="34" charset="0"/>
              </a:rPr>
              <a:t> At the Commutator, the brushes are continuously having friction. 	This causes wear and tear of the brushes as well as the 	commutator segments.</a:t>
            </a:r>
          </a:p>
          <a:p>
            <a:pPr algn="just">
              <a:lnSpc>
                <a:spcPct val="150000"/>
              </a:lnSpc>
            </a:pPr>
            <a:r>
              <a:rPr lang="en-US" b="1" dirty="0" smtClean="0">
                <a:solidFill>
                  <a:srgbClr val="FF0000"/>
                </a:solidFill>
                <a:latin typeface="Arial" pitchFamily="34" charset="0"/>
                <a:ea typeface="Verdana" pitchFamily="34" charset="0"/>
                <a:cs typeface="Arial" pitchFamily="34" charset="0"/>
              </a:rPr>
              <a:t>2) Maintenance cost increases.</a:t>
            </a:r>
          </a:p>
          <a:p>
            <a:pPr algn="just">
              <a:lnSpc>
                <a:spcPct val="150000"/>
              </a:lnSpc>
            </a:pPr>
            <a:r>
              <a:rPr lang="en-US" b="1" dirty="0" smtClean="0">
                <a:solidFill>
                  <a:srgbClr val="0000FF"/>
                </a:solidFill>
                <a:latin typeface="Arial" pitchFamily="34" charset="0"/>
                <a:ea typeface="Verdana" pitchFamily="34" charset="0"/>
                <a:cs typeface="Arial" pitchFamily="34" charset="0"/>
              </a:rPr>
              <a:t>3) Heat produces carbon particles at the brush contacts.</a:t>
            </a:r>
          </a:p>
          <a:p>
            <a:pPr algn="just">
              <a:lnSpc>
                <a:spcPct val="150000"/>
              </a:lnSpc>
            </a:pPr>
            <a:r>
              <a:rPr lang="en-US" b="1" dirty="0" smtClean="0">
                <a:solidFill>
                  <a:srgbClr val="FF0000"/>
                </a:solidFill>
                <a:latin typeface="Arial" pitchFamily="34" charset="0"/>
                <a:ea typeface="Verdana" pitchFamily="34" charset="0"/>
                <a:cs typeface="Arial" pitchFamily="34" charset="0"/>
              </a:rPr>
              <a:t>4) Frequent replacement of brushes is required.</a:t>
            </a:r>
          </a:p>
          <a:p>
            <a:pPr algn="just">
              <a:lnSpc>
                <a:spcPct val="150000"/>
              </a:lnSpc>
            </a:pPr>
            <a:r>
              <a:rPr lang="en-US" b="1" dirty="0" smtClean="0">
                <a:solidFill>
                  <a:srgbClr val="0000FF"/>
                </a:solidFill>
                <a:latin typeface="Arial" pitchFamily="34" charset="0"/>
                <a:ea typeface="Verdana" pitchFamily="34" charset="0"/>
                <a:cs typeface="Arial" pitchFamily="34" charset="0"/>
              </a:rPr>
              <a:t>5) Voltage drop takes place at the brush contacts.</a:t>
            </a:r>
          </a:p>
          <a:p>
            <a:pPr algn="just">
              <a:lnSpc>
                <a:spcPct val="150000"/>
              </a:lnSpc>
            </a:pPr>
            <a:r>
              <a:rPr lang="en-US" b="1" dirty="0" smtClean="0">
                <a:solidFill>
                  <a:srgbClr val="FF0000"/>
                </a:solidFill>
                <a:latin typeface="Arial" pitchFamily="34" charset="0"/>
                <a:ea typeface="Verdana" pitchFamily="34" charset="0"/>
                <a:cs typeface="Arial" pitchFamily="34" charset="0"/>
              </a:rPr>
              <a:t>6) To prevent high inrush of current at </a:t>
            </a:r>
            <a:r>
              <a:rPr lang="en-US" b="1" dirty="0" smtClean="0">
                <a:solidFill>
                  <a:srgbClr val="FF0000"/>
                </a:solidFill>
                <a:latin typeface="Arial" pitchFamily="34" charset="0"/>
                <a:ea typeface="Verdana" pitchFamily="34" charset="0"/>
                <a:cs typeface="Arial" pitchFamily="34" charset="0"/>
              </a:rPr>
              <a:t>start</a:t>
            </a:r>
            <a:r>
              <a:rPr lang="en-US" b="1" dirty="0">
                <a:solidFill>
                  <a:srgbClr val="FF0000"/>
                </a:solidFill>
                <a:latin typeface="Arial" pitchFamily="34" charset="0"/>
                <a:ea typeface="Verdana" pitchFamily="34" charset="0"/>
                <a:cs typeface="Arial" pitchFamily="34" charset="0"/>
              </a:rPr>
              <a:t>.</a:t>
            </a:r>
            <a:endParaRPr lang="en-US" b="1" dirty="0" smtClean="0">
              <a:solidFill>
                <a:srgbClr val="FF0000"/>
              </a:solidFill>
              <a:latin typeface="Arial" pitchFamily="34" charset="0"/>
              <a:ea typeface="Verdana" pitchFamily="34" charset="0"/>
              <a:cs typeface="Arial" pitchFamily="34" charset="0"/>
            </a:endParaRPr>
          </a:p>
          <a:p>
            <a:pPr algn="just">
              <a:lnSpc>
                <a:spcPct val="150000"/>
              </a:lnSpc>
            </a:pPr>
            <a:r>
              <a:rPr lang="en-US" b="1" dirty="0" smtClean="0">
                <a:solidFill>
                  <a:srgbClr val="0000FF"/>
                </a:solidFill>
                <a:latin typeface="Arial" pitchFamily="34" charset="0"/>
                <a:ea typeface="Verdana" pitchFamily="34" charset="0"/>
                <a:cs typeface="Arial" pitchFamily="34" charset="0"/>
              </a:rPr>
              <a:t>7) A separate DC power supply is required.</a:t>
            </a:r>
          </a:p>
          <a:p>
            <a:pPr algn="just">
              <a:lnSpc>
                <a:spcPct val="150000"/>
              </a:lnSpc>
            </a:pPr>
            <a:r>
              <a:rPr lang="en-US" b="1" dirty="0" smtClean="0">
                <a:solidFill>
                  <a:srgbClr val="FF0000"/>
                </a:solidFill>
                <a:latin typeface="Arial" pitchFamily="34" charset="0"/>
                <a:ea typeface="Verdana" pitchFamily="34" charset="0"/>
                <a:cs typeface="Arial" pitchFamily="34" charset="0"/>
              </a:rPr>
              <a:t>8) Noisy operation.</a:t>
            </a:r>
            <a:endParaRPr lang="en-US" sz="300" b="1" dirty="0">
              <a:solidFill>
                <a:srgbClr val="FF0000"/>
              </a:solidFill>
              <a:latin typeface="Verdana" pitchFamily="34" charset="0"/>
              <a:ea typeface="Verdana" pitchFamily="34" charset="0"/>
              <a:cs typeface="Verdana"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2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wipe(left)">
                                      <p:cBhvr>
                                        <p:cTn id="12" dur="2000"/>
                                        <p:tgtEl>
                                          <p:spTgt spid="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xEl>
                                              <p:pRg st="1" end="1"/>
                                            </p:txEl>
                                          </p:spTgt>
                                        </p:tgtEl>
                                        <p:attrNameLst>
                                          <p:attrName>style.visibility</p:attrName>
                                        </p:attrNameLst>
                                      </p:cBhvr>
                                      <p:to>
                                        <p:strVal val="visible"/>
                                      </p:to>
                                    </p:set>
                                    <p:animEffect transition="in" filter="wipe(left)">
                                      <p:cBhvr>
                                        <p:cTn id="17" dur="2000"/>
                                        <p:tgtEl>
                                          <p:spTgt spid="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
                                            <p:txEl>
                                              <p:pRg st="2" end="2"/>
                                            </p:txEl>
                                          </p:spTgt>
                                        </p:tgtEl>
                                        <p:attrNameLst>
                                          <p:attrName>style.visibility</p:attrName>
                                        </p:attrNameLst>
                                      </p:cBhvr>
                                      <p:to>
                                        <p:strVal val="visible"/>
                                      </p:to>
                                    </p:set>
                                    <p:animEffect transition="in" filter="wipe(left)">
                                      <p:cBhvr>
                                        <p:cTn id="22" dur="2000"/>
                                        <p:tgtEl>
                                          <p:spTgt spid="7">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
                                            <p:txEl>
                                              <p:pRg st="3" end="3"/>
                                            </p:txEl>
                                          </p:spTgt>
                                        </p:tgtEl>
                                        <p:attrNameLst>
                                          <p:attrName>style.visibility</p:attrName>
                                        </p:attrNameLst>
                                      </p:cBhvr>
                                      <p:to>
                                        <p:strVal val="visible"/>
                                      </p:to>
                                    </p:set>
                                    <p:animEffect transition="in" filter="wipe(left)">
                                      <p:cBhvr>
                                        <p:cTn id="27" dur="2000"/>
                                        <p:tgtEl>
                                          <p:spTgt spid="7">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
                                            <p:txEl>
                                              <p:pRg st="4" end="4"/>
                                            </p:txEl>
                                          </p:spTgt>
                                        </p:tgtEl>
                                        <p:attrNameLst>
                                          <p:attrName>style.visibility</p:attrName>
                                        </p:attrNameLst>
                                      </p:cBhvr>
                                      <p:to>
                                        <p:strVal val="visible"/>
                                      </p:to>
                                    </p:set>
                                    <p:animEffect transition="in" filter="wipe(left)">
                                      <p:cBhvr>
                                        <p:cTn id="32" dur="2000"/>
                                        <p:tgtEl>
                                          <p:spTgt spid="7">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7">
                                            <p:txEl>
                                              <p:pRg st="5" end="5"/>
                                            </p:txEl>
                                          </p:spTgt>
                                        </p:tgtEl>
                                        <p:attrNameLst>
                                          <p:attrName>style.visibility</p:attrName>
                                        </p:attrNameLst>
                                      </p:cBhvr>
                                      <p:to>
                                        <p:strVal val="visible"/>
                                      </p:to>
                                    </p:set>
                                    <p:animEffect transition="in" filter="wipe(left)">
                                      <p:cBhvr>
                                        <p:cTn id="37" dur="2000"/>
                                        <p:tgtEl>
                                          <p:spTgt spid="7">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7">
                                            <p:txEl>
                                              <p:pRg st="6" end="6"/>
                                            </p:txEl>
                                          </p:spTgt>
                                        </p:tgtEl>
                                        <p:attrNameLst>
                                          <p:attrName>style.visibility</p:attrName>
                                        </p:attrNameLst>
                                      </p:cBhvr>
                                      <p:to>
                                        <p:strVal val="visible"/>
                                      </p:to>
                                    </p:set>
                                    <p:animEffect transition="in" filter="wipe(left)">
                                      <p:cBhvr>
                                        <p:cTn id="42" dur="2000"/>
                                        <p:tgtEl>
                                          <p:spTgt spid="7">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7">
                                            <p:txEl>
                                              <p:pRg st="7" end="7"/>
                                            </p:txEl>
                                          </p:spTgt>
                                        </p:tgtEl>
                                        <p:attrNameLst>
                                          <p:attrName>style.visibility</p:attrName>
                                        </p:attrNameLst>
                                      </p:cBhvr>
                                      <p:to>
                                        <p:strVal val="visible"/>
                                      </p:to>
                                    </p:set>
                                    <p:animEffect transition="in" filter="wipe(left)">
                                      <p:cBhvr>
                                        <p:cTn id="47" dur="2000"/>
                                        <p:tgtEl>
                                          <p:spTgt spid="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build="p" bldLvl="3"/>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76200" y="112129"/>
            <a:ext cx="533400" cy="4919239"/>
            <a:chOff x="14626" y="14712"/>
            <a:chExt cx="598680" cy="6386091"/>
          </a:xfrm>
        </p:grpSpPr>
        <p:pic>
          <p:nvPicPr>
            <p:cNvPr id="3" name="Picture 2"/>
            <p:cNvPicPr>
              <a:picLocks noChangeAspect="1" noChangeArrowheads="1"/>
            </p:cNvPicPr>
            <p:nvPr/>
          </p:nvPicPr>
          <p:blipFill>
            <a:blip r:embed="rId2" cstate="print"/>
            <a:srcRect/>
            <a:stretch>
              <a:fillRect/>
            </a:stretch>
          </p:blipFill>
          <p:spPr bwMode="auto">
            <a:xfrm>
              <a:off x="14626" y="14712"/>
              <a:ext cx="598680" cy="846471"/>
            </a:xfrm>
            <a:prstGeom prst="rect">
              <a:avLst/>
            </a:prstGeom>
            <a:noFill/>
            <a:ln w="9525">
              <a:solidFill>
                <a:srgbClr val="0000FF"/>
              </a:solidFill>
              <a:miter lim="800000"/>
              <a:headEnd/>
              <a:tailEnd/>
            </a:ln>
          </p:spPr>
        </p:pic>
        <p:sp>
          <p:nvSpPr>
            <p:cNvPr id="4" name="Text Box 14"/>
            <p:cNvSpPr txBox="1">
              <a:spLocks noChangeArrowheads="1"/>
            </p:cNvSpPr>
            <p:nvPr/>
          </p:nvSpPr>
          <p:spPr bwMode="auto">
            <a:xfrm rot="16198651">
              <a:off x="-2592929" y="3446777"/>
              <a:ext cx="5562442" cy="345444"/>
            </a:xfrm>
            <a:prstGeom prst="rect">
              <a:avLst/>
            </a:prstGeom>
            <a:solidFill>
              <a:srgbClr val="000080"/>
            </a:solidFill>
            <a:ln w="9525">
              <a:noFill/>
              <a:miter lim="800000"/>
              <a:headEnd/>
              <a:tailEnd/>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50000"/>
                </a:spcBef>
              </a:pPr>
              <a:r>
                <a:rPr lang="en-US" sz="1400" b="1" dirty="0">
                  <a:solidFill>
                    <a:schemeClr val="bg1"/>
                  </a:solidFill>
                  <a:latin typeface="Century Gothic" pitchFamily="34" charset="0"/>
                </a:rPr>
                <a:t>Vishwakarma  Institute  of  Technology</a:t>
              </a:r>
            </a:p>
          </p:txBody>
        </p:sp>
        <p:sp>
          <p:nvSpPr>
            <p:cNvPr id="5" name="Text Box 14">
              <a:extLst>
                <a:ext uri="{FF2B5EF4-FFF2-40B4-BE49-F238E27FC236}">
                  <a16:creationId xmlns:lc="http://schemas.openxmlformats.org/drawingml/2006/lockedCanvas" xmlns="" xmlns:a16="http://schemas.microsoft.com/office/drawing/2014/main" id="{08D90372-4075-403D-BB31-3D2C4B3C58A2}"/>
                </a:ext>
              </a:extLst>
            </p:cNvPr>
            <p:cNvSpPr txBox="1">
              <a:spLocks noChangeArrowheads="1"/>
            </p:cNvSpPr>
            <p:nvPr/>
          </p:nvSpPr>
          <p:spPr bwMode="auto">
            <a:xfrm rot="16200000">
              <a:off x="-2314809" y="3472688"/>
              <a:ext cx="5562602" cy="293627"/>
            </a:xfrm>
            <a:prstGeom prst="rect">
              <a:avLst/>
            </a:prstGeom>
            <a:solidFill>
              <a:srgbClr val="FFFF99"/>
            </a:solidFill>
            <a:ln w="9525">
              <a:solidFill>
                <a:srgbClr val="002060"/>
              </a:solidFill>
              <a:miter lim="800000"/>
              <a:headEnd/>
              <a:tailEnd/>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50000"/>
                </a:spcBef>
              </a:pPr>
              <a:r>
                <a:rPr lang="en-US" sz="1100" b="1" dirty="0">
                  <a:solidFill>
                    <a:srgbClr val="002060"/>
                  </a:solidFill>
                  <a:latin typeface="Century Gothic" pitchFamily="34" charset="0"/>
                </a:rPr>
                <a:t>FY - Department of Engineering, Sciences and Humanities</a:t>
              </a:r>
            </a:p>
          </p:txBody>
        </p:sp>
      </p:grpSp>
      <p:sp>
        <p:nvSpPr>
          <p:cNvPr id="6" name="Rectangle 5"/>
          <p:cNvSpPr>
            <a:spLocks/>
          </p:cNvSpPr>
          <p:nvPr/>
        </p:nvSpPr>
        <p:spPr>
          <a:xfrm>
            <a:off x="685800" y="590550"/>
            <a:ext cx="8305800" cy="419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90513" indent="-290513" algn="just">
              <a:lnSpc>
                <a:spcPts val="2800"/>
              </a:lnSpc>
              <a:buFont typeface="+mj-lt"/>
              <a:buAutoNum type="arabicParenR"/>
            </a:pPr>
            <a:r>
              <a:rPr lang="en-US" b="1" dirty="0" smtClean="0">
                <a:solidFill>
                  <a:srgbClr val="0000FF"/>
                </a:solidFill>
                <a:latin typeface="Arial" pitchFamily="34" charset="0"/>
                <a:ea typeface="Verdana" pitchFamily="34" charset="0"/>
                <a:cs typeface="Arial" pitchFamily="34" charset="0"/>
              </a:rPr>
              <a:t>To overcome the problems arising of brush contact issues, </a:t>
            </a:r>
            <a:r>
              <a:rPr lang="en-US" b="1" dirty="0" err="1" smtClean="0">
                <a:solidFill>
                  <a:srgbClr val="0000FF"/>
                </a:solidFill>
                <a:latin typeface="Arial" pitchFamily="34" charset="0"/>
                <a:ea typeface="Verdana" pitchFamily="34" charset="0"/>
                <a:cs typeface="Arial" pitchFamily="34" charset="0"/>
              </a:rPr>
              <a:t>BLDC</a:t>
            </a:r>
            <a:r>
              <a:rPr lang="en-US" b="1" dirty="0" smtClean="0">
                <a:solidFill>
                  <a:srgbClr val="0000FF"/>
                </a:solidFill>
                <a:latin typeface="Arial" pitchFamily="34" charset="0"/>
                <a:ea typeface="Verdana" pitchFamily="34" charset="0"/>
                <a:cs typeface="Arial" pitchFamily="34" charset="0"/>
              </a:rPr>
              <a:t> motors are developed. </a:t>
            </a:r>
            <a:endParaRPr lang="en-US" sz="300" b="1" dirty="0">
              <a:solidFill>
                <a:srgbClr val="0000FF"/>
              </a:solidFill>
              <a:latin typeface="Verdana" pitchFamily="34" charset="0"/>
              <a:ea typeface="Verdana" pitchFamily="34" charset="0"/>
              <a:cs typeface="Verdana" pitchFamily="34" charset="0"/>
            </a:endParaRPr>
          </a:p>
          <a:p>
            <a:pPr marL="290513" indent="-290513" algn="just">
              <a:lnSpc>
                <a:spcPts val="2800"/>
              </a:lnSpc>
              <a:buFont typeface="+mj-lt"/>
              <a:buAutoNum type="arabicParenR"/>
            </a:pPr>
            <a:r>
              <a:rPr lang="en-US" b="1" dirty="0" smtClean="0">
                <a:solidFill>
                  <a:srgbClr val="FF0000"/>
                </a:solidFill>
                <a:latin typeface="Arial" pitchFamily="34" charset="0"/>
                <a:ea typeface="Verdana" pitchFamily="34" charset="0"/>
                <a:cs typeface="Arial" pitchFamily="34" charset="0"/>
              </a:rPr>
              <a:t>No Left Hand Rule….! Rather, working is based on just a simple 	Attraction – Repulsion principle between N and S poles. </a:t>
            </a:r>
          </a:p>
          <a:p>
            <a:pPr marL="290513" indent="-290513" algn="just">
              <a:lnSpc>
                <a:spcPts val="2800"/>
              </a:lnSpc>
              <a:buFont typeface="+mj-lt"/>
              <a:buAutoNum type="arabicParenR"/>
            </a:pPr>
            <a:r>
              <a:rPr lang="en-US" b="1" dirty="0" smtClean="0">
                <a:solidFill>
                  <a:srgbClr val="0000FF"/>
                </a:solidFill>
                <a:latin typeface="Arial" pitchFamily="34" charset="0"/>
                <a:ea typeface="Verdana" pitchFamily="34" charset="0"/>
                <a:cs typeface="Arial" pitchFamily="34" charset="0"/>
              </a:rPr>
              <a:t>BLDC motors with or without (Hall effect) sensors are available.</a:t>
            </a:r>
          </a:p>
          <a:p>
            <a:pPr marL="290513" indent="-290513" algn="just">
              <a:lnSpc>
                <a:spcPts val="2800"/>
              </a:lnSpc>
              <a:buFont typeface="+mj-lt"/>
              <a:buAutoNum type="arabicParenR"/>
            </a:pPr>
            <a:r>
              <a:rPr lang="en-US" b="1" dirty="0" smtClean="0">
                <a:solidFill>
                  <a:srgbClr val="FF0000"/>
                </a:solidFill>
                <a:latin typeface="Arial" pitchFamily="34" charset="0"/>
                <a:ea typeface="Verdana" pitchFamily="34" charset="0"/>
                <a:cs typeface="Arial" pitchFamily="34" charset="0"/>
              </a:rPr>
              <a:t>A </a:t>
            </a:r>
            <a:r>
              <a:rPr lang="en-US" b="1" dirty="0" err="1" smtClean="0">
                <a:solidFill>
                  <a:srgbClr val="FF0000"/>
                </a:solidFill>
                <a:latin typeface="Arial" pitchFamily="34" charset="0"/>
                <a:ea typeface="Verdana" pitchFamily="34" charset="0"/>
                <a:cs typeface="Arial" pitchFamily="34" charset="0"/>
              </a:rPr>
              <a:t>specialised</a:t>
            </a:r>
            <a:r>
              <a:rPr lang="en-US" b="1" dirty="0" smtClean="0">
                <a:solidFill>
                  <a:srgbClr val="FF0000"/>
                </a:solidFill>
                <a:latin typeface="Arial" pitchFamily="34" charset="0"/>
                <a:ea typeface="Verdana" pitchFamily="34" charset="0"/>
                <a:cs typeface="Arial" pitchFamily="34" charset="0"/>
              </a:rPr>
              <a:t> motor driver circuit is required.</a:t>
            </a:r>
          </a:p>
          <a:p>
            <a:pPr marL="290513" indent="-290513" algn="just">
              <a:lnSpc>
                <a:spcPts val="2800"/>
              </a:lnSpc>
              <a:buFont typeface="+mj-lt"/>
              <a:buAutoNum type="arabicParenR"/>
            </a:pPr>
            <a:r>
              <a:rPr lang="en-US" b="1" dirty="0" smtClean="0">
                <a:solidFill>
                  <a:srgbClr val="0000FF"/>
                </a:solidFill>
                <a:latin typeface="Arial" pitchFamily="34" charset="0"/>
                <a:ea typeface="Verdana" pitchFamily="34" charset="0"/>
                <a:cs typeface="Arial" pitchFamily="34" charset="0"/>
              </a:rPr>
              <a:t>Quiet operation.</a:t>
            </a:r>
          </a:p>
          <a:p>
            <a:pPr marL="290513" indent="-290513" algn="just">
              <a:lnSpc>
                <a:spcPts val="2800"/>
              </a:lnSpc>
              <a:buFont typeface="+mj-lt"/>
              <a:buAutoNum type="arabicParenR"/>
            </a:pPr>
            <a:r>
              <a:rPr lang="en-US" b="1" dirty="0" smtClean="0">
                <a:solidFill>
                  <a:srgbClr val="FF0000"/>
                </a:solidFill>
                <a:latin typeface="Arial" pitchFamily="34" charset="0"/>
                <a:ea typeface="Verdana" pitchFamily="34" charset="0"/>
                <a:cs typeface="Arial" pitchFamily="34" charset="0"/>
              </a:rPr>
              <a:t>Moderate and small capacity motors.</a:t>
            </a:r>
          </a:p>
          <a:p>
            <a:pPr marL="290513" indent="-290513" algn="just">
              <a:lnSpc>
                <a:spcPts val="2800"/>
              </a:lnSpc>
              <a:buFont typeface="+mj-lt"/>
              <a:buAutoNum type="arabicParenR"/>
            </a:pPr>
            <a:r>
              <a:rPr lang="en-US" b="1" dirty="0" smtClean="0">
                <a:solidFill>
                  <a:srgbClr val="0000FF"/>
                </a:solidFill>
                <a:latin typeface="Arial" pitchFamily="34" charset="0"/>
                <a:ea typeface="Verdana" pitchFamily="34" charset="0"/>
                <a:cs typeface="Arial" pitchFamily="34" charset="0"/>
              </a:rPr>
              <a:t>High power to weight ratio.</a:t>
            </a:r>
          </a:p>
          <a:p>
            <a:pPr marL="290513" indent="-290513" algn="just">
              <a:lnSpc>
                <a:spcPts val="2800"/>
              </a:lnSpc>
              <a:buFont typeface="+mj-lt"/>
              <a:buAutoNum type="arabicParenR"/>
            </a:pPr>
            <a:r>
              <a:rPr lang="en-US" b="1" dirty="0" smtClean="0">
                <a:solidFill>
                  <a:srgbClr val="FF0000"/>
                </a:solidFill>
                <a:latin typeface="Arial" pitchFamily="34" charset="0"/>
                <a:ea typeface="Verdana" pitchFamily="34" charset="0"/>
                <a:cs typeface="Arial" pitchFamily="34" charset="0"/>
              </a:rPr>
              <a:t>Good electronic and software control.</a:t>
            </a:r>
          </a:p>
          <a:p>
            <a:pPr marL="290513" indent="-290513" algn="just">
              <a:lnSpc>
                <a:spcPts val="2800"/>
              </a:lnSpc>
              <a:buFont typeface="+mj-lt"/>
              <a:buAutoNum type="arabicParenR"/>
            </a:pPr>
            <a:r>
              <a:rPr lang="en-US" b="1" dirty="0" smtClean="0">
                <a:solidFill>
                  <a:srgbClr val="0000FF"/>
                </a:solidFill>
                <a:latin typeface="Arial" pitchFamily="34" charset="0"/>
                <a:ea typeface="Verdana" pitchFamily="34" charset="0"/>
                <a:cs typeface="Arial" pitchFamily="34" charset="0"/>
              </a:rPr>
              <a:t>Low maintenance.</a:t>
            </a:r>
          </a:p>
        </p:txBody>
      </p:sp>
      <p:sp>
        <p:nvSpPr>
          <p:cNvPr id="7" name="Rectangle 6"/>
          <p:cNvSpPr/>
          <p:nvPr/>
        </p:nvSpPr>
        <p:spPr>
          <a:xfrm>
            <a:off x="762000" y="133350"/>
            <a:ext cx="3962400" cy="457200"/>
          </a:xfrm>
          <a:prstGeom prst="rect">
            <a:avLst/>
          </a:prstGeom>
          <a:solidFill>
            <a:schemeClr val="accent6">
              <a:lumMod val="40000"/>
              <a:lumOff val="60000"/>
            </a:schemeClr>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b="1" dirty="0" smtClean="0">
                <a:solidFill>
                  <a:srgbClr val="FF0000"/>
                </a:solidFill>
                <a:latin typeface="Arial" pitchFamily="34" charset="0"/>
                <a:ea typeface="Verdana" pitchFamily="34" charset="0"/>
                <a:cs typeface="Arial" pitchFamily="34" charset="0"/>
              </a:rPr>
              <a:t>Features of </a:t>
            </a:r>
            <a:r>
              <a:rPr lang="en-US" sz="2000" b="1" dirty="0" err="1" smtClean="0">
                <a:solidFill>
                  <a:srgbClr val="FF0000"/>
                </a:solidFill>
                <a:latin typeface="Arial" pitchFamily="34" charset="0"/>
                <a:ea typeface="Verdana" pitchFamily="34" charset="0"/>
                <a:cs typeface="Arial" pitchFamily="34" charset="0"/>
              </a:rPr>
              <a:t>BLDC</a:t>
            </a:r>
            <a:r>
              <a:rPr lang="en-US" sz="2000" b="1" dirty="0" smtClean="0">
                <a:solidFill>
                  <a:srgbClr val="FF0000"/>
                </a:solidFill>
                <a:latin typeface="Arial" pitchFamily="34" charset="0"/>
                <a:ea typeface="Verdana" pitchFamily="34" charset="0"/>
                <a:cs typeface="Arial" pitchFamily="34" charset="0"/>
              </a:rPr>
              <a:t> motors –  </a:t>
            </a:r>
            <a:endParaRPr lang="en-US" sz="400" b="1" dirty="0">
              <a:solidFill>
                <a:srgbClr val="FF0000"/>
              </a:solidFill>
              <a:latin typeface="Verdana" pitchFamily="34" charset="0"/>
              <a:ea typeface="Verdana" pitchFamily="34" charset="0"/>
              <a:cs typeface="Verdana"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1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wipe(left)">
                                      <p:cBhvr>
                                        <p:cTn id="12" dur="10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wipe(left)">
                                      <p:cBhvr>
                                        <p:cTn id="17" dur="1000"/>
                                        <p:tgtEl>
                                          <p:spTgt spid="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xEl>
                                              <p:pRg st="2" end="2"/>
                                            </p:txEl>
                                          </p:spTgt>
                                        </p:tgtEl>
                                        <p:attrNameLst>
                                          <p:attrName>style.visibility</p:attrName>
                                        </p:attrNameLst>
                                      </p:cBhvr>
                                      <p:to>
                                        <p:strVal val="visible"/>
                                      </p:to>
                                    </p:set>
                                    <p:animEffect transition="in" filter="wipe(left)">
                                      <p:cBhvr>
                                        <p:cTn id="22" dur="1000"/>
                                        <p:tgtEl>
                                          <p:spTgt spid="6">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
                                            <p:txEl>
                                              <p:pRg st="3" end="3"/>
                                            </p:txEl>
                                          </p:spTgt>
                                        </p:tgtEl>
                                        <p:attrNameLst>
                                          <p:attrName>style.visibility</p:attrName>
                                        </p:attrNameLst>
                                      </p:cBhvr>
                                      <p:to>
                                        <p:strVal val="visible"/>
                                      </p:to>
                                    </p:set>
                                    <p:animEffect transition="in" filter="wipe(left)">
                                      <p:cBhvr>
                                        <p:cTn id="27" dur="1000"/>
                                        <p:tgtEl>
                                          <p:spTgt spid="6">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
                                            <p:txEl>
                                              <p:pRg st="4" end="4"/>
                                            </p:txEl>
                                          </p:spTgt>
                                        </p:tgtEl>
                                        <p:attrNameLst>
                                          <p:attrName>style.visibility</p:attrName>
                                        </p:attrNameLst>
                                      </p:cBhvr>
                                      <p:to>
                                        <p:strVal val="visible"/>
                                      </p:to>
                                    </p:set>
                                    <p:animEffect transition="in" filter="wipe(left)">
                                      <p:cBhvr>
                                        <p:cTn id="32" dur="1000"/>
                                        <p:tgtEl>
                                          <p:spTgt spid="6">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6">
                                            <p:txEl>
                                              <p:pRg st="5" end="5"/>
                                            </p:txEl>
                                          </p:spTgt>
                                        </p:tgtEl>
                                        <p:attrNameLst>
                                          <p:attrName>style.visibility</p:attrName>
                                        </p:attrNameLst>
                                      </p:cBhvr>
                                      <p:to>
                                        <p:strVal val="visible"/>
                                      </p:to>
                                    </p:set>
                                    <p:animEffect transition="in" filter="wipe(left)">
                                      <p:cBhvr>
                                        <p:cTn id="37" dur="1000"/>
                                        <p:tgtEl>
                                          <p:spTgt spid="6">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6">
                                            <p:txEl>
                                              <p:pRg st="6" end="6"/>
                                            </p:txEl>
                                          </p:spTgt>
                                        </p:tgtEl>
                                        <p:attrNameLst>
                                          <p:attrName>style.visibility</p:attrName>
                                        </p:attrNameLst>
                                      </p:cBhvr>
                                      <p:to>
                                        <p:strVal val="visible"/>
                                      </p:to>
                                    </p:set>
                                    <p:animEffect transition="in" filter="wipe(left)">
                                      <p:cBhvr>
                                        <p:cTn id="42" dur="1000"/>
                                        <p:tgtEl>
                                          <p:spTgt spid="6">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6">
                                            <p:txEl>
                                              <p:pRg st="7" end="7"/>
                                            </p:txEl>
                                          </p:spTgt>
                                        </p:tgtEl>
                                        <p:attrNameLst>
                                          <p:attrName>style.visibility</p:attrName>
                                        </p:attrNameLst>
                                      </p:cBhvr>
                                      <p:to>
                                        <p:strVal val="visible"/>
                                      </p:to>
                                    </p:set>
                                    <p:animEffect transition="in" filter="wipe(left)">
                                      <p:cBhvr>
                                        <p:cTn id="47" dur="1000"/>
                                        <p:tgtEl>
                                          <p:spTgt spid="6">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6">
                                            <p:txEl>
                                              <p:pRg st="8" end="8"/>
                                            </p:txEl>
                                          </p:spTgt>
                                        </p:tgtEl>
                                        <p:attrNameLst>
                                          <p:attrName>style.visibility</p:attrName>
                                        </p:attrNameLst>
                                      </p:cBhvr>
                                      <p:to>
                                        <p:strVal val="visible"/>
                                      </p:to>
                                    </p:set>
                                    <p:animEffect transition="in" filter="wipe(left)">
                                      <p:cBhvr>
                                        <p:cTn id="52" dur="1000"/>
                                        <p:tgtEl>
                                          <p:spTgt spid="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bldLvl="3"/>
      <p:bldP spid="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76200" y="112129"/>
            <a:ext cx="533400" cy="4919239"/>
            <a:chOff x="14626" y="14712"/>
            <a:chExt cx="598680" cy="6386091"/>
          </a:xfrm>
        </p:grpSpPr>
        <p:pic>
          <p:nvPicPr>
            <p:cNvPr id="3" name="Picture 2"/>
            <p:cNvPicPr>
              <a:picLocks noChangeAspect="1" noChangeArrowheads="1"/>
            </p:cNvPicPr>
            <p:nvPr/>
          </p:nvPicPr>
          <p:blipFill>
            <a:blip r:embed="rId2" cstate="print"/>
            <a:srcRect/>
            <a:stretch>
              <a:fillRect/>
            </a:stretch>
          </p:blipFill>
          <p:spPr bwMode="auto">
            <a:xfrm>
              <a:off x="14626" y="14712"/>
              <a:ext cx="598680" cy="846471"/>
            </a:xfrm>
            <a:prstGeom prst="rect">
              <a:avLst/>
            </a:prstGeom>
            <a:noFill/>
            <a:ln w="9525">
              <a:solidFill>
                <a:srgbClr val="0000FF"/>
              </a:solidFill>
              <a:miter lim="800000"/>
              <a:headEnd/>
              <a:tailEnd/>
            </a:ln>
          </p:spPr>
        </p:pic>
        <p:sp>
          <p:nvSpPr>
            <p:cNvPr id="4" name="Text Box 14"/>
            <p:cNvSpPr txBox="1">
              <a:spLocks noChangeArrowheads="1"/>
            </p:cNvSpPr>
            <p:nvPr/>
          </p:nvSpPr>
          <p:spPr bwMode="auto">
            <a:xfrm rot="16198651">
              <a:off x="-2592929" y="3446777"/>
              <a:ext cx="5562442" cy="345444"/>
            </a:xfrm>
            <a:prstGeom prst="rect">
              <a:avLst/>
            </a:prstGeom>
            <a:solidFill>
              <a:srgbClr val="000080"/>
            </a:solidFill>
            <a:ln w="9525">
              <a:noFill/>
              <a:miter lim="800000"/>
              <a:headEnd/>
              <a:tailEnd/>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50000"/>
                </a:spcBef>
              </a:pPr>
              <a:r>
                <a:rPr lang="en-US" sz="1400" b="1" dirty="0">
                  <a:solidFill>
                    <a:schemeClr val="bg1"/>
                  </a:solidFill>
                  <a:latin typeface="Century Gothic" pitchFamily="34" charset="0"/>
                </a:rPr>
                <a:t>Vishwakarma  Institute  of  Technology</a:t>
              </a:r>
            </a:p>
          </p:txBody>
        </p:sp>
        <p:sp>
          <p:nvSpPr>
            <p:cNvPr id="5" name="Text Box 14">
              <a:extLst>
                <a:ext uri="{FF2B5EF4-FFF2-40B4-BE49-F238E27FC236}">
                  <a16:creationId xmlns:lc="http://schemas.openxmlformats.org/drawingml/2006/lockedCanvas" xmlns="" xmlns:a16="http://schemas.microsoft.com/office/drawing/2014/main" id="{08D90372-4075-403D-BB31-3D2C4B3C58A2}"/>
                </a:ext>
              </a:extLst>
            </p:cNvPr>
            <p:cNvSpPr txBox="1">
              <a:spLocks noChangeArrowheads="1"/>
            </p:cNvSpPr>
            <p:nvPr/>
          </p:nvSpPr>
          <p:spPr bwMode="auto">
            <a:xfrm rot="16200000">
              <a:off x="-2314809" y="3472688"/>
              <a:ext cx="5562602" cy="293627"/>
            </a:xfrm>
            <a:prstGeom prst="rect">
              <a:avLst/>
            </a:prstGeom>
            <a:solidFill>
              <a:srgbClr val="FFFF99"/>
            </a:solidFill>
            <a:ln w="9525">
              <a:solidFill>
                <a:srgbClr val="002060"/>
              </a:solidFill>
              <a:miter lim="800000"/>
              <a:headEnd/>
              <a:tailEnd/>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50000"/>
                </a:spcBef>
              </a:pPr>
              <a:r>
                <a:rPr lang="en-US" sz="1100" b="1" dirty="0">
                  <a:solidFill>
                    <a:srgbClr val="002060"/>
                  </a:solidFill>
                  <a:latin typeface="Century Gothic" pitchFamily="34" charset="0"/>
                </a:rPr>
                <a:t>FY - Department of Engineering, Sciences and Humanities</a:t>
              </a:r>
            </a:p>
          </p:txBody>
        </p:sp>
      </p:grpSp>
      <p:pic>
        <p:nvPicPr>
          <p:cNvPr id="1026" name="Picture 2" descr="D:\Harshavardhan\datafolder\hmksave\hmk vit\VIT 2018-20\AY 20202021 New Robotics Course\1 RMC 1920 Theory Lectures PPTs Videos  and Notes etc\Images For Lect 5 Electrical Elex\BLDC Motor.gif"/>
          <p:cNvPicPr>
            <a:picLocks noChangeAspect="1" noChangeArrowheads="1" noCrop="1"/>
          </p:cNvPicPr>
          <p:nvPr/>
        </p:nvPicPr>
        <p:blipFill>
          <a:blip r:embed="rId3" cstate="print"/>
          <a:srcRect/>
          <a:stretch>
            <a:fillRect/>
          </a:stretch>
        </p:blipFill>
        <p:spPr bwMode="auto">
          <a:xfrm>
            <a:off x="2133600" y="133350"/>
            <a:ext cx="4876800" cy="4876800"/>
          </a:xfrm>
          <a:prstGeom prst="rect">
            <a:avLst/>
          </a:prstGeom>
          <a:noFill/>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D:\Harshavardhan\datafolder\hmksave\hmk vit\VIT 2018-20\AY 20202021 New Robotics Course\1 RMC 1920 Theory Lectures PPTs Videos  and Notes etc\Images For Lect 5 Electrical Elex\BLDC Motor - Copy.gif"/>
          <p:cNvPicPr>
            <a:picLocks noChangeAspect="1" noChangeArrowheads="1"/>
          </p:cNvPicPr>
          <p:nvPr/>
        </p:nvPicPr>
        <p:blipFill>
          <a:blip r:embed="rId2" cstate="print"/>
          <a:srcRect/>
          <a:stretch>
            <a:fillRect/>
          </a:stretch>
        </p:blipFill>
        <p:spPr bwMode="auto">
          <a:xfrm>
            <a:off x="2895600" y="57150"/>
            <a:ext cx="2831051" cy="2819400"/>
          </a:xfrm>
          <a:prstGeom prst="rect">
            <a:avLst/>
          </a:prstGeom>
          <a:noFill/>
        </p:spPr>
      </p:pic>
      <p:grpSp>
        <p:nvGrpSpPr>
          <p:cNvPr id="2" name="Group 1"/>
          <p:cNvGrpSpPr/>
          <p:nvPr/>
        </p:nvGrpSpPr>
        <p:grpSpPr>
          <a:xfrm>
            <a:off x="76200" y="112129"/>
            <a:ext cx="533400" cy="4919239"/>
            <a:chOff x="14626" y="14712"/>
            <a:chExt cx="598680" cy="6386091"/>
          </a:xfrm>
        </p:grpSpPr>
        <p:pic>
          <p:nvPicPr>
            <p:cNvPr id="3" name="Picture 2"/>
            <p:cNvPicPr>
              <a:picLocks noChangeAspect="1" noChangeArrowheads="1"/>
            </p:cNvPicPr>
            <p:nvPr/>
          </p:nvPicPr>
          <p:blipFill>
            <a:blip r:embed="rId3" cstate="print"/>
            <a:srcRect/>
            <a:stretch>
              <a:fillRect/>
            </a:stretch>
          </p:blipFill>
          <p:spPr bwMode="auto">
            <a:xfrm>
              <a:off x="14626" y="14712"/>
              <a:ext cx="598680" cy="846471"/>
            </a:xfrm>
            <a:prstGeom prst="rect">
              <a:avLst/>
            </a:prstGeom>
            <a:noFill/>
            <a:ln w="9525">
              <a:solidFill>
                <a:srgbClr val="0000FF"/>
              </a:solidFill>
              <a:miter lim="800000"/>
              <a:headEnd/>
              <a:tailEnd/>
            </a:ln>
          </p:spPr>
        </p:pic>
        <p:sp>
          <p:nvSpPr>
            <p:cNvPr id="4" name="Text Box 14"/>
            <p:cNvSpPr txBox="1">
              <a:spLocks noChangeArrowheads="1"/>
            </p:cNvSpPr>
            <p:nvPr/>
          </p:nvSpPr>
          <p:spPr bwMode="auto">
            <a:xfrm rot="16198651">
              <a:off x="-2592929" y="3446777"/>
              <a:ext cx="5562442" cy="345444"/>
            </a:xfrm>
            <a:prstGeom prst="rect">
              <a:avLst/>
            </a:prstGeom>
            <a:solidFill>
              <a:srgbClr val="000080"/>
            </a:solidFill>
            <a:ln w="9525">
              <a:noFill/>
              <a:miter lim="800000"/>
              <a:headEnd/>
              <a:tailEnd/>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50000"/>
                </a:spcBef>
              </a:pPr>
              <a:r>
                <a:rPr lang="en-US" sz="1400" b="1" dirty="0">
                  <a:solidFill>
                    <a:schemeClr val="bg1"/>
                  </a:solidFill>
                  <a:latin typeface="Century Gothic" pitchFamily="34" charset="0"/>
                </a:rPr>
                <a:t>Vishwakarma  Institute  of  Technology</a:t>
              </a:r>
            </a:p>
          </p:txBody>
        </p:sp>
        <p:sp>
          <p:nvSpPr>
            <p:cNvPr id="5" name="Text Box 14">
              <a:extLst>
                <a:ext uri="{FF2B5EF4-FFF2-40B4-BE49-F238E27FC236}">
                  <a16:creationId xmlns:lc="http://schemas.openxmlformats.org/drawingml/2006/lockedCanvas" xmlns="" xmlns:a16="http://schemas.microsoft.com/office/drawing/2014/main" id="{08D90372-4075-403D-BB31-3D2C4B3C58A2}"/>
                </a:ext>
              </a:extLst>
            </p:cNvPr>
            <p:cNvSpPr txBox="1">
              <a:spLocks noChangeArrowheads="1"/>
            </p:cNvSpPr>
            <p:nvPr/>
          </p:nvSpPr>
          <p:spPr bwMode="auto">
            <a:xfrm rot="16200000">
              <a:off x="-2314809" y="3472688"/>
              <a:ext cx="5562602" cy="293627"/>
            </a:xfrm>
            <a:prstGeom prst="rect">
              <a:avLst/>
            </a:prstGeom>
            <a:solidFill>
              <a:srgbClr val="FFFF99"/>
            </a:solidFill>
            <a:ln w="9525">
              <a:solidFill>
                <a:srgbClr val="002060"/>
              </a:solidFill>
              <a:miter lim="800000"/>
              <a:headEnd/>
              <a:tailEnd/>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50000"/>
                </a:spcBef>
              </a:pPr>
              <a:r>
                <a:rPr lang="en-US" sz="1100" b="1" dirty="0">
                  <a:solidFill>
                    <a:srgbClr val="002060"/>
                  </a:solidFill>
                  <a:latin typeface="Century Gothic" pitchFamily="34" charset="0"/>
                </a:rPr>
                <a:t>FY - Department of Engineering, Sciences and Humanities</a:t>
              </a:r>
            </a:p>
          </p:txBody>
        </p:sp>
      </p:grpSp>
      <p:sp>
        <p:nvSpPr>
          <p:cNvPr id="7" name="Rectangle 6"/>
          <p:cNvSpPr>
            <a:spLocks/>
          </p:cNvSpPr>
          <p:nvPr/>
        </p:nvSpPr>
        <p:spPr>
          <a:xfrm>
            <a:off x="6096000" y="1200150"/>
            <a:ext cx="2819400" cy="533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ts val="2800"/>
              </a:lnSpc>
            </a:pPr>
            <a:r>
              <a:rPr lang="en-US" sz="1600" b="1" dirty="0" smtClean="0">
                <a:solidFill>
                  <a:srgbClr val="FF0000"/>
                </a:solidFill>
                <a:latin typeface="Arial" pitchFamily="34" charset="0"/>
                <a:ea typeface="Verdana" pitchFamily="34" charset="0"/>
                <a:cs typeface="Arial" pitchFamily="34" charset="0"/>
              </a:rPr>
              <a:t>6 Stator poles (Temporary)</a:t>
            </a:r>
            <a:endParaRPr lang="en-US" sz="200" b="1" dirty="0">
              <a:solidFill>
                <a:srgbClr val="FF0000"/>
              </a:solidFill>
              <a:latin typeface="Verdana" pitchFamily="34" charset="0"/>
              <a:ea typeface="Verdana" pitchFamily="34" charset="0"/>
              <a:cs typeface="Verdana" pitchFamily="34" charset="0"/>
            </a:endParaRPr>
          </a:p>
        </p:txBody>
      </p:sp>
      <p:sp>
        <p:nvSpPr>
          <p:cNvPr id="8" name="Freeform 7"/>
          <p:cNvSpPr/>
          <p:nvPr/>
        </p:nvSpPr>
        <p:spPr>
          <a:xfrm>
            <a:off x="5486400" y="742951"/>
            <a:ext cx="1439883" cy="609600"/>
          </a:xfrm>
          <a:custGeom>
            <a:avLst/>
            <a:gdLst>
              <a:gd name="connsiteX0" fmla="*/ 1211283 w 1211283"/>
              <a:gd name="connsiteY0" fmla="*/ 358239 h 358239"/>
              <a:gd name="connsiteX1" fmla="*/ 617517 w 1211283"/>
              <a:gd name="connsiteY1" fmla="*/ 49481 h 358239"/>
              <a:gd name="connsiteX2" fmla="*/ 0 w 1211283"/>
              <a:gd name="connsiteY2" fmla="*/ 61356 h 358239"/>
            </a:gdLst>
            <a:ahLst/>
            <a:cxnLst>
              <a:cxn ang="0">
                <a:pos x="connsiteX0" y="connsiteY0"/>
              </a:cxn>
              <a:cxn ang="0">
                <a:pos x="connsiteX1" y="connsiteY1"/>
              </a:cxn>
              <a:cxn ang="0">
                <a:pos x="connsiteX2" y="connsiteY2"/>
              </a:cxn>
            </a:cxnLst>
            <a:rect l="l" t="t" r="r" b="b"/>
            <a:pathLst>
              <a:path w="1211283" h="358239">
                <a:moveTo>
                  <a:pt x="1211283" y="358239"/>
                </a:moveTo>
                <a:cubicBezTo>
                  <a:pt x="1015340" y="228600"/>
                  <a:pt x="819398" y="98962"/>
                  <a:pt x="617517" y="49481"/>
                </a:cubicBezTo>
                <a:cubicBezTo>
                  <a:pt x="415636" y="0"/>
                  <a:pt x="207818" y="30678"/>
                  <a:pt x="0" y="61356"/>
                </a:cubicBezTo>
              </a:path>
            </a:pathLst>
          </a:custGeom>
          <a:ln w="254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Freeform 8"/>
          <p:cNvSpPr/>
          <p:nvPr/>
        </p:nvSpPr>
        <p:spPr>
          <a:xfrm>
            <a:off x="4572000" y="285750"/>
            <a:ext cx="2438400" cy="1066800"/>
          </a:xfrm>
          <a:custGeom>
            <a:avLst/>
            <a:gdLst>
              <a:gd name="connsiteX0" fmla="*/ 2351314 w 2351314"/>
              <a:gd name="connsiteY0" fmla="*/ 860961 h 860961"/>
              <a:gd name="connsiteX1" fmla="*/ 1555667 w 2351314"/>
              <a:gd name="connsiteY1" fmla="*/ 112816 h 860961"/>
              <a:gd name="connsiteX2" fmla="*/ 0 w 2351314"/>
              <a:gd name="connsiteY2" fmla="*/ 184068 h 860961"/>
            </a:gdLst>
            <a:ahLst/>
            <a:cxnLst>
              <a:cxn ang="0">
                <a:pos x="connsiteX0" y="connsiteY0"/>
              </a:cxn>
              <a:cxn ang="0">
                <a:pos x="connsiteX1" y="connsiteY1"/>
              </a:cxn>
              <a:cxn ang="0">
                <a:pos x="connsiteX2" y="connsiteY2"/>
              </a:cxn>
            </a:cxnLst>
            <a:rect l="l" t="t" r="r" b="b"/>
            <a:pathLst>
              <a:path w="2351314" h="860961">
                <a:moveTo>
                  <a:pt x="2351314" y="860961"/>
                </a:moveTo>
                <a:cubicBezTo>
                  <a:pt x="2149433" y="543296"/>
                  <a:pt x="1947553" y="225632"/>
                  <a:pt x="1555667" y="112816"/>
                </a:cubicBezTo>
                <a:cubicBezTo>
                  <a:pt x="1163781" y="0"/>
                  <a:pt x="581890" y="92034"/>
                  <a:pt x="0" y="184068"/>
                </a:cubicBezTo>
              </a:path>
            </a:pathLst>
          </a:custGeom>
          <a:ln w="254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Freeform 9"/>
          <p:cNvSpPr/>
          <p:nvPr/>
        </p:nvSpPr>
        <p:spPr>
          <a:xfrm>
            <a:off x="5486400" y="1657351"/>
            <a:ext cx="1425039" cy="533399"/>
          </a:xfrm>
          <a:custGeom>
            <a:avLst/>
            <a:gdLst>
              <a:gd name="connsiteX0" fmla="*/ 1175657 w 1175657"/>
              <a:gd name="connsiteY0" fmla="*/ 0 h 831273"/>
              <a:gd name="connsiteX1" fmla="*/ 391886 w 1175657"/>
              <a:gd name="connsiteY1" fmla="*/ 712520 h 831273"/>
              <a:gd name="connsiteX2" fmla="*/ 0 w 1175657"/>
              <a:gd name="connsiteY2" fmla="*/ 712520 h 831273"/>
              <a:gd name="connsiteX3" fmla="*/ 0 w 1175657"/>
              <a:gd name="connsiteY3" fmla="*/ 712520 h 831273"/>
              <a:gd name="connsiteX4" fmla="*/ 0 w 1175657"/>
              <a:gd name="connsiteY4" fmla="*/ 712520 h 8312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5657" h="831273">
                <a:moveTo>
                  <a:pt x="1175657" y="0"/>
                </a:moveTo>
                <a:cubicBezTo>
                  <a:pt x="881743" y="296883"/>
                  <a:pt x="587829" y="593767"/>
                  <a:pt x="391886" y="712520"/>
                </a:cubicBezTo>
                <a:cubicBezTo>
                  <a:pt x="195943" y="831273"/>
                  <a:pt x="0" y="712520"/>
                  <a:pt x="0" y="712520"/>
                </a:cubicBezTo>
                <a:lnTo>
                  <a:pt x="0" y="712520"/>
                </a:lnTo>
                <a:lnTo>
                  <a:pt x="0" y="712520"/>
                </a:lnTo>
              </a:path>
            </a:pathLst>
          </a:custGeom>
          <a:ln w="254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Freeform 10"/>
          <p:cNvSpPr/>
          <p:nvPr/>
        </p:nvSpPr>
        <p:spPr>
          <a:xfrm>
            <a:off x="4572000" y="1623703"/>
            <a:ext cx="2600696" cy="1100447"/>
          </a:xfrm>
          <a:custGeom>
            <a:avLst/>
            <a:gdLst>
              <a:gd name="connsiteX0" fmla="*/ 2434441 w 2434441"/>
              <a:gd name="connsiteY0" fmla="*/ 0 h 1405247"/>
              <a:gd name="connsiteX1" fmla="*/ 1092529 w 2434441"/>
              <a:gd name="connsiteY1" fmla="*/ 1223159 h 1405247"/>
              <a:gd name="connsiteX2" fmla="*/ 0 w 2434441"/>
              <a:gd name="connsiteY2" fmla="*/ 1092530 h 1405247"/>
            </a:gdLst>
            <a:ahLst/>
            <a:cxnLst>
              <a:cxn ang="0">
                <a:pos x="connsiteX0" y="connsiteY0"/>
              </a:cxn>
              <a:cxn ang="0">
                <a:pos x="connsiteX1" y="connsiteY1"/>
              </a:cxn>
              <a:cxn ang="0">
                <a:pos x="connsiteX2" y="connsiteY2"/>
              </a:cxn>
            </a:cxnLst>
            <a:rect l="l" t="t" r="r" b="b"/>
            <a:pathLst>
              <a:path w="2434441" h="1405247">
                <a:moveTo>
                  <a:pt x="2434441" y="0"/>
                </a:moveTo>
                <a:cubicBezTo>
                  <a:pt x="1966355" y="520535"/>
                  <a:pt x="1498269" y="1041071"/>
                  <a:pt x="1092529" y="1223159"/>
                </a:cubicBezTo>
                <a:cubicBezTo>
                  <a:pt x="686789" y="1405247"/>
                  <a:pt x="343394" y="1248888"/>
                  <a:pt x="0" y="1092530"/>
                </a:cubicBezTo>
              </a:path>
            </a:pathLst>
          </a:custGeom>
          <a:ln w="254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Rectangle 11"/>
          <p:cNvSpPr>
            <a:spLocks/>
          </p:cNvSpPr>
          <p:nvPr/>
        </p:nvSpPr>
        <p:spPr>
          <a:xfrm>
            <a:off x="1219200" y="819150"/>
            <a:ext cx="1600200" cy="1066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800"/>
              </a:lnSpc>
            </a:pPr>
            <a:r>
              <a:rPr lang="en-US" sz="1600" b="1" dirty="0" smtClean="0">
                <a:solidFill>
                  <a:srgbClr val="0000FF"/>
                </a:solidFill>
                <a:latin typeface="Arial" pitchFamily="34" charset="0"/>
                <a:ea typeface="Verdana" pitchFamily="34" charset="0"/>
                <a:cs typeface="Arial" pitchFamily="34" charset="0"/>
              </a:rPr>
              <a:t>2 Rotor poles </a:t>
            </a:r>
          </a:p>
          <a:p>
            <a:pPr algn="ctr">
              <a:lnSpc>
                <a:spcPts val="2800"/>
              </a:lnSpc>
            </a:pPr>
            <a:r>
              <a:rPr lang="en-US" sz="1600" b="1" dirty="0" smtClean="0">
                <a:solidFill>
                  <a:srgbClr val="0000FF"/>
                </a:solidFill>
                <a:latin typeface="Arial" pitchFamily="34" charset="0"/>
                <a:ea typeface="Verdana" pitchFamily="34" charset="0"/>
                <a:cs typeface="Arial" pitchFamily="34" charset="0"/>
              </a:rPr>
              <a:t>(N and S) </a:t>
            </a:r>
          </a:p>
          <a:p>
            <a:pPr algn="ctr">
              <a:lnSpc>
                <a:spcPts val="2800"/>
              </a:lnSpc>
            </a:pPr>
            <a:r>
              <a:rPr lang="en-US" sz="1600" b="1" dirty="0" smtClean="0">
                <a:solidFill>
                  <a:srgbClr val="0000FF"/>
                </a:solidFill>
                <a:latin typeface="Arial" pitchFamily="34" charset="0"/>
                <a:ea typeface="Verdana" pitchFamily="34" charset="0"/>
                <a:cs typeface="Arial" pitchFamily="34" charset="0"/>
              </a:rPr>
              <a:t>(Permanent)</a:t>
            </a:r>
            <a:endParaRPr lang="en-US" sz="200" b="1" dirty="0">
              <a:solidFill>
                <a:srgbClr val="0000FF"/>
              </a:solidFill>
              <a:latin typeface="Verdana" pitchFamily="34" charset="0"/>
              <a:ea typeface="Verdana" pitchFamily="34" charset="0"/>
              <a:cs typeface="Verdana" pitchFamily="34" charset="0"/>
            </a:endParaRPr>
          </a:p>
        </p:txBody>
      </p:sp>
      <p:sp>
        <p:nvSpPr>
          <p:cNvPr id="16" name="Freeform 15"/>
          <p:cNvSpPr/>
          <p:nvPr/>
        </p:nvSpPr>
        <p:spPr>
          <a:xfrm>
            <a:off x="2514600" y="1428750"/>
            <a:ext cx="1145969" cy="76199"/>
          </a:xfrm>
          <a:custGeom>
            <a:avLst/>
            <a:gdLst>
              <a:gd name="connsiteX0" fmla="*/ 0 w 2434442"/>
              <a:gd name="connsiteY0" fmla="*/ 0 h 742208"/>
              <a:gd name="connsiteX1" fmla="*/ 1223159 w 2434442"/>
              <a:gd name="connsiteY1" fmla="*/ 688769 h 742208"/>
              <a:gd name="connsiteX2" fmla="*/ 2434442 w 2434442"/>
              <a:gd name="connsiteY2" fmla="*/ 320634 h 742208"/>
            </a:gdLst>
            <a:ahLst/>
            <a:cxnLst>
              <a:cxn ang="0">
                <a:pos x="connsiteX0" y="connsiteY0"/>
              </a:cxn>
              <a:cxn ang="0">
                <a:pos x="connsiteX1" y="connsiteY1"/>
              </a:cxn>
              <a:cxn ang="0">
                <a:pos x="connsiteX2" y="connsiteY2"/>
              </a:cxn>
            </a:cxnLst>
            <a:rect l="l" t="t" r="r" b="b"/>
            <a:pathLst>
              <a:path w="2434442" h="742208">
                <a:moveTo>
                  <a:pt x="0" y="0"/>
                </a:moveTo>
                <a:cubicBezTo>
                  <a:pt x="408709" y="317665"/>
                  <a:pt x="817419" y="635330"/>
                  <a:pt x="1223159" y="688769"/>
                </a:cubicBezTo>
                <a:cubicBezTo>
                  <a:pt x="1628899" y="742208"/>
                  <a:pt x="2031670" y="531421"/>
                  <a:pt x="2434442" y="320634"/>
                </a:cubicBezTo>
              </a:path>
            </a:pathLst>
          </a:custGeom>
          <a:ln w="25400">
            <a:solidFill>
              <a:srgbClr val="0000FF"/>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Rectangle 17"/>
          <p:cNvSpPr>
            <a:spLocks/>
          </p:cNvSpPr>
          <p:nvPr/>
        </p:nvSpPr>
        <p:spPr>
          <a:xfrm>
            <a:off x="685800" y="2876550"/>
            <a:ext cx="8458200" cy="1981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2800"/>
              </a:lnSpc>
              <a:buFont typeface="Arial" pitchFamily="34" charset="0"/>
              <a:buChar char="•"/>
            </a:pPr>
            <a:r>
              <a:rPr lang="en-US" b="1" dirty="0" smtClean="0">
                <a:solidFill>
                  <a:srgbClr val="0000FF"/>
                </a:solidFill>
                <a:latin typeface="Arial" pitchFamily="34" charset="0"/>
                <a:ea typeface="Verdana" pitchFamily="34" charset="0"/>
                <a:cs typeface="Arial" pitchFamily="34" charset="0"/>
              </a:rPr>
              <a:t> When the stator poles are excited, attraction takes place between opposite poles of stator and rotor, which gives rise to rotation. </a:t>
            </a:r>
          </a:p>
          <a:p>
            <a:pPr>
              <a:lnSpc>
                <a:spcPts val="2800"/>
              </a:lnSpc>
              <a:buFont typeface="Arial" pitchFamily="34" charset="0"/>
              <a:buChar char="•"/>
            </a:pPr>
            <a:r>
              <a:rPr lang="en-US" b="1" dirty="0" smtClean="0">
                <a:solidFill>
                  <a:srgbClr val="FF0000"/>
                </a:solidFill>
                <a:latin typeface="Arial" pitchFamily="34" charset="0"/>
                <a:ea typeface="Verdana" pitchFamily="34" charset="0"/>
                <a:cs typeface="Arial" pitchFamily="34" charset="0"/>
              </a:rPr>
              <a:t> When the rotor pole approaches an opposite pole of stator, that stator pole is switched off and next stator pole is excited.</a:t>
            </a:r>
          </a:p>
          <a:p>
            <a:pPr>
              <a:lnSpc>
                <a:spcPts val="2800"/>
              </a:lnSpc>
              <a:buFont typeface="Arial" pitchFamily="34" charset="0"/>
              <a:buChar char="•"/>
            </a:pPr>
            <a:r>
              <a:rPr lang="en-US" b="1" dirty="0" smtClean="0">
                <a:solidFill>
                  <a:srgbClr val="0000FF"/>
                </a:solidFill>
                <a:latin typeface="Arial" pitchFamily="34" charset="0"/>
                <a:ea typeface="Verdana" pitchFamily="34" charset="0"/>
                <a:cs typeface="Arial" pitchFamily="34" charset="0"/>
              </a:rPr>
              <a:t> Thus the rotor pole keeps on chasing stator pole but never becomes successful ….!</a:t>
            </a:r>
          </a:p>
        </p:txBody>
      </p:sp>
      <p:sp>
        <p:nvSpPr>
          <p:cNvPr id="19" name="Rectangle 18"/>
          <p:cNvSpPr>
            <a:spLocks/>
          </p:cNvSpPr>
          <p:nvPr/>
        </p:nvSpPr>
        <p:spPr>
          <a:xfrm>
            <a:off x="685800" y="2419350"/>
            <a:ext cx="2133600" cy="381000"/>
          </a:xfrm>
          <a:prstGeom prst="rect">
            <a:avLst/>
          </a:prstGeom>
          <a:solidFill>
            <a:srgbClr val="FFFFCC"/>
          </a:solid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ts val="2800"/>
              </a:lnSpc>
            </a:pPr>
            <a:r>
              <a:rPr lang="en-US" sz="1600" b="1" dirty="0" smtClean="0">
                <a:solidFill>
                  <a:srgbClr val="FF0000"/>
                </a:solidFill>
                <a:latin typeface="Arial" pitchFamily="34" charset="0"/>
                <a:ea typeface="Verdana" pitchFamily="34" charset="0"/>
                <a:cs typeface="Arial" pitchFamily="34" charset="0"/>
              </a:rPr>
              <a:t>Working Principle –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righ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right)">
                                      <p:cBhvr>
                                        <p:cTn id="12" dur="1000"/>
                                        <p:tgtEl>
                                          <p:spTgt spid="9"/>
                                        </p:tgtEl>
                                      </p:cBhvr>
                                    </p:animEffect>
                                  </p:childTnLst>
                                </p:cTn>
                              </p:par>
                              <p:par>
                                <p:cTn id="13" presetID="22" presetClass="entr" presetSubtype="2"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right)">
                                      <p:cBhvr>
                                        <p:cTn id="15" dur="1000"/>
                                        <p:tgtEl>
                                          <p:spTgt spid="8"/>
                                        </p:tgtEl>
                                      </p:cBhvr>
                                    </p:animEffect>
                                  </p:childTnLst>
                                </p:cTn>
                              </p:par>
                              <p:par>
                                <p:cTn id="16" presetID="22" presetClass="entr" presetSubtype="2"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wipe(right)">
                                      <p:cBhvr>
                                        <p:cTn id="18" dur="1000"/>
                                        <p:tgtEl>
                                          <p:spTgt spid="10"/>
                                        </p:tgtEl>
                                      </p:cBhvr>
                                    </p:animEffect>
                                  </p:childTnLst>
                                </p:cTn>
                              </p:par>
                              <p:par>
                                <p:cTn id="19" presetID="22" presetClass="entr" presetSubtype="2"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wipe(right)">
                                      <p:cBhvr>
                                        <p:cTn id="21" dur="1000"/>
                                        <p:tgtEl>
                                          <p:spTgt spid="11"/>
                                        </p:tgtEl>
                                      </p:cBhvr>
                                    </p:animEffect>
                                  </p:childTnLst>
                                </p:cTn>
                              </p:par>
                            </p:childTnLst>
                          </p:cTn>
                        </p:par>
                        <p:par>
                          <p:cTn id="22" fill="hold">
                            <p:stCondLst>
                              <p:cond delay="1000"/>
                            </p:stCondLst>
                            <p:childTnLst>
                              <p:par>
                                <p:cTn id="23" presetID="22" presetClass="entr" presetSubtype="8" fill="hold" grpId="0" nodeType="after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left)">
                                      <p:cBhvr>
                                        <p:cTn id="25" dur="500"/>
                                        <p:tgtEl>
                                          <p:spTgt spid="12"/>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wipe(left)">
                                      <p:cBhvr>
                                        <p:cTn id="28" dur="1000"/>
                                        <p:tgtEl>
                                          <p:spTgt spid="16"/>
                                        </p:tgtEl>
                                      </p:cBhvr>
                                    </p:animEffect>
                                  </p:childTnLst>
                                </p:cTn>
                              </p:par>
                            </p:childTnLst>
                          </p:cTn>
                        </p:par>
                        <p:par>
                          <p:cTn id="29" fill="hold">
                            <p:stCondLst>
                              <p:cond delay="2000"/>
                            </p:stCondLst>
                            <p:childTnLst>
                              <p:par>
                                <p:cTn id="30" presetID="22" presetClass="entr" presetSubtype="8" fill="hold" grpId="0" nodeType="afterEffect">
                                  <p:stCondLst>
                                    <p:cond delay="0"/>
                                  </p:stCondLst>
                                  <p:childTnLst>
                                    <p:set>
                                      <p:cBhvr>
                                        <p:cTn id="31" dur="1" fill="hold">
                                          <p:stCondLst>
                                            <p:cond delay="0"/>
                                          </p:stCondLst>
                                        </p:cTn>
                                        <p:tgtEl>
                                          <p:spTgt spid="18">
                                            <p:txEl>
                                              <p:pRg st="0" end="0"/>
                                            </p:txEl>
                                          </p:spTgt>
                                        </p:tgtEl>
                                        <p:attrNameLst>
                                          <p:attrName>style.visibility</p:attrName>
                                        </p:attrNameLst>
                                      </p:cBhvr>
                                      <p:to>
                                        <p:strVal val="visible"/>
                                      </p:to>
                                    </p:set>
                                    <p:animEffect transition="in" filter="wipe(left)">
                                      <p:cBhvr>
                                        <p:cTn id="32" dur="1000"/>
                                        <p:tgtEl>
                                          <p:spTgt spid="18">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8">
                                            <p:txEl>
                                              <p:pRg st="1" end="1"/>
                                            </p:txEl>
                                          </p:spTgt>
                                        </p:tgtEl>
                                        <p:attrNameLst>
                                          <p:attrName>style.visibility</p:attrName>
                                        </p:attrNameLst>
                                      </p:cBhvr>
                                      <p:to>
                                        <p:strVal val="visible"/>
                                      </p:to>
                                    </p:set>
                                    <p:animEffect transition="in" filter="wipe(left)">
                                      <p:cBhvr>
                                        <p:cTn id="37" dur="1000"/>
                                        <p:tgtEl>
                                          <p:spTgt spid="18">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8">
                                            <p:txEl>
                                              <p:pRg st="2" end="2"/>
                                            </p:txEl>
                                          </p:spTgt>
                                        </p:tgtEl>
                                        <p:attrNameLst>
                                          <p:attrName>style.visibility</p:attrName>
                                        </p:attrNameLst>
                                      </p:cBhvr>
                                      <p:to>
                                        <p:strVal val="visible"/>
                                      </p:to>
                                    </p:set>
                                    <p:animEffect transition="in" filter="wipe(left)">
                                      <p:cBhvr>
                                        <p:cTn id="42" dur="1000"/>
                                        <p:tgtEl>
                                          <p:spTgt spid="18">
                                            <p:txEl>
                                              <p:pRg st="2" end="2"/>
                                            </p:txEl>
                                          </p:spTgt>
                                        </p:tgtEl>
                                      </p:cBhvr>
                                    </p:animEffect>
                                  </p:childTnLst>
                                </p:cTn>
                              </p:par>
                            </p:childTnLst>
                          </p:cTn>
                        </p:par>
                        <p:par>
                          <p:cTn id="43" fill="hold">
                            <p:stCondLst>
                              <p:cond delay="1000"/>
                            </p:stCondLst>
                            <p:childTnLst>
                              <p:par>
                                <p:cTn id="44" presetID="22" presetClass="entr" presetSubtype="2" fill="hold" grpId="0" nodeType="after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wipe(right)">
                                      <p:cBhvr>
                                        <p:cTn id="4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9" grpId="0" animBg="1"/>
      <p:bldP spid="10" grpId="0" animBg="1"/>
      <p:bldP spid="11" grpId="0" animBg="1"/>
      <p:bldP spid="12" grpId="0"/>
      <p:bldP spid="16" grpId="0" animBg="1"/>
      <p:bldP spid="18" grpId="0" build="p" bldLvl="3"/>
      <p:bldP spid="1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76200" y="112129"/>
            <a:ext cx="533400" cy="4919239"/>
            <a:chOff x="14626" y="14712"/>
            <a:chExt cx="598680" cy="6386091"/>
          </a:xfrm>
        </p:grpSpPr>
        <p:pic>
          <p:nvPicPr>
            <p:cNvPr id="3" name="Picture 2"/>
            <p:cNvPicPr>
              <a:picLocks noChangeAspect="1" noChangeArrowheads="1"/>
            </p:cNvPicPr>
            <p:nvPr/>
          </p:nvPicPr>
          <p:blipFill>
            <a:blip r:embed="rId2" cstate="print"/>
            <a:srcRect/>
            <a:stretch>
              <a:fillRect/>
            </a:stretch>
          </p:blipFill>
          <p:spPr bwMode="auto">
            <a:xfrm>
              <a:off x="14626" y="14712"/>
              <a:ext cx="598680" cy="846471"/>
            </a:xfrm>
            <a:prstGeom prst="rect">
              <a:avLst/>
            </a:prstGeom>
            <a:noFill/>
            <a:ln w="9525">
              <a:solidFill>
                <a:srgbClr val="0000FF"/>
              </a:solidFill>
              <a:miter lim="800000"/>
              <a:headEnd/>
              <a:tailEnd/>
            </a:ln>
          </p:spPr>
        </p:pic>
        <p:sp>
          <p:nvSpPr>
            <p:cNvPr id="4" name="Text Box 14"/>
            <p:cNvSpPr txBox="1">
              <a:spLocks noChangeArrowheads="1"/>
            </p:cNvSpPr>
            <p:nvPr/>
          </p:nvSpPr>
          <p:spPr bwMode="auto">
            <a:xfrm rot="16198651">
              <a:off x="-2592929" y="3446777"/>
              <a:ext cx="5562442" cy="345444"/>
            </a:xfrm>
            <a:prstGeom prst="rect">
              <a:avLst/>
            </a:prstGeom>
            <a:solidFill>
              <a:srgbClr val="000080"/>
            </a:solidFill>
            <a:ln w="9525">
              <a:noFill/>
              <a:miter lim="800000"/>
              <a:headEnd/>
              <a:tailEnd/>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50000"/>
                </a:spcBef>
              </a:pPr>
              <a:r>
                <a:rPr lang="en-US" sz="1400" b="1" dirty="0">
                  <a:solidFill>
                    <a:schemeClr val="bg1"/>
                  </a:solidFill>
                  <a:latin typeface="Century Gothic" pitchFamily="34" charset="0"/>
                </a:rPr>
                <a:t>Vishwakarma  Institute  of  Technology</a:t>
              </a:r>
            </a:p>
          </p:txBody>
        </p:sp>
        <p:sp>
          <p:nvSpPr>
            <p:cNvPr id="5" name="Text Box 14">
              <a:extLst>
                <a:ext uri="{FF2B5EF4-FFF2-40B4-BE49-F238E27FC236}">
                  <a16:creationId xmlns:lc="http://schemas.openxmlformats.org/drawingml/2006/lockedCanvas" xmlns="" xmlns:a16="http://schemas.microsoft.com/office/drawing/2014/main" id="{08D90372-4075-403D-BB31-3D2C4B3C58A2}"/>
                </a:ext>
              </a:extLst>
            </p:cNvPr>
            <p:cNvSpPr txBox="1">
              <a:spLocks noChangeArrowheads="1"/>
            </p:cNvSpPr>
            <p:nvPr/>
          </p:nvSpPr>
          <p:spPr bwMode="auto">
            <a:xfrm rot="16200000">
              <a:off x="-2314809" y="3472688"/>
              <a:ext cx="5562602" cy="293627"/>
            </a:xfrm>
            <a:prstGeom prst="rect">
              <a:avLst/>
            </a:prstGeom>
            <a:solidFill>
              <a:srgbClr val="FFFF99"/>
            </a:solidFill>
            <a:ln w="9525">
              <a:solidFill>
                <a:srgbClr val="002060"/>
              </a:solidFill>
              <a:miter lim="800000"/>
              <a:headEnd/>
              <a:tailEnd/>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50000"/>
                </a:spcBef>
              </a:pPr>
              <a:r>
                <a:rPr lang="en-US" sz="1100" b="1" dirty="0">
                  <a:solidFill>
                    <a:srgbClr val="002060"/>
                  </a:solidFill>
                  <a:latin typeface="Century Gothic" pitchFamily="34" charset="0"/>
                </a:rPr>
                <a:t>FY - Department of Engineering, Sciences and Humanities</a:t>
              </a:r>
            </a:p>
          </p:txBody>
        </p:sp>
      </p:grpSp>
      <p:sp>
        <p:nvSpPr>
          <p:cNvPr id="18" name="Donut 17"/>
          <p:cNvSpPr/>
          <p:nvPr/>
        </p:nvSpPr>
        <p:spPr>
          <a:xfrm>
            <a:off x="3352801" y="1083917"/>
            <a:ext cx="2362200" cy="2362200"/>
          </a:xfrm>
          <a:prstGeom prst="donut">
            <a:avLst>
              <a:gd name="adj" fmla="val 7275"/>
            </a:avLst>
          </a:prstGeom>
          <a:solidFill>
            <a:schemeClr val="bg1">
              <a:lumMod val="85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Donut 16"/>
          <p:cNvSpPr/>
          <p:nvPr/>
        </p:nvSpPr>
        <p:spPr>
          <a:xfrm>
            <a:off x="2590801" y="245717"/>
            <a:ext cx="3886200" cy="4038600"/>
          </a:xfrm>
          <a:prstGeom prst="donut">
            <a:avLst>
              <a:gd name="adj" fmla="val 7275"/>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6" name="Block Arc 45"/>
          <p:cNvSpPr/>
          <p:nvPr/>
        </p:nvSpPr>
        <p:spPr>
          <a:xfrm rot="21133189">
            <a:off x="3396998" y="1267677"/>
            <a:ext cx="1464868" cy="1446047"/>
          </a:xfrm>
          <a:prstGeom prst="blockArc">
            <a:avLst>
              <a:gd name="adj1" fmla="val 10946601"/>
              <a:gd name="adj2" fmla="val 15123407"/>
              <a:gd name="adj3" fmla="val 14338"/>
            </a:avLst>
          </a:prstGeom>
          <a:solidFill>
            <a:srgbClr val="FF33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9" name="Flowchart: Stored Data 48"/>
          <p:cNvSpPr/>
          <p:nvPr/>
        </p:nvSpPr>
        <p:spPr>
          <a:xfrm rot="1879606">
            <a:off x="2761295" y="914249"/>
            <a:ext cx="784392" cy="943571"/>
          </a:xfrm>
          <a:prstGeom prst="flowChartOnlineStorage">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Flowchart: Stored Data 49"/>
          <p:cNvSpPr/>
          <p:nvPr/>
        </p:nvSpPr>
        <p:spPr>
          <a:xfrm rot="5662946">
            <a:off x="4213639" y="174948"/>
            <a:ext cx="804617" cy="943571"/>
          </a:xfrm>
          <a:prstGeom prst="flowChartOnlineStorage">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lowchart: Stored Data 50"/>
          <p:cNvSpPr/>
          <p:nvPr/>
        </p:nvSpPr>
        <p:spPr>
          <a:xfrm rot="12728256">
            <a:off x="5524875" y="2668058"/>
            <a:ext cx="784392" cy="943571"/>
          </a:xfrm>
          <a:prstGeom prst="flowChartOnlineStorage">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Flowchart: Stored Data 51"/>
          <p:cNvSpPr/>
          <p:nvPr/>
        </p:nvSpPr>
        <p:spPr>
          <a:xfrm rot="16429689">
            <a:off x="4081425" y="3414980"/>
            <a:ext cx="784392" cy="943571"/>
          </a:xfrm>
          <a:prstGeom prst="flowChartOnlineStorage">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Flowchart: Stored Data 52"/>
          <p:cNvSpPr/>
          <p:nvPr/>
        </p:nvSpPr>
        <p:spPr>
          <a:xfrm rot="19984463">
            <a:off x="2685725" y="2505772"/>
            <a:ext cx="784392" cy="943571"/>
          </a:xfrm>
          <a:prstGeom prst="flowChartOnlineStorage">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lowchart: Stored Data 53"/>
          <p:cNvSpPr/>
          <p:nvPr/>
        </p:nvSpPr>
        <p:spPr>
          <a:xfrm rot="9146682">
            <a:off x="5577530" y="1009589"/>
            <a:ext cx="784392" cy="943571"/>
          </a:xfrm>
          <a:prstGeom prst="flowChartOnlineStorage">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p:cNvSpPr>
            <a:spLocks/>
          </p:cNvSpPr>
          <p:nvPr/>
        </p:nvSpPr>
        <p:spPr>
          <a:xfrm rot="3504116">
            <a:off x="5658548" y="1165979"/>
            <a:ext cx="533400" cy="6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800"/>
              </a:lnSpc>
            </a:pPr>
            <a:r>
              <a:rPr lang="en-US" sz="3600" b="1" dirty="0" smtClean="0">
                <a:solidFill>
                  <a:srgbClr val="FF0000"/>
                </a:solidFill>
                <a:latin typeface="Arial" pitchFamily="34" charset="0"/>
                <a:ea typeface="Verdana" pitchFamily="34" charset="0"/>
                <a:cs typeface="Arial" pitchFamily="34" charset="0"/>
              </a:rPr>
              <a:t>N</a:t>
            </a:r>
            <a:endParaRPr lang="en-US" sz="200" b="1" dirty="0">
              <a:solidFill>
                <a:srgbClr val="FF0000"/>
              </a:solidFill>
              <a:latin typeface="Verdana" pitchFamily="34" charset="0"/>
              <a:ea typeface="Verdana" pitchFamily="34" charset="0"/>
              <a:cs typeface="Verdana" pitchFamily="34" charset="0"/>
            </a:endParaRPr>
          </a:p>
        </p:txBody>
      </p:sp>
      <p:sp>
        <p:nvSpPr>
          <p:cNvPr id="57" name="Rectangle 56"/>
          <p:cNvSpPr>
            <a:spLocks/>
          </p:cNvSpPr>
          <p:nvPr/>
        </p:nvSpPr>
        <p:spPr>
          <a:xfrm rot="204642">
            <a:off x="4361062" y="382790"/>
            <a:ext cx="533400" cy="6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800"/>
              </a:lnSpc>
            </a:pPr>
            <a:r>
              <a:rPr lang="en-US" sz="3600" b="1" dirty="0" smtClean="0">
                <a:solidFill>
                  <a:srgbClr val="0000FF"/>
                </a:solidFill>
                <a:latin typeface="Arial" pitchFamily="34" charset="0"/>
                <a:ea typeface="Verdana" pitchFamily="34" charset="0"/>
                <a:cs typeface="Arial" pitchFamily="34" charset="0"/>
              </a:rPr>
              <a:t>S</a:t>
            </a:r>
            <a:endParaRPr lang="en-US" sz="200" b="1" dirty="0">
              <a:solidFill>
                <a:srgbClr val="0000FF"/>
              </a:solidFill>
              <a:latin typeface="Verdana" pitchFamily="34" charset="0"/>
              <a:ea typeface="Verdana" pitchFamily="34" charset="0"/>
              <a:cs typeface="Verdana" pitchFamily="34" charset="0"/>
            </a:endParaRPr>
          </a:p>
        </p:txBody>
      </p:sp>
      <p:sp>
        <p:nvSpPr>
          <p:cNvPr id="19" name="Rectangle 18"/>
          <p:cNvSpPr>
            <a:spLocks/>
          </p:cNvSpPr>
          <p:nvPr/>
        </p:nvSpPr>
        <p:spPr>
          <a:xfrm rot="18052872">
            <a:off x="2921128" y="1080320"/>
            <a:ext cx="533400" cy="6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800"/>
              </a:lnSpc>
            </a:pPr>
            <a:r>
              <a:rPr lang="en-US" sz="3600" b="1" dirty="0" smtClean="0">
                <a:solidFill>
                  <a:srgbClr val="FF0000"/>
                </a:solidFill>
                <a:latin typeface="Arial" pitchFamily="34" charset="0"/>
                <a:ea typeface="Verdana" pitchFamily="34" charset="0"/>
                <a:cs typeface="Arial" pitchFamily="34" charset="0"/>
              </a:rPr>
              <a:t>N</a:t>
            </a:r>
            <a:endParaRPr lang="en-US" sz="200" b="1" dirty="0">
              <a:solidFill>
                <a:srgbClr val="FF0000"/>
              </a:solidFill>
              <a:latin typeface="Verdana" pitchFamily="34" charset="0"/>
              <a:ea typeface="Verdana" pitchFamily="34" charset="0"/>
              <a:cs typeface="Verdana" pitchFamily="34" charset="0"/>
            </a:endParaRPr>
          </a:p>
        </p:txBody>
      </p:sp>
      <p:sp>
        <p:nvSpPr>
          <p:cNvPr id="20" name="Rectangle 19"/>
          <p:cNvSpPr>
            <a:spLocks/>
          </p:cNvSpPr>
          <p:nvPr/>
        </p:nvSpPr>
        <p:spPr>
          <a:xfrm rot="10983958">
            <a:off x="4191000" y="3569530"/>
            <a:ext cx="533400" cy="6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800"/>
              </a:lnSpc>
            </a:pPr>
            <a:r>
              <a:rPr lang="en-US" sz="3600" b="1" dirty="0" smtClean="0">
                <a:solidFill>
                  <a:srgbClr val="FF0000"/>
                </a:solidFill>
                <a:latin typeface="Arial" pitchFamily="34" charset="0"/>
                <a:ea typeface="Verdana" pitchFamily="34" charset="0"/>
                <a:cs typeface="Arial" pitchFamily="34" charset="0"/>
              </a:rPr>
              <a:t>N</a:t>
            </a:r>
            <a:endParaRPr lang="en-US" sz="200" b="1" dirty="0">
              <a:solidFill>
                <a:srgbClr val="FF0000"/>
              </a:solidFill>
              <a:latin typeface="Verdana" pitchFamily="34" charset="0"/>
              <a:ea typeface="Verdana" pitchFamily="34" charset="0"/>
              <a:cs typeface="Verdana" pitchFamily="34" charset="0"/>
            </a:endParaRPr>
          </a:p>
        </p:txBody>
      </p:sp>
      <p:sp>
        <p:nvSpPr>
          <p:cNvPr id="21" name="Rectangle 20"/>
          <p:cNvSpPr>
            <a:spLocks/>
          </p:cNvSpPr>
          <p:nvPr/>
        </p:nvSpPr>
        <p:spPr>
          <a:xfrm rot="14576554">
            <a:off x="2845742" y="2603076"/>
            <a:ext cx="533400" cy="6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800"/>
              </a:lnSpc>
            </a:pPr>
            <a:r>
              <a:rPr lang="en-US" sz="3600" b="1" dirty="0" smtClean="0">
                <a:solidFill>
                  <a:srgbClr val="0000FF"/>
                </a:solidFill>
                <a:latin typeface="Arial" pitchFamily="34" charset="0"/>
                <a:ea typeface="Verdana" pitchFamily="34" charset="0"/>
                <a:cs typeface="Arial" pitchFamily="34" charset="0"/>
              </a:rPr>
              <a:t>S</a:t>
            </a:r>
            <a:endParaRPr lang="en-US" sz="200" b="1" dirty="0">
              <a:solidFill>
                <a:srgbClr val="0000FF"/>
              </a:solidFill>
              <a:latin typeface="Verdana" pitchFamily="34" charset="0"/>
              <a:ea typeface="Verdana" pitchFamily="34" charset="0"/>
              <a:cs typeface="Verdana" pitchFamily="34" charset="0"/>
            </a:endParaRPr>
          </a:p>
        </p:txBody>
      </p:sp>
      <p:sp>
        <p:nvSpPr>
          <p:cNvPr id="22" name="Rectangle 21"/>
          <p:cNvSpPr>
            <a:spLocks/>
          </p:cNvSpPr>
          <p:nvPr/>
        </p:nvSpPr>
        <p:spPr>
          <a:xfrm rot="7402079">
            <a:off x="5620945" y="2845898"/>
            <a:ext cx="533400" cy="6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800"/>
              </a:lnSpc>
            </a:pPr>
            <a:r>
              <a:rPr lang="en-US" sz="3600" b="1" dirty="0" smtClean="0">
                <a:solidFill>
                  <a:srgbClr val="0000FF"/>
                </a:solidFill>
                <a:latin typeface="Arial" pitchFamily="34" charset="0"/>
                <a:ea typeface="Verdana" pitchFamily="34" charset="0"/>
                <a:cs typeface="Arial" pitchFamily="34" charset="0"/>
              </a:rPr>
              <a:t>S</a:t>
            </a:r>
            <a:endParaRPr lang="en-US" sz="200" b="1" dirty="0">
              <a:solidFill>
                <a:srgbClr val="0000FF"/>
              </a:solidFill>
              <a:latin typeface="Verdana" pitchFamily="34" charset="0"/>
              <a:ea typeface="Verdana" pitchFamily="34" charset="0"/>
              <a:cs typeface="Verdana" pitchFamily="34" charset="0"/>
            </a:endParaRPr>
          </a:p>
        </p:txBody>
      </p:sp>
      <p:sp>
        <p:nvSpPr>
          <p:cNvPr id="23" name="Block Arc 22"/>
          <p:cNvSpPr/>
          <p:nvPr/>
        </p:nvSpPr>
        <p:spPr>
          <a:xfrm rot="10478635">
            <a:off x="4191000" y="1845917"/>
            <a:ext cx="1464868" cy="1446047"/>
          </a:xfrm>
          <a:prstGeom prst="blockArc">
            <a:avLst>
              <a:gd name="adj1" fmla="val 10946601"/>
              <a:gd name="adj2" fmla="val 15123407"/>
              <a:gd name="adj3" fmla="val 14338"/>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6" name="Rectangle 25"/>
          <p:cNvSpPr>
            <a:spLocks/>
          </p:cNvSpPr>
          <p:nvPr/>
        </p:nvSpPr>
        <p:spPr>
          <a:xfrm>
            <a:off x="685800" y="133350"/>
            <a:ext cx="1981200" cy="457200"/>
          </a:xfrm>
          <a:prstGeom prst="rect">
            <a:avLst/>
          </a:prstGeom>
          <a:solidFill>
            <a:srgbClr val="FFFF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800"/>
              </a:lnSpc>
            </a:pPr>
            <a:r>
              <a:rPr lang="en-US" sz="2000" b="1" dirty="0" err="1" smtClean="0">
                <a:solidFill>
                  <a:srgbClr val="0000FF"/>
                </a:solidFill>
                <a:latin typeface="Arial" pitchFamily="34" charset="0"/>
                <a:ea typeface="Verdana" pitchFamily="34" charset="0"/>
                <a:cs typeface="Arial" pitchFamily="34" charset="0"/>
              </a:rPr>
              <a:t>BLDC</a:t>
            </a:r>
            <a:r>
              <a:rPr lang="en-US" sz="2000" b="1" dirty="0" smtClean="0">
                <a:solidFill>
                  <a:srgbClr val="0000FF"/>
                </a:solidFill>
                <a:latin typeface="Arial" pitchFamily="34" charset="0"/>
                <a:ea typeface="Verdana" pitchFamily="34" charset="0"/>
                <a:cs typeface="Arial" pitchFamily="34" charset="0"/>
              </a:rPr>
              <a:t> Motor</a:t>
            </a:r>
            <a:endParaRPr lang="en-US" sz="400" b="1" dirty="0">
              <a:solidFill>
                <a:srgbClr val="0000FF"/>
              </a:solidFill>
              <a:latin typeface="Verdana" pitchFamily="34" charset="0"/>
              <a:ea typeface="Verdana" pitchFamily="34" charset="0"/>
              <a:cs typeface="Verdana" pitchFamily="34"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76200" y="112129"/>
            <a:ext cx="533400" cy="4919239"/>
            <a:chOff x="14626" y="14712"/>
            <a:chExt cx="598680" cy="6386091"/>
          </a:xfrm>
        </p:grpSpPr>
        <p:pic>
          <p:nvPicPr>
            <p:cNvPr id="3" name="Picture 2"/>
            <p:cNvPicPr>
              <a:picLocks noChangeAspect="1" noChangeArrowheads="1"/>
            </p:cNvPicPr>
            <p:nvPr/>
          </p:nvPicPr>
          <p:blipFill>
            <a:blip r:embed="rId2" cstate="print"/>
            <a:srcRect/>
            <a:stretch>
              <a:fillRect/>
            </a:stretch>
          </p:blipFill>
          <p:spPr bwMode="auto">
            <a:xfrm>
              <a:off x="14626" y="14712"/>
              <a:ext cx="598680" cy="846471"/>
            </a:xfrm>
            <a:prstGeom prst="rect">
              <a:avLst/>
            </a:prstGeom>
            <a:noFill/>
            <a:ln w="9525">
              <a:solidFill>
                <a:srgbClr val="0000FF"/>
              </a:solidFill>
              <a:miter lim="800000"/>
              <a:headEnd/>
              <a:tailEnd/>
            </a:ln>
          </p:spPr>
        </p:pic>
        <p:sp>
          <p:nvSpPr>
            <p:cNvPr id="4" name="Text Box 14"/>
            <p:cNvSpPr txBox="1">
              <a:spLocks noChangeArrowheads="1"/>
            </p:cNvSpPr>
            <p:nvPr/>
          </p:nvSpPr>
          <p:spPr bwMode="auto">
            <a:xfrm rot="16198651">
              <a:off x="-2592929" y="3446777"/>
              <a:ext cx="5562442" cy="345444"/>
            </a:xfrm>
            <a:prstGeom prst="rect">
              <a:avLst/>
            </a:prstGeom>
            <a:solidFill>
              <a:srgbClr val="000080"/>
            </a:solidFill>
            <a:ln w="9525">
              <a:noFill/>
              <a:miter lim="800000"/>
              <a:headEnd/>
              <a:tailEnd/>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50000"/>
                </a:spcBef>
              </a:pPr>
              <a:r>
                <a:rPr lang="en-US" sz="1400" b="1" dirty="0">
                  <a:solidFill>
                    <a:schemeClr val="bg1"/>
                  </a:solidFill>
                  <a:latin typeface="Century Gothic" pitchFamily="34" charset="0"/>
                </a:rPr>
                <a:t>Vishwakarma  Institute  of  Technology</a:t>
              </a:r>
            </a:p>
          </p:txBody>
        </p:sp>
        <p:sp>
          <p:nvSpPr>
            <p:cNvPr id="5" name="Text Box 14">
              <a:extLst>
                <a:ext uri="{FF2B5EF4-FFF2-40B4-BE49-F238E27FC236}">
                  <a16:creationId xmlns:lc="http://schemas.openxmlformats.org/drawingml/2006/lockedCanvas" xmlns="" xmlns:a16="http://schemas.microsoft.com/office/drawing/2014/main" id="{08D90372-4075-403D-BB31-3D2C4B3C58A2}"/>
                </a:ext>
              </a:extLst>
            </p:cNvPr>
            <p:cNvSpPr txBox="1">
              <a:spLocks noChangeArrowheads="1"/>
            </p:cNvSpPr>
            <p:nvPr/>
          </p:nvSpPr>
          <p:spPr bwMode="auto">
            <a:xfrm rot="16200000">
              <a:off x="-2314809" y="3472688"/>
              <a:ext cx="5562602" cy="293627"/>
            </a:xfrm>
            <a:prstGeom prst="rect">
              <a:avLst/>
            </a:prstGeom>
            <a:solidFill>
              <a:srgbClr val="FFFF99"/>
            </a:solidFill>
            <a:ln w="9525">
              <a:solidFill>
                <a:srgbClr val="002060"/>
              </a:solidFill>
              <a:miter lim="800000"/>
              <a:headEnd/>
              <a:tailEnd/>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50000"/>
                </a:spcBef>
              </a:pPr>
              <a:r>
                <a:rPr lang="en-US" sz="1100" b="1" dirty="0">
                  <a:solidFill>
                    <a:srgbClr val="002060"/>
                  </a:solidFill>
                  <a:latin typeface="Century Gothic" pitchFamily="34" charset="0"/>
                </a:rPr>
                <a:t>FY - Department of Engineering, Sciences and Humanities</a:t>
              </a:r>
            </a:p>
          </p:txBody>
        </p:sp>
      </p:grpSp>
      <p:sp>
        <p:nvSpPr>
          <p:cNvPr id="18" name="Donut 17"/>
          <p:cNvSpPr/>
          <p:nvPr/>
        </p:nvSpPr>
        <p:spPr>
          <a:xfrm>
            <a:off x="3352801" y="1083917"/>
            <a:ext cx="2362200" cy="2362200"/>
          </a:xfrm>
          <a:prstGeom prst="donut">
            <a:avLst>
              <a:gd name="adj" fmla="val 7275"/>
            </a:avLst>
          </a:prstGeom>
          <a:solidFill>
            <a:schemeClr val="bg1">
              <a:lumMod val="85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Donut 16"/>
          <p:cNvSpPr/>
          <p:nvPr/>
        </p:nvSpPr>
        <p:spPr>
          <a:xfrm>
            <a:off x="2590801" y="245717"/>
            <a:ext cx="3886200" cy="4038600"/>
          </a:xfrm>
          <a:prstGeom prst="donut">
            <a:avLst>
              <a:gd name="adj" fmla="val 7275"/>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6" name="Block Arc 45"/>
          <p:cNvSpPr/>
          <p:nvPr/>
        </p:nvSpPr>
        <p:spPr>
          <a:xfrm rot="780225">
            <a:off x="3512636" y="1172380"/>
            <a:ext cx="1464868" cy="1446047"/>
          </a:xfrm>
          <a:prstGeom prst="blockArc">
            <a:avLst>
              <a:gd name="adj1" fmla="val 10946601"/>
              <a:gd name="adj2" fmla="val 15123407"/>
              <a:gd name="adj3" fmla="val 14338"/>
            </a:avLst>
          </a:prstGeom>
          <a:solidFill>
            <a:srgbClr val="FF33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9" name="Flowchart: Stored Data 48"/>
          <p:cNvSpPr/>
          <p:nvPr/>
        </p:nvSpPr>
        <p:spPr>
          <a:xfrm rot="1879606">
            <a:off x="2761295" y="914249"/>
            <a:ext cx="784392" cy="943571"/>
          </a:xfrm>
          <a:prstGeom prst="flowChartOnlineStorage">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Flowchart: Stored Data 49"/>
          <p:cNvSpPr/>
          <p:nvPr/>
        </p:nvSpPr>
        <p:spPr>
          <a:xfrm rot="5662946">
            <a:off x="4213639" y="174948"/>
            <a:ext cx="804617" cy="943571"/>
          </a:xfrm>
          <a:prstGeom prst="flowChartOnlineStorage">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lowchart: Stored Data 50"/>
          <p:cNvSpPr/>
          <p:nvPr/>
        </p:nvSpPr>
        <p:spPr>
          <a:xfrm rot="12728256">
            <a:off x="5524875" y="2668058"/>
            <a:ext cx="784392" cy="943571"/>
          </a:xfrm>
          <a:prstGeom prst="flowChartOnlineStorage">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Flowchart: Stored Data 51"/>
          <p:cNvSpPr/>
          <p:nvPr/>
        </p:nvSpPr>
        <p:spPr>
          <a:xfrm rot="16429689">
            <a:off x="4081425" y="3414980"/>
            <a:ext cx="784392" cy="943571"/>
          </a:xfrm>
          <a:prstGeom prst="flowChartOnlineStorage">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Flowchart: Stored Data 52"/>
          <p:cNvSpPr/>
          <p:nvPr/>
        </p:nvSpPr>
        <p:spPr>
          <a:xfrm rot="19984463">
            <a:off x="2685725" y="2505772"/>
            <a:ext cx="784392" cy="943571"/>
          </a:xfrm>
          <a:prstGeom prst="flowChartOnlineStorage">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lowchart: Stored Data 53"/>
          <p:cNvSpPr/>
          <p:nvPr/>
        </p:nvSpPr>
        <p:spPr>
          <a:xfrm rot="9146682">
            <a:off x="5577530" y="1009589"/>
            <a:ext cx="784392" cy="943571"/>
          </a:xfrm>
          <a:prstGeom prst="flowChartOnlineStorage">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p:cNvSpPr>
            <a:spLocks/>
          </p:cNvSpPr>
          <p:nvPr/>
        </p:nvSpPr>
        <p:spPr>
          <a:xfrm rot="3504116">
            <a:off x="5658548" y="1165979"/>
            <a:ext cx="533400" cy="6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800"/>
              </a:lnSpc>
            </a:pPr>
            <a:r>
              <a:rPr lang="en-US" sz="3600" b="1" dirty="0" smtClean="0">
                <a:solidFill>
                  <a:srgbClr val="FF0000"/>
                </a:solidFill>
                <a:latin typeface="Arial" pitchFamily="34" charset="0"/>
                <a:ea typeface="Verdana" pitchFamily="34" charset="0"/>
                <a:cs typeface="Arial" pitchFamily="34" charset="0"/>
              </a:rPr>
              <a:t>N</a:t>
            </a:r>
            <a:endParaRPr lang="en-US" sz="200" b="1" dirty="0">
              <a:solidFill>
                <a:srgbClr val="FF0000"/>
              </a:solidFill>
              <a:latin typeface="Verdana" pitchFamily="34" charset="0"/>
              <a:ea typeface="Verdana" pitchFamily="34" charset="0"/>
              <a:cs typeface="Verdana" pitchFamily="34" charset="0"/>
            </a:endParaRPr>
          </a:p>
        </p:txBody>
      </p:sp>
      <p:sp>
        <p:nvSpPr>
          <p:cNvPr id="57" name="Rectangle 56"/>
          <p:cNvSpPr>
            <a:spLocks/>
          </p:cNvSpPr>
          <p:nvPr/>
        </p:nvSpPr>
        <p:spPr>
          <a:xfrm rot="204642">
            <a:off x="4361062" y="382790"/>
            <a:ext cx="533400" cy="6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800"/>
              </a:lnSpc>
            </a:pPr>
            <a:r>
              <a:rPr lang="en-US" sz="3600" b="1" dirty="0" smtClean="0">
                <a:solidFill>
                  <a:srgbClr val="0000FF"/>
                </a:solidFill>
                <a:latin typeface="Arial" pitchFamily="34" charset="0"/>
                <a:ea typeface="Verdana" pitchFamily="34" charset="0"/>
                <a:cs typeface="Arial" pitchFamily="34" charset="0"/>
              </a:rPr>
              <a:t>S</a:t>
            </a:r>
            <a:endParaRPr lang="en-US" sz="200" b="1" dirty="0">
              <a:solidFill>
                <a:srgbClr val="0000FF"/>
              </a:solidFill>
              <a:latin typeface="Verdana" pitchFamily="34" charset="0"/>
              <a:ea typeface="Verdana" pitchFamily="34" charset="0"/>
              <a:cs typeface="Verdana" pitchFamily="34" charset="0"/>
            </a:endParaRPr>
          </a:p>
        </p:txBody>
      </p:sp>
      <p:sp>
        <p:nvSpPr>
          <p:cNvPr id="19" name="Rectangle 18"/>
          <p:cNvSpPr>
            <a:spLocks/>
          </p:cNvSpPr>
          <p:nvPr/>
        </p:nvSpPr>
        <p:spPr>
          <a:xfrm rot="18052872">
            <a:off x="2921128" y="1080320"/>
            <a:ext cx="533400" cy="6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800"/>
              </a:lnSpc>
            </a:pPr>
            <a:r>
              <a:rPr lang="en-US" sz="3600" b="1" dirty="0" smtClean="0">
                <a:solidFill>
                  <a:srgbClr val="FF0000"/>
                </a:solidFill>
                <a:latin typeface="Arial" pitchFamily="34" charset="0"/>
                <a:ea typeface="Verdana" pitchFamily="34" charset="0"/>
                <a:cs typeface="Arial" pitchFamily="34" charset="0"/>
              </a:rPr>
              <a:t>N</a:t>
            </a:r>
            <a:endParaRPr lang="en-US" sz="200" b="1" dirty="0">
              <a:solidFill>
                <a:srgbClr val="FF0000"/>
              </a:solidFill>
              <a:latin typeface="Verdana" pitchFamily="34" charset="0"/>
              <a:ea typeface="Verdana" pitchFamily="34" charset="0"/>
              <a:cs typeface="Verdana" pitchFamily="34" charset="0"/>
            </a:endParaRPr>
          </a:p>
        </p:txBody>
      </p:sp>
      <p:sp>
        <p:nvSpPr>
          <p:cNvPr id="20" name="Rectangle 19"/>
          <p:cNvSpPr>
            <a:spLocks/>
          </p:cNvSpPr>
          <p:nvPr/>
        </p:nvSpPr>
        <p:spPr>
          <a:xfrm rot="10983958">
            <a:off x="4191000" y="3569530"/>
            <a:ext cx="533400" cy="6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800"/>
              </a:lnSpc>
            </a:pPr>
            <a:r>
              <a:rPr lang="en-US" sz="3600" b="1" dirty="0" smtClean="0">
                <a:solidFill>
                  <a:srgbClr val="FF0000"/>
                </a:solidFill>
                <a:latin typeface="Arial" pitchFamily="34" charset="0"/>
                <a:ea typeface="Verdana" pitchFamily="34" charset="0"/>
                <a:cs typeface="Arial" pitchFamily="34" charset="0"/>
              </a:rPr>
              <a:t>N</a:t>
            </a:r>
            <a:endParaRPr lang="en-US" sz="200" b="1" dirty="0">
              <a:solidFill>
                <a:srgbClr val="FF0000"/>
              </a:solidFill>
              <a:latin typeface="Verdana" pitchFamily="34" charset="0"/>
              <a:ea typeface="Verdana" pitchFamily="34" charset="0"/>
              <a:cs typeface="Verdana" pitchFamily="34" charset="0"/>
            </a:endParaRPr>
          </a:p>
        </p:txBody>
      </p:sp>
      <p:sp>
        <p:nvSpPr>
          <p:cNvPr id="21" name="Rectangle 20"/>
          <p:cNvSpPr>
            <a:spLocks/>
          </p:cNvSpPr>
          <p:nvPr/>
        </p:nvSpPr>
        <p:spPr>
          <a:xfrm rot="14576554">
            <a:off x="2845742" y="2603076"/>
            <a:ext cx="533400" cy="6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800"/>
              </a:lnSpc>
            </a:pPr>
            <a:r>
              <a:rPr lang="en-US" sz="3600" b="1" dirty="0" smtClean="0">
                <a:solidFill>
                  <a:srgbClr val="0000FF"/>
                </a:solidFill>
                <a:latin typeface="Arial" pitchFamily="34" charset="0"/>
                <a:ea typeface="Verdana" pitchFamily="34" charset="0"/>
                <a:cs typeface="Arial" pitchFamily="34" charset="0"/>
              </a:rPr>
              <a:t>S</a:t>
            </a:r>
            <a:endParaRPr lang="en-US" sz="200" b="1" dirty="0">
              <a:solidFill>
                <a:srgbClr val="0000FF"/>
              </a:solidFill>
              <a:latin typeface="Verdana" pitchFamily="34" charset="0"/>
              <a:ea typeface="Verdana" pitchFamily="34" charset="0"/>
              <a:cs typeface="Verdana" pitchFamily="34" charset="0"/>
            </a:endParaRPr>
          </a:p>
        </p:txBody>
      </p:sp>
      <p:sp>
        <p:nvSpPr>
          <p:cNvPr id="22" name="Rectangle 21"/>
          <p:cNvSpPr>
            <a:spLocks/>
          </p:cNvSpPr>
          <p:nvPr/>
        </p:nvSpPr>
        <p:spPr>
          <a:xfrm rot="7402079">
            <a:off x="5620945" y="2845898"/>
            <a:ext cx="533400" cy="6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800"/>
              </a:lnSpc>
            </a:pPr>
            <a:r>
              <a:rPr lang="en-US" sz="3600" b="1" dirty="0" smtClean="0">
                <a:solidFill>
                  <a:srgbClr val="0000FF"/>
                </a:solidFill>
                <a:latin typeface="Arial" pitchFamily="34" charset="0"/>
                <a:ea typeface="Verdana" pitchFamily="34" charset="0"/>
                <a:cs typeface="Arial" pitchFamily="34" charset="0"/>
              </a:rPr>
              <a:t>S</a:t>
            </a:r>
            <a:endParaRPr lang="en-US" sz="200" b="1" dirty="0">
              <a:solidFill>
                <a:srgbClr val="0000FF"/>
              </a:solidFill>
              <a:latin typeface="Verdana" pitchFamily="34" charset="0"/>
              <a:ea typeface="Verdana" pitchFamily="34" charset="0"/>
              <a:cs typeface="Verdana" pitchFamily="34" charset="0"/>
            </a:endParaRPr>
          </a:p>
        </p:txBody>
      </p:sp>
      <p:sp>
        <p:nvSpPr>
          <p:cNvPr id="23" name="Block Arc 22"/>
          <p:cNvSpPr/>
          <p:nvPr/>
        </p:nvSpPr>
        <p:spPr>
          <a:xfrm rot="12371348">
            <a:off x="4053906" y="1942543"/>
            <a:ext cx="1464868" cy="1446047"/>
          </a:xfrm>
          <a:prstGeom prst="blockArc">
            <a:avLst>
              <a:gd name="adj1" fmla="val 10946601"/>
              <a:gd name="adj2" fmla="val 15123407"/>
              <a:gd name="adj3" fmla="val 14338"/>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4" name="Rectangle 23"/>
          <p:cNvSpPr>
            <a:spLocks/>
          </p:cNvSpPr>
          <p:nvPr/>
        </p:nvSpPr>
        <p:spPr>
          <a:xfrm>
            <a:off x="685800" y="133350"/>
            <a:ext cx="1981200" cy="457200"/>
          </a:xfrm>
          <a:prstGeom prst="rect">
            <a:avLst/>
          </a:prstGeom>
          <a:solidFill>
            <a:srgbClr val="FFFF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800"/>
              </a:lnSpc>
            </a:pPr>
            <a:r>
              <a:rPr lang="en-US" sz="2000" b="1" dirty="0" err="1" smtClean="0">
                <a:solidFill>
                  <a:srgbClr val="0000FF"/>
                </a:solidFill>
                <a:latin typeface="Arial" pitchFamily="34" charset="0"/>
                <a:ea typeface="Verdana" pitchFamily="34" charset="0"/>
                <a:cs typeface="Arial" pitchFamily="34" charset="0"/>
              </a:rPr>
              <a:t>BLDC</a:t>
            </a:r>
            <a:r>
              <a:rPr lang="en-US" sz="2000" b="1" dirty="0" smtClean="0">
                <a:solidFill>
                  <a:srgbClr val="0000FF"/>
                </a:solidFill>
                <a:latin typeface="Arial" pitchFamily="34" charset="0"/>
                <a:ea typeface="Verdana" pitchFamily="34" charset="0"/>
                <a:cs typeface="Arial" pitchFamily="34" charset="0"/>
              </a:rPr>
              <a:t> Motor</a:t>
            </a:r>
            <a:endParaRPr lang="en-US" sz="400" b="1" dirty="0">
              <a:solidFill>
                <a:srgbClr val="0000FF"/>
              </a:solidFill>
              <a:latin typeface="Verdana" pitchFamily="34" charset="0"/>
              <a:ea typeface="Verdana" pitchFamily="34" charset="0"/>
              <a:cs typeface="Verdana" pitchFamily="3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76200" y="112129"/>
            <a:ext cx="533400" cy="4919239"/>
            <a:chOff x="14626" y="14712"/>
            <a:chExt cx="598680" cy="6386091"/>
          </a:xfrm>
        </p:grpSpPr>
        <p:pic>
          <p:nvPicPr>
            <p:cNvPr id="3" name="Picture 2"/>
            <p:cNvPicPr>
              <a:picLocks noChangeAspect="1" noChangeArrowheads="1"/>
            </p:cNvPicPr>
            <p:nvPr/>
          </p:nvPicPr>
          <p:blipFill>
            <a:blip r:embed="rId2" cstate="print"/>
            <a:srcRect/>
            <a:stretch>
              <a:fillRect/>
            </a:stretch>
          </p:blipFill>
          <p:spPr bwMode="auto">
            <a:xfrm>
              <a:off x="14626" y="14712"/>
              <a:ext cx="598680" cy="846471"/>
            </a:xfrm>
            <a:prstGeom prst="rect">
              <a:avLst/>
            </a:prstGeom>
            <a:noFill/>
            <a:ln w="9525">
              <a:solidFill>
                <a:srgbClr val="0000FF"/>
              </a:solidFill>
              <a:miter lim="800000"/>
              <a:headEnd/>
              <a:tailEnd/>
            </a:ln>
          </p:spPr>
        </p:pic>
        <p:sp>
          <p:nvSpPr>
            <p:cNvPr id="4" name="Text Box 14"/>
            <p:cNvSpPr txBox="1">
              <a:spLocks noChangeArrowheads="1"/>
            </p:cNvSpPr>
            <p:nvPr/>
          </p:nvSpPr>
          <p:spPr bwMode="auto">
            <a:xfrm rot="16198651">
              <a:off x="-2592929" y="3446777"/>
              <a:ext cx="5562442" cy="345444"/>
            </a:xfrm>
            <a:prstGeom prst="rect">
              <a:avLst/>
            </a:prstGeom>
            <a:solidFill>
              <a:srgbClr val="000080"/>
            </a:solidFill>
            <a:ln w="9525">
              <a:noFill/>
              <a:miter lim="800000"/>
              <a:headEnd/>
              <a:tailEnd/>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50000"/>
                </a:spcBef>
              </a:pPr>
              <a:r>
                <a:rPr lang="en-US" sz="1400" b="1" dirty="0">
                  <a:solidFill>
                    <a:schemeClr val="bg1"/>
                  </a:solidFill>
                  <a:latin typeface="Century Gothic" pitchFamily="34" charset="0"/>
                </a:rPr>
                <a:t>Vishwakarma  Institute  of  Technology</a:t>
              </a:r>
            </a:p>
          </p:txBody>
        </p:sp>
        <p:sp>
          <p:nvSpPr>
            <p:cNvPr id="5" name="Text Box 14">
              <a:extLst>
                <a:ext uri="{FF2B5EF4-FFF2-40B4-BE49-F238E27FC236}">
                  <a16:creationId xmlns:lc="http://schemas.openxmlformats.org/drawingml/2006/lockedCanvas" xmlns="" xmlns:a16="http://schemas.microsoft.com/office/drawing/2014/main" id="{08D90372-4075-403D-BB31-3D2C4B3C58A2}"/>
                </a:ext>
              </a:extLst>
            </p:cNvPr>
            <p:cNvSpPr txBox="1">
              <a:spLocks noChangeArrowheads="1"/>
            </p:cNvSpPr>
            <p:nvPr/>
          </p:nvSpPr>
          <p:spPr bwMode="auto">
            <a:xfrm rot="16200000">
              <a:off x="-2314809" y="3472688"/>
              <a:ext cx="5562602" cy="293627"/>
            </a:xfrm>
            <a:prstGeom prst="rect">
              <a:avLst/>
            </a:prstGeom>
            <a:solidFill>
              <a:srgbClr val="FFFF99"/>
            </a:solidFill>
            <a:ln w="9525">
              <a:solidFill>
                <a:srgbClr val="002060"/>
              </a:solidFill>
              <a:miter lim="800000"/>
              <a:headEnd/>
              <a:tailEnd/>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50000"/>
                </a:spcBef>
              </a:pPr>
              <a:r>
                <a:rPr lang="en-US" sz="1100" b="1" dirty="0">
                  <a:solidFill>
                    <a:srgbClr val="002060"/>
                  </a:solidFill>
                  <a:latin typeface="Century Gothic" pitchFamily="34" charset="0"/>
                </a:rPr>
                <a:t>FY - Department of Engineering, Sciences and Humanities</a:t>
              </a:r>
            </a:p>
          </p:txBody>
        </p:sp>
      </p:grpSp>
      <p:sp>
        <p:nvSpPr>
          <p:cNvPr id="18" name="Donut 17"/>
          <p:cNvSpPr/>
          <p:nvPr/>
        </p:nvSpPr>
        <p:spPr>
          <a:xfrm>
            <a:off x="3352801" y="1083917"/>
            <a:ext cx="2362200" cy="2362200"/>
          </a:xfrm>
          <a:prstGeom prst="donut">
            <a:avLst>
              <a:gd name="adj" fmla="val 7275"/>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Donut 16"/>
          <p:cNvSpPr/>
          <p:nvPr/>
        </p:nvSpPr>
        <p:spPr>
          <a:xfrm>
            <a:off x="2590801" y="245717"/>
            <a:ext cx="3886200" cy="4038600"/>
          </a:xfrm>
          <a:prstGeom prst="donut">
            <a:avLst>
              <a:gd name="adj" fmla="val 7275"/>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6" name="Block Arc 45"/>
          <p:cNvSpPr/>
          <p:nvPr/>
        </p:nvSpPr>
        <p:spPr>
          <a:xfrm rot="2349586">
            <a:off x="3725304" y="1090348"/>
            <a:ext cx="1464868" cy="1446047"/>
          </a:xfrm>
          <a:prstGeom prst="blockArc">
            <a:avLst>
              <a:gd name="adj1" fmla="val 10946601"/>
              <a:gd name="adj2" fmla="val 15123407"/>
              <a:gd name="adj3" fmla="val 14338"/>
            </a:avLst>
          </a:prstGeom>
          <a:solidFill>
            <a:srgbClr val="FF33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9" name="Flowchart: Stored Data 48"/>
          <p:cNvSpPr/>
          <p:nvPr/>
        </p:nvSpPr>
        <p:spPr>
          <a:xfrm rot="1879606">
            <a:off x="2761295" y="914249"/>
            <a:ext cx="784392" cy="943571"/>
          </a:xfrm>
          <a:prstGeom prst="flowChartOnlineStorage">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Flowchart: Stored Data 49"/>
          <p:cNvSpPr/>
          <p:nvPr/>
        </p:nvSpPr>
        <p:spPr>
          <a:xfrm rot="5662946">
            <a:off x="4213639" y="174948"/>
            <a:ext cx="804617" cy="943571"/>
          </a:xfrm>
          <a:prstGeom prst="flowChartOnlineStorage">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lowchart: Stored Data 50"/>
          <p:cNvSpPr/>
          <p:nvPr/>
        </p:nvSpPr>
        <p:spPr>
          <a:xfrm rot="12728256">
            <a:off x="5524875" y="2668058"/>
            <a:ext cx="784392" cy="943571"/>
          </a:xfrm>
          <a:prstGeom prst="flowChartOnlineStorage">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Flowchart: Stored Data 51"/>
          <p:cNvSpPr/>
          <p:nvPr/>
        </p:nvSpPr>
        <p:spPr>
          <a:xfrm rot="16429689">
            <a:off x="4081425" y="3414980"/>
            <a:ext cx="784392" cy="943571"/>
          </a:xfrm>
          <a:prstGeom prst="flowChartOnlineStorage">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Flowchart: Stored Data 52"/>
          <p:cNvSpPr/>
          <p:nvPr/>
        </p:nvSpPr>
        <p:spPr>
          <a:xfrm rot="19984463">
            <a:off x="2685725" y="2505772"/>
            <a:ext cx="784392" cy="943571"/>
          </a:xfrm>
          <a:prstGeom prst="flowChartOnlineStorage">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lowchart: Stored Data 53"/>
          <p:cNvSpPr/>
          <p:nvPr/>
        </p:nvSpPr>
        <p:spPr>
          <a:xfrm rot="9146682">
            <a:off x="5577530" y="1009589"/>
            <a:ext cx="784392" cy="943571"/>
          </a:xfrm>
          <a:prstGeom prst="flowChartOnlineStorage">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p:cNvSpPr>
            <a:spLocks/>
          </p:cNvSpPr>
          <p:nvPr/>
        </p:nvSpPr>
        <p:spPr>
          <a:xfrm rot="3504116">
            <a:off x="5658548" y="1165979"/>
            <a:ext cx="533400" cy="6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800"/>
              </a:lnSpc>
            </a:pPr>
            <a:r>
              <a:rPr lang="en-US" sz="3600" b="1" dirty="0" smtClean="0">
                <a:solidFill>
                  <a:srgbClr val="FF0000"/>
                </a:solidFill>
                <a:latin typeface="Arial" pitchFamily="34" charset="0"/>
                <a:ea typeface="Verdana" pitchFamily="34" charset="0"/>
                <a:cs typeface="Arial" pitchFamily="34" charset="0"/>
              </a:rPr>
              <a:t>N</a:t>
            </a:r>
            <a:endParaRPr lang="en-US" sz="200" b="1" dirty="0">
              <a:solidFill>
                <a:srgbClr val="FF0000"/>
              </a:solidFill>
              <a:latin typeface="Verdana" pitchFamily="34" charset="0"/>
              <a:ea typeface="Verdana" pitchFamily="34" charset="0"/>
              <a:cs typeface="Verdana" pitchFamily="34" charset="0"/>
            </a:endParaRPr>
          </a:p>
        </p:txBody>
      </p:sp>
      <p:sp>
        <p:nvSpPr>
          <p:cNvPr id="57" name="Rectangle 56"/>
          <p:cNvSpPr>
            <a:spLocks/>
          </p:cNvSpPr>
          <p:nvPr/>
        </p:nvSpPr>
        <p:spPr>
          <a:xfrm rot="204642">
            <a:off x="4361062" y="382790"/>
            <a:ext cx="533400" cy="6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800"/>
              </a:lnSpc>
            </a:pPr>
            <a:r>
              <a:rPr lang="en-US" sz="3600" b="1" dirty="0" smtClean="0">
                <a:solidFill>
                  <a:srgbClr val="0000FF"/>
                </a:solidFill>
                <a:latin typeface="Arial" pitchFamily="34" charset="0"/>
                <a:ea typeface="Verdana" pitchFamily="34" charset="0"/>
                <a:cs typeface="Arial" pitchFamily="34" charset="0"/>
              </a:rPr>
              <a:t>S</a:t>
            </a:r>
            <a:endParaRPr lang="en-US" sz="200" b="1" dirty="0">
              <a:solidFill>
                <a:srgbClr val="0000FF"/>
              </a:solidFill>
              <a:latin typeface="Verdana" pitchFamily="34" charset="0"/>
              <a:ea typeface="Verdana" pitchFamily="34" charset="0"/>
              <a:cs typeface="Verdana" pitchFamily="34" charset="0"/>
            </a:endParaRPr>
          </a:p>
        </p:txBody>
      </p:sp>
      <p:sp>
        <p:nvSpPr>
          <p:cNvPr id="23" name="Block Arc 22"/>
          <p:cNvSpPr/>
          <p:nvPr/>
        </p:nvSpPr>
        <p:spPr>
          <a:xfrm rot="13661096">
            <a:off x="3876689" y="1998840"/>
            <a:ext cx="1464868" cy="1446047"/>
          </a:xfrm>
          <a:prstGeom prst="blockArc">
            <a:avLst>
              <a:gd name="adj1" fmla="val 10946601"/>
              <a:gd name="adj2" fmla="val 15123407"/>
              <a:gd name="adj3" fmla="val 14338"/>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4" name="Rectangle 23"/>
          <p:cNvSpPr>
            <a:spLocks/>
          </p:cNvSpPr>
          <p:nvPr/>
        </p:nvSpPr>
        <p:spPr>
          <a:xfrm rot="168372">
            <a:off x="4328797" y="385425"/>
            <a:ext cx="533400" cy="6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800"/>
              </a:lnSpc>
            </a:pPr>
            <a:r>
              <a:rPr lang="en-US" sz="3600" b="1" dirty="0" smtClean="0">
                <a:solidFill>
                  <a:srgbClr val="FF0000"/>
                </a:solidFill>
                <a:latin typeface="Arial" pitchFamily="34" charset="0"/>
                <a:ea typeface="Verdana" pitchFamily="34" charset="0"/>
                <a:cs typeface="Arial" pitchFamily="34" charset="0"/>
              </a:rPr>
              <a:t>N</a:t>
            </a:r>
            <a:endParaRPr lang="en-US" sz="200" b="1" dirty="0">
              <a:solidFill>
                <a:srgbClr val="FF0000"/>
              </a:solidFill>
              <a:latin typeface="Verdana" pitchFamily="34" charset="0"/>
              <a:ea typeface="Verdana" pitchFamily="34" charset="0"/>
              <a:cs typeface="Verdana" pitchFamily="34" charset="0"/>
            </a:endParaRPr>
          </a:p>
        </p:txBody>
      </p:sp>
      <p:sp>
        <p:nvSpPr>
          <p:cNvPr id="25" name="Rectangle 24"/>
          <p:cNvSpPr>
            <a:spLocks/>
          </p:cNvSpPr>
          <p:nvPr/>
        </p:nvSpPr>
        <p:spPr>
          <a:xfrm rot="3777067">
            <a:off x="5665157" y="1241180"/>
            <a:ext cx="533400" cy="6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800"/>
              </a:lnSpc>
            </a:pPr>
            <a:r>
              <a:rPr lang="en-US" sz="3600" b="1" dirty="0" smtClean="0">
                <a:solidFill>
                  <a:srgbClr val="0000FF"/>
                </a:solidFill>
                <a:latin typeface="Arial" pitchFamily="34" charset="0"/>
                <a:ea typeface="Verdana" pitchFamily="34" charset="0"/>
                <a:cs typeface="Arial" pitchFamily="34" charset="0"/>
              </a:rPr>
              <a:t>S</a:t>
            </a:r>
            <a:endParaRPr lang="en-US" sz="200" b="1" dirty="0">
              <a:solidFill>
                <a:srgbClr val="0000FF"/>
              </a:solidFill>
              <a:latin typeface="Verdana" pitchFamily="34" charset="0"/>
              <a:ea typeface="Verdana" pitchFamily="34" charset="0"/>
              <a:cs typeface="Verdana" pitchFamily="34" charset="0"/>
            </a:endParaRPr>
          </a:p>
        </p:txBody>
      </p:sp>
      <p:sp>
        <p:nvSpPr>
          <p:cNvPr id="30" name="Rectangle 29"/>
          <p:cNvSpPr>
            <a:spLocks/>
          </p:cNvSpPr>
          <p:nvPr/>
        </p:nvSpPr>
        <p:spPr>
          <a:xfrm>
            <a:off x="685800" y="133350"/>
            <a:ext cx="1981200" cy="457200"/>
          </a:xfrm>
          <a:prstGeom prst="rect">
            <a:avLst/>
          </a:prstGeom>
          <a:solidFill>
            <a:srgbClr val="FFFF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800"/>
              </a:lnSpc>
            </a:pPr>
            <a:r>
              <a:rPr lang="en-US" sz="2000" b="1" dirty="0" err="1" smtClean="0">
                <a:solidFill>
                  <a:srgbClr val="0000FF"/>
                </a:solidFill>
                <a:latin typeface="Arial" pitchFamily="34" charset="0"/>
                <a:ea typeface="Verdana" pitchFamily="34" charset="0"/>
                <a:cs typeface="Arial" pitchFamily="34" charset="0"/>
              </a:rPr>
              <a:t>BLDC</a:t>
            </a:r>
            <a:r>
              <a:rPr lang="en-US" sz="2000" b="1" dirty="0" smtClean="0">
                <a:solidFill>
                  <a:srgbClr val="0000FF"/>
                </a:solidFill>
                <a:latin typeface="Arial" pitchFamily="34" charset="0"/>
                <a:ea typeface="Verdana" pitchFamily="34" charset="0"/>
                <a:cs typeface="Arial" pitchFamily="34" charset="0"/>
              </a:rPr>
              <a:t> Motor</a:t>
            </a:r>
            <a:endParaRPr lang="en-US" sz="400" b="1" dirty="0">
              <a:solidFill>
                <a:srgbClr val="0000FF"/>
              </a:solidFill>
              <a:latin typeface="Verdana" pitchFamily="34" charset="0"/>
              <a:ea typeface="Verdana" pitchFamily="34" charset="0"/>
              <a:cs typeface="Verdana"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1" nodeType="clickEffect">
                                  <p:stCondLst>
                                    <p:cond delay="0"/>
                                  </p:stCondLst>
                                  <p:childTnLst>
                                    <p:animEffect transition="out" filter="dissolve">
                                      <p:cBhvr>
                                        <p:cTn id="6" dur="2000"/>
                                        <p:tgtEl>
                                          <p:spTgt spid="57"/>
                                        </p:tgtEl>
                                      </p:cBhvr>
                                    </p:animEffect>
                                    <p:set>
                                      <p:cBhvr>
                                        <p:cTn id="7" dur="1" fill="hold">
                                          <p:stCondLst>
                                            <p:cond delay="1999"/>
                                          </p:stCondLst>
                                        </p:cTn>
                                        <p:tgtEl>
                                          <p:spTgt spid="57"/>
                                        </p:tgtEl>
                                        <p:attrNameLst>
                                          <p:attrName>style.visibility</p:attrName>
                                        </p:attrNameLst>
                                      </p:cBhvr>
                                      <p:to>
                                        <p:strVal val="hidden"/>
                                      </p:to>
                                    </p:set>
                                  </p:childTnLst>
                                </p:cTn>
                              </p:par>
                              <p:par>
                                <p:cTn id="8" presetID="9" presetClass="exit" presetSubtype="0" fill="hold" grpId="1" nodeType="withEffect">
                                  <p:stCondLst>
                                    <p:cond delay="0"/>
                                  </p:stCondLst>
                                  <p:childTnLst>
                                    <p:animEffect transition="out" filter="dissolve">
                                      <p:cBhvr>
                                        <p:cTn id="9" dur="2000"/>
                                        <p:tgtEl>
                                          <p:spTgt spid="56"/>
                                        </p:tgtEl>
                                      </p:cBhvr>
                                    </p:animEffect>
                                    <p:set>
                                      <p:cBhvr>
                                        <p:cTn id="10" dur="1" fill="hold">
                                          <p:stCondLst>
                                            <p:cond delay="1999"/>
                                          </p:stCondLst>
                                        </p:cTn>
                                        <p:tgtEl>
                                          <p:spTgt spid="56"/>
                                        </p:tgtEl>
                                        <p:attrNameLst>
                                          <p:attrName>style.visibility</p:attrName>
                                        </p:attrNameLst>
                                      </p:cBhvr>
                                      <p:to>
                                        <p:strVal val="hidden"/>
                                      </p:to>
                                    </p:set>
                                  </p:childTnLst>
                                </p:cTn>
                              </p:par>
                            </p:childTnLst>
                          </p:cTn>
                        </p:par>
                        <p:par>
                          <p:cTn id="11" fill="hold">
                            <p:stCondLst>
                              <p:cond delay="2000"/>
                            </p:stCondLst>
                            <p:childTnLst>
                              <p:par>
                                <p:cTn id="12" presetID="9" presetClass="entr" presetSubtype="0" fill="hold" grpId="0" nodeType="afterEffect">
                                  <p:stCondLst>
                                    <p:cond delay="0"/>
                                  </p:stCondLst>
                                  <p:childTnLst>
                                    <p:set>
                                      <p:cBhvr>
                                        <p:cTn id="13" dur="1" fill="hold">
                                          <p:stCondLst>
                                            <p:cond delay="0"/>
                                          </p:stCondLst>
                                        </p:cTn>
                                        <p:tgtEl>
                                          <p:spTgt spid="24"/>
                                        </p:tgtEl>
                                        <p:attrNameLst>
                                          <p:attrName>style.visibility</p:attrName>
                                        </p:attrNameLst>
                                      </p:cBhvr>
                                      <p:to>
                                        <p:strVal val="visible"/>
                                      </p:to>
                                    </p:set>
                                    <p:animEffect transition="in" filter="dissolve">
                                      <p:cBhvr>
                                        <p:cTn id="14" dur="2000"/>
                                        <p:tgtEl>
                                          <p:spTgt spid="24"/>
                                        </p:tgtEl>
                                      </p:cBhvr>
                                    </p:animEffect>
                                  </p:childTnLst>
                                </p:cTn>
                              </p:par>
                              <p:par>
                                <p:cTn id="15" presetID="9" presetClass="entr" presetSubtype="0" fill="hold" grpId="0" nodeType="with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dissolve">
                                      <p:cBhvr>
                                        <p:cTn id="17" dur="2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1"/>
      <p:bldP spid="57" grpId="1"/>
      <p:bldP spid="24" grpId="0"/>
      <p:bldP spid="2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76200" y="112129"/>
            <a:ext cx="533400" cy="4919239"/>
            <a:chOff x="14626" y="14712"/>
            <a:chExt cx="598680" cy="6386091"/>
          </a:xfrm>
        </p:grpSpPr>
        <p:pic>
          <p:nvPicPr>
            <p:cNvPr id="3" name="Picture 2"/>
            <p:cNvPicPr>
              <a:picLocks noChangeAspect="1" noChangeArrowheads="1"/>
            </p:cNvPicPr>
            <p:nvPr/>
          </p:nvPicPr>
          <p:blipFill>
            <a:blip r:embed="rId2" cstate="print"/>
            <a:srcRect/>
            <a:stretch>
              <a:fillRect/>
            </a:stretch>
          </p:blipFill>
          <p:spPr bwMode="auto">
            <a:xfrm>
              <a:off x="14626" y="14712"/>
              <a:ext cx="598680" cy="846471"/>
            </a:xfrm>
            <a:prstGeom prst="rect">
              <a:avLst/>
            </a:prstGeom>
            <a:noFill/>
            <a:ln w="9525">
              <a:solidFill>
                <a:srgbClr val="0000FF"/>
              </a:solidFill>
              <a:miter lim="800000"/>
              <a:headEnd/>
              <a:tailEnd/>
            </a:ln>
          </p:spPr>
        </p:pic>
        <p:sp>
          <p:nvSpPr>
            <p:cNvPr id="4" name="Text Box 14"/>
            <p:cNvSpPr txBox="1">
              <a:spLocks noChangeArrowheads="1"/>
            </p:cNvSpPr>
            <p:nvPr/>
          </p:nvSpPr>
          <p:spPr bwMode="auto">
            <a:xfrm rot="16198651">
              <a:off x="-2592929" y="3446777"/>
              <a:ext cx="5562442" cy="345444"/>
            </a:xfrm>
            <a:prstGeom prst="rect">
              <a:avLst/>
            </a:prstGeom>
            <a:solidFill>
              <a:srgbClr val="000080"/>
            </a:solidFill>
            <a:ln w="9525">
              <a:noFill/>
              <a:miter lim="800000"/>
              <a:headEnd/>
              <a:tailEnd/>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50000"/>
                </a:spcBef>
              </a:pPr>
              <a:r>
                <a:rPr lang="en-US" sz="1400" b="1" dirty="0">
                  <a:solidFill>
                    <a:schemeClr val="bg1"/>
                  </a:solidFill>
                  <a:latin typeface="Century Gothic" pitchFamily="34" charset="0"/>
                </a:rPr>
                <a:t>Vishwakarma  Institute  of  Technology</a:t>
              </a:r>
            </a:p>
          </p:txBody>
        </p:sp>
        <p:sp>
          <p:nvSpPr>
            <p:cNvPr id="5" name="Text Box 14">
              <a:extLst>
                <a:ext uri="{FF2B5EF4-FFF2-40B4-BE49-F238E27FC236}">
                  <a16:creationId xmlns:lc="http://schemas.openxmlformats.org/drawingml/2006/lockedCanvas" xmlns="" xmlns:a16="http://schemas.microsoft.com/office/drawing/2014/main" id="{08D90372-4075-403D-BB31-3D2C4B3C58A2}"/>
                </a:ext>
              </a:extLst>
            </p:cNvPr>
            <p:cNvSpPr txBox="1">
              <a:spLocks noChangeArrowheads="1"/>
            </p:cNvSpPr>
            <p:nvPr/>
          </p:nvSpPr>
          <p:spPr bwMode="auto">
            <a:xfrm rot="16200000">
              <a:off x="-2314809" y="3472688"/>
              <a:ext cx="5562602" cy="293627"/>
            </a:xfrm>
            <a:prstGeom prst="rect">
              <a:avLst/>
            </a:prstGeom>
            <a:solidFill>
              <a:srgbClr val="FFFF99"/>
            </a:solidFill>
            <a:ln w="9525">
              <a:solidFill>
                <a:srgbClr val="002060"/>
              </a:solidFill>
              <a:miter lim="800000"/>
              <a:headEnd/>
              <a:tailEnd/>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50000"/>
                </a:spcBef>
              </a:pPr>
              <a:r>
                <a:rPr lang="en-US" sz="1100" b="1" dirty="0">
                  <a:solidFill>
                    <a:srgbClr val="002060"/>
                  </a:solidFill>
                  <a:latin typeface="Century Gothic" pitchFamily="34" charset="0"/>
                </a:rPr>
                <a:t>FY - Department of Engineering, Sciences and Humanities</a:t>
              </a:r>
            </a:p>
          </p:txBody>
        </p:sp>
      </p:grpSp>
      <p:sp>
        <p:nvSpPr>
          <p:cNvPr id="18" name="Donut 17"/>
          <p:cNvSpPr/>
          <p:nvPr/>
        </p:nvSpPr>
        <p:spPr>
          <a:xfrm>
            <a:off x="3352801" y="1083917"/>
            <a:ext cx="2362200" cy="2362200"/>
          </a:xfrm>
          <a:prstGeom prst="donut">
            <a:avLst>
              <a:gd name="adj" fmla="val 7275"/>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Donut 16"/>
          <p:cNvSpPr/>
          <p:nvPr/>
        </p:nvSpPr>
        <p:spPr>
          <a:xfrm>
            <a:off x="2590801" y="245717"/>
            <a:ext cx="3886200" cy="4038600"/>
          </a:xfrm>
          <a:prstGeom prst="donut">
            <a:avLst>
              <a:gd name="adj" fmla="val 7275"/>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6" name="Block Arc 45"/>
          <p:cNvSpPr/>
          <p:nvPr/>
        </p:nvSpPr>
        <p:spPr>
          <a:xfrm rot="4723618">
            <a:off x="4045014" y="1106322"/>
            <a:ext cx="1464868" cy="1446047"/>
          </a:xfrm>
          <a:prstGeom prst="blockArc">
            <a:avLst>
              <a:gd name="adj1" fmla="val 10946601"/>
              <a:gd name="adj2" fmla="val 15123407"/>
              <a:gd name="adj3" fmla="val 14338"/>
            </a:avLst>
          </a:prstGeom>
          <a:solidFill>
            <a:srgbClr val="FF33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9" name="Flowchart: Stored Data 48"/>
          <p:cNvSpPr/>
          <p:nvPr/>
        </p:nvSpPr>
        <p:spPr>
          <a:xfrm rot="1879606">
            <a:off x="2761295" y="914249"/>
            <a:ext cx="784392" cy="943571"/>
          </a:xfrm>
          <a:prstGeom prst="flowChartOnlineStorage">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Flowchart: Stored Data 49"/>
          <p:cNvSpPr/>
          <p:nvPr/>
        </p:nvSpPr>
        <p:spPr>
          <a:xfrm rot="5662946">
            <a:off x="4213639" y="174948"/>
            <a:ext cx="804617" cy="943571"/>
          </a:xfrm>
          <a:prstGeom prst="flowChartOnlineStorage">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lowchart: Stored Data 50"/>
          <p:cNvSpPr/>
          <p:nvPr/>
        </p:nvSpPr>
        <p:spPr>
          <a:xfrm rot="12728256">
            <a:off x="5524875" y="2668058"/>
            <a:ext cx="784392" cy="943571"/>
          </a:xfrm>
          <a:prstGeom prst="flowChartOnlineStorage">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Flowchart: Stored Data 51"/>
          <p:cNvSpPr/>
          <p:nvPr/>
        </p:nvSpPr>
        <p:spPr>
          <a:xfrm rot="16429689">
            <a:off x="4081425" y="3414980"/>
            <a:ext cx="784392" cy="943571"/>
          </a:xfrm>
          <a:prstGeom prst="flowChartOnlineStorage">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Flowchart: Stored Data 52"/>
          <p:cNvSpPr/>
          <p:nvPr/>
        </p:nvSpPr>
        <p:spPr>
          <a:xfrm rot="19984463">
            <a:off x="2685725" y="2505772"/>
            <a:ext cx="784392" cy="943571"/>
          </a:xfrm>
          <a:prstGeom prst="flowChartOnlineStorage">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lowchart: Stored Data 53"/>
          <p:cNvSpPr/>
          <p:nvPr/>
        </p:nvSpPr>
        <p:spPr>
          <a:xfrm rot="9146682">
            <a:off x="5577530" y="1009589"/>
            <a:ext cx="784392" cy="943571"/>
          </a:xfrm>
          <a:prstGeom prst="flowChartOnlineStorage">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p:cNvSpPr>
            <a:spLocks/>
          </p:cNvSpPr>
          <p:nvPr/>
        </p:nvSpPr>
        <p:spPr>
          <a:xfrm rot="3504116">
            <a:off x="5658548" y="1165979"/>
            <a:ext cx="533400" cy="6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800"/>
              </a:lnSpc>
            </a:pPr>
            <a:r>
              <a:rPr lang="en-US" sz="3600" b="1" dirty="0" smtClean="0">
                <a:solidFill>
                  <a:srgbClr val="FF0000"/>
                </a:solidFill>
                <a:latin typeface="Arial" pitchFamily="34" charset="0"/>
                <a:ea typeface="Verdana" pitchFamily="34" charset="0"/>
                <a:cs typeface="Arial" pitchFamily="34" charset="0"/>
              </a:rPr>
              <a:t>N</a:t>
            </a:r>
            <a:endParaRPr lang="en-US" sz="200" b="1" dirty="0">
              <a:solidFill>
                <a:srgbClr val="FF0000"/>
              </a:solidFill>
              <a:latin typeface="Verdana" pitchFamily="34" charset="0"/>
              <a:ea typeface="Verdana" pitchFamily="34" charset="0"/>
              <a:cs typeface="Verdana" pitchFamily="34" charset="0"/>
            </a:endParaRPr>
          </a:p>
        </p:txBody>
      </p:sp>
      <p:sp>
        <p:nvSpPr>
          <p:cNvPr id="57" name="Rectangle 56"/>
          <p:cNvSpPr>
            <a:spLocks/>
          </p:cNvSpPr>
          <p:nvPr/>
        </p:nvSpPr>
        <p:spPr>
          <a:xfrm rot="204642">
            <a:off x="4361062" y="382790"/>
            <a:ext cx="533400" cy="6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800"/>
              </a:lnSpc>
            </a:pPr>
            <a:r>
              <a:rPr lang="en-US" sz="3600" b="1" dirty="0" smtClean="0">
                <a:solidFill>
                  <a:srgbClr val="0000FF"/>
                </a:solidFill>
                <a:latin typeface="Arial" pitchFamily="34" charset="0"/>
                <a:ea typeface="Verdana" pitchFamily="34" charset="0"/>
                <a:cs typeface="Arial" pitchFamily="34" charset="0"/>
              </a:rPr>
              <a:t>S</a:t>
            </a:r>
            <a:endParaRPr lang="en-US" sz="200" b="1" dirty="0">
              <a:solidFill>
                <a:srgbClr val="0000FF"/>
              </a:solidFill>
              <a:latin typeface="Verdana" pitchFamily="34" charset="0"/>
              <a:ea typeface="Verdana" pitchFamily="34" charset="0"/>
              <a:cs typeface="Verdana" pitchFamily="34" charset="0"/>
            </a:endParaRPr>
          </a:p>
        </p:txBody>
      </p:sp>
      <p:sp>
        <p:nvSpPr>
          <p:cNvPr id="19" name="Rectangle 18"/>
          <p:cNvSpPr>
            <a:spLocks/>
          </p:cNvSpPr>
          <p:nvPr/>
        </p:nvSpPr>
        <p:spPr>
          <a:xfrm rot="18052872">
            <a:off x="2921128" y="1080320"/>
            <a:ext cx="533400" cy="6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800"/>
              </a:lnSpc>
            </a:pPr>
            <a:r>
              <a:rPr lang="en-US" sz="3600" b="1" dirty="0" smtClean="0">
                <a:solidFill>
                  <a:srgbClr val="FF0000"/>
                </a:solidFill>
                <a:latin typeface="Arial" pitchFamily="34" charset="0"/>
                <a:ea typeface="Verdana" pitchFamily="34" charset="0"/>
                <a:cs typeface="Arial" pitchFamily="34" charset="0"/>
              </a:rPr>
              <a:t>N</a:t>
            </a:r>
            <a:endParaRPr lang="en-US" sz="200" b="1" dirty="0">
              <a:solidFill>
                <a:srgbClr val="FF0000"/>
              </a:solidFill>
              <a:latin typeface="Verdana" pitchFamily="34" charset="0"/>
              <a:ea typeface="Verdana" pitchFamily="34" charset="0"/>
              <a:cs typeface="Verdana" pitchFamily="34" charset="0"/>
            </a:endParaRPr>
          </a:p>
        </p:txBody>
      </p:sp>
      <p:sp>
        <p:nvSpPr>
          <p:cNvPr id="20" name="Rectangle 19"/>
          <p:cNvSpPr>
            <a:spLocks/>
          </p:cNvSpPr>
          <p:nvPr/>
        </p:nvSpPr>
        <p:spPr>
          <a:xfrm rot="10983958">
            <a:off x="4191000" y="3569530"/>
            <a:ext cx="533400" cy="6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800"/>
              </a:lnSpc>
            </a:pPr>
            <a:r>
              <a:rPr lang="en-US" sz="3600" b="1" dirty="0" smtClean="0">
                <a:solidFill>
                  <a:srgbClr val="FF0000"/>
                </a:solidFill>
                <a:latin typeface="Arial" pitchFamily="34" charset="0"/>
                <a:ea typeface="Verdana" pitchFamily="34" charset="0"/>
                <a:cs typeface="Arial" pitchFamily="34" charset="0"/>
              </a:rPr>
              <a:t>N</a:t>
            </a:r>
            <a:endParaRPr lang="en-US" sz="200" b="1" dirty="0">
              <a:solidFill>
                <a:srgbClr val="FF0000"/>
              </a:solidFill>
              <a:latin typeface="Verdana" pitchFamily="34" charset="0"/>
              <a:ea typeface="Verdana" pitchFamily="34" charset="0"/>
              <a:cs typeface="Verdana" pitchFamily="34" charset="0"/>
            </a:endParaRPr>
          </a:p>
        </p:txBody>
      </p:sp>
      <p:sp>
        <p:nvSpPr>
          <p:cNvPr id="21" name="Rectangle 20"/>
          <p:cNvSpPr>
            <a:spLocks/>
          </p:cNvSpPr>
          <p:nvPr/>
        </p:nvSpPr>
        <p:spPr>
          <a:xfrm rot="14576554">
            <a:off x="2845742" y="2603076"/>
            <a:ext cx="533400" cy="6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800"/>
              </a:lnSpc>
            </a:pPr>
            <a:r>
              <a:rPr lang="en-US" sz="3600" b="1" dirty="0" smtClean="0">
                <a:solidFill>
                  <a:srgbClr val="0000FF"/>
                </a:solidFill>
                <a:latin typeface="Arial" pitchFamily="34" charset="0"/>
                <a:ea typeface="Verdana" pitchFamily="34" charset="0"/>
                <a:cs typeface="Arial" pitchFamily="34" charset="0"/>
              </a:rPr>
              <a:t>S</a:t>
            </a:r>
            <a:endParaRPr lang="en-US" sz="200" b="1" dirty="0">
              <a:solidFill>
                <a:srgbClr val="0000FF"/>
              </a:solidFill>
              <a:latin typeface="Verdana" pitchFamily="34" charset="0"/>
              <a:ea typeface="Verdana" pitchFamily="34" charset="0"/>
              <a:cs typeface="Verdana" pitchFamily="34" charset="0"/>
            </a:endParaRPr>
          </a:p>
        </p:txBody>
      </p:sp>
      <p:sp>
        <p:nvSpPr>
          <p:cNvPr id="22" name="Rectangle 21"/>
          <p:cNvSpPr>
            <a:spLocks/>
          </p:cNvSpPr>
          <p:nvPr/>
        </p:nvSpPr>
        <p:spPr>
          <a:xfrm rot="7402079">
            <a:off x="5620945" y="2845898"/>
            <a:ext cx="533400" cy="6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800"/>
              </a:lnSpc>
            </a:pPr>
            <a:r>
              <a:rPr lang="en-US" sz="3600" b="1" dirty="0" smtClean="0">
                <a:solidFill>
                  <a:srgbClr val="0000FF"/>
                </a:solidFill>
                <a:latin typeface="Arial" pitchFamily="34" charset="0"/>
                <a:ea typeface="Verdana" pitchFamily="34" charset="0"/>
                <a:cs typeface="Arial" pitchFamily="34" charset="0"/>
              </a:rPr>
              <a:t>S</a:t>
            </a:r>
            <a:endParaRPr lang="en-US" sz="200" b="1" dirty="0">
              <a:solidFill>
                <a:srgbClr val="0000FF"/>
              </a:solidFill>
              <a:latin typeface="Verdana" pitchFamily="34" charset="0"/>
              <a:ea typeface="Verdana" pitchFamily="34" charset="0"/>
              <a:cs typeface="Verdana" pitchFamily="34" charset="0"/>
            </a:endParaRPr>
          </a:p>
        </p:txBody>
      </p:sp>
      <p:sp>
        <p:nvSpPr>
          <p:cNvPr id="23" name="Block Arc 22"/>
          <p:cNvSpPr/>
          <p:nvPr/>
        </p:nvSpPr>
        <p:spPr>
          <a:xfrm rot="15609544">
            <a:off x="3610334" y="1968125"/>
            <a:ext cx="1464868" cy="1446047"/>
          </a:xfrm>
          <a:prstGeom prst="blockArc">
            <a:avLst>
              <a:gd name="adj1" fmla="val 10946601"/>
              <a:gd name="adj2" fmla="val 15123407"/>
              <a:gd name="adj3" fmla="val 14338"/>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4" name="Rectangle 23"/>
          <p:cNvSpPr>
            <a:spLocks/>
          </p:cNvSpPr>
          <p:nvPr/>
        </p:nvSpPr>
        <p:spPr>
          <a:xfrm rot="168372">
            <a:off x="4328797" y="385425"/>
            <a:ext cx="533400" cy="6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800"/>
              </a:lnSpc>
            </a:pPr>
            <a:r>
              <a:rPr lang="en-US" sz="3600" b="1" dirty="0" smtClean="0">
                <a:solidFill>
                  <a:srgbClr val="FF0000"/>
                </a:solidFill>
                <a:latin typeface="Arial" pitchFamily="34" charset="0"/>
                <a:ea typeface="Verdana" pitchFamily="34" charset="0"/>
                <a:cs typeface="Arial" pitchFamily="34" charset="0"/>
              </a:rPr>
              <a:t>N</a:t>
            </a:r>
            <a:endParaRPr lang="en-US" sz="200" b="1" dirty="0">
              <a:solidFill>
                <a:srgbClr val="FF0000"/>
              </a:solidFill>
              <a:latin typeface="Verdana" pitchFamily="34" charset="0"/>
              <a:ea typeface="Verdana" pitchFamily="34" charset="0"/>
              <a:cs typeface="Verdana" pitchFamily="34" charset="0"/>
            </a:endParaRPr>
          </a:p>
        </p:txBody>
      </p:sp>
      <p:sp>
        <p:nvSpPr>
          <p:cNvPr id="25" name="Rectangle 24"/>
          <p:cNvSpPr>
            <a:spLocks/>
          </p:cNvSpPr>
          <p:nvPr/>
        </p:nvSpPr>
        <p:spPr>
          <a:xfrm rot="3777067">
            <a:off x="5665157" y="1241180"/>
            <a:ext cx="533400" cy="6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800"/>
              </a:lnSpc>
            </a:pPr>
            <a:r>
              <a:rPr lang="en-US" sz="3600" b="1" dirty="0" smtClean="0">
                <a:solidFill>
                  <a:srgbClr val="0000FF"/>
                </a:solidFill>
                <a:latin typeface="Arial" pitchFamily="34" charset="0"/>
                <a:ea typeface="Verdana" pitchFamily="34" charset="0"/>
                <a:cs typeface="Arial" pitchFamily="34" charset="0"/>
              </a:rPr>
              <a:t>S</a:t>
            </a:r>
            <a:endParaRPr lang="en-US" sz="200" b="1" dirty="0">
              <a:solidFill>
                <a:srgbClr val="0000FF"/>
              </a:solidFill>
              <a:latin typeface="Verdana" pitchFamily="34" charset="0"/>
              <a:ea typeface="Verdana" pitchFamily="34" charset="0"/>
              <a:cs typeface="Verdana" pitchFamily="34" charset="0"/>
            </a:endParaRPr>
          </a:p>
        </p:txBody>
      </p:sp>
      <p:sp>
        <p:nvSpPr>
          <p:cNvPr id="26" name="Rectangle 25"/>
          <p:cNvSpPr>
            <a:spLocks/>
          </p:cNvSpPr>
          <p:nvPr/>
        </p:nvSpPr>
        <p:spPr>
          <a:xfrm rot="11002632">
            <a:off x="4208492" y="3613699"/>
            <a:ext cx="533400" cy="6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800"/>
              </a:lnSpc>
            </a:pPr>
            <a:r>
              <a:rPr lang="en-US" sz="3600" b="1" dirty="0" smtClean="0">
                <a:solidFill>
                  <a:srgbClr val="0000FF"/>
                </a:solidFill>
                <a:latin typeface="Arial" pitchFamily="34" charset="0"/>
                <a:ea typeface="Verdana" pitchFamily="34" charset="0"/>
                <a:cs typeface="Arial" pitchFamily="34" charset="0"/>
              </a:rPr>
              <a:t>S</a:t>
            </a:r>
            <a:endParaRPr lang="en-US" sz="200" b="1" dirty="0">
              <a:solidFill>
                <a:srgbClr val="0000FF"/>
              </a:solidFill>
              <a:latin typeface="Verdana" pitchFamily="34" charset="0"/>
              <a:ea typeface="Verdana" pitchFamily="34" charset="0"/>
              <a:cs typeface="Verdana" pitchFamily="34" charset="0"/>
            </a:endParaRPr>
          </a:p>
        </p:txBody>
      </p:sp>
      <p:sp>
        <p:nvSpPr>
          <p:cNvPr id="27" name="Rectangle 26"/>
          <p:cNvSpPr>
            <a:spLocks/>
          </p:cNvSpPr>
          <p:nvPr/>
        </p:nvSpPr>
        <p:spPr>
          <a:xfrm rot="7402079">
            <a:off x="2801545" y="1017097"/>
            <a:ext cx="533400" cy="6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800"/>
              </a:lnSpc>
            </a:pPr>
            <a:r>
              <a:rPr lang="en-US" sz="3600" b="1" dirty="0" smtClean="0">
                <a:solidFill>
                  <a:srgbClr val="0000FF"/>
                </a:solidFill>
                <a:latin typeface="Arial" pitchFamily="34" charset="0"/>
                <a:ea typeface="Verdana" pitchFamily="34" charset="0"/>
                <a:cs typeface="Arial" pitchFamily="34" charset="0"/>
              </a:rPr>
              <a:t>S</a:t>
            </a:r>
            <a:endParaRPr lang="en-US" sz="200" b="1" dirty="0">
              <a:solidFill>
                <a:srgbClr val="0000FF"/>
              </a:solidFill>
              <a:latin typeface="Verdana" pitchFamily="34" charset="0"/>
              <a:ea typeface="Verdana" pitchFamily="34" charset="0"/>
              <a:cs typeface="Verdana" pitchFamily="34" charset="0"/>
            </a:endParaRPr>
          </a:p>
        </p:txBody>
      </p:sp>
      <p:sp>
        <p:nvSpPr>
          <p:cNvPr id="28" name="Rectangle 27"/>
          <p:cNvSpPr>
            <a:spLocks/>
          </p:cNvSpPr>
          <p:nvPr/>
        </p:nvSpPr>
        <p:spPr>
          <a:xfrm rot="14594760">
            <a:off x="2770071" y="2602276"/>
            <a:ext cx="533400" cy="6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800"/>
              </a:lnSpc>
            </a:pPr>
            <a:r>
              <a:rPr lang="en-US" sz="3600" b="1" dirty="0" smtClean="0">
                <a:solidFill>
                  <a:srgbClr val="FF0000"/>
                </a:solidFill>
                <a:latin typeface="Arial" pitchFamily="34" charset="0"/>
                <a:ea typeface="Verdana" pitchFamily="34" charset="0"/>
                <a:cs typeface="Arial" pitchFamily="34" charset="0"/>
              </a:rPr>
              <a:t>N</a:t>
            </a:r>
            <a:endParaRPr lang="en-US" sz="200" b="1" dirty="0">
              <a:solidFill>
                <a:srgbClr val="FF0000"/>
              </a:solidFill>
              <a:latin typeface="Verdana" pitchFamily="34" charset="0"/>
              <a:ea typeface="Verdana" pitchFamily="34" charset="0"/>
              <a:cs typeface="Verdana" pitchFamily="34" charset="0"/>
            </a:endParaRPr>
          </a:p>
        </p:txBody>
      </p:sp>
      <p:sp>
        <p:nvSpPr>
          <p:cNvPr id="29" name="Rectangle 28"/>
          <p:cNvSpPr>
            <a:spLocks/>
          </p:cNvSpPr>
          <p:nvPr/>
        </p:nvSpPr>
        <p:spPr>
          <a:xfrm rot="7389518">
            <a:off x="5620741" y="2845500"/>
            <a:ext cx="533400" cy="6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800"/>
              </a:lnSpc>
            </a:pPr>
            <a:r>
              <a:rPr lang="en-US" sz="3600" b="1" dirty="0" smtClean="0">
                <a:solidFill>
                  <a:srgbClr val="FF0000"/>
                </a:solidFill>
                <a:latin typeface="Arial" pitchFamily="34" charset="0"/>
                <a:ea typeface="Verdana" pitchFamily="34" charset="0"/>
                <a:cs typeface="Arial" pitchFamily="34" charset="0"/>
              </a:rPr>
              <a:t>N</a:t>
            </a:r>
            <a:endParaRPr lang="en-US" sz="200" b="1" dirty="0">
              <a:solidFill>
                <a:srgbClr val="FF0000"/>
              </a:solidFill>
              <a:latin typeface="Verdana" pitchFamily="34" charset="0"/>
              <a:ea typeface="Verdana" pitchFamily="34" charset="0"/>
              <a:cs typeface="Verdana" pitchFamily="34" charset="0"/>
            </a:endParaRPr>
          </a:p>
        </p:txBody>
      </p:sp>
      <p:sp>
        <p:nvSpPr>
          <p:cNvPr id="30" name="Block Arc 29"/>
          <p:cNvSpPr/>
          <p:nvPr/>
        </p:nvSpPr>
        <p:spPr>
          <a:xfrm rot="2349586">
            <a:off x="3725304" y="1090348"/>
            <a:ext cx="1464868" cy="1446047"/>
          </a:xfrm>
          <a:prstGeom prst="blockArc">
            <a:avLst>
              <a:gd name="adj1" fmla="val 10946601"/>
              <a:gd name="adj2" fmla="val 15123407"/>
              <a:gd name="adj3" fmla="val 14338"/>
            </a:avLst>
          </a:prstGeom>
          <a:solidFill>
            <a:srgbClr val="FF33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1" name="Block Arc 30"/>
          <p:cNvSpPr/>
          <p:nvPr/>
        </p:nvSpPr>
        <p:spPr>
          <a:xfrm rot="13661096">
            <a:off x="3876689" y="1998840"/>
            <a:ext cx="1464868" cy="1446047"/>
          </a:xfrm>
          <a:prstGeom prst="blockArc">
            <a:avLst>
              <a:gd name="adj1" fmla="val 10946601"/>
              <a:gd name="adj2" fmla="val 15123407"/>
              <a:gd name="adj3" fmla="val 14338"/>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2" name="Rectangle 31"/>
          <p:cNvSpPr>
            <a:spLocks/>
          </p:cNvSpPr>
          <p:nvPr/>
        </p:nvSpPr>
        <p:spPr>
          <a:xfrm>
            <a:off x="6629400" y="209550"/>
            <a:ext cx="2286000"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800"/>
              </a:lnSpc>
            </a:pPr>
            <a:r>
              <a:rPr lang="en-US" sz="1600" b="1" dirty="0" smtClean="0">
                <a:solidFill>
                  <a:srgbClr val="0000FF"/>
                </a:solidFill>
                <a:latin typeface="Arial" pitchFamily="34" charset="0"/>
                <a:ea typeface="Verdana" pitchFamily="34" charset="0"/>
                <a:cs typeface="Arial" pitchFamily="34" charset="0"/>
              </a:rPr>
              <a:t>The Rotor pole keeps </a:t>
            </a:r>
            <a:r>
              <a:rPr lang="en-US" sz="1600" b="1" dirty="0" smtClean="0">
                <a:solidFill>
                  <a:srgbClr val="FF0000"/>
                </a:solidFill>
                <a:latin typeface="Arial" pitchFamily="34" charset="0"/>
                <a:ea typeface="Verdana" pitchFamily="34" charset="0"/>
                <a:cs typeface="Arial" pitchFamily="34" charset="0"/>
              </a:rPr>
              <a:t>chasing</a:t>
            </a:r>
            <a:r>
              <a:rPr lang="en-US" sz="1600" b="1" dirty="0" smtClean="0">
                <a:solidFill>
                  <a:srgbClr val="0000FF"/>
                </a:solidFill>
                <a:latin typeface="Arial" pitchFamily="34" charset="0"/>
                <a:ea typeface="Verdana" pitchFamily="34" charset="0"/>
                <a:cs typeface="Arial" pitchFamily="34" charset="0"/>
              </a:rPr>
              <a:t> the opposite pole of the Stator</a:t>
            </a:r>
            <a:endParaRPr lang="en-US" sz="200" b="1" dirty="0">
              <a:solidFill>
                <a:srgbClr val="0000FF"/>
              </a:solidFill>
              <a:latin typeface="Verdana" pitchFamily="34" charset="0"/>
              <a:ea typeface="Verdana" pitchFamily="34" charset="0"/>
              <a:cs typeface="Verdana" pitchFamily="34" charset="0"/>
            </a:endParaRPr>
          </a:p>
        </p:txBody>
      </p:sp>
      <p:sp>
        <p:nvSpPr>
          <p:cNvPr id="33" name="Rectangle 32"/>
          <p:cNvSpPr>
            <a:spLocks/>
          </p:cNvSpPr>
          <p:nvPr/>
        </p:nvSpPr>
        <p:spPr>
          <a:xfrm>
            <a:off x="6553200" y="1504950"/>
            <a:ext cx="2514600" cy="1371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800"/>
              </a:lnSpc>
            </a:pPr>
            <a:r>
              <a:rPr lang="en-US" sz="1600" b="1" dirty="0" smtClean="0">
                <a:solidFill>
                  <a:schemeClr val="tx1"/>
                </a:solidFill>
                <a:latin typeface="Arial" pitchFamily="34" charset="0"/>
                <a:ea typeface="Verdana" pitchFamily="34" charset="0"/>
                <a:cs typeface="Arial" pitchFamily="34" charset="0"/>
              </a:rPr>
              <a:t>The motor Driver circuit changes the stator polarity at </a:t>
            </a:r>
            <a:r>
              <a:rPr lang="en-US" sz="1600" b="1" dirty="0" smtClean="0">
                <a:solidFill>
                  <a:srgbClr val="FF0000"/>
                </a:solidFill>
                <a:latin typeface="Arial" pitchFamily="34" charset="0"/>
                <a:ea typeface="Verdana" pitchFamily="34" charset="0"/>
                <a:cs typeface="Arial" pitchFamily="34" charset="0"/>
              </a:rPr>
              <a:t>correct moment.</a:t>
            </a:r>
            <a:endParaRPr lang="en-US" sz="200" b="1" dirty="0">
              <a:solidFill>
                <a:srgbClr val="FF0000"/>
              </a:solidFill>
              <a:latin typeface="Verdana" pitchFamily="34" charset="0"/>
              <a:ea typeface="Verdana" pitchFamily="34" charset="0"/>
              <a:cs typeface="Verdana" pitchFamily="34" charset="0"/>
            </a:endParaRPr>
          </a:p>
        </p:txBody>
      </p:sp>
      <p:sp>
        <p:nvSpPr>
          <p:cNvPr id="34" name="Rectangle 33"/>
          <p:cNvSpPr>
            <a:spLocks/>
          </p:cNvSpPr>
          <p:nvPr/>
        </p:nvSpPr>
        <p:spPr>
          <a:xfrm>
            <a:off x="6553200" y="3028950"/>
            <a:ext cx="2514600" cy="1524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800"/>
              </a:lnSpc>
            </a:pPr>
            <a:r>
              <a:rPr lang="en-US" sz="1600" b="1" dirty="0" smtClean="0">
                <a:solidFill>
                  <a:srgbClr val="0000FF"/>
                </a:solidFill>
                <a:latin typeface="Arial" pitchFamily="34" charset="0"/>
                <a:ea typeface="Verdana" pitchFamily="34" charset="0"/>
                <a:cs typeface="Arial" pitchFamily="34" charset="0"/>
              </a:rPr>
              <a:t>Thus, to know exact location of the rotor pole, </a:t>
            </a:r>
            <a:r>
              <a:rPr lang="en-US" sz="1600" b="1" dirty="0" smtClean="0">
                <a:solidFill>
                  <a:srgbClr val="FF0000"/>
                </a:solidFill>
                <a:latin typeface="Arial" pitchFamily="34" charset="0"/>
                <a:ea typeface="Verdana" pitchFamily="34" charset="0"/>
                <a:cs typeface="Arial" pitchFamily="34" charset="0"/>
              </a:rPr>
              <a:t>Hall effect sensor</a:t>
            </a:r>
            <a:r>
              <a:rPr lang="en-US" sz="1600" b="1" dirty="0" smtClean="0">
                <a:solidFill>
                  <a:srgbClr val="0000FF"/>
                </a:solidFill>
                <a:latin typeface="Arial" pitchFamily="34" charset="0"/>
                <a:ea typeface="Verdana" pitchFamily="34" charset="0"/>
                <a:cs typeface="Arial" pitchFamily="34" charset="0"/>
              </a:rPr>
              <a:t> is required.</a:t>
            </a:r>
            <a:endParaRPr lang="en-US" sz="200" b="1" dirty="0">
              <a:solidFill>
                <a:srgbClr val="0000FF"/>
              </a:solidFill>
              <a:latin typeface="Verdana" pitchFamily="34" charset="0"/>
              <a:ea typeface="Verdana" pitchFamily="34" charset="0"/>
              <a:cs typeface="Verdana" pitchFamily="34" charset="0"/>
            </a:endParaRPr>
          </a:p>
        </p:txBody>
      </p:sp>
      <p:sp>
        <p:nvSpPr>
          <p:cNvPr id="35" name="Rectangle 34"/>
          <p:cNvSpPr>
            <a:spLocks/>
          </p:cNvSpPr>
          <p:nvPr/>
        </p:nvSpPr>
        <p:spPr>
          <a:xfrm>
            <a:off x="685800" y="133350"/>
            <a:ext cx="1981200" cy="457200"/>
          </a:xfrm>
          <a:prstGeom prst="rect">
            <a:avLst/>
          </a:prstGeom>
          <a:solidFill>
            <a:srgbClr val="FFFF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800"/>
              </a:lnSpc>
            </a:pPr>
            <a:r>
              <a:rPr lang="en-US" sz="2000" b="1" dirty="0" err="1" smtClean="0">
                <a:solidFill>
                  <a:srgbClr val="0000FF"/>
                </a:solidFill>
                <a:latin typeface="Arial" pitchFamily="34" charset="0"/>
                <a:ea typeface="Verdana" pitchFamily="34" charset="0"/>
                <a:cs typeface="Arial" pitchFamily="34" charset="0"/>
              </a:rPr>
              <a:t>BLDC</a:t>
            </a:r>
            <a:r>
              <a:rPr lang="en-US" sz="2000" b="1" dirty="0" smtClean="0">
                <a:solidFill>
                  <a:srgbClr val="0000FF"/>
                </a:solidFill>
                <a:latin typeface="Arial" pitchFamily="34" charset="0"/>
                <a:ea typeface="Verdana" pitchFamily="34" charset="0"/>
                <a:cs typeface="Arial" pitchFamily="34" charset="0"/>
              </a:rPr>
              <a:t> Motor</a:t>
            </a:r>
            <a:endParaRPr lang="en-US" sz="400" b="1" dirty="0">
              <a:solidFill>
                <a:srgbClr val="0000FF"/>
              </a:solidFill>
              <a:latin typeface="Verdana" pitchFamily="34" charset="0"/>
              <a:ea typeface="Verdana" pitchFamily="34" charset="0"/>
              <a:cs typeface="Verdana" pitchFamily="34" charset="0"/>
            </a:endParaRPr>
          </a:p>
        </p:txBody>
      </p:sp>
      <p:sp>
        <p:nvSpPr>
          <p:cNvPr id="37" name="Oval 36"/>
          <p:cNvSpPr/>
          <p:nvPr/>
        </p:nvSpPr>
        <p:spPr>
          <a:xfrm>
            <a:off x="5181600" y="819150"/>
            <a:ext cx="304800" cy="30480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p:cNvSpPr/>
          <p:nvPr/>
        </p:nvSpPr>
        <p:spPr>
          <a:xfrm>
            <a:off x="5105400" y="3486150"/>
            <a:ext cx="304800" cy="30480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p:cNvSpPr/>
          <p:nvPr/>
        </p:nvSpPr>
        <p:spPr>
          <a:xfrm>
            <a:off x="2895600" y="2038350"/>
            <a:ext cx="304800" cy="30480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Freeform 44"/>
          <p:cNvSpPr/>
          <p:nvPr/>
        </p:nvSpPr>
        <p:spPr>
          <a:xfrm>
            <a:off x="5367646" y="3790950"/>
            <a:ext cx="1871353" cy="609600"/>
          </a:xfrm>
          <a:custGeom>
            <a:avLst/>
            <a:gdLst>
              <a:gd name="connsiteX0" fmla="*/ 1852550 w 1852550"/>
              <a:gd name="connsiteY0" fmla="*/ 296883 h 560119"/>
              <a:gd name="connsiteX1" fmla="*/ 463137 w 1852550"/>
              <a:gd name="connsiteY1" fmla="*/ 510638 h 560119"/>
              <a:gd name="connsiteX2" fmla="*/ 0 w 1852550"/>
              <a:gd name="connsiteY2" fmla="*/ 0 h 560119"/>
            </a:gdLst>
            <a:ahLst/>
            <a:cxnLst>
              <a:cxn ang="0">
                <a:pos x="connsiteX0" y="connsiteY0"/>
              </a:cxn>
              <a:cxn ang="0">
                <a:pos x="connsiteX1" y="connsiteY1"/>
              </a:cxn>
              <a:cxn ang="0">
                <a:pos x="connsiteX2" y="connsiteY2"/>
              </a:cxn>
            </a:cxnLst>
            <a:rect l="l" t="t" r="r" b="b"/>
            <a:pathLst>
              <a:path w="1852550" h="560119">
                <a:moveTo>
                  <a:pt x="1852550" y="296883"/>
                </a:moveTo>
                <a:cubicBezTo>
                  <a:pt x="1312222" y="428501"/>
                  <a:pt x="771895" y="560119"/>
                  <a:pt x="463137" y="510638"/>
                </a:cubicBezTo>
                <a:cubicBezTo>
                  <a:pt x="154379" y="461157"/>
                  <a:pt x="77189" y="230578"/>
                  <a:pt x="0" y="0"/>
                </a:cubicBezTo>
              </a:path>
            </a:pathLst>
          </a:custGeom>
          <a:ln w="25400">
            <a:solidFill>
              <a:srgbClr val="0000FF"/>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xit" presetSubtype="0" fill="hold" grpId="1" nodeType="withEffect">
                                  <p:stCondLst>
                                    <p:cond delay="0"/>
                                  </p:stCondLst>
                                  <p:childTnLst>
                                    <p:animEffect transition="out" filter="dissolve">
                                      <p:cBhvr>
                                        <p:cTn id="6" dur="1000"/>
                                        <p:tgtEl>
                                          <p:spTgt spid="57"/>
                                        </p:tgtEl>
                                      </p:cBhvr>
                                    </p:animEffect>
                                    <p:set>
                                      <p:cBhvr>
                                        <p:cTn id="7" dur="1" fill="hold">
                                          <p:stCondLst>
                                            <p:cond delay="999"/>
                                          </p:stCondLst>
                                        </p:cTn>
                                        <p:tgtEl>
                                          <p:spTgt spid="57"/>
                                        </p:tgtEl>
                                        <p:attrNameLst>
                                          <p:attrName>style.visibility</p:attrName>
                                        </p:attrNameLst>
                                      </p:cBhvr>
                                      <p:to>
                                        <p:strVal val="hidden"/>
                                      </p:to>
                                    </p:set>
                                  </p:childTnLst>
                                </p:cTn>
                              </p:par>
                              <p:par>
                                <p:cTn id="8" presetID="9" presetClass="exit" presetSubtype="0" fill="hold" grpId="1" nodeType="withEffect">
                                  <p:stCondLst>
                                    <p:cond delay="0"/>
                                  </p:stCondLst>
                                  <p:childTnLst>
                                    <p:animEffect transition="out" filter="dissolve">
                                      <p:cBhvr>
                                        <p:cTn id="9" dur="1000"/>
                                        <p:tgtEl>
                                          <p:spTgt spid="56"/>
                                        </p:tgtEl>
                                      </p:cBhvr>
                                    </p:animEffect>
                                    <p:set>
                                      <p:cBhvr>
                                        <p:cTn id="10" dur="1" fill="hold">
                                          <p:stCondLst>
                                            <p:cond delay="999"/>
                                          </p:stCondLst>
                                        </p:cTn>
                                        <p:tgtEl>
                                          <p:spTgt spid="56"/>
                                        </p:tgtEl>
                                        <p:attrNameLst>
                                          <p:attrName>style.visibility</p:attrName>
                                        </p:attrNameLst>
                                      </p:cBhvr>
                                      <p:to>
                                        <p:strVal val="hidden"/>
                                      </p:to>
                                    </p:set>
                                  </p:childTnLst>
                                </p:cTn>
                              </p:par>
                              <p:par>
                                <p:cTn id="11" presetID="9" presetClass="exit" presetSubtype="0" fill="hold" grpId="0" nodeType="withEffect">
                                  <p:stCondLst>
                                    <p:cond delay="0"/>
                                  </p:stCondLst>
                                  <p:childTnLst>
                                    <p:animEffect transition="out" filter="dissolve">
                                      <p:cBhvr>
                                        <p:cTn id="12" dur="1000"/>
                                        <p:tgtEl>
                                          <p:spTgt spid="22"/>
                                        </p:tgtEl>
                                      </p:cBhvr>
                                    </p:animEffect>
                                    <p:set>
                                      <p:cBhvr>
                                        <p:cTn id="13" dur="1" fill="hold">
                                          <p:stCondLst>
                                            <p:cond delay="999"/>
                                          </p:stCondLst>
                                        </p:cTn>
                                        <p:tgtEl>
                                          <p:spTgt spid="22"/>
                                        </p:tgtEl>
                                        <p:attrNameLst>
                                          <p:attrName>style.visibility</p:attrName>
                                        </p:attrNameLst>
                                      </p:cBhvr>
                                      <p:to>
                                        <p:strVal val="hidden"/>
                                      </p:to>
                                    </p:set>
                                  </p:childTnLst>
                                </p:cTn>
                              </p:par>
                              <p:par>
                                <p:cTn id="14" presetID="9" presetClass="exit" presetSubtype="0" fill="hold" grpId="0" nodeType="withEffect">
                                  <p:stCondLst>
                                    <p:cond delay="0"/>
                                  </p:stCondLst>
                                  <p:childTnLst>
                                    <p:animEffect transition="out" filter="dissolve">
                                      <p:cBhvr>
                                        <p:cTn id="15" dur="1000"/>
                                        <p:tgtEl>
                                          <p:spTgt spid="20"/>
                                        </p:tgtEl>
                                      </p:cBhvr>
                                    </p:animEffect>
                                    <p:set>
                                      <p:cBhvr>
                                        <p:cTn id="16" dur="1" fill="hold">
                                          <p:stCondLst>
                                            <p:cond delay="999"/>
                                          </p:stCondLst>
                                        </p:cTn>
                                        <p:tgtEl>
                                          <p:spTgt spid="20"/>
                                        </p:tgtEl>
                                        <p:attrNameLst>
                                          <p:attrName>style.visibility</p:attrName>
                                        </p:attrNameLst>
                                      </p:cBhvr>
                                      <p:to>
                                        <p:strVal val="hidden"/>
                                      </p:to>
                                    </p:set>
                                  </p:childTnLst>
                                </p:cTn>
                              </p:par>
                              <p:par>
                                <p:cTn id="17" presetID="9" presetClass="exit" presetSubtype="0" fill="hold" grpId="0" nodeType="withEffect">
                                  <p:stCondLst>
                                    <p:cond delay="0"/>
                                  </p:stCondLst>
                                  <p:childTnLst>
                                    <p:animEffect transition="out" filter="dissolve">
                                      <p:cBhvr>
                                        <p:cTn id="18" dur="1000"/>
                                        <p:tgtEl>
                                          <p:spTgt spid="21"/>
                                        </p:tgtEl>
                                      </p:cBhvr>
                                    </p:animEffect>
                                    <p:set>
                                      <p:cBhvr>
                                        <p:cTn id="19" dur="1" fill="hold">
                                          <p:stCondLst>
                                            <p:cond delay="999"/>
                                          </p:stCondLst>
                                        </p:cTn>
                                        <p:tgtEl>
                                          <p:spTgt spid="21"/>
                                        </p:tgtEl>
                                        <p:attrNameLst>
                                          <p:attrName>style.visibility</p:attrName>
                                        </p:attrNameLst>
                                      </p:cBhvr>
                                      <p:to>
                                        <p:strVal val="hidden"/>
                                      </p:to>
                                    </p:set>
                                  </p:childTnLst>
                                </p:cTn>
                              </p:par>
                              <p:par>
                                <p:cTn id="20" presetID="9" presetClass="exit" presetSubtype="0" fill="hold" grpId="0" nodeType="withEffect">
                                  <p:stCondLst>
                                    <p:cond delay="0"/>
                                  </p:stCondLst>
                                  <p:childTnLst>
                                    <p:animEffect transition="out" filter="dissolve">
                                      <p:cBhvr>
                                        <p:cTn id="21" dur="1000"/>
                                        <p:tgtEl>
                                          <p:spTgt spid="19"/>
                                        </p:tgtEl>
                                      </p:cBhvr>
                                    </p:animEffect>
                                    <p:set>
                                      <p:cBhvr>
                                        <p:cTn id="22" dur="1" fill="hold">
                                          <p:stCondLst>
                                            <p:cond delay="999"/>
                                          </p:stCondLst>
                                        </p:cTn>
                                        <p:tgtEl>
                                          <p:spTgt spid="19"/>
                                        </p:tgtEl>
                                        <p:attrNameLst>
                                          <p:attrName>style.visibility</p:attrName>
                                        </p:attrNameLst>
                                      </p:cBhvr>
                                      <p:to>
                                        <p:strVal val="hidden"/>
                                      </p:to>
                                    </p:set>
                                  </p:childTnLst>
                                </p:cTn>
                              </p:par>
                            </p:childTnLst>
                          </p:cTn>
                        </p:par>
                        <p:par>
                          <p:cTn id="23" fill="hold">
                            <p:stCondLst>
                              <p:cond delay="1000"/>
                            </p:stCondLst>
                            <p:childTnLst>
                              <p:par>
                                <p:cTn id="24" presetID="9" presetClass="entr" presetSubtype="0" fill="hold" grpId="0" nodeType="after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dissolve">
                                      <p:cBhvr>
                                        <p:cTn id="26" dur="1000"/>
                                        <p:tgtEl>
                                          <p:spTgt spid="24"/>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25"/>
                                        </p:tgtEl>
                                        <p:attrNameLst>
                                          <p:attrName>style.visibility</p:attrName>
                                        </p:attrNameLst>
                                      </p:cBhvr>
                                      <p:to>
                                        <p:strVal val="visible"/>
                                      </p:to>
                                    </p:set>
                                    <p:animEffect transition="in" filter="dissolve">
                                      <p:cBhvr>
                                        <p:cTn id="29" dur="1000"/>
                                        <p:tgtEl>
                                          <p:spTgt spid="25"/>
                                        </p:tgtEl>
                                      </p:cBhvr>
                                    </p:animEffect>
                                  </p:childTnLst>
                                </p:cTn>
                              </p:par>
                              <p:par>
                                <p:cTn id="30" presetID="9" presetClass="entr" presetSubtype="0" fill="hold" grpId="0" nodeType="with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dissolve">
                                      <p:cBhvr>
                                        <p:cTn id="32" dur="1000"/>
                                        <p:tgtEl>
                                          <p:spTgt spid="26"/>
                                        </p:tgtEl>
                                      </p:cBhvr>
                                    </p:animEffect>
                                  </p:childTnLst>
                                </p:cTn>
                              </p:par>
                              <p:par>
                                <p:cTn id="33" presetID="9"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dissolve">
                                      <p:cBhvr>
                                        <p:cTn id="35" dur="1000"/>
                                        <p:tgtEl>
                                          <p:spTgt spid="27"/>
                                        </p:tgtEl>
                                      </p:cBhvr>
                                    </p:animEffect>
                                  </p:childTnLst>
                                </p:cTn>
                              </p:par>
                              <p:par>
                                <p:cTn id="36" presetID="9" presetClass="entr" presetSubtype="0" fill="hold" grpId="0" nodeType="withEffect">
                                  <p:stCondLst>
                                    <p:cond delay="0"/>
                                  </p:stCondLst>
                                  <p:childTnLst>
                                    <p:set>
                                      <p:cBhvr>
                                        <p:cTn id="37" dur="1" fill="hold">
                                          <p:stCondLst>
                                            <p:cond delay="0"/>
                                          </p:stCondLst>
                                        </p:cTn>
                                        <p:tgtEl>
                                          <p:spTgt spid="28"/>
                                        </p:tgtEl>
                                        <p:attrNameLst>
                                          <p:attrName>style.visibility</p:attrName>
                                        </p:attrNameLst>
                                      </p:cBhvr>
                                      <p:to>
                                        <p:strVal val="visible"/>
                                      </p:to>
                                    </p:set>
                                    <p:animEffect transition="in" filter="dissolve">
                                      <p:cBhvr>
                                        <p:cTn id="38" dur="1000"/>
                                        <p:tgtEl>
                                          <p:spTgt spid="28"/>
                                        </p:tgtEl>
                                      </p:cBhvr>
                                    </p:animEffect>
                                  </p:childTnLst>
                                </p:cTn>
                              </p:par>
                              <p:par>
                                <p:cTn id="39" presetID="9" presetClass="entr" presetSubtype="0" fill="hold" grpId="0" nodeType="withEffect">
                                  <p:stCondLst>
                                    <p:cond delay="0"/>
                                  </p:stCondLst>
                                  <p:childTnLst>
                                    <p:set>
                                      <p:cBhvr>
                                        <p:cTn id="40" dur="1" fill="hold">
                                          <p:stCondLst>
                                            <p:cond delay="0"/>
                                          </p:stCondLst>
                                        </p:cTn>
                                        <p:tgtEl>
                                          <p:spTgt spid="29"/>
                                        </p:tgtEl>
                                        <p:attrNameLst>
                                          <p:attrName>style.visibility</p:attrName>
                                        </p:attrNameLst>
                                      </p:cBhvr>
                                      <p:to>
                                        <p:strVal val="visible"/>
                                      </p:to>
                                    </p:set>
                                    <p:animEffect transition="in" filter="dissolve">
                                      <p:cBhvr>
                                        <p:cTn id="41" dur="1000"/>
                                        <p:tgtEl>
                                          <p:spTgt spid="29"/>
                                        </p:tgtEl>
                                      </p:cBhvr>
                                    </p:animEffect>
                                  </p:childTnLst>
                                </p:cTn>
                              </p:par>
                              <p:par>
                                <p:cTn id="42" presetID="9" presetClass="exit" presetSubtype="0" fill="hold" grpId="0" nodeType="withEffect">
                                  <p:stCondLst>
                                    <p:cond delay="0"/>
                                  </p:stCondLst>
                                  <p:childTnLst>
                                    <p:animEffect transition="out" filter="dissolve">
                                      <p:cBhvr>
                                        <p:cTn id="43" dur="1000"/>
                                        <p:tgtEl>
                                          <p:spTgt spid="30"/>
                                        </p:tgtEl>
                                      </p:cBhvr>
                                    </p:animEffect>
                                    <p:set>
                                      <p:cBhvr>
                                        <p:cTn id="44" dur="1" fill="hold">
                                          <p:stCondLst>
                                            <p:cond delay="999"/>
                                          </p:stCondLst>
                                        </p:cTn>
                                        <p:tgtEl>
                                          <p:spTgt spid="30"/>
                                        </p:tgtEl>
                                        <p:attrNameLst>
                                          <p:attrName>style.visibility</p:attrName>
                                        </p:attrNameLst>
                                      </p:cBhvr>
                                      <p:to>
                                        <p:strVal val="hidden"/>
                                      </p:to>
                                    </p:set>
                                  </p:childTnLst>
                                </p:cTn>
                              </p:par>
                              <p:par>
                                <p:cTn id="45" presetID="9" presetClass="exit" presetSubtype="0" fill="hold" grpId="0" nodeType="withEffect">
                                  <p:stCondLst>
                                    <p:cond delay="0"/>
                                  </p:stCondLst>
                                  <p:childTnLst>
                                    <p:animEffect transition="out" filter="dissolve">
                                      <p:cBhvr>
                                        <p:cTn id="46" dur="1000"/>
                                        <p:tgtEl>
                                          <p:spTgt spid="31"/>
                                        </p:tgtEl>
                                      </p:cBhvr>
                                    </p:animEffect>
                                    <p:set>
                                      <p:cBhvr>
                                        <p:cTn id="47" dur="1" fill="hold">
                                          <p:stCondLst>
                                            <p:cond delay="999"/>
                                          </p:stCondLst>
                                        </p:cTn>
                                        <p:tgtEl>
                                          <p:spTgt spid="31"/>
                                        </p:tgtEl>
                                        <p:attrNameLst>
                                          <p:attrName>style.visibility</p:attrName>
                                        </p:attrNameLst>
                                      </p:cBhvr>
                                      <p:to>
                                        <p:strVal val="hidden"/>
                                      </p:to>
                                    </p:set>
                                  </p:childTnLst>
                                </p:cTn>
                              </p:par>
                            </p:childTnLst>
                          </p:cTn>
                        </p:par>
                        <p:par>
                          <p:cTn id="48" fill="hold">
                            <p:stCondLst>
                              <p:cond delay="2000"/>
                            </p:stCondLst>
                            <p:childTnLst>
                              <p:par>
                                <p:cTn id="49" presetID="1" presetClass="entr" presetSubtype="0" fill="hold" grpId="0" nodeType="afterEffect">
                                  <p:stCondLst>
                                    <p:cond delay="0"/>
                                  </p:stCondLst>
                                  <p:childTnLst>
                                    <p:set>
                                      <p:cBhvr>
                                        <p:cTn id="50" dur="1" fill="hold">
                                          <p:stCondLst>
                                            <p:cond delay="0"/>
                                          </p:stCondLst>
                                        </p:cTn>
                                        <p:tgtEl>
                                          <p:spTgt spid="4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3"/>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32"/>
                                        </p:tgtEl>
                                        <p:attrNameLst>
                                          <p:attrName>style.visibility</p:attrName>
                                        </p:attrNameLst>
                                      </p:cBhvr>
                                      <p:to>
                                        <p:strVal val="visible"/>
                                      </p:to>
                                    </p:set>
                                    <p:animEffect transition="in" filter="wipe(up)">
                                      <p:cBhvr>
                                        <p:cTn id="57" dur="2000"/>
                                        <p:tgtEl>
                                          <p:spTgt spid="32"/>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grpId="0" nodeType="clickEffect">
                                  <p:stCondLst>
                                    <p:cond delay="0"/>
                                  </p:stCondLst>
                                  <p:childTnLst>
                                    <p:set>
                                      <p:cBhvr>
                                        <p:cTn id="61" dur="1" fill="hold">
                                          <p:stCondLst>
                                            <p:cond delay="0"/>
                                          </p:stCondLst>
                                        </p:cTn>
                                        <p:tgtEl>
                                          <p:spTgt spid="33"/>
                                        </p:tgtEl>
                                        <p:attrNameLst>
                                          <p:attrName>style.visibility</p:attrName>
                                        </p:attrNameLst>
                                      </p:cBhvr>
                                      <p:to>
                                        <p:strVal val="visible"/>
                                      </p:to>
                                    </p:set>
                                    <p:animEffect transition="in" filter="wipe(up)">
                                      <p:cBhvr>
                                        <p:cTn id="62" dur="2000"/>
                                        <p:tgtEl>
                                          <p:spTgt spid="33"/>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grpId="0" nodeType="clickEffect">
                                  <p:stCondLst>
                                    <p:cond delay="0"/>
                                  </p:stCondLst>
                                  <p:childTnLst>
                                    <p:set>
                                      <p:cBhvr>
                                        <p:cTn id="66" dur="1" fill="hold">
                                          <p:stCondLst>
                                            <p:cond delay="0"/>
                                          </p:stCondLst>
                                        </p:cTn>
                                        <p:tgtEl>
                                          <p:spTgt spid="34"/>
                                        </p:tgtEl>
                                        <p:attrNameLst>
                                          <p:attrName>style.visibility</p:attrName>
                                        </p:attrNameLst>
                                      </p:cBhvr>
                                      <p:to>
                                        <p:strVal val="visible"/>
                                      </p:to>
                                    </p:set>
                                    <p:animEffect transition="in" filter="wipe(up)">
                                      <p:cBhvr>
                                        <p:cTn id="67" dur="2000"/>
                                        <p:tgtEl>
                                          <p:spTgt spid="34"/>
                                        </p:tgtEl>
                                      </p:cBhvr>
                                    </p:animEffect>
                                  </p:childTnLst>
                                </p:cTn>
                              </p:par>
                            </p:childTnLst>
                          </p:cTn>
                        </p:par>
                      </p:childTnLst>
                    </p:cTn>
                  </p:par>
                  <p:par>
                    <p:cTn id="68" fill="hold">
                      <p:stCondLst>
                        <p:cond delay="indefinite"/>
                      </p:stCondLst>
                      <p:childTnLst>
                        <p:par>
                          <p:cTn id="69" fill="hold">
                            <p:stCondLst>
                              <p:cond delay="0"/>
                            </p:stCondLst>
                            <p:childTnLst>
                              <p:par>
                                <p:cTn id="70" presetID="23" presetClass="entr" presetSubtype="16" fill="hold" grpId="0" nodeType="clickEffect">
                                  <p:stCondLst>
                                    <p:cond delay="0"/>
                                  </p:stCondLst>
                                  <p:childTnLst>
                                    <p:set>
                                      <p:cBhvr>
                                        <p:cTn id="71" dur="1" fill="hold">
                                          <p:stCondLst>
                                            <p:cond delay="0"/>
                                          </p:stCondLst>
                                        </p:cTn>
                                        <p:tgtEl>
                                          <p:spTgt spid="38"/>
                                        </p:tgtEl>
                                        <p:attrNameLst>
                                          <p:attrName>style.visibility</p:attrName>
                                        </p:attrNameLst>
                                      </p:cBhvr>
                                      <p:to>
                                        <p:strVal val="visible"/>
                                      </p:to>
                                    </p:set>
                                    <p:anim calcmode="lin" valueType="num">
                                      <p:cBhvr>
                                        <p:cTn id="72" dur="500" fill="hold"/>
                                        <p:tgtEl>
                                          <p:spTgt spid="38"/>
                                        </p:tgtEl>
                                        <p:attrNameLst>
                                          <p:attrName>ppt_w</p:attrName>
                                        </p:attrNameLst>
                                      </p:cBhvr>
                                      <p:tavLst>
                                        <p:tav tm="0">
                                          <p:val>
                                            <p:fltVal val="0"/>
                                          </p:val>
                                        </p:tav>
                                        <p:tav tm="100000">
                                          <p:val>
                                            <p:strVal val="#ppt_w"/>
                                          </p:val>
                                        </p:tav>
                                      </p:tavLst>
                                    </p:anim>
                                    <p:anim calcmode="lin" valueType="num">
                                      <p:cBhvr>
                                        <p:cTn id="73" dur="500" fill="hold"/>
                                        <p:tgtEl>
                                          <p:spTgt spid="38"/>
                                        </p:tgtEl>
                                        <p:attrNameLst>
                                          <p:attrName>ppt_h</p:attrName>
                                        </p:attrNameLst>
                                      </p:cBhvr>
                                      <p:tavLst>
                                        <p:tav tm="0">
                                          <p:val>
                                            <p:fltVal val="0"/>
                                          </p:val>
                                        </p:tav>
                                        <p:tav tm="100000">
                                          <p:val>
                                            <p:strVal val="#ppt_h"/>
                                          </p:val>
                                        </p:tav>
                                      </p:tavLst>
                                    </p:anim>
                                  </p:childTnLst>
                                </p:cTn>
                              </p:par>
                              <p:par>
                                <p:cTn id="74" presetID="23" presetClass="entr" presetSubtype="16" fill="hold" grpId="0" nodeType="withEffect">
                                  <p:stCondLst>
                                    <p:cond delay="0"/>
                                  </p:stCondLst>
                                  <p:childTnLst>
                                    <p:set>
                                      <p:cBhvr>
                                        <p:cTn id="75" dur="1" fill="hold">
                                          <p:stCondLst>
                                            <p:cond delay="0"/>
                                          </p:stCondLst>
                                        </p:cTn>
                                        <p:tgtEl>
                                          <p:spTgt spid="40"/>
                                        </p:tgtEl>
                                        <p:attrNameLst>
                                          <p:attrName>style.visibility</p:attrName>
                                        </p:attrNameLst>
                                      </p:cBhvr>
                                      <p:to>
                                        <p:strVal val="visible"/>
                                      </p:to>
                                    </p:set>
                                    <p:anim calcmode="lin" valueType="num">
                                      <p:cBhvr>
                                        <p:cTn id="76" dur="500" fill="hold"/>
                                        <p:tgtEl>
                                          <p:spTgt spid="40"/>
                                        </p:tgtEl>
                                        <p:attrNameLst>
                                          <p:attrName>ppt_w</p:attrName>
                                        </p:attrNameLst>
                                      </p:cBhvr>
                                      <p:tavLst>
                                        <p:tav tm="0">
                                          <p:val>
                                            <p:fltVal val="0"/>
                                          </p:val>
                                        </p:tav>
                                        <p:tav tm="100000">
                                          <p:val>
                                            <p:strVal val="#ppt_w"/>
                                          </p:val>
                                        </p:tav>
                                      </p:tavLst>
                                    </p:anim>
                                    <p:anim calcmode="lin" valueType="num">
                                      <p:cBhvr>
                                        <p:cTn id="77" dur="500" fill="hold"/>
                                        <p:tgtEl>
                                          <p:spTgt spid="40"/>
                                        </p:tgtEl>
                                        <p:attrNameLst>
                                          <p:attrName>ppt_h</p:attrName>
                                        </p:attrNameLst>
                                      </p:cBhvr>
                                      <p:tavLst>
                                        <p:tav tm="0">
                                          <p:val>
                                            <p:fltVal val="0"/>
                                          </p:val>
                                        </p:tav>
                                        <p:tav tm="100000">
                                          <p:val>
                                            <p:strVal val="#ppt_h"/>
                                          </p:val>
                                        </p:tav>
                                      </p:tavLst>
                                    </p:anim>
                                  </p:childTnLst>
                                </p:cTn>
                              </p:par>
                              <p:par>
                                <p:cTn id="78" presetID="23" presetClass="entr" presetSubtype="16" fill="hold" grpId="0" nodeType="withEffect">
                                  <p:stCondLst>
                                    <p:cond delay="0"/>
                                  </p:stCondLst>
                                  <p:childTnLst>
                                    <p:set>
                                      <p:cBhvr>
                                        <p:cTn id="79" dur="1" fill="hold">
                                          <p:stCondLst>
                                            <p:cond delay="0"/>
                                          </p:stCondLst>
                                        </p:cTn>
                                        <p:tgtEl>
                                          <p:spTgt spid="37"/>
                                        </p:tgtEl>
                                        <p:attrNameLst>
                                          <p:attrName>style.visibility</p:attrName>
                                        </p:attrNameLst>
                                      </p:cBhvr>
                                      <p:to>
                                        <p:strVal val="visible"/>
                                      </p:to>
                                    </p:set>
                                    <p:anim calcmode="lin" valueType="num">
                                      <p:cBhvr>
                                        <p:cTn id="80" dur="500" fill="hold"/>
                                        <p:tgtEl>
                                          <p:spTgt spid="37"/>
                                        </p:tgtEl>
                                        <p:attrNameLst>
                                          <p:attrName>ppt_w</p:attrName>
                                        </p:attrNameLst>
                                      </p:cBhvr>
                                      <p:tavLst>
                                        <p:tav tm="0">
                                          <p:val>
                                            <p:fltVal val="0"/>
                                          </p:val>
                                        </p:tav>
                                        <p:tav tm="100000">
                                          <p:val>
                                            <p:strVal val="#ppt_w"/>
                                          </p:val>
                                        </p:tav>
                                      </p:tavLst>
                                    </p:anim>
                                    <p:anim calcmode="lin" valueType="num">
                                      <p:cBhvr>
                                        <p:cTn id="81" dur="500" fill="hold"/>
                                        <p:tgtEl>
                                          <p:spTgt spid="37"/>
                                        </p:tgtEl>
                                        <p:attrNameLst>
                                          <p:attrName>ppt_h</p:attrName>
                                        </p:attrNameLst>
                                      </p:cBhvr>
                                      <p:tavLst>
                                        <p:tav tm="0">
                                          <p:val>
                                            <p:fltVal val="0"/>
                                          </p:val>
                                        </p:tav>
                                        <p:tav tm="100000">
                                          <p:val>
                                            <p:strVal val="#ppt_h"/>
                                          </p:val>
                                        </p:tav>
                                      </p:tavLst>
                                    </p:anim>
                                  </p:childTnLst>
                                </p:cTn>
                              </p:par>
                            </p:childTnLst>
                          </p:cTn>
                        </p:par>
                      </p:childTnLst>
                    </p:cTn>
                  </p:par>
                  <p:par>
                    <p:cTn id="82" fill="hold">
                      <p:stCondLst>
                        <p:cond delay="indefinite"/>
                      </p:stCondLst>
                      <p:childTnLst>
                        <p:par>
                          <p:cTn id="83" fill="hold">
                            <p:stCondLst>
                              <p:cond delay="0"/>
                            </p:stCondLst>
                            <p:childTnLst>
                              <p:par>
                                <p:cTn id="84" presetID="22" presetClass="entr" presetSubtype="4" fill="hold" grpId="0" nodeType="clickEffect">
                                  <p:stCondLst>
                                    <p:cond delay="0"/>
                                  </p:stCondLst>
                                  <p:childTnLst>
                                    <p:set>
                                      <p:cBhvr>
                                        <p:cTn id="85" dur="1" fill="hold">
                                          <p:stCondLst>
                                            <p:cond delay="0"/>
                                          </p:stCondLst>
                                        </p:cTn>
                                        <p:tgtEl>
                                          <p:spTgt spid="45"/>
                                        </p:tgtEl>
                                        <p:attrNameLst>
                                          <p:attrName>style.visibility</p:attrName>
                                        </p:attrNameLst>
                                      </p:cBhvr>
                                      <p:to>
                                        <p:strVal val="visible"/>
                                      </p:to>
                                    </p:set>
                                    <p:animEffect transition="in" filter="wipe(down)">
                                      <p:cBhvr>
                                        <p:cTn id="86"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P spid="56" grpId="1"/>
      <p:bldP spid="57" grpId="1"/>
      <p:bldP spid="19" grpId="0"/>
      <p:bldP spid="20" grpId="0"/>
      <p:bldP spid="21" grpId="0"/>
      <p:bldP spid="22" grpId="0"/>
      <p:bldP spid="23" grpId="0" animBg="1"/>
      <p:bldP spid="24" grpId="0"/>
      <p:bldP spid="25" grpId="0"/>
      <p:bldP spid="26" grpId="0"/>
      <p:bldP spid="27" grpId="0"/>
      <p:bldP spid="28" grpId="0"/>
      <p:bldP spid="29" grpId="0"/>
      <p:bldP spid="30" grpId="0" animBg="1"/>
      <p:bldP spid="31" grpId="0" animBg="1"/>
      <p:bldP spid="32" grpId="0"/>
      <p:bldP spid="33" grpId="0"/>
      <p:bldP spid="34" grpId="0"/>
      <p:bldP spid="37" grpId="0" animBg="1"/>
      <p:bldP spid="38" grpId="0" animBg="1"/>
      <p:bldP spid="40" grpId="0" animBg="1"/>
      <p:bldP spid="4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76200" y="112129"/>
            <a:ext cx="533400" cy="4919239"/>
            <a:chOff x="14626" y="14712"/>
            <a:chExt cx="598680" cy="6386091"/>
          </a:xfrm>
        </p:grpSpPr>
        <p:pic>
          <p:nvPicPr>
            <p:cNvPr id="3" name="Picture 2"/>
            <p:cNvPicPr>
              <a:picLocks noChangeAspect="1" noChangeArrowheads="1"/>
            </p:cNvPicPr>
            <p:nvPr/>
          </p:nvPicPr>
          <p:blipFill>
            <a:blip r:embed="rId2" cstate="print"/>
            <a:srcRect/>
            <a:stretch>
              <a:fillRect/>
            </a:stretch>
          </p:blipFill>
          <p:spPr bwMode="auto">
            <a:xfrm>
              <a:off x="14626" y="14712"/>
              <a:ext cx="598680" cy="846471"/>
            </a:xfrm>
            <a:prstGeom prst="rect">
              <a:avLst/>
            </a:prstGeom>
            <a:noFill/>
            <a:ln w="9525">
              <a:solidFill>
                <a:srgbClr val="0000FF"/>
              </a:solidFill>
              <a:miter lim="800000"/>
              <a:headEnd/>
              <a:tailEnd/>
            </a:ln>
          </p:spPr>
        </p:pic>
        <p:sp>
          <p:nvSpPr>
            <p:cNvPr id="4" name="Text Box 14"/>
            <p:cNvSpPr txBox="1">
              <a:spLocks noChangeArrowheads="1"/>
            </p:cNvSpPr>
            <p:nvPr/>
          </p:nvSpPr>
          <p:spPr bwMode="auto">
            <a:xfrm rot="16198651">
              <a:off x="-2592929" y="3446777"/>
              <a:ext cx="5562442" cy="345444"/>
            </a:xfrm>
            <a:prstGeom prst="rect">
              <a:avLst/>
            </a:prstGeom>
            <a:solidFill>
              <a:srgbClr val="000080"/>
            </a:solidFill>
            <a:ln w="9525">
              <a:noFill/>
              <a:miter lim="800000"/>
              <a:headEnd/>
              <a:tailEnd/>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50000"/>
                </a:spcBef>
              </a:pPr>
              <a:r>
                <a:rPr lang="en-US" sz="1400" b="1" dirty="0">
                  <a:solidFill>
                    <a:schemeClr val="bg1"/>
                  </a:solidFill>
                  <a:latin typeface="Century Gothic" pitchFamily="34" charset="0"/>
                </a:rPr>
                <a:t>Vishwakarma  Institute  of  Technology</a:t>
              </a:r>
            </a:p>
          </p:txBody>
        </p:sp>
        <p:sp>
          <p:nvSpPr>
            <p:cNvPr id="5" name="Text Box 14">
              <a:extLst>
                <a:ext uri="{FF2B5EF4-FFF2-40B4-BE49-F238E27FC236}">
                  <a16:creationId xmlns:lc="http://schemas.openxmlformats.org/drawingml/2006/lockedCanvas" xmlns="" xmlns:a16="http://schemas.microsoft.com/office/drawing/2014/main" id="{08D90372-4075-403D-BB31-3D2C4B3C58A2}"/>
                </a:ext>
              </a:extLst>
            </p:cNvPr>
            <p:cNvSpPr txBox="1">
              <a:spLocks noChangeArrowheads="1"/>
            </p:cNvSpPr>
            <p:nvPr/>
          </p:nvSpPr>
          <p:spPr bwMode="auto">
            <a:xfrm rot="16200000">
              <a:off x="-2314809" y="3472688"/>
              <a:ext cx="5562602" cy="293627"/>
            </a:xfrm>
            <a:prstGeom prst="rect">
              <a:avLst/>
            </a:prstGeom>
            <a:solidFill>
              <a:srgbClr val="FFFF99"/>
            </a:solidFill>
            <a:ln w="9525">
              <a:solidFill>
                <a:srgbClr val="002060"/>
              </a:solidFill>
              <a:miter lim="800000"/>
              <a:headEnd/>
              <a:tailEnd/>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50000"/>
                </a:spcBef>
              </a:pPr>
              <a:r>
                <a:rPr lang="en-US" sz="1100" b="1" dirty="0">
                  <a:solidFill>
                    <a:srgbClr val="002060"/>
                  </a:solidFill>
                  <a:latin typeface="Century Gothic" pitchFamily="34" charset="0"/>
                </a:rPr>
                <a:t>FY - Department of Engineering, Sciences and Humanities</a:t>
              </a:r>
            </a:p>
          </p:txBody>
        </p:sp>
      </p:grpSp>
      <p:sp>
        <p:nvSpPr>
          <p:cNvPr id="18" name="Donut 17"/>
          <p:cNvSpPr/>
          <p:nvPr/>
        </p:nvSpPr>
        <p:spPr>
          <a:xfrm>
            <a:off x="3352801" y="1083917"/>
            <a:ext cx="2362200" cy="2362200"/>
          </a:xfrm>
          <a:prstGeom prst="donut">
            <a:avLst>
              <a:gd name="adj" fmla="val 7275"/>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Donut 16"/>
          <p:cNvSpPr/>
          <p:nvPr/>
        </p:nvSpPr>
        <p:spPr>
          <a:xfrm>
            <a:off x="2590801" y="245717"/>
            <a:ext cx="3886200" cy="4038600"/>
          </a:xfrm>
          <a:prstGeom prst="donut">
            <a:avLst>
              <a:gd name="adj" fmla="val 7275"/>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9" name="Flowchart: Stored Data 48"/>
          <p:cNvSpPr/>
          <p:nvPr/>
        </p:nvSpPr>
        <p:spPr>
          <a:xfrm rot="1879606">
            <a:off x="2761295" y="914249"/>
            <a:ext cx="784392" cy="943571"/>
          </a:xfrm>
          <a:prstGeom prst="flowChartOnlineStorage">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Flowchart: Stored Data 49"/>
          <p:cNvSpPr/>
          <p:nvPr/>
        </p:nvSpPr>
        <p:spPr>
          <a:xfrm rot="5662946">
            <a:off x="4213639" y="174948"/>
            <a:ext cx="804617" cy="943571"/>
          </a:xfrm>
          <a:prstGeom prst="flowChartOnlineStorage">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lowchart: Stored Data 50"/>
          <p:cNvSpPr/>
          <p:nvPr/>
        </p:nvSpPr>
        <p:spPr>
          <a:xfrm rot="12728256">
            <a:off x="5524875" y="2668058"/>
            <a:ext cx="784392" cy="943571"/>
          </a:xfrm>
          <a:prstGeom prst="flowChartOnlineStorage">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Flowchart: Stored Data 51"/>
          <p:cNvSpPr/>
          <p:nvPr/>
        </p:nvSpPr>
        <p:spPr>
          <a:xfrm rot="16429689">
            <a:off x="4081425" y="3414980"/>
            <a:ext cx="784392" cy="943571"/>
          </a:xfrm>
          <a:prstGeom prst="flowChartOnlineStorage">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Flowchart: Stored Data 52"/>
          <p:cNvSpPr/>
          <p:nvPr/>
        </p:nvSpPr>
        <p:spPr>
          <a:xfrm rot="19984463">
            <a:off x="2685725" y="2505772"/>
            <a:ext cx="784392" cy="943571"/>
          </a:xfrm>
          <a:prstGeom prst="flowChartOnlineStorage">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lowchart: Stored Data 53"/>
          <p:cNvSpPr/>
          <p:nvPr/>
        </p:nvSpPr>
        <p:spPr>
          <a:xfrm rot="9146682">
            <a:off x="5577530" y="1009589"/>
            <a:ext cx="784392" cy="943571"/>
          </a:xfrm>
          <a:prstGeom prst="flowChartOnlineStorage">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p:cNvSpPr>
            <a:spLocks/>
          </p:cNvSpPr>
          <p:nvPr/>
        </p:nvSpPr>
        <p:spPr>
          <a:xfrm rot="3504116">
            <a:off x="5658548" y="1165979"/>
            <a:ext cx="533400" cy="6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800"/>
              </a:lnSpc>
            </a:pPr>
            <a:r>
              <a:rPr lang="en-US" sz="3600" b="1" dirty="0" smtClean="0">
                <a:solidFill>
                  <a:srgbClr val="FF0000"/>
                </a:solidFill>
                <a:latin typeface="Arial" pitchFamily="34" charset="0"/>
                <a:ea typeface="Verdana" pitchFamily="34" charset="0"/>
                <a:cs typeface="Arial" pitchFamily="34" charset="0"/>
              </a:rPr>
              <a:t>N</a:t>
            </a:r>
            <a:endParaRPr lang="en-US" sz="200" b="1" dirty="0">
              <a:solidFill>
                <a:srgbClr val="FF0000"/>
              </a:solidFill>
              <a:latin typeface="Verdana" pitchFamily="34" charset="0"/>
              <a:ea typeface="Verdana" pitchFamily="34" charset="0"/>
              <a:cs typeface="Verdana" pitchFamily="34" charset="0"/>
            </a:endParaRPr>
          </a:p>
        </p:txBody>
      </p:sp>
      <p:sp>
        <p:nvSpPr>
          <p:cNvPr id="57" name="Rectangle 56"/>
          <p:cNvSpPr>
            <a:spLocks/>
          </p:cNvSpPr>
          <p:nvPr/>
        </p:nvSpPr>
        <p:spPr>
          <a:xfrm rot="204642">
            <a:off x="4361062" y="382790"/>
            <a:ext cx="533400" cy="6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800"/>
              </a:lnSpc>
            </a:pPr>
            <a:r>
              <a:rPr lang="en-US" sz="3600" b="1" dirty="0" smtClean="0">
                <a:solidFill>
                  <a:srgbClr val="0000FF"/>
                </a:solidFill>
                <a:latin typeface="Arial" pitchFamily="34" charset="0"/>
                <a:ea typeface="Verdana" pitchFamily="34" charset="0"/>
                <a:cs typeface="Arial" pitchFamily="34" charset="0"/>
              </a:rPr>
              <a:t>S</a:t>
            </a:r>
            <a:endParaRPr lang="en-US" sz="200" b="1" dirty="0">
              <a:solidFill>
                <a:srgbClr val="0000FF"/>
              </a:solidFill>
              <a:latin typeface="Verdana" pitchFamily="34" charset="0"/>
              <a:ea typeface="Verdana" pitchFamily="34" charset="0"/>
              <a:cs typeface="Verdana" pitchFamily="34" charset="0"/>
            </a:endParaRPr>
          </a:p>
        </p:txBody>
      </p:sp>
      <p:sp>
        <p:nvSpPr>
          <p:cNvPr id="19" name="Rectangle 18"/>
          <p:cNvSpPr>
            <a:spLocks/>
          </p:cNvSpPr>
          <p:nvPr/>
        </p:nvSpPr>
        <p:spPr>
          <a:xfrm rot="18052872">
            <a:off x="2921128" y="1080320"/>
            <a:ext cx="533400" cy="6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800"/>
              </a:lnSpc>
            </a:pPr>
            <a:r>
              <a:rPr lang="en-US" sz="3600" b="1" dirty="0" smtClean="0">
                <a:solidFill>
                  <a:srgbClr val="FF0000"/>
                </a:solidFill>
                <a:latin typeface="Arial" pitchFamily="34" charset="0"/>
                <a:ea typeface="Verdana" pitchFamily="34" charset="0"/>
                <a:cs typeface="Arial" pitchFamily="34" charset="0"/>
              </a:rPr>
              <a:t>N</a:t>
            </a:r>
            <a:endParaRPr lang="en-US" sz="200" b="1" dirty="0">
              <a:solidFill>
                <a:srgbClr val="FF0000"/>
              </a:solidFill>
              <a:latin typeface="Verdana" pitchFamily="34" charset="0"/>
              <a:ea typeface="Verdana" pitchFamily="34" charset="0"/>
              <a:cs typeface="Verdana" pitchFamily="34" charset="0"/>
            </a:endParaRPr>
          </a:p>
        </p:txBody>
      </p:sp>
      <p:sp>
        <p:nvSpPr>
          <p:cNvPr id="20" name="Rectangle 19"/>
          <p:cNvSpPr>
            <a:spLocks/>
          </p:cNvSpPr>
          <p:nvPr/>
        </p:nvSpPr>
        <p:spPr>
          <a:xfrm rot="10983958">
            <a:off x="4191000" y="3569530"/>
            <a:ext cx="533400" cy="6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800"/>
              </a:lnSpc>
            </a:pPr>
            <a:r>
              <a:rPr lang="en-US" sz="3600" b="1" dirty="0" smtClean="0">
                <a:solidFill>
                  <a:srgbClr val="FF0000"/>
                </a:solidFill>
                <a:latin typeface="Arial" pitchFamily="34" charset="0"/>
                <a:ea typeface="Verdana" pitchFamily="34" charset="0"/>
                <a:cs typeface="Arial" pitchFamily="34" charset="0"/>
              </a:rPr>
              <a:t>N</a:t>
            </a:r>
            <a:endParaRPr lang="en-US" sz="200" b="1" dirty="0">
              <a:solidFill>
                <a:srgbClr val="FF0000"/>
              </a:solidFill>
              <a:latin typeface="Verdana" pitchFamily="34" charset="0"/>
              <a:ea typeface="Verdana" pitchFamily="34" charset="0"/>
              <a:cs typeface="Verdana" pitchFamily="34" charset="0"/>
            </a:endParaRPr>
          </a:p>
        </p:txBody>
      </p:sp>
      <p:sp>
        <p:nvSpPr>
          <p:cNvPr id="21" name="Rectangle 20"/>
          <p:cNvSpPr>
            <a:spLocks/>
          </p:cNvSpPr>
          <p:nvPr/>
        </p:nvSpPr>
        <p:spPr>
          <a:xfrm rot="14576554">
            <a:off x="2845742" y="2603076"/>
            <a:ext cx="533400" cy="6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800"/>
              </a:lnSpc>
            </a:pPr>
            <a:r>
              <a:rPr lang="en-US" sz="3600" b="1" dirty="0" smtClean="0">
                <a:solidFill>
                  <a:srgbClr val="0000FF"/>
                </a:solidFill>
                <a:latin typeface="Arial" pitchFamily="34" charset="0"/>
                <a:ea typeface="Verdana" pitchFamily="34" charset="0"/>
                <a:cs typeface="Arial" pitchFamily="34" charset="0"/>
              </a:rPr>
              <a:t>S</a:t>
            </a:r>
            <a:endParaRPr lang="en-US" sz="200" b="1" dirty="0">
              <a:solidFill>
                <a:srgbClr val="0000FF"/>
              </a:solidFill>
              <a:latin typeface="Verdana" pitchFamily="34" charset="0"/>
              <a:ea typeface="Verdana" pitchFamily="34" charset="0"/>
              <a:cs typeface="Verdana" pitchFamily="34" charset="0"/>
            </a:endParaRPr>
          </a:p>
        </p:txBody>
      </p:sp>
      <p:sp>
        <p:nvSpPr>
          <p:cNvPr id="22" name="Rectangle 21"/>
          <p:cNvSpPr>
            <a:spLocks/>
          </p:cNvSpPr>
          <p:nvPr/>
        </p:nvSpPr>
        <p:spPr>
          <a:xfrm rot="7402079">
            <a:off x="5620945" y="2845898"/>
            <a:ext cx="533400" cy="6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800"/>
              </a:lnSpc>
            </a:pPr>
            <a:r>
              <a:rPr lang="en-US" sz="3600" b="1" dirty="0" smtClean="0">
                <a:solidFill>
                  <a:srgbClr val="0000FF"/>
                </a:solidFill>
                <a:latin typeface="Arial" pitchFamily="34" charset="0"/>
                <a:ea typeface="Verdana" pitchFamily="34" charset="0"/>
                <a:cs typeface="Arial" pitchFamily="34" charset="0"/>
              </a:rPr>
              <a:t>S</a:t>
            </a:r>
            <a:endParaRPr lang="en-US" sz="200" b="1" dirty="0">
              <a:solidFill>
                <a:srgbClr val="0000FF"/>
              </a:solidFill>
              <a:latin typeface="Verdana" pitchFamily="34" charset="0"/>
              <a:ea typeface="Verdana" pitchFamily="34" charset="0"/>
              <a:cs typeface="Verdana" pitchFamily="34" charset="0"/>
            </a:endParaRPr>
          </a:p>
        </p:txBody>
      </p:sp>
      <p:sp>
        <p:nvSpPr>
          <p:cNvPr id="24" name="Block Arc 23"/>
          <p:cNvSpPr/>
          <p:nvPr/>
        </p:nvSpPr>
        <p:spPr>
          <a:xfrm rot="16200000">
            <a:off x="3492575" y="1934742"/>
            <a:ext cx="1504053" cy="1478803"/>
          </a:xfrm>
          <a:prstGeom prst="blockArc">
            <a:avLst>
              <a:gd name="adj1" fmla="val 10853154"/>
              <a:gd name="adj2" fmla="val 14970803"/>
              <a:gd name="adj3" fmla="val 14287"/>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5" name="Block Arc 24"/>
          <p:cNvSpPr/>
          <p:nvPr/>
        </p:nvSpPr>
        <p:spPr>
          <a:xfrm rot="5400000">
            <a:off x="4105388" y="1152460"/>
            <a:ext cx="1464870" cy="1446047"/>
          </a:xfrm>
          <a:prstGeom prst="blockArc">
            <a:avLst>
              <a:gd name="adj1" fmla="val 10946601"/>
              <a:gd name="adj2" fmla="val 15391086"/>
              <a:gd name="adj3" fmla="val 13423"/>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6" name="Rectangle 25"/>
          <p:cNvSpPr>
            <a:spLocks/>
          </p:cNvSpPr>
          <p:nvPr/>
        </p:nvSpPr>
        <p:spPr>
          <a:xfrm>
            <a:off x="685800" y="133350"/>
            <a:ext cx="1981200" cy="457200"/>
          </a:xfrm>
          <a:prstGeom prst="rect">
            <a:avLst/>
          </a:prstGeom>
          <a:solidFill>
            <a:srgbClr val="FFFF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800"/>
              </a:lnSpc>
            </a:pPr>
            <a:r>
              <a:rPr lang="en-US" sz="2000" b="1" dirty="0" err="1" smtClean="0">
                <a:solidFill>
                  <a:srgbClr val="0000FF"/>
                </a:solidFill>
                <a:latin typeface="Arial" pitchFamily="34" charset="0"/>
                <a:ea typeface="Verdana" pitchFamily="34" charset="0"/>
                <a:cs typeface="Arial" pitchFamily="34" charset="0"/>
              </a:rPr>
              <a:t>BLDC</a:t>
            </a:r>
            <a:r>
              <a:rPr lang="en-US" sz="2000" b="1" dirty="0" smtClean="0">
                <a:solidFill>
                  <a:srgbClr val="0000FF"/>
                </a:solidFill>
                <a:latin typeface="Arial" pitchFamily="34" charset="0"/>
                <a:ea typeface="Verdana" pitchFamily="34" charset="0"/>
                <a:cs typeface="Arial" pitchFamily="34" charset="0"/>
              </a:rPr>
              <a:t> Motor</a:t>
            </a:r>
            <a:endParaRPr lang="en-US" sz="400" b="1" dirty="0">
              <a:solidFill>
                <a:srgbClr val="0000FF"/>
              </a:solidFill>
              <a:latin typeface="Verdana" pitchFamily="34" charset="0"/>
              <a:ea typeface="Verdana" pitchFamily="34" charset="0"/>
              <a:cs typeface="Verdana" pitchFamily="34" charset="0"/>
            </a:endParaRPr>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76200" y="112129"/>
            <a:ext cx="533400" cy="4919239"/>
            <a:chOff x="14626" y="14712"/>
            <a:chExt cx="598680" cy="6386091"/>
          </a:xfrm>
        </p:grpSpPr>
        <p:pic>
          <p:nvPicPr>
            <p:cNvPr id="3" name="Picture 2"/>
            <p:cNvPicPr>
              <a:picLocks noChangeAspect="1" noChangeArrowheads="1"/>
            </p:cNvPicPr>
            <p:nvPr/>
          </p:nvPicPr>
          <p:blipFill>
            <a:blip r:embed="rId2" cstate="print"/>
            <a:srcRect/>
            <a:stretch>
              <a:fillRect/>
            </a:stretch>
          </p:blipFill>
          <p:spPr bwMode="auto">
            <a:xfrm>
              <a:off x="14626" y="14712"/>
              <a:ext cx="598680" cy="846471"/>
            </a:xfrm>
            <a:prstGeom prst="rect">
              <a:avLst/>
            </a:prstGeom>
            <a:noFill/>
            <a:ln w="9525">
              <a:solidFill>
                <a:srgbClr val="0000FF"/>
              </a:solidFill>
              <a:miter lim="800000"/>
              <a:headEnd/>
              <a:tailEnd/>
            </a:ln>
          </p:spPr>
        </p:pic>
        <p:sp>
          <p:nvSpPr>
            <p:cNvPr id="4" name="Text Box 14"/>
            <p:cNvSpPr txBox="1">
              <a:spLocks noChangeArrowheads="1"/>
            </p:cNvSpPr>
            <p:nvPr/>
          </p:nvSpPr>
          <p:spPr bwMode="auto">
            <a:xfrm rot="16198651">
              <a:off x="-2592929" y="3446777"/>
              <a:ext cx="5562442" cy="345444"/>
            </a:xfrm>
            <a:prstGeom prst="rect">
              <a:avLst/>
            </a:prstGeom>
            <a:solidFill>
              <a:srgbClr val="000080"/>
            </a:solidFill>
            <a:ln w="9525">
              <a:noFill/>
              <a:miter lim="800000"/>
              <a:headEnd/>
              <a:tailEnd/>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50000"/>
                </a:spcBef>
              </a:pPr>
              <a:r>
                <a:rPr lang="en-US" sz="1400" b="1" dirty="0">
                  <a:solidFill>
                    <a:schemeClr val="bg1"/>
                  </a:solidFill>
                  <a:latin typeface="Century Gothic" pitchFamily="34" charset="0"/>
                </a:rPr>
                <a:t>Vishwakarma  Institute  of  Technology</a:t>
              </a:r>
            </a:p>
          </p:txBody>
        </p:sp>
        <p:sp>
          <p:nvSpPr>
            <p:cNvPr id="5" name="Text Box 14">
              <a:extLst>
                <a:ext uri="{FF2B5EF4-FFF2-40B4-BE49-F238E27FC236}">
                  <a16:creationId xmlns:lc="http://schemas.openxmlformats.org/drawingml/2006/lockedCanvas" xmlns="" xmlns:a16="http://schemas.microsoft.com/office/drawing/2014/main" id="{08D90372-4075-403D-BB31-3D2C4B3C58A2}"/>
                </a:ext>
              </a:extLst>
            </p:cNvPr>
            <p:cNvSpPr txBox="1">
              <a:spLocks noChangeArrowheads="1"/>
            </p:cNvSpPr>
            <p:nvPr/>
          </p:nvSpPr>
          <p:spPr bwMode="auto">
            <a:xfrm rot="16200000">
              <a:off x="-2314809" y="3472688"/>
              <a:ext cx="5562602" cy="293627"/>
            </a:xfrm>
            <a:prstGeom prst="rect">
              <a:avLst/>
            </a:prstGeom>
            <a:solidFill>
              <a:srgbClr val="FFFF99"/>
            </a:solidFill>
            <a:ln w="9525">
              <a:solidFill>
                <a:srgbClr val="002060"/>
              </a:solidFill>
              <a:miter lim="800000"/>
              <a:headEnd/>
              <a:tailEnd/>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50000"/>
                </a:spcBef>
              </a:pPr>
              <a:r>
                <a:rPr lang="en-US" sz="1100" b="1" dirty="0">
                  <a:solidFill>
                    <a:srgbClr val="002060"/>
                  </a:solidFill>
                  <a:latin typeface="Century Gothic" pitchFamily="34" charset="0"/>
                </a:rPr>
                <a:t>FY - Department of Engineering, Sciences and Humanities</a:t>
              </a:r>
            </a:p>
          </p:txBody>
        </p:sp>
      </p:grpSp>
      <p:pic>
        <p:nvPicPr>
          <p:cNvPr id="1026" name="Picture 2" descr="D:\Harshavardhan\datafolder\hmksave\hmk vit\VIT 2018-20\AY 20202021 New Robotics Course\1 RMC 1920 Theory Lectures PPTs Videos  and Notes etc\Images For Lect 5 Electrical Elex\BLDC Motor.gif"/>
          <p:cNvPicPr>
            <a:picLocks noChangeAspect="1" noChangeArrowheads="1" noCrop="1"/>
          </p:cNvPicPr>
          <p:nvPr/>
        </p:nvPicPr>
        <p:blipFill>
          <a:blip r:embed="rId3" cstate="print"/>
          <a:srcRect/>
          <a:stretch>
            <a:fillRect/>
          </a:stretch>
        </p:blipFill>
        <p:spPr bwMode="auto">
          <a:xfrm>
            <a:off x="2133600" y="133350"/>
            <a:ext cx="4876800" cy="4876800"/>
          </a:xfrm>
          <a:prstGeom prst="rect">
            <a:avLst/>
          </a:prstGeom>
          <a:noFill/>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76200" y="112129"/>
            <a:ext cx="533400" cy="4919239"/>
            <a:chOff x="14626" y="14712"/>
            <a:chExt cx="598680" cy="6386091"/>
          </a:xfrm>
        </p:grpSpPr>
        <p:pic>
          <p:nvPicPr>
            <p:cNvPr id="3" name="Picture 2"/>
            <p:cNvPicPr>
              <a:picLocks noChangeAspect="1" noChangeArrowheads="1"/>
            </p:cNvPicPr>
            <p:nvPr/>
          </p:nvPicPr>
          <p:blipFill>
            <a:blip r:embed="rId2" cstate="print"/>
            <a:srcRect/>
            <a:stretch>
              <a:fillRect/>
            </a:stretch>
          </p:blipFill>
          <p:spPr bwMode="auto">
            <a:xfrm>
              <a:off x="14626" y="14712"/>
              <a:ext cx="598680" cy="846471"/>
            </a:xfrm>
            <a:prstGeom prst="rect">
              <a:avLst/>
            </a:prstGeom>
            <a:noFill/>
            <a:ln w="9525">
              <a:solidFill>
                <a:srgbClr val="0000FF"/>
              </a:solidFill>
              <a:miter lim="800000"/>
              <a:headEnd/>
              <a:tailEnd/>
            </a:ln>
          </p:spPr>
        </p:pic>
        <p:sp>
          <p:nvSpPr>
            <p:cNvPr id="4" name="Text Box 14"/>
            <p:cNvSpPr txBox="1">
              <a:spLocks noChangeArrowheads="1"/>
            </p:cNvSpPr>
            <p:nvPr/>
          </p:nvSpPr>
          <p:spPr bwMode="auto">
            <a:xfrm rot="16198651">
              <a:off x="-2592929" y="3446777"/>
              <a:ext cx="5562442" cy="345444"/>
            </a:xfrm>
            <a:prstGeom prst="rect">
              <a:avLst/>
            </a:prstGeom>
            <a:solidFill>
              <a:srgbClr val="000080"/>
            </a:solidFill>
            <a:ln w="9525">
              <a:noFill/>
              <a:miter lim="800000"/>
              <a:headEnd/>
              <a:tailEnd/>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50000"/>
                </a:spcBef>
              </a:pPr>
              <a:r>
                <a:rPr lang="en-US" sz="1400" b="1" dirty="0">
                  <a:solidFill>
                    <a:schemeClr val="bg1"/>
                  </a:solidFill>
                  <a:latin typeface="Century Gothic" pitchFamily="34" charset="0"/>
                </a:rPr>
                <a:t>Vishwakarma  Institute  of  Technology</a:t>
              </a:r>
            </a:p>
          </p:txBody>
        </p:sp>
        <p:sp>
          <p:nvSpPr>
            <p:cNvPr id="5" name="Text Box 14">
              <a:extLst>
                <a:ext uri="{FF2B5EF4-FFF2-40B4-BE49-F238E27FC236}">
                  <a16:creationId xmlns:lc="http://schemas.openxmlformats.org/drawingml/2006/lockedCanvas" xmlns="" xmlns:a16="http://schemas.microsoft.com/office/drawing/2014/main" id="{08D90372-4075-403D-BB31-3D2C4B3C58A2}"/>
                </a:ext>
              </a:extLst>
            </p:cNvPr>
            <p:cNvSpPr txBox="1">
              <a:spLocks noChangeArrowheads="1"/>
            </p:cNvSpPr>
            <p:nvPr/>
          </p:nvSpPr>
          <p:spPr bwMode="auto">
            <a:xfrm rot="16200000">
              <a:off x="-2314809" y="3472688"/>
              <a:ext cx="5562602" cy="293627"/>
            </a:xfrm>
            <a:prstGeom prst="rect">
              <a:avLst/>
            </a:prstGeom>
            <a:solidFill>
              <a:srgbClr val="FFFF99"/>
            </a:solidFill>
            <a:ln w="9525">
              <a:solidFill>
                <a:srgbClr val="002060"/>
              </a:solidFill>
              <a:miter lim="800000"/>
              <a:headEnd/>
              <a:tailEnd/>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50000"/>
                </a:spcBef>
              </a:pPr>
              <a:r>
                <a:rPr lang="en-US" sz="1100" b="1" dirty="0">
                  <a:solidFill>
                    <a:srgbClr val="002060"/>
                  </a:solidFill>
                  <a:latin typeface="Century Gothic" pitchFamily="34" charset="0"/>
                </a:rPr>
                <a:t>FY - Department of Engineering, Sciences and Humanities</a:t>
              </a:r>
            </a:p>
          </p:txBody>
        </p:sp>
      </p:grpSp>
      <p:sp>
        <p:nvSpPr>
          <p:cNvPr id="13" name="Rectangle 12"/>
          <p:cNvSpPr/>
          <p:nvPr/>
        </p:nvSpPr>
        <p:spPr>
          <a:xfrm>
            <a:off x="685800" y="57150"/>
            <a:ext cx="3657600" cy="457200"/>
          </a:xfrm>
          <a:prstGeom prst="rect">
            <a:avLst/>
          </a:prstGeom>
          <a:solidFill>
            <a:schemeClr val="accent6">
              <a:lumMod val="40000"/>
              <a:lumOff val="60000"/>
            </a:schemeClr>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smtClean="0">
                <a:solidFill>
                  <a:srgbClr val="FF0000"/>
                </a:solidFill>
                <a:latin typeface="Arial" pitchFamily="34" charset="0"/>
                <a:ea typeface="Verdana" pitchFamily="34" charset="0"/>
                <a:cs typeface="Arial" pitchFamily="34" charset="0"/>
              </a:rPr>
              <a:t>Features of Hall effect sensor – </a:t>
            </a:r>
          </a:p>
        </p:txBody>
      </p:sp>
      <p:sp>
        <p:nvSpPr>
          <p:cNvPr id="14" name="Rectangle 13"/>
          <p:cNvSpPr>
            <a:spLocks/>
          </p:cNvSpPr>
          <p:nvPr/>
        </p:nvSpPr>
        <p:spPr>
          <a:xfrm>
            <a:off x="685800" y="590550"/>
            <a:ext cx="3657600" cy="4191000"/>
          </a:xfrm>
          <a:prstGeom prst="rect">
            <a:avLst/>
          </a:prstGeom>
          <a:solidFill>
            <a:srgbClr val="FFFF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350" indent="-6350" algn="just">
              <a:lnSpc>
                <a:spcPts val="2800"/>
              </a:lnSpc>
            </a:pPr>
            <a:r>
              <a:rPr lang="en-US" b="1" dirty="0" smtClean="0">
                <a:solidFill>
                  <a:srgbClr val="FF0000"/>
                </a:solidFill>
                <a:latin typeface="Arial" pitchFamily="34" charset="0"/>
                <a:ea typeface="Verdana" pitchFamily="34" charset="0"/>
                <a:cs typeface="Arial" pitchFamily="34" charset="0"/>
              </a:rPr>
              <a:t>Working –</a:t>
            </a:r>
          </a:p>
          <a:p>
            <a:pPr marL="6350" indent="-6350" algn="just">
              <a:lnSpc>
                <a:spcPts val="2800"/>
              </a:lnSpc>
            </a:pPr>
            <a:r>
              <a:rPr lang="en-US" sz="2000" b="1" dirty="0" smtClean="0">
                <a:solidFill>
                  <a:srgbClr val="0000FF"/>
                </a:solidFill>
              </a:rPr>
              <a:t>Hall effect – When a current carrying conductor is subjected to a magnetic field which is perpendicular to the flow of electric current, an </a:t>
            </a:r>
            <a:r>
              <a:rPr lang="en-US" sz="2000" b="1" dirty="0" err="1" smtClean="0">
                <a:solidFill>
                  <a:srgbClr val="0000FF"/>
                </a:solidFill>
              </a:rPr>
              <a:t>EMF</a:t>
            </a:r>
            <a:r>
              <a:rPr lang="en-US" sz="2000" b="1" dirty="0" smtClean="0">
                <a:solidFill>
                  <a:srgbClr val="0000FF"/>
                </a:solidFill>
              </a:rPr>
              <a:t>, which is at right angle to the path of the flow of current, changes. </a:t>
            </a:r>
          </a:p>
          <a:p>
            <a:pPr marL="6350" indent="-6350" algn="just">
              <a:lnSpc>
                <a:spcPts val="2800"/>
              </a:lnSpc>
            </a:pPr>
            <a:r>
              <a:rPr lang="en-US" sz="2000" b="1" dirty="0" smtClean="0">
                <a:solidFill>
                  <a:srgbClr val="FF0000"/>
                </a:solidFill>
              </a:rPr>
              <a:t>Thus, the sensor senses this </a:t>
            </a:r>
            <a:r>
              <a:rPr lang="en-US" sz="2000" b="1" dirty="0" err="1" smtClean="0">
                <a:solidFill>
                  <a:srgbClr val="FF0000"/>
                </a:solidFill>
              </a:rPr>
              <a:t>EMF</a:t>
            </a:r>
            <a:r>
              <a:rPr lang="en-US" sz="2000" b="1" dirty="0" smtClean="0">
                <a:solidFill>
                  <a:srgbClr val="FF0000"/>
                </a:solidFill>
              </a:rPr>
              <a:t> and can detect  </a:t>
            </a:r>
            <a:r>
              <a:rPr lang="en-US" sz="2000" b="1" u="sng" dirty="0" smtClean="0">
                <a:solidFill>
                  <a:srgbClr val="FF0000"/>
                </a:solidFill>
              </a:rPr>
              <a:t>existence of a magnetic field </a:t>
            </a:r>
            <a:r>
              <a:rPr lang="en-US" sz="2000" b="1" dirty="0" smtClean="0">
                <a:solidFill>
                  <a:srgbClr val="FF0000"/>
                </a:solidFill>
              </a:rPr>
              <a:t>in the vicinity if it. </a:t>
            </a:r>
          </a:p>
        </p:txBody>
      </p:sp>
      <p:pic>
        <p:nvPicPr>
          <p:cNvPr id="8" name="Picture 8" descr="D:\Harshavardhan\datafolder\hmksave\hmk vit\VIT 2018-20\AY 20202021 New Robotics Course\1 RMC 1920 Theory Lectures PPTs Videos  and Notes etc\Images For Lect 5 Electrical Elex\Hall effect sensor 3.gif"/>
          <p:cNvPicPr>
            <a:picLocks noChangeAspect="1" noChangeArrowheads="1"/>
          </p:cNvPicPr>
          <p:nvPr/>
        </p:nvPicPr>
        <p:blipFill>
          <a:blip r:embed="rId3" cstate="print"/>
          <a:srcRect/>
          <a:stretch>
            <a:fillRect/>
          </a:stretch>
        </p:blipFill>
        <p:spPr bwMode="auto">
          <a:xfrm>
            <a:off x="4419600" y="133350"/>
            <a:ext cx="4600200" cy="3886200"/>
          </a:xfrm>
          <a:prstGeom prst="rect">
            <a:avLst/>
          </a:prstGeom>
          <a:noFill/>
          <a:ln w="12700">
            <a:solidFill>
              <a:schemeClr val="tx1"/>
            </a:solid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10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4">
                                            <p:bg/>
                                          </p:spTgt>
                                        </p:tgtEl>
                                        <p:attrNameLst>
                                          <p:attrName>style.visibility</p:attrName>
                                        </p:attrNameLst>
                                      </p:cBhvr>
                                      <p:to>
                                        <p:strVal val="visible"/>
                                      </p:to>
                                    </p:set>
                                    <p:animEffect transition="in" filter="wipe(up)">
                                      <p:cBhvr>
                                        <p:cTn id="12" dur="1000"/>
                                        <p:tgtEl>
                                          <p:spTgt spid="14">
                                            <p:bg/>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xEl>
                                              <p:pRg st="0" end="0"/>
                                            </p:txEl>
                                          </p:spTgt>
                                        </p:tgtEl>
                                        <p:attrNameLst>
                                          <p:attrName>style.visibility</p:attrName>
                                        </p:attrNameLst>
                                      </p:cBhvr>
                                      <p:to>
                                        <p:strVal val="visible"/>
                                      </p:to>
                                    </p:set>
                                    <p:animEffect transition="in" filter="wipe(up)">
                                      <p:cBhvr>
                                        <p:cTn id="17" dur="1000"/>
                                        <p:tgtEl>
                                          <p:spTgt spid="1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4">
                                            <p:txEl>
                                              <p:pRg st="1" end="1"/>
                                            </p:txEl>
                                          </p:spTgt>
                                        </p:tgtEl>
                                        <p:attrNameLst>
                                          <p:attrName>style.visibility</p:attrName>
                                        </p:attrNameLst>
                                      </p:cBhvr>
                                      <p:to>
                                        <p:strVal val="visible"/>
                                      </p:to>
                                    </p:set>
                                    <p:animEffect transition="in" filter="wipe(up)">
                                      <p:cBhvr>
                                        <p:cTn id="22" dur="1000"/>
                                        <p:tgtEl>
                                          <p:spTgt spid="14">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4">
                                            <p:txEl>
                                              <p:pRg st="2" end="2"/>
                                            </p:txEl>
                                          </p:spTgt>
                                        </p:tgtEl>
                                        <p:attrNameLst>
                                          <p:attrName>style.visibility</p:attrName>
                                        </p:attrNameLst>
                                      </p:cBhvr>
                                      <p:to>
                                        <p:strVal val="visible"/>
                                      </p:to>
                                    </p:set>
                                    <p:animEffect transition="in" filter="wipe(up)">
                                      <p:cBhvr>
                                        <p:cTn id="27" dur="1000"/>
                                        <p:tgtEl>
                                          <p:spTgt spid="14">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3" presetClass="entr" presetSubtype="16"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 calcmode="lin" valueType="num">
                                      <p:cBhvr>
                                        <p:cTn id="32" dur="1000" fill="hold"/>
                                        <p:tgtEl>
                                          <p:spTgt spid="8"/>
                                        </p:tgtEl>
                                        <p:attrNameLst>
                                          <p:attrName>ppt_w</p:attrName>
                                        </p:attrNameLst>
                                      </p:cBhvr>
                                      <p:tavLst>
                                        <p:tav tm="0">
                                          <p:val>
                                            <p:fltVal val="0"/>
                                          </p:val>
                                        </p:tav>
                                        <p:tav tm="100000">
                                          <p:val>
                                            <p:strVal val="#ppt_w"/>
                                          </p:val>
                                        </p:tav>
                                      </p:tavLst>
                                    </p:anim>
                                    <p:anim calcmode="lin" valueType="num">
                                      <p:cBhvr>
                                        <p:cTn id="33" dur="1000" fill="hold"/>
                                        <p:tgtEl>
                                          <p:spTgt spid="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build="p" bldLvl="3"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76200" y="112129"/>
            <a:ext cx="533400" cy="4919239"/>
            <a:chOff x="14626" y="14712"/>
            <a:chExt cx="598680" cy="6386091"/>
          </a:xfrm>
        </p:grpSpPr>
        <p:pic>
          <p:nvPicPr>
            <p:cNvPr id="3" name="Picture 2"/>
            <p:cNvPicPr>
              <a:picLocks noChangeAspect="1" noChangeArrowheads="1"/>
            </p:cNvPicPr>
            <p:nvPr/>
          </p:nvPicPr>
          <p:blipFill>
            <a:blip r:embed="rId2" cstate="print"/>
            <a:srcRect/>
            <a:stretch>
              <a:fillRect/>
            </a:stretch>
          </p:blipFill>
          <p:spPr bwMode="auto">
            <a:xfrm>
              <a:off x="14626" y="14712"/>
              <a:ext cx="598680" cy="846471"/>
            </a:xfrm>
            <a:prstGeom prst="rect">
              <a:avLst/>
            </a:prstGeom>
            <a:noFill/>
            <a:ln w="9525">
              <a:solidFill>
                <a:srgbClr val="0000FF"/>
              </a:solidFill>
              <a:miter lim="800000"/>
              <a:headEnd/>
              <a:tailEnd/>
            </a:ln>
          </p:spPr>
        </p:pic>
        <p:sp>
          <p:nvSpPr>
            <p:cNvPr id="4" name="Text Box 14"/>
            <p:cNvSpPr txBox="1">
              <a:spLocks noChangeArrowheads="1"/>
            </p:cNvSpPr>
            <p:nvPr/>
          </p:nvSpPr>
          <p:spPr bwMode="auto">
            <a:xfrm rot="16198651">
              <a:off x="-2592929" y="3446777"/>
              <a:ext cx="5562442" cy="345444"/>
            </a:xfrm>
            <a:prstGeom prst="rect">
              <a:avLst/>
            </a:prstGeom>
            <a:solidFill>
              <a:srgbClr val="000080"/>
            </a:solidFill>
            <a:ln w="9525">
              <a:noFill/>
              <a:miter lim="800000"/>
              <a:headEnd/>
              <a:tailEnd/>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50000"/>
                </a:spcBef>
              </a:pPr>
              <a:r>
                <a:rPr lang="en-US" sz="1400" b="1" dirty="0">
                  <a:solidFill>
                    <a:schemeClr val="bg1"/>
                  </a:solidFill>
                  <a:latin typeface="Century Gothic" pitchFamily="34" charset="0"/>
                </a:rPr>
                <a:t>Vishwakarma  Institute  of  Technology</a:t>
              </a:r>
            </a:p>
          </p:txBody>
        </p:sp>
        <p:sp>
          <p:nvSpPr>
            <p:cNvPr id="5" name="Text Box 14">
              <a:extLst>
                <a:ext uri="{FF2B5EF4-FFF2-40B4-BE49-F238E27FC236}">
                  <a16:creationId xmlns:lc="http://schemas.openxmlformats.org/drawingml/2006/lockedCanvas" xmlns="" xmlns:a16="http://schemas.microsoft.com/office/drawing/2014/main" id="{08D90372-4075-403D-BB31-3D2C4B3C58A2}"/>
                </a:ext>
              </a:extLst>
            </p:cNvPr>
            <p:cNvSpPr txBox="1">
              <a:spLocks noChangeArrowheads="1"/>
            </p:cNvSpPr>
            <p:nvPr/>
          </p:nvSpPr>
          <p:spPr bwMode="auto">
            <a:xfrm rot="16200000">
              <a:off x="-2314809" y="3472688"/>
              <a:ext cx="5562602" cy="293627"/>
            </a:xfrm>
            <a:prstGeom prst="rect">
              <a:avLst/>
            </a:prstGeom>
            <a:solidFill>
              <a:srgbClr val="FFFF99"/>
            </a:solidFill>
            <a:ln w="9525">
              <a:solidFill>
                <a:srgbClr val="002060"/>
              </a:solidFill>
              <a:miter lim="800000"/>
              <a:headEnd/>
              <a:tailEnd/>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50000"/>
                </a:spcBef>
              </a:pPr>
              <a:r>
                <a:rPr lang="en-US" sz="1100" b="1" dirty="0">
                  <a:solidFill>
                    <a:srgbClr val="002060"/>
                  </a:solidFill>
                  <a:latin typeface="Century Gothic" pitchFamily="34" charset="0"/>
                </a:rPr>
                <a:t>FY - Department of Engineering, Sciences and Humanities</a:t>
              </a:r>
            </a:p>
          </p:txBody>
        </p:sp>
      </p:grpSp>
      <p:pic>
        <p:nvPicPr>
          <p:cNvPr id="2051" name="Picture 3" descr="D:\Harshavardhan\datafolder\hmksave\hmk vit\VIT 2018-20\AY 20202021 New Robotics Course\1 RMC 1920 Theory Lectures PPTs Videos  and Notes etc\Images For Lect 5 Electrical Elex\Hall effect sensor A3144.jpg"/>
          <p:cNvPicPr>
            <a:picLocks noChangeAspect="1" noChangeArrowheads="1"/>
          </p:cNvPicPr>
          <p:nvPr/>
        </p:nvPicPr>
        <p:blipFill>
          <a:blip r:embed="rId3" cstate="print"/>
          <a:srcRect/>
          <a:stretch>
            <a:fillRect/>
          </a:stretch>
        </p:blipFill>
        <p:spPr bwMode="auto">
          <a:xfrm>
            <a:off x="5073012" y="133350"/>
            <a:ext cx="3943871" cy="2743200"/>
          </a:xfrm>
          <a:prstGeom prst="rect">
            <a:avLst/>
          </a:prstGeom>
          <a:noFill/>
          <a:ln w="19050">
            <a:solidFill>
              <a:schemeClr val="tx1"/>
            </a:solidFill>
          </a:ln>
        </p:spPr>
      </p:pic>
      <p:sp>
        <p:nvSpPr>
          <p:cNvPr id="7" name="Rectangle 6"/>
          <p:cNvSpPr/>
          <p:nvPr/>
        </p:nvSpPr>
        <p:spPr>
          <a:xfrm>
            <a:off x="685800" y="57150"/>
            <a:ext cx="4114800" cy="457200"/>
          </a:xfrm>
          <a:prstGeom prst="rect">
            <a:avLst/>
          </a:prstGeom>
          <a:solidFill>
            <a:schemeClr val="accent6">
              <a:lumMod val="40000"/>
              <a:lumOff val="60000"/>
            </a:schemeClr>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smtClean="0">
                <a:solidFill>
                  <a:srgbClr val="FF0000"/>
                </a:solidFill>
                <a:latin typeface="Arial" pitchFamily="34" charset="0"/>
                <a:ea typeface="Verdana" pitchFamily="34" charset="0"/>
                <a:cs typeface="Arial" pitchFamily="34" charset="0"/>
              </a:rPr>
              <a:t>Hall effect sensor in </a:t>
            </a:r>
            <a:r>
              <a:rPr lang="en-US" b="1" dirty="0" err="1" smtClean="0">
                <a:solidFill>
                  <a:srgbClr val="FF0000"/>
                </a:solidFill>
                <a:latin typeface="Arial" pitchFamily="34" charset="0"/>
                <a:ea typeface="Verdana" pitchFamily="34" charset="0"/>
                <a:cs typeface="Arial" pitchFamily="34" charset="0"/>
              </a:rPr>
              <a:t>BLDC</a:t>
            </a:r>
            <a:r>
              <a:rPr lang="en-US" b="1" dirty="0" smtClean="0">
                <a:solidFill>
                  <a:srgbClr val="FF0000"/>
                </a:solidFill>
                <a:latin typeface="Arial" pitchFamily="34" charset="0"/>
                <a:ea typeface="Verdana" pitchFamily="34" charset="0"/>
                <a:cs typeface="Arial" pitchFamily="34" charset="0"/>
              </a:rPr>
              <a:t> motor – </a:t>
            </a:r>
          </a:p>
        </p:txBody>
      </p:sp>
      <p:sp>
        <p:nvSpPr>
          <p:cNvPr id="9" name="Rectangle 8"/>
          <p:cNvSpPr>
            <a:spLocks/>
          </p:cNvSpPr>
          <p:nvPr/>
        </p:nvSpPr>
        <p:spPr>
          <a:xfrm>
            <a:off x="5105400" y="2952750"/>
            <a:ext cx="3886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350" indent="-6350" algn="ctr">
              <a:lnSpc>
                <a:spcPts val="2800"/>
              </a:lnSpc>
            </a:pPr>
            <a:r>
              <a:rPr lang="en-US" b="1" dirty="0" smtClean="0">
                <a:solidFill>
                  <a:srgbClr val="0000FF"/>
                </a:solidFill>
                <a:latin typeface="Arial" pitchFamily="34" charset="0"/>
                <a:ea typeface="Verdana" pitchFamily="34" charset="0"/>
                <a:cs typeface="Arial" pitchFamily="34" charset="0"/>
              </a:rPr>
              <a:t>Pin configuration and terminals of Hall effect sensor (3144)</a:t>
            </a:r>
          </a:p>
        </p:txBody>
      </p:sp>
      <p:pic>
        <p:nvPicPr>
          <p:cNvPr id="10" name="Picture 4" descr="D:\Harshavardhan\datafolder\hmksave\hmk vit\VIT 2018-20\AY 20202021 New Robotics Course\1 RMC 1920 Theory Lectures PPTs Videos  and Notes etc\Images For Lect 5 Electrical Elex\Hall effect sensor 2.gif"/>
          <p:cNvPicPr>
            <a:picLocks noChangeAspect="1" noChangeArrowheads="1"/>
          </p:cNvPicPr>
          <p:nvPr/>
        </p:nvPicPr>
        <p:blipFill>
          <a:blip r:embed="rId4" cstate="print"/>
          <a:srcRect/>
          <a:stretch>
            <a:fillRect/>
          </a:stretch>
        </p:blipFill>
        <p:spPr bwMode="auto">
          <a:xfrm>
            <a:off x="685800" y="590550"/>
            <a:ext cx="3269225" cy="2133600"/>
          </a:xfrm>
          <a:prstGeom prst="rect">
            <a:avLst/>
          </a:prstGeom>
          <a:solidFill>
            <a:srgbClr val="FFFFCC"/>
          </a:solidFill>
          <a:ln w="12700">
            <a:solidFill>
              <a:schemeClr val="tx1"/>
            </a:solidFill>
          </a:ln>
        </p:spPr>
      </p:pic>
      <p:pic>
        <p:nvPicPr>
          <p:cNvPr id="2052" name="Picture 4" descr="D:\Harshavardhan\datafolder\hmksave\hmk vit\VIT 2018-20\AY 20202021 New Robotics Course\1 RMC 1920 Theory Lectures PPTs Videos  and Notes etc\Images For Lect 5 Electrical Elex\Hall effect sensor 4 3144.jpg"/>
          <p:cNvPicPr>
            <a:picLocks noChangeAspect="1" noChangeArrowheads="1"/>
          </p:cNvPicPr>
          <p:nvPr/>
        </p:nvPicPr>
        <p:blipFill>
          <a:blip r:embed="rId5" cstate="print"/>
          <a:srcRect/>
          <a:stretch>
            <a:fillRect/>
          </a:stretch>
        </p:blipFill>
        <p:spPr bwMode="auto">
          <a:xfrm>
            <a:off x="2971800" y="2038350"/>
            <a:ext cx="1981200" cy="1981200"/>
          </a:xfrm>
          <a:prstGeom prst="rect">
            <a:avLst/>
          </a:prstGeom>
          <a:noFill/>
          <a:ln w="19050">
            <a:solidFill>
              <a:schemeClr val="tx1"/>
            </a:solid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1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051"/>
                                        </p:tgtEl>
                                        <p:attrNameLst>
                                          <p:attrName>style.visibility</p:attrName>
                                        </p:attrNameLst>
                                      </p:cBhvr>
                                      <p:to>
                                        <p:strVal val="visible"/>
                                      </p:to>
                                    </p:set>
                                    <p:animEffect transition="in" filter="wipe(up)">
                                      <p:cBhvr>
                                        <p:cTn id="12" dur="500"/>
                                        <p:tgtEl>
                                          <p:spTgt spid="2051"/>
                                        </p:tgtEl>
                                      </p:cBhvr>
                                    </p:animEffect>
                                  </p:childTnLst>
                                </p:cTn>
                              </p:par>
                            </p:childTnLst>
                          </p:cTn>
                        </p:par>
                      </p:childTnLst>
                    </p:cTn>
                  </p:par>
                  <p:par>
                    <p:cTn id="13" fill="hold">
                      <p:stCondLst>
                        <p:cond delay="indefinite"/>
                      </p:stCondLst>
                      <p:childTnLst>
                        <p:par>
                          <p:cTn id="14" fill="hold">
                            <p:stCondLst>
                              <p:cond delay="0"/>
                            </p:stCondLst>
                            <p:childTnLst>
                              <p:par>
                                <p:cTn id="15" presetID="31" presetClass="entr" presetSubtype="0" fill="hold" nodeType="clickEffect">
                                  <p:stCondLst>
                                    <p:cond delay="0"/>
                                  </p:stCondLst>
                                  <p:iterate type="lt">
                                    <p:tmPct val="5000"/>
                                  </p:iterate>
                                  <p:childTnLst>
                                    <p:set>
                                      <p:cBhvr>
                                        <p:cTn id="16" dur="1" fill="hold">
                                          <p:stCondLst>
                                            <p:cond delay="0"/>
                                          </p:stCondLst>
                                        </p:cTn>
                                        <p:tgtEl>
                                          <p:spTgt spid="2052"/>
                                        </p:tgtEl>
                                        <p:attrNameLst>
                                          <p:attrName>style.visibility</p:attrName>
                                        </p:attrNameLst>
                                      </p:cBhvr>
                                      <p:to>
                                        <p:strVal val="visible"/>
                                      </p:to>
                                    </p:set>
                                    <p:anim calcmode="lin" valueType="num">
                                      <p:cBhvr>
                                        <p:cTn id="17" dur="1000" fill="hold"/>
                                        <p:tgtEl>
                                          <p:spTgt spid="2052"/>
                                        </p:tgtEl>
                                        <p:attrNameLst>
                                          <p:attrName>ppt_w</p:attrName>
                                        </p:attrNameLst>
                                      </p:cBhvr>
                                      <p:tavLst>
                                        <p:tav tm="0">
                                          <p:val>
                                            <p:fltVal val="0"/>
                                          </p:val>
                                        </p:tav>
                                        <p:tav tm="100000">
                                          <p:val>
                                            <p:strVal val="#ppt_w"/>
                                          </p:val>
                                        </p:tav>
                                      </p:tavLst>
                                    </p:anim>
                                    <p:anim calcmode="lin" valueType="num">
                                      <p:cBhvr>
                                        <p:cTn id="18" dur="1000" fill="hold"/>
                                        <p:tgtEl>
                                          <p:spTgt spid="2052"/>
                                        </p:tgtEl>
                                        <p:attrNameLst>
                                          <p:attrName>ppt_h</p:attrName>
                                        </p:attrNameLst>
                                      </p:cBhvr>
                                      <p:tavLst>
                                        <p:tav tm="0">
                                          <p:val>
                                            <p:fltVal val="0"/>
                                          </p:val>
                                        </p:tav>
                                        <p:tav tm="100000">
                                          <p:val>
                                            <p:strVal val="#ppt_h"/>
                                          </p:val>
                                        </p:tav>
                                      </p:tavLst>
                                    </p:anim>
                                    <p:anim calcmode="lin" valueType="num">
                                      <p:cBhvr>
                                        <p:cTn id="19" dur="1000" fill="hold"/>
                                        <p:tgtEl>
                                          <p:spTgt spid="2052"/>
                                        </p:tgtEl>
                                        <p:attrNameLst>
                                          <p:attrName>style.rotation</p:attrName>
                                        </p:attrNameLst>
                                      </p:cBhvr>
                                      <p:tavLst>
                                        <p:tav tm="0">
                                          <p:val>
                                            <p:fltVal val="90"/>
                                          </p:val>
                                        </p:tav>
                                        <p:tav tm="100000">
                                          <p:val>
                                            <p:fltVal val="0"/>
                                          </p:val>
                                        </p:tav>
                                      </p:tavLst>
                                    </p:anim>
                                    <p:animEffect transition="in" filter="fade">
                                      <p:cBhvr>
                                        <p:cTn id="20" dur="1000"/>
                                        <p:tgtEl>
                                          <p:spTgt spid="2052"/>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9">
                                            <p:txEl>
                                              <p:pRg st="0" end="0"/>
                                            </p:txEl>
                                          </p:spTgt>
                                        </p:tgtEl>
                                        <p:attrNameLst>
                                          <p:attrName>style.visibility</p:attrName>
                                        </p:attrNameLst>
                                      </p:cBhvr>
                                      <p:to>
                                        <p:strVal val="visible"/>
                                      </p:to>
                                    </p:set>
                                    <p:animEffect transition="in" filter="wipe(left)">
                                      <p:cBhvr>
                                        <p:cTn id="25" dur="1000"/>
                                        <p:tgtEl>
                                          <p:spTgt spid="9">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 calcmode="lin" valueType="num">
                                      <p:cBhvr>
                                        <p:cTn id="30" dur="1000" fill="hold"/>
                                        <p:tgtEl>
                                          <p:spTgt spid="10"/>
                                        </p:tgtEl>
                                        <p:attrNameLst>
                                          <p:attrName>ppt_w</p:attrName>
                                        </p:attrNameLst>
                                      </p:cBhvr>
                                      <p:tavLst>
                                        <p:tav tm="0">
                                          <p:val>
                                            <p:fltVal val="0"/>
                                          </p:val>
                                        </p:tav>
                                        <p:tav tm="100000">
                                          <p:val>
                                            <p:strVal val="#ppt_w"/>
                                          </p:val>
                                        </p:tav>
                                      </p:tavLst>
                                    </p:anim>
                                    <p:anim calcmode="lin" valueType="num">
                                      <p:cBhvr>
                                        <p:cTn id="31" dur="1000" fill="hold"/>
                                        <p:tgtEl>
                                          <p:spTgt spid="1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build="p" bldLvl="3"/>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5" name="Group 44"/>
          <p:cNvGrpSpPr/>
          <p:nvPr/>
        </p:nvGrpSpPr>
        <p:grpSpPr>
          <a:xfrm>
            <a:off x="76200" y="112129"/>
            <a:ext cx="533400" cy="4919239"/>
            <a:chOff x="14626" y="14712"/>
            <a:chExt cx="598680" cy="6386091"/>
          </a:xfrm>
        </p:grpSpPr>
        <p:pic>
          <p:nvPicPr>
            <p:cNvPr id="47" name="Picture 46"/>
            <p:cNvPicPr>
              <a:picLocks noChangeAspect="1" noChangeArrowheads="1"/>
            </p:cNvPicPr>
            <p:nvPr/>
          </p:nvPicPr>
          <p:blipFill>
            <a:blip r:embed="rId2" cstate="print"/>
            <a:srcRect/>
            <a:stretch>
              <a:fillRect/>
            </a:stretch>
          </p:blipFill>
          <p:spPr bwMode="auto">
            <a:xfrm>
              <a:off x="14626" y="14712"/>
              <a:ext cx="598680" cy="846471"/>
            </a:xfrm>
            <a:prstGeom prst="rect">
              <a:avLst/>
            </a:prstGeom>
            <a:noFill/>
            <a:ln w="9525">
              <a:solidFill>
                <a:srgbClr val="0000FF"/>
              </a:solidFill>
              <a:miter lim="800000"/>
              <a:headEnd/>
              <a:tailEnd/>
            </a:ln>
          </p:spPr>
        </p:pic>
        <p:sp>
          <p:nvSpPr>
            <p:cNvPr id="48" name="Text Box 14"/>
            <p:cNvSpPr txBox="1">
              <a:spLocks noChangeArrowheads="1"/>
            </p:cNvSpPr>
            <p:nvPr/>
          </p:nvSpPr>
          <p:spPr bwMode="auto">
            <a:xfrm rot="16198651">
              <a:off x="-2592929" y="3446777"/>
              <a:ext cx="5562442" cy="345444"/>
            </a:xfrm>
            <a:prstGeom prst="rect">
              <a:avLst/>
            </a:prstGeom>
            <a:solidFill>
              <a:srgbClr val="000080"/>
            </a:solidFill>
            <a:ln w="9525">
              <a:noFill/>
              <a:miter lim="800000"/>
              <a:headEnd/>
              <a:tailEnd/>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50000"/>
                </a:spcBef>
              </a:pPr>
              <a:r>
                <a:rPr lang="en-US" sz="1400" b="1" dirty="0">
                  <a:solidFill>
                    <a:schemeClr val="bg1"/>
                  </a:solidFill>
                  <a:latin typeface="Century Gothic" pitchFamily="34" charset="0"/>
                </a:rPr>
                <a:t>Vishwakarma  Institute  of  Technology</a:t>
              </a:r>
            </a:p>
          </p:txBody>
        </p:sp>
        <p:sp>
          <p:nvSpPr>
            <p:cNvPr id="49" name="Text Box 14">
              <a:extLst>
                <a:ext uri="{FF2B5EF4-FFF2-40B4-BE49-F238E27FC236}">
                  <a16:creationId xmlns:lc="http://schemas.openxmlformats.org/drawingml/2006/lockedCanvas" xmlns="" xmlns:a16="http://schemas.microsoft.com/office/drawing/2014/main" id="{08D90372-4075-403D-BB31-3D2C4B3C58A2}"/>
                </a:ext>
              </a:extLst>
            </p:cNvPr>
            <p:cNvSpPr txBox="1">
              <a:spLocks noChangeArrowheads="1"/>
            </p:cNvSpPr>
            <p:nvPr/>
          </p:nvSpPr>
          <p:spPr bwMode="auto">
            <a:xfrm rot="16200000">
              <a:off x="-2314809" y="3472688"/>
              <a:ext cx="5562602" cy="293627"/>
            </a:xfrm>
            <a:prstGeom prst="rect">
              <a:avLst/>
            </a:prstGeom>
            <a:solidFill>
              <a:srgbClr val="FFFF99"/>
            </a:solidFill>
            <a:ln w="9525">
              <a:solidFill>
                <a:srgbClr val="002060"/>
              </a:solidFill>
              <a:miter lim="800000"/>
              <a:headEnd/>
              <a:tailEnd/>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50000"/>
                </a:spcBef>
              </a:pPr>
              <a:r>
                <a:rPr lang="en-US" sz="1100" b="1" dirty="0">
                  <a:solidFill>
                    <a:srgbClr val="002060"/>
                  </a:solidFill>
                  <a:latin typeface="Century Gothic" pitchFamily="34" charset="0"/>
                </a:rPr>
                <a:t>FY - Department of Engineering, Sciences and Humanities</a:t>
              </a:r>
            </a:p>
          </p:txBody>
        </p:sp>
      </p:grpSp>
      <p:pic>
        <p:nvPicPr>
          <p:cNvPr id="50" name="Picture 3" descr="D:\Harshavardhan\datafolder\hmksave\hmk vit\VIT 2018-20\AY 20202021 New Robotics Course\1 RMC 1920 Theory Lectures PPTs Videos  and Notes etc\Images For Lect 5 Electrical Elex\BLDC motor internal.jpg"/>
          <p:cNvPicPr>
            <a:picLocks noChangeAspect="1" noChangeArrowheads="1"/>
          </p:cNvPicPr>
          <p:nvPr/>
        </p:nvPicPr>
        <p:blipFill>
          <a:blip r:embed="rId3" cstate="print"/>
          <a:srcRect/>
          <a:stretch>
            <a:fillRect/>
          </a:stretch>
        </p:blipFill>
        <p:spPr bwMode="auto">
          <a:xfrm>
            <a:off x="3505200" y="742951"/>
            <a:ext cx="5500152" cy="3200400"/>
          </a:xfrm>
          <a:prstGeom prst="rect">
            <a:avLst/>
          </a:prstGeom>
          <a:noFill/>
        </p:spPr>
      </p:pic>
      <p:pic>
        <p:nvPicPr>
          <p:cNvPr id="2050" name="Picture 2" descr="D:\Harshavardhan\datafolder\hmksave\hmk vit\VIT 2018-20\AY 20202021 New Robotics Course\1 RMC 1920 Theory Lectures PPTs Videos  and Notes etc\Images For Lect 5 Electrical Elex\Motor 3 ph and BLDC - Copy.jpg"/>
          <p:cNvPicPr>
            <a:picLocks noChangeAspect="1" noChangeArrowheads="1"/>
          </p:cNvPicPr>
          <p:nvPr/>
        </p:nvPicPr>
        <p:blipFill>
          <a:blip r:embed="rId4" cstate="print"/>
          <a:srcRect/>
          <a:stretch>
            <a:fillRect/>
          </a:stretch>
        </p:blipFill>
        <p:spPr bwMode="auto">
          <a:xfrm>
            <a:off x="685800" y="742950"/>
            <a:ext cx="3186654" cy="3200400"/>
          </a:xfrm>
          <a:prstGeom prst="rect">
            <a:avLst/>
          </a:prstGeom>
          <a:noFill/>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76200" y="112129"/>
            <a:ext cx="533400" cy="4919239"/>
            <a:chOff x="14626" y="14712"/>
            <a:chExt cx="598680" cy="6386091"/>
          </a:xfrm>
        </p:grpSpPr>
        <p:pic>
          <p:nvPicPr>
            <p:cNvPr id="3" name="Picture 2"/>
            <p:cNvPicPr>
              <a:picLocks noChangeAspect="1" noChangeArrowheads="1"/>
            </p:cNvPicPr>
            <p:nvPr/>
          </p:nvPicPr>
          <p:blipFill>
            <a:blip r:embed="rId2" cstate="print"/>
            <a:srcRect/>
            <a:stretch>
              <a:fillRect/>
            </a:stretch>
          </p:blipFill>
          <p:spPr bwMode="auto">
            <a:xfrm>
              <a:off x="14626" y="14712"/>
              <a:ext cx="598680" cy="846471"/>
            </a:xfrm>
            <a:prstGeom prst="rect">
              <a:avLst/>
            </a:prstGeom>
            <a:noFill/>
            <a:ln w="9525">
              <a:solidFill>
                <a:srgbClr val="0000FF"/>
              </a:solidFill>
              <a:miter lim="800000"/>
              <a:headEnd/>
              <a:tailEnd/>
            </a:ln>
          </p:spPr>
        </p:pic>
        <p:sp>
          <p:nvSpPr>
            <p:cNvPr id="4" name="Text Box 14"/>
            <p:cNvSpPr txBox="1">
              <a:spLocks noChangeArrowheads="1"/>
            </p:cNvSpPr>
            <p:nvPr/>
          </p:nvSpPr>
          <p:spPr bwMode="auto">
            <a:xfrm rot="16198651">
              <a:off x="-2592929" y="3446777"/>
              <a:ext cx="5562442" cy="345444"/>
            </a:xfrm>
            <a:prstGeom prst="rect">
              <a:avLst/>
            </a:prstGeom>
            <a:solidFill>
              <a:srgbClr val="000080"/>
            </a:solidFill>
            <a:ln w="9525">
              <a:noFill/>
              <a:miter lim="800000"/>
              <a:headEnd/>
              <a:tailEnd/>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50000"/>
                </a:spcBef>
              </a:pPr>
              <a:r>
                <a:rPr lang="en-US" sz="1400" b="1" dirty="0">
                  <a:solidFill>
                    <a:schemeClr val="bg1"/>
                  </a:solidFill>
                  <a:latin typeface="Century Gothic" pitchFamily="34" charset="0"/>
                </a:rPr>
                <a:t>Vishwakarma  Institute  of  Technology</a:t>
              </a:r>
            </a:p>
          </p:txBody>
        </p:sp>
        <p:sp>
          <p:nvSpPr>
            <p:cNvPr id="5" name="Text Box 14">
              <a:extLst>
                <a:ext uri="{FF2B5EF4-FFF2-40B4-BE49-F238E27FC236}">
                  <a16:creationId xmlns:lc="http://schemas.openxmlformats.org/drawingml/2006/lockedCanvas" xmlns="" xmlns:a16="http://schemas.microsoft.com/office/drawing/2014/main" id="{08D90372-4075-403D-BB31-3D2C4B3C58A2}"/>
                </a:ext>
              </a:extLst>
            </p:cNvPr>
            <p:cNvSpPr txBox="1">
              <a:spLocks noChangeArrowheads="1"/>
            </p:cNvSpPr>
            <p:nvPr/>
          </p:nvSpPr>
          <p:spPr bwMode="auto">
            <a:xfrm rot="16200000">
              <a:off x="-2314809" y="3472688"/>
              <a:ext cx="5562602" cy="293627"/>
            </a:xfrm>
            <a:prstGeom prst="rect">
              <a:avLst/>
            </a:prstGeom>
            <a:solidFill>
              <a:srgbClr val="FFFF99"/>
            </a:solidFill>
            <a:ln w="9525">
              <a:solidFill>
                <a:srgbClr val="002060"/>
              </a:solidFill>
              <a:miter lim="800000"/>
              <a:headEnd/>
              <a:tailEnd/>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50000"/>
                </a:spcBef>
              </a:pPr>
              <a:r>
                <a:rPr lang="en-US" sz="1100" b="1" dirty="0">
                  <a:solidFill>
                    <a:srgbClr val="002060"/>
                  </a:solidFill>
                  <a:latin typeface="Century Gothic" pitchFamily="34" charset="0"/>
                </a:rPr>
                <a:t>FY - Department of Engineering, Sciences and Humanities</a:t>
              </a:r>
            </a:p>
          </p:txBody>
        </p:sp>
      </p:grpSp>
      <p:sp>
        <p:nvSpPr>
          <p:cNvPr id="13" name="Rectangle 12"/>
          <p:cNvSpPr/>
          <p:nvPr/>
        </p:nvSpPr>
        <p:spPr>
          <a:xfrm>
            <a:off x="685800" y="57150"/>
            <a:ext cx="3505200" cy="457200"/>
          </a:xfrm>
          <a:prstGeom prst="rect">
            <a:avLst/>
          </a:prstGeom>
          <a:solidFill>
            <a:schemeClr val="accent6">
              <a:lumMod val="40000"/>
              <a:lumOff val="60000"/>
            </a:schemeClr>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smtClean="0">
                <a:solidFill>
                  <a:srgbClr val="FF0000"/>
                </a:solidFill>
                <a:latin typeface="Arial" pitchFamily="34" charset="0"/>
                <a:ea typeface="Verdana" pitchFamily="34" charset="0"/>
                <a:cs typeface="Arial" pitchFamily="34" charset="0"/>
              </a:rPr>
              <a:t>Driver for </a:t>
            </a:r>
            <a:r>
              <a:rPr lang="en-US" b="1" dirty="0" err="1" smtClean="0">
                <a:solidFill>
                  <a:srgbClr val="FF0000"/>
                </a:solidFill>
                <a:latin typeface="Arial" pitchFamily="34" charset="0"/>
                <a:ea typeface="Verdana" pitchFamily="34" charset="0"/>
                <a:cs typeface="Arial" pitchFamily="34" charset="0"/>
              </a:rPr>
              <a:t>BLDC</a:t>
            </a:r>
            <a:r>
              <a:rPr lang="en-US" b="1" dirty="0" smtClean="0">
                <a:solidFill>
                  <a:srgbClr val="FF0000"/>
                </a:solidFill>
                <a:latin typeface="Arial" pitchFamily="34" charset="0"/>
                <a:ea typeface="Verdana" pitchFamily="34" charset="0"/>
                <a:cs typeface="Arial" pitchFamily="34" charset="0"/>
              </a:rPr>
              <a:t> motor – </a:t>
            </a:r>
          </a:p>
        </p:txBody>
      </p:sp>
      <p:sp>
        <p:nvSpPr>
          <p:cNvPr id="14" name="Rectangle 13"/>
          <p:cNvSpPr>
            <a:spLocks/>
          </p:cNvSpPr>
          <p:nvPr/>
        </p:nvSpPr>
        <p:spPr>
          <a:xfrm>
            <a:off x="685800" y="590550"/>
            <a:ext cx="3505200" cy="2971800"/>
          </a:xfrm>
          <a:prstGeom prst="rect">
            <a:avLst/>
          </a:prstGeom>
          <a:solidFill>
            <a:srgbClr val="FFFF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350" indent="-6350" algn="just">
              <a:lnSpc>
                <a:spcPts val="2800"/>
              </a:lnSpc>
            </a:pPr>
            <a:r>
              <a:rPr lang="en-US" sz="1600" b="1" dirty="0" smtClean="0">
                <a:solidFill>
                  <a:srgbClr val="FF0000"/>
                </a:solidFill>
                <a:latin typeface="Arial" pitchFamily="34" charset="0"/>
                <a:ea typeface="Verdana" pitchFamily="34" charset="0"/>
                <a:cs typeface="Arial" pitchFamily="34" charset="0"/>
              </a:rPr>
              <a:t>What is a driver circuit ? – </a:t>
            </a:r>
            <a:r>
              <a:rPr lang="en-US" b="1" dirty="0" smtClean="0">
                <a:solidFill>
                  <a:srgbClr val="0000FF"/>
                </a:solidFill>
              </a:rPr>
              <a:t>As the rotor approaches the stator pole, it is necessary to change the polarity of the stator pole at right time. So that the rotor will advance further and chase the stator pole. Thus, the position of the rotor should be known. </a:t>
            </a:r>
            <a:endParaRPr lang="en-US" b="1" dirty="0" smtClean="0">
              <a:solidFill>
                <a:srgbClr val="FF0000"/>
              </a:solidFill>
            </a:endParaRPr>
          </a:p>
        </p:txBody>
      </p:sp>
      <p:pic>
        <p:nvPicPr>
          <p:cNvPr id="1026" name="Picture 2" descr="D:\Harshavardhan\datafolder\hmksave\hmk vit\VIT 2018-20\AY 20202021 New Robotics Course\1 RMC 1920 Theory Lectures PPTs Videos  and Notes etc\Images For Lect 5 Electrical Elex\BLDC block diagram.jpg"/>
          <p:cNvPicPr>
            <a:picLocks noChangeAspect="1" noChangeArrowheads="1"/>
          </p:cNvPicPr>
          <p:nvPr/>
        </p:nvPicPr>
        <p:blipFill>
          <a:blip r:embed="rId3" cstate="print"/>
          <a:srcRect/>
          <a:stretch>
            <a:fillRect/>
          </a:stretch>
        </p:blipFill>
        <p:spPr bwMode="auto">
          <a:xfrm>
            <a:off x="4267200" y="285750"/>
            <a:ext cx="4750420" cy="2743200"/>
          </a:xfrm>
          <a:prstGeom prst="rect">
            <a:avLst/>
          </a:prstGeom>
          <a:noFill/>
          <a:ln w="19050">
            <a:solidFill>
              <a:schemeClr val="tx1"/>
            </a:solidFill>
          </a:ln>
        </p:spPr>
      </p:pic>
      <p:sp>
        <p:nvSpPr>
          <p:cNvPr id="10" name="Rectangle 9"/>
          <p:cNvSpPr>
            <a:spLocks/>
          </p:cNvSpPr>
          <p:nvPr/>
        </p:nvSpPr>
        <p:spPr>
          <a:xfrm>
            <a:off x="4267200" y="3105150"/>
            <a:ext cx="4724400" cy="1447800"/>
          </a:xfrm>
          <a:prstGeom prst="rect">
            <a:avLst/>
          </a:prstGeom>
          <a:solidFill>
            <a:srgbClr val="FFFF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350" indent="-6350" algn="just">
              <a:lnSpc>
                <a:spcPts val="2800"/>
              </a:lnSpc>
            </a:pPr>
            <a:r>
              <a:rPr lang="en-US" b="1" dirty="0" smtClean="0">
                <a:solidFill>
                  <a:srgbClr val="FF0000"/>
                </a:solidFill>
              </a:rPr>
              <a:t>This is done by the Hall effect sensor and accordingly the stator pole is changed. The electronic circuit switching the stator poles is called as the driver circuit.  </a:t>
            </a:r>
          </a:p>
        </p:txBody>
      </p:sp>
      <p:grpSp>
        <p:nvGrpSpPr>
          <p:cNvPr id="36" name="Group 35"/>
          <p:cNvGrpSpPr/>
          <p:nvPr/>
        </p:nvGrpSpPr>
        <p:grpSpPr>
          <a:xfrm>
            <a:off x="4419600" y="1200150"/>
            <a:ext cx="1600200" cy="1676400"/>
            <a:chOff x="4419600" y="1200150"/>
            <a:chExt cx="1600200" cy="1676400"/>
          </a:xfrm>
        </p:grpSpPr>
        <p:grpSp>
          <p:nvGrpSpPr>
            <p:cNvPr id="29" name="Group 28"/>
            <p:cNvGrpSpPr/>
            <p:nvPr/>
          </p:nvGrpSpPr>
          <p:grpSpPr>
            <a:xfrm>
              <a:off x="4419600" y="1200150"/>
              <a:ext cx="1600200" cy="1676400"/>
              <a:chOff x="2590801" y="244425"/>
              <a:chExt cx="3886200" cy="4039892"/>
            </a:xfrm>
          </p:grpSpPr>
          <p:sp>
            <p:nvSpPr>
              <p:cNvPr id="11" name="Donut 10"/>
              <p:cNvSpPr/>
              <p:nvPr/>
            </p:nvSpPr>
            <p:spPr>
              <a:xfrm>
                <a:off x="3352801" y="1083917"/>
                <a:ext cx="2362200" cy="2362200"/>
              </a:xfrm>
              <a:prstGeom prst="donut">
                <a:avLst>
                  <a:gd name="adj" fmla="val 7275"/>
                </a:avLst>
              </a:prstGeom>
              <a:solidFill>
                <a:schemeClr val="bg1">
                  <a:lumMod val="85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Donut 11"/>
              <p:cNvSpPr/>
              <p:nvPr/>
            </p:nvSpPr>
            <p:spPr>
              <a:xfrm>
                <a:off x="2590801" y="245717"/>
                <a:ext cx="3886200" cy="4038600"/>
              </a:xfrm>
              <a:prstGeom prst="donut">
                <a:avLst>
                  <a:gd name="adj" fmla="val 7275"/>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 name="Block Arc 14"/>
              <p:cNvSpPr/>
              <p:nvPr/>
            </p:nvSpPr>
            <p:spPr>
              <a:xfrm rot="21133189">
                <a:off x="3396998" y="1267677"/>
                <a:ext cx="1464868" cy="1446047"/>
              </a:xfrm>
              <a:prstGeom prst="blockArc">
                <a:avLst>
                  <a:gd name="adj1" fmla="val 10946601"/>
                  <a:gd name="adj2" fmla="val 15123407"/>
                  <a:gd name="adj3" fmla="val 14338"/>
                </a:avLst>
              </a:prstGeom>
              <a:solidFill>
                <a:srgbClr val="FF33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Flowchart: Stored Data 15"/>
              <p:cNvSpPr/>
              <p:nvPr/>
            </p:nvSpPr>
            <p:spPr>
              <a:xfrm rot="1879606">
                <a:off x="2761295" y="914249"/>
                <a:ext cx="784392" cy="943571"/>
              </a:xfrm>
              <a:prstGeom prst="flowChartOnlineStorage">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lowchart: Stored Data 16"/>
              <p:cNvSpPr/>
              <p:nvPr/>
            </p:nvSpPr>
            <p:spPr>
              <a:xfrm rot="5662946">
                <a:off x="4213639" y="174948"/>
                <a:ext cx="804617" cy="943571"/>
              </a:xfrm>
              <a:prstGeom prst="flowChartOnlineStorage">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lowchart: Stored Data 17"/>
              <p:cNvSpPr/>
              <p:nvPr/>
            </p:nvSpPr>
            <p:spPr>
              <a:xfrm rot="12728256">
                <a:off x="5524875" y="2668058"/>
                <a:ext cx="784392" cy="943571"/>
              </a:xfrm>
              <a:prstGeom prst="flowChartOnlineStorage">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lowchart: Stored Data 18"/>
              <p:cNvSpPr/>
              <p:nvPr/>
            </p:nvSpPr>
            <p:spPr>
              <a:xfrm rot="16429689">
                <a:off x="4081425" y="3414980"/>
                <a:ext cx="784392" cy="943571"/>
              </a:xfrm>
              <a:prstGeom prst="flowChartOnlineStorage">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lowchart: Stored Data 19"/>
              <p:cNvSpPr/>
              <p:nvPr/>
            </p:nvSpPr>
            <p:spPr>
              <a:xfrm rot="19984463">
                <a:off x="2685725" y="2505772"/>
                <a:ext cx="784392" cy="943571"/>
              </a:xfrm>
              <a:prstGeom prst="flowChartOnlineStorage">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lowchart: Stored Data 20"/>
              <p:cNvSpPr/>
              <p:nvPr/>
            </p:nvSpPr>
            <p:spPr>
              <a:xfrm rot="9146682">
                <a:off x="5577530" y="1009589"/>
                <a:ext cx="784392" cy="943571"/>
              </a:xfrm>
              <a:prstGeom prst="flowChartOnlineStorage">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a:spLocks/>
              </p:cNvSpPr>
              <p:nvPr/>
            </p:nvSpPr>
            <p:spPr>
              <a:xfrm rot="3504116">
                <a:off x="5658548" y="1165979"/>
                <a:ext cx="533400" cy="6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800"/>
                  </a:lnSpc>
                </a:pPr>
                <a:r>
                  <a:rPr lang="en-US" sz="1400" b="1" dirty="0" smtClean="0">
                    <a:solidFill>
                      <a:srgbClr val="FF0000"/>
                    </a:solidFill>
                    <a:latin typeface="Arial" pitchFamily="34" charset="0"/>
                    <a:ea typeface="Verdana" pitchFamily="34" charset="0"/>
                    <a:cs typeface="Arial" pitchFamily="34" charset="0"/>
                  </a:rPr>
                  <a:t>N</a:t>
                </a:r>
                <a:endParaRPr lang="en-US" sz="100" b="1" dirty="0">
                  <a:solidFill>
                    <a:srgbClr val="FF0000"/>
                  </a:solidFill>
                  <a:latin typeface="Verdana" pitchFamily="34" charset="0"/>
                  <a:ea typeface="Verdana" pitchFamily="34" charset="0"/>
                  <a:cs typeface="Verdana" pitchFamily="34" charset="0"/>
                </a:endParaRPr>
              </a:p>
            </p:txBody>
          </p:sp>
          <p:sp>
            <p:nvSpPr>
              <p:cNvPr id="23" name="Rectangle 22"/>
              <p:cNvSpPr>
                <a:spLocks/>
              </p:cNvSpPr>
              <p:nvPr/>
            </p:nvSpPr>
            <p:spPr>
              <a:xfrm rot="204642">
                <a:off x="4361062" y="382790"/>
                <a:ext cx="533400" cy="6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800"/>
                  </a:lnSpc>
                </a:pPr>
                <a:r>
                  <a:rPr lang="en-US" sz="1400" b="1" dirty="0" smtClean="0">
                    <a:solidFill>
                      <a:srgbClr val="0000FF"/>
                    </a:solidFill>
                    <a:latin typeface="Arial" pitchFamily="34" charset="0"/>
                    <a:ea typeface="Verdana" pitchFamily="34" charset="0"/>
                    <a:cs typeface="Arial" pitchFamily="34" charset="0"/>
                  </a:rPr>
                  <a:t>S</a:t>
                </a:r>
                <a:endParaRPr lang="en-US" sz="100" b="1" dirty="0">
                  <a:solidFill>
                    <a:srgbClr val="0000FF"/>
                  </a:solidFill>
                  <a:latin typeface="Verdana" pitchFamily="34" charset="0"/>
                  <a:ea typeface="Verdana" pitchFamily="34" charset="0"/>
                  <a:cs typeface="Verdana" pitchFamily="34" charset="0"/>
                </a:endParaRPr>
              </a:p>
            </p:txBody>
          </p:sp>
          <p:sp>
            <p:nvSpPr>
              <p:cNvPr id="24" name="Rectangle 23"/>
              <p:cNvSpPr>
                <a:spLocks/>
              </p:cNvSpPr>
              <p:nvPr/>
            </p:nvSpPr>
            <p:spPr>
              <a:xfrm rot="18052872">
                <a:off x="2921128" y="1080320"/>
                <a:ext cx="533400" cy="6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800"/>
                  </a:lnSpc>
                </a:pPr>
                <a:r>
                  <a:rPr lang="en-US" sz="1400" b="1" dirty="0" smtClean="0">
                    <a:solidFill>
                      <a:srgbClr val="FF0000"/>
                    </a:solidFill>
                    <a:latin typeface="Arial" pitchFamily="34" charset="0"/>
                    <a:ea typeface="Verdana" pitchFamily="34" charset="0"/>
                    <a:cs typeface="Arial" pitchFamily="34" charset="0"/>
                  </a:rPr>
                  <a:t>N</a:t>
                </a:r>
                <a:endParaRPr lang="en-US" sz="100" b="1" dirty="0">
                  <a:solidFill>
                    <a:srgbClr val="FF0000"/>
                  </a:solidFill>
                  <a:latin typeface="Verdana" pitchFamily="34" charset="0"/>
                  <a:ea typeface="Verdana" pitchFamily="34" charset="0"/>
                  <a:cs typeface="Verdana" pitchFamily="34" charset="0"/>
                </a:endParaRPr>
              </a:p>
            </p:txBody>
          </p:sp>
          <p:sp>
            <p:nvSpPr>
              <p:cNvPr id="25" name="Rectangle 24"/>
              <p:cNvSpPr>
                <a:spLocks/>
              </p:cNvSpPr>
              <p:nvPr/>
            </p:nvSpPr>
            <p:spPr>
              <a:xfrm rot="10983958">
                <a:off x="4191000" y="3569530"/>
                <a:ext cx="533400" cy="6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800"/>
                  </a:lnSpc>
                </a:pPr>
                <a:r>
                  <a:rPr lang="en-US" sz="1400" b="1" dirty="0" smtClean="0">
                    <a:solidFill>
                      <a:srgbClr val="FF0000"/>
                    </a:solidFill>
                    <a:latin typeface="Arial" pitchFamily="34" charset="0"/>
                    <a:ea typeface="Verdana" pitchFamily="34" charset="0"/>
                    <a:cs typeface="Arial" pitchFamily="34" charset="0"/>
                  </a:rPr>
                  <a:t>N</a:t>
                </a:r>
                <a:endParaRPr lang="en-US" sz="100" b="1" dirty="0">
                  <a:solidFill>
                    <a:srgbClr val="FF0000"/>
                  </a:solidFill>
                  <a:latin typeface="Verdana" pitchFamily="34" charset="0"/>
                  <a:ea typeface="Verdana" pitchFamily="34" charset="0"/>
                  <a:cs typeface="Verdana" pitchFamily="34" charset="0"/>
                </a:endParaRPr>
              </a:p>
            </p:txBody>
          </p:sp>
          <p:sp>
            <p:nvSpPr>
              <p:cNvPr id="26" name="Rectangle 25"/>
              <p:cNvSpPr>
                <a:spLocks/>
              </p:cNvSpPr>
              <p:nvPr/>
            </p:nvSpPr>
            <p:spPr>
              <a:xfrm rot="14576554">
                <a:off x="2845742" y="2603076"/>
                <a:ext cx="533400" cy="6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800"/>
                  </a:lnSpc>
                </a:pPr>
                <a:r>
                  <a:rPr lang="en-US" sz="1400" b="1" dirty="0" smtClean="0">
                    <a:solidFill>
                      <a:srgbClr val="0000FF"/>
                    </a:solidFill>
                    <a:latin typeface="Arial" pitchFamily="34" charset="0"/>
                    <a:ea typeface="Verdana" pitchFamily="34" charset="0"/>
                    <a:cs typeface="Arial" pitchFamily="34" charset="0"/>
                  </a:rPr>
                  <a:t>S</a:t>
                </a:r>
                <a:endParaRPr lang="en-US" sz="100" b="1" dirty="0">
                  <a:solidFill>
                    <a:srgbClr val="0000FF"/>
                  </a:solidFill>
                  <a:latin typeface="Verdana" pitchFamily="34" charset="0"/>
                  <a:ea typeface="Verdana" pitchFamily="34" charset="0"/>
                  <a:cs typeface="Verdana" pitchFamily="34" charset="0"/>
                </a:endParaRPr>
              </a:p>
            </p:txBody>
          </p:sp>
          <p:sp>
            <p:nvSpPr>
              <p:cNvPr id="27" name="Rectangle 26"/>
              <p:cNvSpPr>
                <a:spLocks/>
              </p:cNvSpPr>
              <p:nvPr/>
            </p:nvSpPr>
            <p:spPr>
              <a:xfrm rot="7402079">
                <a:off x="5620945" y="2845898"/>
                <a:ext cx="533400" cy="6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800"/>
                  </a:lnSpc>
                </a:pPr>
                <a:r>
                  <a:rPr lang="en-US" sz="1400" b="1" dirty="0" smtClean="0">
                    <a:solidFill>
                      <a:srgbClr val="0000FF"/>
                    </a:solidFill>
                    <a:latin typeface="Arial" pitchFamily="34" charset="0"/>
                    <a:ea typeface="Verdana" pitchFamily="34" charset="0"/>
                    <a:cs typeface="Arial" pitchFamily="34" charset="0"/>
                  </a:rPr>
                  <a:t>S</a:t>
                </a:r>
                <a:endParaRPr lang="en-US" sz="100" b="1" dirty="0">
                  <a:solidFill>
                    <a:srgbClr val="0000FF"/>
                  </a:solidFill>
                  <a:latin typeface="Verdana" pitchFamily="34" charset="0"/>
                  <a:ea typeface="Verdana" pitchFamily="34" charset="0"/>
                  <a:cs typeface="Verdana" pitchFamily="34" charset="0"/>
                </a:endParaRPr>
              </a:p>
            </p:txBody>
          </p:sp>
          <p:sp>
            <p:nvSpPr>
              <p:cNvPr id="28" name="Block Arc 27"/>
              <p:cNvSpPr/>
              <p:nvPr/>
            </p:nvSpPr>
            <p:spPr>
              <a:xfrm rot="10478635">
                <a:off x="4191000" y="1845917"/>
                <a:ext cx="1464868" cy="1446047"/>
              </a:xfrm>
              <a:prstGeom prst="blockArc">
                <a:avLst>
                  <a:gd name="adj1" fmla="val 10946601"/>
                  <a:gd name="adj2" fmla="val 15123407"/>
                  <a:gd name="adj3" fmla="val 14338"/>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31" name="Oval 30"/>
            <p:cNvSpPr/>
            <p:nvPr/>
          </p:nvSpPr>
          <p:spPr>
            <a:xfrm>
              <a:off x="5486400" y="1428750"/>
              <a:ext cx="152400" cy="15240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p:cNvSpPr/>
            <p:nvPr/>
          </p:nvSpPr>
          <p:spPr>
            <a:xfrm>
              <a:off x="4495800" y="1885950"/>
              <a:ext cx="152400" cy="15240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p:cNvSpPr/>
            <p:nvPr/>
          </p:nvSpPr>
          <p:spPr>
            <a:xfrm>
              <a:off x="5410200" y="2495550"/>
              <a:ext cx="152400" cy="15240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10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up)">
                                      <p:cBhvr>
                                        <p:cTn id="12" dur="10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31" presetClass="entr" presetSubtype="0" fill="hold" nodeType="clickEffect">
                                  <p:stCondLst>
                                    <p:cond delay="0"/>
                                  </p:stCondLst>
                                  <p:iterate type="lt">
                                    <p:tmPct val="5000"/>
                                  </p:iterate>
                                  <p:childTnLst>
                                    <p:set>
                                      <p:cBhvr>
                                        <p:cTn id="16" dur="1" fill="hold">
                                          <p:stCondLst>
                                            <p:cond delay="0"/>
                                          </p:stCondLst>
                                        </p:cTn>
                                        <p:tgtEl>
                                          <p:spTgt spid="36"/>
                                        </p:tgtEl>
                                        <p:attrNameLst>
                                          <p:attrName>style.visibility</p:attrName>
                                        </p:attrNameLst>
                                      </p:cBhvr>
                                      <p:to>
                                        <p:strVal val="visible"/>
                                      </p:to>
                                    </p:set>
                                    <p:anim calcmode="lin" valueType="num">
                                      <p:cBhvr>
                                        <p:cTn id="17" dur="1000" fill="hold"/>
                                        <p:tgtEl>
                                          <p:spTgt spid="36"/>
                                        </p:tgtEl>
                                        <p:attrNameLst>
                                          <p:attrName>ppt_w</p:attrName>
                                        </p:attrNameLst>
                                      </p:cBhvr>
                                      <p:tavLst>
                                        <p:tav tm="0">
                                          <p:val>
                                            <p:fltVal val="0"/>
                                          </p:val>
                                        </p:tav>
                                        <p:tav tm="100000">
                                          <p:val>
                                            <p:strVal val="#ppt_w"/>
                                          </p:val>
                                        </p:tav>
                                      </p:tavLst>
                                    </p:anim>
                                    <p:anim calcmode="lin" valueType="num">
                                      <p:cBhvr>
                                        <p:cTn id="18" dur="1000" fill="hold"/>
                                        <p:tgtEl>
                                          <p:spTgt spid="36"/>
                                        </p:tgtEl>
                                        <p:attrNameLst>
                                          <p:attrName>ppt_h</p:attrName>
                                        </p:attrNameLst>
                                      </p:cBhvr>
                                      <p:tavLst>
                                        <p:tav tm="0">
                                          <p:val>
                                            <p:fltVal val="0"/>
                                          </p:val>
                                        </p:tav>
                                        <p:tav tm="100000">
                                          <p:val>
                                            <p:strVal val="#ppt_h"/>
                                          </p:val>
                                        </p:tav>
                                      </p:tavLst>
                                    </p:anim>
                                    <p:anim calcmode="lin" valueType="num">
                                      <p:cBhvr>
                                        <p:cTn id="19" dur="1000" fill="hold"/>
                                        <p:tgtEl>
                                          <p:spTgt spid="36"/>
                                        </p:tgtEl>
                                        <p:attrNameLst>
                                          <p:attrName>style.rotation</p:attrName>
                                        </p:attrNameLst>
                                      </p:cBhvr>
                                      <p:tavLst>
                                        <p:tav tm="0">
                                          <p:val>
                                            <p:fltVal val="90"/>
                                          </p:val>
                                        </p:tav>
                                        <p:tav tm="100000">
                                          <p:val>
                                            <p:fltVal val="0"/>
                                          </p:val>
                                        </p:tav>
                                      </p:tavLst>
                                    </p:anim>
                                    <p:animEffect transition="in" filter="fade">
                                      <p:cBhvr>
                                        <p:cTn id="20" dur="1000"/>
                                        <p:tgtEl>
                                          <p:spTgt spid="36"/>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wipe(up)">
                                      <p:cBhvr>
                                        <p:cTn id="25" dur="1000"/>
                                        <p:tgtEl>
                                          <p:spTgt spid="10"/>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1026"/>
                                        </p:tgtEl>
                                        <p:attrNameLst>
                                          <p:attrName>style.visibility</p:attrName>
                                        </p:attrNameLst>
                                      </p:cBhvr>
                                      <p:to>
                                        <p:strVal val="visible"/>
                                      </p:to>
                                    </p:set>
                                    <p:animEffect transition="in" filter="wipe(up)">
                                      <p:cBhvr>
                                        <p:cTn id="30" dur="10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76200" y="112129"/>
            <a:ext cx="533400" cy="4919239"/>
            <a:chOff x="14626" y="14712"/>
            <a:chExt cx="598680" cy="6386091"/>
          </a:xfrm>
        </p:grpSpPr>
        <p:pic>
          <p:nvPicPr>
            <p:cNvPr id="3" name="Picture 2"/>
            <p:cNvPicPr>
              <a:picLocks noChangeAspect="1" noChangeArrowheads="1"/>
            </p:cNvPicPr>
            <p:nvPr/>
          </p:nvPicPr>
          <p:blipFill>
            <a:blip r:embed="rId2" cstate="print"/>
            <a:srcRect/>
            <a:stretch>
              <a:fillRect/>
            </a:stretch>
          </p:blipFill>
          <p:spPr bwMode="auto">
            <a:xfrm>
              <a:off x="14626" y="14712"/>
              <a:ext cx="598680" cy="846471"/>
            </a:xfrm>
            <a:prstGeom prst="rect">
              <a:avLst/>
            </a:prstGeom>
            <a:noFill/>
            <a:ln w="9525">
              <a:solidFill>
                <a:srgbClr val="0000FF"/>
              </a:solidFill>
              <a:miter lim="800000"/>
              <a:headEnd/>
              <a:tailEnd/>
            </a:ln>
          </p:spPr>
        </p:pic>
        <p:sp>
          <p:nvSpPr>
            <p:cNvPr id="4" name="Text Box 14"/>
            <p:cNvSpPr txBox="1">
              <a:spLocks noChangeArrowheads="1"/>
            </p:cNvSpPr>
            <p:nvPr/>
          </p:nvSpPr>
          <p:spPr bwMode="auto">
            <a:xfrm rot="16198651">
              <a:off x="-2592929" y="3446777"/>
              <a:ext cx="5562442" cy="345444"/>
            </a:xfrm>
            <a:prstGeom prst="rect">
              <a:avLst/>
            </a:prstGeom>
            <a:solidFill>
              <a:srgbClr val="000080"/>
            </a:solidFill>
            <a:ln w="9525">
              <a:noFill/>
              <a:miter lim="800000"/>
              <a:headEnd/>
              <a:tailEnd/>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50000"/>
                </a:spcBef>
              </a:pPr>
              <a:r>
                <a:rPr lang="en-US" sz="1400" b="1" dirty="0">
                  <a:solidFill>
                    <a:schemeClr val="bg1"/>
                  </a:solidFill>
                  <a:latin typeface="Century Gothic" pitchFamily="34" charset="0"/>
                </a:rPr>
                <a:t>Vishwakarma  Institute  of  Technology</a:t>
              </a:r>
            </a:p>
          </p:txBody>
        </p:sp>
        <p:sp>
          <p:nvSpPr>
            <p:cNvPr id="5" name="Text Box 14">
              <a:extLst>
                <a:ext uri="{FF2B5EF4-FFF2-40B4-BE49-F238E27FC236}">
                  <a16:creationId xmlns:lc="http://schemas.openxmlformats.org/drawingml/2006/lockedCanvas" xmlns="" xmlns:a16="http://schemas.microsoft.com/office/drawing/2014/main" id="{08D90372-4075-403D-BB31-3D2C4B3C58A2}"/>
                </a:ext>
              </a:extLst>
            </p:cNvPr>
            <p:cNvSpPr txBox="1">
              <a:spLocks noChangeArrowheads="1"/>
            </p:cNvSpPr>
            <p:nvPr/>
          </p:nvSpPr>
          <p:spPr bwMode="auto">
            <a:xfrm rot="16200000">
              <a:off x="-2314809" y="3472688"/>
              <a:ext cx="5562602" cy="293627"/>
            </a:xfrm>
            <a:prstGeom prst="rect">
              <a:avLst/>
            </a:prstGeom>
            <a:solidFill>
              <a:srgbClr val="FFFF99"/>
            </a:solidFill>
            <a:ln w="9525">
              <a:solidFill>
                <a:srgbClr val="002060"/>
              </a:solidFill>
              <a:miter lim="800000"/>
              <a:headEnd/>
              <a:tailEnd/>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50000"/>
                </a:spcBef>
              </a:pPr>
              <a:r>
                <a:rPr lang="en-US" sz="1100" b="1" dirty="0">
                  <a:solidFill>
                    <a:srgbClr val="002060"/>
                  </a:solidFill>
                  <a:latin typeface="Century Gothic" pitchFamily="34" charset="0"/>
                </a:rPr>
                <a:t>FY - Department of Engineering, Sciences and Humanities</a:t>
              </a:r>
            </a:p>
          </p:txBody>
        </p:sp>
      </p:grpSp>
      <p:sp>
        <p:nvSpPr>
          <p:cNvPr id="6" name="Rectangle 5"/>
          <p:cNvSpPr/>
          <p:nvPr/>
        </p:nvSpPr>
        <p:spPr>
          <a:xfrm>
            <a:off x="685800" y="57150"/>
            <a:ext cx="2971800" cy="381000"/>
          </a:xfrm>
          <a:prstGeom prst="rect">
            <a:avLst/>
          </a:prstGeom>
          <a:solidFill>
            <a:schemeClr val="accent6">
              <a:lumMod val="40000"/>
              <a:lumOff val="60000"/>
            </a:schemeClr>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smtClean="0">
                <a:solidFill>
                  <a:srgbClr val="FF0000"/>
                </a:solidFill>
                <a:latin typeface="Arial" pitchFamily="34" charset="0"/>
                <a:ea typeface="Verdana" pitchFamily="34" charset="0"/>
                <a:cs typeface="Arial" pitchFamily="34" charset="0"/>
              </a:rPr>
              <a:t>Types of </a:t>
            </a:r>
            <a:r>
              <a:rPr lang="en-US" b="1" dirty="0" err="1" smtClean="0">
                <a:solidFill>
                  <a:srgbClr val="FF0000"/>
                </a:solidFill>
                <a:latin typeface="Arial" pitchFamily="34" charset="0"/>
                <a:ea typeface="Verdana" pitchFamily="34" charset="0"/>
                <a:cs typeface="Arial" pitchFamily="34" charset="0"/>
              </a:rPr>
              <a:t>BLDC</a:t>
            </a:r>
            <a:r>
              <a:rPr lang="en-US" b="1" dirty="0" smtClean="0">
                <a:solidFill>
                  <a:srgbClr val="FF0000"/>
                </a:solidFill>
                <a:latin typeface="Arial" pitchFamily="34" charset="0"/>
                <a:ea typeface="Verdana" pitchFamily="34" charset="0"/>
                <a:cs typeface="Arial" pitchFamily="34" charset="0"/>
              </a:rPr>
              <a:t> motors –  </a:t>
            </a:r>
            <a:endParaRPr lang="en-US" sz="300" b="1" dirty="0">
              <a:solidFill>
                <a:srgbClr val="FF0000"/>
              </a:solidFill>
              <a:latin typeface="Verdana" pitchFamily="34" charset="0"/>
              <a:ea typeface="Verdana" pitchFamily="34" charset="0"/>
              <a:cs typeface="Verdana" pitchFamily="34" charset="0"/>
            </a:endParaRPr>
          </a:p>
        </p:txBody>
      </p:sp>
      <p:sp>
        <p:nvSpPr>
          <p:cNvPr id="7" name="Rectangle 6"/>
          <p:cNvSpPr>
            <a:spLocks/>
          </p:cNvSpPr>
          <p:nvPr/>
        </p:nvSpPr>
        <p:spPr>
          <a:xfrm>
            <a:off x="685800" y="438150"/>
            <a:ext cx="4267200" cy="1524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ts val="2900"/>
              </a:lnSpc>
            </a:pPr>
            <a:r>
              <a:rPr lang="en-US" sz="2000" b="1" dirty="0" smtClean="0">
                <a:solidFill>
                  <a:srgbClr val="FF0000"/>
                </a:solidFill>
                <a:ea typeface="Verdana" pitchFamily="34" charset="0"/>
                <a:cs typeface="Arial" pitchFamily="34" charset="0"/>
              </a:rPr>
              <a:t>1) </a:t>
            </a:r>
            <a:r>
              <a:rPr lang="en-US" sz="2000" b="1" dirty="0" err="1" smtClean="0">
                <a:solidFill>
                  <a:srgbClr val="FF0000"/>
                </a:solidFill>
                <a:ea typeface="Verdana" pitchFamily="34" charset="0"/>
                <a:cs typeface="Arial" pitchFamily="34" charset="0"/>
              </a:rPr>
              <a:t>Inrunner</a:t>
            </a:r>
            <a:r>
              <a:rPr lang="en-US" sz="2000" b="1" dirty="0" smtClean="0">
                <a:solidFill>
                  <a:srgbClr val="FF0000"/>
                </a:solidFill>
                <a:ea typeface="Verdana" pitchFamily="34" charset="0"/>
                <a:cs typeface="Arial" pitchFamily="34" charset="0"/>
              </a:rPr>
              <a:t> motor – The rotor carries the permanent magnet poles on it and it is surrounded by the stator with wound pole winding on it.</a:t>
            </a:r>
          </a:p>
        </p:txBody>
      </p:sp>
      <p:pic>
        <p:nvPicPr>
          <p:cNvPr id="4099" name="Picture 3" descr="D:\Harshavardhan\datafolder\hmksave\hmk vit\VIT 2018-20\AY 20202021 New Robotics Course\1 RMC 1920 Theory Lectures PPTs Videos  and Notes etc\Images For Lect 5 Electrical Elex\BLDC inrunner 2.jpg"/>
          <p:cNvPicPr>
            <a:picLocks noChangeAspect="1" noChangeArrowheads="1"/>
          </p:cNvPicPr>
          <p:nvPr/>
        </p:nvPicPr>
        <p:blipFill>
          <a:blip r:embed="rId3" cstate="print"/>
          <a:srcRect/>
          <a:stretch>
            <a:fillRect/>
          </a:stretch>
        </p:blipFill>
        <p:spPr bwMode="auto">
          <a:xfrm>
            <a:off x="5029201" y="133350"/>
            <a:ext cx="3962400" cy="3962400"/>
          </a:xfrm>
          <a:prstGeom prst="rect">
            <a:avLst/>
          </a:prstGeom>
          <a:noFill/>
        </p:spPr>
      </p:pic>
      <p:sp>
        <p:nvSpPr>
          <p:cNvPr id="12" name="Rectangle 11"/>
          <p:cNvSpPr>
            <a:spLocks/>
          </p:cNvSpPr>
          <p:nvPr/>
        </p:nvSpPr>
        <p:spPr>
          <a:xfrm>
            <a:off x="3124200" y="2038350"/>
            <a:ext cx="1905000" cy="762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900"/>
              </a:lnSpc>
            </a:pPr>
            <a:r>
              <a:rPr lang="en-US" b="1" dirty="0" smtClean="0">
                <a:solidFill>
                  <a:srgbClr val="0000FF"/>
                </a:solidFill>
                <a:ea typeface="Verdana" pitchFamily="34" charset="0"/>
                <a:cs typeface="Arial" pitchFamily="34" charset="0"/>
              </a:rPr>
              <a:t>Outer stator with wound poles</a:t>
            </a:r>
          </a:p>
        </p:txBody>
      </p:sp>
      <p:sp>
        <p:nvSpPr>
          <p:cNvPr id="13" name="Rectangle 12"/>
          <p:cNvSpPr>
            <a:spLocks/>
          </p:cNvSpPr>
          <p:nvPr/>
        </p:nvSpPr>
        <p:spPr>
          <a:xfrm>
            <a:off x="3124200" y="2952750"/>
            <a:ext cx="1905000" cy="762000"/>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900"/>
              </a:lnSpc>
            </a:pPr>
            <a:r>
              <a:rPr lang="en-US" b="1" dirty="0" smtClean="0">
                <a:solidFill>
                  <a:srgbClr val="FF0000"/>
                </a:solidFill>
                <a:ea typeface="Verdana" pitchFamily="34" charset="0"/>
                <a:cs typeface="Arial" pitchFamily="34" charset="0"/>
              </a:rPr>
              <a:t>Inner rotor with permanent poles</a:t>
            </a:r>
          </a:p>
        </p:txBody>
      </p:sp>
      <p:cxnSp>
        <p:nvCxnSpPr>
          <p:cNvPr id="16" name="Straight Arrow Connector 15"/>
          <p:cNvCxnSpPr/>
          <p:nvPr/>
        </p:nvCxnSpPr>
        <p:spPr>
          <a:xfrm flipV="1">
            <a:off x="4800600" y="1809750"/>
            <a:ext cx="762000" cy="609600"/>
          </a:xfrm>
          <a:prstGeom prst="straightConnector1">
            <a:avLst/>
          </a:prstGeom>
          <a:ln w="25400">
            <a:solidFill>
              <a:srgbClr val="FFFF00"/>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V="1">
            <a:off x="4800600" y="2266950"/>
            <a:ext cx="609600" cy="304800"/>
          </a:xfrm>
          <a:prstGeom prst="straightConnector1">
            <a:avLst/>
          </a:prstGeom>
          <a:ln w="25400">
            <a:solidFill>
              <a:srgbClr val="FFFF00"/>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V="1">
            <a:off x="4876800" y="2114552"/>
            <a:ext cx="1371600" cy="1066798"/>
          </a:xfrm>
          <a:prstGeom prst="straightConnector1">
            <a:avLst/>
          </a:prstGeom>
          <a:ln w="25400">
            <a:solidFill>
              <a:srgbClr val="FFFF00"/>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V="1">
            <a:off x="4876800" y="2724150"/>
            <a:ext cx="1524000" cy="609600"/>
          </a:xfrm>
          <a:prstGeom prst="straightConnector1">
            <a:avLst/>
          </a:prstGeom>
          <a:ln w="25400">
            <a:solidFill>
              <a:srgbClr val="FFFF00"/>
            </a:solidFill>
            <a:tailEnd type="arrow"/>
          </a:ln>
        </p:spPr>
        <p:style>
          <a:lnRef idx="1">
            <a:schemeClr val="accent1"/>
          </a:lnRef>
          <a:fillRef idx="0">
            <a:schemeClr val="accent1"/>
          </a:fillRef>
          <a:effectRef idx="0">
            <a:schemeClr val="accent1"/>
          </a:effectRef>
          <a:fontRef idx="minor">
            <a:schemeClr val="tx1"/>
          </a:fontRef>
        </p:style>
      </p:cxnSp>
      <p:pic>
        <p:nvPicPr>
          <p:cNvPr id="30" name="Picture 3" descr="D:\Harshavardhan\datafolder\hmksave\hmk vit\VIT 2018-20\AY 20202021 New Robotics Course\1 RMC 1920 Theory Lectures PPTs Videos  and Notes etc\Images For Lect 5 Electrical Elex\BLDC Inrunner and Outrunner - Copy.png"/>
          <p:cNvPicPr>
            <a:picLocks noChangeAspect="1" noChangeArrowheads="1"/>
          </p:cNvPicPr>
          <p:nvPr/>
        </p:nvPicPr>
        <p:blipFill>
          <a:blip r:embed="rId4" cstate="print"/>
          <a:srcRect/>
          <a:stretch>
            <a:fillRect/>
          </a:stretch>
        </p:blipFill>
        <p:spPr bwMode="auto">
          <a:xfrm>
            <a:off x="685800" y="1962150"/>
            <a:ext cx="2362200" cy="2619069"/>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1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iterate type="lt">
                                    <p:tmPct val="5000"/>
                                  </p:iterate>
                                  <p:childTnLst>
                                    <p:set>
                                      <p:cBhvr>
                                        <p:cTn id="11" dur="1" fill="hold">
                                          <p:stCondLst>
                                            <p:cond delay="0"/>
                                          </p:stCondLst>
                                        </p:cTn>
                                        <p:tgtEl>
                                          <p:spTgt spid="30"/>
                                        </p:tgtEl>
                                        <p:attrNameLst>
                                          <p:attrName>style.visibility</p:attrName>
                                        </p:attrNameLst>
                                      </p:cBhvr>
                                      <p:to>
                                        <p:strVal val="visible"/>
                                      </p:to>
                                    </p:set>
                                    <p:anim calcmode="lin" valueType="num">
                                      <p:cBhvr>
                                        <p:cTn id="12" dur="1000" fill="hold"/>
                                        <p:tgtEl>
                                          <p:spTgt spid="30"/>
                                        </p:tgtEl>
                                        <p:attrNameLst>
                                          <p:attrName>ppt_w</p:attrName>
                                        </p:attrNameLst>
                                      </p:cBhvr>
                                      <p:tavLst>
                                        <p:tav tm="0">
                                          <p:val>
                                            <p:fltVal val="0"/>
                                          </p:val>
                                        </p:tav>
                                        <p:tav tm="100000">
                                          <p:val>
                                            <p:strVal val="#ppt_w"/>
                                          </p:val>
                                        </p:tav>
                                      </p:tavLst>
                                    </p:anim>
                                    <p:anim calcmode="lin" valueType="num">
                                      <p:cBhvr>
                                        <p:cTn id="13" dur="1000" fill="hold"/>
                                        <p:tgtEl>
                                          <p:spTgt spid="30"/>
                                        </p:tgtEl>
                                        <p:attrNameLst>
                                          <p:attrName>ppt_h</p:attrName>
                                        </p:attrNameLst>
                                      </p:cBhvr>
                                      <p:tavLst>
                                        <p:tav tm="0">
                                          <p:val>
                                            <p:fltVal val="0"/>
                                          </p:val>
                                        </p:tav>
                                        <p:tav tm="100000">
                                          <p:val>
                                            <p:strVal val="#ppt_h"/>
                                          </p:val>
                                        </p:tav>
                                      </p:tavLst>
                                    </p:anim>
                                    <p:anim calcmode="lin" valueType="num">
                                      <p:cBhvr>
                                        <p:cTn id="14" dur="1000" fill="hold"/>
                                        <p:tgtEl>
                                          <p:spTgt spid="30"/>
                                        </p:tgtEl>
                                        <p:attrNameLst>
                                          <p:attrName>style.rotation</p:attrName>
                                        </p:attrNameLst>
                                      </p:cBhvr>
                                      <p:tavLst>
                                        <p:tav tm="0">
                                          <p:val>
                                            <p:fltVal val="90"/>
                                          </p:val>
                                        </p:tav>
                                        <p:tav tm="100000">
                                          <p:val>
                                            <p:fltVal val="0"/>
                                          </p:val>
                                        </p:tav>
                                      </p:tavLst>
                                    </p:anim>
                                    <p:animEffect transition="in" filter="fade">
                                      <p:cBhvr>
                                        <p:cTn id="15" dur="1000"/>
                                        <p:tgtEl>
                                          <p:spTgt spid="30"/>
                                        </p:tgtEl>
                                      </p:cBhvr>
                                    </p:animEffect>
                                  </p:childTnLst>
                                </p:cTn>
                              </p:par>
                            </p:childTnLst>
                          </p:cTn>
                        </p:par>
                      </p:childTnLst>
                    </p:cTn>
                  </p:par>
                  <p:par>
                    <p:cTn id="16" fill="hold">
                      <p:stCondLst>
                        <p:cond delay="indefinite"/>
                      </p:stCondLst>
                      <p:childTnLst>
                        <p:par>
                          <p:cTn id="17" fill="hold">
                            <p:stCondLst>
                              <p:cond delay="0"/>
                            </p:stCondLst>
                            <p:childTnLst>
                              <p:par>
                                <p:cTn id="18" presetID="31" presetClass="entr" presetSubtype="0" fill="hold" nodeType="clickEffect">
                                  <p:stCondLst>
                                    <p:cond delay="0"/>
                                  </p:stCondLst>
                                  <p:iterate type="lt">
                                    <p:tmPct val="5000"/>
                                  </p:iterate>
                                  <p:childTnLst>
                                    <p:set>
                                      <p:cBhvr>
                                        <p:cTn id="19" dur="1" fill="hold">
                                          <p:stCondLst>
                                            <p:cond delay="0"/>
                                          </p:stCondLst>
                                        </p:cTn>
                                        <p:tgtEl>
                                          <p:spTgt spid="4099"/>
                                        </p:tgtEl>
                                        <p:attrNameLst>
                                          <p:attrName>style.visibility</p:attrName>
                                        </p:attrNameLst>
                                      </p:cBhvr>
                                      <p:to>
                                        <p:strVal val="visible"/>
                                      </p:to>
                                    </p:set>
                                    <p:anim calcmode="lin" valueType="num">
                                      <p:cBhvr>
                                        <p:cTn id="20" dur="1000" fill="hold"/>
                                        <p:tgtEl>
                                          <p:spTgt spid="4099"/>
                                        </p:tgtEl>
                                        <p:attrNameLst>
                                          <p:attrName>ppt_w</p:attrName>
                                        </p:attrNameLst>
                                      </p:cBhvr>
                                      <p:tavLst>
                                        <p:tav tm="0">
                                          <p:val>
                                            <p:fltVal val="0"/>
                                          </p:val>
                                        </p:tav>
                                        <p:tav tm="100000">
                                          <p:val>
                                            <p:strVal val="#ppt_w"/>
                                          </p:val>
                                        </p:tav>
                                      </p:tavLst>
                                    </p:anim>
                                    <p:anim calcmode="lin" valueType="num">
                                      <p:cBhvr>
                                        <p:cTn id="21" dur="1000" fill="hold"/>
                                        <p:tgtEl>
                                          <p:spTgt spid="4099"/>
                                        </p:tgtEl>
                                        <p:attrNameLst>
                                          <p:attrName>ppt_h</p:attrName>
                                        </p:attrNameLst>
                                      </p:cBhvr>
                                      <p:tavLst>
                                        <p:tav tm="0">
                                          <p:val>
                                            <p:fltVal val="0"/>
                                          </p:val>
                                        </p:tav>
                                        <p:tav tm="100000">
                                          <p:val>
                                            <p:strVal val="#ppt_h"/>
                                          </p:val>
                                        </p:tav>
                                      </p:tavLst>
                                    </p:anim>
                                    <p:anim calcmode="lin" valueType="num">
                                      <p:cBhvr>
                                        <p:cTn id="22" dur="1000" fill="hold"/>
                                        <p:tgtEl>
                                          <p:spTgt spid="4099"/>
                                        </p:tgtEl>
                                        <p:attrNameLst>
                                          <p:attrName>style.rotation</p:attrName>
                                        </p:attrNameLst>
                                      </p:cBhvr>
                                      <p:tavLst>
                                        <p:tav tm="0">
                                          <p:val>
                                            <p:fltVal val="90"/>
                                          </p:val>
                                        </p:tav>
                                        <p:tav tm="100000">
                                          <p:val>
                                            <p:fltVal val="0"/>
                                          </p:val>
                                        </p:tav>
                                      </p:tavLst>
                                    </p:anim>
                                    <p:animEffect transition="in" filter="fade">
                                      <p:cBhvr>
                                        <p:cTn id="23" dur="1000"/>
                                        <p:tgtEl>
                                          <p:spTgt spid="4099"/>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wipe(left)">
                                      <p:cBhvr>
                                        <p:cTn id="28" dur="500"/>
                                        <p:tgtEl>
                                          <p:spTgt spid="12"/>
                                        </p:tgtEl>
                                      </p:cBhvr>
                                    </p:animEffect>
                                  </p:childTnLst>
                                </p:cTn>
                              </p:par>
                            </p:childTnLst>
                          </p:cTn>
                        </p:par>
                        <p:par>
                          <p:cTn id="29" fill="hold">
                            <p:stCondLst>
                              <p:cond delay="500"/>
                            </p:stCondLst>
                            <p:childTnLst>
                              <p:par>
                                <p:cTn id="30" presetID="22" presetClass="entr" presetSubtype="8" fill="hold" nodeType="after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wipe(left)">
                                      <p:cBhvr>
                                        <p:cTn id="32" dur="500"/>
                                        <p:tgtEl>
                                          <p:spTgt spid="16"/>
                                        </p:tgtEl>
                                      </p:cBhvr>
                                    </p:animEffect>
                                  </p:childTnLst>
                                </p:cTn>
                              </p:par>
                            </p:childTnLst>
                          </p:cTn>
                        </p:par>
                        <p:par>
                          <p:cTn id="33" fill="hold">
                            <p:stCondLst>
                              <p:cond delay="1000"/>
                            </p:stCondLst>
                            <p:childTnLst>
                              <p:par>
                                <p:cTn id="34" presetID="22" presetClass="entr" presetSubtype="8" fill="hold" nodeType="after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wipe(left)">
                                      <p:cBhvr>
                                        <p:cTn id="36" dur="500"/>
                                        <p:tgtEl>
                                          <p:spTgt spid="20"/>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wipe(left)">
                                      <p:cBhvr>
                                        <p:cTn id="41" dur="500"/>
                                        <p:tgtEl>
                                          <p:spTgt spid="13"/>
                                        </p:tgtEl>
                                      </p:cBhvr>
                                    </p:animEffect>
                                  </p:childTnLst>
                                </p:cTn>
                              </p:par>
                            </p:childTnLst>
                          </p:cTn>
                        </p:par>
                        <p:par>
                          <p:cTn id="42" fill="hold">
                            <p:stCondLst>
                              <p:cond delay="500"/>
                            </p:stCondLst>
                            <p:childTnLst>
                              <p:par>
                                <p:cTn id="43" presetID="22" presetClass="entr" presetSubtype="8" fill="hold" nodeType="afterEffect">
                                  <p:stCondLst>
                                    <p:cond delay="0"/>
                                  </p:stCondLst>
                                  <p:childTnLst>
                                    <p:set>
                                      <p:cBhvr>
                                        <p:cTn id="44" dur="1" fill="hold">
                                          <p:stCondLst>
                                            <p:cond delay="0"/>
                                          </p:stCondLst>
                                        </p:cTn>
                                        <p:tgtEl>
                                          <p:spTgt spid="23"/>
                                        </p:tgtEl>
                                        <p:attrNameLst>
                                          <p:attrName>style.visibility</p:attrName>
                                        </p:attrNameLst>
                                      </p:cBhvr>
                                      <p:to>
                                        <p:strVal val="visible"/>
                                      </p:to>
                                    </p:set>
                                    <p:animEffect transition="in" filter="wipe(left)">
                                      <p:cBhvr>
                                        <p:cTn id="45" dur="500"/>
                                        <p:tgtEl>
                                          <p:spTgt spid="23"/>
                                        </p:tgtEl>
                                      </p:cBhvr>
                                    </p:animEffect>
                                  </p:childTnLst>
                                </p:cTn>
                              </p:par>
                            </p:childTnLst>
                          </p:cTn>
                        </p:par>
                        <p:par>
                          <p:cTn id="46" fill="hold">
                            <p:stCondLst>
                              <p:cond delay="1000"/>
                            </p:stCondLst>
                            <p:childTnLst>
                              <p:par>
                                <p:cTn id="47" presetID="22" presetClass="entr" presetSubtype="8" fill="hold" nodeType="after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wipe(left)">
                                      <p:cBhvr>
                                        <p:cTn id="49"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2" grpId="0" animBg="1"/>
      <p:bldP spid="1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76200" y="112129"/>
            <a:ext cx="533400" cy="4919239"/>
            <a:chOff x="14626" y="14712"/>
            <a:chExt cx="598680" cy="6386091"/>
          </a:xfrm>
        </p:grpSpPr>
        <p:pic>
          <p:nvPicPr>
            <p:cNvPr id="3" name="Picture 2"/>
            <p:cNvPicPr>
              <a:picLocks noChangeAspect="1" noChangeArrowheads="1"/>
            </p:cNvPicPr>
            <p:nvPr/>
          </p:nvPicPr>
          <p:blipFill>
            <a:blip r:embed="rId2" cstate="print"/>
            <a:srcRect/>
            <a:stretch>
              <a:fillRect/>
            </a:stretch>
          </p:blipFill>
          <p:spPr bwMode="auto">
            <a:xfrm>
              <a:off x="14626" y="14712"/>
              <a:ext cx="598680" cy="846471"/>
            </a:xfrm>
            <a:prstGeom prst="rect">
              <a:avLst/>
            </a:prstGeom>
            <a:noFill/>
            <a:ln w="9525">
              <a:solidFill>
                <a:srgbClr val="0000FF"/>
              </a:solidFill>
              <a:miter lim="800000"/>
              <a:headEnd/>
              <a:tailEnd/>
            </a:ln>
          </p:spPr>
        </p:pic>
        <p:sp>
          <p:nvSpPr>
            <p:cNvPr id="4" name="Text Box 14"/>
            <p:cNvSpPr txBox="1">
              <a:spLocks noChangeArrowheads="1"/>
            </p:cNvSpPr>
            <p:nvPr/>
          </p:nvSpPr>
          <p:spPr bwMode="auto">
            <a:xfrm rot="16198651">
              <a:off x="-2592929" y="3446777"/>
              <a:ext cx="5562442" cy="345444"/>
            </a:xfrm>
            <a:prstGeom prst="rect">
              <a:avLst/>
            </a:prstGeom>
            <a:solidFill>
              <a:srgbClr val="000080"/>
            </a:solidFill>
            <a:ln w="9525">
              <a:noFill/>
              <a:miter lim="800000"/>
              <a:headEnd/>
              <a:tailEnd/>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50000"/>
                </a:spcBef>
              </a:pPr>
              <a:r>
                <a:rPr lang="en-US" sz="1400" b="1" dirty="0">
                  <a:solidFill>
                    <a:schemeClr val="bg1"/>
                  </a:solidFill>
                  <a:latin typeface="Century Gothic" pitchFamily="34" charset="0"/>
                </a:rPr>
                <a:t>Vishwakarma  Institute  of  Technology</a:t>
              </a:r>
            </a:p>
          </p:txBody>
        </p:sp>
        <p:sp>
          <p:nvSpPr>
            <p:cNvPr id="5" name="Text Box 14">
              <a:extLst>
                <a:ext uri="{FF2B5EF4-FFF2-40B4-BE49-F238E27FC236}">
                  <a16:creationId xmlns:lc="http://schemas.openxmlformats.org/drawingml/2006/lockedCanvas" xmlns="" xmlns:a16="http://schemas.microsoft.com/office/drawing/2014/main" id="{08D90372-4075-403D-BB31-3D2C4B3C58A2}"/>
                </a:ext>
              </a:extLst>
            </p:cNvPr>
            <p:cNvSpPr txBox="1">
              <a:spLocks noChangeArrowheads="1"/>
            </p:cNvSpPr>
            <p:nvPr/>
          </p:nvSpPr>
          <p:spPr bwMode="auto">
            <a:xfrm rot="16200000">
              <a:off x="-2314809" y="3472688"/>
              <a:ext cx="5562602" cy="293627"/>
            </a:xfrm>
            <a:prstGeom prst="rect">
              <a:avLst/>
            </a:prstGeom>
            <a:solidFill>
              <a:srgbClr val="FFFF99"/>
            </a:solidFill>
            <a:ln w="9525">
              <a:solidFill>
                <a:srgbClr val="002060"/>
              </a:solidFill>
              <a:miter lim="800000"/>
              <a:headEnd/>
              <a:tailEnd/>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50000"/>
                </a:spcBef>
              </a:pPr>
              <a:r>
                <a:rPr lang="en-US" sz="1100" b="1" dirty="0">
                  <a:solidFill>
                    <a:srgbClr val="002060"/>
                  </a:solidFill>
                  <a:latin typeface="Century Gothic" pitchFamily="34" charset="0"/>
                </a:rPr>
                <a:t>FY - Department of Engineering, Sciences and Humanities</a:t>
              </a:r>
            </a:p>
          </p:txBody>
        </p:sp>
      </p:grpSp>
      <p:sp>
        <p:nvSpPr>
          <p:cNvPr id="6" name="Rectangle 5"/>
          <p:cNvSpPr/>
          <p:nvPr/>
        </p:nvSpPr>
        <p:spPr>
          <a:xfrm>
            <a:off x="685800" y="57150"/>
            <a:ext cx="2971800" cy="381000"/>
          </a:xfrm>
          <a:prstGeom prst="rect">
            <a:avLst/>
          </a:prstGeom>
          <a:solidFill>
            <a:schemeClr val="accent6">
              <a:lumMod val="40000"/>
              <a:lumOff val="60000"/>
            </a:schemeClr>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smtClean="0">
                <a:solidFill>
                  <a:srgbClr val="FF0000"/>
                </a:solidFill>
                <a:latin typeface="Arial" pitchFamily="34" charset="0"/>
                <a:ea typeface="Verdana" pitchFamily="34" charset="0"/>
                <a:cs typeface="Arial" pitchFamily="34" charset="0"/>
              </a:rPr>
              <a:t>Types of </a:t>
            </a:r>
            <a:r>
              <a:rPr lang="en-US" b="1" dirty="0" err="1" smtClean="0">
                <a:solidFill>
                  <a:srgbClr val="FF0000"/>
                </a:solidFill>
                <a:latin typeface="Arial" pitchFamily="34" charset="0"/>
                <a:ea typeface="Verdana" pitchFamily="34" charset="0"/>
                <a:cs typeface="Arial" pitchFamily="34" charset="0"/>
              </a:rPr>
              <a:t>BLDC</a:t>
            </a:r>
            <a:r>
              <a:rPr lang="en-US" b="1" dirty="0" smtClean="0">
                <a:solidFill>
                  <a:srgbClr val="FF0000"/>
                </a:solidFill>
                <a:latin typeface="Arial" pitchFamily="34" charset="0"/>
                <a:ea typeface="Verdana" pitchFamily="34" charset="0"/>
                <a:cs typeface="Arial" pitchFamily="34" charset="0"/>
              </a:rPr>
              <a:t> motors –  </a:t>
            </a:r>
            <a:endParaRPr lang="en-US" sz="300" b="1" dirty="0">
              <a:solidFill>
                <a:srgbClr val="FF0000"/>
              </a:solidFill>
              <a:latin typeface="Verdana" pitchFamily="34" charset="0"/>
              <a:ea typeface="Verdana" pitchFamily="34" charset="0"/>
              <a:cs typeface="Verdana" pitchFamily="34" charset="0"/>
            </a:endParaRPr>
          </a:p>
        </p:txBody>
      </p:sp>
      <p:sp>
        <p:nvSpPr>
          <p:cNvPr id="7" name="Rectangle 6"/>
          <p:cNvSpPr>
            <a:spLocks/>
          </p:cNvSpPr>
          <p:nvPr/>
        </p:nvSpPr>
        <p:spPr>
          <a:xfrm>
            <a:off x="685800" y="514350"/>
            <a:ext cx="3200400" cy="1752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ts val="2900"/>
              </a:lnSpc>
            </a:pPr>
            <a:r>
              <a:rPr lang="en-US" b="1" dirty="0" smtClean="0">
                <a:solidFill>
                  <a:srgbClr val="0000FF"/>
                </a:solidFill>
                <a:ea typeface="Verdana" pitchFamily="34" charset="0"/>
                <a:cs typeface="Arial" pitchFamily="34" charset="0"/>
              </a:rPr>
              <a:t>2) </a:t>
            </a:r>
            <a:r>
              <a:rPr lang="en-US" b="1" dirty="0" err="1" smtClean="0">
                <a:solidFill>
                  <a:srgbClr val="0000FF"/>
                </a:solidFill>
                <a:ea typeface="Verdana" pitchFamily="34" charset="0"/>
                <a:cs typeface="Arial" pitchFamily="34" charset="0"/>
              </a:rPr>
              <a:t>Outrunner</a:t>
            </a:r>
            <a:r>
              <a:rPr lang="en-US" b="1" dirty="0" smtClean="0">
                <a:solidFill>
                  <a:srgbClr val="0000FF"/>
                </a:solidFill>
                <a:ea typeface="Verdana" pitchFamily="34" charset="0"/>
                <a:cs typeface="Arial" pitchFamily="34" charset="0"/>
              </a:rPr>
              <a:t> type – The rotor with permanent magnet poles is outside and surrounds the stator with coils in it mounted on the shaft.</a:t>
            </a:r>
          </a:p>
        </p:txBody>
      </p:sp>
      <p:pic>
        <p:nvPicPr>
          <p:cNvPr id="3074" name="Picture 2" descr="D:\Harshavardhan\datafolder\hmksave\hmk vit\VIT 2018-20\AY 20202021 New Robotics Course\1 RMC 1920 Theory Lectures PPTs Videos  and Notes etc\Images For Lect 5 Electrical Elex\BLDC outrunner.jpg"/>
          <p:cNvPicPr>
            <a:picLocks noChangeAspect="1" noChangeArrowheads="1"/>
          </p:cNvPicPr>
          <p:nvPr/>
        </p:nvPicPr>
        <p:blipFill>
          <a:blip r:embed="rId3" cstate="print"/>
          <a:srcRect/>
          <a:stretch>
            <a:fillRect/>
          </a:stretch>
        </p:blipFill>
        <p:spPr bwMode="auto">
          <a:xfrm>
            <a:off x="3962400" y="76201"/>
            <a:ext cx="5105400" cy="3348955"/>
          </a:xfrm>
          <a:prstGeom prst="rect">
            <a:avLst/>
          </a:prstGeom>
          <a:noFill/>
        </p:spPr>
      </p:pic>
      <p:pic>
        <p:nvPicPr>
          <p:cNvPr id="11" name="Picture 4" descr="D:\Harshavardhan\datafolder\hmksave\hmk vit\VIT 2018-20\AY 20202021 New Robotics Course\1 RMC 1920 Theory Lectures PPTs Videos  and Notes etc\Images For Lect 5 Electrical Elex\BLDC Inrunner and Outrunner - Copy (2).png"/>
          <p:cNvPicPr>
            <a:picLocks noChangeAspect="1" noChangeArrowheads="1"/>
          </p:cNvPicPr>
          <p:nvPr/>
        </p:nvPicPr>
        <p:blipFill>
          <a:blip r:embed="rId4" cstate="print"/>
          <a:srcRect/>
          <a:stretch>
            <a:fillRect/>
          </a:stretch>
        </p:blipFill>
        <p:spPr bwMode="auto">
          <a:xfrm>
            <a:off x="2014025" y="1962150"/>
            <a:ext cx="2405575" cy="2743200"/>
          </a:xfrm>
          <a:prstGeom prst="rect">
            <a:avLst/>
          </a:prstGeom>
          <a:noFill/>
          <a:ln w="19050">
            <a:solidFill>
              <a:schemeClr val="tx1"/>
            </a:solid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up)">
                                      <p:cBhvr>
                                        <p:cTn id="7" dur="20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iterate type="lt">
                                    <p:tmPct val="5000"/>
                                  </p:iterate>
                                  <p:childTnLst>
                                    <p:set>
                                      <p:cBhvr>
                                        <p:cTn id="11" dur="1" fill="hold">
                                          <p:stCondLst>
                                            <p:cond delay="0"/>
                                          </p:stCondLst>
                                        </p:cTn>
                                        <p:tgtEl>
                                          <p:spTgt spid="11"/>
                                        </p:tgtEl>
                                        <p:attrNameLst>
                                          <p:attrName>style.visibility</p:attrName>
                                        </p:attrNameLst>
                                      </p:cBhvr>
                                      <p:to>
                                        <p:strVal val="visible"/>
                                      </p:to>
                                    </p:set>
                                    <p:anim calcmode="lin" valueType="num">
                                      <p:cBhvr>
                                        <p:cTn id="12" dur="1000" fill="hold"/>
                                        <p:tgtEl>
                                          <p:spTgt spid="11"/>
                                        </p:tgtEl>
                                        <p:attrNameLst>
                                          <p:attrName>ppt_w</p:attrName>
                                        </p:attrNameLst>
                                      </p:cBhvr>
                                      <p:tavLst>
                                        <p:tav tm="0">
                                          <p:val>
                                            <p:fltVal val="0"/>
                                          </p:val>
                                        </p:tav>
                                        <p:tav tm="100000">
                                          <p:val>
                                            <p:strVal val="#ppt_w"/>
                                          </p:val>
                                        </p:tav>
                                      </p:tavLst>
                                    </p:anim>
                                    <p:anim calcmode="lin" valueType="num">
                                      <p:cBhvr>
                                        <p:cTn id="13" dur="1000" fill="hold"/>
                                        <p:tgtEl>
                                          <p:spTgt spid="11"/>
                                        </p:tgtEl>
                                        <p:attrNameLst>
                                          <p:attrName>ppt_h</p:attrName>
                                        </p:attrNameLst>
                                      </p:cBhvr>
                                      <p:tavLst>
                                        <p:tav tm="0">
                                          <p:val>
                                            <p:fltVal val="0"/>
                                          </p:val>
                                        </p:tav>
                                        <p:tav tm="100000">
                                          <p:val>
                                            <p:strVal val="#ppt_h"/>
                                          </p:val>
                                        </p:tav>
                                      </p:tavLst>
                                    </p:anim>
                                    <p:anim calcmode="lin" valueType="num">
                                      <p:cBhvr>
                                        <p:cTn id="14" dur="1000" fill="hold"/>
                                        <p:tgtEl>
                                          <p:spTgt spid="11"/>
                                        </p:tgtEl>
                                        <p:attrNameLst>
                                          <p:attrName>style.rotation</p:attrName>
                                        </p:attrNameLst>
                                      </p:cBhvr>
                                      <p:tavLst>
                                        <p:tav tm="0">
                                          <p:val>
                                            <p:fltVal val="90"/>
                                          </p:val>
                                        </p:tav>
                                        <p:tav tm="100000">
                                          <p:val>
                                            <p:fltVal val="0"/>
                                          </p:val>
                                        </p:tav>
                                      </p:tavLst>
                                    </p:anim>
                                    <p:animEffect transition="in" filter="fade">
                                      <p:cBhvr>
                                        <p:cTn id="15" dur="10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8" presetID="31" presetClass="entr" presetSubtype="0" fill="hold" nodeType="clickEffect">
                                  <p:stCondLst>
                                    <p:cond delay="0"/>
                                  </p:stCondLst>
                                  <p:iterate type="lt">
                                    <p:tmPct val="5000"/>
                                  </p:iterate>
                                  <p:childTnLst>
                                    <p:set>
                                      <p:cBhvr>
                                        <p:cTn id="19" dur="1" fill="hold">
                                          <p:stCondLst>
                                            <p:cond delay="0"/>
                                          </p:stCondLst>
                                        </p:cTn>
                                        <p:tgtEl>
                                          <p:spTgt spid="3074"/>
                                        </p:tgtEl>
                                        <p:attrNameLst>
                                          <p:attrName>style.visibility</p:attrName>
                                        </p:attrNameLst>
                                      </p:cBhvr>
                                      <p:to>
                                        <p:strVal val="visible"/>
                                      </p:to>
                                    </p:set>
                                    <p:anim calcmode="lin" valueType="num">
                                      <p:cBhvr>
                                        <p:cTn id="20" dur="1000" fill="hold"/>
                                        <p:tgtEl>
                                          <p:spTgt spid="3074"/>
                                        </p:tgtEl>
                                        <p:attrNameLst>
                                          <p:attrName>ppt_w</p:attrName>
                                        </p:attrNameLst>
                                      </p:cBhvr>
                                      <p:tavLst>
                                        <p:tav tm="0">
                                          <p:val>
                                            <p:fltVal val="0"/>
                                          </p:val>
                                        </p:tav>
                                        <p:tav tm="100000">
                                          <p:val>
                                            <p:strVal val="#ppt_w"/>
                                          </p:val>
                                        </p:tav>
                                      </p:tavLst>
                                    </p:anim>
                                    <p:anim calcmode="lin" valueType="num">
                                      <p:cBhvr>
                                        <p:cTn id="21" dur="1000" fill="hold"/>
                                        <p:tgtEl>
                                          <p:spTgt spid="3074"/>
                                        </p:tgtEl>
                                        <p:attrNameLst>
                                          <p:attrName>ppt_h</p:attrName>
                                        </p:attrNameLst>
                                      </p:cBhvr>
                                      <p:tavLst>
                                        <p:tav tm="0">
                                          <p:val>
                                            <p:fltVal val="0"/>
                                          </p:val>
                                        </p:tav>
                                        <p:tav tm="100000">
                                          <p:val>
                                            <p:strVal val="#ppt_h"/>
                                          </p:val>
                                        </p:tav>
                                      </p:tavLst>
                                    </p:anim>
                                    <p:anim calcmode="lin" valueType="num">
                                      <p:cBhvr>
                                        <p:cTn id="22" dur="1000" fill="hold"/>
                                        <p:tgtEl>
                                          <p:spTgt spid="3074"/>
                                        </p:tgtEl>
                                        <p:attrNameLst>
                                          <p:attrName>style.rotation</p:attrName>
                                        </p:attrNameLst>
                                      </p:cBhvr>
                                      <p:tavLst>
                                        <p:tav tm="0">
                                          <p:val>
                                            <p:fltVal val="90"/>
                                          </p:val>
                                        </p:tav>
                                        <p:tav tm="100000">
                                          <p:val>
                                            <p:fltVal val="0"/>
                                          </p:val>
                                        </p:tav>
                                      </p:tavLst>
                                    </p:anim>
                                    <p:animEffect transition="in" filter="fade">
                                      <p:cBhvr>
                                        <p:cTn id="23" dur="1000"/>
                                        <p:tgtEl>
                                          <p:spTgt spid="3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bldLvl="3"/>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76200" y="112129"/>
            <a:ext cx="533400" cy="4919239"/>
            <a:chOff x="14626" y="14712"/>
            <a:chExt cx="598680" cy="6386091"/>
          </a:xfrm>
        </p:grpSpPr>
        <p:pic>
          <p:nvPicPr>
            <p:cNvPr id="3" name="Picture 2"/>
            <p:cNvPicPr>
              <a:picLocks noChangeAspect="1" noChangeArrowheads="1"/>
            </p:cNvPicPr>
            <p:nvPr/>
          </p:nvPicPr>
          <p:blipFill>
            <a:blip r:embed="rId2" cstate="print"/>
            <a:srcRect/>
            <a:stretch>
              <a:fillRect/>
            </a:stretch>
          </p:blipFill>
          <p:spPr bwMode="auto">
            <a:xfrm>
              <a:off x="14626" y="14712"/>
              <a:ext cx="598680" cy="846471"/>
            </a:xfrm>
            <a:prstGeom prst="rect">
              <a:avLst/>
            </a:prstGeom>
            <a:noFill/>
            <a:ln w="9525">
              <a:solidFill>
                <a:srgbClr val="0000FF"/>
              </a:solidFill>
              <a:miter lim="800000"/>
              <a:headEnd/>
              <a:tailEnd/>
            </a:ln>
          </p:spPr>
        </p:pic>
        <p:sp>
          <p:nvSpPr>
            <p:cNvPr id="4" name="Text Box 14"/>
            <p:cNvSpPr txBox="1">
              <a:spLocks noChangeArrowheads="1"/>
            </p:cNvSpPr>
            <p:nvPr/>
          </p:nvSpPr>
          <p:spPr bwMode="auto">
            <a:xfrm rot="16198651">
              <a:off x="-2592929" y="3446777"/>
              <a:ext cx="5562442" cy="345444"/>
            </a:xfrm>
            <a:prstGeom prst="rect">
              <a:avLst/>
            </a:prstGeom>
            <a:solidFill>
              <a:srgbClr val="000080"/>
            </a:solidFill>
            <a:ln w="9525">
              <a:noFill/>
              <a:miter lim="800000"/>
              <a:headEnd/>
              <a:tailEnd/>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50000"/>
                </a:spcBef>
              </a:pPr>
              <a:r>
                <a:rPr lang="en-US" sz="1400" b="1" dirty="0">
                  <a:solidFill>
                    <a:schemeClr val="bg1"/>
                  </a:solidFill>
                  <a:latin typeface="Century Gothic" pitchFamily="34" charset="0"/>
                </a:rPr>
                <a:t>Vishwakarma  Institute  of  Technology</a:t>
              </a:r>
            </a:p>
          </p:txBody>
        </p:sp>
        <p:sp>
          <p:nvSpPr>
            <p:cNvPr id="5" name="Text Box 14">
              <a:extLst>
                <a:ext uri="{FF2B5EF4-FFF2-40B4-BE49-F238E27FC236}">
                  <a16:creationId xmlns:lc="http://schemas.openxmlformats.org/drawingml/2006/lockedCanvas" xmlns="" xmlns:a16="http://schemas.microsoft.com/office/drawing/2014/main" id="{08D90372-4075-403D-BB31-3D2C4B3C58A2}"/>
                </a:ext>
              </a:extLst>
            </p:cNvPr>
            <p:cNvSpPr txBox="1">
              <a:spLocks noChangeArrowheads="1"/>
            </p:cNvSpPr>
            <p:nvPr/>
          </p:nvSpPr>
          <p:spPr bwMode="auto">
            <a:xfrm rot="16200000">
              <a:off x="-2314809" y="3472688"/>
              <a:ext cx="5562602" cy="293627"/>
            </a:xfrm>
            <a:prstGeom prst="rect">
              <a:avLst/>
            </a:prstGeom>
            <a:solidFill>
              <a:srgbClr val="FFFF99"/>
            </a:solidFill>
            <a:ln w="9525">
              <a:solidFill>
                <a:srgbClr val="002060"/>
              </a:solidFill>
              <a:miter lim="800000"/>
              <a:headEnd/>
              <a:tailEnd/>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50000"/>
                </a:spcBef>
              </a:pPr>
              <a:r>
                <a:rPr lang="en-US" sz="1100" b="1" dirty="0">
                  <a:solidFill>
                    <a:srgbClr val="002060"/>
                  </a:solidFill>
                  <a:latin typeface="Century Gothic" pitchFamily="34" charset="0"/>
                </a:rPr>
                <a:t>FY - Department of Engineering, Sciences and Humanities</a:t>
              </a:r>
            </a:p>
          </p:txBody>
        </p:sp>
      </p:grpSp>
      <p:sp>
        <p:nvSpPr>
          <p:cNvPr id="6" name="Rectangle 5"/>
          <p:cNvSpPr/>
          <p:nvPr/>
        </p:nvSpPr>
        <p:spPr>
          <a:xfrm>
            <a:off x="685800" y="57150"/>
            <a:ext cx="2971800" cy="381000"/>
          </a:xfrm>
          <a:prstGeom prst="rect">
            <a:avLst/>
          </a:prstGeom>
          <a:solidFill>
            <a:schemeClr val="accent6">
              <a:lumMod val="40000"/>
              <a:lumOff val="60000"/>
            </a:schemeClr>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smtClean="0">
                <a:solidFill>
                  <a:srgbClr val="FF0000"/>
                </a:solidFill>
                <a:latin typeface="Arial" pitchFamily="34" charset="0"/>
                <a:ea typeface="Verdana" pitchFamily="34" charset="0"/>
                <a:cs typeface="Arial" pitchFamily="34" charset="0"/>
              </a:rPr>
              <a:t>Types of </a:t>
            </a:r>
            <a:r>
              <a:rPr lang="en-US" b="1" dirty="0" err="1" smtClean="0">
                <a:solidFill>
                  <a:srgbClr val="FF0000"/>
                </a:solidFill>
                <a:latin typeface="Arial" pitchFamily="34" charset="0"/>
                <a:ea typeface="Verdana" pitchFamily="34" charset="0"/>
                <a:cs typeface="Arial" pitchFamily="34" charset="0"/>
              </a:rPr>
              <a:t>BLDC</a:t>
            </a:r>
            <a:r>
              <a:rPr lang="en-US" b="1" dirty="0" smtClean="0">
                <a:solidFill>
                  <a:srgbClr val="FF0000"/>
                </a:solidFill>
                <a:latin typeface="Arial" pitchFamily="34" charset="0"/>
                <a:ea typeface="Verdana" pitchFamily="34" charset="0"/>
                <a:cs typeface="Arial" pitchFamily="34" charset="0"/>
              </a:rPr>
              <a:t> motors –  </a:t>
            </a:r>
            <a:endParaRPr lang="en-US" sz="300" b="1" dirty="0">
              <a:solidFill>
                <a:srgbClr val="FF0000"/>
              </a:solidFill>
              <a:latin typeface="Verdana" pitchFamily="34" charset="0"/>
              <a:ea typeface="Verdana" pitchFamily="34" charset="0"/>
              <a:cs typeface="Verdana" pitchFamily="34" charset="0"/>
            </a:endParaRPr>
          </a:p>
        </p:txBody>
      </p:sp>
      <p:sp>
        <p:nvSpPr>
          <p:cNvPr id="7" name="Rectangle 6"/>
          <p:cNvSpPr>
            <a:spLocks/>
          </p:cNvSpPr>
          <p:nvPr/>
        </p:nvSpPr>
        <p:spPr>
          <a:xfrm>
            <a:off x="685800" y="514350"/>
            <a:ext cx="3200400" cy="37338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ts val="2800"/>
              </a:lnSpc>
            </a:pPr>
            <a:r>
              <a:rPr lang="en-US" b="1" dirty="0" smtClean="0">
                <a:solidFill>
                  <a:srgbClr val="0000FF"/>
                </a:solidFill>
                <a:ea typeface="Verdana" pitchFamily="34" charset="0"/>
                <a:cs typeface="Arial" pitchFamily="34" charset="0"/>
              </a:rPr>
              <a:t>3) Axial flux or Flat motor – The stator and rotor are mounted parallel to each other and face to face. Generally used where there are space constraints. These motors are also called as “Pan Cake” motors.</a:t>
            </a:r>
          </a:p>
          <a:p>
            <a:pPr algn="just">
              <a:lnSpc>
                <a:spcPts val="2800"/>
              </a:lnSpc>
            </a:pPr>
            <a:endParaRPr lang="en-US" b="1" dirty="0" smtClean="0">
              <a:solidFill>
                <a:srgbClr val="0000FF"/>
              </a:solidFill>
              <a:ea typeface="Verdana" pitchFamily="34" charset="0"/>
              <a:cs typeface="Arial" pitchFamily="34" charset="0"/>
            </a:endParaRPr>
          </a:p>
          <a:p>
            <a:pPr algn="just">
              <a:lnSpc>
                <a:spcPts val="2800"/>
              </a:lnSpc>
            </a:pPr>
            <a:r>
              <a:rPr lang="en-US" b="1" dirty="0" smtClean="0">
                <a:solidFill>
                  <a:schemeClr val="tx1"/>
                </a:solidFill>
                <a:ea typeface="Verdana" pitchFamily="34" charset="0"/>
                <a:cs typeface="Arial" pitchFamily="34" charset="0"/>
              </a:rPr>
              <a:t>Stator coils are always stationary in all the 3 types.</a:t>
            </a:r>
          </a:p>
        </p:txBody>
      </p:sp>
      <p:grpSp>
        <p:nvGrpSpPr>
          <p:cNvPr id="10" name="Group 9"/>
          <p:cNvGrpSpPr/>
          <p:nvPr/>
        </p:nvGrpSpPr>
        <p:grpSpPr>
          <a:xfrm>
            <a:off x="3962400" y="133350"/>
            <a:ext cx="5040481" cy="3657599"/>
            <a:chOff x="4419600" y="361950"/>
            <a:chExt cx="4583281" cy="3538537"/>
          </a:xfrm>
        </p:grpSpPr>
        <p:pic>
          <p:nvPicPr>
            <p:cNvPr id="1029" name="Picture 5" descr="D:\Harshavardhan\datafolder\hmksave\hmk vit\VIT 2018-20\AY 20202021 New Robotics Course\1 RMC 1920 Theory Lectures PPTs Videos  and Notes etc\Images For Lect 5 Electrical Elex\BLDC 8-pole-24-slot-axial-flux-PM-reference-motor.png"/>
            <p:cNvPicPr>
              <a:picLocks noChangeAspect="1" noChangeArrowheads="1"/>
            </p:cNvPicPr>
            <p:nvPr/>
          </p:nvPicPr>
          <p:blipFill>
            <a:blip r:embed="rId3" cstate="print"/>
            <a:srcRect/>
            <a:stretch>
              <a:fillRect/>
            </a:stretch>
          </p:blipFill>
          <p:spPr bwMode="auto">
            <a:xfrm>
              <a:off x="4419600" y="742950"/>
              <a:ext cx="4583281" cy="3157537"/>
            </a:xfrm>
            <a:prstGeom prst="rect">
              <a:avLst/>
            </a:prstGeom>
            <a:noFill/>
          </p:spPr>
        </p:pic>
        <p:sp>
          <p:nvSpPr>
            <p:cNvPr id="9" name="Rectangle 8"/>
            <p:cNvSpPr>
              <a:spLocks/>
            </p:cNvSpPr>
            <p:nvPr/>
          </p:nvSpPr>
          <p:spPr>
            <a:xfrm>
              <a:off x="4419600" y="361950"/>
              <a:ext cx="4572000" cy="381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sz="1600" b="1" dirty="0" smtClean="0">
                  <a:solidFill>
                    <a:schemeClr val="tx1"/>
                  </a:solidFill>
                  <a:latin typeface="Arial" pitchFamily="34" charset="0"/>
                  <a:ea typeface="Verdana" pitchFamily="34" charset="0"/>
                  <a:cs typeface="Arial" pitchFamily="34" charset="0"/>
                </a:rPr>
                <a:t>Axial flux </a:t>
              </a:r>
              <a:r>
                <a:rPr lang="en-US" sz="1600" b="1" dirty="0" err="1" smtClean="0">
                  <a:solidFill>
                    <a:schemeClr val="tx1"/>
                  </a:solidFill>
                  <a:latin typeface="Arial" pitchFamily="34" charset="0"/>
                  <a:ea typeface="Verdana" pitchFamily="34" charset="0"/>
                  <a:cs typeface="Arial" pitchFamily="34" charset="0"/>
                </a:rPr>
                <a:t>BLDC</a:t>
              </a:r>
              <a:r>
                <a:rPr lang="en-US" sz="1600" b="1" dirty="0" smtClean="0">
                  <a:solidFill>
                    <a:schemeClr val="tx1"/>
                  </a:solidFill>
                  <a:latin typeface="Arial" pitchFamily="34" charset="0"/>
                  <a:ea typeface="Verdana" pitchFamily="34" charset="0"/>
                  <a:cs typeface="Arial" pitchFamily="34" charset="0"/>
                </a:rPr>
                <a:t> motor or Flat motor</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1000"/>
                                        <p:tgtEl>
                                          <p:spTgt spid="6"/>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up)">
                                      <p:cBhvr>
                                        <p:cTn id="11" dur="10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31" presetClass="entr" presetSubtype="0" fill="hold" nodeType="clickEffect">
                                  <p:stCondLst>
                                    <p:cond delay="0"/>
                                  </p:stCondLst>
                                  <p:iterate type="lt">
                                    <p:tmPct val="5000"/>
                                  </p:iterate>
                                  <p:childTnLst>
                                    <p:set>
                                      <p:cBhvr>
                                        <p:cTn id="15" dur="1" fill="hold">
                                          <p:stCondLst>
                                            <p:cond delay="0"/>
                                          </p:stCondLst>
                                        </p:cTn>
                                        <p:tgtEl>
                                          <p:spTgt spid="10"/>
                                        </p:tgtEl>
                                        <p:attrNameLst>
                                          <p:attrName>style.visibility</p:attrName>
                                        </p:attrNameLst>
                                      </p:cBhvr>
                                      <p:to>
                                        <p:strVal val="visible"/>
                                      </p:to>
                                    </p:set>
                                    <p:anim calcmode="lin" valueType="num">
                                      <p:cBhvr>
                                        <p:cTn id="16" dur="1000" fill="hold"/>
                                        <p:tgtEl>
                                          <p:spTgt spid="10"/>
                                        </p:tgtEl>
                                        <p:attrNameLst>
                                          <p:attrName>ppt_w</p:attrName>
                                        </p:attrNameLst>
                                      </p:cBhvr>
                                      <p:tavLst>
                                        <p:tav tm="0">
                                          <p:val>
                                            <p:fltVal val="0"/>
                                          </p:val>
                                        </p:tav>
                                        <p:tav tm="100000">
                                          <p:val>
                                            <p:strVal val="#ppt_w"/>
                                          </p:val>
                                        </p:tav>
                                      </p:tavLst>
                                    </p:anim>
                                    <p:anim calcmode="lin" valueType="num">
                                      <p:cBhvr>
                                        <p:cTn id="17" dur="1000" fill="hold"/>
                                        <p:tgtEl>
                                          <p:spTgt spid="10"/>
                                        </p:tgtEl>
                                        <p:attrNameLst>
                                          <p:attrName>ppt_h</p:attrName>
                                        </p:attrNameLst>
                                      </p:cBhvr>
                                      <p:tavLst>
                                        <p:tav tm="0">
                                          <p:val>
                                            <p:fltVal val="0"/>
                                          </p:val>
                                        </p:tav>
                                        <p:tav tm="100000">
                                          <p:val>
                                            <p:strVal val="#ppt_h"/>
                                          </p:val>
                                        </p:tav>
                                      </p:tavLst>
                                    </p:anim>
                                    <p:anim calcmode="lin" valueType="num">
                                      <p:cBhvr>
                                        <p:cTn id="18" dur="1000" fill="hold"/>
                                        <p:tgtEl>
                                          <p:spTgt spid="10"/>
                                        </p:tgtEl>
                                        <p:attrNameLst>
                                          <p:attrName>style.rotation</p:attrName>
                                        </p:attrNameLst>
                                      </p:cBhvr>
                                      <p:tavLst>
                                        <p:tav tm="0">
                                          <p:val>
                                            <p:fltVal val="90"/>
                                          </p:val>
                                        </p:tav>
                                        <p:tav tm="100000">
                                          <p:val>
                                            <p:fltVal val="0"/>
                                          </p:val>
                                        </p:tav>
                                      </p:tavLst>
                                    </p:anim>
                                    <p:animEffect transition="in" filter="fade">
                                      <p:cBhvr>
                                        <p:cTn id="19"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76200" y="112129"/>
            <a:ext cx="533400" cy="4919239"/>
            <a:chOff x="14626" y="14712"/>
            <a:chExt cx="598680" cy="6386091"/>
          </a:xfrm>
        </p:grpSpPr>
        <p:pic>
          <p:nvPicPr>
            <p:cNvPr id="3" name="Picture 2"/>
            <p:cNvPicPr>
              <a:picLocks noChangeAspect="1" noChangeArrowheads="1"/>
            </p:cNvPicPr>
            <p:nvPr/>
          </p:nvPicPr>
          <p:blipFill>
            <a:blip r:embed="rId2" cstate="print"/>
            <a:srcRect/>
            <a:stretch>
              <a:fillRect/>
            </a:stretch>
          </p:blipFill>
          <p:spPr bwMode="auto">
            <a:xfrm>
              <a:off x="14626" y="14712"/>
              <a:ext cx="598680" cy="846471"/>
            </a:xfrm>
            <a:prstGeom prst="rect">
              <a:avLst/>
            </a:prstGeom>
            <a:noFill/>
            <a:ln w="9525">
              <a:solidFill>
                <a:srgbClr val="0000FF"/>
              </a:solidFill>
              <a:miter lim="800000"/>
              <a:headEnd/>
              <a:tailEnd/>
            </a:ln>
          </p:spPr>
        </p:pic>
        <p:sp>
          <p:nvSpPr>
            <p:cNvPr id="4" name="Text Box 14"/>
            <p:cNvSpPr txBox="1">
              <a:spLocks noChangeArrowheads="1"/>
            </p:cNvSpPr>
            <p:nvPr/>
          </p:nvSpPr>
          <p:spPr bwMode="auto">
            <a:xfrm rot="16198651">
              <a:off x="-2592929" y="3446777"/>
              <a:ext cx="5562442" cy="345444"/>
            </a:xfrm>
            <a:prstGeom prst="rect">
              <a:avLst/>
            </a:prstGeom>
            <a:solidFill>
              <a:srgbClr val="000080"/>
            </a:solidFill>
            <a:ln w="9525">
              <a:noFill/>
              <a:miter lim="800000"/>
              <a:headEnd/>
              <a:tailEnd/>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50000"/>
                </a:spcBef>
              </a:pPr>
              <a:r>
                <a:rPr lang="en-US" sz="1400" b="1" dirty="0">
                  <a:solidFill>
                    <a:schemeClr val="bg1"/>
                  </a:solidFill>
                  <a:latin typeface="Century Gothic" pitchFamily="34" charset="0"/>
                </a:rPr>
                <a:t>Vishwakarma  Institute  of  Technology</a:t>
              </a:r>
            </a:p>
          </p:txBody>
        </p:sp>
        <p:sp>
          <p:nvSpPr>
            <p:cNvPr id="5" name="Text Box 14">
              <a:extLst>
                <a:ext uri="{FF2B5EF4-FFF2-40B4-BE49-F238E27FC236}">
                  <a16:creationId xmlns:lc="http://schemas.openxmlformats.org/drawingml/2006/lockedCanvas" xmlns="" xmlns:a16="http://schemas.microsoft.com/office/drawing/2014/main" id="{08D90372-4075-403D-BB31-3D2C4B3C58A2}"/>
                </a:ext>
              </a:extLst>
            </p:cNvPr>
            <p:cNvSpPr txBox="1">
              <a:spLocks noChangeArrowheads="1"/>
            </p:cNvSpPr>
            <p:nvPr/>
          </p:nvSpPr>
          <p:spPr bwMode="auto">
            <a:xfrm rot="16200000">
              <a:off x="-2314809" y="3472688"/>
              <a:ext cx="5562602" cy="293627"/>
            </a:xfrm>
            <a:prstGeom prst="rect">
              <a:avLst/>
            </a:prstGeom>
            <a:solidFill>
              <a:srgbClr val="FFFF99"/>
            </a:solidFill>
            <a:ln w="9525">
              <a:solidFill>
                <a:srgbClr val="002060"/>
              </a:solidFill>
              <a:miter lim="800000"/>
              <a:headEnd/>
              <a:tailEnd/>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50000"/>
                </a:spcBef>
              </a:pPr>
              <a:r>
                <a:rPr lang="en-US" sz="1100" b="1" dirty="0">
                  <a:solidFill>
                    <a:srgbClr val="002060"/>
                  </a:solidFill>
                  <a:latin typeface="Century Gothic" pitchFamily="34" charset="0"/>
                </a:rPr>
                <a:t>FY - Department of Engineering, Sciences and Humanities</a:t>
              </a:r>
            </a:p>
          </p:txBody>
        </p:sp>
      </p:grpSp>
      <p:sp>
        <p:nvSpPr>
          <p:cNvPr id="13" name="Rectangle 12"/>
          <p:cNvSpPr/>
          <p:nvPr/>
        </p:nvSpPr>
        <p:spPr>
          <a:xfrm>
            <a:off x="762000" y="2571750"/>
            <a:ext cx="2362200" cy="990600"/>
          </a:xfrm>
          <a:prstGeom prst="rect">
            <a:avLst/>
          </a:prstGeom>
          <a:solidFill>
            <a:schemeClr val="accent6">
              <a:lumMod val="40000"/>
              <a:lumOff val="60000"/>
            </a:schemeClr>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b="1" dirty="0" smtClean="0">
                <a:solidFill>
                  <a:srgbClr val="FF0000"/>
                </a:solidFill>
                <a:latin typeface="Arial" pitchFamily="34" charset="0"/>
                <a:ea typeface="Verdana" pitchFamily="34" charset="0"/>
                <a:cs typeface="Arial" pitchFamily="34" charset="0"/>
              </a:rPr>
              <a:t>Driver circuits of </a:t>
            </a:r>
            <a:r>
              <a:rPr lang="en-US" b="1" dirty="0" err="1" smtClean="0">
                <a:solidFill>
                  <a:srgbClr val="FF0000"/>
                </a:solidFill>
                <a:latin typeface="Arial" pitchFamily="34" charset="0"/>
                <a:ea typeface="Verdana" pitchFamily="34" charset="0"/>
                <a:cs typeface="Arial" pitchFamily="34" charset="0"/>
              </a:rPr>
              <a:t>BLDC</a:t>
            </a:r>
            <a:r>
              <a:rPr lang="en-US" b="1" dirty="0" smtClean="0">
                <a:solidFill>
                  <a:srgbClr val="FF0000"/>
                </a:solidFill>
                <a:latin typeface="Arial" pitchFamily="34" charset="0"/>
                <a:ea typeface="Verdana" pitchFamily="34" charset="0"/>
                <a:cs typeface="Arial" pitchFamily="34" charset="0"/>
              </a:rPr>
              <a:t> motor …..</a:t>
            </a:r>
          </a:p>
        </p:txBody>
      </p:sp>
      <p:pic>
        <p:nvPicPr>
          <p:cNvPr id="2050" name="Picture 2" descr="D:\Harshavardhan\datafolder\hmksave\hmk vit\VIT 2018-20\AY 20202021 New Robotics Course\1 RMC 1920 Theory Lectures PPTs Videos  and Notes etc\Images For Lect 5 Electrical Elex\BLDC drive 4.jpg"/>
          <p:cNvPicPr>
            <a:picLocks noChangeAspect="1" noChangeArrowheads="1"/>
          </p:cNvPicPr>
          <p:nvPr/>
        </p:nvPicPr>
        <p:blipFill>
          <a:blip r:embed="rId3" cstate="print"/>
          <a:srcRect/>
          <a:stretch>
            <a:fillRect/>
          </a:stretch>
        </p:blipFill>
        <p:spPr bwMode="auto">
          <a:xfrm>
            <a:off x="3657600" y="79494"/>
            <a:ext cx="5391150" cy="2568456"/>
          </a:xfrm>
          <a:prstGeom prst="rect">
            <a:avLst/>
          </a:prstGeom>
          <a:noFill/>
        </p:spPr>
      </p:pic>
      <p:pic>
        <p:nvPicPr>
          <p:cNvPr id="2051" name="Picture 3" descr="D:\Harshavardhan\datafolder\hmksave\hmk vit\VIT 2018-20\AY 20202021 New Robotics Course\1 RMC 1920 Theory Lectures PPTs Videos  and Notes etc\Images For Lect 5 Electrical Elex\BLDC drive 2.jpg"/>
          <p:cNvPicPr>
            <a:picLocks noChangeAspect="1" noChangeArrowheads="1"/>
          </p:cNvPicPr>
          <p:nvPr/>
        </p:nvPicPr>
        <p:blipFill>
          <a:blip r:embed="rId4" cstate="print"/>
          <a:srcRect/>
          <a:stretch>
            <a:fillRect/>
          </a:stretch>
        </p:blipFill>
        <p:spPr bwMode="auto">
          <a:xfrm>
            <a:off x="5943600" y="2647950"/>
            <a:ext cx="3048000" cy="2133600"/>
          </a:xfrm>
          <a:prstGeom prst="rect">
            <a:avLst/>
          </a:prstGeom>
          <a:noFill/>
        </p:spPr>
      </p:pic>
      <p:pic>
        <p:nvPicPr>
          <p:cNvPr id="2052" name="Picture 4" descr="D:\Harshavardhan\datafolder\hmksave\hmk vit\VIT 2018-20\AY 20202021 New Robotics Course\1 RMC 1920 Theory Lectures PPTs Videos  and Notes etc\Images For Lect 5 Electrical Elex\BLDC drive 3.jpg"/>
          <p:cNvPicPr>
            <a:picLocks noChangeAspect="1" noChangeArrowheads="1"/>
          </p:cNvPicPr>
          <p:nvPr/>
        </p:nvPicPr>
        <p:blipFill>
          <a:blip r:embed="rId5" cstate="print"/>
          <a:srcRect/>
          <a:stretch>
            <a:fillRect/>
          </a:stretch>
        </p:blipFill>
        <p:spPr bwMode="auto">
          <a:xfrm>
            <a:off x="685800" y="133350"/>
            <a:ext cx="2875754" cy="2286000"/>
          </a:xfrm>
          <a:prstGeom prst="rect">
            <a:avLst/>
          </a:prstGeom>
          <a:noFill/>
        </p:spPr>
      </p:pic>
      <p:pic>
        <p:nvPicPr>
          <p:cNvPr id="6" name="Picture 2" descr="D:\Harshavardhan\datafolder\hmksave\hmk vit\VIT 2018-20\AY 20202021 New Robotics Course\1 RMC 1920 Theory Lectures PPTs Videos  and Notes etc\Images For Lect 5 Electrical Elex\BLDC drive.jpg"/>
          <p:cNvPicPr>
            <a:picLocks noChangeAspect="1" noChangeArrowheads="1"/>
          </p:cNvPicPr>
          <p:nvPr/>
        </p:nvPicPr>
        <p:blipFill>
          <a:blip r:embed="rId6" cstate="print"/>
          <a:srcRect/>
          <a:stretch>
            <a:fillRect/>
          </a:stretch>
        </p:blipFill>
        <p:spPr bwMode="auto">
          <a:xfrm>
            <a:off x="3323146" y="2667698"/>
            <a:ext cx="2544254" cy="2113852"/>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10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052"/>
                                        </p:tgtEl>
                                        <p:attrNameLst>
                                          <p:attrName>style.visibility</p:attrName>
                                        </p:attrNameLst>
                                      </p:cBhvr>
                                      <p:to>
                                        <p:strVal val="visible"/>
                                      </p:to>
                                    </p:set>
                                    <p:animEffect transition="in" filter="wipe(up)">
                                      <p:cBhvr>
                                        <p:cTn id="12" dur="2000"/>
                                        <p:tgtEl>
                                          <p:spTgt spid="2052"/>
                                        </p:tgtEl>
                                      </p:cBhvr>
                                    </p:animEffect>
                                  </p:childTnLst>
                                </p:cTn>
                              </p:par>
                              <p:par>
                                <p:cTn id="13" presetID="22" presetClass="entr" presetSubtype="1" fill="hold" nodeType="withEffect">
                                  <p:stCondLst>
                                    <p:cond delay="0"/>
                                  </p:stCondLst>
                                  <p:childTnLst>
                                    <p:set>
                                      <p:cBhvr>
                                        <p:cTn id="14" dur="1" fill="hold">
                                          <p:stCondLst>
                                            <p:cond delay="0"/>
                                          </p:stCondLst>
                                        </p:cTn>
                                        <p:tgtEl>
                                          <p:spTgt spid="2050"/>
                                        </p:tgtEl>
                                        <p:attrNameLst>
                                          <p:attrName>style.visibility</p:attrName>
                                        </p:attrNameLst>
                                      </p:cBhvr>
                                      <p:to>
                                        <p:strVal val="visible"/>
                                      </p:to>
                                    </p:set>
                                    <p:animEffect transition="in" filter="wipe(up)">
                                      <p:cBhvr>
                                        <p:cTn id="15" dur="2000"/>
                                        <p:tgtEl>
                                          <p:spTgt spid="2050"/>
                                        </p:tgtEl>
                                      </p:cBhvr>
                                    </p:animEffect>
                                  </p:childTnLst>
                                </p:cTn>
                              </p:par>
                              <p:par>
                                <p:cTn id="16" presetID="22" presetClass="entr" presetSubtype="1"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up)">
                                      <p:cBhvr>
                                        <p:cTn id="18" dur="2000"/>
                                        <p:tgtEl>
                                          <p:spTgt spid="6"/>
                                        </p:tgtEl>
                                      </p:cBhvr>
                                    </p:animEffect>
                                  </p:childTnLst>
                                </p:cTn>
                              </p:par>
                              <p:par>
                                <p:cTn id="19" presetID="22" presetClass="entr" presetSubtype="1" fill="hold" nodeType="withEffect">
                                  <p:stCondLst>
                                    <p:cond delay="0"/>
                                  </p:stCondLst>
                                  <p:childTnLst>
                                    <p:set>
                                      <p:cBhvr>
                                        <p:cTn id="20" dur="1" fill="hold">
                                          <p:stCondLst>
                                            <p:cond delay="0"/>
                                          </p:stCondLst>
                                        </p:cTn>
                                        <p:tgtEl>
                                          <p:spTgt spid="2051"/>
                                        </p:tgtEl>
                                        <p:attrNameLst>
                                          <p:attrName>style.visibility</p:attrName>
                                        </p:attrNameLst>
                                      </p:cBhvr>
                                      <p:to>
                                        <p:strVal val="visible"/>
                                      </p:to>
                                    </p:set>
                                    <p:animEffect transition="in" filter="wipe(up)">
                                      <p:cBhvr>
                                        <p:cTn id="21" dur="2000"/>
                                        <p:tgtEl>
                                          <p:spTgt spid="20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76200" y="112129"/>
            <a:ext cx="533400" cy="4919239"/>
            <a:chOff x="14626" y="14712"/>
            <a:chExt cx="598680" cy="6386091"/>
          </a:xfrm>
        </p:grpSpPr>
        <p:pic>
          <p:nvPicPr>
            <p:cNvPr id="3" name="Picture 2"/>
            <p:cNvPicPr>
              <a:picLocks noChangeAspect="1" noChangeArrowheads="1"/>
            </p:cNvPicPr>
            <p:nvPr/>
          </p:nvPicPr>
          <p:blipFill>
            <a:blip r:embed="rId2" cstate="print"/>
            <a:srcRect/>
            <a:stretch>
              <a:fillRect/>
            </a:stretch>
          </p:blipFill>
          <p:spPr bwMode="auto">
            <a:xfrm>
              <a:off x="14626" y="14712"/>
              <a:ext cx="598680" cy="846471"/>
            </a:xfrm>
            <a:prstGeom prst="rect">
              <a:avLst/>
            </a:prstGeom>
            <a:noFill/>
            <a:ln w="9525">
              <a:solidFill>
                <a:srgbClr val="0000FF"/>
              </a:solidFill>
              <a:miter lim="800000"/>
              <a:headEnd/>
              <a:tailEnd/>
            </a:ln>
          </p:spPr>
        </p:pic>
        <p:sp>
          <p:nvSpPr>
            <p:cNvPr id="4" name="Text Box 14"/>
            <p:cNvSpPr txBox="1">
              <a:spLocks noChangeArrowheads="1"/>
            </p:cNvSpPr>
            <p:nvPr/>
          </p:nvSpPr>
          <p:spPr bwMode="auto">
            <a:xfrm rot="16198651">
              <a:off x="-2592929" y="3446777"/>
              <a:ext cx="5562442" cy="345444"/>
            </a:xfrm>
            <a:prstGeom prst="rect">
              <a:avLst/>
            </a:prstGeom>
            <a:solidFill>
              <a:srgbClr val="000080"/>
            </a:solidFill>
            <a:ln w="9525">
              <a:noFill/>
              <a:miter lim="800000"/>
              <a:headEnd/>
              <a:tailEnd/>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50000"/>
                </a:spcBef>
              </a:pPr>
              <a:r>
                <a:rPr lang="en-US" sz="1400" b="1" dirty="0">
                  <a:solidFill>
                    <a:schemeClr val="bg1"/>
                  </a:solidFill>
                  <a:latin typeface="Century Gothic" pitchFamily="34" charset="0"/>
                </a:rPr>
                <a:t>Vishwakarma  Institute  of  Technology</a:t>
              </a:r>
            </a:p>
          </p:txBody>
        </p:sp>
        <p:sp>
          <p:nvSpPr>
            <p:cNvPr id="5" name="Text Box 14">
              <a:extLst>
                <a:ext uri="{FF2B5EF4-FFF2-40B4-BE49-F238E27FC236}">
                  <a16:creationId xmlns:lc="http://schemas.openxmlformats.org/drawingml/2006/lockedCanvas" xmlns="" xmlns:a16="http://schemas.microsoft.com/office/drawing/2014/main" id="{08D90372-4075-403D-BB31-3D2C4B3C58A2}"/>
                </a:ext>
              </a:extLst>
            </p:cNvPr>
            <p:cNvSpPr txBox="1">
              <a:spLocks noChangeArrowheads="1"/>
            </p:cNvSpPr>
            <p:nvPr/>
          </p:nvSpPr>
          <p:spPr bwMode="auto">
            <a:xfrm rot="16200000">
              <a:off x="-2314809" y="3472688"/>
              <a:ext cx="5562602" cy="293627"/>
            </a:xfrm>
            <a:prstGeom prst="rect">
              <a:avLst/>
            </a:prstGeom>
            <a:solidFill>
              <a:srgbClr val="FFFF99"/>
            </a:solidFill>
            <a:ln w="9525">
              <a:solidFill>
                <a:srgbClr val="002060"/>
              </a:solidFill>
              <a:miter lim="800000"/>
              <a:headEnd/>
              <a:tailEnd/>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50000"/>
                </a:spcBef>
              </a:pPr>
              <a:r>
                <a:rPr lang="en-US" sz="1100" b="1" dirty="0">
                  <a:solidFill>
                    <a:srgbClr val="002060"/>
                  </a:solidFill>
                  <a:latin typeface="Century Gothic" pitchFamily="34" charset="0"/>
                </a:rPr>
                <a:t>FY - Department of Engineering, Sciences and Humanities</a:t>
              </a:r>
            </a:p>
          </p:txBody>
        </p:sp>
      </p:grpSp>
      <p:sp>
        <p:nvSpPr>
          <p:cNvPr id="11" name="Rectangle 10"/>
          <p:cNvSpPr>
            <a:spLocks/>
          </p:cNvSpPr>
          <p:nvPr/>
        </p:nvSpPr>
        <p:spPr>
          <a:xfrm>
            <a:off x="1295400" y="209550"/>
            <a:ext cx="4648200" cy="4648200"/>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ts val="2400"/>
              </a:lnSpc>
            </a:pPr>
            <a:r>
              <a:rPr lang="en-US" sz="2000" b="1" dirty="0" smtClean="0">
                <a:solidFill>
                  <a:srgbClr val="FF0000"/>
                </a:solidFill>
                <a:ea typeface="Verdana" pitchFamily="34" charset="0"/>
                <a:cs typeface="Arial" pitchFamily="34" charset="0"/>
              </a:rPr>
              <a:t>	Applications of </a:t>
            </a:r>
            <a:r>
              <a:rPr lang="en-US" sz="2000" b="1" dirty="0" err="1" smtClean="0">
                <a:solidFill>
                  <a:srgbClr val="FF0000"/>
                </a:solidFill>
                <a:ea typeface="Verdana" pitchFamily="34" charset="0"/>
                <a:cs typeface="Arial" pitchFamily="34" charset="0"/>
              </a:rPr>
              <a:t>BLDC</a:t>
            </a:r>
            <a:r>
              <a:rPr lang="en-US" sz="2000" b="1" dirty="0" smtClean="0">
                <a:solidFill>
                  <a:srgbClr val="FF0000"/>
                </a:solidFill>
                <a:ea typeface="Verdana" pitchFamily="34" charset="0"/>
                <a:cs typeface="Arial" pitchFamily="34" charset="0"/>
              </a:rPr>
              <a:t> motor</a:t>
            </a:r>
          </a:p>
          <a:p>
            <a:pPr lvl="1" algn="just">
              <a:lnSpc>
                <a:spcPts val="2400"/>
              </a:lnSpc>
              <a:buFont typeface="Arial" pitchFamily="34" charset="0"/>
              <a:buChar char="•"/>
            </a:pPr>
            <a:r>
              <a:rPr lang="en-US" b="1" dirty="0" smtClean="0">
                <a:solidFill>
                  <a:schemeClr val="tx1"/>
                </a:solidFill>
                <a:ea typeface="Verdana" pitchFamily="34" charset="0"/>
                <a:cs typeface="Arial" pitchFamily="34" charset="0"/>
              </a:rPr>
              <a:t> </a:t>
            </a:r>
            <a:r>
              <a:rPr lang="en-US" b="1" dirty="0" err="1" smtClean="0">
                <a:solidFill>
                  <a:schemeClr val="tx1"/>
                </a:solidFill>
                <a:ea typeface="Verdana" pitchFamily="34" charset="0"/>
                <a:cs typeface="Arial" pitchFamily="34" charset="0"/>
              </a:rPr>
              <a:t>CNC</a:t>
            </a:r>
            <a:r>
              <a:rPr lang="en-US" b="1" dirty="0" smtClean="0">
                <a:solidFill>
                  <a:schemeClr val="tx1"/>
                </a:solidFill>
                <a:ea typeface="Verdana" pitchFamily="34" charset="0"/>
                <a:cs typeface="Arial" pitchFamily="34" charset="0"/>
              </a:rPr>
              <a:t> machines</a:t>
            </a:r>
          </a:p>
          <a:p>
            <a:pPr lvl="1" algn="just">
              <a:lnSpc>
                <a:spcPts val="2400"/>
              </a:lnSpc>
              <a:buFont typeface="Arial" pitchFamily="34" charset="0"/>
              <a:buChar char="•"/>
            </a:pPr>
            <a:r>
              <a:rPr lang="en-US" b="1" dirty="0" smtClean="0">
                <a:solidFill>
                  <a:srgbClr val="0000FF"/>
                </a:solidFill>
                <a:ea typeface="Verdana" pitchFamily="34" charset="0"/>
                <a:cs typeface="Arial" pitchFamily="34" charset="0"/>
              </a:rPr>
              <a:t> Robotics</a:t>
            </a:r>
          </a:p>
          <a:p>
            <a:pPr lvl="1" algn="just">
              <a:lnSpc>
                <a:spcPts val="2400"/>
              </a:lnSpc>
              <a:buFont typeface="Arial" pitchFamily="34" charset="0"/>
              <a:buChar char="•"/>
            </a:pPr>
            <a:r>
              <a:rPr lang="en-US" b="1" dirty="0" smtClean="0">
                <a:solidFill>
                  <a:schemeClr val="tx1"/>
                </a:solidFill>
                <a:ea typeface="Verdana" pitchFamily="34" charset="0"/>
                <a:cs typeface="Arial" pitchFamily="34" charset="0"/>
              </a:rPr>
              <a:t> Position control systems</a:t>
            </a:r>
          </a:p>
          <a:p>
            <a:pPr lvl="1" algn="just">
              <a:lnSpc>
                <a:spcPts val="2400"/>
              </a:lnSpc>
              <a:buFont typeface="Arial" pitchFamily="34" charset="0"/>
              <a:buChar char="•"/>
            </a:pPr>
            <a:r>
              <a:rPr lang="en-US" b="1" dirty="0" smtClean="0">
                <a:solidFill>
                  <a:srgbClr val="0000FF"/>
                </a:solidFill>
                <a:ea typeface="Verdana" pitchFamily="34" charset="0"/>
                <a:cs typeface="Arial" pitchFamily="34" charset="0"/>
              </a:rPr>
              <a:t> Electric vehicles</a:t>
            </a:r>
          </a:p>
          <a:p>
            <a:pPr lvl="1" algn="just">
              <a:lnSpc>
                <a:spcPts val="2400"/>
              </a:lnSpc>
              <a:buFont typeface="Arial" pitchFamily="34" charset="0"/>
              <a:buChar char="•"/>
            </a:pPr>
            <a:r>
              <a:rPr lang="en-US" b="1" dirty="0" smtClean="0">
                <a:solidFill>
                  <a:schemeClr val="tx1"/>
                </a:solidFill>
                <a:ea typeface="Verdana" pitchFamily="34" charset="0"/>
                <a:cs typeface="Arial" pitchFamily="34" charset="0"/>
              </a:rPr>
              <a:t> Washing machines</a:t>
            </a:r>
          </a:p>
          <a:p>
            <a:pPr lvl="1" algn="just">
              <a:lnSpc>
                <a:spcPts val="2400"/>
              </a:lnSpc>
              <a:buFont typeface="Arial" pitchFamily="34" charset="0"/>
              <a:buChar char="•"/>
            </a:pPr>
            <a:r>
              <a:rPr lang="en-US" b="1" dirty="0" smtClean="0">
                <a:solidFill>
                  <a:srgbClr val="0000FF"/>
                </a:solidFill>
                <a:ea typeface="Verdana" pitchFamily="34" charset="0"/>
                <a:cs typeface="Arial" pitchFamily="34" charset="0"/>
              </a:rPr>
              <a:t> Hard drives of PC</a:t>
            </a:r>
          </a:p>
          <a:p>
            <a:pPr lvl="1" algn="just">
              <a:lnSpc>
                <a:spcPts val="2400"/>
              </a:lnSpc>
              <a:buFont typeface="Arial" pitchFamily="34" charset="0"/>
              <a:buChar char="•"/>
            </a:pPr>
            <a:r>
              <a:rPr lang="en-US" b="1" dirty="0" smtClean="0">
                <a:solidFill>
                  <a:schemeClr val="tx1"/>
                </a:solidFill>
                <a:ea typeface="Verdana" pitchFamily="34" charset="0"/>
                <a:cs typeface="Arial" pitchFamily="34" charset="0"/>
              </a:rPr>
              <a:t> DVD drives</a:t>
            </a:r>
          </a:p>
          <a:p>
            <a:pPr lvl="1" algn="just">
              <a:lnSpc>
                <a:spcPts val="2400"/>
              </a:lnSpc>
              <a:buFont typeface="Arial" pitchFamily="34" charset="0"/>
              <a:buChar char="•"/>
            </a:pPr>
            <a:r>
              <a:rPr lang="en-US" b="1" dirty="0" smtClean="0">
                <a:solidFill>
                  <a:srgbClr val="0000FF"/>
                </a:solidFill>
                <a:ea typeface="Verdana" pitchFamily="34" charset="0"/>
                <a:cs typeface="Arial" pitchFamily="34" charset="0"/>
              </a:rPr>
              <a:t> Ceiling fans (new)</a:t>
            </a:r>
          </a:p>
          <a:p>
            <a:pPr lvl="1" algn="just">
              <a:lnSpc>
                <a:spcPts val="2400"/>
              </a:lnSpc>
              <a:buFont typeface="Arial" pitchFamily="34" charset="0"/>
              <a:buChar char="•"/>
            </a:pPr>
            <a:r>
              <a:rPr lang="en-US" b="1" dirty="0" smtClean="0">
                <a:solidFill>
                  <a:schemeClr val="tx1"/>
                </a:solidFill>
                <a:ea typeface="Verdana" pitchFamily="34" charset="0"/>
                <a:cs typeface="Arial" pitchFamily="34" charset="0"/>
              </a:rPr>
              <a:t> Blowers</a:t>
            </a:r>
          </a:p>
          <a:p>
            <a:pPr lvl="1" algn="just">
              <a:lnSpc>
                <a:spcPts val="2400"/>
              </a:lnSpc>
              <a:buFont typeface="Arial" pitchFamily="34" charset="0"/>
              <a:buChar char="•"/>
            </a:pPr>
            <a:r>
              <a:rPr lang="en-US" b="1" dirty="0" smtClean="0">
                <a:solidFill>
                  <a:srgbClr val="0000FF"/>
                </a:solidFill>
                <a:ea typeface="Verdana" pitchFamily="34" charset="0"/>
                <a:cs typeface="Arial" pitchFamily="34" charset="0"/>
              </a:rPr>
              <a:t> Air conditioners </a:t>
            </a:r>
          </a:p>
          <a:p>
            <a:pPr lvl="1" algn="just">
              <a:lnSpc>
                <a:spcPts val="2400"/>
              </a:lnSpc>
              <a:buFont typeface="Arial" pitchFamily="34" charset="0"/>
              <a:buChar char="•"/>
            </a:pPr>
            <a:r>
              <a:rPr lang="en-US" b="1" dirty="0" smtClean="0">
                <a:solidFill>
                  <a:schemeClr val="tx1"/>
                </a:solidFill>
                <a:ea typeface="Verdana" pitchFamily="34" charset="0"/>
                <a:cs typeface="Arial" pitchFamily="34" charset="0"/>
              </a:rPr>
              <a:t> Refrigeration systems</a:t>
            </a:r>
          </a:p>
          <a:p>
            <a:pPr lvl="1" algn="just">
              <a:lnSpc>
                <a:spcPts val="2400"/>
              </a:lnSpc>
              <a:buFont typeface="Arial" pitchFamily="34" charset="0"/>
              <a:buChar char="•"/>
            </a:pPr>
            <a:r>
              <a:rPr lang="en-US" b="1" dirty="0" smtClean="0">
                <a:solidFill>
                  <a:srgbClr val="0000FF"/>
                </a:solidFill>
                <a:ea typeface="Verdana" pitchFamily="34" charset="0"/>
                <a:cs typeface="Arial" pitchFamily="34" charset="0"/>
              </a:rPr>
              <a:t> Aeromodelling</a:t>
            </a:r>
          </a:p>
          <a:p>
            <a:pPr lvl="1" algn="just">
              <a:lnSpc>
                <a:spcPts val="2400"/>
              </a:lnSpc>
              <a:buFont typeface="Arial" pitchFamily="34" charset="0"/>
              <a:buChar char="•"/>
            </a:pPr>
            <a:r>
              <a:rPr lang="en-US" b="1" dirty="0" smtClean="0">
                <a:solidFill>
                  <a:schemeClr val="tx1"/>
                </a:solidFill>
                <a:ea typeface="Verdana" pitchFamily="34" charset="0"/>
                <a:cs typeface="Arial" pitchFamily="34" charset="0"/>
              </a:rPr>
              <a:t> Drones …… and many more ….</a:t>
            </a:r>
            <a:endParaRPr lang="en-US" b="1" dirty="0" smtClean="0">
              <a:solidFill>
                <a:srgbClr val="0000FF"/>
              </a:solidFill>
              <a:ea typeface="Verdana" pitchFamily="34" charset="0"/>
              <a:cs typeface="Arial" pitchFamily="34" charset="0"/>
            </a:endParaRPr>
          </a:p>
        </p:txBody>
      </p:sp>
      <p:pic>
        <p:nvPicPr>
          <p:cNvPr id="5122" name="Picture 2" descr="D:\Harshavardhan\datafolder\hmksave\hmk vit\VIT 2018-20\AY 20202021 New Robotics Course\1 RMC 1920 Theory Lectures PPTs Videos  and Notes etc\Images For Lect 5 Electrical Elex\BLDC inrunner - Copy.jpg"/>
          <p:cNvPicPr>
            <a:picLocks noChangeAspect="1" noChangeArrowheads="1"/>
          </p:cNvPicPr>
          <p:nvPr/>
        </p:nvPicPr>
        <p:blipFill>
          <a:blip r:embed="rId3" cstate="print"/>
          <a:srcRect/>
          <a:stretch>
            <a:fillRect/>
          </a:stretch>
        </p:blipFill>
        <p:spPr bwMode="auto">
          <a:xfrm>
            <a:off x="5410200" y="895350"/>
            <a:ext cx="3505200" cy="3657600"/>
          </a:xfrm>
          <a:prstGeom prst="rect">
            <a:avLst/>
          </a:prstGeom>
          <a:noFill/>
          <a:ln w="19050">
            <a:solidFill>
              <a:srgbClr val="0000FF"/>
            </a:solid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iterate type="lt">
                                    <p:tmPct val="5000"/>
                                  </p:iterate>
                                  <p:childTnLst>
                                    <p:set>
                                      <p:cBhvr>
                                        <p:cTn id="6" dur="1" fill="hold">
                                          <p:stCondLst>
                                            <p:cond delay="0"/>
                                          </p:stCondLst>
                                        </p:cTn>
                                        <p:tgtEl>
                                          <p:spTgt spid="5122"/>
                                        </p:tgtEl>
                                        <p:attrNameLst>
                                          <p:attrName>style.visibility</p:attrName>
                                        </p:attrNameLst>
                                      </p:cBhvr>
                                      <p:to>
                                        <p:strVal val="visible"/>
                                      </p:to>
                                    </p:set>
                                    <p:anim calcmode="lin" valueType="num">
                                      <p:cBhvr>
                                        <p:cTn id="7" dur="1000" fill="hold"/>
                                        <p:tgtEl>
                                          <p:spTgt spid="5122"/>
                                        </p:tgtEl>
                                        <p:attrNameLst>
                                          <p:attrName>ppt_w</p:attrName>
                                        </p:attrNameLst>
                                      </p:cBhvr>
                                      <p:tavLst>
                                        <p:tav tm="0">
                                          <p:val>
                                            <p:fltVal val="0"/>
                                          </p:val>
                                        </p:tav>
                                        <p:tav tm="100000">
                                          <p:val>
                                            <p:strVal val="#ppt_w"/>
                                          </p:val>
                                        </p:tav>
                                      </p:tavLst>
                                    </p:anim>
                                    <p:anim calcmode="lin" valueType="num">
                                      <p:cBhvr>
                                        <p:cTn id="8" dur="1000" fill="hold"/>
                                        <p:tgtEl>
                                          <p:spTgt spid="5122"/>
                                        </p:tgtEl>
                                        <p:attrNameLst>
                                          <p:attrName>ppt_h</p:attrName>
                                        </p:attrNameLst>
                                      </p:cBhvr>
                                      <p:tavLst>
                                        <p:tav tm="0">
                                          <p:val>
                                            <p:fltVal val="0"/>
                                          </p:val>
                                        </p:tav>
                                        <p:tav tm="100000">
                                          <p:val>
                                            <p:strVal val="#ppt_h"/>
                                          </p:val>
                                        </p:tav>
                                      </p:tavLst>
                                    </p:anim>
                                    <p:anim calcmode="lin" valueType="num">
                                      <p:cBhvr>
                                        <p:cTn id="9" dur="1000" fill="hold"/>
                                        <p:tgtEl>
                                          <p:spTgt spid="5122"/>
                                        </p:tgtEl>
                                        <p:attrNameLst>
                                          <p:attrName>style.rotation</p:attrName>
                                        </p:attrNameLst>
                                      </p:cBhvr>
                                      <p:tavLst>
                                        <p:tav tm="0">
                                          <p:val>
                                            <p:fltVal val="90"/>
                                          </p:val>
                                        </p:tav>
                                        <p:tav tm="100000">
                                          <p:val>
                                            <p:fltVal val="0"/>
                                          </p:val>
                                        </p:tav>
                                      </p:tavLst>
                                    </p:anim>
                                    <p:animEffect transition="in" filter="fade">
                                      <p:cBhvr>
                                        <p:cTn id="10" dur="1000"/>
                                        <p:tgtEl>
                                          <p:spTgt spid="5122"/>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ipe(up)">
                                      <p:cBhvr>
                                        <p:cTn id="15"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76200" y="112129"/>
            <a:ext cx="533400" cy="4919239"/>
            <a:chOff x="14626" y="14712"/>
            <a:chExt cx="598680" cy="6386091"/>
          </a:xfrm>
        </p:grpSpPr>
        <p:pic>
          <p:nvPicPr>
            <p:cNvPr id="3" name="Picture 2"/>
            <p:cNvPicPr>
              <a:picLocks noChangeAspect="1" noChangeArrowheads="1"/>
            </p:cNvPicPr>
            <p:nvPr/>
          </p:nvPicPr>
          <p:blipFill>
            <a:blip r:embed="rId2" cstate="print"/>
            <a:srcRect/>
            <a:stretch>
              <a:fillRect/>
            </a:stretch>
          </p:blipFill>
          <p:spPr bwMode="auto">
            <a:xfrm>
              <a:off x="14626" y="14712"/>
              <a:ext cx="598680" cy="846471"/>
            </a:xfrm>
            <a:prstGeom prst="rect">
              <a:avLst/>
            </a:prstGeom>
            <a:noFill/>
            <a:ln w="9525">
              <a:solidFill>
                <a:srgbClr val="0000FF"/>
              </a:solidFill>
              <a:miter lim="800000"/>
              <a:headEnd/>
              <a:tailEnd/>
            </a:ln>
          </p:spPr>
        </p:pic>
        <p:sp>
          <p:nvSpPr>
            <p:cNvPr id="4" name="Text Box 14"/>
            <p:cNvSpPr txBox="1">
              <a:spLocks noChangeArrowheads="1"/>
            </p:cNvSpPr>
            <p:nvPr/>
          </p:nvSpPr>
          <p:spPr bwMode="auto">
            <a:xfrm rot="16198651">
              <a:off x="-2592929" y="3446777"/>
              <a:ext cx="5562442" cy="345444"/>
            </a:xfrm>
            <a:prstGeom prst="rect">
              <a:avLst/>
            </a:prstGeom>
            <a:solidFill>
              <a:srgbClr val="000080"/>
            </a:solidFill>
            <a:ln w="9525">
              <a:noFill/>
              <a:miter lim="800000"/>
              <a:headEnd/>
              <a:tailEnd/>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50000"/>
                </a:spcBef>
              </a:pPr>
              <a:r>
                <a:rPr lang="en-US" sz="1400" b="1" dirty="0">
                  <a:solidFill>
                    <a:schemeClr val="bg1"/>
                  </a:solidFill>
                  <a:latin typeface="Century Gothic" pitchFamily="34" charset="0"/>
                </a:rPr>
                <a:t>Vishwakarma  Institute  of  Technology</a:t>
              </a:r>
            </a:p>
          </p:txBody>
        </p:sp>
        <p:sp>
          <p:nvSpPr>
            <p:cNvPr id="5" name="Text Box 14">
              <a:extLst>
                <a:ext uri="{FF2B5EF4-FFF2-40B4-BE49-F238E27FC236}">
                  <a16:creationId xmlns:lc="http://schemas.openxmlformats.org/drawingml/2006/lockedCanvas" xmlns="" xmlns:a16="http://schemas.microsoft.com/office/drawing/2014/main" id="{08D90372-4075-403D-BB31-3D2C4B3C58A2}"/>
                </a:ext>
              </a:extLst>
            </p:cNvPr>
            <p:cNvSpPr txBox="1">
              <a:spLocks noChangeArrowheads="1"/>
            </p:cNvSpPr>
            <p:nvPr/>
          </p:nvSpPr>
          <p:spPr bwMode="auto">
            <a:xfrm rot="16200000">
              <a:off x="-2314809" y="3472688"/>
              <a:ext cx="5562602" cy="293627"/>
            </a:xfrm>
            <a:prstGeom prst="rect">
              <a:avLst/>
            </a:prstGeom>
            <a:solidFill>
              <a:srgbClr val="FFFF99"/>
            </a:solidFill>
            <a:ln w="9525">
              <a:solidFill>
                <a:srgbClr val="002060"/>
              </a:solidFill>
              <a:miter lim="800000"/>
              <a:headEnd/>
              <a:tailEnd/>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50000"/>
                </a:spcBef>
              </a:pPr>
              <a:r>
                <a:rPr lang="en-US" sz="1100" b="1" dirty="0">
                  <a:solidFill>
                    <a:srgbClr val="002060"/>
                  </a:solidFill>
                  <a:latin typeface="Century Gothic" pitchFamily="34" charset="0"/>
                </a:rPr>
                <a:t>FY - Department of Engineering, Sciences and Humanities</a:t>
              </a:r>
            </a:p>
          </p:txBody>
        </p:sp>
      </p:grpSp>
      <p:pic>
        <p:nvPicPr>
          <p:cNvPr id="4098" name="Picture 2" descr="D:\Harshavardhan\datafolder\hmksave\hmk vit\VIT 2018-20\AY 20202021 New Robotics Course\1 RMC 1920 Theory Lectures PPTs Videos  and Notes etc\Images For Lect 5 Electrical Elex\BLDC motor internal.jpg"/>
          <p:cNvPicPr>
            <a:picLocks noChangeAspect="1" noChangeArrowheads="1"/>
          </p:cNvPicPr>
          <p:nvPr/>
        </p:nvPicPr>
        <p:blipFill>
          <a:blip r:embed="rId3" cstate="print"/>
          <a:srcRect/>
          <a:stretch>
            <a:fillRect/>
          </a:stretch>
        </p:blipFill>
        <p:spPr bwMode="auto">
          <a:xfrm>
            <a:off x="5105400" y="285750"/>
            <a:ext cx="3810000" cy="2375297"/>
          </a:xfrm>
          <a:prstGeom prst="rect">
            <a:avLst/>
          </a:prstGeom>
          <a:noFill/>
        </p:spPr>
      </p:pic>
      <p:pic>
        <p:nvPicPr>
          <p:cNvPr id="4099" name="Picture 3" descr="D:\Harshavardhan\datafolder\hmksave\hmk vit\VIT 2018-20\AY 20202021 New Robotics Course\1 RMC 1920 Theory Lectures PPTs Videos  and Notes etc\Images For Lect 5 Electrical Elex\BLDC internal.jpg"/>
          <p:cNvPicPr>
            <a:picLocks noChangeAspect="1" noChangeArrowheads="1"/>
          </p:cNvPicPr>
          <p:nvPr/>
        </p:nvPicPr>
        <p:blipFill>
          <a:blip r:embed="rId4" cstate="print"/>
          <a:srcRect/>
          <a:stretch>
            <a:fillRect/>
          </a:stretch>
        </p:blipFill>
        <p:spPr bwMode="auto">
          <a:xfrm>
            <a:off x="762000" y="2519362"/>
            <a:ext cx="3728358" cy="1957388"/>
          </a:xfrm>
          <a:prstGeom prst="rect">
            <a:avLst/>
          </a:prstGeom>
          <a:noFill/>
        </p:spPr>
      </p:pic>
      <p:pic>
        <p:nvPicPr>
          <p:cNvPr id="11" name="Picture 8" descr="D:\Harshavardhan\datafolder\hmksave\hmk vit\VIT 2018-20\AY 20202021 New Robotics Course\1 RMC 1920 Theory Lectures PPTs Videos  and Notes etc\Images For Lect 5 Electrical Elex\Hall effect sensor 3.gif"/>
          <p:cNvPicPr>
            <a:picLocks noChangeAspect="1" noChangeArrowheads="1"/>
          </p:cNvPicPr>
          <p:nvPr/>
        </p:nvPicPr>
        <p:blipFill>
          <a:blip r:embed="rId5" cstate="print"/>
          <a:srcRect/>
          <a:stretch>
            <a:fillRect/>
          </a:stretch>
        </p:blipFill>
        <p:spPr bwMode="auto">
          <a:xfrm>
            <a:off x="762000" y="209550"/>
            <a:ext cx="4059000" cy="3429000"/>
          </a:xfrm>
          <a:prstGeom prst="rect">
            <a:avLst/>
          </a:prstGeom>
          <a:noFill/>
        </p:spPr>
      </p:pic>
      <p:pic>
        <p:nvPicPr>
          <p:cNvPr id="12" name="Picture 3" descr="D:\Harshavardhan\datafolder\hmksave\hmk vit\VIT 2018-20\AY 20202021 New Robotics Course\1 RMC 1920 Theory Lectures PPTs Videos  and Notes etc\Images For Lect 5 Electrical Elex\Hall effect sensor A3144.jpg"/>
          <p:cNvPicPr>
            <a:picLocks noChangeAspect="1" noChangeArrowheads="1"/>
          </p:cNvPicPr>
          <p:nvPr/>
        </p:nvPicPr>
        <p:blipFill>
          <a:blip r:embed="rId6" cstate="print"/>
          <a:srcRect/>
          <a:stretch>
            <a:fillRect/>
          </a:stretch>
        </p:blipFill>
        <p:spPr bwMode="auto">
          <a:xfrm>
            <a:off x="4724400" y="2114550"/>
            <a:ext cx="4191000" cy="2286000"/>
          </a:xfrm>
          <a:prstGeom prst="rect">
            <a:avLst/>
          </a:prstGeom>
          <a:noFill/>
        </p:spPr>
      </p:pic>
      <p:sp>
        <p:nvSpPr>
          <p:cNvPr id="13" name="Rectangle 12"/>
          <p:cNvSpPr/>
          <p:nvPr/>
        </p:nvSpPr>
        <p:spPr>
          <a:xfrm rot="21037397">
            <a:off x="1705052" y="1045854"/>
            <a:ext cx="6121394" cy="2586542"/>
          </a:xfrm>
          <a:prstGeom prst="rect">
            <a:avLst/>
          </a:prstGeom>
          <a:solidFill>
            <a:schemeClr val="accent6">
              <a:lumMod val="40000"/>
              <a:lumOff val="60000"/>
            </a:schemeClr>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smtClean="0">
                <a:solidFill>
                  <a:srgbClr val="FF0000"/>
                </a:solidFill>
                <a:latin typeface="Arial" pitchFamily="34" charset="0"/>
                <a:ea typeface="Verdana" pitchFamily="34" charset="0"/>
                <a:cs typeface="Arial" pitchFamily="34" charset="0"/>
              </a:rPr>
              <a:t>Actuators – 3.4</a:t>
            </a:r>
            <a:endParaRPr lang="en-US" sz="4400" b="1" dirty="0" smtClean="0">
              <a:solidFill>
                <a:srgbClr val="FF0000"/>
              </a:solidFill>
              <a:latin typeface="Arial" pitchFamily="34" charset="0"/>
              <a:ea typeface="Verdana" pitchFamily="34" charset="0"/>
              <a:cs typeface="Arial" pitchFamily="34" charset="0"/>
            </a:endParaRPr>
          </a:p>
          <a:p>
            <a:pPr algn="ctr"/>
            <a:r>
              <a:rPr lang="en-US" sz="3600" b="1" dirty="0" smtClean="0">
                <a:solidFill>
                  <a:srgbClr val="0000FF"/>
                </a:solidFill>
                <a:latin typeface="Arial" pitchFamily="34" charset="0"/>
                <a:ea typeface="Verdana" pitchFamily="34" charset="0"/>
                <a:cs typeface="Arial" pitchFamily="34" charset="0"/>
              </a:rPr>
              <a:t>Brushless DC Motors</a:t>
            </a:r>
          </a:p>
          <a:p>
            <a:pPr algn="ctr"/>
            <a:r>
              <a:rPr lang="en-US" sz="4800" b="1" dirty="0" smtClean="0">
                <a:solidFill>
                  <a:srgbClr val="0000FF"/>
                </a:solidFill>
                <a:latin typeface="Arial" pitchFamily="34" charset="0"/>
                <a:ea typeface="Verdana" pitchFamily="34" charset="0"/>
                <a:cs typeface="Arial" pitchFamily="34" charset="0"/>
              </a:rPr>
              <a:t>Thanks !</a:t>
            </a:r>
          </a:p>
          <a:p>
            <a:pPr algn="ctr"/>
            <a:endParaRPr lang="en-US" sz="1200" b="1" dirty="0" smtClean="0">
              <a:solidFill>
                <a:schemeClr val="accent3">
                  <a:lumMod val="50000"/>
                </a:schemeClr>
              </a:solidFill>
              <a:latin typeface="Arial" pitchFamily="34" charset="0"/>
              <a:ea typeface="Verdana" pitchFamily="34" charset="0"/>
              <a:cs typeface="Arial" pitchFamily="34" charset="0"/>
            </a:endParaRPr>
          </a:p>
          <a:p>
            <a:pPr algn="ctr"/>
            <a:r>
              <a:rPr lang="en-US" sz="2400" b="1" dirty="0" smtClean="0">
                <a:solidFill>
                  <a:schemeClr val="accent3">
                    <a:lumMod val="50000"/>
                  </a:schemeClr>
                </a:solidFill>
                <a:latin typeface="Arial" pitchFamily="34" charset="0"/>
                <a:ea typeface="Verdana" pitchFamily="34" charset="0"/>
                <a:cs typeface="Arial" pitchFamily="34" charset="0"/>
              </a:rPr>
              <a:t>FY – </a:t>
            </a:r>
            <a:r>
              <a:rPr lang="en-US" sz="2400" b="1" dirty="0" err="1" smtClean="0">
                <a:solidFill>
                  <a:schemeClr val="accent3">
                    <a:lumMod val="50000"/>
                  </a:schemeClr>
                </a:solidFill>
                <a:latin typeface="Arial" pitchFamily="34" charset="0"/>
                <a:ea typeface="Verdana" pitchFamily="34" charset="0"/>
                <a:cs typeface="Arial" pitchFamily="34" charset="0"/>
              </a:rPr>
              <a:t>DESH</a:t>
            </a:r>
            <a:r>
              <a:rPr lang="en-US" sz="2400" b="1" dirty="0" smtClean="0">
                <a:solidFill>
                  <a:schemeClr val="accent3">
                    <a:lumMod val="50000"/>
                  </a:schemeClr>
                </a:solidFill>
                <a:latin typeface="Arial" pitchFamily="34" charset="0"/>
                <a:ea typeface="Verdana" pitchFamily="34" charset="0"/>
                <a:cs typeface="Arial" pitchFamily="34" charset="0"/>
              </a:rPr>
              <a:t> – </a:t>
            </a:r>
            <a:r>
              <a:rPr lang="en-US" sz="2400" b="1" dirty="0" err="1" smtClean="0">
                <a:solidFill>
                  <a:schemeClr val="accent3">
                    <a:lumMod val="50000"/>
                  </a:schemeClr>
                </a:solidFill>
                <a:latin typeface="Arial" pitchFamily="34" charset="0"/>
                <a:ea typeface="Verdana" pitchFamily="34" charset="0"/>
                <a:cs typeface="Arial" pitchFamily="34" charset="0"/>
              </a:rPr>
              <a:t>VIT</a:t>
            </a:r>
            <a:endParaRPr lang="en-US" sz="2400" b="1" dirty="0" smtClean="0">
              <a:solidFill>
                <a:schemeClr val="accent3">
                  <a:lumMod val="50000"/>
                </a:schemeClr>
              </a:solidFill>
              <a:latin typeface="Arial" pitchFamily="34" charset="0"/>
              <a:ea typeface="Verdana" pitchFamily="34" charset="0"/>
              <a:cs typeface="Arial" pitchFamily="34" charset="0"/>
            </a:endParaRPr>
          </a:p>
          <a:p>
            <a:pPr algn="ctr"/>
            <a:endParaRPr lang="en-US" sz="700" b="1" dirty="0">
              <a:solidFill>
                <a:srgbClr val="FF0000"/>
              </a:solidFill>
              <a:latin typeface="Verdana" pitchFamily="34" charset="0"/>
              <a:ea typeface="Verdana" pitchFamily="34" charset="0"/>
              <a:cs typeface="Verdana"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iterate type="lt">
                                    <p:tmPct val="5000"/>
                                  </p:iterate>
                                  <p:childTnLst>
                                    <p:set>
                                      <p:cBhvr>
                                        <p:cTn id="6" dur="1" fill="hold">
                                          <p:stCondLst>
                                            <p:cond delay="0"/>
                                          </p:stCondLst>
                                        </p:cTn>
                                        <p:tgtEl>
                                          <p:spTgt spid="11"/>
                                        </p:tgtEl>
                                        <p:attrNameLst>
                                          <p:attrName>style.visibility</p:attrName>
                                        </p:attrNameLst>
                                      </p:cBhvr>
                                      <p:to>
                                        <p:strVal val="visible"/>
                                      </p:to>
                                    </p:set>
                                    <p:anim calcmode="lin" valueType="num">
                                      <p:cBhvr>
                                        <p:cTn id="7" dur="1000" fill="hold"/>
                                        <p:tgtEl>
                                          <p:spTgt spid="11"/>
                                        </p:tgtEl>
                                        <p:attrNameLst>
                                          <p:attrName>ppt_w</p:attrName>
                                        </p:attrNameLst>
                                      </p:cBhvr>
                                      <p:tavLst>
                                        <p:tav tm="0">
                                          <p:val>
                                            <p:fltVal val="0"/>
                                          </p:val>
                                        </p:tav>
                                        <p:tav tm="100000">
                                          <p:val>
                                            <p:strVal val="#ppt_w"/>
                                          </p:val>
                                        </p:tav>
                                      </p:tavLst>
                                    </p:anim>
                                    <p:anim calcmode="lin" valueType="num">
                                      <p:cBhvr>
                                        <p:cTn id="8" dur="1000" fill="hold"/>
                                        <p:tgtEl>
                                          <p:spTgt spid="11"/>
                                        </p:tgtEl>
                                        <p:attrNameLst>
                                          <p:attrName>ppt_h</p:attrName>
                                        </p:attrNameLst>
                                      </p:cBhvr>
                                      <p:tavLst>
                                        <p:tav tm="0">
                                          <p:val>
                                            <p:fltVal val="0"/>
                                          </p:val>
                                        </p:tav>
                                        <p:tav tm="100000">
                                          <p:val>
                                            <p:strVal val="#ppt_h"/>
                                          </p:val>
                                        </p:tav>
                                      </p:tavLst>
                                    </p:anim>
                                    <p:anim calcmode="lin" valueType="num">
                                      <p:cBhvr>
                                        <p:cTn id="9" dur="1000" fill="hold"/>
                                        <p:tgtEl>
                                          <p:spTgt spid="11"/>
                                        </p:tgtEl>
                                        <p:attrNameLst>
                                          <p:attrName>style.rotation</p:attrName>
                                        </p:attrNameLst>
                                      </p:cBhvr>
                                      <p:tavLst>
                                        <p:tav tm="0">
                                          <p:val>
                                            <p:fltVal val="90"/>
                                          </p:val>
                                        </p:tav>
                                        <p:tav tm="100000">
                                          <p:val>
                                            <p:fltVal val="0"/>
                                          </p:val>
                                        </p:tav>
                                      </p:tavLst>
                                    </p:anim>
                                    <p:animEffect transition="in" filter="fade">
                                      <p:cBhvr>
                                        <p:cTn id="10" dur="1000"/>
                                        <p:tgtEl>
                                          <p:spTgt spid="11"/>
                                        </p:tgtEl>
                                      </p:cBhvr>
                                    </p:animEffect>
                                  </p:childTnLst>
                                </p:cTn>
                              </p:par>
                            </p:childTnLst>
                          </p:cTn>
                        </p:par>
                        <p:par>
                          <p:cTn id="11" fill="hold">
                            <p:stCondLst>
                              <p:cond delay="1000"/>
                            </p:stCondLst>
                            <p:childTnLst>
                              <p:par>
                                <p:cTn id="12" presetID="31" presetClass="entr" presetSubtype="0" fill="hold" nodeType="afterEffect">
                                  <p:stCondLst>
                                    <p:cond delay="0"/>
                                  </p:stCondLst>
                                  <p:iterate type="lt">
                                    <p:tmPct val="5000"/>
                                  </p:iterate>
                                  <p:childTnLst>
                                    <p:set>
                                      <p:cBhvr>
                                        <p:cTn id="13" dur="1" fill="hold">
                                          <p:stCondLst>
                                            <p:cond delay="0"/>
                                          </p:stCondLst>
                                        </p:cTn>
                                        <p:tgtEl>
                                          <p:spTgt spid="4098"/>
                                        </p:tgtEl>
                                        <p:attrNameLst>
                                          <p:attrName>style.visibility</p:attrName>
                                        </p:attrNameLst>
                                      </p:cBhvr>
                                      <p:to>
                                        <p:strVal val="visible"/>
                                      </p:to>
                                    </p:set>
                                    <p:anim calcmode="lin" valueType="num">
                                      <p:cBhvr>
                                        <p:cTn id="14" dur="1000" fill="hold"/>
                                        <p:tgtEl>
                                          <p:spTgt spid="4098"/>
                                        </p:tgtEl>
                                        <p:attrNameLst>
                                          <p:attrName>ppt_w</p:attrName>
                                        </p:attrNameLst>
                                      </p:cBhvr>
                                      <p:tavLst>
                                        <p:tav tm="0">
                                          <p:val>
                                            <p:fltVal val="0"/>
                                          </p:val>
                                        </p:tav>
                                        <p:tav tm="100000">
                                          <p:val>
                                            <p:strVal val="#ppt_w"/>
                                          </p:val>
                                        </p:tav>
                                      </p:tavLst>
                                    </p:anim>
                                    <p:anim calcmode="lin" valueType="num">
                                      <p:cBhvr>
                                        <p:cTn id="15" dur="1000" fill="hold"/>
                                        <p:tgtEl>
                                          <p:spTgt spid="4098"/>
                                        </p:tgtEl>
                                        <p:attrNameLst>
                                          <p:attrName>ppt_h</p:attrName>
                                        </p:attrNameLst>
                                      </p:cBhvr>
                                      <p:tavLst>
                                        <p:tav tm="0">
                                          <p:val>
                                            <p:fltVal val="0"/>
                                          </p:val>
                                        </p:tav>
                                        <p:tav tm="100000">
                                          <p:val>
                                            <p:strVal val="#ppt_h"/>
                                          </p:val>
                                        </p:tav>
                                      </p:tavLst>
                                    </p:anim>
                                    <p:anim calcmode="lin" valueType="num">
                                      <p:cBhvr>
                                        <p:cTn id="16" dur="1000" fill="hold"/>
                                        <p:tgtEl>
                                          <p:spTgt spid="4098"/>
                                        </p:tgtEl>
                                        <p:attrNameLst>
                                          <p:attrName>style.rotation</p:attrName>
                                        </p:attrNameLst>
                                      </p:cBhvr>
                                      <p:tavLst>
                                        <p:tav tm="0">
                                          <p:val>
                                            <p:fltVal val="90"/>
                                          </p:val>
                                        </p:tav>
                                        <p:tav tm="100000">
                                          <p:val>
                                            <p:fltVal val="0"/>
                                          </p:val>
                                        </p:tav>
                                      </p:tavLst>
                                    </p:anim>
                                    <p:animEffect transition="in" filter="fade">
                                      <p:cBhvr>
                                        <p:cTn id="17" dur="1000"/>
                                        <p:tgtEl>
                                          <p:spTgt spid="4098"/>
                                        </p:tgtEl>
                                      </p:cBhvr>
                                    </p:animEffect>
                                  </p:childTnLst>
                                </p:cTn>
                              </p:par>
                            </p:childTnLst>
                          </p:cTn>
                        </p:par>
                        <p:par>
                          <p:cTn id="18" fill="hold">
                            <p:stCondLst>
                              <p:cond delay="2000"/>
                            </p:stCondLst>
                            <p:childTnLst>
                              <p:par>
                                <p:cTn id="19" presetID="31" presetClass="entr" presetSubtype="0" fill="hold" nodeType="afterEffect">
                                  <p:stCondLst>
                                    <p:cond delay="0"/>
                                  </p:stCondLst>
                                  <p:iterate type="lt">
                                    <p:tmPct val="5000"/>
                                  </p:iterate>
                                  <p:childTnLst>
                                    <p:set>
                                      <p:cBhvr>
                                        <p:cTn id="20" dur="1" fill="hold">
                                          <p:stCondLst>
                                            <p:cond delay="0"/>
                                          </p:stCondLst>
                                        </p:cTn>
                                        <p:tgtEl>
                                          <p:spTgt spid="12"/>
                                        </p:tgtEl>
                                        <p:attrNameLst>
                                          <p:attrName>style.visibility</p:attrName>
                                        </p:attrNameLst>
                                      </p:cBhvr>
                                      <p:to>
                                        <p:strVal val="visible"/>
                                      </p:to>
                                    </p:set>
                                    <p:anim calcmode="lin" valueType="num">
                                      <p:cBhvr>
                                        <p:cTn id="21" dur="1000" fill="hold"/>
                                        <p:tgtEl>
                                          <p:spTgt spid="12"/>
                                        </p:tgtEl>
                                        <p:attrNameLst>
                                          <p:attrName>ppt_w</p:attrName>
                                        </p:attrNameLst>
                                      </p:cBhvr>
                                      <p:tavLst>
                                        <p:tav tm="0">
                                          <p:val>
                                            <p:fltVal val="0"/>
                                          </p:val>
                                        </p:tav>
                                        <p:tav tm="100000">
                                          <p:val>
                                            <p:strVal val="#ppt_w"/>
                                          </p:val>
                                        </p:tav>
                                      </p:tavLst>
                                    </p:anim>
                                    <p:anim calcmode="lin" valueType="num">
                                      <p:cBhvr>
                                        <p:cTn id="22" dur="1000" fill="hold"/>
                                        <p:tgtEl>
                                          <p:spTgt spid="12"/>
                                        </p:tgtEl>
                                        <p:attrNameLst>
                                          <p:attrName>ppt_h</p:attrName>
                                        </p:attrNameLst>
                                      </p:cBhvr>
                                      <p:tavLst>
                                        <p:tav tm="0">
                                          <p:val>
                                            <p:fltVal val="0"/>
                                          </p:val>
                                        </p:tav>
                                        <p:tav tm="100000">
                                          <p:val>
                                            <p:strVal val="#ppt_h"/>
                                          </p:val>
                                        </p:tav>
                                      </p:tavLst>
                                    </p:anim>
                                    <p:anim calcmode="lin" valueType="num">
                                      <p:cBhvr>
                                        <p:cTn id="23" dur="1000" fill="hold"/>
                                        <p:tgtEl>
                                          <p:spTgt spid="12"/>
                                        </p:tgtEl>
                                        <p:attrNameLst>
                                          <p:attrName>style.rotation</p:attrName>
                                        </p:attrNameLst>
                                      </p:cBhvr>
                                      <p:tavLst>
                                        <p:tav tm="0">
                                          <p:val>
                                            <p:fltVal val="90"/>
                                          </p:val>
                                        </p:tav>
                                        <p:tav tm="100000">
                                          <p:val>
                                            <p:fltVal val="0"/>
                                          </p:val>
                                        </p:tav>
                                      </p:tavLst>
                                    </p:anim>
                                    <p:animEffect transition="in" filter="fade">
                                      <p:cBhvr>
                                        <p:cTn id="24" dur="1000"/>
                                        <p:tgtEl>
                                          <p:spTgt spid="12"/>
                                        </p:tgtEl>
                                      </p:cBhvr>
                                    </p:animEffect>
                                  </p:childTnLst>
                                </p:cTn>
                              </p:par>
                            </p:childTnLst>
                          </p:cTn>
                        </p:par>
                        <p:par>
                          <p:cTn id="25" fill="hold">
                            <p:stCondLst>
                              <p:cond delay="3000"/>
                            </p:stCondLst>
                            <p:childTnLst>
                              <p:par>
                                <p:cTn id="26" presetID="31" presetClass="entr" presetSubtype="0" fill="hold" nodeType="afterEffect">
                                  <p:stCondLst>
                                    <p:cond delay="0"/>
                                  </p:stCondLst>
                                  <p:iterate type="lt">
                                    <p:tmPct val="5000"/>
                                  </p:iterate>
                                  <p:childTnLst>
                                    <p:set>
                                      <p:cBhvr>
                                        <p:cTn id="27" dur="1" fill="hold">
                                          <p:stCondLst>
                                            <p:cond delay="0"/>
                                          </p:stCondLst>
                                        </p:cTn>
                                        <p:tgtEl>
                                          <p:spTgt spid="4099"/>
                                        </p:tgtEl>
                                        <p:attrNameLst>
                                          <p:attrName>style.visibility</p:attrName>
                                        </p:attrNameLst>
                                      </p:cBhvr>
                                      <p:to>
                                        <p:strVal val="visible"/>
                                      </p:to>
                                    </p:set>
                                    <p:anim calcmode="lin" valueType="num">
                                      <p:cBhvr>
                                        <p:cTn id="28" dur="1000" fill="hold"/>
                                        <p:tgtEl>
                                          <p:spTgt spid="4099"/>
                                        </p:tgtEl>
                                        <p:attrNameLst>
                                          <p:attrName>ppt_w</p:attrName>
                                        </p:attrNameLst>
                                      </p:cBhvr>
                                      <p:tavLst>
                                        <p:tav tm="0">
                                          <p:val>
                                            <p:fltVal val="0"/>
                                          </p:val>
                                        </p:tav>
                                        <p:tav tm="100000">
                                          <p:val>
                                            <p:strVal val="#ppt_w"/>
                                          </p:val>
                                        </p:tav>
                                      </p:tavLst>
                                    </p:anim>
                                    <p:anim calcmode="lin" valueType="num">
                                      <p:cBhvr>
                                        <p:cTn id="29" dur="1000" fill="hold"/>
                                        <p:tgtEl>
                                          <p:spTgt spid="4099"/>
                                        </p:tgtEl>
                                        <p:attrNameLst>
                                          <p:attrName>ppt_h</p:attrName>
                                        </p:attrNameLst>
                                      </p:cBhvr>
                                      <p:tavLst>
                                        <p:tav tm="0">
                                          <p:val>
                                            <p:fltVal val="0"/>
                                          </p:val>
                                        </p:tav>
                                        <p:tav tm="100000">
                                          <p:val>
                                            <p:strVal val="#ppt_h"/>
                                          </p:val>
                                        </p:tav>
                                      </p:tavLst>
                                    </p:anim>
                                    <p:anim calcmode="lin" valueType="num">
                                      <p:cBhvr>
                                        <p:cTn id="30" dur="1000" fill="hold"/>
                                        <p:tgtEl>
                                          <p:spTgt spid="4099"/>
                                        </p:tgtEl>
                                        <p:attrNameLst>
                                          <p:attrName>style.rotation</p:attrName>
                                        </p:attrNameLst>
                                      </p:cBhvr>
                                      <p:tavLst>
                                        <p:tav tm="0">
                                          <p:val>
                                            <p:fltVal val="90"/>
                                          </p:val>
                                        </p:tav>
                                        <p:tav tm="100000">
                                          <p:val>
                                            <p:fltVal val="0"/>
                                          </p:val>
                                        </p:tav>
                                      </p:tavLst>
                                    </p:anim>
                                    <p:animEffect transition="in" filter="fade">
                                      <p:cBhvr>
                                        <p:cTn id="31" dur="1000"/>
                                        <p:tgtEl>
                                          <p:spTgt spid="4099"/>
                                        </p:tgtEl>
                                      </p:cBhvr>
                                    </p:animEffect>
                                  </p:childTnLst>
                                </p:cTn>
                              </p:par>
                            </p:childTnLst>
                          </p:cTn>
                        </p:par>
                        <p:par>
                          <p:cTn id="32" fill="hold">
                            <p:stCondLst>
                              <p:cond delay="4000"/>
                            </p:stCondLst>
                            <p:childTnLst>
                              <p:par>
                                <p:cTn id="33" presetID="49" presetClass="entr" presetSubtype="0" decel="100000" fill="hold" grpId="0" nodeType="afterEffect">
                                  <p:stCondLst>
                                    <p:cond delay="0"/>
                                  </p:stCondLst>
                                  <p:childTnLst>
                                    <p:set>
                                      <p:cBhvr>
                                        <p:cTn id="34" dur="1" fill="hold">
                                          <p:stCondLst>
                                            <p:cond delay="0"/>
                                          </p:stCondLst>
                                        </p:cTn>
                                        <p:tgtEl>
                                          <p:spTgt spid="13"/>
                                        </p:tgtEl>
                                        <p:attrNameLst>
                                          <p:attrName>style.visibility</p:attrName>
                                        </p:attrNameLst>
                                      </p:cBhvr>
                                      <p:to>
                                        <p:strVal val="visible"/>
                                      </p:to>
                                    </p:set>
                                    <p:anim calcmode="lin" valueType="num">
                                      <p:cBhvr>
                                        <p:cTn id="35" dur="2000" fill="hold"/>
                                        <p:tgtEl>
                                          <p:spTgt spid="13"/>
                                        </p:tgtEl>
                                        <p:attrNameLst>
                                          <p:attrName>ppt_w</p:attrName>
                                        </p:attrNameLst>
                                      </p:cBhvr>
                                      <p:tavLst>
                                        <p:tav tm="0">
                                          <p:val>
                                            <p:fltVal val="0"/>
                                          </p:val>
                                        </p:tav>
                                        <p:tav tm="100000">
                                          <p:val>
                                            <p:strVal val="#ppt_w"/>
                                          </p:val>
                                        </p:tav>
                                      </p:tavLst>
                                    </p:anim>
                                    <p:anim calcmode="lin" valueType="num">
                                      <p:cBhvr>
                                        <p:cTn id="36" dur="2000" fill="hold"/>
                                        <p:tgtEl>
                                          <p:spTgt spid="13"/>
                                        </p:tgtEl>
                                        <p:attrNameLst>
                                          <p:attrName>ppt_h</p:attrName>
                                        </p:attrNameLst>
                                      </p:cBhvr>
                                      <p:tavLst>
                                        <p:tav tm="0">
                                          <p:val>
                                            <p:fltVal val="0"/>
                                          </p:val>
                                        </p:tav>
                                        <p:tav tm="100000">
                                          <p:val>
                                            <p:strVal val="#ppt_h"/>
                                          </p:val>
                                        </p:tav>
                                      </p:tavLst>
                                    </p:anim>
                                    <p:anim calcmode="lin" valueType="num">
                                      <p:cBhvr>
                                        <p:cTn id="37" dur="2000" fill="hold"/>
                                        <p:tgtEl>
                                          <p:spTgt spid="13"/>
                                        </p:tgtEl>
                                        <p:attrNameLst>
                                          <p:attrName>style.rotation</p:attrName>
                                        </p:attrNameLst>
                                      </p:cBhvr>
                                      <p:tavLst>
                                        <p:tav tm="0">
                                          <p:val>
                                            <p:fltVal val="360"/>
                                          </p:val>
                                        </p:tav>
                                        <p:tav tm="100000">
                                          <p:val>
                                            <p:fltVal val="0"/>
                                          </p:val>
                                        </p:tav>
                                      </p:tavLst>
                                    </p:anim>
                                    <p:animEffect transition="in" filter="fade">
                                      <p:cBhvr>
                                        <p:cTn id="38" dur="2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1639</TotalTime>
  <Words>924</Words>
  <Application>Microsoft Office PowerPoint</Application>
  <PresentationFormat>On-screen Show (16:9)</PresentationFormat>
  <Paragraphs>170</Paragraphs>
  <Slides>22</Slides>
  <Notes>0</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Devashree</dc:creator>
  <cp:lastModifiedBy>hp</cp:lastModifiedBy>
  <cp:revision>42</cp:revision>
  <dcterms:created xsi:type="dcterms:W3CDTF">2006-08-16T00:00:00Z</dcterms:created>
  <dcterms:modified xsi:type="dcterms:W3CDTF">2022-02-14T09:44:21Z</dcterms:modified>
</cp:coreProperties>
</file>