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10" r:id="rId2"/>
    <p:sldId id="306" r:id="rId3"/>
    <p:sldId id="312" r:id="rId4"/>
    <p:sldId id="313" r:id="rId5"/>
    <p:sldId id="314" r:id="rId6"/>
    <p:sldId id="315" r:id="rId7"/>
    <p:sldId id="316" r:id="rId8"/>
    <p:sldId id="317" r:id="rId9"/>
    <p:sldId id="318" r:id="rId10"/>
    <p:sldId id="319" r:id="rId11"/>
    <p:sldId id="320" r:id="rId12"/>
    <p:sldId id="321" r:id="rId13"/>
    <p:sldId id="322" r:id="rId14"/>
    <p:sldId id="323" r:id="rId15"/>
    <p:sldId id="32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BC3C5"/>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1330" y="4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D659F3-4A69-4636-B6B1-88181D9BEE22}" type="datetimeFigureOut">
              <a:rPr lang="en-IN" smtClean="0"/>
              <a:t>04-12-2024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755740-3FE1-4B72-80EA-65557F92FBBE}" type="slidenum">
              <a:rPr lang="en-IN" smtClean="0"/>
              <a:t>‹#›</a:t>
            </a:fld>
            <a:endParaRPr lang="en-IN"/>
          </a:p>
        </p:txBody>
      </p:sp>
    </p:spTree>
    <p:extLst>
      <p:ext uri="{BB962C8B-B14F-4D97-AF65-F5344CB8AC3E}">
        <p14:creationId xmlns:p14="http://schemas.microsoft.com/office/powerpoint/2010/main" val="2635724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8755740-3FE1-4B72-80EA-65557F92FBBE}" type="slidenum">
              <a:rPr lang="en-IN" smtClean="0"/>
              <a:t>5</a:t>
            </a:fld>
            <a:endParaRPr lang="en-IN"/>
          </a:p>
        </p:txBody>
      </p:sp>
    </p:spTree>
    <p:extLst>
      <p:ext uri="{BB962C8B-B14F-4D97-AF65-F5344CB8AC3E}">
        <p14:creationId xmlns:p14="http://schemas.microsoft.com/office/powerpoint/2010/main" val="2381474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542C6-A42B-9A2C-BB43-1B86755F9B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621413F-A1E7-0F70-E5C2-6A2354C4B6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77B37B-117F-AEB0-06B4-B92ED233772B}"/>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5" name="Footer Placeholder 4">
            <a:extLst>
              <a:ext uri="{FF2B5EF4-FFF2-40B4-BE49-F238E27FC236}">
                <a16:creationId xmlns:a16="http://schemas.microsoft.com/office/drawing/2014/main" id="{CDABE0DC-9EDC-366D-C38E-D8A1EE6886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6EFC2F-0736-F7AA-CF8A-1F568B8AB7A8}"/>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370889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D51AE-69A2-FCD5-B74A-64D5B3FC0C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845D0D-EE6C-47C0-CA64-B15774850B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9356D7-BC14-86C6-ABA8-D3DE1E804890}"/>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5" name="Footer Placeholder 4">
            <a:extLst>
              <a:ext uri="{FF2B5EF4-FFF2-40B4-BE49-F238E27FC236}">
                <a16:creationId xmlns:a16="http://schemas.microsoft.com/office/drawing/2014/main" id="{AE417D88-9040-7578-C5FD-84B93AFEF8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7CEA5C-F184-9459-A1B1-3851EF8898AF}"/>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21217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B62B-3428-87F9-A655-C650D9C9F9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DAEFAF-EDD0-FF59-8258-C6509580DB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7FD579-CB9B-99D5-C4D1-32FBC3FE6510}"/>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5" name="Footer Placeholder 4">
            <a:extLst>
              <a:ext uri="{FF2B5EF4-FFF2-40B4-BE49-F238E27FC236}">
                <a16:creationId xmlns:a16="http://schemas.microsoft.com/office/drawing/2014/main" id="{FCA4F0A6-E0B5-B835-0486-6C07529608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F48018-A0C9-1691-1404-8D947488D4EE}"/>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1148931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906BA-96D1-7BBB-3C82-C0EDBD2619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31C4B5-5332-1B08-05B6-B502846DC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7A69E9-8A79-447E-CFC0-D132190734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AC02CD-680A-71F5-DDBA-A5A1211F9621}"/>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6" name="Footer Placeholder 5">
            <a:extLst>
              <a:ext uri="{FF2B5EF4-FFF2-40B4-BE49-F238E27FC236}">
                <a16:creationId xmlns:a16="http://schemas.microsoft.com/office/drawing/2014/main" id="{04F2DA7C-B0A8-CB91-46ED-2359762E94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D5508C-3241-DCE1-08A1-6EBE9E184B7F}"/>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504873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BFDC9-24B4-D146-45BA-D9602A8439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59494-39BD-A790-A6A2-C28F5856F2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0F2CE7-7448-6C81-D896-6BC76E7A1B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69DCA92-2DF0-28A5-A3EA-B602C00999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432A99-3729-728C-39F4-560C84714E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C71EC9-1B62-3E8E-8C16-292F046D3383}"/>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8" name="Footer Placeholder 7">
            <a:extLst>
              <a:ext uri="{FF2B5EF4-FFF2-40B4-BE49-F238E27FC236}">
                <a16:creationId xmlns:a16="http://schemas.microsoft.com/office/drawing/2014/main" id="{CE17F8F0-AE35-1D1F-7890-E8FC41E727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ED4296-90EA-F1A7-934B-576EB516D14E}"/>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1503247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2061-CDD2-5264-5B8B-D3FC8FDF96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9828CA-01BD-40F5-1D9B-F4324C2AC3B1}"/>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4" name="Footer Placeholder 3">
            <a:extLst>
              <a:ext uri="{FF2B5EF4-FFF2-40B4-BE49-F238E27FC236}">
                <a16:creationId xmlns:a16="http://schemas.microsoft.com/office/drawing/2014/main" id="{83A76810-3565-08C7-CA80-8565EB50CC6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14DD6A-863A-984B-55DC-C35811691076}"/>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1998535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643678-58E2-AF00-8AD9-1FA54E6D3365}"/>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3" name="Footer Placeholder 2">
            <a:extLst>
              <a:ext uri="{FF2B5EF4-FFF2-40B4-BE49-F238E27FC236}">
                <a16:creationId xmlns:a16="http://schemas.microsoft.com/office/drawing/2014/main" id="{D647AFF6-22E2-B3FE-0616-6FB0D849E3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464D8F-9ADF-3459-3260-799DEA4810A3}"/>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1686905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FF2C-8D69-578B-8C99-C9774BFA7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0A91AB-1A79-C842-2BE1-D6DCD7C12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CE2A40-672E-FCB4-A6AD-D6BB79D53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49FBC5-7E52-5723-03B3-A562D7A26808}"/>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6" name="Footer Placeholder 5">
            <a:extLst>
              <a:ext uri="{FF2B5EF4-FFF2-40B4-BE49-F238E27FC236}">
                <a16:creationId xmlns:a16="http://schemas.microsoft.com/office/drawing/2014/main" id="{7B3A94FB-ED59-AE8F-4E51-84EACC81DB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2CDAAE-0300-763B-B4B8-59F24EDAAF90}"/>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3158043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033A9-A5F0-C72C-E3E7-07DF175C24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9D5FEB5-52F7-E727-09B2-51A09B6B9D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FF1554D-68D9-415D-63EE-B7475D556E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632F5E-867F-66EE-10AF-E5BAC193DF0B}"/>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6" name="Footer Placeholder 5">
            <a:extLst>
              <a:ext uri="{FF2B5EF4-FFF2-40B4-BE49-F238E27FC236}">
                <a16:creationId xmlns:a16="http://schemas.microsoft.com/office/drawing/2014/main" id="{C49183E5-BE90-E0E6-7199-8B7CC77DA2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F48F6E-3C60-3EB8-98DB-3B8B29BA5778}"/>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944009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9D75-D993-3545-DA56-A6A1DCFEDF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2CCB1F-7E0A-3A91-E714-6536DD5789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BBA38E-CA08-302C-8858-5B013ED7D9FA}"/>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5" name="Footer Placeholder 4">
            <a:extLst>
              <a:ext uri="{FF2B5EF4-FFF2-40B4-BE49-F238E27FC236}">
                <a16:creationId xmlns:a16="http://schemas.microsoft.com/office/drawing/2014/main" id="{14D8F8CF-0765-5A6F-DF7A-A672398004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84F311-FD52-FB10-AE12-0BC097057228}"/>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2209004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C47E9E-4D84-2FE5-C212-109EECFF08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2185FB-27FC-FF4F-8CDB-D84BE239B4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8B5557-1ABE-E36C-D592-32FBC4867C0C}"/>
              </a:ext>
            </a:extLst>
          </p:cNvPr>
          <p:cNvSpPr>
            <a:spLocks noGrp="1"/>
          </p:cNvSpPr>
          <p:nvPr>
            <p:ph type="dt" sz="half" idx="10"/>
          </p:nvPr>
        </p:nvSpPr>
        <p:spPr/>
        <p:txBody>
          <a:bodyPr/>
          <a:lstStyle/>
          <a:p>
            <a:fld id="{54C134FD-CBE6-4B3F-8F3B-C70158A0D090}" type="datetimeFigureOut">
              <a:rPr lang="en-IN" smtClean="0"/>
              <a:t>04-12-2024</a:t>
            </a:fld>
            <a:endParaRPr lang="en-IN"/>
          </a:p>
        </p:txBody>
      </p:sp>
      <p:sp>
        <p:nvSpPr>
          <p:cNvPr id="5" name="Footer Placeholder 4">
            <a:extLst>
              <a:ext uri="{FF2B5EF4-FFF2-40B4-BE49-F238E27FC236}">
                <a16:creationId xmlns:a16="http://schemas.microsoft.com/office/drawing/2014/main" id="{ACF65F6D-CF92-1627-8906-6ADA2CD31A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A73906-0331-EDAE-2321-5E63A115BBDC}"/>
              </a:ext>
            </a:extLst>
          </p:cNvPr>
          <p:cNvSpPr>
            <a:spLocks noGrp="1"/>
          </p:cNvSpPr>
          <p:nvPr>
            <p:ph type="sldNum" sz="quarter" idx="12"/>
          </p:nvPr>
        </p:nvSpPr>
        <p:spPr/>
        <p:txBody>
          <a:bodyPr/>
          <a:lstStyle/>
          <a:p>
            <a:fld id="{983A1B67-EF65-4C3F-AE61-7E6551CE6B0F}" type="slidenum">
              <a:rPr lang="en-IN" smtClean="0"/>
              <a:t>‹#›</a:t>
            </a:fld>
            <a:endParaRPr lang="en-IN"/>
          </a:p>
        </p:txBody>
      </p:sp>
    </p:spTree>
    <p:extLst>
      <p:ext uri="{BB962C8B-B14F-4D97-AF65-F5344CB8AC3E}">
        <p14:creationId xmlns:p14="http://schemas.microsoft.com/office/powerpoint/2010/main" val="331806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EB68B1-32AB-CD23-04B7-280D681BC6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1B9215-5176-28C8-95F4-6F72D1812B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1AB7C5-1132-9DC0-E342-1141E58A3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C134FD-CBE6-4B3F-8F3B-C70158A0D090}" type="datetimeFigureOut">
              <a:rPr lang="en-IN" smtClean="0"/>
              <a:t>04-12-2024</a:t>
            </a:fld>
            <a:endParaRPr lang="en-IN"/>
          </a:p>
        </p:txBody>
      </p:sp>
      <p:sp>
        <p:nvSpPr>
          <p:cNvPr id="5" name="Footer Placeholder 4">
            <a:extLst>
              <a:ext uri="{FF2B5EF4-FFF2-40B4-BE49-F238E27FC236}">
                <a16:creationId xmlns:a16="http://schemas.microsoft.com/office/drawing/2014/main" id="{0E11E705-C4C2-CD0E-34EA-D5028C630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1FF89D9-9705-DB13-BA74-EC1389BFD1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3A1B67-EF65-4C3F-AE61-7E6551CE6B0F}" type="slidenum">
              <a:rPr lang="en-IN" smtClean="0"/>
              <a:t>‹#›</a:t>
            </a:fld>
            <a:endParaRPr lang="en-IN"/>
          </a:p>
        </p:txBody>
      </p:sp>
    </p:spTree>
    <p:extLst>
      <p:ext uri="{BB962C8B-B14F-4D97-AF65-F5344CB8AC3E}">
        <p14:creationId xmlns:p14="http://schemas.microsoft.com/office/powerpoint/2010/main" val="400261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BA4184A-8B2D-2CDA-E6F9-EF809461EEAE}"/>
              </a:ext>
            </a:extLst>
          </p:cNvPr>
          <p:cNvGrpSpPr/>
          <p:nvPr/>
        </p:nvGrpSpPr>
        <p:grpSpPr>
          <a:xfrm>
            <a:off x="1514151" y="-1204207"/>
            <a:ext cx="9163694" cy="956886"/>
            <a:chOff x="1511253" y="74090"/>
            <a:chExt cx="9163694" cy="956886"/>
          </a:xfrm>
        </p:grpSpPr>
        <p:sp>
          <p:nvSpPr>
            <p:cNvPr id="3" name="TextBox 2">
              <a:extLst>
                <a:ext uri="{FF2B5EF4-FFF2-40B4-BE49-F238E27FC236}">
                  <a16:creationId xmlns:a16="http://schemas.microsoft.com/office/drawing/2014/main" id="{441B55C6-AA40-507E-BD43-DE55CFD97A21}"/>
                </a:ext>
              </a:extLst>
            </p:cNvPr>
            <p:cNvSpPr txBox="1"/>
            <p:nvPr/>
          </p:nvSpPr>
          <p:spPr>
            <a:xfrm>
              <a:off x="2384387" y="348758"/>
              <a:ext cx="8290560" cy="584775"/>
            </a:xfrm>
            <a:prstGeom prst="rect">
              <a:avLst/>
            </a:prstGeom>
            <a:noFill/>
          </p:spPr>
          <p:txBody>
            <a:bodyPr wrap="square" rtlCol="0">
              <a:spAutoFit/>
            </a:bodyPr>
            <a:lstStyle/>
            <a:p>
              <a:r>
                <a:rPr lang="en-US" sz="3200" dirty="0">
                  <a:latin typeface="Lilita One" panose="02000000000000000000" pitchFamily="2" charset="0"/>
                </a:rPr>
                <a:t>VISHWAKARMA INSTITUTE OF TECHNOLOGY</a:t>
              </a:r>
              <a:endParaRPr lang="en-IN" sz="3200" dirty="0">
                <a:latin typeface="Lilita One" panose="02000000000000000000" pitchFamily="2" charset="0"/>
              </a:endParaRPr>
            </a:p>
          </p:txBody>
        </p:sp>
        <p:pic>
          <p:nvPicPr>
            <p:cNvPr id="4" name="Picture 3" descr="A blue and red logo&#10;&#10;Description automatically generated">
              <a:extLst>
                <a:ext uri="{FF2B5EF4-FFF2-40B4-BE49-F238E27FC236}">
                  <a16:creationId xmlns:a16="http://schemas.microsoft.com/office/drawing/2014/main" id="{2518E0A7-2993-2CE3-0BCB-82909DC46B13}"/>
                </a:ext>
              </a:extLst>
            </p:cNvPr>
            <p:cNvPicPr>
              <a:picLocks noChangeAspect="1"/>
            </p:cNvPicPr>
            <p:nvPr/>
          </p:nvPicPr>
          <p:blipFill>
            <a:blip r:embed="rId2">
              <a:extLst>
                <a:ext uri="{28A0092B-C50C-407E-A947-70E740481C1C}">
                  <a14:useLocalDpi xmlns:a14="http://schemas.microsoft.com/office/drawing/2010/main" val="0"/>
                </a:ext>
              </a:extLst>
            </a:blip>
            <a:srcRect l="13572" t="9224" r="12740" b="10553"/>
            <a:stretch/>
          </p:blipFill>
          <p:spPr>
            <a:xfrm>
              <a:off x="1511253" y="74090"/>
              <a:ext cx="878930" cy="956886"/>
            </a:xfrm>
            <a:prstGeom prst="rect">
              <a:avLst/>
            </a:prstGeom>
          </p:spPr>
        </p:pic>
      </p:grpSp>
      <p:pic>
        <p:nvPicPr>
          <p:cNvPr id="5" name="Picture 4">
            <a:extLst>
              <a:ext uri="{FF2B5EF4-FFF2-40B4-BE49-F238E27FC236}">
                <a16:creationId xmlns:a16="http://schemas.microsoft.com/office/drawing/2014/main" id="{B2A6A48B-9820-6DDD-8AE4-19EA3E5486D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290" b="89891" l="9926" r="89826">
                        <a14:foregroundMark x1="43672" y1="11475" x2="43672" y2="11475"/>
                        <a14:foregroundMark x1="43921" y1="9290" x2="43921" y2="9290"/>
                        <a14:foregroundMark x1="53102" y1="9563" x2="53102" y2="9563"/>
                      </a14:backgroundRemoval>
                    </a14:imgEffect>
                  </a14:imgLayer>
                </a14:imgProps>
              </a:ext>
            </a:extLst>
          </a:blip>
          <a:stretch>
            <a:fillRect/>
          </a:stretch>
        </p:blipFill>
        <p:spPr>
          <a:xfrm rot="13628998" flipH="1">
            <a:off x="-3680181" y="4925411"/>
            <a:ext cx="3838575" cy="3486150"/>
          </a:xfrm>
          <a:prstGeom prst="rect">
            <a:avLst/>
          </a:prstGeom>
        </p:spPr>
      </p:pic>
      <p:sp>
        <p:nvSpPr>
          <p:cNvPr id="6" name="Freeform 2">
            <a:extLst>
              <a:ext uri="{FF2B5EF4-FFF2-40B4-BE49-F238E27FC236}">
                <a16:creationId xmlns:a16="http://schemas.microsoft.com/office/drawing/2014/main" id="{260212F2-BC7E-722F-1F91-6549041BE850}"/>
              </a:ext>
            </a:extLst>
          </p:cNvPr>
          <p:cNvSpPr/>
          <p:nvPr/>
        </p:nvSpPr>
        <p:spPr>
          <a:xfrm rot="5872776">
            <a:off x="12999328" y="765615"/>
            <a:ext cx="5317084" cy="5326769"/>
          </a:xfrm>
          <a:custGeom>
            <a:avLst/>
            <a:gdLst/>
            <a:ahLst/>
            <a:cxnLst/>
            <a:rect l="l" t="t" r="r" b="b"/>
            <a:pathLst>
              <a:path w="10022633" h="10040890">
                <a:moveTo>
                  <a:pt x="0" y="0"/>
                </a:moveTo>
                <a:lnTo>
                  <a:pt x="10022634" y="0"/>
                </a:lnTo>
                <a:lnTo>
                  <a:pt x="10022634" y="10040890"/>
                </a:lnTo>
                <a:lnTo>
                  <a:pt x="0" y="1004089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2938203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1" name="Freeform 2">
            <a:extLst>
              <a:ext uri="{FF2B5EF4-FFF2-40B4-BE49-F238E27FC236}">
                <a16:creationId xmlns:a16="http://schemas.microsoft.com/office/drawing/2014/main" id="{159D7FA6-A4B8-E779-29DA-E6CF8A2977EC}"/>
              </a:ext>
            </a:extLst>
          </p:cNvPr>
          <p:cNvSpPr/>
          <p:nvPr/>
        </p:nvSpPr>
        <p:spPr>
          <a:xfrm>
            <a:off x="9804715" y="765615"/>
            <a:ext cx="5317084" cy="5326769"/>
          </a:xfrm>
          <a:custGeom>
            <a:avLst/>
            <a:gdLst/>
            <a:ahLst/>
            <a:cxnLst/>
            <a:rect l="l" t="t" r="r" b="b"/>
            <a:pathLst>
              <a:path w="10022633" h="10040890">
                <a:moveTo>
                  <a:pt x="0" y="0"/>
                </a:moveTo>
                <a:lnTo>
                  <a:pt x="10022634" y="0"/>
                </a:lnTo>
                <a:lnTo>
                  <a:pt x="10022634" y="10040890"/>
                </a:lnTo>
                <a:lnTo>
                  <a:pt x="0" y="100408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4">
            <a:extLst>
              <a:ext uri="{FF2B5EF4-FFF2-40B4-BE49-F238E27FC236}">
                <a16:creationId xmlns:a16="http://schemas.microsoft.com/office/drawing/2014/main" id="{46D62D21-DE7F-2CF8-E8FE-7A7BD085C833}"/>
              </a:ext>
            </a:extLst>
          </p:cNvPr>
          <p:cNvSpPr txBox="1"/>
          <p:nvPr/>
        </p:nvSpPr>
        <p:spPr>
          <a:xfrm>
            <a:off x="3205577" y="2092960"/>
            <a:ext cx="5780843" cy="523220"/>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Case-Study: Pi (</a:t>
            </a:r>
            <a:r>
              <a:rPr lang="en-IN" sz="2800" dirty="0">
                <a:solidFill>
                  <a:schemeClr val="bg1"/>
                </a:solidFill>
                <a:latin typeface="Times New Roman" panose="02020603050405020304" pitchFamily="18" charset="0"/>
                <a:cs typeface="Times New Roman" panose="02020603050405020304" pitchFamily="18" charset="0"/>
              </a:rPr>
              <a:t>𝜋</a:t>
            </a:r>
            <a:r>
              <a:rPr lang="en-US" sz="2800" dirty="0">
                <a:solidFill>
                  <a:schemeClr val="bg1"/>
                </a:solidFill>
                <a:latin typeface="Times New Roman" panose="02020603050405020304" pitchFamily="18" charset="0"/>
                <a:cs typeface="Times New Roman" panose="02020603050405020304" pitchFamily="18" charset="0"/>
              </a:rPr>
              <a:t>) as an Infinite Series</a:t>
            </a:r>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C65F217-8B3F-BAA7-C350-F47BBDFB8F36}"/>
              </a:ext>
            </a:extLst>
          </p:cNvPr>
          <p:cNvSpPr txBox="1"/>
          <p:nvPr/>
        </p:nvSpPr>
        <p:spPr>
          <a:xfrm>
            <a:off x="5789528" y="2616180"/>
            <a:ext cx="612943" cy="523220"/>
          </a:xfrm>
          <a:prstGeom prst="rect">
            <a:avLst/>
          </a:prstGeom>
          <a:noFill/>
        </p:spPr>
        <p:txBody>
          <a:bodyPr wrap="square" rtlCol="0">
            <a:spAutoFit/>
          </a:bodyPr>
          <a:lstStyle/>
          <a:p>
            <a:pPr algn="ctr"/>
            <a:r>
              <a:rPr lang="en-US" sz="2800" dirty="0">
                <a:solidFill>
                  <a:schemeClr val="bg1"/>
                </a:solidFill>
                <a:latin typeface="Times New Roman" panose="02020603050405020304" pitchFamily="18" charset="0"/>
                <a:cs typeface="Times New Roman" panose="02020603050405020304" pitchFamily="18" charset="0"/>
              </a:rPr>
              <a:t>By</a:t>
            </a:r>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2B66727-764D-188B-FF01-B38A14F8A24E}"/>
              </a:ext>
            </a:extLst>
          </p:cNvPr>
          <p:cNvSpPr txBox="1"/>
          <p:nvPr/>
        </p:nvSpPr>
        <p:spPr>
          <a:xfrm>
            <a:off x="3743657" y="3428999"/>
            <a:ext cx="5780843" cy="3539430"/>
          </a:xfrm>
          <a:prstGeom prst="rect">
            <a:avLst/>
          </a:prstGeom>
          <a:noFill/>
        </p:spPr>
        <p:txBody>
          <a:bodyPr wrap="square" numCol="2" rtlCol="0">
            <a:spAutoFit/>
          </a:bodyPr>
          <a:lstStyle/>
          <a:p>
            <a:r>
              <a:rPr lang="en-US" sz="2800" dirty="0">
                <a:solidFill>
                  <a:schemeClr val="bg1"/>
                </a:solidFill>
                <a:latin typeface="Times New Roman" panose="02020603050405020304" pitchFamily="18" charset="0"/>
                <a:cs typeface="Times New Roman" panose="02020603050405020304" pitchFamily="18" charset="0"/>
              </a:rPr>
              <a:t>Abhishek</a:t>
            </a:r>
          </a:p>
          <a:p>
            <a:r>
              <a:rPr lang="en-IN" sz="2800" dirty="0">
                <a:solidFill>
                  <a:schemeClr val="bg1"/>
                </a:solidFill>
                <a:latin typeface="Times New Roman" panose="02020603050405020304" pitchFamily="18" charset="0"/>
                <a:cs typeface="Times New Roman" panose="02020603050405020304" pitchFamily="18" charset="0"/>
              </a:rPr>
              <a:t>Abhishek </a:t>
            </a:r>
          </a:p>
          <a:p>
            <a:r>
              <a:rPr lang="en-IN" sz="2800" dirty="0">
                <a:solidFill>
                  <a:schemeClr val="bg1"/>
                </a:solidFill>
                <a:latin typeface="Times New Roman" panose="02020603050405020304" pitchFamily="18" charset="0"/>
                <a:cs typeface="Times New Roman" panose="02020603050405020304" pitchFamily="18" charset="0"/>
              </a:rPr>
              <a:t>Adit</a:t>
            </a:r>
          </a:p>
          <a:p>
            <a:endParaRPr lang="en-IN"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endParaRPr lang="en-IN" sz="2800" dirty="0">
              <a:solidFill>
                <a:schemeClr val="bg1"/>
              </a:solidFill>
              <a:latin typeface="Times New Roman" panose="02020603050405020304" pitchFamily="18" charset="0"/>
              <a:cs typeface="Times New Roman" panose="02020603050405020304" pitchFamily="18" charset="0"/>
            </a:endParaRPr>
          </a:p>
          <a:p>
            <a:endParaRPr lang="en-IN" sz="2800" dirty="0">
              <a:solidFill>
                <a:schemeClr val="bg1"/>
              </a:solidFill>
              <a:latin typeface="Times New Roman" panose="02020603050405020304" pitchFamily="18" charset="0"/>
              <a:cs typeface="Times New Roman" panose="02020603050405020304" pitchFamily="18" charset="0"/>
            </a:endParaRPr>
          </a:p>
          <a:p>
            <a:endParaRPr lang="en-IN" sz="2800" dirty="0">
              <a:solidFill>
                <a:schemeClr val="bg1"/>
              </a:solidFill>
              <a:latin typeface="Times New Roman" panose="02020603050405020304" pitchFamily="18" charset="0"/>
              <a:cs typeface="Times New Roman" panose="02020603050405020304" pitchFamily="18" charset="0"/>
            </a:endParaRPr>
          </a:p>
          <a:p>
            <a:r>
              <a:rPr lang="en-IN" sz="2800" dirty="0">
                <a:solidFill>
                  <a:schemeClr val="bg1"/>
                </a:solidFill>
                <a:latin typeface="Times New Roman" panose="02020603050405020304" pitchFamily="18" charset="0"/>
                <a:cs typeface="Times New Roman" panose="02020603050405020304" pitchFamily="18" charset="0"/>
              </a:rPr>
              <a:t>Abhinandan</a:t>
            </a:r>
            <a:endParaRPr lang="en-US" sz="2800" dirty="0">
              <a:solidFill>
                <a:schemeClr val="bg1"/>
              </a:solidFill>
              <a:latin typeface="Times New Roman" panose="02020603050405020304" pitchFamily="18" charset="0"/>
              <a:cs typeface="Times New Roman" panose="02020603050405020304" pitchFamily="18" charset="0"/>
            </a:endParaRPr>
          </a:p>
          <a:p>
            <a:r>
              <a:rPr lang="en-IN" sz="2800" dirty="0">
                <a:solidFill>
                  <a:schemeClr val="bg1"/>
                </a:solidFill>
                <a:latin typeface="Times New Roman" panose="02020603050405020304" pitchFamily="18" charset="0"/>
                <a:cs typeface="Times New Roman" panose="02020603050405020304" pitchFamily="18" charset="0"/>
              </a:rPr>
              <a:t>Pradyumna</a:t>
            </a:r>
            <a:endParaRPr lang="en-US" sz="2800" dirty="0">
              <a:solidFill>
                <a:schemeClr val="bg1"/>
              </a:solidFill>
              <a:latin typeface="Times New Roman" panose="02020603050405020304" pitchFamily="18" charset="0"/>
              <a:cs typeface="Times New Roman" panose="02020603050405020304" pitchFamily="18" charset="0"/>
            </a:endParaRPr>
          </a:p>
          <a:p>
            <a:r>
              <a:rPr lang="en-IN" sz="2800" dirty="0">
                <a:solidFill>
                  <a:schemeClr val="bg1"/>
                </a:solidFill>
                <a:latin typeface="Times New Roman" panose="02020603050405020304" pitchFamily="18" charset="0"/>
                <a:cs typeface="Times New Roman" panose="02020603050405020304" pitchFamily="18" charset="0"/>
              </a:rPr>
              <a:t>Aditi</a:t>
            </a:r>
          </a:p>
          <a:p>
            <a:endParaRPr lang="en-IN" sz="2800" dirty="0">
              <a:solidFill>
                <a:schemeClr val="bg1"/>
              </a:solidFill>
              <a:latin typeface="Times New Roman" panose="02020603050405020304" pitchFamily="18" charset="0"/>
              <a:cs typeface="Times New Roman" panose="02020603050405020304" pitchFamily="18" charset="0"/>
            </a:endParaRPr>
          </a:p>
          <a:p>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37736A9-360A-450C-CAED-975745C7D464}"/>
              </a:ext>
            </a:extLst>
          </p:cNvPr>
          <p:cNvSpPr txBox="1"/>
          <p:nvPr/>
        </p:nvSpPr>
        <p:spPr>
          <a:xfrm>
            <a:off x="8808108" y="6039252"/>
            <a:ext cx="3051099" cy="523220"/>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Prof: Pooja Wanjale</a:t>
            </a:r>
            <a:endParaRPr lang="en-IN" sz="2800" dirty="0">
              <a:solidFill>
                <a:schemeClr val="bg1"/>
              </a:solidFill>
              <a:latin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id="{D4868366-EF78-5269-8C17-3CE2BF7DF382}"/>
              </a:ext>
            </a:extLst>
          </p:cNvPr>
          <p:cNvGrpSpPr/>
          <p:nvPr/>
        </p:nvGrpSpPr>
        <p:grpSpPr>
          <a:xfrm>
            <a:off x="1514151" y="74090"/>
            <a:ext cx="9163694" cy="956886"/>
            <a:chOff x="1511253" y="74090"/>
            <a:chExt cx="9163694" cy="956886"/>
          </a:xfrm>
        </p:grpSpPr>
        <p:sp>
          <p:nvSpPr>
            <p:cNvPr id="17" name="TextBox 16">
              <a:extLst>
                <a:ext uri="{FF2B5EF4-FFF2-40B4-BE49-F238E27FC236}">
                  <a16:creationId xmlns:a16="http://schemas.microsoft.com/office/drawing/2014/main" id="{1719FD14-0CD5-3CE8-059E-D393654A09E7}"/>
                </a:ext>
              </a:extLst>
            </p:cNvPr>
            <p:cNvSpPr txBox="1"/>
            <p:nvPr/>
          </p:nvSpPr>
          <p:spPr>
            <a:xfrm>
              <a:off x="2384387" y="348758"/>
              <a:ext cx="8290560" cy="584775"/>
            </a:xfrm>
            <a:prstGeom prst="rect">
              <a:avLst/>
            </a:prstGeom>
            <a:noFill/>
          </p:spPr>
          <p:txBody>
            <a:bodyPr wrap="square" rtlCol="0">
              <a:spAutoFit/>
            </a:bodyPr>
            <a:lstStyle/>
            <a:p>
              <a:r>
                <a:rPr lang="en-US" sz="3200" dirty="0">
                  <a:solidFill>
                    <a:schemeClr val="bg1"/>
                  </a:solidFill>
                  <a:latin typeface="Lilita One" panose="02000000000000000000" pitchFamily="2" charset="0"/>
                </a:rPr>
                <a:t>VISHWAKARMA INSTITUTE OF TECHNOLOGY</a:t>
              </a:r>
              <a:endParaRPr lang="en-IN" sz="3200" dirty="0">
                <a:solidFill>
                  <a:schemeClr val="bg1"/>
                </a:solidFill>
                <a:latin typeface="Lilita One" panose="02000000000000000000" pitchFamily="2" charset="0"/>
              </a:endParaRPr>
            </a:p>
          </p:txBody>
        </p:sp>
        <p:pic>
          <p:nvPicPr>
            <p:cNvPr id="19" name="Picture 18" descr="A blue and red logo&#10;&#10;Description automatically generated">
              <a:extLst>
                <a:ext uri="{FF2B5EF4-FFF2-40B4-BE49-F238E27FC236}">
                  <a16:creationId xmlns:a16="http://schemas.microsoft.com/office/drawing/2014/main" id="{C1121124-B83E-9866-E2E7-5D7C6418BDDF}"/>
                </a:ext>
              </a:extLst>
            </p:cNvPr>
            <p:cNvPicPr>
              <a:picLocks noChangeAspect="1"/>
            </p:cNvPicPr>
            <p:nvPr/>
          </p:nvPicPr>
          <p:blipFill>
            <a:blip r:embed="rId4">
              <a:extLst>
                <a:ext uri="{28A0092B-C50C-407E-A947-70E740481C1C}">
                  <a14:useLocalDpi xmlns:a14="http://schemas.microsoft.com/office/drawing/2010/main" val="0"/>
                </a:ext>
              </a:extLst>
            </a:blip>
            <a:srcRect l="13572" t="9224" r="12740" b="10553"/>
            <a:stretch/>
          </p:blipFill>
          <p:spPr>
            <a:xfrm>
              <a:off x="1511253" y="74090"/>
              <a:ext cx="878930" cy="956886"/>
            </a:xfrm>
            <a:prstGeom prst="rect">
              <a:avLst/>
            </a:prstGeom>
          </p:spPr>
        </p:pic>
      </p:grpSp>
      <p:pic>
        <p:nvPicPr>
          <p:cNvPr id="22" name="Picture 21">
            <a:extLst>
              <a:ext uri="{FF2B5EF4-FFF2-40B4-BE49-F238E27FC236}">
                <a16:creationId xmlns:a16="http://schemas.microsoft.com/office/drawing/2014/main" id="{A9A0CC77-6E1B-7E9B-06B2-4B4D35EEFEC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290" b="89891" l="9926" r="89826">
                        <a14:foregroundMark x1="43672" y1="11475" x2="43672" y2="11475"/>
                        <a14:foregroundMark x1="43921" y1="9290" x2="43921" y2="9290"/>
                        <a14:foregroundMark x1="53102" y1="9563" x2="53102" y2="9563"/>
                      </a14:backgroundRemoval>
                    </a14:imgEffect>
                  </a14:imgLayer>
                </a14:imgProps>
              </a:ext>
            </a:extLst>
          </a:blip>
          <a:stretch>
            <a:fillRect/>
          </a:stretch>
        </p:blipFill>
        <p:spPr>
          <a:xfrm rot="20364379" flipH="1">
            <a:off x="-405136" y="3703101"/>
            <a:ext cx="3838575" cy="3486150"/>
          </a:xfrm>
          <a:prstGeom prst="rect">
            <a:avLst/>
          </a:prstGeom>
        </p:spPr>
      </p:pic>
    </p:spTree>
    <p:extLst>
      <p:ext uri="{BB962C8B-B14F-4D97-AF65-F5344CB8AC3E}">
        <p14:creationId xmlns:p14="http://schemas.microsoft.com/office/powerpoint/2010/main" val="1681137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Graphic 8" descr="Mathematics with solid fill">
            <a:extLst>
              <a:ext uri="{FF2B5EF4-FFF2-40B4-BE49-F238E27FC236}">
                <a16:creationId xmlns:a16="http://schemas.microsoft.com/office/drawing/2014/main" id="{F4DFC810-5119-8F6C-DA88-E8B156E20EE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075398" y="83689"/>
            <a:ext cx="914400" cy="914400"/>
          </a:xfrm>
          <a:prstGeom prst="rect">
            <a:avLst/>
          </a:prstGeom>
        </p:spPr>
      </p:pic>
      <p:sp>
        <p:nvSpPr>
          <p:cNvPr id="2" name="TextBox 1">
            <a:extLst>
              <a:ext uri="{FF2B5EF4-FFF2-40B4-BE49-F238E27FC236}">
                <a16:creationId xmlns:a16="http://schemas.microsoft.com/office/drawing/2014/main" id="{BF68C27F-C986-85A6-4120-80EB3C14E183}"/>
              </a:ext>
            </a:extLst>
          </p:cNvPr>
          <p:cNvSpPr txBox="1"/>
          <p:nvPr/>
        </p:nvSpPr>
        <p:spPr>
          <a:xfrm>
            <a:off x="1134087" y="-807671"/>
            <a:ext cx="4454950" cy="830997"/>
          </a:xfrm>
          <a:prstGeom prst="rect">
            <a:avLst/>
          </a:prstGeom>
          <a:noFill/>
        </p:spPr>
        <p:txBody>
          <a:bodyPr wrap="square" rtlCol="0">
            <a:spAutoFit/>
          </a:bodyPr>
          <a:lstStyle/>
          <a:p>
            <a:r>
              <a:rPr lang="en-US" sz="4800" dirty="0">
                <a:solidFill>
                  <a:schemeClr val="bg1"/>
                </a:solidFill>
                <a:latin typeface="Lilita One" panose="02000000000000000000" pitchFamily="2" charset="0"/>
              </a:rPr>
              <a:t>INTRODUCTION</a:t>
            </a:r>
            <a:endParaRPr lang="en-IN" sz="4800" dirty="0">
              <a:solidFill>
                <a:schemeClr val="bg1"/>
              </a:solidFill>
              <a:latin typeface="Lilita One" panose="02000000000000000000" pitchFamily="2" charset="0"/>
            </a:endParaRPr>
          </a:p>
        </p:txBody>
      </p:sp>
      <p:sp>
        <p:nvSpPr>
          <p:cNvPr id="3" name="TextBox 2">
            <a:extLst>
              <a:ext uri="{FF2B5EF4-FFF2-40B4-BE49-F238E27FC236}">
                <a16:creationId xmlns:a16="http://schemas.microsoft.com/office/drawing/2014/main" id="{44419ADB-78DB-2611-4B39-BC6957604B03}"/>
              </a:ext>
            </a:extLst>
          </p:cNvPr>
          <p:cNvSpPr txBox="1"/>
          <p:nvPr/>
        </p:nvSpPr>
        <p:spPr>
          <a:xfrm>
            <a:off x="986667" y="7553325"/>
            <a:ext cx="6867525" cy="5078313"/>
          </a:xfrm>
          <a:prstGeom prst="rect">
            <a:avLst/>
          </a:prstGeom>
          <a:noFill/>
        </p:spPr>
        <p:txBody>
          <a:bodyPr wrap="square" rtlCol="0">
            <a:spAutoFit/>
          </a:bodyPr>
          <a:lstStyle/>
          <a:p>
            <a:r>
              <a:rPr lang="en-US" sz="2700" dirty="0">
                <a:solidFill>
                  <a:schemeClr val="bg1"/>
                </a:solidFill>
                <a:latin typeface="Times New Roman" panose="02020603050405020304" pitchFamily="18" charset="0"/>
                <a:cs typeface="Times New Roman" panose="02020603050405020304" pitchFamily="18" charset="0"/>
              </a:rPr>
              <a:t>The number π (pi) is one of the most remarkable and mysterious constants in mathematics. Defined as the ratio of a circle’s circumference to its diameter, it appears everywhere—from geometry and trigonometry to physics and engineering. In this presentation, we will explore how π is represented through infinite series, revealing its profound connections with calculus and the concept of infinity. By examining these series, we gain insights into the precision and elegance of mathematics, showcasing the timeless beauty of π.</a:t>
            </a:r>
            <a:endParaRPr lang="en-IN" sz="2700" dirty="0">
              <a:solidFill>
                <a:schemeClr val="bg1"/>
              </a:solidFill>
              <a:latin typeface="Times New Roman" panose="02020603050405020304" pitchFamily="18" charset="0"/>
              <a:cs typeface="Times New Roman" panose="02020603050405020304" pitchFamily="18" charset="0"/>
            </a:endParaRPr>
          </a:p>
        </p:txBody>
      </p:sp>
      <p:grpSp>
        <p:nvGrpSpPr>
          <p:cNvPr id="29" name="Group 28">
            <a:extLst>
              <a:ext uri="{FF2B5EF4-FFF2-40B4-BE49-F238E27FC236}">
                <a16:creationId xmlns:a16="http://schemas.microsoft.com/office/drawing/2014/main" id="{39A0353A-7CFC-47C8-4BF6-75E3B760F244}"/>
              </a:ext>
            </a:extLst>
          </p:cNvPr>
          <p:cNvGrpSpPr/>
          <p:nvPr/>
        </p:nvGrpSpPr>
        <p:grpSpPr>
          <a:xfrm rot="4091988">
            <a:off x="14329217" y="83689"/>
            <a:ext cx="2644094" cy="2580807"/>
            <a:chOff x="9363674" y="83689"/>
            <a:chExt cx="2644094" cy="2580807"/>
          </a:xfrm>
        </p:grpSpPr>
        <p:sp>
          <p:nvSpPr>
            <p:cNvPr id="30" name="TextBox 29">
              <a:extLst>
                <a:ext uri="{FF2B5EF4-FFF2-40B4-BE49-F238E27FC236}">
                  <a16:creationId xmlns:a16="http://schemas.microsoft.com/office/drawing/2014/main" id="{BEA53A62-7BC5-60B6-81C1-2F7BB269B8CF}"/>
                </a:ext>
              </a:extLst>
            </p:cNvPr>
            <p:cNvSpPr txBox="1"/>
            <p:nvPr/>
          </p:nvSpPr>
          <p:spPr>
            <a:xfrm>
              <a:off x="9363674" y="1266850"/>
              <a:ext cx="2644094" cy="369332"/>
            </a:xfrm>
            <a:prstGeom prst="rect">
              <a:avLst/>
            </a:prstGeom>
            <a:noFill/>
          </p:spPr>
          <p:txBody>
            <a:bodyPr wrap="square" rtlCol="0">
              <a:spAutoFit/>
            </a:bodyPr>
            <a:lstStyle/>
            <a:p>
              <a:r>
                <a:rPr lang="en-US" dirty="0">
                  <a:solidFill>
                    <a:srgbClr val="BBC3C5"/>
                  </a:solidFill>
                </a:rPr>
                <a:t>-------------------------------</a:t>
              </a:r>
              <a:endParaRPr lang="en-IN" dirty="0">
                <a:solidFill>
                  <a:srgbClr val="BBC3C5"/>
                </a:solidFill>
              </a:endParaRPr>
            </a:p>
          </p:txBody>
        </p:sp>
        <p:sp>
          <p:nvSpPr>
            <p:cNvPr id="31" name="Oval 30">
              <a:extLst>
                <a:ext uri="{FF2B5EF4-FFF2-40B4-BE49-F238E27FC236}">
                  <a16:creationId xmlns:a16="http://schemas.microsoft.com/office/drawing/2014/main" id="{213635FC-341B-FE41-C600-C7CE31755A54}"/>
                </a:ext>
              </a:extLst>
            </p:cNvPr>
            <p:cNvSpPr/>
            <p:nvPr/>
          </p:nvSpPr>
          <p:spPr>
            <a:xfrm>
              <a:off x="9464502" y="238536"/>
              <a:ext cx="2425960" cy="2425960"/>
            </a:xfrm>
            <a:prstGeom prst="ellipse">
              <a:avLst/>
            </a:prstGeom>
            <a:noFill/>
            <a:ln w="28575">
              <a:solidFill>
                <a:srgbClr val="BBC3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AF09CD9-00D3-FEF0-A5BD-629D8B9036D4}"/>
                </a:ext>
              </a:extLst>
            </p:cNvPr>
            <p:cNvSpPr/>
            <p:nvPr/>
          </p:nvSpPr>
          <p:spPr>
            <a:xfrm>
              <a:off x="10650732" y="1425858"/>
              <a:ext cx="88640" cy="8864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3C61FD42-8372-D542-E5F6-B4EE0F3B97BD}"/>
                </a:ext>
              </a:extLst>
            </p:cNvPr>
            <p:cNvSpPr txBox="1"/>
            <p:nvPr/>
          </p:nvSpPr>
          <p:spPr>
            <a:xfrm rot="5400000">
              <a:off x="10486663" y="719905"/>
              <a:ext cx="755335" cy="338554"/>
            </a:xfrm>
            <a:prstGeom prst="rect">
              <a:avLst/>
            </a:prstGeom>
            <a:noFill/>
          </p:spPr>
          <p:txBody>
            <a:bodyPr wrap="none" rtlCol="0">
              <a:spAutoFit/>
            </a:bodyPr>
            <a:lstStyle/>
            <a:p>
              <a:r>
                <a:rPr lang="en-US" sz="1600" dirty="0">
                  <a:solidFill>
                    <a:srgbClr val="BBC3C5"/>
                  </a:solidFill>
                  <a:latin typeface="Times New Roman" panose="02020603050405020304" pitchFamily="18" charset="0"/>
                  <a:cs typeface="Times New Roman" panose="02020603050405020304" pitchFamily="18" charset="0"/>
                </a:rPr>
                <a:t>Radius</a:t>
              </a:r>
              <a:endParaRPr lang="en-IN" sz="1600" dirty="0">
                <a:solidFill>
                  <a:srgbClr val="BBC3C5"/>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74C8EBD2-C3F2-354D-3B2D-07A7CB1A2D91}"/>
                </a:ext>
              </a:extLst>
            </p:cNvPr>
            <p:cNvSpPr txBox="1"/>
            <p:nvPr/>
          </p:nvSpPr>
          <p:spPr>
            <a:xfrm>
              <a:off x="10219601" y="1566922"/>
              <a:ext cx="950901" cy="338554"/>
            </a:xfrm>
            <a:prstGeom prst="rect">
              <a:avLst/>
            </a:prstGeom>
            <a:noFill/>
          </p:spPr>
          <p:txBody>
            <a:bodyPr wrap="none" rtlCol="0">
              <a:spAutoFit/>
            </a:bodyPr>
            <a:lstStyle/>
            <a:p>
              <a:r>
                <a:rPr lang="en-US" sz="1600" dirty="0">
                  <a:solidFill>
                    <a:srgbClr val="BBC3C5"/>
                  </a:solidFill>
                  <a:latin typeface="Times New Roman" panose="02020603050405020304" pitchFamily="18" charset="0"/>
                  <a:cs typeface="Times New Roman" panose="02020603050405020304" pitchFamily="18" charset="0"/>
                </a:rPr>
                <a:t>Diameter</a:t>
              </a:r>
              <a:endParaRPr lang="en-IN" sz="1600" dirty="0">
                <a:solidFill>
                  <a:srgbClr val="BBC3C5"/>
                </a:solidFill>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CED19092-D07A-152B-F770-15DC8DFF5E6F}"/>
                </a:ext>
              </a:extLst>
            </p:cNvPr>
            <p:cNvSpPr txBox="1"/>
            <p:nvPr/>
          </p:nvSpPr>
          <p:spPr>
            <a:xfrm rot="20896611">
              <a:off x="10151782" y="1773120"/>
              <a:ext cx="1420730" cy="709054"/>
            </a:xfrm>
            <a:custGeom>
              <a:avLst/>
              <a:gdLst>
                <a:gd name="connsiteX0" fmla="*/ 0 w 1440556"/>
                <a:gd name="connsiteY0" fmla="*/ 0 h 338554"/>
                <a:gd name="connsiteX1" fmla="*/ 1440556 w 1440556"/>
                <a:gd name="connsiteY1" fmla="*/ 0 h 338554"/>
                <a:gd name="connsiteX2" fmla="*/ 1440556 w 1440556"/>
                <a:gd name="connsiteY2" fmla="*/ 338554 h 338554"/>
                <a:gd name="connsiteX3" fmla="*/ 0 w 1440556"/>
                <a:gd name="connsiteY3" fmla="*/ 338554 h 338554"/>
                <a:gd name="connsiteX4" fmla="*/ 0 w 1440556"/>
                <a:gd name="connsiteY4" fmla="*/ 0 h 338554"/>
                <a:gd name="connsiteX0" fmla="*/ 0 w 1440556"/>
                <a:gd name="connsiteY0" fmla="*/ 0 h 375308"/>
                <a:gd name="connsiteX1" fmla="*/ 1440556 w 1440556"/>
                <a:gd name="connsiteY1" fmla="*/ 0 h 375308"/>
                <a:gd name="connsiteX2" fmla="*/ 1440556 w 1440556"/>
                <a:gd name="connsiteY2" fmla="*/ 338554 h 375308"/>
                <a:gd name="connsiteX3" fmla="*/ 0 w 1440556"/>
                <a:gd name="connsiteY3" fmla="*/ 338554 h 375308"/>
                <a:gd name="connsiteX4" fmla="*/ 0 w 1440556"/>
                <a:gd name="connsiteY4" fmla="*/ 0 h 375308"/>
                <a:gd name="connsiteX0" fmla="*/ 7144 w 1440556"/>
                <a:gd name="connsiteY0" fmla="*/ 0 h 449610"/>
                <a:gd name="connsiteX1" fmla="*/ 1440556 w 1440556"/>
                <a:gd name="connsiteY1" fmla="*/ 74302 h 449610"/>
                <a:gd name="connsiteX2" fmla="*/ 1440556 w 1440556"/>
                <a:gd name="connsiteY2" fmla="*/ 412856 h 449610"/>
                <a:gd name="connsiteX3" fmla="*/ 0 w 1440556"/>
                <a:gd name="connsiteY3" fmla="*/ 412856 h 449610"/>
                <a:gd name="connsiteX4" fmla="*/ 7144 w 1440556"/>
                <a:gd name="connsiteY4" fmla="*/ 0 h 449610"/>
                <a:gd name="connsiteX0" fmla="*/ 7144 w 1440556"/>
                <a:gd name="connsiteY0" fmla="*/ 11966 h 461576"/>
                <a:gd name="connsiteX1" fmla="*/ 1420730 w 1440556"/>
                <a:gd name="connsiteY1" fmla="*/ 0 h 461576"/>
                <a:gd name="connsiteX2" fmla="*/ 1440556 w 1440556"/>
                <a:gd name="connsiteY2" fmla="*/ 424822 h 461576"/>
                <a:gd name="connsiteX3" fmla="*/ 0 w 1440556"/>
                <a:gd name="connsiteY3" fmla="*/ 424822 h 461576"/>
                <a:gd name="connsiteX4" fmla="*/ 7144 w 1440556"/>
                <a:gd name="connsiteY4" fmla="*/ 11966 h 461576"/>
                <a:gd name="connsiteX0" fmla="*/ 7144 w 1440556"/>
                <a:gd name="connsiteY0" fmla="*/ 11966 h 520535"/>
                <a:gd name="connsiteX1" fmla="*/ 1420730 w 1440556"/>
                <a:gd name="connsiteY1" fmla="*/ 0 h 520535"/>
                <a:gd name="connsiteX2" fmla="*/ 1440556 w 1440556"/>
                <a:gd name="connsiteY2" fmla="*/ 424822 h 520535"/>
                <a:gd name="connsiteX3" fmla="*/ 899699 w 1440556"/>
                <a:gd name="connsiteY3" fmla="*/ 520535 h 520535"/>
                <a:gd name="connsiteX4" fmla="*/ 0 w 1440556"/>
                <a:gd name="connsiteY4" fmla="*/ 424822 h 520535"/>
                <a:gd name="connsiteX5" fmla="*/ 7144 w 1440556"/>
                <a:gd name="connsiteY5" fmla="*/ 11966 h 520535"/>
                <a:gd name="connsiteX0" fmla="*/ 7144 w 1440556"/>
                <a:gd name="connsiteY0" fmla="*/ 11966 h 520535"/>
                <a:gd name="connsiteX1" fmla="*/ 1420730 w 1440556"/>
                <a:gd name="connsiteY1" fmla="*/ 0 h 520535"/>
                <a:gd name="connsiteX2" fmla="*/ 1440556 w 1440556"/>
                <a:gd name="connsiteY2" fmla="*/ 424822 h 520535"/>
                <a:gd name="connsiteX3" fmla="*/ 899699 w 1440556"/>
                <a:gd name="connsiteY3" fmla="*/ 520535 h 520535"/>
                <a:gd name="connsiteX4" fmla="*/ 0 w 1440556"/>
                <a:gd name="connsiteY4" fmla="*/ 424822 h 520535"/>
                <a:gd name="connsiteX5" fmla="*/ 7144 w 1440556"/>
                <a:gd name="connsiteY5" fmla="*/ 11966 h 520535"/>
                <a:gd name="connsiteX0" fmla="*/ 7144 w 1440556"/>
                <a:gd name="connsiteY0" fmla="*/ 11966 h 520535"/>
                <a:gd name="connsiteX1" fmla="*/ 1420730 w 1440556"/>
                <a:gd name="connsiteY1" fmla="*/ 0 h 520535"/>
                <a:gd name="connsiteX2" fmla="*/ 1440556 w 1440556"/>
                <a:gd name="connsiteY2" fmla="*/ 424822 h 520535"/>
                <a:gd name="connsiteX3" fmla="*/ 899699 w 1440556"/>
                <a:gd name="connsiteY3" fmla="*/ 520535 h 520535"/>
                <a:gd name="connsiteX4" fmla="*/ 0 w 1440556"/>
                <a:gd name="connsiteY4" fmla="*/ 424822 h 520535"/>
                <a:gd name="connsiteX5" fmla="*/ 7144 w 1440556"/>
                <a:gd name="connsiteY5" fmla="*/ 11966 h 520535"/>
                <a:gd name="connsiteX0" fmla="*/ 0 w 1460025"/>
                <a:gd name="connsiteY0" fmla="*/ 93770 h 520535"/>
                <a:gd name="connsiteX1" fmla="*/ 1440199 w 1460025"/>
                <a:gd name="connsiteY1" fmla="*/ 0 h 520535"/>
                <a:gd name="connsiteX2" fmla="*/ 1460025 w 1460025"/>
                <a:gd name="connsiteY2" fmla="*/ 424822 h 520535"/>
                <a:gd name="connsiteX3" fmla="*/ 919168 w 1460025"/>
                <a:gd name="connsiteY3" fmla="*/ 520535 h 520535"/>
                <a:gd name="connsiteX4" fmla="*/ 19469 w 1460025"/>
                <a:gd name="connsiteY4" fmla="*/ 424822 h 520535"/>
                <a:gd name="connsiteX5" fmla="*/ 0 w 1460025"/>
                <a:gd name="connsiteY5" fmla="*/ 93770 h 520535"/>
                <a:gd name="connsiteX0" fmla="*/ 0 w 1440199"/>
                <a:gd name="connsiteY0" fmla="*/ 93770 h 520535"/>
                <a:gd name="connsiteX1" fmla="*/ 1440199 w 1440199"/>
                <a:gd name="connsiteY1" fmla="*/ 0 h 520535"/>
                <a:gd name="connsiteX2" fmla="*/ 1420730 w 1440199"/>
                <a:gd name="connsiteY2" fmla="*/ 346055 h 520535"/>
                <a:gd name="connsiteX3" fmla="*/ 919168 w 1440199"/>
                <a:gd name="connsiteY3" fmla="*/ 520535 h 520535"/>
                <a:gd name="connsiteX4" fmla="*/ 19469 w 1440199"/>
                <a:gd name="connsiteY4" fmla="*/ 424822 h 520535"/>
                <a:gd name="connsiteX5" fmla="*/ 0 w 1440199"/>
                <a:gd name="connsiteY5" fmla="*/ 93770 h 520535"/>
                <a:gd name="connsiteX0" fmla="*/ 0 w 1420730"/>
                <a:gd name="connsiteY0" fmla="*/ 211474 h 638239"/>
                <a:gd name="connsiteX1" fmla="*/ 1385900 w 1420730"/>
                <a:gd name="connsiteY1" fmla="*/ 0 h 638239"/>
                <a:gd name="connsiteX2" fmla="*/ 1420730 w 1420730"/>
                <a:gd name="connsiteY2" fmla="*/ 463759 h 638239"/>
                <a:gd name="connsiteX3" fmla="*/ 919168 w 1420730"/>
                <a:gd name="connsiteY3" fmla="*/ 638239 h 638239"/>
                <a:gd name="connsiteX4" fmla="*/ 19469 w 1420730"/>
                <a:gd name="connsiteY4" fmla="*/ 542526 h 638239"/>
                <a:gd name="connsiteX5" fmla="*/ 0 w 1420730"/>
                <a:gd name="connsiteY5" fmla="*/ 211474 h 638239"/>
                <a:gd name="connsiteX0" fmla="*/ 0 w 1420730"/>
                <a:gd name="connsiteY0" fmla="*/ 211474 h 709054"/>
                <a:gd name="connsiteX1" fmla="*/ 1385900 w 1420730"/>
                <a:gd name="connsiteY1" fmla="*/ 0 h 709054"/>
                <a:gd name="connsiteX2" fmla="*/ 1420730 w 1420730"/>
                <a:gd name="connsiteY2" fmla="*/ 463759 h 709054"/>
                <a:gd name="connsiteX3" fmla="*/ 919168 w 1420730"/>
                <a:gd name="connsiteY3" fmla="*/ 638239 h 709054"/>
                <a:gd name="connsiteX4" fmla="*/ 835381 w 1420730"/>
                <a:gd name="connsiteY4" fmla="*/ 706249 h 709054"/>
                <a:gd name="connsiteX5" fmla="*/ 19469 w 1420730"/>
                <a:gd name="connsiteY5" fmla="*/ 542526 h 709054"/>
                <a:gd name="connsiteX6" fmla="*/ 0 w 1420730"/>
                <a:gd name="connsiteY6" fmla="*/ 211474 h 70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0730" h="709054">
                  <a:moveTo>
                    <a:pt x="0" y="211474"/>
                  </a:moveTo>
                  <a:cubicBezTo>
                    <a:pt x="471195" y="207485"/>
                    <a:pt x="806467" y="349780"/>
                    <a:pt x="1385900" y="0"/>
                  </a:cubicBezTo>
                  <a:lnTo>
                    <a:pt x="1420730" y="463759"/>
                  </a:lnTo>
                  <a:cubicBezTo>
                    <a:pt x="1336779" y="536732"/>
                    <a:pt x="1159261" y="638239"/>
                    <a:pt x="919168" y="638239"/>
                  </a:cubicBezTo>
                  <a:cubicBezTo>
                    <a:pt x="822615" y="666157"/>
                    <a:pt x="985331" y="722201"/>
                    <a:pt x="835381" y="706249"/>
                  </a:cubicBezTo>
                  <a:cubicBezTo>
                    <a:pt x="685431" y="690297"/>
                    <a:pt x="159704" y="612491"/>
                    <a:pt x="19469" y="542526"/>
                  </a:cubicBezTo>
                  <a:lnTo>
                    <a:pt x="0" y="211474"/>
                  </a:lnTo>
                  <a:close/>
                </a:path>
              </a:pathLst>
            </a:custGeom>
            <a:noFill/>
          </p:spPr>
          <p:txBody>
            <a:bodyPr wrap="square" rtlCol="0">
              <a:prstTxWarp prst="textArchDown">
                <a:avLst/>
              </a:prstTxWarp>
              <a:spAutoFit/>
            </a:bodyPr>
            <a:lstStyle/>
            <a:p>
              <a:r>
                <a:rPr lang="en-US" sz="1600" dirty="0">
                  <a:solidFill>
                    <a:srgbClr val="BBC3C5"/>
                  </a:solidFill>
                  <a:latin typeface="Times New Roman" panose="02020603050405020304" pitchFamily="18" charset="0"/>
                  <a:cs typeface="Times New Roman" panose="02020603050405020304" pitchFamily="18" charset="0"/>
                </a:rPr>
                <a:t>Circumference</a:t>
              </a:r>
              <a:endParaRPr lang="en-IN" sz="1600" dirty="0">
                <a:solidFill>
                  <a:srgbClr val="BBC3C5"/>
                </a:solidFill>
                <a:latin typeface="Times New Roman" panose="02020603050405020304" pitchFamily="18" charset="0"/>
                <a:cs typeface="Times New Roman" panose="02020603050405020304" pitchFamily="18" charset="0"/>
              </a:endParaRPr>
            </a:p>
          </p:txBody>
        </p:sp>
        <p:pic>
          <p:nvPicPr>
            <p:cNvPr id="36" name="Picture 35" descr="A white line on a black background&#10;&#10;Description automatically generated">
              <a:extLst>
                <a:ext uri="{FF2B5EF4-FFF2-40B4-BE49-F238E27FC236}">
                  <a16:creationId xmlns:a16="http://schemas.microsoft.com/office/drawing/2014/main" id="{10FF6C93-1991-7B82-7826-A659DA3C65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9962920" y="595058"/>
              <a:ext cx="1504882" cy="482143"/>
            </a:xfrm>
            <a:prstGeom prst="rect">
              <a:avLst/>
            </a:prstGeom>
          </p:spPr>
        </p:pic>
      </p:grpSp>
      <p:pic>
        <p:nvPicPr>
          <p:cNvPr id="37" name="Picture 36" descr="A graphing circle with a blue circle&#10;&#10;Description automatically generated">
            <a:extLst>
              <a:ext uri="{FF2B5EF4-FFF2-40B4-BE49-F238E27FC236}">
                <a16:creationId xmlns:a16="http://schemas.microsoft.com/office/drawing/2014/main" id="{938A37AC-6772-5890-8BAE-BCF7F2A54111}"/>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rcRect l="14015" t="12820" r="13665" b="12638"/>
          <a:stretch/>
        </p:blipFill>
        <p:spPr>
          <a:xfrm rot="4091988">
            <a:off x="12349488" y="2028531"/>
            <a:ext cx="2812778" cy="2899216"/>
          </a:xfrm>
          <a:prstGeom prst="rect">
            <a:avLst/>
          </a:prstGeom>
        </p:spPr>
      </p:pic>
      <p:pic>
        <p:nvPicPr>
          <p:cNvPr id="38" name="Picture 37" descr="A black background with a black square&#10;&#10;Description automatically generated with medium confidence">
            <a:extLst>
              <a:ext uri="{FF2B5EF4-FFF2-40B4-BE49-F238E27FC236}">
                <a16:creationId xmlns:a16="http://schemas.microsoft.com/office/drawing/2014/main" id="{7F264580-E53E-E9E1-C158-DB7A7B612B09}"/>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rcRect l="7611" t="3918" r="7728" b="4795"/>
          <a:stretch/>
        </p:blipFill>
        <p:spPr>
          <a:xfrm rot="4091988">
            <a:off x="14606173" y="4348351"/>
            <a:ext cx="2249832" cy="2425961"/>
          </a:xfrm>
          <a:prstGeom prst="rect">
            <a:avLst/>
          </a:prstGeom>
        </p:spPr>
      </p:pic>
    </p:spTree>
    <p:extLst>
      <p:ext uri="{BB962C8B-B14F-4D97-AF65-F5344CB8AC3E}">
        <p14:creationId xmlns:p14="http://schemas.microsoft.com/office/powerpoint/2010/main" val="30469187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Graphic 8" descr="Mathematics with solid fill">
            <a:extLst>
              <a:ext uri="{FF2B5EF4-FFF2-40B4-BE49-F238E27FC236}">
                <a16:creationId xmlns:a16="http://schemas.microsoft.com/office/drawing/2014/main" id="{F4DFC810-5119-8F6C-DA88-E8B156E20EE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267" y="83689"/>
            <a:ext cx="914400" cy="914400"/>
          </a:xfrm>
          <a:prstGeom prst="rect">
            <a:avLst/>
          </a:prstGeom>
        </p:spPr>
      </p:pic>
      <p:sp>
        <p:nvSpPr>
          <p:cNvPr id="2" name="TextBox 1">
            <a:extLst>
              <a:ext uri="{FF2B5EF4-FFF2-40B4-BE49-F238E27FC236}">
                <a16:creationId xmlns:a16="http://schemas.microsoft.com/office/drawing/2014/main" id="{BF68C27F-C986-85A6-4120-80EB3C14E183}"/>
              </a:ext>
            </a:extLst>
          </p:cNvPr>
          <p:cNvSpPr txBox="1"/>
          <p:nvPr/>
        </p:nvSpPr>
        <p:spPr>
          <a:xfrm>
            <a:off x="1134087" y="125390"/>
            <a:ext cx="4454950" cy="830997"/>
          </a:xfrm>
          <a:prstGeom prst="rect">
            <a:avLst/>
          </a:prstGeom>
          <a:noFill/>
        </p:spPr>
        <p:txBody>
          <a:bodyPr wrap="square" rtlCol="0">
            <a:spAutoFit/>
          </a:bodyPr>
          <a:lstStyle/>
          <a:p>
            <a:r>
              <a:rPr lang="en-US" sz="4800" dirty="0">
                <a:solidFill>
                  <a:schemeClr val="bg1"/>
                </a:solidFill>
                <a:latin typeface="Lilita One" panose="02000000000000000000" pitchFamily="2" charset="0"/>
              </a:rPr>
              <a:t>INTRODUCTION</a:t>
            </a:r>
            <a:endParaRPr lang="en-IN" sz="4800" dirty="0">
              <a:solidFill>
                <a:schemeClr val="bg1"/>
              </a:solidFill>
              <a:latin typeface="Lilita One" panose="02000000000000000000" pitchFamily="2" charset="0"/>
            </a:endParaRPr>
          </a:p>
        </p:txBody>
      </p:sp>
      <p:sp>
        <p:nvSpPr>
          <p:cNvPr id="3" name="TextBox 2">
            <a:extLst>
              <a:ext uri="{FF2B5EF4-FFF2-40B4-BE49-F238E27FC236}">
                <a16:creationId xmlns:a16="http://schemas.microsoft.com/office/drawing/2014/main" id="{44419ADB-78DB-2611-4B39-BC6957604B03}"/>
              </a:ext>
            </a:extLst>
          </p:cNvPr>
          <p:cNvSpPr txBox="1"/>
          <p:nvPr/>
        </p:nvSpPr>
        <p:spPr>
          <a:xfrm>
            <a:off x="986667" y="1276350"/>
            <a:ext cx="6867525" cy="5078313"/>
          </a:xfrm>
          <a:prstGeom prst="rect">
            <a:avLst/>
          </a:prstGeom>
          <a:noFill/>
        </p:spPr>
        <p:txBody>
          <a:bodyPr wrap="square" rtlCol="0">
            <a:spAutoFit/>
          </a:bodyPr>
          <a:lstStyle/>
          <a:p>
            <a:r>
              <a:rPr lang="en-US" sz="2700" dirty="0">
                <a:solidFill>
                  <a:schemeClr val="bg1"/>
                </a:solidFill>
                <a:latin typeface="Times New Roman" panose="02020603050405020304" pitchFamily="18" charset="0"/>
                <a:cs typeface="Times New Roman" panose="02020603050405020304" pitchFamily="18" charset="0"/>
              </a:rPr>
              <a:t>The number π (pi) is one of the most remarkable and mysterious constants in mathematics. Defined as the ratio of a circle’s circumference to its diameter, it appears everywhere—from geometry and trigonometry to physics and engineering. In this presentation, we will explore how π is represented through infinite series, revealing its profound connections with calculus and the concept of infinity. By examining these series, we gain insights into the precision and elegance of mathematics, showcasing the timeless beauty of π.</a:t>
            </a:r>
            <a:endParaRPr lang="en-IN" sz="2700" dirty="0">
              <a:solidFill>
                <a:schemeClr val="bg1"/>
              </a:solidFill>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435299EE-C128-82A7-C682-AE48F37744C7}"/>
              </a:ext>
            </a:extLst>
          </p:cNvPr>
          <p:cNvGrpSpPr/>
          <p:nvPr/>
        </p:nvGrpSpPr>
        <p:grpSpPr>
          <a:xfrm>
            <a:off x="9363674" y="83689"/>
            <a:ext cx="2644094" cy="2580807"/>
            <a:chOff x="9363674" y="83689"/>
            <a:chExt cx="2644094" cy="2580807"/>
          </a:xfrm>
        </p:grpSpPr>
        <p:sp>
          <p:nvSpPr>
            <p:cNvPr id="17" name="TextBox 16">
              <a:extLst>
                <a:ext uri="{FF2B5EF4-FFF2-40B4-BE49-F238E27FC236}">
                  <a16:creationId xmlns:a16="http://schemas.microsoft.com/office/drawing/2014/main" id="{75985FA7-A6C3-6BCC-331D-4B7E89C7E9D4}"/>
                </a:ext>
              </a:extLst>
            </p:cNvPr>
            <p:cNvSpPr txBox="1"/>
            <p:nvPr/>
          </p:nvSpPr>
          <p:spPr>
            <a:xfrm>
              <a:off x="9363674" y="1266850"/>
              <a:ext cx="2644094" cy="369332"/>
            </a:xfrm>
            <a:prstGeom prst="rect">
              <a:avLst/>
            </a:prstGeom>
            <a:noFill/>
          </p:spPr>
          <p:txBody>
            <a:bodyPr wrap="square" rtlCol="0">
              <a:spAutoFit/>
            </a:bodyPr>
            <a:lstStyle/>
            <a:p>
              <a:r>
                <a:rPr lang="en-US" dirty="0">
                  <a:solidFill>
                    <a:srgbClr val="BBC3C5"/>
                  </a:solidFill>
                </a:rPr>
                <a:t>-------------------------------</a:t>
              </a:r>
              <a:endParaRPr lang="en-IN" dirty="0">
                <a:solidFill>
                  <a:srgbClr val="BBC3C5"/>
                </a:solidFill>
              </a:endParaRPr>
            </a:p>
          </p:txBody>
        </p:sp>
        <p:sp>
          <p:nvSpPr>
            <p:cNvPr id="16" name="Oval 15">
              <a:extLst>
                <a:ext uri="{FF2B5EF4-FFF2-40B4-BE49-F238E27FC236}">
                  <a16:creationId xmlns:a16="http://schemas.microsoft.com/office/drawing/2014/main" id="{C0290351-7C39-9CF5-B682-FD8D0189BDBE}"/>
                </a:ext>
              </a:extLst>
            </p:cNvPr>
            <p:cNvSpPr/>
            <p:nvPr/>
          </p:nvSpPr>
          <p:spPr>
            <a:xfrm>
              <a:off x="9464502" y="238536"/>
              <a:ext cx="2425960" cy="2425960"/>
            </a:xfrm>
            <a:prstGeom prst="ellipse">
              <a:avLst/>
            </a:prstGeom>
            <a:noFill/>
            <a:ln w="28575">
              <a:solidFill>
                <a:srgbClr val="BBC3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0ABF3F95-51FB-3382-738F-74EC1759E522}"/>
                </a:ext>
              </a:extLst>
            </p:cNvPr>
            <p:cNvSpPr/>
            <p:nvPr/>
          </p:nvSpPr>
          <p:spPr>
            <a:xfrm>
              <a:off x="10650732" y="1425858"/>
              <a:ext cx="88640" cy="8864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F120289E-3993-0E21-AACD-71D82B308006}"/>
                </a:ext>
              </a:extLst>
            </p:cNvPr>
            <p:cNvSpPr txBox="1"/>
            <p:nvPr/>
          </p:nvSpPr>
          <p:spPr>
            <a:xfrm rot="5400000">
              <a:off x="10486663" y="719905"/>
              <a:ext cx="755335" cy="338554"/>
            </a:xfrm>
            <a:prstGeom prst="rect">
              <a:avLst/>
            </a:prstGeom>
            <a:noFill/>
          </p:spPr>
          <p:txBody>
            <a:bodyPr wrap="none" rtlCol="0">
              <a:spAutoFit/>
            </a:bodyPr>
            <a:lstStyle/>
            <a:p>
              <a:r>
                <a:rPr lang="en-US" sz="1600" dirty="0">
                  <a:solidFill>
                    <a:srgbClr val="BBC3C5"/>
                  </a:solidFill>
                  <a:latin typeface="Times New Roman" panose="02020603050405020304" pitchFamily="18" charset="0"/>
                  <a:cs typeface="Times New Roman" panose="02020603050405020304" pitchFamily="18" charset="0"/>
                </a:rPr>
                <a:t>Radius</a:t>
              </a:r>
              <a:endParaRPr lang="en-IN" sz="1600" dirty="0">
                <a:solidFill>
                  <a:srgbClr val="BBC3C5"/>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6F648C5-B903-3248-1898-8F4988C3EF69}"/>
                </a:ext>
              </a:extLst>
            </p:cNvPr>
            <p:cNvSpPr txBox="1"/>
            <p:nvPr/>
          </p:nvSpPr>
          <p:spPr>
            <a:xfrm>
              <a:off x="10219601" y="1566922"/>
              <a:ext cx="950901" cy="338554"/>
            </a:xfrm>
            <a:prstGeom prst="rect">
              <a:avLst/>
            </a:prstGeom>
            <a:noFill/>
          </p:spPr>
          <p:txBody>
            <a:bodyPr wrap="none" rtlCol="0">
              <a:spAutoFit/>
            </a:bodyPr>
            <a:lstStyle/>
            <a:p>
              <a:r>
                <a:rPr lang="en-US" sz="1600" dirty="0">
                  <a:solidFill>
                    <a:srgbClr val="BBC3C5"/>
                  </a:solidFill>
                  <a:latin typeface="Times New Roman" panose="02020603050405020304" pitchFamily="18" charset="0"/>
                  <a:cs typeface="Times New Roman" panose="02020603050405020304" pitchFamily="18" charset="0"/>
                </a:rPr>
                <a:t>Diameter</a:t>
              </a:r>
              <a:endParaRPr lang="en-IN" sz="1600" dirty="0">
                <a:solidFill>
                  <a:srgbClr val="BBC3C5"/>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64B0C3C1-A33E-63B0-0995-EB8C2AB9824F}"/>
                </a:ext>
              </a:extLst>
            </p:cNvPr>
            <p:cNvSpPr txBox="1"/>
            <p:nvPr/>
          </p:nvSpPr>
          <p:spPr>
            <a:xfrm rot="20896611">
              <a:off x="10151782" y="1773120"/>
              <a:ext cx="1420730" cy="709054"/>
            </a:xfrm>
            <a:custGeom>
              <a:avLst/>
              <a:gdLst>
                <a:gd name="connsiteX0" fmla="*/ 0 w 1440556"/>
                <a:gd name="connsiteY0" fmla="*/ 0 h 338554"/>
                <a:gd name="connsiteX1" fmla="*/ 1440556 w 1440556"/>
                <a:gd name="connsiteY1" fmla="*/ 0 h 338554"/>
                <a:gd name="connsiteX2" fmla="*/ 1440556 w 1440556"/>
                <a:gd name="connsiteY2" fmla="*/ 338554 h 338554"/>
                <a:gd name="connsiteX3" fmla="*/ 0 w 1440556"/>
                <a:gd name="connsiteY3" fmla="*/ 338554 h 338554"/>
                <a:gd name="connsiteX4" fmla="*/ 0 w 1440556"/>
                <a:gd name="connsiteY4" fmla="*/ 0 h 338554"/>
                <a:gd name="connsiteX0" fmla="*/ 0 w 1440556"/>
                <a:gd name="connsiteY0" fmla="*/ 0 h 375308"/>
                <a:gd name="connsiteX1" fmla="*/ 1440556 w 1440556"/>
                <a:gd name="connsiteY1" fmla="*/ 0 h 375308"/>
                <a:gd name="connsiteX2" fmla="*/ 1440556 w 1440556"/>
                <a:gd name="connsiteY2" fmla="*/ 338554 h 375308"/>
                <a:gd name="connsiteX3" fmla="*/ 0 w 1440556"/>
                <a:gd name="connsiteY3" fmla="*/ 338554 h 375308"/>
                <a:gd name="connsiteX4" fmla="*/ 0 w 1440556"/>
                <a:gd name="connsiteY4" fmla="*/ 0 h 375308"/>
                <a:gd name="connsiteX0" fmla="*/ 7144 w 1440556"/>
                <a:gd name="connsiteY0" fmla="*/ 0 h 449610"/>
                <a:gd name="connsiteX1" fmla="*/ 1440556 w 1440556"/>
                <a:gd name="connsiteY1" fmla="*/ 74302 h 449610"/>
                <a:gd name="connsiteX2" fmla="*/ 1440556 w 1440556"/>
                <a:gd name="connsiteY2" fmla="*/ 412856 h 449610"/>
                <a:gd name="connsiteX3" fmla="*/ 0 w 1440556"/>
                <a:gd name="connsiteY3" fmla="*/ 412856 h 449610"/>
                <a:gd name="connsiteX4" fmla="*/ 7144 w 1440556"/>
                <a:gd name="connsiteY4" fmla="*/ 0 h 449610"/>
                <a:gd name="connsiteX0" fmla="*/ 7144 w 1440556"/>
                <a:gd name="connsiteY0" fmla="*/ 11966 h 461576"/>
                <a:gd name="connsiteX1" fmla="*/ 1420730 w 1440556"/>
                <a:gd name="connsiteY1" fmla="*/ 0 h 461576"/>
                <a:gd name="connsiteX2" fmla="*/ 1440556 w 1440556"/>
                <a:gd name="connsiteY2" fmla="*/ 424822 h 461576"/>
                <a:gd name="connsiteX3" fmla="*/ 0 w 1440556"/>
                <a:gd name="connsiteY3" fmla="*/ 424822 h 461576"/>
                <a:gd name="connsiteX4" fmla="*/ 7144 w 1440556"/>
                <a:gd name="connsiteY4" fmla="*/ 11966 h 461576"/>
                <a:gd name="connsiteX0" fmla="*/ 7144 w 1440556"/>
                <a:gd name="connsiteY0" fmla="*/ 11966 h 520535"/>
                <a:gd name="connsiteX1" fmla="*/ 1420730 w 1440556"/>
                <a:gd name="connsiteY1" fmla="*/ 0 h 520535"/>
                <a:gd name="connsiteX2" fmla="*/ 1440556 w 1440556"/>
                <a:gd name="connsiteY2" fmla="*/ 424822 h 520535"/>
                <a:gd name="connsiteX3" fmla="*/ 899699 w 1440556"/>
                <a:gd name="connsiteY3" fmla="*/ 520535 h 520535"/>
                <a:gd name="connsiteX4" fmla="*/ 0 w 1440556"/>
                <a:gd name="connsiteY4" fmla="*/ 424822 h 520535"/>
                <a:gd name="connsiteX5" fmla="*/ 7144 w 1440556"/>
                <a:gd name="connsiteY5" fmla="*/ 11966 h 520535"/>
                <a:gd name="connsiteX0" fmla="*/ 7144 w 1440556"/>
                <a:gd name="connsiteY0" fmla="*/ 11966 h 520535"/>
                <a:gd name="connsiteX1" fmla="*/ 1420730 w 1440556"/>
                <a:gd name="connsiteY1" fmla="*/ 0 h 520535"/>
                <a:gd name="connsiteX2" fmla="*/ 1440556 w 1440556"/>
                <a:gd name="connsiteY2" fmla="*/ 424822 h 520535"/>
                <a:gd name="connsiteX3" fmla="*/ 899699 w 1440556"/>
                <a:gd name="connsiteY3" fmla="*/ 520535 h 520535"/>
                <a:gd name="connsiteX4" fmla="*/ 0 w 1440556"/>
                <a:gd name="connsiteY4" fmla="*/ 424822 h 520535"/>
                <a:gd name="connsiteX5" fmla="*/ 7144 w 1440556"/>
                <a:gd name="connsiteY5" fmla="*/ 11966 h 520535"/>
                <a:gd name="connsiteX0" fmla="*/ 7144 w 1440556"/>
                <a:gd name="connsiteY0" fmla="*/ 11966 h 520535"/>
                <a:gd name="connsiteX1" fmla="*/ 1420730 w 1440556"/>
                <a:gd name="connsiteY1" fmla="*/ 0 h 520535"/>
                <a:gd name="connsiteX2" fmla="*/ 1440556 w 1440556"/>
                <a:gd name="connsiteY2" fmla="*/ 424822 h 520535"/>
                <a:gd name="connsiteX3" fmla="*/ 899699 w 1440556"/>
                <a:gd name="connsiteY3" fmla="*/ 520535 h 520535"/>
                <a:gd name="connsiteX4" fmla="*/ 0 w 1440556"/>
                <a:gd name="connsiteY4" fmla="*/ 424822 h 520535"/>
                <a:gd name="connsiteX5" fmla="*/ 7144 w 1440556"/>
                <a:gd name="connsiteY5" fmla="*/ 11966 h 520535"/>
                <a:gd name="connsiteX0" fmla="*/ 0 w 1460025"/>
                <a:gd name="connsiteY0" fmla="*/ 93770 h 520535"/>
                <a:gd name="connsiteX1" fmla="*/ 1440199 w 1460025"/>
                <a:gd name="connsiteY1" fmla="*/ 0 h 520535"/>
                <a:gd name="connsiteX2" fmla="*/ 1460025 w 1460025"/>
                <a:gd name="connsiteY2" fmla="*/ 424822 h 520535"/>
                <a:gd name="connsiteX3" fmla="*/ 919168 w 1460025"/>
                <a:gd name="connsiteY3" fmla="*/ 520535 h 520535"/>
                <a:gd name="connsiteX4" fmla="*/ 19469 w 1460025"/>
                <a:gd name="connsiteY4" fmla="*/ 424822 h 520535"/>
                <a:gd name="connsiteX5" fmla="*/ 0 w 1460025"/>
                <a:gd name="connsiteY5" fmla="*/ 93770 h 520535"/>
                <a:gd name="connsiteX0" fmla="*/ 0 w 1440199"/>
                <a:gd name="connsiteY0" fmla="*/ 93770 h 520535"/>
                <a:gd name="connsiteX1" fmla="*/ 1440199 w 1440199"/>
                <a:gd name="connsiteY1" fmla="*/ 0 h 520535"/>
                <a:gd name="connsiteX2" fmla="*/ 1420730 w 1440199"/>
                <a:gd name="connsiteY2" fmla="*/ 346055 h 520535"/>
                <a:gd name="connsiteX3" fmla="*/ 919168 w 1440199"/>
                <a:gd name="connsiteY3" fmla="*/ 520535 h 520535"/>
                <a:gd name="connsiteX4" fmla="*/ 19469 w 1440199"/>
                <a:gd name="connsiteY4" fmla="*/ 424822 h 520535"/>
                <a:gd name="connsiteX5" fmla="*/ 0 w 1440199"/>
                <a:gd name="connsiteY5" fmla="*/ 93770 h 520535"/>
                <a:gd name="connsiteX0" fmla="*/ 0 w 1420730"/>
                <a:gd name="connsiteY0" fmla="*/ 211474 h 638239"/>
                <a:gd name="connsiteX1" fmla="*/ 1385900 w 1420730"/>
                <a:gd name="connsiteY1" fmla="*/ 0 h 638239"/>
                <a:gd name="connsiteX2" fmla="*/ 1420730 w 1420730"/>
                <a:gd name="connsiteY2" fmla="*/ 463759 h 638239"/>
                <a:gd name="connsiteX3" fmla="*/ 919168 w 1420730"/>
                <a:gd name="connsiteY3" fmla="*/ 638239 h 638239"/>
                <a:gd name="connsiteX4" fmla="*/ 19469 w 1420730"/>
                <a:gd name="connsiteY4" fmla="*/ 542526 h 638239"/>
                <a:gd name="connsiteX5" fmla="*/ 0 w 1420730"/>
                <a:gd name="connsiteY5" fmla="*/ 211474 h 638239"/>
                <a:gd name="connsiteX0" fmla="*/ 0 w 1420730"/>
                <a:gd name="connsiteY0" fmla="*/ 211474 h 709054"/>
                <a:gd name="connsiteX1" fmla="*/ 1385900 w 1420730"/>
                <a:gd name="connsiteY1" fmla="*/ 0 h 709054"/>
                <a:gd name="connsiteX2" fmla="*/ 1420730 w 1420730"/>
                <a:gd name="connsiteY2" fmla="*/ 463759 h 709054"/>
                <a:gd name="connsiteX3" fmla="*/ 919168 w 1420730"/>
                <a:gd name="connsiteY3" fmla="*/ 638239 h 709054"/>
                <a:gd name="connsiteX4" fmla="*/ 835381 w 1420730"/>
                <a:gd name="connsiteY4" fmla="*/ 706249 h 709054"/>
                <a:gd name="connsiteX5" fmla="*/ 19469 w 1420730"/>
                <a:gd name="connsiteY5" fmla="*/ 542526 h 709054"/>
                <a:gd name="connsiteX6" fmla="*/ 0 w 1420730"/>
                <a:gd name="connsiteY6" fmla="*/ 211474 h 70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0730" h="709054">
                  <a:moveTo>
                    <a:pt x="0" y="211474"/>
                  </a:moveTo>
                  <a:cubicBezTo>
                    <a:pt x="471195" y="207485"/>
                    <a:pt x="806467" y="349780"/>
                    <a:pt x="1385900" y="0"/>
                  </a:cubicBezTo>
                  <a:lnTo>
                    <a:pt x="1420730" y="463759"/>
                  </a:lnTo>
                  <a:cubicBezTo>
                    <a:pt x="1336779" y="536732"/>
                    <a:pt x="1159261" y="638239"/>
                    <a:pt x="919168" y="638239"/>
                  </a:cubicBezTo>
                  <a:cubicBezTo>
                    <a:pt x="822615" y="666157"/>
                    <a:pt x="985331" y="722201"/>
                    <a:pt x="835381" y="706249"/>
                  </a:cubicBezTo>
                  <a:cubicBezTo>
                    <a:pt x="685431" y="690297"/>
                    <a:pt x="159704" y="612491"/>
                    <a:pt x="19469" y="542526"/>
                  </a:cubicBezTo>
                  <a:lnTo>
                    <a:pt x="0" y="211474"/>
                  </a:lnTo>
                  <a:close/>
                </a:path>
              </a:pathLst>
            </a:custGeom>
            <a:noFill/>
          </p:spPr>
          <p:txBody>
            <a:bodyPr wrap="square" rtlCol="0">
              <a:prstTxWarp prst="textArchDown">
                <a:avLst/>
              </a:prstTxWarp>
              <a:spAutoFit/>
            </a:bodyPr>
            <a:lstStyle/>
            <a:p>
              <a:r>
                <a:rPr lang="en-US" sz="1600" dirty="0">
                  <a:solidFill>
                    <a:srgbClr val="BBC3C5"/>
                  </a:solidFill>
                  <a:latin typeface="Times New Roman" panose="02020603050405020304" pitchFamily="18" charset="0"/>
                  <a:cs typeface="Times New Roman" panose="02020603050405020304" pitchFamily="18" charset="0"/>
                </a:rPr>
                <a:t>Circumference</a:t>
              </a:r>
              <a:endParaRPr lang="en-IN" sz="1600" dirty="0">
                <a:solidFill>
                  <a:srgbClr val="BBC3C5"/>
                </a:solidFill>
                <a:latin typeface="Times New Roman" panose="02020603050405020304" pitchFamily="18" charset="0"/>
                <a:cs typeface="Times New Roman" panose="02020603050405020304" pitchFamily="18" charset="0"/>
              </a:endParaRPr>
            </a:p>
          </p:txBody>
        </p:sp>
        <p:pic>
          <p:nvPicPr>
            <p:cNvPr id="4" name="Picture 3" descr="A white line on a black background&#10;&#10;Description automatically generated">
              <a:extLst>
                <a:ext uri="{FF2B5EF4-FFF2-40B4-BE49-F238E27FC236}">
                  <a16:creationId xmlns:a16="http://schemas.microsoft.com/office/drawing/2014/main" id="{CA8E589E-FD3C-7205-70E9-FC38B4A7F7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9962920" y="595058"/>
              <a:ext cx="1504882" cy="482143"/>
            </a:xfrm>
            <a:prstGeom prst="rect">
              <a:avLst/>
            </a:prstGeom>
          </p:spPr>
        </p:pic>
      </p:grpSp>
      <p:pic>
        <p:nvPicPr>
          <p:cNvPr id="11" name="Picture 10" descr="A graphing circle with a blue circle&#10;&#10;Description automatically generated">
            <a:extLst>
              <a:ext uri="{FF2B5EF4-FFF2-40B4-BE49-F238E27FC236}">
                <a16:creationId xmlns:a16="http://schemas.microsoft.com/office/drawing/2014/main" id="{F8EF6FEB-56EC-6ACC-9080-2480DF8E2677}"/>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rcRect l="14015" t="12820" r="13665" b="12638"/>
          <a:stretch/>
        </p:blipFill>
        <p:spPr>
          <a:xfrm>
            <a:off x="7383945" y="2028531"/>
            <a:ext cx="2812778" cy="2899216"/>
          </a:xfrm>
          <a:prstGeom prst="rect">
            <a:avLst/>
          </a:prstGeom>
        </p:spPr>
      </p:pic>
      <p:pic>
        <p:nvPicPr>
          <p:cNvPr id="13" name="Picture 12" descr="A black background with a black square&#10;&#10;Description automatically generated with medium confidence">
            <a:extLst>
              <a:ext uri="{FF2B5EF4-FFF2-40B4-BE49-F238E27FC236}">
                <a16:creationId xmlns:a16="http://schemas.microsoft.com/office/drawing/2014/main" id="{15ED0045-910F-72A8-9501-3205164F537B}"/>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rcRect l="7611" t="3918" r="7728" b="4795"/>
          <a:stretch/>
        </p:blipFill>
        <p:spPr>
          <a:xfrm>
            <a:off x="9640630" y="4348351"/>
            <a:ext cx="2249832" cy="2425961"/>
          </a:xfrm>
          <a:prstGeom prst="rect">
            <a:avLst/>
          </a:prstGeom>
        </p:spPr>
      </p:pic>
    </p:spTree>
    <p:extLst>
      <p:ext uri="{BB962C8B-B14F-4D97-AF65-F5344CB8AC3E}">
        <p14:creationId xmlns:p14="http://schemas.microsoft.com/office/powerpoint/2010/main" val="17285125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73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2358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744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6548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8248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042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8431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2953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581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2505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009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554</TotalTime>
  <Words>226</Words>
  <Application>Microsoft Office PowerPoint</Application>
  <PresentationFormat>Widescreen</PresentationFormat>
  <Paragraphs>29</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Lilita One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ANIL PATIL</dc:creator>
  <cp:lastModifiedBy>ANIL PATIL</cp:lastModifiedBy>
  <cp:revision>20</cp:revision>
  <dcterms:created xsi:type="dcterms:W3CDTF">2024-12-03T18:10:59Z</dcterms:created>
  <dcterms:modified xsi:type="dcterms:W3CDTF">2024-12-04T17:39:18Z</dcterms:modified>
</cp:coreProperties>
</file>