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mhlrHRGbmjCb55BU4IpTHpTpT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903BB5-89DC-4A6F-81FE-94E74E10F480}">
  <a:tblStyle styleId="{D4903BB5-89DC-4A6F-81FE-94E74E10F4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Vector Differentiation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677334" y="103032"/>
            <a:ext cx="8596668" cy="798490"/>
          </a:xfrm>
          <a:prstGeom prst="rect">
            <a:avLst/>
          </a:prstGeom>
          <a:noFill/>
          <a:ln cap="flat" cmpd="sng" w="9525">
            <a:solidFill>
              <a:srgbClr val="CC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800"/>
              <a:buFont typeface="Times New Roman"/>
              <a:buNone/>
            </a:pPr>
            <a:r>
              <a:rPr lang="en-IN" sz="3800" u="sng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sz="3800" u="sng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677334" y="618186"/>
            <a:ext cx="8596668" cy="5423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Introduction to vector function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Geometric interpretation of vector function in 2D &amp; 3D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Scalar point function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Vector point function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Vector differential operator Del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Action of Del on scalar point and vector point functions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Gradient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Directional Derivative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Divergence and Curl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lang="en-IN" sz="2100">
                <a:latin typeface="Times New Roman"/>
                <a:ea typeface="Times New Roman"/>
                <a:cs typeface="Times New Roman"/>
                <a:sym typeface="Times New Roman"/>
              </a:rPr>
              <a:t>Scalar Potential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1171976" y="193183"/>
            <a:ext cx="8102025" cy="515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>
                <a:solidFill>
                  <a:schemeClr val="dk2"/>
                </a:solidFill>
              </a:rPr>
              <a:t>Difference between Scalar &amp; Vector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03" name="Google Shape;103;p3"/>
          <p:cNvGraphicFramePr/>
          <p:nvPr/>
        </p:nvGraphicFramePr>
        <p:xfrm>
          <a:off x="837126" y="989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{D4903BB5-89DC-4A6F-81FE-94E74E10F480}</a:tableStyleId>
              </a:tblPr>
              <a:tblGrid>
                <a:gridCol w="3176800"/>
                <a:gridCol w="3176800"/>
                <a:gridCol w="3176800"/>
              </a:tblGrid>
              <a:tr h="90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IN" sz="1500" u="none" cap="none" strike="noStrike"/>
                      </a:br>
                      <a:endParaRPr sz="1500" u="none" cap="none" strike="noStrike"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Vector</a:t>
                      </a:r>
                      <a:endParaRPr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Scalar</a:t>
                      </a:r>
                      <a:endParaRPr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9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u="none" cap="none" strike="noStrike"/>
                        <a:t>Definition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u="none" cap="none" strike="noStrike"/>
                        <a:t>A physical quantity with both the magnitude and direction.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 physical quantity with only magnitude.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138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Representation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 number (magnitude), direction using unit cap or arrow at the top and unit.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 number (magnitude) and unit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Symbol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Quantity symbol in bold and an arrow sign above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Quantity symbol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37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Direction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Yes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No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57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Example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Velocity and Acceleration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Mass and Temperature</a:t>
                      </a:r>
                      <a:endParaRPr/>
                    </a:p>
                  </a:txBody>
                  <a:tcPr marT="98425" marB="98425" marR="65600" marL="65600" anchor="ctr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677334" y="609600"/>
            <a:ext cx="8596668" cy="195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lang="en-IN" sz="2100">
                <a:latin typeface="Times New Roman"/>
                <a:ea typeface="Times New Roman"/>
                <a:cs typeface="Times New Roman"/>
                <a:sym typeface="Times New Roman"/>
              </a:rPr>
              <a:t>The position vector, 𝑟, is defined as the vector that points from the origin to the point (x, y, z), and is used to locate a specific point in space. It can be written in terms of the standard unit vectors as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IN" sz="2100">
                <a:latin typeface="Times New Roman"/>
                <a:ea typeface="Times New Roman"/>
                <a:cs typeface="Times New Roman"/>
                <a:sym typeface="Times New Roman"/>
              </a:rPr>
              <a:t>            𝑟 = x𝑖 + y𝑗 + z𝑘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677334" y="609600"/>
            <a:ext cx="8596668" cy="76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1" lang="en-I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Scalar Product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677334" y="1378039"/>
            <a:ext cx="10205314" cy="46633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53" l="-17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18" name="Google Shape;11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solidFill>
                  <a:schemeClr val="dk1"/>
                </a:solidFill>
              </a:rPr>
              <a:t>Geometric interpretation of the dot product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54" r="0" t="-9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25" name="Google Shape;12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677334" y="609600"/>
            <a:ext cx="8596668" cy="571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Product (</a:t>
            </a:r>
            <a:r>
              <a:rPr b="1" lang="en-IN">
                <a:solidFill>
                  <a:schemeClr val="dk1"/>
                </a:solidFill>
              </a:rPr>
              <a:t>Cross product)</a:t>
            </a:r>
            <a:b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677325" y="1180725"/>
            <a:ext cx="9594300" cy="554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343" l="-281" r="-45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32" name="Google Shape;1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solidFill>
                  <a:schemeClr val="dk1"/>
                </a:solidFill>
              </a:rPr>
              <a:t>Geometric interpretation of the cross product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18" l="-92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8638" y="1627463"/>
            <a:ext cx="2860646" cy="228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0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677334" y="302004"/>
            <a:ext cx="8596668" cy="6711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>
                <a:solidFill>
                  <a:schemeClr val="dk1"/>
                </a:solidFill>
              </a:rPr>
              <a:t>Vector Differentiation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677333" y="864066"/>
            <a:ext cx="11151144" cy="59939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8" r="-10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54" name="Google Shape;15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 flipH="1" rot="10800000">
            <a:off x="677334" y="563881"/>
            <a:ext cx="8596668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677334" y="1258349"/>
            <a:ext cx="9800516" cy="47830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70" r="-1740" t="-10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61" name="Google Shape;16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solidFill>
                  <a:schemeClr val="dk1"/>
                </a:solidFill>
              </a:rPr>
              <a:t>Operator ‘Del’ or ‘Nabla’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2"/>
          <p:cNvSpPr txBox="1"/>
          <p:nvPr>
            <p:ph idx="1" type="body"/>
          </p:nvPr>
        </p:nvSpPr>
        <p:spPr>
          <a:xfrm>
            <a:off x="677333" y="1266739"/>
            <a:ext cx="11000141" cy="47746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6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68" name="Google Shape;16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>
                <a:solidFill>
                  <a:schemeClr val="dk1"/>
                </a:solidFill>
              </a:rPr>
              <a:t>The gradient of a scalar function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677334" y="1350629"/>
            <a:ext cx="8596668" cy="46907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50" r="0" t="-9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75" name="Google Shape;17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9725" y="1867575"/>
            <a:ext cx="3175125" cy="20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677334" y="293614"/>
            <a:ext cx="8596668" cy="593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Geometrical Interpretation of Gradient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78" y="1308682"/>
            <a:ext cx="2215314" cy="194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3333225" y="1384182"/>
            <a:ext cx="7119457" cy="7078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653" l="-940" r="0" t="-43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3333226" y="2313068"/>
            <a:ext cx="7345960" cy="101566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579" l="-911" r="0" t="-29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184558" y="3749879"/>
            <a:ext cx="11618752" cy="193899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886" l="-52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677334" y="276838"/>
            <a:ext cx="8596668" cy="662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on Gradient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677334" y="1098958"/>
            <a:ext cx="11109198" cy="563740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57" r="0" t="-75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677334" y="176169"/>
            <a:ext cx="8596668" cy="469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Divergence and Curl</a:t>
            </a:r>
            <a:b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chemeClr val="dk1"/>
              </a:solidFill>
            </a:endParaRPr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677333" y="855676"/>
            <a:ext cx="10605859" cy="58303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89" r="-401" t="-17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00" name="Google Shape;20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/>
          <p:nvPr>
            <p:ph type="title"/>
          </p:nvPr>
        </p:nvSpPr>
        <p:spPr>
          <a:xfrm>
            <a:off x="677334" y="609600"/>
            <a:ext cx="8596668" cy="59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Interpretation of Divergence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4" y="1476461"/>
            <a:ext cx="4045668" cy="281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5167618" y="1694576"/>
            <a:ext cx="5519957" cy="1546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divergence of a vector point function representing any physical quantity represent the rate of outward flow through unit volume.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Curl of a vector function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8"/>
          <p:cNvSpPr txBox="1"/>
          <p:nvPr>
            <p:ph idx="1" type="body"/>
          </p:nvPr>
        </p:nvSpPr>
        <p:spPr>
          <a:xfrm>
            <a:off x="677334" y="1191237"/>
            <a:ext cx="8596668" cy="48501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80" l="-1063" r="-14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15" name="Google Shape;2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>
            <p:ph type="title"/>
          </p:nvPr>
        </p:nvSpPr>
        <p:spPr>
          <a:xfrm>
            <a:off x="677334" y="609600"/>
            <a:ext cx="8596668" cy="5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Interpretation of Curl</a:t>
            </a:r>
            <a:endParaRPr sz="2800"/>
          </a:p>
        </p:txBody>
      </p:sp>
      <p:pic>
        <p:nvPicPr>
          <p:cNvPr id="221" name="Google Shape;221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288" y="1451294"/>
            <a:ext cx="4462943" cy="318781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696125" y="1451295"/>
            <a:ext cx="5964572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angular velocity of rotation is equal to half the curl of velocity vector.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 the curl signifies rotation.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general, the curl of any vector point function gives the measure of the angular velocity at any point of the vector field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677334" y="251671"/>
            <a:ext cx="8596668" cy="545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Standard Results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677334" y="796956"/>
            <a:ext cx="10664582" cy="60610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42" r="-79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30" name="Google Shape;23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677334" y="609599"/>
            <a:ext cx="8596668" cy="5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Standard Results</a:t>
            </a:r>
            <a:endParaRPr/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677334" y="1291905"/>
            <a:ext cx="8596668" cy="474945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37" name="Google Shape;23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677334" y="209725"/>
            <a:ext cx="8596668" cy="41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511729" y="469783"/>
            <a:ext cx="11182524" cy="64763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0" l="-65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44" name="Google Shape;2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title"/>
          </p:nvPr>
        </p:nvSpPr>
        <p:spPr>
          <a:xfrm>
            <a:off x="677334" y="609600"/>
            <a:ext cx="8596668" cy="556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Directional Derivative (D.D) of a scalar point function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3"/>
          <p:cNvSpPr txBox="1"/>
          <p:nvPr>
            <p:ph idx="1" type="body"/>
          </p:nvPr>
        </p:nvSpPr>
        <p:spPr>
          <a:xfrm>
            <a:off x="677334" y="1048625"/>
            <a:ext cx="8596668" cy="49927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50" r="-35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>
            <p:ph type="title"/>
          </p:nvPr>
        </p:nvSpPr>
        <p:spPr>
          <a:xfrm>
            <a:off x="677334" y="609600"/>
            <a:ext cx="8596668" cy="422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for finding D.D.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4"/>
          <p:cNvSpPr txBox="1"/>
          <p:nvPr>
            <p:ph idx="1" type="body"/>
          </p:nvPr>
        </p:nvSpPr>
        <p:spPr>
          <a:xfrm>
            <a:off x="677334" y="1031846"/>
            <a:ext cx="8596668" cy="500951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58" name="Google Shape;25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title"/>
          </p:nvPr>
        </p:nvSpPr>
        <p:spPr>
          <a:xfrm>
            <a:off x="677334" y="142614"/>
            <a:ext cx="8596668" cy="49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on D. 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677333" y="637564"/>
            <a:ext cx="11042087" cy="63336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9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 flipH="1" rot="10800000">
            <a:off x="677334" y="545284"/>
            <a:ext cx="8596668" cy="64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677333" y="671119"/>
            <a:ext cx="10656194" cy="537024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8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72" name="Google Shape;27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77334" y="167780"/>
            <a:ext cx="8596668" cy="604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between the surfaces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677334" y="771788"/>
            <a:ext cx="11159532" cy="58974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54" r="-817" t="-7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79" name="Google Shape;2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>
            <p:ph type="title"/>
          </p:nvPr>
        </p:nvSpPr>
        <p:spPr>
          <a:xfrm>
            <a:off x="677334" y="609600"/>
            <a:ext cx="8596668" cy="170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 txBox="1"/>
          <p:nvPr>
            <p:ph idx="1" type="body"/>
          </p:nvPr>
        </p:nvSpPr>
        <p:spPr>
          <a:xfrm>
            <a:off x="677334" y="1132515"/>
            <a:ext cx="10060574" cy="49088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2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86" name="Google Shape;28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677334" y="609600"/>
            <a:ext cx="8596668" cy="61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Scalar potential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9"/>
          <p:cNvSpPr txBox="1"/>
          <p:nvPr>
            <p:ph idx="1" type="body"/>
          </p:nvPr>
        </p:nvSpPr>
        <p:spPr>
          <a:xfrm>
            <a:off x="677334" y="1224793"/>
            <a:ext cx="8596668" cy="481656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50" r="-70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93" name="Google Shape;29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94" name="Google Shape;29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0773" y="3725966"/>
            <a:ext cx="10280591" cy="837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title"/>
          </p:nvPr>
        </p:nvSpPr>
        <p:spPr>
          <a:xfrm>
            <a:off x="677334" y="260060"/>
            <a:ext cx="8596668" cy="48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r>
              <a:rPr lang="en-I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0" name="Google Shape;300;p30"/>
          <p:cNvSpPr txBox="1"/>
          <p:nvPr>
            <p:ph idx="1" type="body"/>
          </p:nvPr>
        </p:nvSpPr>
        <p:spPr>
          <a:xfrm>
            <a:off x="536895" y="838899"/>
            <a:ext cx="11383861" cy="59058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40" r="-112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301" name="Google Shape;30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2024-09-15T09:46:33Z</dcterms:created>
  <dc:creator>Aparna Shendkar</dc:creator>
</cp:coreProperties>
</file>