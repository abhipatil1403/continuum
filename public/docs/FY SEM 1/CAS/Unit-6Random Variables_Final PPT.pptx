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</p:sldMasterIdLst>
  <p:notesMasterIdLst>
    <p:notesMasterId r:id="rId59"/>
  </p:notesMasterIdLst>
  <p:sldIdLst>
    <p:sldId id="256" r:id="rId3"/>
    <p:sldId id="275" r:id="rId4"/>
    <p:sldId id="274" r:id="rId5"/>
    <p:sldId id="258" r:id="rId6"/>
    <p:sldId id="259" r:id="rId7"/>
    <p:sldId id="264" r:id="rId8"/>
    <p:sldId id="265" r:id="rId9"/>
    <p:sldId id="261" r:id="rId10"/>
    <p:sldId id="266" r:id="rId11"/>
    <p:sldId id="260" r:id="rId12"/>
    <p:sldId id="262" r:id="rId13"/>
    <p:sldId id="263" r:id="rId14"/>
    <p:sldId id="267" r:id="rId15"/>
    <p:sldId id="268" r:id="rId16"/>
    <p:sldId id="269" r:id="rId17"/>
    <p:sldId id="314" r:id="rId18"/>
    <p:sldId id="315" r:id="rId19"/>
    <p:sldId id="276" r:id="rId20"/>
    <p:sldId id="301" r:id="rId21"/>
    <p:sldId id="277" r:id="rId22"/>
    <p:sldId id="278" r:id="rId23"/>
    <p:sldId id="280" r:id="rId24"/>
    <p:sldId id="281" r:id="rId25"/>
    <p:sldId id="282" r:id="rId26"/>
    <p:sldId id="304" r:id="rId27"/>
    <p:sldId id="305" r:id="rId28"/>
    <p:sldId id="270" r:id="rId29"/>
    <p:sldId id="283" r:id="rId30"/>
    <p:sldId id="284" r:id="rId31"/>
    <p:sldId id="285" r:id="rId32"/>
    <p:sldId id="272" r:id="rId33"/>
    <p:sldId id="286" r:id="rId34"/>
    <p:sldId id="287" r:id="rId35"/>
    <p:sldId id="271" r:id="rId36"/>
    <p:sldId id="308" r:id="rId37"/>
    <p:sldId id="309" r:id="rId38"/>
    <p:sldId id="310" r:id="rId39"/>
    <p:sldId id="279" r:id="rId40"/>
    <p:sldId id="294" r:id="rId41"/>
    <p:sldId id="295" r:id="rId42"/>
    <p:sldId id="292" r:id="rId43"/>
    <p:sldId id="296" r:id="rId44"/>
    <p:sldId id="297" r:id="rId45"/>
    <p:sldId id="298" r:id="rId46"/>
    <p:sldId id="299" r:id="rId47"/>
    <p:sldId id="300" r:id="rId48"/>
    <p:sldId id="311" r:id="rId49"/>
    <p:sldId id="288" r:id="rId50"/>
    <p:sldId id="290" r:id="rId51"/>
    <p:sldId id="289" r:id="rId52"/>
    <p:sldId id="291" r:id="rId53"/>
    <p:sldId id="293" r:id="rId54"/>
    <p:sldId id="302" r:id="rId55"/>
    <p:sldId id="303" r:id="rId56"/>
    <p:sldId id="312" r:id="rId57"/>
    <p:sldId id="313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0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4:56:11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4:56:12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24T04:56:1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4:56:54.70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4:56:58.697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9-24T04:57:00.240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5756E-5BFE-4C9C-9AD5-8E86F9477B63}" type="datetimeFigureOut">
              <a:rPr lang="en-IN" smtClean="0"/>
              <a:pPr/>
              <a:t>28-01-2025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0AAE3F-79AF-4E32-9967-5DFD31B372E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224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0AAE3F-79AF-4E32-9967-5DFD31B372E0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6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E8D6-C5C0-A474-7C22-EBD1D90E6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2D880-B3E2-A3BE-66BB-DC908EF59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77035-84D1-E2F5-2451-994C5C1D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5DC5D-0338-409D-948F-289F6A7F6CC4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FE89F-4854-B39F-721B-90D4BC3C2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5AE2A-A901-5C73-F99A-4BB305B6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32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ECD6-0328-30FA-8122-25F962FB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073D1-BC9B-C804-8A8E-08C000FE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DCBFF-16B5-0C28-19CE-FE568AC7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B9B7-C98E-4E39-A57A-63208C2BDFF5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5EB42-CDB9-4181-E827-9E1CE5A6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F06D-57ED-305C-6086-31F0B34B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44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26326-5352-338C-F5EC-116FA4650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1E56C-7B41-F405-FDDD-ABA47A608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25700-9830-80B3-701E-1B9DB3984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537E2-367B-4672-A2CF-FC59FA2EA6FD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D15DC-A534-E209-7F48-ABBBA097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5CE70-38E3-033C-C947-3E39BA6E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80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9C83-386B-9C7B-923A-C1F9C5B56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52D8B-9D64-7E26-D9C9-9170EFFC0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70D19-06EB-C5CD-3D05-9E99ADD3C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5969B-1B4E-A930-18A3-49C23AAD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FD893-82D6-4610-BE1C-DE56542B433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8FECD-E9B5-91C4-C4D0-92550458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4527E-4D0D-2C4E-672A-E733B10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37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87B28-F3BF-84CE-6B8A-4EA2EB14B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E1BB9-979D-996D-C28E-07D0A08FD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85F63-D232-F552-FA8C-3B6CC9E3E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6FB3E-FAA7-479B-01BA-28371DD6F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3F7D4-E805-09A7-ED8E-6D0D72821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DEE92D-3177-BBB8-B307-BA3D8BDC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D4462-AC3A-43E1-8ED5-EDC6E026FECC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DE4DB-8CCB-F1BE-5B86-ABE48564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882C4-C881-5B05-7B3D-DDA777E2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8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DBCA1-A409-025E-42CC-36746EB8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9BA4D-46A4-49F3-6C1E-EB61BD35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6E69-E545-42FD-9BD7-6941A547FACF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803F07-3D7C-11BF-79F3-CC0F5C24C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95044E-EF18-B54D-63E3-3A4CC309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15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3B9499-56F3-BEC8-DEEC-56589DE5C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6F690-5AE8-450B-BE04-4B5C865574C7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A39E0-F76A-0422-5090-60B473675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3E464-C6B4-C008-E76B-4DFAE2D50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85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C50D-BD03-085C-69DC-6BAAC01A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7C400-4D2A-48C0-B1CD-48E016E97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091E3-BE33-6B20-4CB2-02AFBA63D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AB8A-BA23-0B14-029E-B474D499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0DC99-8627-440D-AF7E-32394BCB28AB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81797-C315-FF75-3F38-11041EA0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C40E8-01B4-7D60-8038-37A3745C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24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914A-881D-0F84-717A-956BA375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17562-52ED-A2E9-2DB6-68E0BF5B1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C36D55-A311-78EB-868C-0BAAE67F1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DE0FE-214E-BD2F-3C55-6B196E41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A83A3-F41E-43F6-BE66-10ADF889D748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C5301-6CAF-B331-3506-6CE1CBA2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8B1FB-CF61-7039-703F-0C9903D3B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837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A442-51E4-1458-B1E9-856C138E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CAFB0-6A49-8FF1-D5E3-501787586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3788F-2DEA-FC9A-05B8-036796143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85-C673-4B16-AA39-F89593E36C67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C30C8-BE2F-62E2-48C0-1EDD643E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968CF-85C2-909E-8023-0D6DADF0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549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98F2CB-FDC5-30FC-916B-DF2FE09220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A3D59-67A6-0A38-6E3F-C12ECA547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D0945-D12D-4343-DCDC-56491CAD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8E10-4D06-4A8E-AF6B-ED4FEE5B7633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6BB6C-B891-87B1-E5A3-319C89D38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18F9D-CAA1-0CDD-87E4-9579F776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420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064" y="2410921"/>
            <a:ext cx="8960219" cy="3861600"/>
          </a:xfrm>
        </p:spPr>
        <p:txBody>
          <a:bodyPr anchor="t">
            <a:noAutofit/>
          </a:bodyPr>
          <a:lstStyle>
            <a:lvl1pPr algn="l">
              <a:defRPr sz="7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9829799" y="3246438"/>
            <a:ext cx="4114800" cy="365125"/>
          </a:xfrm>
        </p:spPr>
        <p:txBody>
          <a:bodyPr/>
          <a:lstStyle>
            <a:lvl1pPr algn="ctr">
              <a:defRPr sz="1400"/>
            </a:lvl1pPr>
          </a:lstStyle>
          <a:p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5AAFEA-9797-719F-034E-1443278D0D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83792" y="1123641"/>
            <a:ext cx="5184775" cy="1197600"/>
          </a:xfrm>
        </p:spPr>
        <p:txBody>
          <a:bodyPr anchor="ctr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3858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E2A2-57CA-76B4-7FC7-0E7E733D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6" y="575019"/>
            <a:ext cx="4876800" cy="132556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02CC6-0866-F6F1-FFC1-330B30DD73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FEAA7-A226-2E50-AD23-5FE2A5B986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9D59CD-16F0-1FCD-4958-4D193785951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83793" y="0"/>
            <a:ext cx="5798607" cy="6858000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694355-D2F1-6177-CA10-2FB2BDCA9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4733" y="3072977"/>
            <a:ext cx="4631139" cy="3196800"/>
          </a:xfrm>
        </p:spPr>
        <p:txBody>
          <a:bodyPr>
            <a:noAutofit/>
          </a:bodyPr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686FCB5-A714-48C5-F801-8BC93CA09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33" y="2656167"/>
            <a:ext cx="4634868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924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70115"/>
            <a:ext cx="3323629" cy="5725248"/>
          </a:xfrm>
        </p:spPr>
        <p:txBody>
          <a:bodyPr anchor="ctr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05357" y="579430"/>
            <a:ext cx="2120348" cy="5715933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DCE6C6-C40C-F791-B3FF-EEAA2288C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8418" y="1058563"/>
            <a:ext cx="4360149" cy="52368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0A1734-9E96-C076-6109-08BEAB597B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8233" y="577373"/>
            <a:ext cx="4360800" cy="387187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15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25B17-B4A1-EB92-A298-388D035BB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687" y="574467"/>
            <a:ext cx="6780880" cy="1325563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E9A8-062F-E52A-B822-F2C682A3C0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EDBD3-C06B-F685-6F3A-17047C93B3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DEB065-BE89-3D91-17A6-55B54A0585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563302"/>
            <a:ext cx="3160552" cy="5720232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DCE6C6-C40C-F791-B3FF-EEAA2288C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87687" y="2625934"/>
            <a:ext cx="6780880" cy="36576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D0ED4B-C12C-75E2-03E5-013A94AE89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87826" y="2281008"/>
            <a:ext cx="6780741" cy="314400"/>
          </a:xfrm>
        </p:spPr>
        <p:txBody>
          <a:bodyPr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7519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4162370"/>
            <a:ext cx="4118757" cy="2278186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E5AE0EA-E418-F652-0112-3BBECBF9F3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44065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61BF6E-948C-4AEB-61A4-244B2DE035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9114" y="576078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A50E1A-8491-728C-9FA7-3C2B65D8B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82818" y="4496555"/>
            <a:ext cx="5985749" cy="1944000"/>
          </a:xfrm>
        </p:spPr>
        <p:txBody>
          <a:bodyPr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C11A40-5DE3-08FC-B5EC-62212BF67E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82818" y="4162369"/>
            <a:ext cx="5985933" cy="271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5897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052" y="566058"/>
            <a:ext cx="1924741" cy="5704114"/>
          </a:xfrm>
        </p:spPr>
        <p:txBody>
          <a:bodyPr vert="vert270" anchor="ctr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1428516"/>
            <a:ext cx="3067418" cy="4000969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09" y="1597361"/>
            <a:ext cx="4992158" cy="4207567"/>
          </a:xfrm>
        </p:spPr>
        <p:txBody>
          <a:bodyPr anchor="t">
            <a:noAutofit/>
          </a:bodyPr>
          <a:lstStyle>
            <a:lvl1pPr>
              <a:spcBef>
                <a:spcPts val="400"/>
              </a:spcBef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1CC2E2-7A85-770A-CED5-0E6F307BA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76409" y="1248046"/>
            <a:ext cx="4992158" cy="3048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7863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7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E07BE-2E01-93C2-881C-035E1AEEA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426" y="573517"/>
            <a:ext cx="4307141" cy="1454400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44A2B-1547-1655-29B9-2804D5FE37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14879-2CE9-2FEA-4087-F8FC1C8C05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EB0609-9FA3-D912-5F69-9CD9658CA1C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619622"/>
            <a:ext cx="5618760" cy="5618400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1A2439D-33F0-4626-5731-8FB5D5295A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1426" y="2841588"/>
            <a:ext cx="4307141" cy="36144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9F0EDF-ED0D-7DF6-3D16-36E44C839E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1150" y="2474023"/>
            <a:ext cx="4307417" cy="333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6522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8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8E67-9FD7-A8F8-75F6-2FF3CD0D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01649"/>
            <a:ext cx="10369550" cy="758604"/>
          </a:xfrm>
        </p:spPr>
        <p:txBody>
          <a:bodyPr anchor="t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FFE8E-6F6C-1E23-79C9-808201616E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39AAF-82A4-7672-8873-E691CE5C39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2550198D-18A3-B15D-CC93-17763FFE6A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9017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E06D47-5795-E8A4-6688-63C0FCAB2B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45747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FB99BAA-F395-0232-ED1F-8AC6BA5C78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22381" y="3233531"/>
            <a:ext cx="3122820" cy="3122820"/>
          </a:xfrm>
        </p:spPr>
        <p:txBody>
          <a:bodyPr/>
          <a:lstStyle/>
          <a:p>
            <a:endParaRPr lang="en-ID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F44B7A2-957C-93E8-8209-7EE97327682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5734" y="1702061"/>
            <a:ext cx="10392833" cy="1437600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F51D89-C7C9-35E8-B687-68AAC511FED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5734" y="1340909"/>
            <a:ext cx="10392833" cy="3360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175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ection Slide(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B309-9F80-5BE3-F82C-91733414C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3640482"/>
            <a:ext cx="3478419" cy="2809378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27C05-E3B0-EFC4-2286-5860D4A1AC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3CF6B-04E5-9AB9-2466-0284576F0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F23F8-6331-43CC-E76A-052E46B7754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6" y="562709"/>
            <a:ext cx="4994450" cy="2866292"/>
          </a:xfrm>
        </p:spPr>
        <p:txBody>
          <a:bodyPr/>
          <a:lstStyle/>
          <a:p>
            <a:endParaRPr lang="en-ID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11F901-3943-1C25-A696-666A0EBDBC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90380" y="4054660"/>
            <a:ext cx="6678187" cy="23952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9263BE0-4D84-7BD4-D81B-B266C5C1C47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74117" y="562709"/>
            <a:ext cx="4994450" cy="2866292"/>
          </a:xfrm>
        </p:spPr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F9E850-0A01-918A-C1F1-461E6D7C1A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90380" y="3640666"/>
            <a:ext cx="6678187" cy="343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7659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908D4B-9946-0E0A-8BEE-BB1C6BFDBDE6}"/>
              </a:ext>
            </a:extLst>
          </p:cNvPr>
          <p:cNvSpPr/>
          <p:nvPr userDrawn="1"/>
        </p:nvSpPr>
        <p:spPr>
          <a:xfrm>
            <a:off x="4275667" y="2355849"/>
            <a:ext cx="6692532" cy="16425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5007C1-A2D2-F1A6-D730-4F0C404C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6035" y="619623"/>
            <a:ext cx="6692532" cy="1633247"/>
          </a:xfrm>
        </p:spPr>
        <p:txBody>
          <a:bodyPr anchor="t">
            <a:noAutofit/>
          </a:bodyPr>
          <a:lstStyle>
            <a:lvl1pPr algn="r">
              <a:defRPr/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CDCB85-C1AE-389B-180B-F0755C7558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B6781-E0BB-8244-2B18-81C5A89ABE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13D6F03-414F-3442-0C5B-EC8851378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9017" y="619622"/>
            <a:ext cx="3279453" cy="3279453"/>
          </a:xfrm>
        </p:spPr>
        <p:txBody>
          <a:bodyPr/>
          <a:lstStyle/>
          <a:p>
            <a:endParaRPr lang="en-ID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AB61BF6E-948C-4AEB-61A4-244B2DE035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90380" y="4162370"/>
            <a:ext cx="2278187" cy="2278187"/>
          </a:xfrm>
        </p:spPr>
        <p:txBody>
          <a:bodyPr/>
          <a:lstStyle/>
          <a:p>
            <a:endParaRPr lang="en-ID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DA50E1A-8491-728C-9FA7-3C2B65D8B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017" y="4385089"/>
            <a:ext cx="7732183" cy="2054400"/>
          </a:xfrm>
        </p:spPr>
        <p:txBody>
          <a:bodyPr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D539BA3-D11E-897F-CE18-588B0DC93D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76035" y="2607013"/>
            <a:ext cx="6692532" cy="1382400"/>
          </a:xfrm>
          <a:noFill/>
        </p:spPr>
        <p:txBody>
          <a:bodyPr lIns="90000" tIns="46800" rIns="90000" bIns="46800" anchor="t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910887-9DF9-8E41-CBB1-3C2A4179AC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9017" y="4126524"/>
            <a:ext cx="7732183" cy="24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F6B920-074C-FD0C-40EB-802122795E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75667" y="2355849"/>
            <a:ext cx="6692900" cy="249599"/>
          </a:xfrm>
          <a:noFill/>
        </p:spPr>
        <p:txBody>
          <a:bodyPr anchor="ctr" anchorCtr="0">
            <a:noAutofit/>
          </a:bodyPr>
          <a:lstStyle>
            <a:lvl1pPr>
              <a:defRPr sz="1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410533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419B-0A7A-D6A9-278B-3CB3F6B13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860" y="619622"/>
            <a:ext cx="4448707" cy="1968969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75DCC-A5DC-45EE-5280-E6AF55C5F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54E76-F34B-95F8-FD2E-0312C265AE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FD592EB7-0888-4601-189D-47D758F2EA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783792" cy="3855843"/>
          </a:xfrm>
        </p:spPr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5089FCE-DB18-D776-A8F9-8E69AD01AA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5734" y="4512078"/>
            <a:ext cx="5208058" cy="1987053"/>
          </a:xfrm>
        </p:spPr>
        <p:txBody>
          <a:bodyPr>
            <a:noAutofit/>
          </a:bodyPr>
          <a:lstStyle>
            <a:lvl1pPr>
              <a:defRPr>
                <a:latin typeface="+mn-lt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1pPr>
            <a:lvl2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2pPr>
            <a:lvl3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3pPr>
            <a:lvl4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4pPr>
            <a:lvl5pPr>
              <a:defRPr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0477A3C-2108-3003-027C-E88B14294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19862" y="3429000"/>
            <a:ext cx="4448705" cy="2852921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447C4F-9DF9-4C69-F400-0A0CE90074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5733" y="4066517"/>
            <a:ext cx="5208059" cy="4032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FE6426-8335-E1C3-FB13-43F08A52D6E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19862" y="3091241"/>
            <a:ext cx="4448706" cy="2880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31044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Sec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442312-9E63-3A81-2CB4-8F85F5C2CD49}"/>
              </a:ext>
            </a:extLst>
          </p:cNvPr>
          <p:cNvSpPr/>
          <p:nvPr userDrawn="1"/>
        </p:nvSpPr>
        <p:spPr>
          <a:xfrm>
            <a:off x="0" y="1945185"/>
            <a:ext cx="3878469" cy="49128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ID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0176E-FDDF-30CB-EB74-A75B39D05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694" y="501649"/>
            <a:ext cx="10270873" cy="1325563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0C34D-8F75-41B3-4243-E45FBD015B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13D18-EF04-D403-494B-02A03A28BC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0E6078-78A1-619C-E7B0-63DBC649FF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9017" y="2686751"/>
            <a:ext cx="270298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3E87E0F-2528-3A8B-F312-9C9235E586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771" y="2686751"/>
            <a:ext cx="285004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A75F903-A46A-31EE-9532-17999D9477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9016" y="2275974"/>
            <a:ext cx="2702984" cy="369600"/>
          </a:xfrm>
        </p:spPr>
        <p:txBody>
          <a:bodyPr anchor="b">
            <a:noAutofit/>
          </a:bodyPr>
          <a:lstStyle>
            <a:lvl1pPr>
              <a:defRPr sz="125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746F59D-CF95-DEC8-5CAA-EE08708A5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58771" y="2275974"/>
            <a:ext cx="2851200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CDD7BE0-BC6C-5AE9-BCEE-9C91EA7B4B4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18524" y="2686751"/>
            <a:ext cx="2850043" cy="36696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C0FB17E-6098-251C-5B8E-56C2FE57DE9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17367" y="2275974"/>
            <a:ext cx="2851200" cy="369600"/>
          </a:xfrm>
        </p:spPr>
        <p:txBody>
          <a:bodyPr anchor="b">
            <a:noAutofit/>
          </a:bodyPr>
          <a:lstStyle>
            <a:lvl1pPr>
              <a:defRPr sz="1250"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18244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12000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31381" y="4112515"/>
            <a:ext cx="2396467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04E407-1287-6C2D-410A-98BC0C8674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583792" y="1711315"/>
            <a:ext cx="2400000" cy="4802400"/>
          </a:xfrm>
        </p:spPr>
        <p:txBody>
          <a:bodyPr/>
          <a:lstStyle/>
          <a:p>
            <a:endParaRPr lang="x-none"/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3298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1381" y="3535556"/>
            <a:ext cx="2396467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48693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54626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57545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1237772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54623" y="4123971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3298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57469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148693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154626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22">
            <a:extLst>
              <a:ext uri="{FF2B5EF4-FFF2-40B4-BE49-F238E27FC236}">
                <a16:creationId xmlns:a16="http://schemas.microsoft.com/office/drawing/2014/main" id="{6034BEDD-4A10-0EE9-2B80-CC48F6463E58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4764900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AF6507D-02F3-DCED-4A26-289016D4AA4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92749" y="35355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DD65D9A-82AD-5F53-C8F5-B476568A76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04627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67448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hart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EEB1E-7063-62F6-6178-84A09252D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24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688764-10F6-E04C-94EB-0287F12582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32E04-1353-E30E-552C-E54A3DA074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5" name="Chart Placeholder 22">
            <a:extLst>
              <a:ext uri="{FF2B5EF4-FFF2-40B4-BE49-F238E27FC236}">
                <a16:creationId xmlns:a16="http://schemas.microsoft.com/office/drawing/2014/main" id="{10D922AA-24B6-6B14-7A38-DBC7EDED764B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758041" y="173809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6FB6B8F6-C436-9978-2F4B-4A4FAEFE52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5733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hart Placeholder 22">
            <a:extLst>
              <a:ext uri="{FF2B5EF4-FFF2-40B4-BE49-F238E27FC236}">
                <a16:creationId xmlns:a16="http://schemas.microsoft.com/office/drawing/2014/main" id="{1BE74FB2-1D73-647C-5C92-0AA274565BB5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>
          <a:xfrm>
            <a:off x="8735824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7C4768-2F14-E327-6DA3-6E37F58CFA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81086" y="3537499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E210F19-1CD2-510F-9EF1-7A725C1F08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554717" y="3540182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01CE4C3-5BFE-BA45-1C06-0F5D8259E6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566167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hart Placeholder 22">
            <a:extLst>
              <a:ext uri="{FF2B5EF4-FFF2-40B4-BE49-F238E27FC236}">
                <a16:creationId xmlns:a16="http://schemas.microsoft.com/office/drawing/2014/main" id="{6034BEDD-4A10-0EE9-2B80-CC48F6463E58}"/>
              </a:ext>
            </a:extLst>
          </p:cNvPr>
          <p:cNvSpPr>
            <a:spLocks noGrp="1"/>
          </p:cNvSpPr>
          <p:nvPr>
            <p:ph type="chart" sz="quarter" idx="34"/>
          </p:nvPr>
        </p:nvSpPr>
        <p:spPr>
          <a:xfrm>
            <a:off x="3370625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AF6507D-02F3-DCED-4A26-289016D4AA4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189519" y="3537499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DD65D9A-82AD-5F53-C8F5-B476568A76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189518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B133C47-E461-5076-CFB7-81D33483F7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971041" y="4111315"/>
            <a:ext cx="2402400" cy="240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610F9E3-7283-B27D-D134-C4587A57822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71041" y="3530456"/>
            <a:ext cx="2399999" cy="484860"/>
          </a:xfrm>
        </p:spPr>
        <p:txBody>
          <a:bodyPr anchor="b">
            <a:noAutofit/>
          </a:bodyPr>
          <a:lstStyle>
            <a:lvl1pPr algn="ctr">
              <a:defRPr sz="1250" b="1"/>
            </a:lvl1pPr>
            <a:lvl2pPr>
              <a:defRPr sz="933" b="1"/>
            </a:lvl2pPr>
            <a:lvl3pPr>
              <a:defRPr sz="800" b="1"/>
            </a:lvl3pPr>
            <a:lvl4pPr>
              <a:defRPr sz="733" b="1"/>
            </a:lvl4pPr>
            <a:lvl5pPr>
              <a:defRPr sz="733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hart Placeholder 22">
            <a:extLst>
              <a:ext uri="{FF2B5EF4-FFF2-40B4-BE49-F238E27FC236}">
                <a16:creationId xmlns:a16="http://schemas.microsoft.com/office/drawing/2014/main" id="{55CE330B-87B2-E709-8431-E977F2430003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6152148" y="1744717"/>
            <a:ext cx="2037784" cy="168428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8054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A9BB-4EB7-026F-4816-EB928B5D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5F750-4EF6-B33F-4FD2-2D9576B1F3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28C6-0B9B-0025-A8AE-3EE85EAAD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73C4683-1814-6BFA-2362-08272BB995A4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1184191" y="2398620"/>
            <a:ext cx="9199200" cy="3875617"/>
          </a:xfrm>
        </p:spPr>
        <p:txBody>
          <a:bodyPr/>
          <a:lstStyle/>
          <a:p>
            <a:endParaRPr lang="x-non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24791E-5C2D-05F7-7815-AE0E39BA9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84358" y="1875366"/>
            <a:ext cx="9199033" cy="388800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0696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01C7-D54C-B4CE-4985-D871336E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397F2-212D-3A9C-585D-F7362936EA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C6FE0-5103-FAEE-F71B-5E68DD283B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21095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D2E36-BADF-8412-F354-96F2041DC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1D5FD-C837-C92F-8E5D-69F199301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F24BE-8BEB-403A-BDCC-38E201D0662D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58900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1066667" cy="4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lang="en-US" b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1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54920-5A81-C9FF-1D15-FC1AD1464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8998C-032D-C4FF-9392-963BCE004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FB625-44F8-0DE2-6B6F-0455BBA20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C2A01-BE45-411F-88BD-291BA4DFCCEA}" type="datetime1">
              <a:rPr lang="en-IN" smtClean="0"/>
              <a:pPr/>
              <a:t>28-01-2025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51115-0075-DADC-E2D9-76199901E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C5101-B264-91E8-6317-4FB13E1AF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0E8D2-1BDA-4859-AA59-130DD07FDEA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99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A7B8A4-ABCC-D9A5-163D-95AADEB96E20}"/>
              </a:ext>
            </a:extLst>
          </p:cNvPr>
          <p:cNvSpPr/>
          <p:nvPr userDrawn="1"/>
        </p:nvSpPr>
        <p:spPr>
          <a:xfrm>
            <a:off x="11582400" y="0"/>
            <a:ext cx="6096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2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9017" y="583764"/>
            <a:ext cx="10369550" cy="9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9017" y="1991065"/>
            <a:ext cx="10369550" cy="4283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829799" y="20113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399" y="6356351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10" b="1">
                <a:solidFill>
                  <a:schemeClr val="bg1"/>
                </a:solidFill>
              </a:defRPr>
            </a:lvl1pPr>
          </a:lstStyle>
          <a:p>
            <a:fld id="{CF6F24BE-8BEB-403A-BDCC-38E201D0662D}" type="slidenum">
              <a:rPr lang="en-ID" smtClean="0"/>
              <a:pPr/>
              <a:t>‹#›</a:t>
            </a:fld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4385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9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None/>
        <a:defRPr sz="733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465">
          <p15:clr>
            <a:srgbClr val="F26B43"/>
          </p15:clr>
        </p15:guide>
        <p15:guide id="2" orient="horz" pos="3240">
          <p15:clr>
            <a:srgbClr val="F26B43"/>
          </p15:clr>
        </p15:guide>
        <p15:guide id="3" pos="10364">
          <p15:clr>
            <a:srgbClr val="F26B43"/>
          </p15:clr>
        </p15:guide>
        <p15:guide id="4" pos="5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5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6.wmf"/><Relationship Id="rId3" Type="http://schemas.openxmlformats.org/officeDocument/2006/relationships/image" Target="../media/image16.png"/><Relationship Id="rId7" Type="http://schemas.openxmlformats.org/officeDocument/2006/relationships/image" Target="../media/image20.wmf"/><Relationship Id="rId12" Type="http://schemas.openxmlformats.org/officeDocument/2006/relationships/image" Target="../media/image25.w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8.emf"/><Relationship Id="rId15" Type="http://schemas.openxmlformats.org/officeDocument/2006/relationships/image" Target="../media/image28.wmf"/><Relationship Id="rId10" Type="http://schemas.openxmlformats.org/officeDocument/2006/relationships/image" Target="../media/image23.wmf"/><Relationship Id="rId4" Type="http://schemas.openxmlformats.org/officeDocument/2006/relationships/image" Target="../media/image17.png"/><Relationship Id="rId9" Type="http://schemas.openxmlformats.org/officeDocument/2006/relationships/image" Target="../media/image22.wmf"/><Relationship Id="rId14" Type="http://schemas.openxmlformats.org/officeDocument/2006/relationships/image" Target="../media/image27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image" Target="../media/image53.wmf"/><Relationship Id="rId18" Type="http://schemas.openxmlformats.org/officeDocument/2006/relationships/image" Target="../media/image58.wmf"/><Relationship Id="rId3" Type="http://schemas.openxmlformats.org/officeDocument/2006/relationships/image" Target="../media/image43.wmf"/><Relationship Id="rId21" Type="http://schemas.openxmlformats.org/officeDocument/2006/relationships/image" Target="../media/image61.wmf"/><Relationship Id="rId7" Type="http://schemas.openxmlformats.org/officeDocument/2006/relationships/image" Target="../media/image47.wmf"/><Relationship Id="rId12" Type="http://schemas.openxmlformats.org/officeDocument/2006/relationships/image" Target="../media/image52.wmf"/><Relationship Id="rId17" Type="http://schemas.openxmlformats.org/officeDocument/2006/relationships/image" Target="../media/image57.wmf"/><Relationship Id="rId2" Type="http://schemas.openxmlformats.org/officeDocument/2006/relationships/image" Target="../media/image42.png"/><Relationship Id="rId16" Type="http://schemas.openxmlformats.org/officeDocument/2006/relationships/image" Target="../media/image56.wmf"/><Relationship Id="rId20" Type="http://schemas.openxmlformats.org/officeDocument/2006/relationships/image" Target="../media/image60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11" Type="http://schemas.openxmlformats.org/officeDocument/2006/relationships/image" Target="../media/image51.wmf"/><Relationship Id="rId5" Type="http://schemas.openxmlformats.org/officeDocument/2006/relationships/image" Target="../media/image45.wmf"/><Relationship Id="rId15" Type="http://schemas.openxmlformats.org/officeDocument/2006/relationships/image" Target="../media/image55.wmf"/><Relationship Id="rId23" Type="http://schemas.openxmlformats.org/officeDocument/2006/relationships/image" Target="../media/image63.wmf"/><Relationship Id="rId10" Type="http://schemas.openxmlformats.org/officeDocument/2006/relationships/image" Target="../media/image50.wmf"/><Relationship Id="rId19" Type="http://schemas.openxmlformats.org/officeDocument/2006/relationships/image" Target="../media/image59.wmf"/><Relationship Id="rId4" Type="http://schemas.openxmlformats.org/officeDocument/2006/relationships/image" Target="../media/image44.wmf"/><Relationship Id="rId9" Type="http://schemas.openxmlformats.org/officeDocument/2006/relationships/image" Target="../media/image49.wmf"/><Relationship Id="rId14" Type="http://schemas.openxmlformats.org/officeDocument/2006/relationships/image" Target="../media/image54.wmf"/><Relationship Id="rId22" Type="http://schemas.openxmlformats.org/officeDocument/2006/relationships/image" Target="../media/image62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CA5F-F1E3-002C-7B81-91C5BD92D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944" y="2270881"/>
            <a:ext cx="9144000" cy="3313490"/>
          </a:xfrm>
        </p:spPr>
        <p:txBody>
          <a:bodyPr>
            <a:normAutofit/>
          </a:bodyPr>
          <a:lstStyle/>
          <a:p>
            <a:br>
              <a:rPr lang="en-US" sz="4800" dirty="0"/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Topic: Random Variables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Subject: Calculus and Statistics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49539-A0C0-7732-E229-256646C0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7A11084D-E627-07C4-C8D1-7CFA47173C7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53460" y="290512"/>
            <a:ext cx="1164454" cy="12334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63A159-EA59-0774-E9B9-828C50BF34C2}"/>
              </a:ext>
            </a:extLst>
          </p:cNvPr>
          <p:cNvSpPr txBox="1"/>
          <p:nvPr/>
        </p:nvSpPr>
        <p:spPr>
          <a:xfrm>
            <a:off x="2155371" y="517911"/>
            <a:ext cx="914400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42545" algn="ctr">
              <a:spcBef>
                <a:spcPts val="745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Bansilal Ramnath Agarwal Charitable </a:t>
            </a:r>
            <a:r>
              <a:rPr lang="en-US" sz="1800" b="1" spc="-1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Trust’s</a:t>
            </a:r>
            <a:endParaRPr lang="en-IN" sz="16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42545" algn="ctr">
              <a:spcBef>
                <a:spcPts val="935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VISHWAKARMA</a:t>
            </a:r>
            <a:r>
              <a:rPr lang="en-US" sz="2400" b="1" spc="-55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INSTITUTE</a:t>
            </a:r>
            <a:r>
              <a:rPr lang="en-US" sz="2400" b="1" spc="-4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400" b="1" spc="-4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TECHNOLOGY,</a:t>
            </a:r>
            <a:r>
              <a:rPr lang="en-US" sz="2400" b="1" spc="-45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PUNE</a:t>
            </a:r>
            <a:r>
              <a:rPr lang="en-US" sz="2400" b="1" spc="-4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–</a:t>
            </a:r>
            <a:r>
              <a:rPr lang="en-US" sz="2400" b="1" spc="-4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5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37</a:t>
            </a:r>
          </a:p>
          <a:p>
            <a:pPr marR="42545" algn="ctr">
              <a:spcBef>
                <a:spcPts val="935"/>
              </a:spcBef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(An Autonomous Institute Affiliated to University of </a:t>
            </a:r>
            <a:r>
              <a:rPr lang="en-US" sz="1800" b="1" spc="-10" dirty="0">
                <a:solidFill>
                  <a:schemeClr val="accent1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Pune)</a:t>
            </a:r>
            <a:endParaRPr lang="en-IN" sz="18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R="42545" algn="ctr">
              <a:spcBef>
                <a:spcPts val="935"/>
              </a:spcBef>
              <a:spcAft>
                <a:spcPts val="0"/>
              </a:spcAf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353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B3D2-6558-2198-DF95-7093441D2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Why random variables?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C9DE-23C9-67A9-5695-BEC048547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 model uncertainties in engineering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 simulate unpredictable phenomenon such as weather conditions and radio noise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 optimize systems for performance and reliability by increasing robustness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 enhance security and privacy of data and communication though encryption and authentication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Applications:</a:t>
            </a:r>
          </a:p>
          <a:p>
            <a:pPr marL="514350" indent="-514350">
              <a:buAutoNum type="arabicPeriod"/>
            </a:pPr>
            <a:r>
              <a:rPr lang="en-IN" dirty="0"/>
              <a:t>Designing and maintenance of engineering applications</a:t>
            </a:r>
          </a:p>
          <a:p>
            <a:pPr marL="514350" indent="-514350">
              <a:buAutoNum type="arabicPeriod"/>
            </a:pPr>
            <a:r>
              <a:rPr lang="en-IN" dirty="0"/>
              <a:t>Queueing theory</a:t>
            </a:r>
          </a:p>
          <a:p>
            <a:pPr marL="514350" indent="-514350">
              <a:buAutoNum type="arabicPeriod"/>
            </a:pPr>
            <a:r>
              <a:rPr lang="en-IN" dirty="0"/>
              <a:t>Reliability Analysis</a:t>
            </a:r>
          </a:p>
          <a:p>
            <a:pPr marL="514350" indent="-514350">
              <a:buAutoNum type="arabicPeriod"/>
            </a:pPr>
            <a:r>
              <a:rPr lang="en-IN" dirty="0"/>
              <a:t>Noise modelling in signal processing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840A9-9FB1-C42C-ACB8-98B340E97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1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CCD30-0686-B46C-B13C-1B623DBC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Experiment: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DB763-E47B-9F56-AC36-CDECE9A79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A random experiment is an experiment where the outcome can not be predicted with certainty and it lacks a definite pattern.</a:t>
            </a:r>
          </a:p>
          <a:p>
            <a:r>
              <a:rPr lang="en-IN" dirty="0"/>
              <a:t>Hence in a random experiment the outcome depends on chance. However it has a definite probability of occurrence.</a:t>
            </a:r>
          </a:p>
          <a:p>
            <a:r>
              <a:rPr lang="en-IN" dirty="0"/>
              <a:t>Example: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Tossing of a coin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Drawing a card from a peck of 52 cards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Measuring the amount of rainfall on a random day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Checking the price of stock at a random time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Measuring the height of a randomly selected person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423CA-D8B7-8D16-969E-E4083799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736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F0C5F-B374-0EDC-E119-806B483B99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68424"/>
                <a:ext cx="10515600" cy="49561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 random variable is a function which maps the outcome of a random process to a real number such that each value/range of values taken is associated with a probability.</a:t>
                </a:r>
              </a:p>
              <a:p>
                <a:r>
                  <a:rPr lang="en-US" dirty="0"/>
                  <a:t>In other words, If S is a sample space and X is a real valued function defined on S then X is called a random variable 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Domain </a:t>
                </a:r>
                <a:r>
                  <a:rPr lang="en-US" dirty="0"/>
                  <a:t>of a random variable is the sample space S.</a:t>
                </a:r>
              </a:p>
              <a:p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Range</a:t>
                </a:r>
                <a:r>
                  <a:rPr lang="en-US" dirty="0"/>
                  <a:t> of a random variable is a set of all possible values taken by X which can be either discrete or continuous.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94EF0C5F-B374-0EDC-E119-806B483B99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68424"/>
                <a:ext cx="10515600" cy="4956175"/>
              </a:xfrm>
              <a:blipFill>
                <a:blip r:embed="rId2" cstate="print"/>
                <a:stretch>
                  <a:fillRect l="-1043" t="-1968" r="-15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BF3D6-E9EB-70AA-784E-EEDD3B41F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60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D1C9-BF58-6310-660B-6C4358CD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6">
                    <a:lumMod val="75000"/>
                  </a:schemeClr>
                </a:solidFill>
              </a:rPr>
              <a:t>Types of random variables:</a:t>
            </a:r>
            <a:endParaRPr lang="en-IN" b="1" u="sng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01327-7084-E48F-8789-188A36D6D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Discrete random variable</a:t>
            </a:r>
            <a:r>
              <a:rPr lang="en-US" dirty="0"/>
              <a:t>:  It is a random variable which takes countable number of possible values.</a:t>
            </a:r>
          </a:p>
          <a:p>
            <a:pPr marL="533400" indent="-533400">
              <a:lnSpc>
                <a:spcPct val="100000"/>
              </a:lnSpc>
              <a:buNone/>
            </a:pPr>
            <a:r>
              <a:rPr lang="en-US" dirty="0"/>
              <a:t>      Example: count of customers, </a:t>
            </a:r>
          </a:p>
          <a:p>
            <a:pPr marL="533400" indent="-533400">
              <a:lnSpc>
                <a:spcPct val="100000"/>
              </a:lnSpc>
              <a:buNone/>
            </a:pPr>
            <a:r>
              <a:rPr lang="en-US" dirty="0"/>
              <a:t>      number of items sold, </a:t>
            </a:r>
          </a:p>
          <a:p>
            <a:pPr marL="533400" indent="-533400">
              <a:lnSpc>
                <a:spcPct val="100000"/>
              </a:lnSpc>
              <a:buNone/>
            </a:pPr>
            <a:r>
              <a:rPr lang="en-US" dirty="0"/>
              <a:t>      total of roll of two dice</a:t>
            </a:r>
            <a:r>
              <a:rPr lang="en-IN" dirty="0"/>
              <a:t>. </a:t>
            </a:r>
          </a:p>
          <a:p>
            <a:pPr marL="533400" indent="-533400">
              <a:lnSpc>
                <a:spcPct val="100000"/>
              </a:lnSpc>
              <a:buNone/>
            </a:pPr>
            <a:r>
              <a:rPr lang="en-IN" dirty="0"/>
              <a:t>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63B1A-7EF1-6D10-1F6F-4E90D71762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495" y="4814661"/>
            <a:ext cx="1683705" cy="11062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1BFD4E-141B-4226-666F-2C8AE789CE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2235" y="2453561"/>
            <a:ext cx="2212180" cy="1733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01086F-8080-FB7D-34F5-03E45BDB5E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103" y="4464050"/>
            <a:ext cx="2466975" cy="18478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FA6ED-1612-8B26-A458-0AA87EF2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05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4AA6-3E70-32D0-BCF3-C27752A8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0F47-3F6F-3F9F-473E-8132C2999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4300"/>
            <a:ext cx="10515600" cy="4792663"/>
          </a:xfrm>
        </p:spPr>
        <p:txBody>
          <a:bodyPr/>
          <a:lstStyle/>
          <a:p>
            <a:r>
              <a:rPr lang="en-US" dirty="0"/>
              <a:t>A balanced coin is tossed four times. List the elements of the sample space that are presumed to be equally likely and the corresponding values x of the random variable X which denotes the total number of heads.</a:t>
            </a:r>
          </a:p>
          <a:p>
            <a:pPr marL="0" indent="0">
              <a:buNone/>
            </a:pPr>
            <a:r>
              <a:rPr lang="en-US" dirty="0"/>
              <a:t>   Ans:</a:t>
            </a:r>
          </a:p>
          <a:p>
            <a:r>
              <a:rPr lang="en-US" dirty="0"/>
              <a:t>Here X=no. of heads in four tosses of a coin</a:t>
            </a:r>
          </a:p>
          <a:p>
            <a:r>
              <a:rPr lang="en-US" dirty="0"/>
              <a:t>Sample Space={HHHH,HHHT,HHTH,HHTT,HTHH,HTHT,HTTH,HTTT,</a:t>
            </a:r>
          </a:p>
          <a:p>
            <a:pPr marL="0" indent="0">
              <a:buNone/>
            </a:pPr>
            <a:r>
              <a:rPr lang="en-US" dirty="0"/>
              <a:t>                               THHH,THHT, THTH, THTT, TTHH, TTHT, TTTH, TTTT}</a:t>
            </a:r>
          </a:p>
          <a:p>
            <a:r>
              <a:rPr lang="en-US" dirty="0"/>
              <a:t>Values of random variable X associated with each outcome are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DBBF8-8EF4-3076-0D6A-F875EA45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54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AB89-03C9-F755-98FF-DC52ED3FC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6314"/>
            <a:ext cx="10515600" cy="573064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dirty="0"/>
              <a:t>X(HHHH)=4,     X(</a:t>
            </a:r>
            <a:r>
              <a:rPr lang="en-US" dirty="0"/>
              <a:t>HHHT)=3,             X(HHTH)=3,            X(HHTT)=2,                      X(HTHH)=3,      X(HTHT)=2,             X(HTTH)=2,             X(HTTT)=1,                     X(THHH)=3,      X(THHT)=2,             X(THTH)=2,             X(THTT)=1 ,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   X(TTHH)=2,       X(TTHT)=1,             X(TTTH)=1,              X(TTTT)=0</a:t>
            </a:r>
            <a:r>
              <a:rPr lang="en-IN"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EE3AB6-2815-D6AB-1DD2-2FD2EED6A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48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2C57B-4D97-33EF-8C96-748A7A355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882"/>
            <a:ext cx="10515600" cy="4351338"/>
          </a:xfrm>
        </p:spPr>
        <p:txBody>
          <a:bodyPr/>
          <a:lstStyle/>
          <a:p>
            <a:pPr marL="533400" indent="-533400">
              <a:lnSpc>
                <a:spcPct val="100000"/>
              </a:lnSpc>
              <a:buNone/>
            </a:pPr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Continuous random variable</a:t>
            </a:r>
            <a:r>
              <a:rPr lang="en-IN" dirty="0"/>
              <a:t>: It is a random variable which takes uncountable number of possible values.</a:t>
            </a:r>
          </a:p>
          <a:p>
            <a:pPr marL="533400" indent="-533400">
              <a:buNone/>
            </a:pPr>
            <a:r>
              <a:rPr lang="en-IN" dirty="0"/>
              <a:t>      Example: Temperature on a given day, percentage obtained in a     particular examination, price of stock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6DDB4E-CCE5-E2F6-6524-B7DED4278A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92593"/>
            <a:ext cx="3253831" cy="1970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4F8499-20B8-27D7-B4BD-9FBBA8713A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095" y="4213453"/>
            <a:ext cx="2762250" cy="16573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1A773A-C57C-C290-1504-B1DAB4127B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419" y="2610643"/>
            <a:ext cx="2143125" cy="21431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ECE8B0-728A-8383-0654-3F765FD6CF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417" y="3682206"/>
            <a:ext cx="2057400" cy="22193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85032-CF0B-05EF-71E6-22359D7E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4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D2D7-3F36-1456-3BD4-A3ADF7A5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175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4051-CC61-AFA9-68F2-5FCD8A808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71154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the face of a clock, and suppose that we randomly spin the secondhand around the clock face. Define X as the position where the second hand stops spinning. Discuss the sample space and the range of X in this example</a:t>
            </a:r>
            <a:endParaRPr lang="en-IN" dirty="0"/>
          </a:p>
          <a:p>
            <a:r>
              <a:rPr lang="en-IN" dirty="0"/>
              <a:t>Ans:</a:t>
            </a:r>
          </a:p>
          <a:p>
            <a:pPr marL="0" indent="0">
              <a:buNone/>
            </a:pPr>
            <a:r>
              <a:rPr lang="en-IN" dirty="0"/>
              <a:t>   Here the sample space can be represented by </a:t>
            </a:r>
            <a:r>
              <a:rPr lang="en-US" dirty="0"/>
              <a:t>S = {x | x is a point on a    </a:t>
            </a:r>
          </a:p>
          <a:p>
            <a:pPr marL="0" indent="0">
              <a:buNone/>
            </a:pPr>
            <a:r>
              <a:rPr lang="en-US" dirty="0"/>
              <a:t>   circle}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  The random variable X, defined as  the position where the second    </a:t>
            </a:r>
          </a:p>
          <a:p>
            <a:pPr marL="0" indent="0">
              <a:buNone/>
            </a:pPr>
            <a:r>
              <a:rPr lang="en-US" dirty="0"/>
              <a:t>    hand stops spinning is a continuous random variable with a range    </a:t>
            </a:r>
          </a:p>
          <a:p>
            <a:pPr marL="0" indent="0">
              <a:buNone/>
            </a:pPr>
            <a:r>
              <a:rPr lang="en-US" dirty="0"/>
              <a:t>   [0,12]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5B9FB-0AE5-3FEA-5901-826E8F66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068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2AE6-8BF4-81B0-895D-55DE67E0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Probability Distribution of a discrete random variable:</a:t>
            </a:r>
            <a:endParaRPr lang="en-IN" b="1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937C01-A6FF-1BDE-53EE-AFEB20C16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If X is a discrete random variable, the function given by 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for each x within the range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called the   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>
                    <a:solidFill>
                      <a:schemeClr val="accent1"/>
                    </a:solidFill>
                  </a:rPr>
                  <a:t>probability distribution/ probability mass function 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 function can serve as the probability distribution of a discrete random variable X if and only if its values, f(x), satisfy the conditions </a:t>
                </a:r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for each value within its domain;</a:t>
                </a:r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where the summation extends over all the values within its domain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AF937C01-A6FF-1BDE-53EE-AFEB20C16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 b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E45BB-9017-8503-8823-86F783DF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37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56D1C-B685-81F1-2021-7FFF757C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Cumulative Distribution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69B32-D1CA-AC57-E7BD-D7A93C9D0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62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X is a discrete random variable, the function given by </a:t>
                </a: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IN" b="0" i="1" smtClean="0">
                        <a:latin typeface="Cambria Math" panose="02040503050406030204" pitchFamily="18" charset="0"/>
                      </a:rPr>
                      <m:t>,   −∞&lt;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value of the probability distribution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is called the </a:t>
                </a:r>
                <a:r>
                  <a:rPr lang="en-US" dirty="0">
                    <a:solidFill>
                      <a:schemeClr val="accent1"/>
                    </a:solidFill>
                  </a:rPr>
                  <a:t>distribution function, or the cumulative distribution function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The values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the distribution function of a discrete random variable X satisfy the conditions </a:t>
                </a:r>
              </a:p>
              <a:p>
                <a:pPr marL="571500" indent="-571500"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=0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b="0" dirty="0"/>
              </a:p>
              <a:p>
                <a:pPr marL="571500" indent="-571500">
                  <a:buAutoNum type="romanLcPeriod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for any real numbers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069B32-D1CA-AC57-E7BD-D7A93C9D0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6225"/>
                <a:ext cx="10515600" cy="4351338"/>
              </a:xfrm>
              <a:blipFill>
                <a:blip r:embed="rId2"/>
                <a:stretch>
                  <a:fillRect l="-1217" t="-2384" r="-1681" b="-40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A9DFB-4FB5-D3D9-255D-BC80347D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27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5FFA-574C-77F6-EDF2-DBBBDAFB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C7E28-AC9F-ACC2-41F6-FA2C633BC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Find the probability distribution of total number of heads obtained in four tosses of a balanced coin. Also find the cumulative distribution function .</a:t>
            </a:r>
          </a:p>
          <a:p>
            <a:r>
              <a:rPr lang="en-IN" dirty="0"/>
              <a:t>Ans:</a:t>
            </a:r>
          </a:p>
          <a:p>
            <a:r>
              <a:rPr lang="en-IN" dirty="0"/>
              <a:t>As seen earlier the values taken by X are 0,1,2,3,4</a:t>
            </a:r>
          </a:p>
          <a:p>
            <a:r>
              <a:rPr lang="en-IN" dirty="0"/>
              <a:t>P(X=0)=P(zero heads)=P({TTTT})=1/16</a:t>
            </a:r>
          </a:p>
          <a:p>
            <a:r>
              <a:rPr lang="en-IN" dirty="0"/>
              <a:t>P(X=1)=P(one head)=P({HTTT, THTT, TTHT, TTTH})=4/16</a:t>
            </a:r>
          </a:p>
          <a:p>
            <a:r>
              <a:rPr lang="en-IN" dirty="0"/>
              <a:t>Similarly P(X=2)=6/16  , P(X=3)=4/16 , P(X=4)=1/16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EA8E7-43E9-F52F-9BFE-384412DD4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968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C48629-08FE-ABBF-8891-E0C3575FA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5085" y="1864860"/>
            <a:ext cx="5661053" cy="4450571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93B372B-5CA4-EC92-7ABB-244A42C23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964822"/>
              </p:ext>
            </p:extLst>
          </p:nvPr>
        </p:nvGraphicFramePr>
        <p:xfrm>
          <a:off x="2032000" y="719666"/>
          <a:ext cx="8128002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50901759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292821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1098924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34193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50311700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30559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286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4/16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6/16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4/16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/>
                        <a:t>1/16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98425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96B27E-2322-A746-1BD3-56BD49E4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697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911B5E-B798-C9C2-D211-D472739093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20486"/>
                <a:ext cx="10515600" cy="5556477"/>
              </a:xfrm>
            </p:spPr>
            <p:txBody>
              <a:bodyPr/>
              <a:lstStyle/>
              <a:p>
                <a:r>
                  <a:rPr lang="en-IN" dirty="0"/>
                  <a:t>Cumulative distribution function is as follows:</a:t>
                </a:r>
              </a:p>
              <a:p>
                <a:pPr marL="0" indent="0">
                  <a:buNone/>
                </a:pPr>
                <a:r>
                  <a:rPr lang="en-IN" dirty="0"/>
                  <a:t>   Given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It follows that,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IN" sz="20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(2)=</m:t>
                    </m:r>
                    <m:f>
                      <m:f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IN" sz="2000" dirty="0"/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(3)=</m:t>
                      </m:r>
                      <m:f>
                        <m:f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</m:oMath>
                  </m:oMathPara>
                </a14:m>
                <a:endParaRPr lang="en-IN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(4)=</m:t>
                    </m:r>
                  </m:oMath>
                </a14:m>
                <a:r>
                  <a:rPr lang="en-IN" sz="2000" dirty="0"/>
                  <a:t>1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1911B5E-B798-C9C2-D211-D472739093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20486"/>
                <a:ext cx="10515600" cy="5556477"/>
              </a:xfrm>
              <a:blipFill>
                <a:blip r:embed="rId2" cstate="print"/>
                <a:stretch>
                  <a:fillRect l="-1217" t="-18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Right 3">
            <a:extLst>
              <a:ext uri="{FF2B5EF4-FFF2-40B4-BE49-F238E27FC236}">
                <a16:creationId xmlns:a16="http://schemas.microsoft.com/office/drawing/2014/main" id="{9356687F-6618-9ECE-EE0D-13DE2026522F}"/>
              </a:ext>
            </a:extLst>
          </p:cNvPr>
          <p:cNvSpPr/>
          <p:nvPr/>
        </p:nvSpPr>
        <p:spPr>
          <a:xfrm>
            <a:off x="5921829" y="3167743"/>
            <a:ext cx="1371600" cy="4463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402BB7-82F4-DBE5-CAEE-D2C99B598806}"/>
                  </a:ext>
                </a:extLst>
              </p:cNvPr>
              <p:cNvSpPr txBox="1"/>
              <p:nvPr/>
            </p:nvSpPr>
            <p:spPr>
              <a:xfrm>
                <a:off x="7576457" y="2122715"/>
                <a:ext cx="3189514" cy="2923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       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  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0≤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&lt;1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5</m:t>
                                          </m:r>
                                        </m:num>
                                        <m:den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den>
                                      </m:f>
                                      <m:r>
                                        <m:rPr>
                                          <m:brk m:alnAt="7"/>
                                        </m:r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   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𝑓𝑜𝑟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 1≤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&lt;2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I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I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I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I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I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  <m:r>
                                                  <a:rPr lang="en-I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6</m:t>
                                                </m:r>
                                              </m:den>
                                            </m:f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 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𝑓𝑜𝑟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 2≤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en-IN" b="0" i="1" smtClean="0">
                                                <a:latin typeface="Cambria Math" panose="02040503050406030204" pitchFamily="18" charset="0"/>
                                              </a:rPr>
                                              <m:t>&lt;3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m>
                                              <m:mPr>
                                                <m:mcs>
                                                  <m:mc>
                                                    <m:mcPr>
                                                      <m:count m:val="1"/>
                                                      <m:mcJc m:val="center"/>
                                                    </m:mcPr>
                                                  </m:mc>
                                                </m:mcs>
                                                <m:ctrlPr>
                                                  <a:rPr lang="en-I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mPr>
                                              <m:mr>
                                                <m:e>
                                                  <m:f>
                                                    <m:fPr>
                                                      <m:ctrlPr>
                                                        <a:rPr lang="en-IN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fPr>
                                                    <m:num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IN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IN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5</m:t>
                                                      </m:r>
                                                    </m:num>
                                                    <m:den>
                                                      <m:r>
                                                        <m:rPr>
                                                          <m:brk m:alnAt="7"/>
                                                        </m:rPr>
                                                        <a:rPr lang="en-IN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  <m:r>
                                                        <a:rPr lang="en-IN" b="0" i="1" smtClean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6</m:t>
                                                      </m:r>
                                                    </m:den>
                                                  </m:f>
                                                  <m:r>
                                                    <m:rPr>
                                                      <m:brk m:alnAt="7"/>
                                                    </m:rP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  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𝑓𝑜𝑟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3≤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&lt;4</m:t>
                                                  </m:r>
                                                </m:e>
                                              </m:mr>
                                              <m:mr>
                                                <m:e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1         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𝑓𝑜𝑟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 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lang="en-IN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≥4 </m:t>
                                                  </m:r>
                                                </m:e>
                                              </m:mr>
                                            </m:m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F402BB7-82F4-DBE5-CAEE-D2C99B598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57" y="2122715"/>
                <a:ext cx="3189514" cy="292394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845690-B90E-A0E9-F88A-AAC96ACB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02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61528-D4BF-0603-1965-7DF5700C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Graph of CDF: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471A76C-647D-1C49-E83A-3A8975979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 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E4E95A-2F63-5899-36AA-924988562EC5}"/>
              </a:ext>
            </a:extLst>
          </p:cNvPr>
          <p:cNvGrpSpPr/>
          <p:nvPr/>
        </p:nvGrpSpPr>
        <p:grpSpPr>
          <a:xfrm>
            <a:off x="3541378" y="2043211"/>
            <a:ext cx="4867729" cy="3743543"/>
            <a:chOff x="3174547" y="2514600"/>
            <a:chExt cx="4478110" cy="314518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829FA8-9E17-6F93-9330-A00FAEA07E64}"/>
                </a:ext>
              </a:extLst>
            </p:cNvPr>
            <p:cNvCxnSpPr/>
            <p:nvPr/>
          </p:nvCxnSpPr>
          <p:spPr>
            <a:xfrm flipV="1">
              <a:off x="3907971" y="2514600"/>
              <a:ext cx="0" cy="309154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F63E1EE-7B99-68D8-6073-83A9291B38F8}"/>
                </a:ext>
              </a:extLst>
            </p:cNvPr>
            <p:cNvCxnSpPr/>
            <p:nvPr/>
          </p:nvCxnSpPr>
          <p:spPr>
            <a:xfrm>
              <a:off x="3374571" y="5290457"/>
              <a:ext cx="4158343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AE1927-7607-D07C-BFC2-749CA5035981}"/>
                </a:ext>
              </a:extLst>
            </p:cNvPr>
            <p:cNvSpPr txBox="1"/>
            <p:nvPr/>
          </p:nvSpPr>
          <p:spPr>
            <a:xfrm>
              <a:off x="3584121" y="5236811"/>
              <a:ext cx="2068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443D39-3EF0-85AC-AFF9-0AA48767C551}"/>
                </a:ext>
              </a:extLst>
            </p:cNvPr>
            <p:cNvSpPr txBox="1"/>
            <p:nvPr/>
          </p:nvSpPr>
          <p:spPr>
            <a:xfrm>
              <a:off x="4316186" y="5269859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89FA7D-506A-6945-3B91-7DAD9C3810EC}"/>
                </a:ext>
              </a:extLst>
            </p:cNvPr>
            <p:cNvSpPr txBox="1"/>
            <p:nvPr/>
          </p:nvSpPr>
          <p:spPr>
            <a:xfrm>
              <a:off x="4959795" y="5290457"/>
              <a:ext cx="3020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0C2B09A-AD01-2778-DE66-237E83DDB736}"/>
                </a:ext>
              </a:extLst>
            </p:cNvPr>
            <p:cNvSpPr txBox="1"/>
            <p:nvPr/>
          </p:nvSpPr>
          <p:spPr>
            <a:xfrm>
              <a:off x="5494563" y="5279571"/>
              <a:ext cx="46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122F6A2-1855-BF1A-C264-8C5673039888}"/>
                </a:ext>
              </a:extLst>
            </p:cNvPr>
            <p:cNvSpPr txBox="1"/>
            <p:nvPr/>
          </p:nvSpPr>
          <p:spPr>
            <a:xfrm>
              <a:off x="6155875" y="5269859"/>
              <a:ext cx="3592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4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0EADAFE-E0B5-DF34-61E0-2251283D834E}"/>
                </a:ext>
              </a:extLst>
            </p:cNvPr>
            <p:cNvCxnSpPr/>
            <p:nvPr/>
          </p:nvCxnSpPr>
          <p:spPr>
            <a:xfrm>
              <a:off x="4463143" y="5269859"/>
              <a:ext cx="0" cy="2059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CC5F882-DABF-0EF1-E3A0-8673AA0CB714}"/>
                </a:ext>
              </a:extLst>
            </p:cNvPr>
            <p:cNvCxnSpPr>
              <a:endCxn id="17" idx="0"/>
            </p:cNvCxnSpPr>
            <p:nvPr/>
          </p:nvCxnSpPr>
          <p:spPr>
            <a:xfrm>
              <a:off x="5110835" y="5236811"/>
              <a:ext cx="0" cy="536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C95C4C-2D72-4AB0-5623-54F066750096}"/>
                </a:ext>
              </a:extLst>
            </p:cNvPr>
            <p:cNvCxnSpPr>
              <a:cxnSpLocks/>
            </p:cNvCxnSpPr>
            <p:nvPr/>
          </p:nvCxnSpPr>
          <p:spPr>
            <a:xfrm>
              <a:off x="6335488" y="5257799"/>
              <a:ext cx="0" cy="548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13C4FEC-41ED-FB04-A1FE-D3A6411D8600}"/>
                </a:ext>
              </a:extLst>
            </p:cNvPr>
            <p:cNvCxnSpPr/>
            <p:nvPr/>
          </p:nvCxnSpPr>
          <p:spPr>
            <a:xfrm>
              <a:off x="3907971" y="5050971"/>
              <a:ext cx="55517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329ECD1-D7FC-69F8-54EC-A137646A0780}"/>
                </a:ext>
              </a:extLst>
            </p:cNvPr>
            <p:cNvCxnSpPr/>
            <p:nvPr/>
          </p:nvCxnSpPr>
          <p:spPr>
            <a:xfrm>
              <a:off x="4463143" y="4637314"/>
              <a:ext cx="6476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14A01E0-9FB5-0F12-EC9C-9A014A97958A}"/>
                </a:ext>
              </a:extLst>
            </p:cNvPr>
            <p:cNvCxnSpPr/>
            <p:nvPr/>
          </p:nvCxnSpPr>
          <p:spPr>
            <a:xfrm>
              <a:off x="5110835" y="4093029"/>
              <a:ext cx="617771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FDC4878-5D1D-53D8-11D6-57282B132C26}"/>
                </a:ext>
              </a:extLst>
            </p:cNvPr>
            <p:cNvCxnSpPr/>
            <p:nvPr/>
          </p:nvCxnSpPr>
          <p:spPr>
            <a:xfrm>
              <a:off x="5728606" y="3429000"/>
              <a:ext cx="60688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7688DF2-5614-4002-C8EA-70FBF34E2FE4}"/>
                </a:ext>
              </a:extLst>
            </p:cNvPr>
            <p:cNvCxnSpPr/>
            <p:nvPr/>
          </p:nvCxnSpPr>
          <p:spPr>
            <a:xfrm>
              <a:off x="6335488" y="3156857"/>
              <a:ext cx="131716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B962418-546A-0B57-008A-8D77C548628D}"/>
                </a:ext>
              </a:extLst>
            </p:cNvPr>
            <p:cNvSpPr txBox="1"/>
            <p:nvPr/>
          </p:nvSpPr>
          <p:spPr>
            <a:xfrm>
              <a:off x="3271375" y="4840656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1/16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BF4939-A689-D19E-98B2-45D74AEA29DC}"/>
                </a:ext>
              </a:extLst>
            </p:cNvPr>
            <p:cNvSpPr txBox="1"/>
            <p:nvPr/>
          </p:nvSpPr>
          <p:spPr>
            <a:xfrm>
              <a:off x="3277960" y="4461025"/>
              <a:ext cx="819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5/16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AECF26B-E848-E9AB-0387-59CF32E9F2E6}"/>
                </a:ext>
              </a:extLst>
            </p:cNvPr>
            <p:cNvSpPr txBox="1"/>
            <p:nvPr/>
          </p:nvSpPr>
          <p:spPr>
            <a:xfrm>
              <a:off x="3174547" y="3971951"/>
              <a:ext cx="8191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11/16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62698-24DE-7E15-CF56-CE5D7F2D8D89}"/>
                </a:ext>
              </a:extLst>
            </p:cNvPr>
            <p:cNvSpPr txBox="1"/>
            <p:nvPr/>
          </p:nvSpPr>
          <p:spPr>
            <a:xfrm>
              <a:off x="3174547" y="3244174"/>
              <a:ext cx="922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15/16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6E9BF32-D8F9-7625-9E5A-9E909D2BD00D}"/>
                </a:ext>
              </a:extLst>
            </p:cNvPr>
            <p:cNvSpPr txBox="1"/>
            <p:nvPr/>
          </p:nvSpPr>
          <p:spPr>
            <a:xfrm>
              <a:off x="3433302" y="2895600"/>
              <a:ext cx="519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1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CC0C416-696A-C1F2-46AB-110EDAA76AF5}"/>
                </a:ext>
              </a:extLst>
            </p:cNvPr>
            <p:cNvCxnSpPr>
              <a:cxnSpLocks/>
            </p:cNvCxnSpPr>
            <p:nvPr/>
          </p:nvCxnSpPr>
          <p:spPr>
            <a:xfrm>
              <a:off x="5617028" y="5267903"/>
              <a:ext cx="0" cy="878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243F1CE-5242-2142-B52D-BAA110E1845D}"/>
                  </a:ext>
                </a:extLst>
              </p14:cNvPr>
              <p14:cNvContentPartPr/>
              <p14:nvPr/>
            </p14:nvContentPartPr>
            <p14:xfrm>
              <a:off x="3994886" y="244877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243F1CE-5242-2142-B52D-BAA110E1845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85886" y="244013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493A70C-0104-5005-F2FE-59A8B446F509}"/>
                  </a:ext>
                </a:extLst>
              </p14:cNvPr>
              <p14:cNvContentPartPr/>
              <p14:nvPr/>
            </p14:nvContentPartPr>
            <p14:xfrm>
              <a:off x="4930886" y="2917491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493A70C-0104-5005-F2FE-59A8B446F50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922246" y="29084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39436CD-FBD7-98B1-BB87-AB17BC9691BC}"/>
                  </a:ext>
                </a:extLst>
              </p14:cNvPr>
              <p14:cNvContentPartPr/>
              <p14:nvPr/>
            </p14:nvContentPartPr>
            <p14:xfrm>
              <a:off x="3200366" y="3058611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539436CD-FBD7-98B1-BB87-AB17BC9691B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191726" y="304997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82D0CE3-9D9B-098B-EDE3-1A1F9FDA773D}"/>
                  </a:ext>
                </a:extLst>
              </p14:cNvPr>
              <p14:cNvContentPartPr/>
              <p14:nvPr/>
            </p14:nvContentPartPr>
            <p14:xfrm>
              <a:off x="3611126" y="4422651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982D0CE3-9D9B-098B-EDE3-1A1F9FDA773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602126" y="441365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08E0412-C726-0362-D756-615F3A9488FF}"/>
                  </a:ext>
                </a:extLst>
              </p14:cNvPr>
              <p14:cNvContentPartPr/>
              <p14:nvPr/>
            </p14:nvContentPartPr>
            <p14:xfrm>
              <a:off x="6836006" y="5921691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08E0412-C726-0362-D756-615F3A9488F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827366" y="591269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A47C217-1E23-76A3-BFBB-A9237AEDE99B}"/>
                  </a:ext>
                </a:extLst>
              </p14:cNvPr>
              <p14:cNvContentPartPr/>
              <p14:nvPr/>
            </p14:nvContentPartPr>
            <p14:xfrm>
              <a:off x="7750046" y="3831171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CA47C217-1E23-76A3-BFBB-A9237AEDE99B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41406" y="382253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11ABCE86-24B1-7C1E-1CB7-34047225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570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E30F-EAAC-AD65-60A4-3261716D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080171" cy="851807"/>
          </a:xfrm>
        </p:spPr>
        <p:txBody>
          <a:bodyPr/>
          <a:lstStyle/>
          <a:p>
            <a:pPr algn="ctr"/>
            <a:r>
              <a:rPr lang="en-IN" dirty="0"/>
              <a:t>Practice Problems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FCEAC-A133-5A28-6872-BFE65370A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69A1333-E945-A0B6-CE69-FAAA6EFDA6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1216932"/>
                <a:ext cx="10515600" cy="5139418"/>
              </a:xfrm>
            </p:spPr>
            <p:txBody>
              <a:bodyPr>
                <a:normAutofit/>
              </a:bodyPr>
              <a:lstStyle/>
              <a:p>
                <a:pPr marL="358775" indent="-358775">
                  <a:buNone/>
                </a:pPr>
                <a:r>
                  <a:rPr lang="en-US" dirty="0"/>
                  <a:t>1. If    is a random variable the difference between heads and tails  obtained when a fair coin is tossed 3 times. What are the possible values of  and its probability mass   function? Also write the distribution function of .</a:t>
                </a:r>
              </a:p>
              <a:p>
                <a:pPr marL="0" indent="0">
                  <a:buNone/>
                </a:pPr>
                <a:r>
                  <a:rPr lang="en-IN" dirty="0"/>
                  <a:t>2. </a:t>
                </a:r>
                <a:r>
                  <a:rPr lang="en-US" dirty="0"/>
                  <a:t>Determine  K such that the following functions are </a:t>
                </a:r>
                <a:r>
                  <a:rPr lang="en-US" dirty="0" err="1"/>
                  <a:t>p.m.f.s</a:t>
                </a:r>
                <a:endParaRPr lang="en-US" dirty="0"/>
              </a:p>
              <a:p>
                <a:pPr marL="358775" indent="87313">
                  <a:buNone/>
                </a:pPr>
                <a:r>
                  <a:rPr lang="en-US" dirty="0"/>
                  <a:t>a)	 </a:t>
                </a:r>
              </a:p>
              <a:p>
                <a:pPr marL="358775" indent="87313">
                  <a:buNone/>
                </a:pPr>
                <a:r>
                  <a:rPr lang="en-US" dirty="0"/>
                  <a:t>b)	 				</a:t>
                </a:r>
              </a:p>
              <a:p>
                <a:pPr marL="358775" indent="-358775">
                  <a:buNone/>
                </a:pPr>
                <a:r>
                  <a:rPr lang="en-US" dirty="0"/>
                  <a:t>3. A random variable   takes values -3,-1, 2,5 with probabilities as shown in the table below. Determine the distribution of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358775" indent="-358775">
                  <a:buNone/>
                </a:pPr>
                <a:endParaRPr lang="en-US" dirty="0"/>
              </a:p>
              <a:p>
                <a:pPr marL="358775" indent="-358775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69A1333-E945-A0B6-CE69-FAAA6EFDA6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216932"/>
                <a:ext cx="10515600" cy="5139418"/>
              </a:xfrm>
              <a:blipFill>
                <a:blip r:embed="rId2"/>
                <a:stretch>
                  <a:fillRect l="-1217" t="-20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860.png">
            <a:extLst>
              <a:ext uri="{FF2B5EF4-FFF2-40B4-BE49-F238E27FC236}">
                <a16:creationId xmlns:a16="http://schemas.microsoft.com/office/drawing/2014/main" id="{9DFB734B-D260-8513-F182-1476A263F75B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983921" y="3429000"/>
            <a:ext cx="2921001" cy="402771"/>
          </a:xfrm>
          <a:prstGeom prst="rect">
            <a:avLst/>
          </a:prstGeom>
          <a:ln/>
        </p:spPr>
      </p:pic>
      <p:pic>
        <p:nvPicPr>
          <p:cNvPr id="22" name="image795.png">
            <a:extLst>
              <a:ext uri="{FF2B5EF4-FFF2-40B4-BE49-F238E27FC236}">
                <a16:creationId xmlns:a16="http://schemas.microsoft.com/office/drawing/2014/main" id="{DE48CC3E-E040-A6CE-62B1-4FFB42F229A8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896835" y="3786981"/>
            <a:ext cx="2500993" cy="608693"/>
          </a:xfrm>
          <a:prstGeom prst="rect">
            <a:avLst/>
          </a:prstGeom>
          <a:ln/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EAD46AE-A25E-9083-913A-C8E193B8B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4704" y="5301425"/>
            <a:ext cx="5873496" cy="1237488"/>
          </a:xfrm>
          <a:prstGeom prst="rect">
            <a:avLst/>
          </a:prstGeom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630931D9-6DAB-D50B-85E1-DC07FAD0A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1C518F17-A1A9-9EFD-6B86-C528B5950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CF533427-580A-046D-0A3C-3CAD3A49B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8666E255-1E00-99F3-C3CD-4C7079F26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6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3BE08806-BD7D-8545-0E34-7D506C78A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03C2D390-2A01-59E0-57B7-F9E896CBE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2300" cy="19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6C16C00-5A14-4A90-2DDF-AFFE1F3D0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45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B6BEA9F5-C6A0-86CC-206C-38DFAFF9A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D4899988-9BED-52B9-A68B-51A290C92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429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B42C7112-D838-23CF-673B-6A30A2C5C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6195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1" name="Picture 47">
            <a:extLst>
              <a:ext uri="{FF2B5EF4-FFF2-40B4-BE49-F238E27FC236}">
                <a16:creationId xmlns:a16="http://schemas.microsoft.com/office/drawing/2014/main" id="{5B6DC2F1-70FB-92B0-858F-7C801C07C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>
            <a:extLst>
              <a:ext uri="{FF2B5EF4-FFF2-40B4-BE49-F238E27FC236}">
                <a16:creationId xmlns:a16="http://schemas.microsoft.com/office/drawing/2014/main" id="{988F41CD-2C9A-A734-B797-19A70EC80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9" name="Picture 45">
            <a:extLst>
              <a:ext uri="{FF2B5EF4-FFF2-40B4-BE49-F238E27FC236}">
                <a16:creationId xmlns:a16="http://schemas.microsoft.com/office/drawing/2014/main" id="{09C6B233-9013-0DD1-316C-FCC31A640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8E329822-91CA-8013-FBBE-4749C3878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65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Picture 43">
            <a:extLst>
              <a:ext uri="{FF2B5EF4-FFF2-40B4-BE49-F238E27FC236}">
                <a16:creationId xmlns:a16="http://schemas.microsoft.com/office/drawing/2014/main" id="{E2F1742A-A9EF-2B06-C514-E207C8F76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4300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289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986A8-3690-3963-95FF-7C36E74F3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2051" name="Picture 3" descr="C:\Users\admin\Pictures\Ex 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545" y="1550276"/>
            <a:ext cx="9988061" cy="25968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93043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A91E-BCCB-41AE-72B5-168B0183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Probability distribution of a continuous random variable:</a:t>
            </a:r>
            <a:br>
              <a:rPr lang="en-IN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3F28E0-CA1F-C2A7-9FB2-144154D6A9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5143"/>
                <a:ext cx="10515600" cy="476182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3200" b="1" u="sng" dirty="0">
                    <a:solidFill>
                      <a:schemeClr val="accent1">
                        <a:lumMod val="75000"/>
                      </a:schemeClr>
                    </a:solidFill>
                  </a:rPr>
                  <a:t>Probability density function:</a:t>
                </a:r>
              </a:p>
              <a:p>
                <a:pPr marL="0" indent="0">
                  <a:buNone/>
                </a:pPr>
                <a:r>
                  <a:rPr lang="en-US" dirty="0"/>
                  <a:t>A function with values f(x), defined over the set of all real numbers, is called a probability density function of the continuous random variable X if and only if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for any real constants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Note:</a:t>
                </a:r>
              </a:p>
              <a:p>
                <a:pPr marL="0" indent="0">
                  <a:buNone/>
                </a:pPr>
                <a:r>
                  <a:rPr lang="en-US" dirty="0"/>
                  <a:t>f(c), the value of the probability density of X at c, does not give P(X = c) as in the discrete case. This is because for continuous random variables, probabilities are always associated with intervals and P(X = c) = 0 for any real constant c. This agrees with the above definition of probability in continuous case.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1C3F28E0-CA1F-C2A7-9FB2-144154D6A9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5143"/>
                <a:ext cx="10515600" cy="4761820"/>
              </a:xfrm>
              <a:blipFill>
                <a:blip r:embed="rId2" cstate="print"/>
                <a:stretch>
                  <a:fillRect l="-1217" t="-3329" r="-870" b="-23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2C2EA-19BC-9089-2EC0-74E45DDF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56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2962D6-F060-4B1A-BED3-15E3E32002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66800"/>
                <a:ext cx="10515600" cy="5110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IN" sz="3600" b="1" dirty="0">
                    <a:solidFill>
                      <a:schemeClr val="accent2">
                        <a:lumMod val="75000"/>
                      </a:schemeClr>
                    </a:solidFill>
                  </a:rPr>
                  <a:t>For example:</a:t>
                </a:r>
              </a:p>
              <a:p>
                <a:pPr marL="0" indent="0">
                  <a:buNone/>
                </a:pPr>
                <a:r>
                  <a:rPr lang="en-US" dirty="0"/>
                  <a:t>If an individual is selected at random from a large group of a population, then probability that his weight X is precisely 68 Kg (i.e., 68.000 Kg) would be zero. However, there is a probability greater than zero that X is between 67.000 . . . Kg and 68.500 . . . Kg.</a:t>
                </a:r>
              </a:p>
              <a:p>
                <a:pPr marL="0" indent="0">
                  <a:buNone/>
                </a:pPr>
                <a:r>
                  <a:rPr lang="en-US" dirty="0"/>
                  <a:t>Therefore for a continuous random variable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2A2962D6-F060-4B1A-BED3-15E3E32002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66800"/>
                <a:ext cx="10515600" cy="5110163"/>
              </a:xfrm>
              <a:blipFill>
                <a:blip r:embed="rId2" cstate="print"/>
                <a:stretch>
                  <a:fillRect l="-1797" t="-28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56D81-0203-1ED6-C05E-E39E1191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942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4D71-FC8C-C534-1AA7-8B811BC6D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probability density function: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6FE3B-2DAE-AA23-8957-70A6D5E44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 function can serve as a probability density function of a continuous random variable X if it satisfies the following conditions: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≥0, −∞&lt;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&lt;∞ </m:t>
                    </m:r>
                  </m:oMath>
                </a14:m>
                <a:endParaRPr lang="en-IN" b="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IN" b="1" dirty="0"/>
              </a:p>
              <a:p>
                <a:pPr marL="514350" indent="-514350">
                  <a:buFont typeface="+mj-lt"/>
                  <a:buAutoNum type="arabicPeriod"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IN" b="1" dirty="0"/>
                  <a:t>Example:</a:t>
                </a:r>
              </a:p>
              <a:p>
                <a:pPr marL="0" indent="0">
                  <a:buNone/>
                </a:pPr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dirty="0"/>
                  <a:t> has a probability density function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m:rPr>
                                        <m:brk m:alnAt="7"/>
                                      </m:rP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𝑓𝑜𝑟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0             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𝑒𝑙𝑠𝑒𝑤h𝑒𝑟𝑒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Find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(0.5≤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≤1)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7A6FE3B-2DAE-AA23-8957-70A6D5E44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101" t="-2801" b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4DCCE-7D19-175B-D11B-1F2BD82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012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356897-9087-2037-6FFB-BEAE024F64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89857"/>
                <a:ext cx="10515600" cy="568710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dirty="0"/>
                  <a:t>Solution:</a:t>
                </a:r>
              </a:p>
              <a:p>
                <a:pPr marL="0" indent="0">
                  <a:buNone/>
                </a:pPr>
                <a:r>
                  <a:rPr lang="en-IN" dirty="0"/>
                  <a:t>Since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 is a pdf, it should satisfy both the properties of pdf. Hence by using the second property i.e.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=1 </m:t>
                        </m:r>
                      </m:e>
                    </m:nary>
                  </m:oMath>
                </a14:m>
                <a:r>
                  <a:rPr lang="en-IN" dirty="0"/>
                  <a:t>we get,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I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m:rPr>
                              <m:brk m:alnAt="7"/>
                            </m:rPr>
                            <a:rPr lang="en-IN" i="1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m:rPr>
                                  <m:brk m:alnAt="7"/>
                                </m:rP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 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begChr m:val=""/>
                        <m:endChr m:val="|"/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den>
                        </m:f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mr>
                      <m:m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mr>
                    </m:m>
                  </m:oMath>
                </a14:m>
                <a:r>
                  <a:rPr lang="en-IN" dirty="0"/>
                  <a:t>=1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0+</m:t>
                          </m:r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Also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0.5≤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.5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brk m:alnAt="7"/>
                              </m:rPr>
                              <a:rPr lang="en-I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.5</m:t>
                              </m:r>
                            </m:e>
                          </m:mr>
                        </m:m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−1.5</m:t>
                            </m:r>
                          </m:sup>
                        </m:sSup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=0.173</m:t>
                        </m:r>
                      </m:e>
                    </m:nary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AC356897-9087-2037-6FFB-BEAE024F64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89857"/>
                <a:ext cx="10515600" cy="5687106"/>
              </a:xfrm>
              <a:blipFill>
                <a:blip r:embed="rId2" cstate="print"/>
                <a:stretch>
                  <a:fillRect l="-1217" t="-17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A5E7F-E02E-672C-E04B-34D8E0E3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47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7E67-0443-1348-AC19-35F8B79D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29" y="320675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Cumulative distribution function of a continuous random variable: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0D419-FC2F-B049-9F09-9D8C06CE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22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43FF5E5-1DFD-C8F4-D0DF-DF87F27E7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chemeClr val="accent1"/>
                    </a:solidFill>
                    <a:effectLst/>
                    <a:ea typeface="Calibri" panose="020F0502020204030204" pitchFamily="34" charset="0"/>
                  </a:rPr>
                  <a:t>Definition:  </a:t>
                </a:r>
                <a:r>
                  <a:rPr lang="en-US" sz="2400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effectLst/>
                    <a:ea typeface="Calibri" panose="020F0502020204030204" pitchFamily="34" charset="0"/>
                  </a:rPr>
                  <a:t>is a continuous random variable with a density function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𝑓</m:t>
                    </m:r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(</m:t>
                    </m:r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𝑡</m:t>
                    </m:r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2400" dirty="0">
                    <a:effectLst/>
                    <a:ea typeface="Calibri" panose="020F0502020204030204" pitchFamily="34" charset="0"/>
                  </a:rPr>
                  <a:t>, then the cumulative distribution function (CDF) of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n-IN" sz="2400" dirty="0"/>
                  <a:t> </a:t>
                </a:r>
                <a:r>
                  <a:rPr lang="en-IN" sz="2400" dirty="0">
                    <a:cs typeface="Times New Roman" panose="02020603050405020304" pitchFamily="18" charset="0"/>
                  </a:rPr>
                  <a:t>denoted by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is defined as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IN" sz="2400" dirty="0"/>
                  <a:t> for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−∞&lt;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&lt;∞ </m:t>
                    </m:r>
                  </m:oMath>
                </a14:m>
                <a:endParaRPr lang="en-IN" sz="2400" b="0" dirty="0"/>
              </a:p>
              <a:p>
                <a:r>
                  <a:rPr lang="en-IN" b="1" dirty="0">
                    <a:solidFill>
                      <a:schemeClr val="accent1"/>
                    </a:solidFill>
                  </a:rPr>
                  <a:t>Properties of </a:t>
                </a:r>
                <a:r>
                  <a:rPr lang="en-IN" b="1" dirty="0" err="1">
                    <a:solidFill>
                      <a:schemeClr val="accent1"/>
                    </a:solidFill>
                  </a:rPr>
                  <a:t>cdf</a:t>
                </a:r>
                <a:r>
                  <a:rPr lang="en-IN" b="1" dirty="0">
                    <a:solidFill>
                      <a:schemeClr val="accent1"/>
                    </a:solidFill>
                  </a:rPr>
                  <a:t>:</a:t>
                </a: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IN" sz="2400" dirty="0"/>
                  <a:t>is a monotonically increasing function </a:t>
                </a:r>
                <a:r>
                  <a:rPr lang="en-IN" sz="2400" dirty="0" err="1"/>
                  <a:t>i.e</a:t>
                </a:r>
                <a:r>
                  <a:rPr lang="en-IN" sz="2400" dirty="0"/>
                  <a:t> if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sz="2400" dirty="0"/>
                  <a:t> then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)&lt;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func>
                  </m:oMath>
                </a14:m>
                <a:endParaRPr lang="en-IN" sz="240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IN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→−∞</m:t>
                            </m:r>
                          </m:lim>
                        </m:limLow>
                      </m:fName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func>
                  </m:oMath>
                </a14:m>
                <a:endParaRPr lang="en-IN" sz="2400" dirty="0"/>
              </a:p>
              <a:p>
                <a:pPr marL="571500" indent="-571500">
                  <a:buFont typeface="+mj-lt"/>
                  <a:buAutoNum type="romanLcPeriod"/>
                </a:pPr>
                <a:endParaRPr lang="en-IN" sz="2400" dirty="0"/>
              </a:p>
              <a:p>
                <a:pPr marL="571500" indent="-571500">
                  <a:buFont typeface="+mj-lt"/>
                  <a:buAutoNum type="romanLcPeriod"/>
                </a:pPr>
                <a:endParaRPr lang="en-IN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F43FF5E5-1DFD-C8F4-D0DF-DF87F27E7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 r="-348" b="-1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0536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17CB5-797B-4D96-4129-44DDBC913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5218"/>
          </a:xfrm>
        </p:spPr>
        <p:txBody>
          <a:bodyPr/>
          <a:lstStyle/>
          <a:p>
            <a:r>
              <a:rPr lang="en-IN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D0CED-B1AD-08F3-3750-217C27BB9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01486"/>
                <a:ext cx="10515600" cy="517547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Find the distribution function of the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of the previous example and use it to reevaluate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Solution: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I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IN" sz="2800" i="1" dirty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en-IN" sz="28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31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31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1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100" i="1" dirty="0" smtClean="0">
                        <a:latin typeface="Cambria Math" panose="02040503050406030204" pitchFamily="18" charset="0"/>
                      </a:rPr>
                      <m:t>) = </m:t>
                    </m:r>
                    <m:nary>
                      <m:naryPr>
                        <m:ctrlPr>
                          <a:rPr lang="en-US" sz="31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nary>
                      <m:naryPr>
                        <m:ctrlPr>
                          <a:rPr lang="en-US" sz="31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31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3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IN" sz="31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3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31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3100" i="1" dirty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sz="3100" i="1" dirty="0"/>
                  <a:t>+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sz="31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3100" i="1" dirty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310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31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31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IN" sz="3100" i="1" dirty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IN" sz="3100" i="1" dirty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US" sz="31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31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IN" sz="31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3100" b="0" i="1" dirty="0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3100" b="0" i="1" dirty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IN" sz="31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IN" sz="3100" i="1" dirty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  <m:r>
                              <a:rPr lang="en-IN" sz="31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</m:e>
                        </m:nary>
                        <m:r>
                          <a:rPr lang="en-IN" sz="3100" b="0" i="1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IN" sz="31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31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Hence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0                     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−3</m:t>
                                      </m:r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Using this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we get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0.5≤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−1.5</m:t>
                              </m:r>
                            </m:sup>
                          </m:s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=0.173</m:t>
                      </m:r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US" dirty="0"/>
                  <a:t>As obtained earlier.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D0CED-B1AD-08F3-3750-217C27BB9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01486"/>
                <a:ext cx="10515600" cy="5175477"/>
              </a:xfrm>
              <a:blipFill>
                <a:blip r:embed="rId2"/>
                <a:stretch>
                  <a:fillRect l="-928" t="-2709" b="-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DBC56-9B7D-598E-292C-9EBAD252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0486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F752D-E960-FAA7-05AC-E00C34B98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813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Graphs of pdf and </a:t>
            </a:r>
            <a:r>
              <a:rPr lang="en-IN" b="1" dirty="0" err="1">
                <a:solidFill>
                  <a:schemeClr val="accent2">
                    <a:lumMod val="75000"/>
                  </a:schemeClr>
                </a:solidFill>
              </a:rPr>
              <a:t>cdf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2BEF5C-24E7-C74F-9A15-58ECDA55E7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23258"/>
                <a:ext cx="10515600" cy="5153705"/>
              </a:xfrm>
            </p:spPr>
            <p:txBody>
              <a:bodyPr/>
              <a:lstStyle/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is the density function for a random variable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then we can represent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graphically by a curve as shown in the figure. By properties of pdf, the curve cannot fall below the x axis and the entire area bounded by the curve and the x axis must be. Geometrically the probability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between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, i.e.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is then represented by the shaded region.</a:t>
                </a:r>
              </a:p>
              <a:p>
                <a:r>
                  <a:rPr lang="en-US" sz="2400" dirty="0"/>
                  <a:t>The distribution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is a monotonically increasing function which increases from 0 to 1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A2BEF5C-24E7-C74F-9A15-58ECDA55E7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23258"/>
                <a:ext cx="10515600" cy="5153705"/>
              </a:xfrm>
              <a:blipFill>
                <a:blip r:embed="rId3" cstate="print"/>
                <a:stretch>
                  <a:fillRect l="-812" t="-16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F0470-D56B-BC3D-BDFD-86073656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346A9-85DF-03B6-792E-4F8F030176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976" y="3600110"/>
            <a:ext cx="9076047" cy="231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36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25</a:t>
            </a:fld>
            <a:endParaRPr lang="en-IN"/>
          </a:p>
        </p:txBody>
      </p:sp>
      <p:pic>
        <p:nvPicPr>
          <p:cNvPr id="3075" name="Picture 3" descr="C:\Users\admin\Pictures\Ex.6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8438" y="1596372"/>
            <a:ext cx="9755123" cy="2053883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766877-91AA-1E0D-AA0C-F55BCDE22BBB}"/>
              </a:ext>
            </a:extLst>
          </p:cNvPr>
          <p:cNvSpPr txBox="1"/>
          <p:nvPr/>
        </p:nvSpPr>
        <p:spPr>
          <a:xfrm>
            <a:off x="576943" y="1690688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</a:t>
            </a:r>
          </a:p>
        </p:txBody>
      </p:sp>
      <p:pic>
        <p:nvPicPr>
          <p:cNvPr id="3077" name="Picture 5" descr="C:\Users\admin\Pictures\Ex.7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94964" y="3891735"/>
            <a:ext cx="9878597" cy="2223135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981A66-4CE9-77C6-F5CE-B21DB6A2B032}"/>
              </a:ext>
            </a:extLst>
          </p:cNvPr>
          <p:cNvSpPr txBox="1"/>
          <p:nvPr/>
        </p:nvSpPr>
        <p:spPr>
          <a:xfrm>
            <a:off x="576943" y="4027714"/>
            <a:ext cx="261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26</a:t>
            </a:fld>
            <a:endParaRPr lang="en-IN"/>
          </a:p>
        </p:txBody>
      </p:sp>
      <p:pic>
        <p:nvPicPr>
          <p:cNvPr id="2053" name="Picture 5" descr="C:\Users\admin\Pictures\Ex. 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86035" y="1283008"/>
            <a:ext cx="10805965" cy="2405576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107089-20E0-AEC3-14B7-95D74201C040}"/>
              </a:ext>
            </a:extLst>
          </p:cNvPr>
          <p:cNvSpPr txBox="1"/>
          <p:nvPr/>
        </p:nvSpPr>
        <p:spPr>
          <a:xfrm>
            <a:off x="707571" y="1175657"/>
            <a:ext cx="359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pic>
        <p:nvPicPr>
          <p:cNvPr id="4099" name="Picture 3" descr="C:\Users\admin\Pictures\Ex. 8.PN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00457" y="4059387"/>
            <a:ext cx="9442868" cy="201168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2C6931-160A-330E-7A9E-8988EFB66479}"/>
              </a:ext>
            </a:extLst>
          </p:cNvPr>
          <p:cNvSpPr txBox="1"/>
          <p:nvPr/>
        </p:nvSpPr>
        <p:spPr>
          <a:xfrm>
            <a:off x="707571" y="4169229"/>
            <a:ext cx="541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BF53-3017-A288-946D-38940DEE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Expectation/mean of a random variable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A3A194-8D1A-068F-3C0D-6025553BB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X is a discrete random variable taking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0≤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≤1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value of its probability mass function at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then the expected value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denoted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Correspondingly, </a:t>
                </a:r>
              </a:p>
              <a:p>
                <a:pPr marL="0" indent="0">
                  <a:buNone/>
                </a:pPr>
                <a:r>
                  <a:rPr lang="en-US" dirty="0"/>
                  <a:t>   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continuous random variable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value of its    </a:t>
                </a:r>
              </a:p>
              <a:p>
                <a:pPr marL="0" indent="0">
                  <a:buNone/>
                </a:pPr>
                <a:r>
                  <a:rPr lang="en-US" dirty="0"/>
                  <a:t>    probability density at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expected value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64A3A194-8D1A-068F-3C0D-6025553BB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ADA62-C636-41EC-0847-E58C00CD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06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3099-5ED5-0E36-749A-3DAB9F53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expectation and variance: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68AF3E-223D-30D6-D032-E2B8276DC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0" y="1690688"/>
                <a:ext cx="10515600" cy="4351338"/>
              </a:xfrm>
            </p:spPr>
            <p:txBody>
              <a:bodyPr/>
              <a:lstStyle/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are any two random variables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IN" dirty="0"/>
                  <a:t> are constants then</a:t>
                </a: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)+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𝑎𝐸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968AF3E-223D-30D6-D032-E2B8276DC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1690688"/>
                <a:ext cx="10515600" cy="4351338"/>
              </a:xfrm>
              <a:blipFill>
                <a:blip r:embed="rId2" cstate="print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DD29F-7893-845F-BA7D-7B986A3F7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86058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183D-0DDD-2AA9-43B1-DA32EC9CF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E5C81D-1CC9-EBF6-F869-E847EAB6F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]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 outcome when we roll a fair die. </a:t>
                </a:r>
              </a:p>
              <a:p>
                <a:pPr marL="0" indent="0">
                  <a:buNone/>
                </a:pPr>
                <a:r>
                  <a:rPr lang="en-US" dirty="0"/>
                  <a:t>Solution:</a:t>
                </a:r>
              </a:p>
              <a:p>
                <a:pPr marL="0" indent="0">
                  <a:buNone/>
                </a:pPr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(4)=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(5)=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(6)=1/ 6 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 we get 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6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This means that if we continually roll a fair die, then after a large number of rolls the </a:t>
                </a:r>
                <a:r>
                  <a:rPr lang="en-US" i="1" dirty="0">
                    <a:solidFill>
                      <a:schemeClr val="accent1">
                        <a:lumMod val="75000"/>
                      </a:schemeClr>
                    </a:solidFill>
                  </a:rPr>
                  <a:t>average of all the outcomes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will be approximately 7/2</a:t>
                </a:r>
                <a:endParaRPr lang="en-IN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CE5C81D-1CC9-EBF6-F869-E847EAB6F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49EEF-D09E-9B24-19F4-7487F182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1968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4F3A3-95FA-7655-7B28-B0B554A3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6618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E1473E-F1D9-2FEC-D23E-8A7E967E8B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7429"/>
                <a:ext cx="10515600" cy="497953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that you are expecting a message at some time past 5 P.M. From experience you know that X , the number of hours after 5 P.M. until the message arrives, is a continuous random variable with the following probability density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1.5</m:t>
                                  </m:r>
                                </m:den>
                              </m:f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 0&lt;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&lt;1.5</m:t>
                              </m:r>
                            </m: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0        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Find the </a:t>
                </a:r>
                <a:r>
                  <a:rPr lang="en-US" dirty="0"/>
                  <a:t>expected amount of time past 5 P.M. until the message arrives. </a:t>
                </a:r>
              </a:p>
              <a:p>
                <a:pPr marL="0" indent="0">
                  <a:buNone/>
                </a:pPr>
                <a:r>
                  <a:rPr lang="en-IN" dirty="0"/>
                  <a:t>Solution: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𝑥𝑓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</m:sup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b="0" i="1" smtClean="0">
                                          <a:latin typeface="Cambria Math" panose="02040503050406030204" pitchFamily="18" charset="0"/>
                                        </a:rPr>
                                        <m:t>1.5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=0.75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>
                    <a:solidFill>
                      <a:schemeClr val="accent1">
                        <a:lumMod val="75000"/>
                      </a:schemeClr>
                    </a:solidFill>
                  </a:rPr>
                  <a:t>This means that on an average you have to wait for 0.75 hours past 5 pm for the message to arrive.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CE1473E-F1D9-2FEC-D23E-8A7E967E8B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7429"/>
                <a:ext cx="10515600" cy="4979534"/>
              </a:xfrm>
              <a:blipFill>
                <a:blip r:embed="rId2" cstate="print"/>
                <a:stretch>
                  <a:fillRect l="-1043" t="-2448" r="-116" b="-30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8A212-9C45-5F0C-F57C-EE3D0871E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96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BF53-3017-A288-946D-38940DEE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Variance and standard deviation of a random variable</a:t>
            </a:r>
            <a:br>
              <a:rPr lang="en-IN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A3A194-8D1A-068F-3C0D-6025553BB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If X is a discrete random variable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the value of its probability distribution at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variance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</a:p>
              <a:p>
                <a:pPr marL="0" indent="0" algn="ctr">
                  <a:buNone/>
                </a:pPr>
                <a:r>
                  <a:rPr lang="en-US" dirty="0"/>
                  <a:t>    Var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Correspondingly, </a:t>
                </a:r>
              </a:p>
              <a:p>
                <a:pPr marL="0" indent="0">
                  <a:buNone/>
                </a:pPr>
                <a:r>
                  <a:rPr lang="en-US" dirty="0"/>
                  <a:t>   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continuous random variable 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value of its    </a:t>
                </a:r>
              </a:p>
              <a:p>
                <a:pPr marL="0" indent="0">
                  <a:buNone/>
                </a:pPr>
                <a:r>
                  <a:rPr lang="en-US" dirty="0"/>
                  <a:t>    probability density at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variance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Var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Standard deviation of a random variable(discrete and continuous) is the positive square root of variance and is denoted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i.e.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𝑆𝐷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=+</m:t>
                    </m:r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𝑉𝑎𝑟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64A3A194-8D1A-068F-3C0D-6025553BB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043" t="-3501" b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34A36-8146-5E57-4AC6-52DD0A4FE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444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7802-5C64-19E0-E53A-A2F61E1C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7504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 1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749766-AFF1-7B00-4C3F-67FCDEFC36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55914"/>
                <a:ext cx="10515600" cy="512104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Compute Var(X ) when X represents the outcome when we roll a fair die</a:t>
                </a:r>
              </a:p>
              <a:p>
                <a:r>
                  <a:rPr lang="en-US" dirty="0"/>
                  <a:t>Solution:</a:t>
                </a:r>
              </a:p>
              <a:p>
                <a:pPr marL="0" indent="0">
                  <a:buNone/>
                </a:pPr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(4)=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(5)=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(6)=1/ 6 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0" indent="0">
                  <a:buNone/>
                </a:pPr>
                <a:r>
                  <a:rPr lang="en-US" dirty="0"/>
                  <a:t> we get 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Where </a:t>
                </a:r>
                <a:endParaRPr lang="en-IN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91</m:t>
                          </m:r>
                        </m:num>
                        <m:den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And as shown earlier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IN" b="0" dirty="0"/>
              </a:p>
              <a:p>
                <a:r>
                  <a:rPr lang="en-IN" dirty="0"/>
                  <a:t>Hence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ED749766-AFF1-7B00-4C3F-67FCDEFC36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55914"/>
                <a:ext cx="10515600" cy="5121049"/>
              </a:xfrm>
              <a:blipFill>
                <a:blip r:embed="rId2" cstate="print"/>
                <a:stretch>
                  <a:fillRect l="-1043" t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1B65E-16C8-4EDE-E521-2A1C2956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126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C28F-12CA-6229-2648-9003860A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BDE90E-B8A8-480D-3972-2060E5C7D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IN" dirty="0"/>
                  <a:t>The density function of a random variable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IN" dirty="0"/>
                  <a:t> is given by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𝑓𝑜𝑟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0&lt;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&lt;2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0            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𝑒𝑙𝑠𝑒𝑤h𝑒𝑟𝑒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:r>
                  <a:rPr lang="en-IN" dirty="0"/>
                  <a:t>Find the variance and standard deviation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:r>
                  <a:rPr lang="en-IN" dirty="0"/>
                  <a:t>Solution: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  <m:f>
                          <m:fPr>
                            <m:type m:val="noBar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  <m:f>
                          <m:fPr>
                            <m:type m:val="noBar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IN" b="0" dirty="0"/>
              </a:p>
              <a:p>
                <a:r>
                  <a:rPr lang="en-IN" dirty="0"/>
                  <a:t>Hence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=2−</m:t>
                    </m:r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IN" b="0" dirty="0"/>
              </a:p>
              <a:p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𝑆𝐷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=+</m:t>
                    </m:r>
                    <m:rad>
                      <m:radPr>
                        <m:degHide m:val="on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ra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62BDE90E-B8A8-480D-3972-2060E5C7D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93E88-BDBC-1E38-2C52-B47D31245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9984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6E47-4B22-2D77-FBDD-88152C816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Interpretation of variance:</a:t>
            </a:r>
            <a:br>
              <a:rPr lang="en-IN" dirty="0"/>
            </a:br>
            <a:r>
              <a:rPr lang="en-US" sz="2700" dirty="0"/>
              <a:t>Variance represents the </a:t>
            </a:r>
            <a:r>
              <a:rPr lang="en-US" sz="31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spread or dispersion </a:t>
            </a:r>
            <a:r>
              <a:rPr lang="en-US" sz="2700" dirty="0"/>
              <a:t>of the distribution of a random variable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EBA8914-E351-F5C1-F2D6-8A99FA9991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857" y="1812687"/>
            <a:ext cx="6979229" cy="4680188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F879C1-E0AE-9F4D-190B-57975620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0414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198" y="886265"/>
            <a:ext cx="10340926" cy="448759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IN" sz="12800" b="1" dirty="0"/>
              <a:t>Examples:</a:t>
            </a:r>
            <a:endParaRPr lang="en-US" sz="4800" b="1" dirty="0"/>
          </a:p>
          <a:p>
            <a:pPr algn="just"/>
            <a:r>
              <a:rPr lang="en-US" sz="9600" dirty="0"/>
              <a:t>A box contains 8 items of which 2 are defective. A person draws 3 items from the box. Determine the expected number of defective items he has drawn.</a:t>
            </a:r>
          </a:p>
          <a:p>
            <a:pPr algn="just"/>
            <a:r>
              <a:rPr lang="en-US" sz="9600" dirty="0"/>
              <a:t>A player tosses two fair coins. The player wins $2 if two heads occur, and $1 if one head occur. On the other hand, the player losses $3 if no heads occur. Find the expected gain of the player. Is the game fair?</a:t>
            </a:r>
          </a:p>
          <a:p>
            <a:pPr algn="just"/>
            <a:r>
              <a:rPr lang="en-US" sz="9600" dirty="0"/>
              <a:t>Two cards are drawn one by one with replacement from ten cards numbered 1 to 10. Find expectation of the product of the numbers on the drawn cards.</a:t>
            </a:r>
          </a:p>
          <a:p>
            <a:pPr algn="just"/>
            <a:r>
              <a:rPr lang="en-US" sz="9600" dirty="0"/>
              <a:t> If it rains, a rain coat dealer can earn Rs 500 per day. If it is a dry day, he can lose Rs 100 per day. What is his expectation, if the probability of rain is 0.4? </a:t>
            </a:r>
          </a:p>
          <a:p>
            <a:pPr algn="just"/>
            <a:r>
              <a:rPr lang="en-US" sz="9600" dirty="0"/>
              <a:t> If it rains, a rain coat dealer can earn Rs 500 per day. If it is a dry day, he can lose Rs 100 per day. What is his expectation, if the probability of rain is 0.4? </a:t>
            </a:r>
          </a:p>
          <a:p>
            <a:pPr algn="just"/>
            <a:endParaRPr lang="en-US" sz="12800" dirty="0"/>
          </a:p>
          <a:p>
            <a:endParaRPr lang="en-US" sz="7000" dirty="0"/>
          </a:p>
          <a:p>
            <a:endParaRPr lang="en-US" sz="7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35</a:t>
            </a:fld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Examples: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6147" name="Picture 3" descr="C:\Users\admin\Pictures\Ex 10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485" y="1771943"/>
            <a:ext cx="8717441" cy="1730911"/>
          </a:xfrm>
          <a:prstGeom prst="rect">
            <a:avLst/>
          </a:prstGeom>
          <a:noFill/>
        </p:spPr>
      </p:pic>
      <p:pic>
        <p:nvPicPr>
          <p:cNvPr id="6149" name="Picture 5" descr="C:\Users\admin\Pictures\Ex 1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5650" y="4051495"/>
            <a:ext cx="8038515" cy="2110153"/>
          </a:xfrm>
          <a:prstGeom prst="rect">
            <a:avLst/>
          </a:prstGeom>
          <a:noFill/>
        </p:spPr>
      </p:pic>
      <p:cxnSp>
        <p:nvCxnSpPr>
          <p:cNvPr id="10" name="Straight Connector 9"/>
          <p:cNvCxnSpPr/>
          <p:nvPr/>
        </p:nvCxnSpPr>
        <p:spPr>
          <a:xfrm flipV="1">
            <a:off x="508000" y="3564206"/>
            <a:ext cx="11684000" cy="12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1027" name="Picture 3" descr="C:\Users\admin\Pictures\Ex. 1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3044" y="534573"/>
            <a:ext cx="9875521" cy="2592984"/>
          </a:xfrm>
          <a:prstGeom prst="rect">
            <a:avLst/>
          </a:prstGeom>
          <a:noFill/>
        </p:spPr>
      </p:pic>
      <p:cxnSp>
        <p:nvCxnSpPr>
          <p:cNvPr id="8" name="Straight Connector 7"/>
          <p:cNvCxnSpPr/>
          <p:nvPr/>
        </p:nvCxnSpPr>
        <p:spPr>
          <a:xfrm flipV="1">
            <a:off x="295422" y="3193368"/>
            <a:ext cx="11549574" cy="84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C:\Users\admin\Pictures\Ex.1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903" y="3573194"/>
            <a:ext cx="10320557" cy="19370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6EF4-488F-ECEB-33BC-A2EBA86C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Bivariate/Joint probability distribution: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D6CA38-DC70-9B46-8E11-EE3F3D2E6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N" dirty="0"/>
                  <a:t>Definition:</a:t>
                </a:r>
              </a:p>
              <a:p>
                <a:r>
                  <a:rPr lang="en-US" dirty="0"/>
                  <a:t>If X and Y are discrete random variables taking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,…..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 &amp;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,….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respectively then the function given by </a:t>
                </a:r>
              </a:p>
              <a:p>
                <a:pPr marL="0" indent="0">
                  <a:buNone/>
                </a:pPr>
                <a:r>
                  <a:rPr lang="en-US" b="0" dirty="0"/>
                  <a:t>   </a:t>
                </a:r>
                <a14:m>
                  <m:oMath xmlns:m="http://schemas.openxmlformats.org/officeDocument/2006/math"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b="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)=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 for each pair of values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within the range of X and Y is called the     </a:t>
                </a:r>
              </a:p>
              <a:p>
                <a:pPr marL="0" indent="0">
                  <a:buNone/>
                </a:pPr>
                <a:r>
                  <a:rPr lang="en-US" dirty="0"/>
                  <a:t>   joint probability distribution of X and Y  where</a:t>
                </a: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i="1" dirty="0" err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 dirty="0" smtClean="0">
                        <a:latin typeface="Cambria Math" panose="02040503050406030204" pitchFamily="18" charset="0"/>
                      </a:rPr>
                      <m:t> )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 0≤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0≤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IN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IN" b="0" i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A4D6CA38-DC70-9B46-8E11-EE3F3D2E6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B838D-E29A-62DD-3203-39A5B09FD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86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1D24-D3D2-10AB-C3EE-5083DF6E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Joint Probability Table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2890ABF-AF93-DBCE-1964-72C9E8683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1766887"/>
            <a:ext cx="9309100" cy="415715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FE3BA-8C29-6FC0-F11D-0853E25A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39</a:t>
            </a:fld>
            <a:endParaRPr lang="en-IN"/>
          </a:p>
        </p:txBody>
      </p:sp>
      <p:pic>
        <p:nvPicPr>
          <p:cNvPr id="4128" name="Picture 114">
            <a:extLst>
              <a:ext uri="{FF2B5EF4-FFF2-40B4-BE49-F238E27FC236}">
                <a16:creationId xmlns:a16="http://schemas.microsoft.com/office/drawing/2014/main" id="{B3C4F77E-0ACA-8640-33DC-65DA3099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7" name="Picture 113">
            <a:extLst>
              <a:ext uri="{FF2B5EF4-FFF2-40B4-BE49-F238E27FC236}">
                <a16:creationId xmlns:a16="http://schemas.microsoft.com/office/drawing/2014/main" id="{ABC42F2E-0D15-D608-A289-C4D185FA2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6" name="Picture 112">
            <a:extLst>
              <a:ext uri="{FF2B5EF4-FFF2-40B4-BE49-F238E27FC236}">
                <a16:creationId xmlns:a16="http://schemas.microsoft.com/office/drawing/2014/main" id="{76335430-E4F7-2F9B-5C2D-C400C0E0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5" name="Picture 111">
            <a:extLst>
              <a:ext uri="{FF2B5EF4-FFF2-40B4-BE49-F238E27FC236}">
                <a16:creationId xmlns:a16="http://schemas.microsoft.com/office/drawing/2014/main" id="{89CF0637-70B6-4C76-BC36-BD384A9AF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4" name="Picture 110">
            <a:extLst>
              <a:ext uri="{FF2B5EF4-FFF2-40B4-BE49-F238E27FC236}">
                <a16:creationId xmlns:a16="http://schemas.microsoft.com/office/drawing/2014/main" id="{DEB37108-7FD6-C802-7D8C-72DB33430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3" name="Picture 109">
            <a:extLst>
              <a:ext uri="{FF2B5EF4-FFF2-40B4-BE49-F238E27FC236}">
                <a16:creationId xmlns:a16="http://schemas.microsoft.com/office/drawing/2014/main" id="{C2625404-433B-F98F-20C8-3568F953A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108">
            <a:extLst>
              <a:ext uri="{FF2B5EF4-FFF2-40B4-BE49-F238E27FC236}">
                <a16:creationId xmlns:a16="http://schemas.microsoft.com/office/drawing/2014/main" id="{E626AB73-3FAF-CF66-966E-5C3420D70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1" name="Picture 107">
            <a:extLst>
              <a:ext uri="{FF2B5EF4-FFF2-40B4-BE49-F238E27FC236}">
                <a16:creationId xmlns:a16="http://schemas.microsoft.com/office/drawing/2014/main" id="{298A33C6-CFC6-6CB1-B804-9D264323C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0" name="Picture 106">
            <a:extLst>
              <a:ext uri="{FF2B5EF4-FFF2-40B4-BE49-F238E27FC236}">
                <a16:creationId xmlns:a16="http://schemas.microsoft.com/office/drawing/2014/main" id="{CFD158FE-1427-ED70-776F-EE4659D09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9" name="Picture 105">
            <a:extLst>
              <a:ext uri="{FF2B5EF4-FFF2-40B4-BE49-F238E27FC236}">
                <a16:creationId xmlns:a16="http://schemas.microsoft.com/office/drawing/2014/main" id="{3CC5BE57-D9C0-6DFB-D39C-EA04107BF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0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104">
            <a:extLst>
              <a:ext uri="{FF2B5EF4-FFF2-40B4-BE49-F238E27FC236}">
                <a16:creationId xmlns:a16="http://schemas.microsoft.com/office/drawing/2014/main" id="{35F58D93-6418-11E5-4EC1-F794CF95D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7" name="Picture 103">
            <a:extLst>
              <a:ext uri="{FF2B5EF4-FFF2-40B4-BE49-F238E27FC236}">
                <a16:creationId xmlns:a16="http://schemas.microsoft.com/office/drawing/2014/main" id="{A7E8B617-09A4-2306-6F39-0ED1392BA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Picture 102">
            <a:extLst>
              <a:ext uri="{FF2B5EF4-FFF2-40B4-BE49-F238E27FC236}">
                <a16:creationId xmlns:a16="http://schemas.microsoft.com/office/drawing/2014/main" id="{3F2B5B29-E228-A7C7-FE8C-D438E6B45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2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5" name="Picture 101">
            <a:extLst>
              <a:ext uri="{FF2B5EF4-FFF2-40B4-BE49-F238E27FC236}">
                <a16:creationId xmlns:a16="http://schemas.microsoft.com/office/drawing/2014/main" id="{F5E91403-3518-EDF9-1FC2-97F826CDB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00">
            <a:extLst>
              <a:ext uri="{FF2B5EF4-FFF2-40B4-BE49-F238E27FC236}">
                <a16:creationId xmlns:a16="http://schemas.microsoft.com/office/drawing/2014/main" id="{0D78C54F-9686-9BA8-99EC-A5888C982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2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3" name="Picture 99">
            <a:extLst>
              <a:ext uri="{FF2B5EF4-FFF2-40B4-BE49-F238E27FC236}">
                <a16:creationId xmlns:a16="http://schemas.microsoft.com/office/drawing/2014/main" id="{759F1319-A5FF-8A1B-4627-67F959922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794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98">
            <a:extLst>
              <a:ext uri="{FF2B5EF4-FFF2-40B4-BE49-F238E27FC236}">
                <a16:creationId xmlns:a16="http://schemas.microsoft.com/office/drawing/2014/main" id="{16C69090-9221-E02E-DE0C-C9E03D5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1" name="Picture 97">
            <a:extLst>
              <a:ext uri="{FF2B5EF4-FFF2-40B4-BE49-F238E27FC236}">
                <a16:creationId xmlns:a16="http://schemas.microsoft.com/office/drawing/2014/main" id="{553CA403-6F3C-2780-CAB5-C6B6B8392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96">
            <a:extLst>
              <a:ext uri="{FF2B5EF4-FFF2-40B4-BE49-F238E27FC236}">
                <a16:creationId xmlns:a16="http://schemas.microsoft.com/office/drawing/2014/main" id="{59EA3FD2-4A1F-1D1D-F302-A4C022491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9" name="Picture 95">
            <a:extLst>
              <a:ext uri="{FF2B5EF4-FFF2-40B4-BE49-F238E27FC236}">
                <a16:creationId xmlns:a16="http://schemas.microsoft.com/office/drawing/2014/main" id="{937252D7-44C2-54D5-ECC2-4B1508E81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94">
            <a:extLst>
              <a:ext uri="{FF2B5EF4-FFF2-40B4-BE49-F238E27FC236}">
                <a16:creationId xmlns:a16="http://schemas.microsoft.com/office/drawing/2014/main" id="{C05B0149-014D-BF6E-5F88-8F52C3E52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93">
            <a:extLst>
              <a:ext uri="{FF2B5EF4-FFF2-40B4-BE49-F238E27FC236}">
                <a16:creationId xmlns:a16="http://schemas.microsoft.com/office/drawing/2014/main" id="{D0CD841D-8887-9C6A-31A2-D478C9936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92">
            <a:extLst>
              <a:ext uri="{FF2B5EF4-FFF2-40B4-BE49-F238E27FC236}">
                <a16:creationId xmlns:a16="http://schemas.microsoft.com/office/drawing/2014/main" id="{46018CC8-2B9B-8E51-3B34-2CC990200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1">
            <a:extLst>
              <a:ext uri="{FF2B5EF4-FFF2-40B4-BE49-F238E27FC236}">
                <a16:creationId xmlns:a16="http://schemas.microsoft.com/office/drawing/2014/main" id="{4E386686-5B27-2031-F028-83AFA73B6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90">
            <a:extLst>
              <a:ext uri="{FF2B5EF4-FFF2-40B4-BE49-F238E27FC236}">
                <a16:creationId xmlns:a16="http://schemas.microsoft.com/office/drawing/2014/main" id="{77962ABE-B091-4811-C620-FFEAAB814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89">
            <a:extLst>
              <a:ext uri="{FF2B5EF4-FFF2-40B4-BE49-F238E27FC236}">
                <a16:creationId xmlns:a16="http://schemas.microsoft.com/office/drawing/2014/main" id="{AD336EB0-D854-CA9C-B02C-BDA89DE6E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88">
            <a:extLst>
              <a:ext uri="{FF2B5EF4-FFF2-40B4-BE49-F238E27FC236}">
                <a16:creationId xmlns:a16="http://schemas.microsoft.com/office/drawing/2014/main" id="{B25AAB1E-685F-437E-CB54-B32885183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87">
            <a:extLst>
              <a:ext uri="{FF2B5EF4-FFF2-40B4-BE49-F238E27FC236}">
                <a16:creationId xmlns:a16="http://schemas.microsoft.com/office/drawing/2014/main" id="{65FB0C60-9E8F-CD85-FFE0-8E8727E48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8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86">
            <a:extLst>
              <a:ext uri="{FF2B5EF4-FFF2-40B4-BE49-F238E27FC236}">
                <a16:creationId xmlns:a16="http://schemas.microsoft.com/office/drawing/2014/main" id="{28B35015-7939-8EEF-4689-EC9D74499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1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85">
            <a:extLst>
              <a:ext uri="{FF2B5EF4-FFF2-40B4-BE49-F238E27FC236}">
                <a16:creationId xmlns:a16="http://schemas.microsoft.com/office/drawing/2014/main" id="{2E35A7BA-FEA8-C85D-D02E-46B585894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77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84">
            <a:extLst>
              <a:ext uri="{FF2B5EF4-FFF2-40B4-BE49-F238E27FC236}">
                <a16:creationId xmlns:a16="http://schemas.microsoft.com/office/drawing/2014/main" id="{24E23430-414B-022F-3A81-84C029194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83">
            <a:extLst>
              <a:ext uri="{FF2B5EF4-FFF2-40B4-BE49-F238E27FC236}">
                <a16:creationId xmlns:a16="http://schemas.microsoft.com/office/drawing/2014/main" id="{3A317CB1-A9F6-D921-DDAE-2D2FBF40E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77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0" name="Picture 64">
            <a:extLst>
              <a:ext uri="{FF2B5EF4-FFF2-40B4-BE49-F238E27FC236}">
                <a16:creationId xmlns:a16="http://schemas.microsoft.com/office/drawing/2014/main" id="{05EADA69-0ED2-22F0-7270-1367C6398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9" name="Picture 63">
            <a:extLst>
              <a:ext uri="{FF2B5EF4-FFF2-40B4-BE49-F238E27FC236}">
                <a16:creationId xmlns:a16="http://schemas.microsoft.com/office/drawing/2014/main" id="{400D0BED-2670-B601-F3F9-A05A49B60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8" name="Picture 62">
            <a:extLst>
              <a:ext uri="{FF2B5EF4-FFF2-40B4-BE49-F238E27FC236}">
                <a16:creationId xmlns:a16="http://schemas.microsoft.com/office/drawing/2014/main" id="{1317F540-7437-EC1D-E361-E073F5907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7" name="Picture 61">
            <a:extLst>
              <a:ext uri="{FF2B5EF4-FFF2-40B4-BE49-F238E27FC236}">
                <a16:creationId xmlns:a16="http://schemas.microsoft.com/office/drawing/2014/main" id="{B04132A3-8EA7-0BAD-3A0C-9FAE917B2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41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6" name="Picture 60">
            <a:extLst>
              <a:ext uri="{FF2B5EF4-FFF2-40B4-BE49-F238E27FC236}">
                <a16:creationId xmlns:a16="http://schemas.microsoft.com/office/drawing/2014/main" id="{1F79A4EF-05AF-1DCF-2909-6AF9928F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5" name="Picture 59">
            <a:extLst>
              <a:ext uri="{FF2B5EF4-FFF2-40B4-BE49-F238E27FC236}">
                <a16:creationId xmlns:a16="http://schemas.microsoft.com/office/drawing/2014/main" id="{6EA49737-6279-E42A-0AD7-310706E8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4" name="Picture 58">
            <a:extLst>
              <a:ext uri="{FF2B5EF4-FFF2-40B4-BE49-F238E27FC236}">
                <a16:creationId xmlns:a16="http://schemas.microsoft.com/office/drawing/2014/main" id="{3F5FBD32-A231-E733-6197-941473D14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3" name="Picture 57">
            <a:extLst>
              <a:ext uri="{FF2B5EF4-FFF2-40B4-BE49-F238E27FC236}">
                <a16:creationId xmlns:a16="http://schemas.microsoft.com/office/drawing/2014/main" id="{07BBE692-E807-BA8D-CFB1-A78CD9DAC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2" name="Picture 56">
            <a:extLst>
              <a:ext uri="{FF2B5EF4-FFF2-40B4-BE49-F238E27FC236}">
                <a16:creationId xmlns:a16="http://schemas.microsoft.com/office/drawing/2014/main" id="{CAC61535-7663-05EB-8E27-88C685B3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24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1" name="Picture 55">
            <a:extLst>
              <a:ext uri="{FF2B5EF4-FFF2-40B4-BE49-F238E27FC236}">
                <a16:creationId xmlns:a16="http://schemas.microsoft.com/office/drawing/2014/main" id="{A684BB98-E9DD-E132-7363-C6A82793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604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50" name="Picture 54">
            <a:extLst>
              <a:ext uri="{FF2B5EF4-FFF2-40B4-BE49-F238E27FC236}">
                <a16:creationId xmlns:a16="http://schemas.microsoft.com/office/drawing/2014/main" id="{4F9F0153-016F-D4A6-039A-A1DF652A9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51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9" name="Picture 53">
            <a:extLst>
              <a:ext uri="{FF2B5EF4-FFF2-40B4-BE49-F238E27FC236}">
                <a16:creationId xmlns:a16="http://schemas.microsoft.com/office/drawing/2014/main" id="{333A4394-8542-FC49-E1D3-98EF771CD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095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8" name="Picture 52">
            <a:extLst>
              <a:ext uri="{FF2B5EF4-FFF2-40B4-BE49-F238E27FC236}">
                <a16:creationId xmlns:a16="http://schemas.microsoft.com/office/drawing/2014/main" id="{7F8AE9A7-859F-F286-AA86-26626AA6C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2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7" name="Picture 51">
            <a:extLst>
              <a:ext uri="{FF2B5EF4-FFF2-40B4-BE49-F238E27FC236}">
                <a16:creationId xmlns:a16="http://schemas.microsoft.com/office/drawing/2014/main" id="{BC760CAF-C7FB-C2DD-E5CA-CD66A5084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6" name="Picture 50">
            <a:extLst>
              <a:ext uri="{FF2B5EF4-FFF2-40B4-BE49-F238E27FC236}">
                <a16:creationId xmlns:a16="http://schemas.microsoft.com/office/drawing/2014/main" id="{EAD37AEF-479A-98B5-21A9-082D1E9CD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22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5" name="Picture 49">
            <a:extLst>
              <a:ext uri="{FF2B5EF4-FFF2-40B4-BE49-F238E27FC236}">
                <a16:creationId xmlns:a16="http://schemas.microsoft.com/office/drawing/2014/main" id="{A15B3ADF-3FE0-9D3B-7B31-322022F9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794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4" name="Picture 48">
            <a:extLst>
              <a:ext uri="{FF2B5EF4-FFF2-40B4-BE49-F238E27FC236}">
                <a16:creationId xmlns:a16="http://schemas.microsoft.com/office/drawing/2014/main" id="{C5E58796-4FAF-3E99-D868-6CD2BA0F9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3" name="Picture 47">
            <a:extLst>
              <a:ext uri="{FF2B5EF4-FFF2-40B4-BE49-F238E27FC236}">
                <a16:creationId xmlns:a16="http://schemas.microsoft.com/office/drawing/2014/main" id="{FE77E164-9D2D-7278-EB79-A5BC63FA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2" name="Picture 46">
            <a:extLst>
              <a:ext uri="{FF2B5EF4-FFF2-40B4-BE49-F238E27FC236}">
                <a16:creationId xmlns:a16="http://schemas.microsoft.com/office/drawing/2014/main" id="{196071C5-3CBB-FB7E-82D5-CAFB9E5DC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1" name="Picture 45">
            <a:extLst>
              <a:ext uri="{FF2B5EF4-FFF2-40B4-BE49-F238E27FC236}">
                <a16:creationId xmlns:a16="http://schemas.microsoft.com/office/drawing/2014/main" id="{C56E325A-C860-6A21-31DE-DCD103D75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40" name="Picture 44">
            <a:extLst>
              <a:ext uri="{FF2B5EF4-FFF2-40B4-BE49-F238E27FC236}">
                <a16:creationId xmlns:a16="http://schemas.microsoft.com/office/drawing/2014/main" id="{B3DE93EF-A16D-DBC5-AFFD-5C411E0E8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9" name="Picture 43">
            <a:extLst>
              <a:ext uri="{FF2B5EF4-FFF2-40B4-BE49-F238E27FC236}">
                <a16:creationId xmlns:a16="http://schemas.microsoft.com/office/drawing/2014/main" id="{34B8433C-90B3-6720-D96C-58891410D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8" name="Picture 42">
            <a:extLst>
              <a:ext uri="{FF2B5EF4-FFF2-40B4-BE49-F238E27FC236}">
                <a16:creationId xmlns:a16="http://schemas.microsoft.com/office/drawing/2014/main" id="{588A73A2-FFA4-BB18-7B89-7F36DB575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7" name="Picture 41">
            <a:extLst>
              <a:ext uri="{FF2B5EF4-FFF2-40B4-BE49-F238E27FC236}">
                <a16:creationId xmlns:a16="http://schemas.microsoft.com/office/drawing/2014/main" id="{BF433CA5-3A9E-268E-9E6C-C40C3B045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6" name="Picture 40">
            <a:extLst>
              <a:ext uri="{FF2B5EF4-FFF2-40B4-BE49-F238E27FC236}">
                <a16:creationId xmlns:a16="http://schemas.microsoft.com/office/drawing/2014/main" id="{6C88D7DE-1223-D533-36D5-EC2A67A38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5" name="Picture 39">
            <a:extLst>
              <a:ext uri="{FF2B5EF4-FFF2-40B4-BE49-F238E27FC236}">
                <a16:creationId xmlns:a16="http://schemas.microsoft.com/office/drawing/2014/main" id="{BCB84F98-73F1-F514-B843-AFA13CA81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4" name="Picture 38">
            <a:extLst>
              <a:ext uri="{FF2B5EF4-FFF2-40B4-BE49-F238E27FC236}">
                <a16:creationId xmlns:a16="http://schemas.microsoft.com/office/drawing/2014/main" id="{AF3FD96B-7194-870E-7161-058B6A347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3" name="Picture 37">
            <a:extLst>
              <a:ext uri="{FF2B5EF4-FFF2-40B4-BE49-F238E27FC236}">
                <a16:creationId xmlns:a16="http://schemas.microsoft.com/office/drawing/2014/main" id="{AB4A9FA3-0F30-EB84-1B7B-3863B90B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985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2" name="Picture 36">
            <a:extLst>
              <a:ext uri="{FF2B5EF4-FFF2-40B4-BE49-F238E27FC236}">
                <a16:creationId xmlns:a16="http://schemas.microsoft.com/office/drawing/2014/main" id="{FA04459A-5B6E-A807-6C28-4ED392AEC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135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1" name="Picture 35">
            <a:extLst>
              <a:ext uri="{FF2B5EF4-FFF2-40B4-BE49-F238E27FC236}">
                <a16:creationId xmlns:a16="http://schemas.microsoft.com/office/drawing/2014/main" id="{47FCD506-0B8E-854D-2236-04FA1156E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77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30" name="Picture 34">
            <a:extLst>
              <a:ext uri="{FF2B5EF4-FFF2-40B4-BE49-F238E27FC236}">
                <a16:creationId xmlns:a16="http://schemas.microsoft.com/office/drawing/2014/main" id="{E99AA66E-74D0-C745-6087-4DF5DA435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6250" cy="10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9" name="Picture 33">
            <a:extLst>
              <a:ext uri="{FF2B5EF4-FFF2-40B4-BE49-F238E27FC236}">
                <a16:creationId xmlns:a16="http://schemas.microsoft.com/office/drawing/2014/main" id="{85593C56-1A72-A166-616B-092FCB1CE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477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714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D437E-0508-F461-EF26-27DDB9C2F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r>
              <a:rPr lang="en-IN" dirty="0"/>
              <a:t>Marginal Probabilities: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3135CE-FADD-D0BE-5D22-1F4291B360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4900"/>
                <a:ext cx="10515600" cy="5072063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probability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 0≤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obtained by adding all entries in the row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This is called as </a:t>
                </a:r>
                <a:r>
                  <a:rPr lang="en-IN" b="1" dirty="0"/>
                  <a:t>marginal probability of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N" b="1" dirty="0"/>
                  <a:t> </a:t>
                </a:r>
                <a14:m>
                  <m:oMath xmlns:m="http://schemas.openxmlformats.org/officeDocument/2006/math">
                    <m:r>
                      <a:rPr lang="en-IN" b="1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dirty="0"/>
              </a:p>
              <a:p>
                <a:pPr marL="0" indent="0">
                  <a:buNone/>
                </a:pPr>
                <a:r>
                  <a:rPr lang="en-US" dirty="0"/>
                  <a:t>Similarly, the probability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b="0" i="0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 0≤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obtained by adding all entries in the column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and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This is called as </a:t>
                </a:r>
                <a:r>
                  <a:rPr lang="en-IN" b="1" dirty="0"/>
                  <a:t>marginal probability of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b="1" dirty="0"/>
                  <a:t>, </a:t>
                </a:r>
                <a14:m>
                  <m:oMath xmlns:m="http://schemas.openxmlformats.org/officeDocument/2006/math">
                    <m:r>
                      <a:rPr lang="en-IN" i="1" dirty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N" b="1" dirty="0"/>
              </a:p>
              <a:p>
                <a:pPr marL="0" indent="0">
                  <a:buNone/>
                </a:pPr>
                <a:endParaRPr lang="en-IN" b="1" dirty="0"/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joint distribution function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𝒂𝒏𝒅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defined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ctrl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IN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r>
                                <a:rPr lang="en-IN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IN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553135CE-FADD-D0BE-5D22-1F4291B36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4900"/>
                <a:ext cx="10515600" cy="5072063"/>
              </a:xfrm>
              <a:blipFill>
                <a:blip r:embed="rId2" cstate="print"/>
                <a:stretch>
                  <a:fillRect l="-638" t="-2163" r="-6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51D8E-ED9D-831F-9D59-C9B1B4DA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902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6E04-6F67-4821-B0FA-2D076C55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561"/>
          </a:xfrm>
        </p:spPr>
        <p:txBody>
          <a:bodyPr>
            <a:normAutofit/>
          </a:bodyPr>
          <a:lstStyle/>
          <a:p>
            <a:r>
              <a:rPr lang="en-IN" dirty="0"/>
              <a:t>Independent random variables: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B2FDC4-A5D8-2A96-D4A6-1E90514C0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857"/>
                <a:ext cx="10515600" cy="4925106"/>
              </a:xfrm>
            </p:spPr>
            <p:txBody>
              <a:bodyPr/>
              <a:lstStyle/>
              <a:p>
                <a:r>
                  <a:rPr lang="en-IN" dirty="0"/>
                  <a:t>Two discrete random variables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dirty="0"/>
                  <a:t> are said to be independent if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Equivalently, </a:t>
                </a:r>
              </a:p>
              <a:p>
                <a:r>
                  <a:rPr lang="en-IN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dirty="0"/>
                  <a:t> are continuous random variables then they are said to be independent if 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48B2FDC4-A5D8-2A96-D4A6-1E90514C0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857"/>
                <a:ext cx="10515600" cy="4925106"/>
              </a:xfrm>
              <a:blipFill>
                <a:blip r:embed="rId2" cstate="print"/>
                <a:stretch>
                  <a:fillRect l="-1043" t="-1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CA264-5BD1-4332-2640-E0CD9CDD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454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E56A-719E-1A88-2266-5AC1DFFB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0875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C00BE-AA11-BB6E-EE6D-A719605595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16000"/>
                <a:ext cx="10515600" cy="5160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joint probability function of two discrete random variables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given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/>
                  <a:t>where x and y can assume all integers such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2, 0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3, 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0 </m:t>
                    </m:r>
                  </m:oMath>
                </a14:m>
                <a:r>
                  <a:rPr lang="en-US" dirty="0"/>
                  <a:t>otherwise. </a:t>
                </a:r>
              </a:p>
              <a:p>
                <a:pPr marL="514350" indent="-514350">
                  <a:buAutoNum type="alphaLcParenBoth"/>
                </a:pPr>
                <a:r>
                  <a:rPr lang="en-US" dirty="0"/>
                  <a:t>Find the value of the constant c.   </a:t>
                </a:r>
              </a:p>
              <a:p>
                <a:pPr marL="514350" indent="-514350">
                  <a:buAutoNum type="alphaLcParenBoth"/>
                </a:pPr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(c)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(d) Find the marginal probabilities of X and Y</a:t>
                </a:r>
              </a:p>
              <a:p>
                <a:pPr marL="0" indent="0">
                  <a:buNone/>
                </a:pPr>
                <a:r>
                  <a:rPr lang="en-IN" dirty="0"/>
                  <a:t>(e)  Check if the variables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dirty="0"/>
                  <a:t> are independent.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844C00BE-AA11-BB6E-EE6D-A719605595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16000"/>
                <a:ext cx="10515600" cy="5160963"/>
              </a:xfrm>
              <a:blipFill>
                <a:blip r:embed="rId2" cstate="print"/>
                <a:stretch>
                  <a:fillRect l="-1217" t="-20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34B59-DEBF-2B43-7D94-0AD513C22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42</a:t>
            </a:fld>
            <a:endParaRPr lang="en-IN"/>
          </a:p>
        </p:txBody>
      </p:sp>
      <p:pic>
        <p:nvPicPr>
          <p:cNvPr id="5133" name="Picture 53">
            <a:extLst>
              <a:ext uri="{FF2B5EF4-FFF2-40B4-BE49-F238E27FC236}">
                <a16:creationId xmlns:a16="http://schemas.microsoft.com/office/drawing/2014/main" id="{D2FA9BA2-369E-3B89-134A-C12EF06B2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37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52">
            <a:extLst>
              <a:ext uri="{FF2B5EF4-FFF2-40B4-BE49-F238E27FC236}">
                <a16:creationId xmlns:a16="http://schemas.microsoft.com/office/drawing/2014/main" id="{896215E8-25B6-B23D-5D45-1852B12FD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4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1" name="Picture 51">
            <a:extLst>
              <a:ext uri="{FF2B5EF4-FFF2-40B4-BE49-F238E27FC236}">
                <a16:creationId xmlns:a16="http://schemas.microsoft.com/office/drawing/2014/main" id="{F9EB2D70-437F-340A-4E5B-24D0151B6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6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50">
            <a:extLst>
              <a:ext uri="{FF2B5EF4-FFF2-40B4-BE49-F238E27FC236}">
                <a16:creationId xmlns:a16="http://schemas.microsoft.com/office/drawing/2014/main" id="{3CDEF942-7A28-4B4C-E1FE-C81605D1A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49">
            <a:extLst>
              <a:ext uri="{FF2B5EF4-FFF2-40B4-BE49-F238E27FC236}">
                <a16:creationId xmlns:a16="http://schemas.microsoft.com/office/drawing/2014/main" id="{CB3A9C21-BCF7-2EF1-562A-14260BC00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48">
            <a:extLst>
              <a:ext uri="{FF2B5EF4-FFF2-40B4-BE49-F238E27FC236}">
                <a16:creationId xmlns:a16="http://schemas.microsoft.com/office/drawing/2014/main" id="{CD325477-6733-E708-3FA9-437FB1E3F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47">
            <a:extLst>
              <a:ext uri="{FF2B5EF4-FFF2-40B4-BE49-F238E27FC236}">
                <a16:creationId xmlns:a16="http://schemas.microsoft.com/office/drawing/2014/main" id="{9081944B-50C6-D08B-79F3-D09568965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46">
            <a:extLst>
              <a:ext uri="{FF2B5EF4-FFF2-40B4-BE49-F238E27FC236}">
                <a16:creationId xmlns:a16="http://schemas.microsoft.com/office/drawing/2014/main" id="{5150078E-24DE-4F0C-9FC8-A9684866E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45">
            <a:extLst>
              <a:ext uri="{FF2B5EF4-FFF2-40B4-BE49-F238E27FC236}">
                <a16:creationId xmlns:a16="http://schemas.microsoft.com/office/drawing/2014/main" id="{D27C307F-8905-1440-0725-7D62FEBB1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4">
            <a:extLst>
              <a:ext uri="{FF2B5EF4-FFF2-40B4-BE49-F238E27FC236}">
                <a16:creationId xmlns:a16="http://schemas.microsoft.com/office/drawing/2014/main" id="{EF1AF6B8-55E3-9C3D-7B77-75C671825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56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43">
            <a:extLst>
              <a:ext uri="{FF2B5EF4-FFF2-40B4-BE49-F238E27FC236}">
                <a16:creationId xmlns:a16="http://schemas.microsoft.com/office/drawing/2014/main" id="{07D7E157-F1F7-059F-51E6-397B4DD20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42">
            <a:extLst>
              <a:ext uri="{FF2B5EF4-FFF2-40B4-BE49-F238E27FC236}">
                <a16:creationId xmlns:a16="http://schemas.microsoft.com/office/drawing/2014/main" id="{C6AEB58B-EB2B-F764-1442-2EC6E6070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41">
            <a:extLst>
              <a:ext uri="{FF2B5EF4-FFF2-40B4-BE49-F238E27FC236}">
                <a16:creationId xmlns:a16="http://schemas.microsoft.com/office/drawing/2014/main" id="{C0EBBC63-1208-5877-CE05-AB8593DB1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13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6" name="Picture 26">
            <a:extLst>
              <a:ext uri="{FF2B5EF4-FFF2-40B4-BE49-F238E27FC236}">
                <a16:creationId xmlns:a16="http://schemas.microsoft.com/office/drawing/2014/main" id="{BE09B81D-D76C-8E5F-96B3-0E66BCA8F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937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5" name="Picture 25">
            <a:extLst>
              <a:ext uri="{FF2B5EF4-FFF2-40B4-BE49-F238E27FC236}">
                <a16:creationId xmlns:a16="http://schemas.microsoft.com/office/drawing/2014/main" id="{649046FB-E930-5F3A-13C7-0BCD9F8FA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94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4" name="Picture 24">
            <a:extLst>
              <a:ext uri="{FF2B5EF4-FFF2-40B4-BE49-F238E27FC236}">
                <a16:creationId xmlns:a16="http://schemas.microsoft.com/office/drawing/2014/main" id="{4B7F1D07-55EC-30B1-83C4-E84B1304D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0500" cy="16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3" name="Picture 23">
            <a:extLst>
              <a:ext uri="{FF2B5EF4-FFF2-40B4-BE49-F238E27FC236}">
                <a16:creationId xmlns:a16="http://schemas.microsoft.com/office/drawing/2014/main" id="{A36B6680-4E2D-41B9-4D30-4B9D9CF9E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2" name="Picture 22">
            <a:extLst>
              <a:ext uri="{FF2B5EF4-FFF2-40B4-BE49-F238E27FC236}">
                <a16:creationId xmlns:a16="http://schemas.microsoft.com/office/drawing/2014/main" id="{E51006CC-9BD2-A095-B8F4-BF393E730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1" name="Picture 21">
            <a:extLst>
              <a:ext uri="{FF2B5EF4-FFF2-40B4-BE49-F238E27FC236}">
                <a16:creationId xmlns:a16="http://schemas.microsoft.com/office/drawing/2014/main" id="{7B0B7414-08DC-46B6-D3C8-802A976A6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>
            <a:extLst>
              <a:ext uri="{FF2B5EF4-FFF2-40B4-BE49-F238E27FC236}">
                <a16:creationId xmlns:a16="http://schemas.microsoft.com/office/drawing/2014/main" id="{5396695F-7A44-DECE-EEF4-236BE67E5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9" name="Picture 19">
            <a:extLst>
              <a:ext uri="{FF2B5EF4-FFF2-40B4-BE49-F238E27FC236}">
                <a16:creationId xmlns:a16="http://schemas.microsoft.com/office/drawing/2014/main" id="{884E7445-9732-C73D-C8AC-7B4AC8D4F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>
            <a:extLst>
              <a:ext uri="{FF2B5EF4-FFF2-40B4-BE49-F238E27FC236}">
                <a16:creationId xmlns:a16="http://schemas.microsoft.com/office/drawing/2014/main" id="{0CA62A4B-BAED-984C-E41A-D854CB91A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7" name="Picture 17">
            <a:extLst>
              <a:ext uri="{FF2B5EF4-FFF2-40B4-BE49-F238E27FC236}">
                <a16:creationId xmlns:a16="http://schemas.microsoft.com/office/drawing/2014/main" id="{D48739FC-9807-3A3E-8022-EA60BA5CB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556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>
            <a:extLst>
              <a:ext uri="{FF2B5EF4-FFF2-40B4-BE49-F238E27FC236}">
                <a16:creationId xmlns:a16="http://schemas.microsoft.com/office/drawing/2014/main" id="{2B58CA8D-A4AA-41FF-4F65-AC43753F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35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5" name="Picture 15">
            <a:extLst>
              <a:ext uri="{FF2B5EF4-FFF2-40B4-BE49-F238E27FC236}">
                <a16:creationId xmlns:a16="http://schemas.microsoft.com/office/drawing/2014/main" id="{1D35F61D-797F-778F-0B15-93D66A7D7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66C6A4EF-C788-64C4-6F9D-24B96F501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41300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730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5C29C-23C6-D328-6D20-FA3A1E07C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8300"/>
            <a:ext cx="10515600" cy="5808663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BBE12-AC0E-0F08-589C-B5557152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43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57414B-7917-C46F-5F0D-336BD95D50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0" y="3064497"/>
            <a:ext cx="6137474" cy="3202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BD26AD-A802-CBE3-D974-52F000F8600E}"/>
                  </a:ext>
                </a:extLst>
              </p:cNvPr>
              <p:cNvSpPr txBox="1"/>
              <p:nvPr/>
            </p:nvSpPr>
            <p:spPr>
              <a:xfrm>
                <a:off x="838200" y="681037"/>
                <a:ext cx="10388600" cy="2091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Solution:</a:t>
                </a:r>
              </a:p>
              <a:p>
                <a:pPr marL="514350" indent="-514350">
                  <a:buAutoNum type="alphaLcParenBoth"/>
                </a:pPr>
                <a:r>
                  <a:rPr lang="en-US" sz="2400" dirty="0"/>
                  <a:t>The sample points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dirty="0"/>
                  <a:t>for which probabilities are given by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sz="2400" dirty="0"/>
                  <a:t>are different from zero are indicated in the table. Since the grand total, 42c, must be equal to 1, we have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B6BD26AD-A802-CBE3-D974-52F000F86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81037"/>
                <a:ext cx="10388600" cy="2091214"/>
              </a:xfrm>
              <a:prstGeom prst="rect">
                <a:avLst/>
              </a:prstGeom>
              <a:blipFill>
                <a:blip r:embed="rId3" cstate="print"/>
                <a:stretch>
                  <a:fillRect l="-939" t="-23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48385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21A7D4-7565-41BB-32F7-0E172A2883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49300"/>
                <a:ext cx="10515600" cy="54276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(b)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=2,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lang="en-IN" sz="2800" b="0" dirty="0"/>
              </a:p>
              <a:p>
                <a:r>
                  <a:rPr lang="en-IN" sz="2800" dirty="0"/>
                  <a:t>(c) 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≥1, 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2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  <m:sup/>
                      <m:e>
                        <m:nary>
                          <m:naryPr>
                            <m:chr m:val="∑"/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≤2</m:t>
                            </m:r>
                          </m:sub>
                          <m:sup/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nary>
                      </m:e>
                    </m:nary>
                  </m:oMath>
                </a14:m>
                <a:endParaRPr lang="en-IN" sz="2800" dirty="0"/>
              </a:p>
              <a:p>
                <a:pPr marL="0" indent="0">
                  <a:buNone/>
                </a:pPr>
                <a:r>
                  <a:rPr lang="en-IN" sz="2800" dirty="0"/>
                  <a:t>                                  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+4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+(4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=24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  <m:r>
                        <a:rPr lang="en-I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sz="28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</m:oMath>
                  </m:oMathPara>
                </a14:m>
                <a:endParaRPr lang="en-IN" sz="2800" dirty="0"/>
              </a:p>
              <a:p>
                <a:r>
                  <a:rPr lang="en-IN" dirty="0"/>
                  <a:t>(d) </a:t>
                </a:r>
                <a:r>
                  <a:rPr lang="en-US" dirty="0"/>
                  <a:t>The marginal probability function for X is given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 and can be obtained from the margin totals in the right-hand    </a:t>
                </a:r>
              </a:p>
              <a:p>
                <a:pPr marL="0" indent="0">
                  <a:buNone/>
                </a:pPr>
                <a:r>
                  <a:rPr lang="en-US" dirty="0"/>
                  <a:t>    column.</a:t>
                </a:r>
              </a:p>
              <a:p>
                <a:pPr marL="0" indent="0">
                  <a:buNone/>
                </a:pPr>
                <a:r>
                  <a:rPr lang="en-US" dirty="0"/>
                  <a:t>    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=6∙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=14∙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=22∙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21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=2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Is the marginal distribution of 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B621A7D4-7565-41BB-32F7-0E172A2883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49300"/>
                <a:ext cx="10515600" cy="5427663"/>
              </a:xfrm>
              <a:blipFill>
                <a:blip r:embed="rId2" cstate="print"/>
                <a:stretch>
                  <a:fillRect l="-1043" t="-787" b="-25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EA2AC-DA3B-7C22-6BDD-51957D4D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6071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B647B1-3FF9-40FA-343F-01AF8A83C4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900" y="635000"/>
                <a:ext cx="10515600" cy="5541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marginal probability function for Y is given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dirty="0"/>
                  <a:t>y) and can be obtained from the margin totals in the right-hand    </a:t>
                </a:r>
              </a:p>
              <a:p>
                <a:pPr marL="0" indent="0">
                  <a:buNone/>
                </a:pPr>
                <a:r>
                  <a:rPr lang="en-US" dirty="0"/>
                  <a:t>    column.</a:t>
                </a:r>
              </a:p>
              <a:p>
                <a:pPr marL="0" indent="0">
                  <a:buNone/>
                </a:pPr>
                <a:r>
                  <a:rPr lang="en-US" dirty="0"/>
                  <a:t>     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=6∙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=9∙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=12∙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=2</m:t>
                            </m:r>
                          </m: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=15∙</m:t>
                            </m:r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42</m:t>
                                </m:r>
                              </m:den>
                            </m:f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I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den>
                            </m:f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𝑎𝑡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=3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Is the marginal distribution of 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C1B647B1-3FF9-40FA-343F-01AF8A83C4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900" y="635000"/>
                <a:ext cx="10515600" cy="5541963"/>
              </a:xfrm>
              <a:blipFill>
                <a:blip r:embed="rId2" cstate="print"/>
                <a:stretch>
                  <a:fillRect l="-1217" t="-1760" r="-6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30E40-9AF5-F317-2C7C-2448D831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423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7B70F-C17C-2477-B92F-F0B7C61B8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7400"/>
            <a:ext cx="10515600" cy="5389563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F7A0F-1D1C-477B-B4E2-4772735B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35630-D3C6-1C84-CBBD-5B43A7EC8932}"/>
                  </a:ext>
                </a:extLst>
              </p:cNvPr>
              <p:cNvSpPr txBox="1"/>
              <p:nvPr/>
            </p:nvSpPr>
            <p:spPr>
              <a:xfrm>
                <a:off x="1193800" y="1231900"/>
                <a:ext cx="10363200" cy="3728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dirty="0"/>
                  <a:t>e) To check independence of X and Y</a:t>
                </a:r>
              </a:p>
              <a:p>
                <a:r>
                  <a:rPr lang="en-IN" sz="2800" dirty="0"/>
                  <a:t>To check if X and Y are independent we must check if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But 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𝐹𝑜𝑟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𝑔𝑒𝑡</m:t>
                    </m:r>
                  </m:oMath>
                </a14:m>
                <a:endParaRPr lang="en-IN" sz="2800" b="0" dirty="0"/>
              </a:p>
              <a:p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=2,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=5/42</m:t>
                    </m:r>
                  </m:oMath>
                </a14:m>
                <a:r>
                  <a:rPr lang="en-IN" sz="2800" dirty="0"/>
                  <a:t>  while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   &amp;  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endParaRPr lang="en-IN" sz="2800" b="0" dirty="0"/>
              </a:p>
              <a:p>
                <a:r>
                  <a:rPr lang="en-IN" sz="2800" dirty="0"/>
                  <a:t>i.e. 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=2,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n-IN" sz="2800" dirty="0"/>
              </a:p>
              <a:p>
                <a:endParaRPr lang="en-IN" sz="2800" dirty="0"/>
              </a:p>
              <a:p>
                <a:r>
                  <a:rPr lang="en-IN" sz="2800" dirty="0"/>
                  <a:t>Hence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/>
                  <a:t> are dependent random variables.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A8F35630-D3C6-1C84-CBBD-5B43A7EC8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800" y="1231900"/>
                <a:ext cx="10363200" cy="3728841"/>
              </a:xfrm>
              <a:prstGeom prst="rect">
                <a:avLst/>
              </a:prstGeom>
              <a:blipFill>
                <a:blip r:embed="rId2" cstate="print"/>
                <a:stretch>
                  <a:fillRect l="-1235" t="-1471" b="-37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11937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2051" name="Picture 3" descr="C:\Users\admin\Pictures\Ex. 13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4850" y="1828801"/>
            <a:ext cx="108204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05C1-7684-C3E1-770D-558C1B2D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589"/>
          </a:xfrm>
        </p:spPr>
        <p:txBody>
          <a:bodyPr/>
          <a:lstStyle/>
          <a:p>
            <a:r>
              <a:rPr lang="en-IN" dirty="0"/>
              <a:t>Covariance: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E842E6-86E8-B80F-B341-617D15D8A9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033963"/>
              </a:xfrm>
            </p:spPr>
            <p:txBody>
              <a:bodyPr>
                <a:normAutofit fontScale="85000" lnSpcReduction="10000"/>
              </a:bodyPr>
              <a:lstStyle/>
              <a:p>
                <a:pPr marL="571500" indent="-571500">
                  <a:buFont typeface="+mj-lt"/>
                  <a:buAutoNum type="romanLcPeriod"/>
                </a:pPr>
                <a:r>
                  <a:rPr lang="en-IN" dirty="0"/>
                  <a:t>Definition: Covariance of two random variables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dirty="0"/>
                  <a:t> denoted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is defined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IN" b="0" dirty="0"/>
              </a:p>
              <a:p>
                <a:pPr marL="0" indent="0">
                  <a:buNone/>
                </a:pPr>
                <a:r>
                  <a:rPr lang="en-IN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IN" dirty="0"/>
                  <a:t> are means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</m:oMath>
                </a14:m>
                <a:r>
                  <a:rPr lang="en-IN" dirty="0"/>
                  <a:t>Y respectively.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Note: The simplified expression for the above formula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]−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US" dirty="0"/>
                  <a:t>Note:</a:t>
                </a:r>
              </a:p>
              <a:p>
                <a:pPr marL="571500" indent="-571500">
                  <a:buAutoNum type="romanLcPeriod"/>
                </a:pPr>
                <a:r>
                  <a:rPr lang="en-US" dirty="0"/>
                  <a:t>The covariance of two random variables describes their joint behavior  </a:t>
                </a:r>
              </a:p>
              <a:p>
                <a:pPr marL="0" indent="0">
                  <a:buNone/>
                </a:pPr>
                <a:r>
                  <a:rPr lang="en-US" dirty="0"/>
                  <a:t>        </a:t>
                </a:r>
                <a:r>
                  <a:rPr lang="en-US" dirty="0" err="1"/>
                  <a:t>i.e</a:t>
                </a:r>
                <a:r>
                  <a:rPr lang="en-US" dirty="0"/>
                  <a:t> it measures to what extent the random variables vary together.</a:t>
                </a:r>
              </a:p>
              <a:p>
                <a:pPr marL="571500" indent="-571500">
                  <a:buAutoNum type="romanLcPeriod" startAt="2"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) = 0</m:t>
                    </m:r>
                  </m:oMath>
                </a14:m>
                <a:r>
                  <a:rPr lang="en-US" dirty="0"/>
                  <a:t>, then X and Y are uncorrelated.</a:t>
                </a:r>
              </a:p>
              <a:p>
                <a:pPr marL="571500" indent="-571500">
                  <a:buAutoNum type="romanLcPeriod" startAt="2"/>
                </a:pPr>
                <a:r>
                  <a:rPr lang="en-US" dirty="0"/>
                  <a:t>Positive value of </a:t>
                </a:r>
                <a:r>
                  <a:rPr lang="en-US" dirty="0" err="1"/>
                  <a:t>Cov</a:t>
                </a:r>
                <a:r>
                  <a:rPr lang="en-US" dirty="0"/>
                  <a:t>(X , Y ) indicates that Y tends to increase as X does, whereas a negative value indicates that Y tends to decrease as X increases.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571500" indent="-571500">
                  <a:buFont typeface="+mj-lt"/>
                  <a:buAutoNum type="romanLcPeriod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E842E6-86E8-B80F-B341-617D15D8A9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033963"/>
              </a:xfrm>
              <a:blipFill>
                <a:blip r:embed="rId2"/>
                <a:stretch>
                  <a:fillRect l="-928" t="-2545" b="-19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5BB3C-8B0C-5D8B-FDF3-A8A5E9C5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8872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3386-633E-18D7-9545-48272A0C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Graphical view of various covariance values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974CB2-D70F-B077-778A-A7819F2DE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98171" y="1756472"/>
            <a:ext cx="9011619" cy="459987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CD71-2196-4BA4-40E4-084D1E70D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9319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A9D4-0A47-E972-D9AB-57015ABEA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8A4F-E00E-F142-E494-99B2E9DDB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dirty="0"/>
                  <a:t>Properties of covariance:</a:t>
                </a:r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i="1" dirty="0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𝑎𝑋</m:t>
                        </m:r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i="1" dirty="0" err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 dirty="0" err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106E8A4F-E00E-F142-E494-99B2E9DDB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AB0F1-80A6-ABD7-055B-15F3F960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808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B6DF-256D-A5D1-40C0-5B84BBD42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8375"/>
          </a:xfrm>
        </p:spPr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9680D-882C-7737-809C-7D87AF03F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500"/>
            <a:ext cx="10515600" cy="5159375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The joint and marginal probabilities of X and Y, the numbers of aspirin and sedative caplets among two caplets drawn at random from a bottle containing three aspirin, two sedative, and four laxative caplets, are recorded as follows: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81F84-D46B-C459-0CE4-8FD1CFF8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3FF8B-DDF2-6F23-CD46-68A1E9E4E9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558" y="2685257"/>
            <a:ext cx="3993941" cy="31242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FE49304-7E16-E2D5-D5FE-9B5CC77D6561}"/>
              </a:ext>
            </a:extLst>
          </p:cNvPr>
          <p:cNvSpPr txBox="1"/>
          <p:nvPr/>
        </p:nvSpPr>
        <p:spPr>
          <a:xfrm>
            <a:off x="1333499" y="589732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Find the covariance of X and 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050701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B83DFE-159D-8BB8-7484-853A036627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76300"/>
                <a:ext cx="10515600" cy="53006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Solution:</a:t>
                </a:r>
              </a:p>
              <a:p>
                <a:r>
                  <a:rPr lang="en-US" dirty="0"/>
                  <a:t>Referring to the joint probabilities given here, we get </a:t>
                </a:r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=0·0·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+ 0·1·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+ 0·2·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+1·0·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+1·1·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+2·0·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and using the marginal probabilities, we get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+1·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+2·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    and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+1·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+2·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It follows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·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−</m:t>
                      </m:r>
                      <m:f>
                        <m:fPr>
                          <m:ctrlPr>
                            <a:rPr lang="en-I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54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The negative result suggests that the more aspirin tablets we get the fewer sedative tablets we will get, and vice versa, and this, of course, makes sense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ADB83DFE-159D-8BB8-7484-853A03662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76300"/>
                <a:ext cx="10515600" cy="5300663"/>
              </a:xfrm>
              <a:blipFill>
                <a:blip r:embed="rId2" cstate="print"/>
                <a:stretch>
                  <a:fillRect l="-1043" t="-28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8DFF6-F30F-62F1-ED09-EFC7DFCC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932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C248-C666-C1A4-A54E-E46D5BFC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Correlation coefficient: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E90186-E7D1-4787-E36A-F29610228D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strength of the linear relationship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indicated by the </a:t>
                </a:r>
                <a:r>
                  <a:rPr lang="en-US" i="1" dirty="0"/>
                  <a:t>correlation</a:t>
                </a:r>
                <a:r>
                  <a:rPr lang="en-US" dirty="0"/>
                  <a:t> between X and Y.</a:t>
                </a:r>
              </a:p>
              <a:p>
                <a:r>
                  <a:rPr lang="en-US" dirty="0"/>
                  <a:t>It provides a </a:t>
                </a:r>
                <a:r>
                  <a:rPr lang="en-US" i="1" dirty="0"/>
                  <a:t>measure of dependence </a:t>
                </a:r>
                <a:r>
                  <a:rPr lang="en-US" dirty="0"/>
                  <a:t>between two random variables.</a:t>
                </a:r>
              </a:p>
              <a:p>
                <a:r>
                  <a:rPr lang="en-US" dirty="0"/>
                  <a:t>It is a dimensionless quantity obtained by dividing the covariance by the product of the standard deviations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. It is denoted by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𝐶𝑜𝑟𝑟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Where </a:t>
                </a:r>
                <a:endParaRPr lang="en-I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en-IN" dirty="0"/>
                  <a:t>is the covariance between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IN" dirty="0"/>
                  <a:t> is the standard deviation of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IN" dirty="0"/>
                  <a:t> is the standard deviation of Y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5E90186-E7D1-4787-E36A-F29610228D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 cstate="print"/>
                <a:stretch>
                  <a:fillRect l="-1043" t="-2717" r="-1159" b="-12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E197B-9B6C-593B-5C0F-77225A4C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7927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D7E9-4FDB-7B92-FA53-B6057642B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correlation coefficient: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D8219B-6745-1105-330A-8AB60784FC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−1≤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=−1 </m:t>
                    </m:r>
                  </m:oMath>
                </a14:m>
                <a:r>
                  <a:rPr lang="en-IN" dirty="0"/>
                  <a:t>indicates perfect negative linear relationship between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IN" dirty="0"/>
                  <a:t>indicates perfect positive linear relationship between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IN" b="0" dirty="0"/>
              </a:p>
              <a:p>
                <a:pPr marL="571500" indent="-5715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  </m:t>
                    </m:r>
                  </m:oMath>
                </a14:m>
                <a:r>
                  <a:rPr lang="en-IN" b="0" dirty="0"/>
                  <a:t>indicates that the variables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b="0" dirty="0"/>
                  <a:t> are </a:t>
                </a:r>
                <a:r>
                  <a:rPr lang="en-IN" b="0" i="1" dirty="0"/>
                  <a:t>uncorrelated.</a:t>
                </a:r>
              </a:p>
              <a:p>
                <a:pPr marL="571500" indent="-571500">
                  <a:buFont typeface="+mj-lt"/>
                  <a:buAutoNum type="romanLcPeriod"/>
                </a:pPr>
                <a:r>
                  <a:rPr lang="en-IN" b="0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&amp;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b="0" dirty="0"/>
                  <a:t> are independent then they are </a:t>
                </a:r>
                <a:r>
                  <a:rPr lang="en-IN" dirty="0"/>
                  <a:t>uncorrelated i.e.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IN" b="0" dirty="0"/>
                  <a:t>however the converse is not true.</a:t>
                </a:r>
              </a:p>
              <a:p>
                <a:pPr marL="571500" indent="-571500">
                  <a:buFont typeface="+mj-lt"/>
                  <a:buAutoNum type="romanLcPeriod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9CD8219B-6745-1105-330A-8AB60784F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 cstate="print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ED27A-EC15-5DA5-ED02-765B1412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6936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55</a:t>
            </a:fld>
            <a:endParaRPr lang="en-IN"/>
          </a:p>
        </p:txBody>
      </p:sp>
      <p:pic>
        <p:nvPicPr>
          <p:cNvPr id="3077" name="Picture 5" descr="C:\Users\admin\Pictures\Ex.13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657350"/>
            <a:ext cx="9867900" cy="401954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10E8D2-1BDA-4859-AA59-130DD07FDEA7}" type="slidenum">
              <a:rPr lang="en-IN" smtClean="0"/>
              <a:pPr/>
              <a:t>56</a:t>
            </a:fld>
            <a:endParaRPr lang="en-IN"/>
          </a:p>
        </p:txBody>
      </p:sp>
      <p:pic>
        <p:nvPicPr>
          <p:cNvPr id="4099" name="Picture 3" descr="C:\Users\admin\Pictures\Ex. 15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0" y="590550"/>
            <a:ext cx="10267950" cy="2724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cean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958F7"/>
      </a:accent1>
      <a:accent2>
        <a:srgbClr val="FE7032"/>
      </a:accent2>
      <a:accent3>
        <a:srgbClr val="91BED4"/>
      </a:accent3>
      <a:accent4>
        <a:srgbClr val="FFC000"/>
      </a:accent4>
      <a:accent5>
        <a:srgbClr val="D9E8F5"/>
      </a:accent5>
      <a:accent6>
        <a:srgbClr val="FFAD8D"/>
      </a:accent6>
      <a:hlink>
        <a:srgbClr val="0563C1"/>
      </a:hlink>
      <a:folHlink>
        <a:srgbClr val="954F72"/>
      </a:folHlink>
    </a:clrScheme>
    <a:fontScheme name="Montserrat ExtraBold - Open Sans">
      <a:majorFont>
        <a:latin typeface="Montserrat ExtraBold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84DFCA-283E-4252-8487-345E87797EC1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20818</TotalTime>
  <Words>4003</Words>
  <Application>Microsoft Office PowerPoint</Application>
  <PresentationFormat>Widescreen</PresentationFormat>
  <Paragraphs>404</Paragraphs>
  <Slides>56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Cascadia Mono SemiBold</vt:lpstr>
      <vt:lpstr>Montserrat ExtraBold</vt:lpstr>
      <vt:lpstr>Open Sans</vt:lpstr>
      <vt:lpstr>Times New Roman</vt:lpstr>
      <vt:lpstr>Wingdings</vt:lpstr>
      <vt:lpstr>Office Theme</vt:lpstr>
      <vt:lpstr>Ocean</vt:lpstr>
      <vt:lpstr> Topic: Random Variables Subject: Calculus and Statistics </vt:lpstr>
      <vt:lpstr>Why random variables?</vt:lpstr>
      <vt:lpstr>Random Experiment:</vt:lpstr>
      <vt:lpstr>PowerPoint Presentation</vt:lpstr>
      <vt:lpstr>Types of random variables:</vt:lpstr>
      <vt:lpstr>Example:</vt:lpstr>
      <vt:lpstr>PowerPoint Presentation</vt:lpstr>
      <vt:lpstr>PowerPoint Presentation</vt:lpstr>
      <vt:lpstr>Example:</vt:lpstr>
      <vt:lpstr>Probability Distribution of a discrete random variable:</vt:lpstr>
      <vt:lpstr>Cumulative Distribution function:</vt:lpstr>
      <vt:lpstr>Example:</vt:lpstr>
      <vt:lpstr>PowerPoint Presentation</vt:lpstr>
      <vt:lpstr>PowerPoint Presentation</vt:lpstr>
      <vt:lpstr>Graph of CDF:</vt:lpstr>
      <vt:lpstr>Practice Problems</vt:lpstr>
      <vt:lpstr>PowerPoint Presentation</vt:lpstr>
      <vt:lpstr>Probability distribution of a continuous random variable: </vt:lpstr>
      <vt:lpstr>PowerPoint Presentation</vt:lpstr>
      <vt:lpstr>Properties of probability density function:</vt:lpstr>
      <vt:lpstr>PowerPoint Presentation</vt:lpstr>
      <vt:lpstr>Cumulative distribution function of a continuous random variable:</vt:lpstr>
      <vt:lpstr>Example:</vt:lpstr>
      <vt:lpstr>Graphs of pdf and cdf:</vt:lpstr>
      <vt:lpstr>Examples</vt:lpstr>
      <vt:lpstr>PowerPoint Presentation</vt:lpstr>
      <vt:lpstr>Expectation/mean of a random variable </vt:lpstr>
      <vt:lpstr>Properties of expectation and variance:</vt:lpstr>
      <vt:lpstr>Example 1:</vt:lpstr>
      <vt:lpstr>Example 2:</vt:lpstr>
      <vt:lpstr>Variance and standard deviation of a random variable </vt:lpstr>
      <vt:lpstr>Example 1 :</vt:lpstr>
      <vt:lpstr>Example 2:</vt:lpstr>
      <vt:lpstr>Interpretation of variance: Variance represents the spread or dispersion of the distribution of a random variable</vt:lpstr>
      <vt:lpstr>PowerPoint Presentation</vt:lpstr>
      <vt:lpstr>Examples:</vt:lpstr>
      <vt:lpstr>PowerPoint Presentation</vt:lpstr>
      <vt:lpstr>Bivariate/Joint probability distribution:</vt:lpstr>
      <vt:lpstr>Joint Probability Table</vt:lpstr>
      <vt:lpstr>Marginal Probabilities:</vt:lpstr>
      <vt:lpstr>Independent random variables:</vt:lpstr>
      <vt:lpstr>Example:</vt:lpstr>
      <vt:lpstr>PowerPoint Presentation</vt:lpstr>
      <vt:lpstr>PowerPoint Presentation</vt:lpstr>
      <vt:lpstr>PowerPoint Presentation</vt:lpstr>
      <vt:lpstr>PowerPoint Presentation</vt:lpstr>
      <vt:lpstr>Practice Problems</vt:lpstr>
      <vt:lpstr>Covariance:</vt:lpstr>
      <vt:lpstr>Graphical view of various covariance values</vt:lpstr>
      <vt:lpstr>PowerPoint Presentation</vt:lpstr>
      <vt:lpstr>Example:</vt:lpstr>
      <vt:lpstr>PowerPoint Presentation</vt:lpstr>
      <vt:lpstr>Correlation coefficient:</vt:lpstr>
      <vt:lpstr>Properties of correlation coefficient:</vt:lpstr>
      <vt:lpstr>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Random Variables Subject: Calculus and Statistics</dc:title>
  <dc:creator>DELL</dc:creator>
  <cp:lastModifiedBy>Pooja Wanjale</cp:lastModifiedBy>
  <cp:revision>76</cp:revision>
  <dcterms:created xsi:type="dcterms:W3CDTF">2024-09-14T09:51:45Z</dcterms:created>
  <dcterms:modified xsi:type="dcterms:W3CDTF">2025-01-28T09:09:55Z</dcterms:modified>
</cp:coreProperties>
</file>