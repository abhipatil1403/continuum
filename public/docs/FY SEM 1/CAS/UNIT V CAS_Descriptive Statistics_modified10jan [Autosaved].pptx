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7" r:id="rId1"/>
    <p:sldMasterId id="2147483661" r:id="rId2"/>
    <p:sldMasterId id="2147483648" r:id="rId3"/>
  </p:sldMasterIdLst>
  <p:notesMasterIdLst>
    <p:notesMasterId r:id="rId117"/>
  </p:notesMasterIdLst>
  <p:sldIdLst>
    <p:sldId id="364" r:id="rId4"/>
    <p:sldId id="360" r:id="rId5"/>
    <p:sldId id="358" r:id="rId6"/>
    <p:sldId id="423" r:id="rId7"/>
    <p:sldId id="257" r:id="rId8"/>
    <p:sldId id="429" r:id="rId9"/>
    <p:sldId id="362" r:id="rId10"/>
    <p:sldId id="361" r:id="rId11"/>
    <p:sldId id="258" r:id="rId12"/>
    <p:sldId id="367" r:id="rId13"/>
    <p:sldId id="365" r:id="rId14"/>
    <p:sldId id="431" r:id="rId15"/>
    <p:sldId id="424" r:id="rId16"/>
    <p:sldId id="428" r:id="rId17"/>
    <p:sldId id="374" r:id="rId18"/>
    <p:sldId id="375" r:id="rId19"/>
    <p:sldId id="376" r:id="rId20"/>
    <p:sldId id="377" r:id="rId21"/>
    <p:sldId id="378" r:id="rId22"/>
    <p:sldId id="379" r:id="rId23"/>
    <p:sldId id="271" r:id="rId24"/>
    <p:sldId id="272" r:id="rId25"/>
    <p:sldId id="380" r:id="rId26"/>
    <p:sldId id="381" r:id="rId27"/>
    <p:sldId id="382" r:id="rId28"/>
    <p:sldId id="383" r:id="rId29"/>
    <p:sldId id="384" r:id="rId30"/>
    <p:sldId id="385" r:id="rId31"/>
    <p:sldId id="386" r:id="rId32"/>
    <p:sldId id="387" r:id="rId33"/>
    <p:sldId id="426" r:id="rId34"/>
    <p:sldId id="284" r:id="rId35"/>
    <p:sldId id="313" r:id="rId36"/>
    <p:sldId id="349" r:id="rId37"/>
    <p:sldId id="393" r:id="rId38"/>
    <p:sldId id="314" r:id="rId39"/>
    <p:sldId id="310" r:id="rId40"/>
    <p:sldId id="315" r:id="rId41"/>
    <p:sldId id="333" r:id="rId42"/>
    <p:sldId id="316" r:id="rId43"/>
    <p:sldId id="317" r:id="rId44"/>
    <p:sldId id="319" r:id="rId45"/>
    <p:sldId id="309" r:id="rId46"/>
    <p:sldId id="312" r:id="rId47"/>
    <p:sldId id="320" r:id="rId48"/>
    <p:sldId id="321" r:id="rId49"/>
    <p:sldId id="322" r:id="rId50"/>
    <p:sldId id="286" r:id="rId51"/>
    <p:sldId id="427" r:id="rId52"/>
    <p:sldId id="336" r:id="rId53"/>
    <p:sldId id="305" r:id="rId54"/>
    <p:sldId id="357" r:id="rId55"/>
    <p:sldId id="337" r:id="rId56"/>
    <p:sldId id="344" r:id="rId57"/>
    <p:sldId id="345" r:id="rId58"/>
    <p:sldId id="346" r:id="rId59"/>
    <p:sldId id="343" r:id="rId60"/>
    <p:sldId id="398" r:id="rId61"/>
    <p:sldId id="400" r:id="rId62"/>
    <p:sldId id="401" r:id="rId63"/>
    <p:sldId id="402" r:id="rId64"/>
    <p:sldId id="405" r:id="rId65"/>
    <p:sldId id="406" r:id="rId66"/>
    <p:sldId id="407" r:id="rId67"/>
    <p:sldId id="409" r:id="rId68"/>
    <p:sldId id="289" r:id="rId69"/>
    <p:sldId id="288" r:id="rId70"/>
    <p:sldId id="356" r:id="rId71"/>
    <p:sldId id="291" r:id="rId72"/>
    <p:sldId id="292" r:id="rId73"/>
    <p:sldId id="293" r:id="rId74"/>
    <p:sldId id="294" r:id="rId75"/>
    <p:sldId id="323" r:id="rId76"/>
    <p:sldId id="324" r:id="rId77"/>
    <p:sldId id="325" r:id="rId78"/>
    <p:sldId id="290" r:id="rId79"/>
    <p:sldId id="347" r:id="rId80"/>
    <p:sldId id="414" r:id="rId81"/>
    <p:sldId id="415" r:id="rId82"/>
    <p:sldId id="421" r:id="rId83"/>
    <p:sldId id="416" r:id="rId84"/>
    <p:sldId id="418" r:id="rId85"/>
    <p:sldId id="417" r:id="rId86"/>
    <p:sldId id="419" r:id="rId87"/>
    <p:sldId id="420" r:id="rId88"/>
    <p:sldId id="388" r:id="rId89"/>
    <p:sldId id="425" r:id="rId90"/>
    <p:sldId id="276" r:id="rId91"/>
    <p:sldId id="277" r:id="rId92"/>
    <p:sldId id="278" r:id="rId93"/>
    <p:sldId id="389" r:id="rId94"/>
    <p:sldId id="282" r:id="rId95"/>
    <p:sldId id="279" r:id="rId96"/>
    <p:sldId id="391" r:id="rId97"/>
    <p:sldId id="392" r:id="rId98"/>
    <p:sldId id="280" r:id="rId99"/>
    <p:sldId id="281" r:id="rId100"/>
    <p:sldId id="295" r:id="rId101"/>
    <p:sldId id="296" r:id="rId102"/>
    <p:sldId id="297" r:id="rId103"/>
    <p:sldId id="298" r:id="rId104"/>
    <p:sldId id="299" r:id="rId105"/>
    <p:sldId id="300" r:id="rId106"/>
    <p:sldId id="302" r:id="rId107"/>
    <p:sldId id="304" r:id="rId108"/>
    <p:sldId id="306" r:id="rId109"/>
    <p:sldId id="307" r:id="rId110"/>
    <p:sldId id="350" r:id="rId111"/>
    <p:sldId id="351" r:id="rId112"/>
    <p:sldId id="352" r:id="rId113"/>
    <p:sldId id="353" r:id="rId114"/>
    <p:sldId id="433" r:id="rId115"/>
    <p:sldId id="410" r:id="rId11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20" roundtripDataSignature="AMtx7mhvK9ouKeJR43gAIgwsMy+OgNhZU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44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56736FE-0E8E-44BB-A387-68498AA667DC}">
  <a:tblStyle styleId="{E56736FE-0E8E-44BB-A387-68498AA667DC}"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103" d="100"/>
          <a:sy n="103" d="100"/>
        </p:scale>
        <p:origin x="902" y="5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117" Type="http://schemas.openxmlformats.org/officeDocument/2006/relationships/notesMaster" Target="notesMasters/notesMaster1.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12" Type="http://schemas.openxmlformats.org/officeDocument/2006/relationships/slide" Target="slides/slide109.xml"/><Relationship Id="rId16" Type="http://schemas.openxmlformats.org/officeDocument/2006/relationships/slide" Target="slides/slide13.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theme" Target="theme/theme1.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113" Type="http://schemas.openxmlformats.org/officeDocument/2006/relationships/slide" Target="slides/slide110.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slide" Target="slides/slide105.xml"/><Relationship Id="rId124" Type="http://schemas.openxmlformats.org/officeDocument/2006/relationships/tableStyles" Target="tableStyles.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23" Type="http://schemas.openxmlformats.org/officeDocument/2006/relationships/slide" Target="slides/slide20.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 Id="rId44" Type="http://schemas.openxmlformats.org/officeDocument/2006/relationships/slide" Target="slides/slide41.xml"/><Relationship Id="rId60" Type="http://schemas.openxmlformats.org/officeDocument/2006/relationships/slide" Target="slides/slide57.xml"/><Relationship Id="rId65" Type="http://schemas.openxmlformats.org/officeDocument/2006/relationships/slide" Target="slides/slide62.xml"/><Relationship Id="rId81" Type="http://schemas.openxmlformats.org/officeDocument/2006/relationships/slide" Target="slides/slide78.xml"/><Relationship Id="rId86" Type="http://schemas.openxmlformats.org/officeDocument/2006/relationships/slide" Target="slides/slide83.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120" Type="http://customschemas.google.com/relationships/presentationmetadata" Target="metadata"/><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15" Type="http://schemas.openxmlformats.org/officeDocument/2006/relationships/slide" Target="slides/slide112.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presProps" Target="presProps.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slide" Target="slides/slide113.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slide" Target="slides/slide108.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106" Type="http://schemas.openxmlformats.org/officeDocument/2006/relationships/slide" Target="slides/slide103.xml"/><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78" Type="http://schemas.openxmlformats.org/officeDocument/2006/relationships/slide" Target="slides/slide75.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4" name="Google Shape;114;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1" name="Google Shape;12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8976546-C0C2-4FB4-9509-5229998EECDD}" type="slidenum">
              <a:rPr lang="en-IN" smtClean="0"/>
              <a:t>20</a:t>
            </a:fld>
            <a:endParaRPr lang="en-IN"/>
          </a:p>
        </p:txBody>
      </p:sp>
    </p:spTree>
    <p:extLst>
      <p:ext uri="{BB962C8B-B14F-4D97-AF65-F5344CB8AC3E}">
        <p14:creationId xmlns:p14="http://schemas.microsoft.com/office/powerpoint/2010/main" val="13293500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2f8667aba1d_7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g2f8667aba1d_7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58447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2f8667aba1d_7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7" name="Google Shape;197;g2f8667aba1d_7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178376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8976546-C0C2-4FB4-9509-5229998EECDD}" type="slidenum">
              <a:rPr lang="en-IN" smtClean="0"/>
              <a:t>28</a:t>
            </a:fld>
            <a:endParaRPr lang="en-IN"/>
          </a:p>
        </p:txBody>
      </p:sp>
    </p:spTree>
    <p:extLst>
      <p:ext uri="{BB962C8B-B14F-4D97-AF65-F5344CB8AC3E}">
        <p14:creationId xmlns:p14="http://schemas.microsoft.com/office/powerpoint/2010/main" val="18591509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8976546-C0C2-4FB4-9509-5229998EECDD}" type="slidenum">
              <a:rPr lang="en-IN" smtClean="0"/>
              <a:t>30</a:t>
            </a:fld>
            <a:endParaRPr lang="en-IN"/>
          </a:p>
        </p:txBody>
      </p:sp>
    </p:spTree>
    <p:extLst>
      <p:ext uri="{BB962C8B-B14F-4D97-AF65-F5344CB8AC3E}">
        <p14:creationId xmlns:p14="http://schemas.microsoft.com/office/powerpoint/2010/main" val="21294871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5" name="Google Shape;325;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275070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804543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7" name="Google Shape;337;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052882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6" name="Google Shape;456;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8485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94" name="Google Shape;394;p4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5" name="Google Shape;395;p43: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Arial"/>
              <a:buNone/>
            </a:pPr>
            <a:fld id="{00000000-1234-1234-1234-123412341234}" type="slidenum">
              <a:rPr lang="en-US" sz="1800" b="0" i="0" u="none">
                <a:solidFill>
                  <a:srgbClr val="000000"/>
                </a:solidFill>
                <a:latin typeface="Arial"/>
                <a:ea typeface="Arial"/>
                <a:cs typeface="Arial"/>
                <a:sym typeface="Arial"/>
              </a:rPr>
              <a:t>57</a:t>
            </a:fld>
            <a:endParaRPr/>
          </a:p>
        </p:txBody>
      </p:sp>
    </p:spTree>
    <p:extLst>
      <p:ext uri="{BB962C8B-B14F-4D97-AF65-F5344CB8AC3E}">
        <p14:creationId xmlns:p14="http://schemas.microsoft.com/office/powerpoint/2010/main" val="31028145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2f8667aba1d_4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5" name="Google Shape;355;g2f8667aba1d_4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874207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9" name="Google Shape;349;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618171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6" name="Google Shape;376;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525478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2" name="Google Shape;382;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03447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8" name="Google Shape;388;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59341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4" name="Google Shape;394;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30160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0" name="Google Shape;370;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851060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2f8676bec87_2_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1" name="Google Shape;231;g2f8676bec87_2_1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2f8676bec87_2_1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7" name="Google Shape;237;g2f8676bec87_2_1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2f8676bec87_2_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2" name="Google Shape;242;g2f8676bec87_2_1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2f8676bec87_2_1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4" name="Google Shape;314;g2f8676bec87_2_1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2f8676bec87_2_1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9" name="Google Shape;249;g2f8676bec87_2_1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8976546-C0C2-4FB4-9509-5229998EECDD}" type="slidenum">
              <a:rPr lang="en-IN" smtClean="0"/>
              <a:t>94</a:t>
            </a:fld>
            <a:endParaRPr lang="en-IN"/>
          </a:p>
        </p:txBody>
      </p:sp>
    </p:spTree>
    <p:extLst>
      <p:ext uri="{BB962C8B-B14F-4D97-AF65-F5344CB8AC3E}">
        <p14:creationId xmlns:p14="http://schemas.microsoft.com/office/powerpoint/2010/main" val="1702643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8976546-C0C2-4FB4-9509-5229998EECDD}" type="slidenum">
              <a:rPr lang="en-IN" smtClean="0"/>
              <a:t>95</a:t>
            </a:fld>
            <a:endParaRPr lang="en-IN"/>
          </a:p>
        </p:txBody>
      </p:sp>
    </p:spTree>
    <p:extLst>
      <p:ext uri="{BB962C8B-B14F-4D97-AF65-F5344CB8AC3E}">
        <p14:creationId xmlns:p14="http://schemas.microsoft.com/office/powerpoint/2010/main" val="1565165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2f8676bec87_2_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6" name="Google Shape;256;g2f8676bec87_2_1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2f8676bec87_2_1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5" name="Google Shape;265;g2f8676bec87_2_1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0" name="Google Shape;400;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6" name="Google Shape;406;p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1" name="Google Shape;411;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17" name="Google Shape;417;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22" name="Google Shape;422;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7" name="Google Shape;427;p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7" name="Google Shape;437;p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7" name="Google Shape;447;p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p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0" name="Google Shape;460;p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66" name="Google Shape;466;p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
        <p:cNvGrpSpPr/>
        <p:nvPr/>
      </p:nvGrpSpPr>
      <p:grpSpPr>
        <a:xfrm>
          <a:off x="0" y="0"/>
          <a:ext cx="0" cy="0"/>
          <a:chOff x="0" y="0"/>
          <a:chExt cx="0" cy="0"/>
        </a:xfrm>
      </p:grpSpPr>
      <p:sp>
        <p:nvSpPr>
          <p:cNvPr id="10" name="Google Shape;10;p5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59"/>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3" name="Google Shape;13;p59"/>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4" name="Google Shape;14;p5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sp>
        <p:nvSpPr>
          <p:cNvPr id="16" name="Google Shape;16;p6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6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8" name="Google Shape;18;p6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61"/>
          <p:cNvSpPr txBox="1">
            <a:spLocks noGrp="1"/>
          </p:cNvSpPr>
          <p:nvPr>
            <p:ph type="title"/>
          </p:nvPr>
        </p:nvSpPr>
        <p:spPr>
          <a:xfrm>
            <a:off x="457200" y="205978"/>
            <a:ext cx="8229600" cy="8572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a:endParaRPr/>
          </a:p>
        </p:txBody>
      </p:sp>
      <p:sp>
        <p:nvSpPr>
          <p:cNvPr id="21" name="Google Shape;21;p61"/>
          <p:cNvSpPr txBox="1">
            <a:spLocks noGrp="1"/>
          </p:cNvSpPr>
          <p:nvPr>
            <p:ph type="body" idx="1"/>
          </p:nvPr>
        </p:nvSpPr>
        <p:spPr>
          <a:xfrm>
            <a:off x="457200" y="1200150"/>
            <a:ext cx="8229600" cy="3394575"/>
          </a:xfrm>
          <a:prstGeom prst="rect">
            <a:avLst/>
          </a:prstGeom>
          <a:noFill/>
          <a:ln>
            <a:noFill/>
          </a:ln>
        </p:spPr>
        <p:txBody>
          <a:bodyPr spcFirstLastPara="1" wrap="square" lIns="91425" tIns="45700" rIns="91425" bIns="45700" anchor="t" anchorCtr="0">
            <a:noAutofit/>
          </a:bodyPr>
          <a:lstStyle>
            <a:lvl1pPr marL="457200" lvl="0" indent="-342900" algn="l">
              <a:lnSpc>
                <a:spcPct val="115000"/>
              </a:lnSpc>
              <a:spcBef>
                <a:spcPts val="360"/>
              </a:spcBef>
              <a:spcAft>
                <a:spcPts val="0"/>
              </a:spcAft>
              <a:buClr>
                <a:schemeClr val="dk1"/>
              </a:buClr>
              <a:buSzPts val="1800"/>
              <a:buChar char="●"/>
              <a:defRPr/>
            </a:lvl1pPr>
            <a:lvl2pPr marL="914400" lvl="1" indent="-342900" algn="l">
              <a:lnSpc>
                <a:spcPct val="115000"/>
              </a:lnSpc>
              <a:spcBef>
                <a:spcPts val="360"/>
              </a:spcBef>
              <a:spcAft>
                <a:spcPts val="0"/>
              </a:spcAft>
              <a:buClr>
                <a:schemeClr val="dk1"/>
              </a:buClr>
              <a:buSzPts val="1800"/>
              <a:buChar char="○"/>
              <a:defRPr/>
            </a:lvl2pPr>
            <a:lvl3pPr marL="1371600" lvl="2" indent="-342900" algn="l">
              <a:lnSpc>
                <a:spcPct val="115000"/>
              </a:lnSpc>
              <a:spcBef>
                <a:spcPts val="360"/>
              </a:spcBef>
              <a:spcAft>
                <a:spcPts val="0"/>
              </a:spcAft>
              <a:buClr>
                <a:schemeClr val="dk1"/>
              </a:buClr>
              <a:buSzPts val="1800"/>
              <a:buChar char="■"/>
              <a:defRPr/>
            </a:lvl3pPr>
            <a:lvl4pPr marL="1828800" lvl="3" indent="-342900" algn="l">
              <a:lnSpc>
                <a:spcPct val="115000"/>
              </a:lnSpc>
              <a:spcBef>
                <a:spcPts val="360"/>
              </a:spcBef>
              <a:spcAft>
                <a:spcPts val="0"/>
              </a:spcAft>
              <a:buClr>
                <a:schemeClr val="dk1"/>
              </a:buClr>
              <a:buSzPts val="1800"/>
              <a:buChar char="●"/>
              <a:defRPr/>
            </a:lvl4pPr>
            <a:lvl5pPr marL="2286000" lvl="4" indent="-342900" algn="l">
              <a:lnSpc>
                <a:spcPct val="115000"/>
              </a:lnSpc>
              <a:spcBef>
                <a:spcPts val="360"/>
              </a:spcBef>
              <a:spcAft>
                <a:spcPts val="0"/>
              </a:spcAft>
              <a:buClr>
                <a:schemeClr val="dk1"/>
              </a:buClr>
              <a:buSzPts val="1800"/>
              <a:buChar char="○"/>
              <a:defRPr/>
            </a:lvl5pPr>
            <a:lvl6pPr marL="2743200" lvl="5" indent="-342900" algn="l">
              <a:lnSpc>
                <a:spcPct val="115000"/>
              </a:lnSpc>
              <a:spcBef>
                <a:spcPts val="360"/>
              </a:spcBef>
              <a:spcAft>
                <a:spcPts val="0"/>
              </a:spcAft>
              <a:buClr>
                <a:schemeClr val="dk1"/>
              </a:buClr>
              <a:buSzPts val="1800"/>
              <a:buChar char="■"/>
              <a:defRPr/>
            </a:lvl6pPr>
            <a:lvl7pPr marL="3200400" lvl="6" indent="-342900" algn="l">
              <a:lnSpc>
                <a:spcPct val="115000"/>
              </a:lnSpc>
              <a:spcBef>
                <a:spcPts val="1200"/>
              </a:spcBef>
              <a:spcAft>
                <a:spcPts val="0"/>
              </a:spcAft>
              <a:buClr>
                <a:schemeClr val="dk1"/>
              </a:buClr>
              <a:buSzPts val="1800"/>
              <a:buChar char="●"/>
              <a:defRPr/>
            </a:lvl7pPr>
            <a:lvl8pPr marL="3657600" lvl="7" indent="-342900" algn="l">
              <a:lnSpc>
                <a:spcPct val="115000"/>
              </a:lnSpc>
              <a:spcBef>
                <a:spcPts val="1200"/>
              </a:spcBef>
              <a:spcAft>
                <a:spcPts val="0"/>
              </a:spcAft>
              <a:buClr>
                <a:schemeClr val="dk1"/>
              </a:buClr>
              <a:buSzPts val="1800"/>
              <a:buChar char="○"/>
              <a:defRPr/>
            </a:lvl8pPr>
            <a:lvl9pPr marL="4114800" lvl="8" indent="-342900" algn="l">
              <a:lnSpc>
                <a:spcPct val="115000"/>
              </a:lnSpc>
              <a:spcBef>
                <a:spcPts val="1200"/>
              </a:spcBef>
              <a:spcAft>
                <a:spcPts val="1200"/>
              </a:spcAft>
              <a:buClr>
                <a:schemeClr val="dk1"/>
              </a:buClr>
              <a:buSzPts val="1800"/>
              <a:buChar char="■"/>
              <a:defRPr/>
            </a:lvl9pPr>
          </a:lstStyle>
          <a:p>
            <a:endParaRPr/>
          </a:p>
        </p:txBody>
      </p:sp>
      <p:sp>
        <p:nvSpPr>
          <p:cNvPr id="22" name="Google Shape;22;p61"/>
          <p:cNvSpPr txBox="1">
            <a:spLocks noGrp="1"/>
          </p:cNvSpPr>
          <p:nvPr>
            <p:ph type="dt" idx="10"/>
          </p:nvPr>
        </p:nvSpPr>
        <p:spPr>
          <a:xfrm>
            <a:off x="457200" y="4767263"/>
            <a:ext cx="2133600" cy="2738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3" name="Google Shape;23;p61"/>
          <p:cNvSpPr txBox="1">
            <a:spLocks noGrp="1"/>
          </p:cNvSpPr>
          <p:nvPr>
            <p:ph type="ftr" idx="11"/>
          </p:nvPr>
        </p:nvSpPr>
        <p:spPr>
          <a:xfrm>
            <a:off x="3124200" y="4767263"/>
            <a:ext cx="2895600" cy="2738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4" name="Google Shape;24;p61"/>
          <p:cNvSpPr txBox="1">
            <a:spLocks noGrp="1"/>
          </p:cNvSpPr>
          <p:nvPr>
            <p:ph type="sldNum" idx="12"/>
          </p:nvPr>
        </p:nvSpPr>
        <p:spPr>
          <a:xfrm>
            <a:off x="6553200" y="4767263"/>
            <a:ext cx="2133600" cy="2738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sz="1000">
              <a:solidFill>
                <a:schemeClr val="dk2"/>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p6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8" name="Google Shape;28;p6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9" name="Google Shape;29;p6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0"/>
        <p:cNvGrpSpPr/>
        <p:nvPr/>
      </p:nvGrpSpPr>
      <p:grpSpPr>
        <a:xfrm>
          <a:off x="0" y="0"/>
          <a:ext cx="0" cy="0"/>
          <a:chOff x="0" y="0"/>
          <a:chExt cx="0" cy="0"/>
        </a:xfrm>
      </p:grpSpPr>
      <p:sp>
        <p:nvSpPr>
          <p:cNvPr id="31" name="Google Shape;31;p66"/>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32" name="Google Shape;32;p6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6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5" name="Google Shape;35;p6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68"/>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8" name="Google Shape;38;p68"/>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9" name="Google Shape;39;p6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0"/>
        <p:cNvGrpSpPr/>
        <p:nvPr/>
      </p:nvGrpSpPr>
      <p:grpSpPr>
        <a:xfrm>
          <a:off x="0" y="0"/>
          <a:ext cx="0" cy="0"/>
          <a:chOff x="0" y="0"/>
          <a:chExt cx="0" cy="0"/>
        </a:xfrm>
      </p:grpSpPr>
      <p:sp>
        <p:nvSpPr>
          <p:cNvPr id="41" name="Google Shape;41;p69"/>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2" name="Google Shape;42;p6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3"/>
        <p:cNvGrpSpPr/>
        <p:nvPr/>
      </p:nvGrpSpPr>
      <p:grpSpPr>
        <a:xfrm>
          <a:off x="0" y="0"/>
          <a:ext cx="0" cy="0"/>
          <a:chOff x="0" y="0"/>
          <a:chExt cx="0" cy="0"/>
        </a:xfrm>
      </p:grpSpPr>
      <p:sp>
        <p:nvSpPr>
          <p:cNvPr id="44" name="Google Shape;44;p7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7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6" name="Google Shape;46;p7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7" name="Google Shape;47;p7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8" name="Google Shape;48;p7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9"/>
        <p:cNvGrpSpPr/>
        <p:nvPr/>
      </p:nvGrpSpPr>
      <p:grpSpPr>
        <a:xfrm>
          <a:off x="0" y="0"/>
          <a:ext cx="0" cy="0"/>
          <a:chOff x="0" y="0"/>
          <a:chExt cx="0" cy="0"/>
        </a:xfrm>
      </p:grpSpPr>
      <p:sp>
        <p:nvSpPr>
          <p:cNvPr id="50" name="Google Shape;50;p71"/>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1" name="Google Shape;51;p7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2"/>
        <p:cNvGrpSpPr/>
        <p:nvPr/>
      </p:nvGrpSpPr>
      <p:grpSpPr>
        <a:xfrm>
          <a:off x="0" y="0"/>
          <a:ext cx="0" cy="0"/>
          <a:chOff x="0" y="0"/>
          <a:chExt cx="0" cy="0"/>
        </a:xfrm>
      </p:grpSpPr>
      <p:sp>
        <p:nvSpPr>
          <p:cNvPr id="53" name="Google Shape;53;p72"/>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4" name="Google Shape;54;p72"/>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55" name="Google Shape;55;p7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0"/>
        <p:cNvGrpSpPr/>
        <p:nvPr/>
      </p:nvGrpSpPr>
      <p:grpSpPr>
        <a:xfrm>
          <a:off x="0" y="0"/>
          <a:ext cx="0" cy="0"/>
          <a:chOff x="0" y="0"/>
          <a:chExt cx="0" cy="0"/>
        </a:xfrm>
      </p:grpSpPr>
      <p:sp>
        <p:nvSpPr>
          <p:cNvPr id="61" name="Google Shape;61;g2f8667aba1d_4_4"/>
          <p:cNvSpPr txBox="1">
            <a:spLocks noGrp="1"/>
          </p:cNvSpPr>
          <p:nvPr>
            <p:ph type="ctrTitle"/>
          </p:nvPr>
        </p:nvSpPr>
        <p:spPr>
          <a:xfrm>
            <a:off x="311708" y="744575"/>
            <a:ext cx="8520600" cy="2052675"/>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62" name="Google Shape;62;g2f8667aba1d_4_4"/>
          <p:cNvSpPr txBox="1">
            <a:spLocks noGrp="1"/>
          </p:cNvSpPr>
          <p:nvPr>
            <p:ph type="subTitle" idx="1"/>
          </p:nvPr>
        </p:nvSpPr>
        <p:spPr>
          <a:xfrm>
            <a:off x="311700" y="2834125"/>
            <a:ext cx="8520600" cy="792675"/>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63" name="Google Shape;63;g2f8667aba1d_4_4"/>
          <p:cNvSpPr txBox="1">
            <a:spLocks noGrp="1"/>
          </p:cNvSpPr>
          <p:nvPr>
            <p:ph type="sldNum" idx="12"/>
          </p:nvPr>
        </p:nvSpPr>
        <p:spPr>
          <a:xfrm>
            <a:off x="8472458" y="4663217"/>
            <a:ext cx="548700" cy="393525"/>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4"/>
        <p:cNvGrpSpPr/>
        <p:nvPr/>
      </p:nvGrpSpPr>
      <p:grpSpPr>
        <a:xfrm>
          <a:off x="0" y="0"/>
          <a:ext cx="0" cy="0"/>
          <a:chOff x="0" y="0"/>
          <a:chExt cx="0" cy="0"/>
        </a:xfrm>
      </p:grpSpPr>
      <p:sp>
        <p:nvSpPr>
          <p:cNvPr id="65" name="Google Shape;65;g2f8667aba1d_4_8"/>
          <p:cNvSpPr txBox="1">
            <a:spLocks noGrp="1"/>
          </p:cNvSpPr>
          <p:nvPr>
            <p:ph type="title"/>
          </p:nvPr>
        </p:nvSpPr>
        <p:spPr>
          <a:xfrm>
            <a:off x="311700" y="2150850"/>
            <a:ext cx="8520600" cy="841725"/>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66" name="Google Shape;66;g2f8667aba1d_4_8"/>
          <p:cNvSpPr txBox="1">
            <a:spLocks noGrp="1"/>
          </p:cNvSpPr>
          <p:nvPr>
            <p:ph type="sldNum" idx="12"/>
          </p:nvPr>
        </p:nvSpPr>
        <p:spPr>
          <a:xfrm>
            <a:off x="8472458" y="4663217"/>
            <a:ext cx="548700" cy="393525"/>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1"/>
        <p:cNvGrpSpPr/>
        <p:nvPr/>
      </p:nvGrpSpPr>
      <p:grpSpPr>
        <a:xfrm>
          <a:off x="0" y="0"/>
          <a:ext cx="0" cy="0"/>
          <a:chOff x="0" y="0"/>
          <a:chExt cx="0" cy="0"/>
        </a:xfrm>
      </p:grpSpPr>
      <p:sp>
        <p:nvSpPr>
          <p:cNvPr id="72" name="Google Shape;72;g2f8667aba1d_4_15"/>
          <p:cNvSpPr txBox="1">
            <a:spLocks noGrp="1"/>
          </p:cNvSpPr>
          <p:nvPr>
            <p:ph type="title"/>
          </p:nvPr>
        </p:nvSpPr>
        <p:spPr>
          <a:xfrm>
            <a:off x="311700" y="445025"/>
            <a:ext cx="8520600" cy="572625"/>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3" name="Google Shape;73;g2f8667aba1d_4_1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4" name="Google Shape;74;g2f8667aba1d_4_1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5" name="Google Shape;75;g2f8667aba1d_4_15"/>
          <p:cNvSpPr txBox="1">
            <a:spLocks noGrp="1"/>
          </p:cNvSpPr>
          <p:nvPr>
            <p:ph type="sldNum" idx="12"/>
          </p:nvPr>
        </p:nvSpPr>
        <p:spPr>
          <a:xfrm>
            <a:off x="8472458" y="4663217"/>
            <a:ext cx="548700" cy="393525"/>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6"/>
        <p:cNvGrpSpPr/>
        <p:nvPr/>
      </p:nvGrpSpPr>
      <p:grpSpPr>
        <a:xfrm>
          <a:off x="0" y="0"/>
          <a:ext cx="0" cy="0"/>
          <a:chOff x="0" y="0"/>
          <a:chExt cx="0" cy="0"/>
        </a:xfrm>
      </p:grpSpPr>
      <p:sp>
        <p:nvSpPr>
          <p:cNvPr id="77" name="Google Shape;77;g2f8667aba1d_4_20"/>
          <p:cNvSpPr txBox="1">
            <a:spLocks noGrp="1"/>
          </p:cNvSpPr>
          <p:nvPr>
            <p:ph type="title"/>
          </p:nvPr>
        </p:nvSpPr>
        <p:spPr>
          <a:xfrm>
            <a:off x="311700" y="445025"/>
            <a:ext cx="8520600" cy="572625"/>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8" name="Google Shape;78;g2f8667aba1d_4_20"/>
          <p:cNvSpPr txBox="1">
            <a:spLocks noGrp="1"/>
          </p:cNvSpPr>
          <p:nvPr>
            <p:ph type="sldNum" idx="12"/>
          </p:nvPr>
        </p:nvSpPr>
        <p:spPr>
          <a:xfrm>
            <a:off x="8472458" y="4663217"/>
            <a:ext cx="548700" cy="393525"/>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9"/>
        <p:cNvGrpSpPr/>
        <p:nvPr/>
      </p:nvGrpSpPr>
      <p:grpSpPr>
        <a:xfrm>
          <a:off x="0" y="0"/>
          <a:ext cx="0" cy="0"/>
          <a:chOff x="0" y="0"/>
          <a:chExt cx="0" cy="0"/>
        </a:xfrm>
      </p:grpSpPr>
      <p:sp>
        <p:nvSpPr>
          <p:cNvPr id="80" name="Google Shape;80;g2f8667aba1d_4_23"/>
          <p:cNvSpPr txBox="1">
            <a:spLocks noGrp="1"/>
          </p:cNvSpPr>
          <p:nvPr>
            <p:ph type="title"/>
          </p:nvPr>
        </p:nvSpPr>
        <p:spPr>
          <a:xfrm>
            <a:off x="311700" y="555600"/>
            <a:ext cx="2808000" cy="755775"/>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81" name="Google Shape;81;g2f8667aba1d_4_23"/>
          <p:cNvSpPr txBox="1">
            <a:spLocks noGrp="1"/>
          </p:cNvSpPr>
          <p:nvPr>
            <p:ph type="body" idx="1"/>
          </p:nvPr>
        </p:nvSpPr>
        <p:spPr>
          <a:xfrm>
            <a:off x="311700" y="1389600"/>
            <a:ext cx="2808000" cy="3179475"/>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82" name="Google Shape;82;g2f8667aba1d_4_23"/>
          <p:cNvSpPr txBox="1">
            <a:spLocks noGrp="1"/>
          </p:cNvSpPr>
          <p:nvPr>
            <p:ph type="sldNum" idx="12"/>
          </p:nvPr>
        </p:nvSpPr>
        <p:spPr>
          <a:xfrm>
            <a:off x="8472458" y="4663217"/>
            <a:ext cx="548700" cy="393525"/>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3"/>
        <p:cNvGrpSpPr/>
        <p:nvPr/>
      </p:nvGrpSpPr>
      <p:grpSpPr>
        <a:xfrm>
          <a:off x="0" y="0"/>
          <a:ext cx="0" cy="0"/>
          <a:chOff x="0" y="0"/>
          <a:chExt cx="0" cy="0"/>
        </a:xfrm>
      </p:grpSpPr>
      <p:sp>
        <p:nvSpPr>
          <p:cNvPr id="84" name="Google Shape;84;g2f8667aba1d_4_27"/>
          <p:cNvSpPr txBox="1">
            <a:spLocks noGrp="1"/>
          </p:cNvSpPr>
          <p:nvPr>
            <p:ph type="title"/>
          </p:nvPr>
        </p:nvSpPr>
        <p:spPr>
          <a:xfrm>
            <a:off x="490250" y="450150"/>
            <a:ext cx="6367800" cy="4090725"/>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85" name="Google Shape;85;g2f8667aba1d_4_27"/>
          <p:cNvSpPr txBox="1">
            <a:spLocks noGrp="1"/>
          </p:cNvSpPr>
          <p:nvPr>
            <p:ph type="sldNum" idx="12"/>
          </p:nvPr>
        </p:nvSpPr>
        <p:spPr>
          <a:xfrm>
            <a:off x="8472458" y="4663217"/>
            <a:ext cx="548700" cy="393525"/>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6"/>
        <p:cNvGrpSpPr/>
        <p:nvPr/>
      </p:nvGrpSpPr>
      <p:grpSpPr>
        <a:xfrm>
          <a:off x="0" y="0"/>
          <a:ext cx="0" cy="0"/>
          <a:chOff x="0" y="0"/>
          <a:chExt cx="0" cy="0"/>
        </a:xfrm>
      </p:grpSpPr>
      <p:sp>
        <p:nvSpPr>
          <p:cNvPr id="87" name="Google Shape;87;g2f8667aba1d_4_3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g2f8667aba1d_4_30"/>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89" name="Google Shape;89;g2f8667aba1d_4_30"/>
          <p:cNvSpPr txBox="1">
            <a:spLocks noGrp="1"/>
          </p:cNvSpPr>
          <p:nvPr>
            <p:ph type="subTitle" idx="1"/>
          </p:nvPr>
        </p:nvSpPr>
        <p:spPr>
          <a:xfrm>
            <a:off x="265500" y="2803075"/>
            <a:ext cx="4045200" cy="1235025"/>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90" name="Google Shape;90;g2f8667aba1d_4_30"/>
          <p:cNvSpPr txBox="1">
            <a:spLocks noGrp="1"/>
          </p:cNvSpPr>
          <p:nvPr>
            <p:ph type="body" idx="2"/>
          </p:nvPr>
        </p:nvSpPr>
        <p:spPr>
          <a:xfrm>
            <a:off x="4939500" y="724075"/>
            <a:ext cx="3837000" cy="3695175"/>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91" name="Google Shape;91;g2f8667aba1d_4_30"/>
          <p:cNvSpPr txBox="1">
            <a:spLocks noGrp="1"/>
          </p:cNvSpPr>
          <p:nvPr>
            <p:ph type="sldNum" idx="12"/>
          </p:nvPr>
        </p:nvSpPr>
        <p:spPr>
          <a:xfrm>
            <a:off x="8472458" y="4663217"/>
            <a:ext cx="548700" cy="393525"/>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2"/>
        <p:cNvGrpSpPr/>
        <p:nvPr/>
      </p:nvGrpSpPr>
      <p:grpSpPr>
        <a:xfrm>
          <a:off x="0" y="0"/>
          <a:ext cx="0" cy="0"/>
          <a:chOff x="0" y="0"/>
          <a:chExt cx="0" cy="0"/>
        </a:xfrm>
      </p:grpSpPr>
      <p:sp>
        <p:nvSpPr>
          <p:cNvPr id="93" name="Google Shape;93;g2f8667aba1d_4_36"/>
          <p:cNvSpPr txBox="1">
            <a:spLocks noGrp="1"/>
          </p:cNvSpPr>
          <p:nvPr>
            <p:ph type="body" idx="1"/>
          </p:nvPr>
        </p:nvSpPr>
        <p:spPr>
          <a:xfrm>
            <a:off x="311700" y="4230575"/>
            <a:ext cx="5998800" cy="605025"/>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94" name="Google Shape;94;g2f8667aba1d_4_36"/>
          <p:cNvSpPr txBox="1">
            <a:spLocks noGrp="1"/>
          </p:cNvSpPr>
          <p:nvPr>
            <p:ph type="sldNum" idx="12"/>
          </p:nvPr>
        </p:nvSpPr>
        <p:spPr>
          <a:xfrm>
            <a:off x="8472458" y="4663217"/>
            <a:ext cx="548700" cy="393525"/>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5"/>
        <p:cNvGrpSpPr/>
        <p:nvPr/>
      </p:nvGrpSpPr>
      <p:grpSpPr>
        <a:xfrm>
          <a:off x="0" y="0"/>
          <a:ext cx="0" cy="0"/>
          <a:chOff x="0" y="0"/>
          <a:chExt cx="0" cy="0"/>
        </a:xfrm>
      </p:grpSpPr>
      <p:sp>
        <p:nvSpPr>
          <p:cNvPr id="96" name="Google Shape;96;g2f8667aba1d_4_39"/>
          <p:cNvSpPr txBox="1">
            <a:spLocks noGrp="1"/>
          </p:cNvSpPr>
          <p:nvPr>
            <p:ph type="title" hasCustomPrompt="1"/>
          </p:nvPr>
        </p:nvSpPr>
        <p:spPr>
          <a:xfrm>
            <a:off x="311700" y="1106125"/>
            <a:ext cx="8520600" cy="1963575"/>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7" name="Google Shape;97;g2f8667aba1d_4_39"/>
          <p:cNvSpPr txBox="1">
            <a:spLocks noGrp="1"/>
          </p:cNvSpPr>
          <p:nvPr>
            <p:ph type="body" idx="1"/>
          </p:nvPr>
        </p:nvSpPr>
        <p:spPr>
          <a:xfrm>
            <a:off x="311700" y="3152225"/>
            <a:ext cx="8520600" cy="1300725"/>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98" name="Google Shape;98;g2f8667aba1d_4_39"/>
          <p:cNvSpPr txBox="1">
            <a:spLocks noGrp="1"/>
          </p:cNvSpPr>
          <p:nvPr>
            <p:ph type="sldNum" idx="12"/>
          </p:nvPr>
        </p:nvSpPr>
        <p:spPr>
          <a:xfrm>
            <a:off x="8472458" y="4663217"/>
            <a:ext cx="548700" cy="393525"/>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9"/>
        <p:cNvGrpSpPr/>
        <p:nvPr/>
      </p:nvGrpSpPr>
      <p:grpSpPr>
        <a:xfrm>
          <a:off x="0" y="0"/>
          <a:ext cx="0" cy="0"/>
          <a:chOff x="0" y="0"/>
          <a:chExt cx="0" cy="0"/>
        </a:xfrm>
      </p:grpSpPr>
      <p:sp>
        <p:nvSpPr>
          <p:cNvPr id="100" name="Google Shape;100;g2f8667aba1d_4_43"/>
          <p:cNvSpPr txBox="1">
            <a:spLocks noGrp="1"/>
          </p:cNvSpPr>
          <p:nvPr>
            <p:ph type="sldNum" idx="12"/>
          </p:nvPr>
        </p:nvSpPr>
        <p:spPr>
          <a:xfrm>
            <a:off x="8472458" y="4663217"/>
            <a:ext cx="548700" cy="393525"/>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01"/>
        <p:cNvGrpSpPr/>
        <p:nvPr/>
      </p:nvGrpSpPr>
      <p:grpSpPr>
        <a:xfrm>
          <a:off x="0" y="0"/>
          <a:ext cx="0" cy="0"/>
          <a:chOff x="0" y="0"/>
          <a:chExt cx="0" cy="0"/>
        </a:xfrm>
      </p:grpSpPr>
      <p:sp>
        <p:nvSpPr>
          <p:cNvPr id="102" name="Google Shape;102;g2f8667aba1d_4_45"/>
          <p:cNvSpPr txBox="1">
            <a:spLocks noGrp="1"/>
          </p:cNvSpPr>
          <p:nvPr>
            <p:ph type="title"/>
          </p:nvPr>
        </p:nvSpPr>
        <p:spPr>
          <a:xfrm>
            <a:off x="457200" y="205978"/>
            <a:ext cx="8229600" cy="8572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a:endParaRPr/>
          </a:p>
        </p:txBody>
      </p:sp>
      <p:sp>
        <p:nvSpPr>
          <p:cNvPr id="103" name="Google Shape;103;g2f8667aba1d_4_45"/>
          <p:cNvSpPr txBox="1">
            <a:spLocks noGrp="1"/>
          </p:cNvSpPr>
          <p:nvPr>
            <p:ph type="body" idx="1"/>
          </p:nvPr>
        </p:nvSpPr>
        <p:spPr>
          <a:xfrm>
            <a:off x="457200" y="1200150"/>
            <a:ext cx="8229600" cy="3394575"/>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1200"/>
              </a:spcBef>
              <a:spcAft>
                <a:spcPts val="0"/>
              </a:spcAft>
              <a:buClr>
                <a:schemeClr val="dk1"/>
              </a:buClr>
              <a:buSzPts val="1800"/>
              <a:buChar char="●"/>
              <a:defRPr/>
            </a:lvl7pPr>
            <a:lvl8pPr marL="3657600" lvl="7" indent="-342900" algn="l">
              <a:spcBef>
                <a:spcPts val="1200"/>
              </a:spcBef>
              <a:spcAft>
                <a:spcPts val="0"/>
              </a:spcAft>
              <a:buClr>
                <a:schemeClr val="dk1"/>
              </a:buClr>
              <a:buSzPts val="1800"/>
              <a:buChar char="○"/>
              <a:defRPr/>
            </a:lvl8pPr>
            <a:lvl9pPr marL="4114800" lvl="8" indent="-342900" algn="l">
              <a:spcBef>
                <a:spcPts val="1200"/>
              </a:spcBef>
              <a:spcAft>
                <a:spcPts val="1200"/>
              </a:spcAft>
              <a:buClr>
                <a:schemeClr val="dk1"/>
              </a:buClr>
              <a:buSzPts val="1800"/>
              <a:buChar char="■"/>
              <a:defRPr/>
            </a:lvl9pPr>
          </a:lstStyle>
          <a:p>
            <a:endParaRPr/>
          </a:p>
        </p:txBody>
      </p:sp>
      <p:sp>
        <p:nvSpPr>
          <p:cNvPr id="104" name="Google Shape;104;g2f8667aba1d_4_45"/>
          <p:cNvSpPr txBox="1">
            <a:spLocks noGrp="1"/>
          </p:cNvSpPr>
          <p:nvPr>
            <p:ph type="dt" idx="10"/>
          </p:nvPr>
        </p:nvSpPr>
        <p:spPr>
          <a:xfrm>
            <a:off x="457200" y="4767263"/>
            <a:ext cx="2133600" cy="2738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g2f8667aba1d_4_45"/>
          <p:cNvSpPr txBox="1">
            <a:spLocks noGrp="1"/>
          </p:cNvSpPr>
          <p:nvPr>
            <p:ph type="ftr" idx="11"/>
          </p:nvPr>
        </p:nvSpPr>
        <p:spPr>
          <a:xfrm>
            <a:off x="3124200" y="4767263"/>
            <a:ext cx="2895600" cy="2738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g2f8667aba1d_4_45"/>
          <p:cNvSpPr txBox="1">
            <a:spLocks noGrp="1"/>
          </p:cNvSpPr>
          <p:nvPr>
            <p:ph type="sldNum" idx="12"/>
          </p:nvPr>
        </p:nvSpPr>
        <p:spPr>
          <a:xfrm>
            <a:off x="6553200" y="4767263"/>
            <a:ext cx="2133600" cy="2738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sz="1000">
              <a:solidFill>
                <a:schemeClr val="dk2"/>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B920A-38D3-3580-9B6B-C2BECCFC45F7}"/>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BAEE03DC-167A-FF1D-5201-721BB829F614}"/>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5FF9BC1-7C7B-7D02-8333-DA6131036515}"/>
              </a:ext>
            </a:extLst>
          </p:cNvPr>
          <p:cNvSpPr>
            <a:spLocks noGrp="1"/>
          </p:cNvSpPr>
          <p:nvPr>
            <p:ph type="dt" sz="half" idx="10"/>
          </p:nvPr>
        </p:nvSpPr>
        <p:spPr/>
        <p:txBody>
          <a:bodyPr/>
          <a:lstStyle/>
          <a:p>
            <a:fld id="{353D7A28-ED16-4EC0-87CB-058AD99D1FD3}" type="datetimeFigureOut">
              <a:rPr lang="en-IN" smtClean="0"/>
              <a:t>17-01-2025</a:t>
            </a:fld>
            <a:endParaRPr lang="en-IN"/>
          </a:p>
        </p:txBody>
      </p:sp>
      <p:sp>
        <p:nvSpPr>
          <p:cNvPr id="5" name="Footer Placeholder 4">
            <a:extLst>
              <a:ext uri="{FF2B5EF4-FFF2-40B4-BE49-F238E27FC236}">
                <a16:creationId xmlns:a16="http://schemas.microsoft.com/office/drawing/2014/main" id="{DA7D983E-D3C1-199C-0D84-FF29B93ABE3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BD1F00-5325-2270-92FC-08556B8AB16F}"/>
              </a:ext>
            </a:extLst>
          </p:cNvPr>
          <p:cNvSpPr>
            <a:spLocks noGrp="1"/>
          </p:cNvSpPr>
          <p:nvPr>
            <p:ph type="sldNum" sz="quarter" idx="12"/>
          </p:nvPr>
        </p:nvSpPr>
        <p:spPr/>
        <p:txBody>
          <a:bodyPr/>
          <a:lstStyle/>
          <a:p>
            <a:fld id="{B8F2EF53-E81F-4964-9019-EC3528359300}" type="slidenum">
              <a:rPr lang="en-IN" smtClean="0"/>
              <a:t>‹#›</a:t>
            </a:fld>
            <a:endParaRPr lang="en-IN"/>
          </a:p>
        </p:txBody>
      </p:sp>
    </p:spTree>
    <p:extLst>
      <p:ext uri="{BB962C8B-B14F-4D97-AF65-F5344CB8AC3E}">
        <p14:creationId xmlns:p14="http://schemas.microsoft.com/office/powerpoint/2010/main" val="307246984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A1076-B8D2-388A-48C6-BCFF6A92C7C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6FC9691-4588-3929-5B74-07284C5A043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0187FAE-0568-990C-EB24-FD9958C71862}"/>
              </a:ext>
            </a:extLst>
          </p:cNvPr>
          <p:cNvSpPr>
            <a:spLocks noGrp="1"/>
          </p:cNvSpPr>
          <p:nvPr>
            <p:ph type="dt" sz="half" idx="10"/>
          </p:nvPr>
        </p:nvSpPr>
        <p:spPr/>
        <p:txBody>
          <a:bodyPr/>
          <a:lstStyle/>
          <a:p>
            <a:fld id="{353D7A28-ED16-4EC0-87CB-058AD99D1FD3}" type="datetimeFigureOut">
              <a:rPr lang="en-IN" smtClean="0"/>
              <a:t>17-01-2025</a:t>
            </a:fld>
            <a:endParaRPr lang="en-IN"/>
          </a:p>
        </p:txBody>
      </p:sp>
      <p:sp>
        <p:nvSpPr>
          <p:cNvPr id="5" name="Footer Placeholder 4">
            <a:extLst>
              <a:ext uri="{FF2B5EF4-FFF2-40B4-BE49-F238E27FC236}">
                <a16:creationId xmlns:a16="http://schemas.microsoft.com/office/drawing/2014/main" id="{03EC4C55-219E-A0D6-AA16-DE20678AF6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19C431-C50D-3B61-618D-45C564E49E90}"/>
              </a:ext>
            </a:extLst>
          </p:cNvPr>
          <p:cNvSpPr>
            <a:spLocks noGrp="1"/>
          </p:cNvSpPr>
          <p:nvPr>
            <p:ph type="sldNum" sz="quarter" idx="12"/>
          </p:nvPr>
        </p:nvSpPr>
        <p:spPr/>
        <p:txBody>
          <a:bodyPr/>
          <a:lstStyle/>
          <a:p>
            <a:fld id="{B8F2EF53-E81F-4964-9019-EC3528359300}" type="slidenum">
              <a:rPr lang="en-IN" smtClean="0"/>
              <a:t>‹#›</a:t>
            </a:fld>
            <a:endParaRPr lang="en-IN"/>
          </a:p>
        </p:txBody>
      </p:sp>
    </p:spTree>
    <p:extLst>
      <p:ext uri="{BB962C8B-B14F-4D97-AF65-F5344CB8AC3E}">
        <p14:creationId xmlns:p14="http://schemas.microsoft.com/office/powerpoint/2010/main" val="37313111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006AB-15D5-1637-412F-350327F52EE3}"/>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A34C66C-5220-0057-BBFE-7E1CFB63C53B}"/>
              </a:ext>
            </a:extLst>
          </p:cNvPr>
          <p:cNvSpPr>
            <a:spLocks noGrp="1"/>
          </p:cNvSpPr>
          <p:nvPr>
            <p:ph type="body" idx="1"/>
          </p:nvPr>
        </p:nvSpPr>
        <p:spPr>
          <a:xfrm>
            <a:off x="623888"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A8EDBCC-4962-6A5C-C618-F157662ABDF6}"/>
              </a:ext>
            </a:extLst>
          </p:cNvPr>
          <p:cNvSpPr>
            <a:spLocks noGrp="1"/>
          </p:cNvSpPr>
          <p:nvPr>
            <p:ph type="dt" sz="half" idx="10"/>
          </p:nvPr>
        </p:nvSpPr>
        <p:spPr/>
        <p:txBody>
          <a:bodyPr/>
          <a:lstStyle/>
          <a:p>
            <a:fld id="{353D7A28-ED16-4EC0-87CB-058AD99D1FD3}" type="datetimeFigureOut">
              <a:rPr lang="en-IN" smtClean="0"/>
              <a:t>17-01-2025</a:t>
            </a:fld>
            <a:endParaRPr lang="en-IN"/>
          </a:p>
        </p:txBody>
      </p:sp>
      <p:sp>
        <p:nvSpPr>
          <p:cNvPr id="5" name="Footer Placeholder 4">
            <a:extLst>
              <a:ext uri="{FF2B5EF4-FFF2-40B4-BE49-F238E27FC236}">
                <a16:creationId xmlns:a16="http://schemas.microsoft.com/office/drawing/2014/main" id="{1EF5F557-EE6C-A83D-0445-EEFA126A46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4949C46-E91D-E655-2E39-2B8B82B62367}"/>
              </a:ext>
            </a:extLst>
          </p:cNvPr>
          <p:cNvSpPr>
            <a:spLocks noGrp="1"/>
          </p:cNvSpPr>
          <p:nvPr>
            <p:ph type="sldNum" sz="quarter" idx="12"/>
          </p:nvPr>
        </p:nvSpPr>
        <p:spPr/>
        <p:txBody>
          <a:bodyPr/>
          <a:lstStyle/>
          <a:p>
            <a:fld id="{B8F2EF53-E81F-4964-9019-EC3528359300}" type="slidenum">
              <a:rPr lang="en-IN" smtClean="0"/>
              <a:t>‹#›</a:t>
            </a:fld>
            <a:endParaRPr lang="en-IN"/>
          </a:p>
        </p:txBody>
      </p:sp>
    </p:spTree>
    <p:extLst>
      <p:ext uri="{BB962C8B-B14F-4D97-AF65-F5344CB8AC3E}">
        <p14:creationId xmlns:p14="http://schemas.microsoft.com/office/powerpoint/2010/main" val="49622261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1717-C0B6-DC5D-95B8-68FC4BEFC8E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42D3137-410E-B369-BC0E-18A0D191859C}"/>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1D08315-4E9D-8692-B967-7148E69BC98C}"/>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595777C-16B6-49A6-F9F5-0C70AB2C4C2A}"/>
              </a:ext>
            </a:extLst>
          </p:cNvPr>
          <p:cNvSpPr>
            <a:spLocks noGrp="1"/>
          </p:cNvSpPr>
          <p:nvPr>
            <p:ph type="dt" sz="half" idx="10"/>
          </p:nvPr>
        </p:nvSpPr>
        <p:spPr/>
        <p:txBody>
          <a:bodyPr/>
          <a:lstStyle/>
          <a:p>
            <a:fld id="{353D7A28-ED16-4EC0-87CB-058AD99D1FD3}" type="datetimeFigureOut">
              <a:rPr lang="en-IN" smtClean="0"/>
              <a:t>17-01-2025</a:t>
            </a:fld>
            <a:endParaRPr lang="en-IN"/>
          </a:p>
        </p:txBody>
      </p:sp>
      <p:sp>
        <p:nvSpPr>
          <p:cNvPr id="6" name="Footer Placeholder 5">
            <a:extLst>
              <a:ext uri="{FF2B5EF4-FFF2-40B4-BE49-F238E27FC236}">
                <a16:creationId xmlns:a16="http://schemas.microsoft.com/office/drawing/2014/main" id="{15CB7E48-EBCE-5543-CE28-0799A2DAC11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27203E3-468A-1AD0-4B97-1845665400FF}"/>
              </a:ext>
            </a:extLst>
          </p:cNvPr>
          <p:cNvSpPr>
            <a:spLocks noGrp="1"/>
          </p:cNvSpPr>
          <p:nvPr>
            <p:ph type="sldNum" sz="quarter" idx="12"/>
          </p:nvPr>
        </p:nvSpPr>
        <p:spPr/>
        <p:txBody>
          <a:bodyPr/>
          <a:lstStyle/>
          <a:p>
            <a:fld id="{B8F2EF53-E81F-4964-9019-EC3528359300}" type="slidenum">
              <a:rPr lang="en-IN" smtClean="0"/>
              <a:t>‹#›</a:t>
            </a:fld>
            <a:endParaRPr lang="en-IN"/>
          </a:p>
        </p:txBody>
      </p:sp>
    </p:spTree>
    <p:extLst>
      <p:ext uri="{BB962C8B-B14F-4D97-AF65-F5344CB8AC3E}">
        <p14:creationId xmlns:p14="http://schemas.microsoft.com/office/powerpoint/2010/main" val="10905922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14F65-804B-1CA2-83E9-98CBFD648502}"/>
              </a:ext>
            </a:extLst>
          </p:cNvPr>
          <p:cNvSpPr>
            <a:spLocks noGrp="1"/>
          </p:cNvSpPr>
          <p:nvPr>
            <p:ph type="title"/>
          </p:nvPr>
        </p:nvSpPr>
        <p:spPr>
          <a:xfrm>
            <a:off x="629841" y="273844"/>
            <a:ext cx="7886700" cy="994172"/>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FC976A8-4CA9-07F4-9515-964C75EA6AFE}"/>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0C5574D9-28EC-3A0A-21F0-AC97B5A6953F}"/>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6AF1181-621A-9FAC-D6D5-9E6FD3B3C3E8}"/>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FEE29951-9649-BB0C-B265-573F0A654CB5}"/>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CF63A3A-C73D-CBD1-F5CE-804DCF17F417}"/>
              </a:ext>
            </a:extLst>
          </p:cNvPr>
          <p:cNvSpPr>
            <a:spLocks noGrp="1"/>
          </p:cNvSpPr>
          <p:nvPr>
            <p:ph type="dt" sz="half" idx="10"/>
          </p:nvPr>
        </p:nvSpPr>
        <p:spPr/>
        <p:txBody>
          <a:bodyPr/>
          <a:lstStyle/>
          <a:p>
            <a:fld id="{353D7A28-ED16-4EC0-87CB-058AD99D1FD3}" type="datetimeFigureOut">
              <a:rPr lang="en-IN" smtClean="0"/>
              <a:t>17-01-2025</a:t>
            </a:fld>
            <a:endParaRPr lang="en-IN"/>
          </a:p>
        </p:txBody>
      </p:sp>
      <p:sp>
        <p:nvSpPr>
          <p:cNvPr id="8" name="Footer Placeholder 7">
            <a:extLst>
              <a:ext uri="{FF2B5EF4-FFF2-40B4-BE49-F238E27FC236}">
                <a16:creationId xmlns:a16="http://schemas.microsoft.com/office/drawing/2014/main" id="{5EB23DD0-1AB3-DDFD-C046-44B91BFF755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3E0AFA2-FD91-962C-8783-4E3070C3F8CE}"/>
              </a:ext>
            </a:extLst>
          </p:cNvPr>
          <p:cNvSpPr>
            <a:spLocks noGrp="1"/>
          </p:cNvSpPr>
          <p:nvPr>
            <p:ph type="sldNum" sz="quarter" idx="12"/>
          </p:nvPr>
        </p:nvSpPr>
        <p:spPr/>
        <p:txBody>
          <a:bodyPr/>
          <a:lstStyle/>
          <a:p>
            <a:fld id="{B8F2EF53-E81F-4964-9019-EC3528359300}" type="slidenum">
              <a:rPr lang="en-IN" smtClean="0"/>
              <a:t>‹#›</a:t>
            </a:fld>
            <a:endParaRPr lang="en-IN"/>
          </a:p>
        </p:txBody>
      </p:sp>
    </p:spTree>
    <p:extLst>
      <p:ext uri="{BB962C8B-B14F-4D97-AF65-F5344CB8AC3E}">
        <p14:creationId xmlns:p14="http://schemas.microsoft.com/office/powerpoint/2010/main" val="21398348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3FA79-677C-9FF8-CEDC-9384859E459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0B2A7D6-8D2F-6F31-E35B-90E471A571B9}"/>
              </a:ext>
            </a:extLst>
          </p:cNvPr>
          <p:cNvSpPr>
            <a:spLocks noGrp="1"/>
          </p:cNvSpPr>
          <p:nvPr>
            <p:ph type="dt" sz="half" idx="10"/>
          </p:nvPr>
        </p:nvSpPr>
        <p:spPr/>
        <p:txBody>
          <a:bodyPr/>
          <a:lstStyle/>
          <a:p>
            <a:fld id="{353D7A28-ED16-4EC0-87CB-058AD99D1FD3}" type="datetimeFigureOut">
              <a:rPr lang="en-IN" smtClean="0"/>
              <a:t>17-01-2025</a:t>
            </a:fld>
            <a:endParaRPr lang="en-IN"/>
          </a:p>
        </p:txBody>
      </p:sp>
      <p:sp>
        <p:nvSpPr>
          <p:cNvPr id="4" name="Footer Placeholder 3">
            <a:extLst>
              <a:ext uri="{FF2B5EF4-FFF2-40B4-BE49-F238E27FC236}">
                <a16:creationId xmlns:a16="http://schemas.microsoft.com/office/drawing/2014/main" id="{9A86F820-566E-B49B-7243-E0D41CB0CF1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334A92C-02F9-6776-2BFF-60DD8B79D71F}"/>
              </a:ext>
            </a:extLst>
          </p:cNvPr>
          <p:cNvSpPr>
            <a:spLocks noGrp="1"/>
          </p:cNvSpPr>
          <p:nvPr>
            <p:ph type="sldNum" sz="quarter" idx="12"/>
          </p:nvPr>
        </p:nvSpPr>
        <p:spPr/>
        <p:txBody>
          <a:bodyPr/>
          <a:lstStyle/>
          <a:p>
            <a:fld id="{B8F2EF53-E81F-4964-9019-EC3528359300}" type="slidenum">
              <a:rPr lang="en-IN" smtClean="0"/>
              <a:t>‹#›</a:t>
            </a:fld>
            <a:endParaRPr lang="en-IN"/>
          </a:p>
        </p:txBody>
      </p:sp>
    </p:spTree>
    <p:extLst>
      <p:ext uri="{BB962C8B-B14F-4D97-AF65-F5344CB8AC3E}">
        <p14:creationId xmlns:p14="http://schemas.microsoft.com/office/powerpoint/2010/main" val="38357291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AD0C1F-3C50-39A4-4214-5E2AAC78CE6D}"/>
              </a:ext>
            </a:extLst>
          </p:cNvPr>
          <p:cNvSpPr>
            <a:spLocks noGrp="1"/>
          </p:cNvSpPr>
          <p:nvPr>
            <p:ph type="dt" sz="half" idx="10"/>
          </p:nvPr>
        </p:nvSpPr>
        <p:spPr/>
        <p:txBody>
          <a:bodyPr/>
          <a:lstStyle/>
          <a:p>
            <a:fld id="{353D7A28-ED16-4EC0-87CB-058AD99D1FD3}" type="datetimeFigureOut">
              <a:rPr lang="en-IN" smtClean="0"/>
              <a:t>17-01-2025</a:t>
            </a:fld>
            <a:endParaRPr lang="en-IN"/>
          </a:p>
        </p:txBody>
      </p:sp>
      <p:sp>
        <p:nvSpPr>
          <p:cNvPr id="3" name="Footer Placeholder 2">
            <a:extLst>
              <a:ext uri="{FF2B5EF4-FFF2-40B4-BE49-F238E27FC236}">
                <a16:creationId xmlns:a16="http://schemas.microsoft.com/office/drawing/2014/main" id="{AC6835B2-8C9A-D9F5-AE92-D8B47F4893A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03E8325-4EE3-89A3-D451-8A01F6F96CCE}"/>
              </a:ext>
            </a:extLst>
          </p:cNvPr>
          <p:cNvSpPr>
            <a:spLocks noGrp="1"/>
          </p:cNvSpPr>
          <p:nvPr>
            <p:ph type="sldNum" sz="quarter" idx="12"/>
          </p:nvPr>
        </p:nvSpPr>
        <p:spPr/>
        <p:txBody>
          <a:bodyPr/>
          <a:lstStyle/>
          <a:p>
            <a:fld id="{B8F2EF53-E81F-4964-9019-EC3528359300}" type="slidenum">
              <a:rPr lang="en-IN" smtClean="0"/>
              <a:t>‹#›</a:t>
            </a:fld>
            <a:endParaRPr lang="en-IN"/>
          </a:p>
        </p:txBody>
      </p:sp>
    </p:spTree>
    <p:extLst>
      <p:ext uri="{BB962C8B-B14F-4D97-AF65-F5344CB8AC3E}">
        <p14:creationId xmlns:p14="http://schemas.microsoft.com/office/powerpoint/2010/main" val="399221377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83CF8-E638-4529-E167-03B4FAC0727A}"/>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6B44CD9-C84A-2CA1-F8B3-84F16CB9D8D9}"/>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ABACB2-0FE9-4D9A-17CD-6FEC7A0F03C5}"/>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11BA33F1-1E4B-511B-C9A7-71D391AEFBEE}"/>
              </a:ext>
            </a:extLst>
          </p:cNvPr>
          <p:cNvSpPr>
            <a:spLocks noGrp="1"/>
          </p:cNvSpPr>
          <p:nvPr>
            <p:ph type="dt" sz="half" idx="10"/>
          </p:nvPr>
        </p:nvSpPr>
        <p:spPr/>
        <p:txBody>
          <a:bodyPr/>
          <a:lstStyle/>
          <a:p>
            <a:fld id="{353D7A28-ED16-4EC0-87CB-058AD99D1FD3}" type="datetimeFigureOut">
              <a:rPr lang="en-IN" smtClean="0"/>
              <a:t>17-01-2025</a:t>
            </a:fld>
            <a:endParaRPr lang="en-IN"/>
          </a:p>
        </p:txBody>
      </p:sp>
      <p:sp>
        <p:nvSpPr>
          <p:cNvPr id="6" name="Footer Placeholder 5">
            <a:extLst>
              <a:ext uri="{FF2B5EF4-FFF2-40B4-BE49-F238E27FC236}">
                <a16:creationId xmlns:a16="http://schemas.microsoft.com/office/drawing/2014/main" id="{7C9BB66A-B40B-FFBE-75CE-BE0C15F297D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3950B5E-09F8-74CD-CC2C-93C8E6EEB93B}"/>
              </a:ext>
            </a:extLst>
          </p:cNvPr>
          <p:cNvSpPr>
            <a:spLocks noGrp="1"/>
          </p:cNvSpPr>
          <p:nvPr>
            <p:ph type="sldNum" sz="quarter" idx="12"/>
          </p:nvPr>
        </p:nvSpPr>
        <p:spPr/>
        <p:txBody>
          <a:bodyPr/>
          <a:lstStyle/>
          <a:p>
            <a:fld id="{B8F2EF53-E81F-4964-9019-EC3528359300}" type="slidenum">
              <a:rPr lang="en-IN" smtClean="0"/>
              <a:t>‹#›</a:t>
            </a:fld>
            <a:endParaRPr lang="en-IN"/>
          </a:p>
        </p:txBody>
      </p:sp>
    </p:spTree>
    <p:extLst>
      <p:ext uri="{BB962C8B-B14F-4D97-AF65-F5344CB8AC3E}">
        <p14:creationId xmlns:p14="http://schemas.microsoft.com/office/powerpoint/2010/main" val="71940986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A01D1-0AA1-F813-BB12-011B510E82DB}"/>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602CE73-F3C0-01B7-CF46-DAAEC077685F}"/>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2D1BA9C8-4125-6EB9-330D-8B23CB5B7048}"/>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A114B591-EB07-0F10-8B82-F4EDF4A5D7C2}"/>
              </a:ext>
            </a:extLst>
          </p:cNvPr>
          <p:cNvSpPr>
            <a:spLocks noGrp="1"/>
          </p:cNvSpPr>
          <p:nvPr>
            <p:ph type="dt" sz="half" idx="10"/>
          </p:nvPr>
        </p:nvSpPr>
        <p:spPr/>
        <p:txBody>
          <a:bodyPr/>
          <a:lstStyle/>
          <a:p>
            <a:fld id="{353D7A28-ED16-4EC0-87CB-058AD99D1FD3}" type="datetimeFigureOut">
              <a:rPr lang="en-IN" smtClean="0"/>
              <a:t>17-01-2025</a:t>
            </a:fld>
            <a:endParaRPr lang="en-IN"/>
          </a:p>
        </p:txBody>
      </p:sp>
      <p:sp>
        <p:nvSpPr>
          <p:cNvPr id="6" name="Footer Placeholder 5">
            <a:extLst>
              <a:ext uri="{FF2B5EF4-FFF2-40B4-BE49-F238E27FC236}">
                <a16:creationId xmlns:a16="http://schemas.microsoft.com/office/drawing/2014/main" id="{D641E516-4BD9-AAA5-DB65-B83D6957D89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9B63826-2194-B6B3-BB84-7C82940096C4}"/>
              </a:ext>
            </a:extLst>
          </p:cNvPr>
          <p:cNvSpPr>
            <a:spLocks noGrp="1"/>
          </p:cNvSpPr>
          <p:nvPr>
            <p:ph type="sldNum" sz="quarter" idx="12"/>
          </p:nvPr>
        </p:nvSpPr>
        <p:spPr/>
        <p:txBody>
          <a:bodyPr/>
          <a:lstStyle/>
          <a:p>
            <a:fld id="{B8F2EF53-E81F-4964-9019-EC3528359300}" type="slidenum">
              <a:rPr lang="en-IN" smtClean="0"/>
              <a:t>‹#›</a:t>
            </a:fld>
            <a:endParaRPr lang="en-IN"/>
          </a:p>
        </p:txBody>
      </p:sp>
    </p:spTree>
    <p:extLst>
      <p:ext uri="{BB962C8B-B14F-4D97-AF65-F5344CB8AC3E}">
        <p14:creationId xmlns:p14="http://schemas.microsoft.com/office/powerpoint/2010/main" val="249763097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D5DBD-76C5-2E10-14B0-5F7CCEB4BD5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12BC565-2C5A-78CB-D9AD-E56B4F2BBCC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7744C43-56F2-CEBB-313A-D3F09EB1268C}"/>
              </a:ext>
            </a:extLst>
          </p:cNvPr>
          <p:cNvSpPr>
            <a:spLocks noGrp="1"/>
          </p:cNvSpPr>
          <p:nvPr>
            <p:ph type="dt" sz="half" idx="10"/>
          </p:nvPr>
        </p:nvSpPr>
        <p:spPr/>
        <p:txBody>
          <a:bodyPr/>
          <a:lstStyle/>
          <a:p>
            <a:fld id="{353D7A28-ED16-4EC0-87CB-058AD99D1FD3}" type="datetimeFigureOut">
              <a:rPr lang="en-IN" smtClean="0"/>
              <a:t>17-01-2025</a:t>
            </a:fld>
            <a:endParaRPr lang="en-IN"/>
          </a:p>
        </p:txBody>
      </p:sp>
      <p:sp>
        <p:nvSpPr>
          <p:cNvPr id="5" name="Footer Placeholder 4">
            <a:extLst>
              <a:ext uri="{FF2B5EF4-FFF2-40B4-BE49-F238E27FC236}">
                <a16:creationId xmlns:a16="http://schemas.microsoft.com/office/drawing/2014/main" id="{EA344ABD-6876-24D8-B5B3-E3EBF65ACB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FEB5F1-E58D-77B5-6D26-3D7C372BDB26}"/>
              </a:ext>
            </a:extLst>
          </p:cNvPr>
          <p:cNvSpPr>
            <a:spLocks noGrp="1"/>
          </p:cNvSpPr>
          <p:nvPr>
            <p:ph type="sldNum" sz="quarter" idx="12"/>
          </p:nvPr>
        </p:nvSpPr>
        <p:spPr/>
        <p:txBody>
          <a:bodyPr/>
          <a:lstStyle/>
          <a:p>
            <a:fld id="{B8F2EF53-E81F-4964-9019-EC3528359300}" type="slidenum">
              <a:rPr lang="en-IN" smtClean="0"/>
              <a:t>‹#›</a:t>
            </a:fld>
            <a:endParaRPr lang="en-IN"/>
          </a:p>
        </p:txBody>
      </p:sp>
    </p:spTree>
    <p:extLst>
      <p:ext uri="{BB962C8B-B14F-4D97-AF65-F5344CB8AC3E}">
        <p14:creationId xmlns:p14="http://schemas.microsoft.com/office/powerpoint/2010/main" val="365506891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9CDB13-2C09-C405-A62F-21CCB82B51D3}"/>
              </a:ext>
            </a:extLst>
          </p:cNvPr>
          <p:cNvSpPr>
            <a:spLocks noGrp="1"/>
          </p:cNvSpPr>
          <p:nvPr>
            <p:ph type="title" orient="vert"/>
          </p:nvPr>
        </p:nvSpPr>
        <p:spPr>
          <a:xfrm>
            <a:off x="6543675" y="273844"/>
            <a:ext cx="1971675" cy="4358879"/>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49BDEC9-C1BF-814E-7CD9-E8FC4F72BF2D}"/>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2E95AB-564F-324F-932C-990F26AC81E5}"/>
              </a:ext>
            </a:extLst>
          </p:cNvPr>
          <p:cNvSpPr>
            <a:spLocks noGrp="1"/>
          </p:cNvSpPr>
          <p:nvPr>
            <p:ph type="dt" sz="half" idx="10"/>
          </p:nvPr>
        </p:nvSpPr>
        <p:spPr/>
        <p:txBody>
          <a:bodyPr/>
          <a:lstStyle/>
          <a:p>
            <a:fld id="{353D7A28-ED16-4EC0-87CB-058AD99D1FD3}" type="datetimeFigureOut">
              <a:rPr lang="en-IN" smtClean="0"/>
              <a:t>17-01-2025</a:t>
            </a:fld>
            <a:endParaRPr lang="en-IN"/>
          </a:p>
        </p:txBody>
      </p:sp>
      <p:sp>
        <p:nvSpPr>
          <p:cNvPr id="5" name="Footer Placeholder 4">
            <a:extLst>
              <a:ext uri="{FF2B5EF4-FFF2-40B4-BE49-F238E27FC236}">
                <a16:creationId xmlns:a16="http://schemas.microsoft.com/office/drawing/2014/main" id="{4C87056C-0AE9-FF4A-915E-10A155C54E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A43CDE-25AB-94D4-417F-F2C37F40D667}"/>
              </a:ext>
            </a:extLst>
          </p:cNvPr>
          <p:cNvSpPr>
            <a:spLocks noGrp="1"/>
          </p:cNvSpPr>
          <p:nvPr>
            <p:ph type="sldNum" sz="quarter" idx="12"/>
          </p:nvPr>
        </p:nvSpPr>
        <p:spPr/>
        <p:txBody>
          <a:bodyPr/>
          <a:lstStyle/>
          <a:p>
            <a:fld id="{B8F2EF53-E81F-4964-9019-EC3528359300}" type="slidenum">
              <a:rPr lang="en-IN" smtClean="0"/>
              <a:t>‹#›</a:t>
            </a:fld>
            <a:endParaRPr lang="en-IN"/>
          </a:p>
        </p:txBody>
      </p:sp>
    </p:spTree>
    <p:extLst>
      <p:ext uri="{BB962C8B-B14F-4D97-AF65-F5344CB8AC3E}">
        <p14:creationId xmlns:p14="http://schemas.microsoft.com/office/powerpoint/2010/main" val="278219940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5"/>
        <p:cNvGrpSpPr/>
        <p:nvPr/>
      </p:nvGrpSpPr>
      <p:grpSpPr>
        <a:xfrm>
          <a:off x="0" y="0"/>
          <a:ext cx="0" cy="0"/>
          <a:chOff x="0" y="0"/>
          <a:chExt cx="0" cy="0"/>
        </a:xfrm>
      </p:grpSpPr>
      <p:sp>
        <p:nvSpPr>
          <p:cNvPr id="16" name="Google Shape;16;p6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6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8" name="Google Shape;18;p6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9041156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5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5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5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6"/>
        <p:cNvGrpSpPr/>
        <p:nvPr/>
      </p:nvGrpSpPr>
      <p:grpSpPr>
        <a:xfrm>
          <a:off x="0" y="0"/>
          <a:ext cx="0" cy="0"/>
          <a:chOff x="0" y="0"/>
          <a:chExt cx="0" cy="0"/>
        </a:xfrm>
      </p:grpSpPr>
      <p:sp>
        <p:nvSpPr>
          <p:cNvPr id="57" name="Google Shape;57;g2f8667aba1d_4_0"/>
          <p:cNvSpPr txBox="1">
            <a:spLocks noGrp="1"/>
          </p:cNvSpPr>
          <p:nvPr>
            <p:ph type="title"/>
          </p:nvPr>
        </p:nvSpPr>
        <p:spPr>
          <a:xfrm>
            <a:off x="311700" y="445025"/>
            <a:ext cx="8520600" cy="572625"/>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58" name="Google Shape;58;g2f8667aba1d_4_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59" name="Google Shape;59;g2f8667aba1d_4_0"/>
          <p:cNvSpPr txBox="1">
            <a:spLocks noGrp="1"/>
          </p:cNvSpPr>
          <p:nvPr>
            <p:ph type="sldNum" idx="12"/>
          </p:nvPr>
        </p:nvSpPr>
        <p:spPr>
          <a:xfrm>
            <a:off x="8472458" y="4663217"/>
            <a:ext cx="548700" cy="393525"/>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E36EF6F-6BD2-FA37-F3F9-57B2C12DE7C6}"/>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7A468A4-7916-AA44-1D2D-F445DBACB9EF}"/>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C5ECEAF-FAF8-23F6-C46A-FB099DB945D2}"/>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353D7A28-ED16-4EC0-87CB-058AD99D1FD3}" type="datetimeFigureOut">
              <a:rPr lang="en-IN" smtClean="0"/>
              <a:t>17-01-2025</a:t>
            </a:fld>
            <a:endParaRPr lang="en-IN"/>
          </a:p>
        </p:txBody>
      </p:sp>
      <p:sp>
        <p:nvSpPr>
          <p:cNvPr id="5" name="Footer Placeholder 4">
            <a:extLst>
              <a:ext uri="{FF2B5EF4-FFF2-40B4-BE49-F238E27FC236}">
                <a16:creationId xmlns:a16="http://schemas.microsoft.com/office/drawing/2014/main" id="{E320CCA1-06B7-1A4E-C34F-47E18BA7E832}"/>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C5AEDFFC-6B68-C473-D90E-A1A7072FADFD}"/>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B8F2EF53-E81F-4964-9019-EC3528359300}" type="slidenum">
              <a:rPr lang="en-IN" smtClean="0"/>
              <a:t>‹#›</a:t>
            </a:fld>
            <a:endParaRPr lang="en-IN"/>
          </a:p>
        </p:txBody>
      </p:sp>
    </p:spTree>
    <p:extLst>
      <p:ext uri="{BB962C8B-B14F-4D97-AF65-F5344CB8AC3E}">
        <p14:creationId xmlns:p14="http://schemas.microsoft.com/office/powerpoint/2010/main" val="39864645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9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0.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0.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5.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5.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0.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0.xml"/></Relationships>
</file>

<file path=ppt/slides/_rels/slide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5.xml"/></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3.png"/><Relationship Id="rId1" Type="http://schemas.openxmlformats.org/officeDocument/2006/relationships/slideLayout" Target="../slideLayouts/slideLayout30.xml"/></Relationships>
</file>

<file path=ppt/slides/_rels/slide42.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30.xml"/></Relationships>
</file>

<file path=ppt/slides/_rels/slide4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0.xml"/></Relationships>
</file>

<file path=ppt/slides/_rels/slide4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0.xml"/></Relationships>
</file>

<file path=ppt/slides/_rels/slide4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3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5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5.xml"/></Relationships>
</file>

<file path=ppt/slides/_rels/slide5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5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0.xml"/></Relationships>
</file>

<file path=ppt/slides/_rels/slide5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30.png"/><Relationship Id="rId1" Type="http://schemas.openxmlformats.org/officeDocument/2006/relationships/slideLayout" Target="../slideLayouts/slideLayout30.xml"/></Relationships>
</file>

<file path=ppt/slides/_rels/slide5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5.xml"/></Relationships>
</file>

<file path=ppt/slides/_rels/slide5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0.png"/><Relationship Id="rId1" Type="http://schemas.openxmlformats.org/officeDocument/2006/relationships/slideLayout" Target="../slideLayouts/slideLayout30.xml"/></Relationships>
</file>

<file path=ppt/slides/_rels/slide5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_rels/slide5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0.xml"/></Relationships>
</file>

<file path=ppt/slides/_rels/slide5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0.xml"/></Relationships>
</file>

<file path=ppt/slides/_rels/slide6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0.xml"/></Relationships>
</file>

<file path=ppt/slides/_rels/slide6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6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3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5.xml"/><Relationship Id="rId1" Type="http://schemas.openxmlformats.org/officeDocument/2006/relationships/slideLayout" Target="../slideLayouts/slideLayout30.xml"/></Relationships>
</file>

<file path=ppt/slides/_rels/slide7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6.xml"/><Relationship Id="rId1" Type="http://schemas.openxmlformats.org/officeDocument/2006/relationships/slideLayout" Target="../slideLayouts/slideLayout35.xml"/></Relationships>
</file>

<file path=ppt/slides/_rels/slide71.xml.rels><?xml version="1.0" encoding="UTF-8" standalone="yes"?>
<Relationships xmlns="http://schemas.openxmlformats.org/package/2006/relationships"><Relationship Id="rId3" Type="http://schemas.openxmlformats.org/officeDocument/2006/relationships/image" Target="../media/image450.png"/><Relationship Id="rId2" Type="http://schemas.openxmlformats.org/officeDocument/2006/relationships/notesSlide" Target="../notesSlides/notesSlide17.xml"/><Relationship Id="rId1" Type="http://schemas.openxmlformats.org/officeDocument/2006/relationships/slideLayout" Target="../slideLayouts/slideLayout30.xml"/><Relationship Id="rId4" Type="http://schemas.openxmlformats.org/officeDocument/2006/relationships/image" Target="../media/image43.png"/></Relationships>
</file>

<file path=ppt/slides/_rels/slide7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8.xml"/><Relationship Id="rId1" Type="http://schemas.openxmlformats.org/officeDocument/2006/relationships/slideLayout" Target="../slideLayouts/slideLayout30.xml"/><Relationship Id="rId5" Type="http://schemas.openxmlformats.org/officeDocument/2006/relationships/image" Target="../media/image45.png"/><Relationship Id="rId4" Type="http://schemas.openxmlformats.org/officeDocument/2006/relationships/image" Target="../media/image260.png"/></Relationships>
</file>

<file path=ppt/slides/_rels/slide7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280.png"/><Relationship Id="rId1" Type="http://schemas.openxmlformats.org/officeDocument/2006/relationships/slideLayout" Target="../slideLayouts/slideLayout30.xml"/></Relationships>
</file>

<file path=ppt/slides/_rels/slide7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30.xml"/></Relationships>
</file>

<file path=ppt/slides/_rels/slide75.xml.rels><?xml version="1.0" encoding="UTF-8" standalone="yes"?>
<Relationships xmlns="http://schemas.openxmlformats.org/package/2006/relationships"><Relationship Id="rId2" Type="http://schemas.openxmlformats.org/officeDocument/2006/relationships/image" Target="../media/image350.png"/><Relationship Id="rId1" Type="http://schemas.openxmlformats.org/officeDocument/2006/relationships/slideLayout" Target="../slideLayouts/slideLayout30.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0.xml"/></Relationships>
</file>

<file path=ppt/slides/_rels/slide7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35.xml"/></Relationships>
</file>

<file path=ppt/slides/_rels/slide7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30.xml"/></Relationships>
</file>

<file path=ppt/slides/_rels/slide7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30.xml"/></Relationships>
</file>

<file path=ppt/slides/_rels/slide8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30.xml"/></Relationships>
</file>

<file path=ppt/slides/_rels/slide8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30.xml"/></Relationships>
</file>

<file path=ppt/slides/_rels/slide8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30.xml"/></Relationships>
</file>

<file path=ppt/slides/_rels/slide8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30.xml"/></Relationships>
</file>

<file path=ppt/slides/_rels/slide8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30.xml"/></Relationships>
</file>

<file path=ppt/slides/_rels/slide8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30.xml"/></Relationships>
</file>

<file path=ppt/slides/_rels/slide86.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image" Target="../media/image54.png"/><Relationship Id="rId1" Type="http://schemas.openxmlformats.org/officeDocument/2006/relationships/slideLayout" Target="../slideLayouts/slideLayout30.xml"/></Relationships>
</file>

<file path=ppt/slides/_rels/slide8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3.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0.xml"/></Relationships>
</file>

<file path=ppt/slides/_rels/slide9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6.xml"/><Relationship Id="rId1" Type="http://schemas.openxmlformats.org/officeDocument/2006/relationships/slideLayout" Target="../slideLayouts/slideLayout25.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3.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3" Type="http://schemas.openxmlformats.org/officeDocument/2006/relationships/hyperlink" Target="http://ourworld.compuserve.com/homepages/Rainer_Wuerlaender/statsoft.htm#archiv" TargetMode="External"/><Relationship Id="rId2" Type="http://schemas.openxmlformats.org/officeDocument/2006/relationships/hyperlink" Target="http://www.galaxy.gmu.edu/papers/astr1.html" TargetMode="External"/><Relationship Id="rId1" Type="http://schemas.openxmlformats.org/officeDocument/2006/relationships/slideLayout" Target="../slideLayouts/slideLayout4.xml"/><Relationship Id="rId4" Type="http://schemas.openxmlformats.org/officeDocument/2006/relationships/hyperlink" Target="http://www.r-project.org/" TargetMode="Externa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353505" y="3271345"/>
            <a:ext cx="8165969" cy="1522184"/>
          </a:xfrm>
        </p:spPr>
        <p:txBody>
          <a:bodyPr>
            <a:noAutofit/>
          </a:bodyPr>
          <a:lstStyle/>
          <a:p>
            <a:br>
              <a:rPr lang="en-US" sz="5400" b="1" dirty="0">
                <a:latin typeface="Arial Narrow" panose="020B0606020202030204" pitchFamily="34" charset="0"/>
              </a:rPr>
            </a:br>
            <a:br>
              <a:rPr lang="en-US" sz="5400" b="1" dirty="0">
                <a:latin typeface="Arial Narrow" panose="020B0606020202030204" pitchFamily="34" charset="0"/>
              </a:rPr>
            </a:br>
            <a:br>
              <a:rPr lang="en-US" sz="5400" b="1" dirty="0">
                <a:latin typeface="Arial Narrow" panose="020B0606020202030204" pitchFamily="34" charset="0"/>
              </a:rPr>
            </a:br>
            <a:br>
              <a:rPr lang="en-US" sz="5400" b="1" dirty="0">
                <a:latin typeface="Arial Narrow" panose="020B0606020202030204" pitchFamily="34" charset="0"/>
              </a:rPr>
            </a:br>
            <a:br>
              <a:rPr lang="en-US" sz="5400" b="1" dirty="0">
                <a:latin typeface="Arial Narrow" panose="020B0606020202030204" pitchFamily="34" charset="0"/>
              </a:rPr>
            </a:br>
            <a:r>
              <a:rPr lang="en-US" sz="2400" b="1" dirty="0">
                <a:latin typeface="Calibri" panose="020F0502020204030204" pitchFamily="34" charset="0"/>
                <a:ea typeface="Calibri" panose="020F0502020204030204" pitchFamily="34" charset="0"/>
                <a:cs typeface="Calibri" panose="020F0502020204030204" pitchFamily="34" charset="0"/>
              </a:rPr>
              <a:t> </a:t>
            </a:r>
            <a:br>
              <a:rPr lang="en-US" sz="2400" b="1" dirty="0">
                <a:latin typeface="Calibri" panose="020F0502020204030204" pitchFamily="34" charset="0"/>
                <a:ea typeface="Calibri" panose="020F0502020204030204" pitchFamily="34" charset="0"/>
                <a:cs typeface="Calibri" panose="020F0502020204030204" pitchFamily="34" charset="0"/>
              </a:rPr>
            </a:br>
            <a:r>
              <a:rPr lang="en-US" sz="3000" b="1" dirty="0">
                <a:latin typeface="Calibri" panose="020F0502020204030204" pitchFamily="34" charset="0"/>
                <a:ea typeface="Calibri" panose="020F0502020204030204" pitchFamily="34" charset="0"/>
                <a:cs typeface="Calibri" panose="020F0502020204030204" pitchFamily="34" charset="0"/>
              </a:rPr>
              <a:t>Calculus and Statistics(HS1076)</a:t>
            </a:r>
            <a:br>
              <a:rPr lang="en-US" sz="3600" b="1" dirty="0">
                <a:solidFill>
                  <a:schemeClr val="accent1">
                    <a:lumMod val="20000"/>
                    <a:lumOff val="80000"/>
                  </a:schemeClr>
                </a:solidFill>
                <a:latin typeface="Arial Narrow" panose="020B0606020202030204" pitchFamily="34" charset="0"/>
              </a:rPr>
            </a:br>
            <a:r>
              <a:rPr lang="en-US" sz="3600" b="1" dirty="0">
                <a:solidFill>
                  <a:schemeClr val="tx1"/>
                </a:solidFill>
                <a:latin typeface="Arial Narrow" panose="020B0606020202030204" pitchFamily="34" charset="0"/>
              </a:rPr>
              <a:t>Unit 5- </a:t>
            </a:r>
            <a:r>
              <a:rPr lang="en-US" sz="3600" b="1" i="1" dirty="0">
                <a:solidFill>
                  <a:schemeClr val="tx1"/>
                </a:solidFill>
                <a:latin typeface="Arial Narrow" panose="020B0606020202030204" pitchFamily="34" charset="0"/>
              </a:rPr>
              <a:t>Descriptive Statistics </a:t>
            </a:r>
            <a:endParaRPr lang="en-IN" sz="2400" b="1" i="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8" name="TextBox 7"/>
          <p:cNvSpPr txBox="1"/>
          <p:nvPr/>
        </p:nvSpPr>
        <p:spPr>
          <a:xfrm>
            <a:off x="770641" y="395926"/>
            <a:ext cx="7748833" cy="415498"/>
          </a:xfrm>
          <a:prstGeom prst="rect">
            <a:avLst/>
          </a:prstGeom>
          <a:noFill/>
        </p:spPr>
        <p:txBody>
          <a:bodyPr wrap="square" rtlCol="0">
            <a:spAutoFit/>
          </a:bodyPr>
          <a:lstStyle/>
          <a:p>
            <a:pPr algn="ctr"/>
            <a:r>
              <a:rPr lang="en-US" sz="2100" b="1" dirty="0"/>
              <a:t>Vishwakarma Institute of Technology, Pune </a:t>
            </a:r>
            <a:endParaRPr lang="en-IN" sz="2100" dirty="0"/>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50774" y="848968"/>
            <a:ext cx="1171429" cy="1628572"/>
          </a:xfrm>
          <a:prstGeom prst="rect">
            <a:avLst/>
          </a:prstGeom>
        </p:spPr>
      </p:pic>
    </p:spTree>
    <p:extLst>
      <p:ext uri="{BB962C8B-B14F-4D97-AF65-F5344CB8AC3E}">
        <p14:creationId xmlns:p14="http://schemas.microsoft.com/office/powerpoint/2010/main" val="243224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ow to understand basic statistics">
            <a:extLst>
              <a:ext uri="{FF2B5EF4-FFF2-40B4-BE49-F238E27FC236}">
                <a16:creationId xmlns:a16="http://schemas.microsoft.com/office/drawing/2014/main" id="{66A26D51-9D96-A163-B83C-755C3F2314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8737475" cy="4913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6706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CAAA852-DE2C-0B87-D791-45F6D0323320}"/>
              </a:ext>
            </a:extLst>
          </p:cNvPr>
          <p:cNvSpPr>
            <a:spLocks noGrp="1"/>
          </p:cNvSpPr>
          <p:nvPr>
            <p:ph type="title"/>
          </p:nvPr>
        </p:nvSpPr>
        <p:spPr/>
        <p:txBody>
          <a:bodyPr>
            <a:noAutofit/>
          </a:bodyPr>
          <a:lstStyle/>
          <a:p>
            <a:r>
              <a:rPr lang="en-US" sz="3200" b="1" dirty="0">
                <a:solidFill>
                  <a:srgbClr val="FF0000"/>
                </a:solidFill>
                <a:latin typeface="Times New Roman" panose="02020603050405020304" pitchFamily="18" charset="0"/>
                <a:cs typeface="Times New Roman" panose="02020603050405020304" pitchFamily="18" charset="0"/>
              </a:rPr>
              <a:t>Content</a:t>
            </a:r>
            <a:endParaRPr lang="en-IN" sz="3200" b="1" dirty="0">
              <a:solidFill>
                <a:srgbClr val="FF0000"/>
              </a:solidFill>
              <a:latin typeface="Times New Roman" panose="02020603050405020304" pitchFamily="18" charset="0"/>
              <a:cs typeface="Times New Roman" panose="02020603050405020304" pitchFamily="18" charset="0"/>
            </a:endParaRPr>
          </a:p>
        </p:txBody>
      </p:sp>
      <p:sp>
        <p:nvSpPr>
          <p:cNvPr id="9" name="Text Placeholder 8">
            <a:extLst>
              <a:ext uri="{FF2B5EF4-FFF2-40B4-BE49-F238E27FC236}">
                <a16:creationId xmlns:a16="http://schemas.microsoft.com/office/drawing/2014/main" id="{52E3687A-8AC1-6E58-24F4-A3DEE3C07255}"/>
              </a:ext>
            </a:extLst>
          </p:cNvPr>
          <p:cNvSpPr>
            <a:spLocks noGrp="1"/>
          </p:cNvSpPr>
          <p:nvPr>
            <p:ph type="body" idx="1"/>
          </p:nvPr>
        </p:nvSpPr>
        <p:spPr/>
        <p:txBody>
          <a:bodyPr/>
          <a:lstStyle/>
          <a:p>
            <a:r>
              <a:rPr lang="en-US"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Population, Sample </a:t>
            </a:r>
          </a:p>
          <a:p>
            <a:r>
              <a:rPr lang="en-US"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Types of variables </a:t>
            </a:r>
            <a:endParaRPr lang="en-US" sz="20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p>
            <a:r>
              <a:rPr lang="en-US"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Data representation–Grouped, Ungrouped frequency distributions</a:t>
            </a:r>
          </a:p>
          <a:p>
            <a:r>
              <a:rPr lang="en-US"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Measures of central tendency and dispersion </a:t>
            </a:r>
          </a:p>
          <a:p>
            <a:r>
              <a:rPr lang="en-US" sz="20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C</a:t>
            </a:r>
            <a:r>
              <a:rPr lang="en-US"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oefficient of Variation, Skewness, Kurtosis </a:t>
            </a:r>
          </a:p>
          <a:p>
            <a:r>
              <a:rPr lang="en-US"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Quartiles, Deciles, Percentiles </a:t>
            </a:r>
          </a:p>
          <a:p>
            <a:r>
              <a:rPr lang="en-US"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Data visualization (Graphical Representation-Histogram, Box plot)</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114300" indent="0">
              <a:buNone/>
            </a:pPr>
            <a:endParaRPr lang="en-IN" dirty="0"/>
          </a:p>
        </p:txBody>
      </p:sp>
    </p:spTree>
    <p:extLst>
      <p:ext uri="{BB962C8B-B14F-4D97-AF65-F5344CB8AC3E}">
        <p14:creationId xmlns:p14="http://schemas.microsoft.com/office/powerpoint/2010/main" val="23319499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hat is Statistics? Types of Statistics | Swiftutors.com">
            <a:extLst>
              <a:ext uri="{FF2B5EF4-FFF2-40B4-BE49-F238E27FC236}">
                <a16:creationId xmlns:a16="http://schemas.microsoft.com/office/drawing/2014/main" id="{35F2E8D7-35BE-BD2D-EB94-D01C3EC04A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1588" y="1076325"/>
            <a:ext cx="6600825" cy="2990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63999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
          <p:cNvSpPr txBox="1">
            <a:spLocks noGrp="1"/>
          </p:cNvSpPr>
          <p:nvPr>
            <p:ph type="ctrTitle"/>
          </p:nvPr>
        </p:nvSpPr>
        <p:spPr>
          <a:xfrm>
            <a:off x="311700" y="86250"/>
            <a:ext cx="8520600" cy="59955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990"/>
              <a:buNone/>
            </a:pPr>
            <a:r>
              <a:rPr lang="en" sz="3200" b="1" dirty="0">
                <a:solidFill>
                  <a:srgbClr val="FF0000"/>
                </a:solidFill>
                <a:latin typeface="Times New Roman" panose="02020603050405020304" pitchFamily="18" charset="0"/>
                <a:cs typeface="Times New Roman" panose="02020603050405020304" pitchFamily="18" charset="0"/>
              </a:rPr>
              <a:t>Introduction to Descriptive Statistics</a:t>
            </a:r>
            <a:endParaRPr sz="3200" b="1" dirty="0">
              <a:solidFill>
                <a:srgbClr val="FF0000"/>
              </a:solidFill>
              <a:latin typeface="Times New Roman" panose="02020603050405020304" pitchFamily="18" charset="0"/>
              <a:cs typeface="Times New Roman" panose="02020603050405020304" pitchFamily="18" charset="0"/>
            </a:endParaRPr>
          </a:p>
        </p:txBody>
      </p:sp>
      <p:sp>
        <p:nvSpPr>
          <p:cNvPr id="117" name="Google Shape;117;p2"/>
          <p:cNvSpPr txBox="1">
            <a:spLocks noGrp="1"/>
          </p:cNvSpPr>
          <p:nvPr>
            <p:ph type="subTitle" idx="1"/>
          </p:nvPr>
        </p:nvSpPr>
        <p:spPr>
          <a:xfrm>
            <a:off x="311700" y="974035"/>
            <a:ext cx="8520600" cy="3841140"/>
          </a:xfrm>
          <a:prstGeom prst="rect">
            <a:avLst/>
          </a:prstGeom>
          <a:noFill/>
          <a:ln>
            <a:noFill/>
          </a:ln>
        </p:spPr>
        <p:txBody>
          <a:bodyPr spcFirstLastPara="1" wrap="square" lIns="91425" tIns="91425" rIns="91425" bIns="91425" anchor="t" anchorCtr="0">
            <a:noAutofit/>
          </a:bodyPr>
          <a:lstStyle/>
          <a:p>
            <a:pPr marL="425450" lvl="0" algn="l" rtl="0">
              <a:lnSpc>
                <a:spcPct val="115000"/>
              </a:lnSpc>
              <a:spcBef>
                <a:spcPts val="1200"/>
              </a:spcBef>
              <a:spcAft>
                <a:spcPts val="0"/>
              </a:spcAft>
              <a:buClr>
                <a:schemeClr val="dk1"/>
              </a:buClr>
              <a:buSzPts val="2300"/>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Statistics exists because of the prevalence of variability in the real world.</a:t>
            </a:r>
          </a:p>
          <a:p>
            <a:pPr marL="425450" lvl="0" algn="l" rtl="0">
              <a:lnSpc>
                <a:spcPct val="115000"/>
              </a:lnSpc>
              <a:spcBef>
                <a:spcPts val="1200"/>
              </a:spcBef>
              <a:spcAft>
                <a:spcPts val="0"/>
              </a:spcAft>
              <a:buClr>
                <a:schemeClr val="dk1"/>
              </a:buClr>
              <a:buSzPts val="2300"/>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In its simplest form, known as descriptive statistics, statistics provides us with tools—tables, graphs, averages, ranges, correlations—for organizing and summarizing the inevitable variability in collections of actual observations or scores </a:t>
            </a:r>
          </a:p>
          <a:p>
            <a:pPr marL="425450" lvl="0" algn="l" rtl="0">
              <a:lnSpc>
                <a:spcPct val="115000"/>
              </a:lnSpc>
              <a:spcBef>
                <a:spcPts val="1200"/>
              </a:spcBef>
              <a:spcAft>
                <a:spcPts val="0"/>
              </a:spcAft>
              <a:buClr>
                <a:schemeClr val="dk1"/>
              </a:buClr>
              <a:buSzPts val="2300"/>
              <a:buFont typeface="Wingdings" panose="05000000000000000000" pitchFamily="2" charset="2"/>
              <a:buChar char="Ø"/>
            </a:pPr>
            <a:r>
              <a:rPr lang="en" sz="2000" b="1" dirty="0">
                <a:solidFill>
                  <a:schemeClr val="tx1"/>
                </a:solidFill>
                <a:latin typeface="Times New Roman" panose="02020603050405020304" pitchFamily="18" charset="0"/>
                <a:cs typeface="Times New Roman" panose="02020603050405020304" pitchFamily="18" charset="0"/>
              </a:rPr>
              <a:t>Goal</a:t>
            </a:r>
            <a:r>
              <a:rPr lang="en" sz="2000" dirty="0">
                <a:solidFill>
                  <a:schemeClr val="tx1"/>
                </a:solidFill>
                <a:latin typeface="Times New Roman" panose="02020603050405020304" pitchFamily="18" charset="0"/>
                <a:cs typeface="Times New Roman" panose="02020603050405020304" pitchFamily="18" charset="0"/>
              </a:rPr>
              <a:t>: To make sense of raw data using statistical tools to identify patterns or trends.</a:t>
            </a:r>
            <a:endParaRPr sz="2000" dirty="0">
              <a:solidFill>
                <a:schemeClr val="tx1"/>
              </a:solidFill>
              <a:latin typeface="Times New Roman" panose="02020603050405020304" pitchFamily="18" charset="0"/>
              <a:cs typeface="Times New Roman" panose="02020603050405020304" pitchFamily="18" charset="0"/>
            </a:endParaRPr>
          </a:p>
          <a:p>
            <a:pPr marL="0" lvl="0" indent="0" algn="ctr" rtl="0">
              <a:lnSpc>
                <a:spcPct val="100000"/>
              </a:lnSpc>
              <a:spcBef>
                <a:spcPts val="1200"/>
              </a:spcBef>
              <a:spcAft>
                <a:spcPts val="0"/>
              </a:spcAft>
              <a:buSzPts val="2800"/>
              <a:buNone/>
            </a:pPr>
            <a:endParaRPr dirty="0"/>
          </a:p>
        </p:txBody>
      </p:sp>
      <p:sp>
        <p:nvSpPr>
          <p:cNvPr id="118" name="Google Shape;118;p2"/>
          <p:cNvSpPr txBox="1"/>
          <p:nvPr/>
        </p:nvSpPr>
        <p:spPr>
          <a:xfrm>
            <a:off x="5161425" y="4418525"/>
            <a:ext cx="40176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2"/>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escriptive Statistics ~ Definition &amp; Types">
            <a:extLst>
              <a:ext uri="{FF2B5EF4-FFF2-40B4-BE49-F238E27FC236}">
                <a16:creationId xmlns:a16="http://schemas.microsoft.com/office/drawing/2014/main" id="{81C4158F-A949-0EA0-677D-6F1A4447A1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938" y="190500"/>
            <a:ext cx="7858125"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23933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A2DE14C-4B88-24A1-E93F-AF92E631BE6F}"/>
              </a:ext>
            </a:extLst>
          </p:cNvPr>
          <p:cNvSpPr>
            <a:spLocks noGrp="1"/>
          </p:cNvSpPr>
          <p:nvPr>
            <p:ph type="title"/>
          </p:nvPr>
        </p:nvSpPr>
        <p:spPr/>
        <p:txBody>
          <a:bodyPr>
            <a:normAutofit fontScale="90000"/>
          </a:bodyPr>
          <a:lstStyle/>
          <a:p>
            <a:r>
              <a:rPr lang="en-US" sz="4400" b="1" dirty="0">
                <a:solidFill>
                  <a:srgbClr val="FF0000"/>
                </a:solidFill>
                <a:latin typeface="Times New Roman" panose="02020603050405020304" pitchFamily="18" charset="0"/>
                <a:cs typeface="Times New Roman" panose="02020603050405020304" pitchFamily="18" charset="0"/>
              </a:rPr>
              <a:t>Applications </a:t>
            </a:r>
            <a:br>
              <a:rPr lang="en-US" sz="2800" dirty="0">
                <a:latin typeface="Times New Roman" panose="02020603050405020304" pitchFamily="18" charset="0"/>
                <a:cs typeface="Times New Roman" panose="02020603050405020304" pitchFamily="18" charset="0"/>
              </a:rPr>
            </a:br>
            <a:endParaRPr lang="en-IN" dirty="0"/>
          </a:p>
        </p:txBody>
      </p:sp>
      <p:sp>
        <p:nvSpPr>
          <p:cNvPr id="5" name="Text Placeholder 4">
            <a:extLst>
              <a:ext uri="{FF2B5EF4-FFF2-40B4-BE49-F238E27FC236}">
                <a16:creationId xmlns:a16="http://schemas.microsoft.com/office/drawing/2014/main" id="{D0E5758D-88E5-2D1E-C6D0-21C5C295ADD0}"/>
              </a:ext>
            </a:extLst>
          </p:cNvPr>
          <p:cNvSpPr>
            <a:spLocks noGrp="1"/>
          </p:cNvSpPr>
          <p:nvPr>
            <p:ph type="body" idx="1"/>
          </p:nvPr>
        </p:nvSpPr>
        <p:spPr/>
        <p:txBody>
          <a:bodyPr/>
          <a:lstStyle/>
          <a:p>
            <a:pPr>
              <a:buFont typeface="+mj-lt"/>
              <a:buAutoNum type="arabicPeriod"/>
            </a:pPr>
            <a:r>
              <a:rPr lang="en-US" sz="1800" b="1" dirty="0">
                <a:solidFill>
                  <a:schemeClr val="tx1"/>
                </a:solidFill>
                <a:latin typeface="Times New Roman" panose="02020603050405020304" pitchFamily="18" charset="0"/>
                <a:cs typeface="Times New Roman" panose="02020603050405020304" pitchFamily="18" charset="0"/>
              </a:rPr>
              <a:t>Business and Economics</a:t>
            </a:r>
            <a:r>
              <a:rPr lang="en-US" sz="1800" dirty="0">
                <a:solidFill>
                  <a:schemeClr val="tx1"/>
                </a:solidFill>
                <a:latin typeface="Times New Roman" panose="02020603050405020304" pitchFamily="18" charset="0"/>
                <a:cs typeface="Times New Roman" panose="02020603050405020304" pitchFamily="18" charset="0"/>
              </a:rPr>
              <a:t>: Summarizing sales data, customer demographics, and financial performance using measures like mean sales, median income, or standard deviations in profits.</a:t>
            </a:r>
          </a:p>
          <a:p>
            <a:pPr>
              <a:buFont typeface="+mj-lt"/>
              <a:buAutoNum type="arabicPeriod"/>
            </a:pPr>
            <a:r>
              <a:rPr lang="en-US" sz="1800" b="1" dirty="0">
                <a:solidFill>
                  <a:schemeClr val="tx1"/>
                </a:solidFill>
                <a:latin typeface="Times New Roman" panose="02020603050405020304" pitchFamily="18" charset="0"/>
                <a:cs typeface="Times New Roman" panose="02020603050405020304" pitchFamily="18" charset="0"/>
              </a:rPr>
              <a:t>Quality Control in Engineering</a:t>
            </a:r>
            <a:r>
              <a:rPr lang="en-US" sz="1800" dirty="0">
                <a:solidFill>
                  <a:schemeClr val="tx1"/>
                </a:solidFill>
                <a:latin typeface="Times New Roman" panose="02020603050405020304" pitchFamily="18" charset="0"/>
                <a:cs typeface="Times New Roman" panose="02020603050405020304" pitchFamily="18" charset="0"/>
              </a:rPr>
              <a:t>: Analyzing production data to assess consistency, such as using histograms to understand variations in product dimensions or calculating averages to monitor quality.</a:t>
            </a:r>
          </a:p>
          <a:p>
            <a:pPr>
              <a:buFont typeface="+mj-lt"/>
              <a:buAutoNum type="arabicPeriod"/>
            </a:pPr>
            <a:r>
              <a:rPr lang="en-US" sz="1800" b="1" dirty="0">
                <a:solidFill>
                  <a:schemeClr val="tx1"/>
                </a:solidFill>
                <a:latin typeface="Times New Roman" panose="02020603050405020304" pitchFamily="18" charset="0"/>
                <a:cs typeface="Times New Roman" panose="02020603050405020304" pitchFamily="18" charset="0"/>
              </a:rPr>
              <a:t>Healthcare</a:t>
            </a:r>
            <a:r>
              <a:rPr lang="en-US" sz="1800" dirty="0">
                <a:solidFill>
                  <a:schemeClr val="tx1"/>
                </a:solidFill>
                <a:latin typeface="Times New Roman" panose="02020603050405020304" pitchFamily="18" charset="0"/>
                <a:cs typeface="Times New Roman" panose="02020603050405020304" pitchFamily="18" charset="0"/>
              </a:rPr>
              <a:t>: Summarizing patient data, like average blood pressure levels, body temperature, or demographic information to identify patterns.</a:t>
            </a:r>
          </a:p>
          <a:p>
            <a:pPr>
              <a:buFont typeface="+mj-lt"/>
              <a:buAutoNum type="arabicPeriod"/>
            </a:pPr>
            <a:r>
              <a:rPr lang="en-US" sz="1800" b="1" dirty="0">
                <a:solidFill>
                  <a:schemeClr val="tx1"/>
                </a:solidFill>
                <a:latin typeface="Times New Roman" panose="02020603050405020304" pitchFamily="18" charset="0"/>
                <a:cs typeface="Times New Roman" panose="02020603050405020304" pitchFamily="18" charset="0"/>
              </a:rPr>
              <a:t>Social Sciences</a:t>
            </a:r>
            <a:r>
              <a:rPr lang="en-US" sz="1800" dirty="0">
                <a:solidFill>
                  <a:schemeClr val="tx1"/>
                </a:solidFill>
                <a:latin typeface="Times New Roman" panose="02020603050405020304" pitchFamily="18" charset="0"/>
                <a:cs typeface="Times New Roman" panose="02020603050405020304" pitchFamily="18" charset="0"/>
              </a:rPr>
              <a:t>: Summarizing survey responses using central tendency measures (e.g., mean, median, mode) to understand societal trends and behaviors</a:t>
            </a:r>
          </a:p>
        </p:txBody>
      </p:sp>
    </p:spTree>
    <p:extLst>
      <p:ext uri="{BB962C8B-B14F-4D97-AF65-F5344CB8AC3E}">
        <p14:creationId xmlns:p14="http://schemas.microsoft.com/office/powerpoint/2010/main" val="31647581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01F4BA5-107B-1B6F-D1BB-CC6E9707C4D6}"/>
              </a:ext>
            </a:extLst>
          </p:cNvPr>
          <p:cNvSpPr txBox="1"/>
          <p:nvPr/>
        </p:nvSpPr>
        <p:spPr>
          <a:xfrm>
            <a:off x="586410" y="357809"/>
            <a:ext cx="7752520" cy="3170099"/>
          </a:xfrm>
          <a:prstGeom prst="rect">
            <a:avLst/>
          </a:prstGeom>
          <a:noFill/>
        </p:spPr>
        <p:txBody>
          <a:bodyPr wrap="square">
            <a:spAutoFit/>
          </a:bodyPr>
          <a:lstStyle/>
          <a:p>
            <a:pPr marL="457200" indent="-457200">
              <a:buFont typeface="+mj-lt"/>
              <a:buAutoNum type="arabicPeriod" startAt="5"/>
            </a:pPr>
            <a:endParaRPr lang="en-US" sz="2000" b="1" dirty="0">
              <a:latin typeface="Times New Roman" panose="02020603050405020304" pitchFamily="18" charset="0"/>
              <a:cs typeface="Times New Roman" panose="02020603050405020304" pitchFamily="18" charset="0"/>
            </a:endParaRPr>
          </a:p>
          <a:p>
            <a:pPr marL="457200" indent="-457200">
              <a:buFont typeface="+mj-lt"/>
              <a:buAutoNum type="arabicPeriod" startAt="5"/>
            </a:pPr>
            <a:endParaRPr lang="en-US" sz="2000" b="1" dirty="0">
              <a:latin typeface="Times New Roman" panose="02020603050405020304" pitchFamily="18" charset="0"/>
              <a:cs typeface="Times New Roman" panose="02020603050405020304" pitchFamily="18" charset="0"/>
            </a:endParaRPr>
          </a:p>
          <a:p>
            <a:pPr marL="457200" indent="-457200">
              <a:buFont typeface="+mj-lt"/>
              <a:buAutoNum type="arabicPeriod" startAt="5"/>
            </a:pPr>
            <a:r>
              <a:rPr lang="en-US" sz="2000" b="1" dirty="0">
                <a:latin typeface="Times New Roman" panose="02020603050405020304" pitchFamily="18" charset="0"/>
                <a:cs typeface="Times New Roman" panose="02020603050405020304" pitchFamily="18" charset="0"/>
              </a:rPr>
              <a:t>Sports Analytics</a:t>
            </a:r>
            <a:r>
              <a:rPr lang="en-US" sz="2000" dirty="0">
                <a:latin typeface="Times New Roman" panose="02020603050405020304" pitchFamily="18" charset="0"/>
                <a:cs typeface="Times New Roman" panose="02020603050405020304" pitchFamily="18" charset="0"/>
              </a:rPr>
              <a:t>: Providing information about players, like average points per game, highest scores, or batting averages, to assess performance.</a:t>
            </a:r>
          </a:p>
          <a:p>
            <a:pPr marL="457200" indent="-457200">
              <a:buFont typeface="+mj-lt"/>
              <a:buAutoNum type="arabicPeriod" startAt="5"/>
            </a:pPr>
            <a:r>
              <a:rPr lang="en-US" sz="2000" b="1" dirty="0">
                <a:latin typeface="Times New Roman" panose="02020603050405020304" pitchFamily="18" charset="0"/>
                <a:cs typeface="Times New Roman" panose="02020603050405020304" pitchFamily="18" charset="0"/>
              </a:rPr>
              <a:t>Environmental Studies</a:t>
            </a:r>
            <a:r>
              <a:rPr lang="en-US" sz="2000" dirty="0">
                <a:latin typeface="Times New Roman" panose="02020603050405020304" pitchFamily="18" charset="0"/>
                <a:cs typeface="Times New Roman" panose="02020603050405020304" pitchFamily="18" charset="0"/>
              </a:rPr>
              <a:t>: Summarizing temperature, rainfall, and other climate data to identify patterns and monitor environmental changes.</a:t>
            </a:r>
          </a:p>
          <a:p>
            <a:pPr marL="457200" indent="-457200">
              <a:buFont typeface="+mj-lt"/>
              <a:buAutoNum type="arabicPeriod" startAt="5"/>
            </a:pPr>
            <a:r>
              <a:rPr lang="en-US" sz="2000" b="1" dirty="0">
                <a:latin typeface="Times New Roman" panose="02020603050405020304" pitchFamily="18" charset="0"/>
                <a:cs typeface="Times New Roman" panose="02020603050405020304" pitchFamily="18" charset="0"/>
              </a:rPr>
              <a:t>Education</a:t>
            </a:r>
            <a:r>
              <a:rPr lang="en-US" sz="2000" dirty="0">
                <a:latin typeface="Times New Roman" panose="02020603050405020304" pitchFamily="18" charset="0"/>
                <a:cs typeface="Times New Roman" panose="02020603050405020304" pitchFamily="18" charset="0"/>
              </a:rPr>
              <a:t>: Calculating average exam scores, pass rates, and other statistics to evaluate student performance.</a:t>
            </a:r>
          </a:p>
        </p:txBody>
      </p:sp>
    </p:spTree>
    <p:extLst>
      <p:ext uri="{BB962C8B-B14F-4D97-AF65-F5344CB8AC3E}">
        <p14:creationId xmlns:p14="http://schemas.microsoft.com/office/powerpoint/2010/main" val="6577518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3"/>
          <p:cNvSpPr txBox="1">
            <a:spLocks noGrp="1"/>
          </p:cNvSpPr>
          <p:nvPr>
            <p:ph type="title"/>
          </p:nvPr>
        </p:nvSpPr>
        <p:spPr>
          <a:xfrm>
            <a:off x="444000" y="136350"/>
            <a:ext cx="8520600" cy="678659"/>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3600" b="1" dirty="0">
                <a:solidFill>
                  <a:srgbClr val="FF0000"/>
                </a:solidFill>
                <a:latin typeface="Times New Roman" panose="02020603050405020304" pitchFamily="18" charset="0"/>
                <a:cs typeface="Times New Roman" panose="02020603050405020304" pitchFamily="18" charset="0"/>
              </a:rPr>
              <a:t>Population vs Sample</a:t>
            </a:r>
            <a:endParaRPr sz="3600" b="1" dirty="0">
              <a:solidFill>
                <a:srgbClr val="FF0000"/>
              </a:solidFill>
              <a:latin typeface="Times New Roman" panose="02020603050405020304" pitchFamily="18" charset="0"/>
              <a:cs typeface="Times New Roman" panose="02020603050405020304" pitchFamily="18" charset="0"/>
            </a:endParaRPr>
          </a:p>
        </p:txBody>
      </p:sp>
      <p:sp>
        <p:nvSpPr>
          <p:cNvPr id="124" name="Google Shape;124;p3"/>
          <p:cNvSpPr txBox="1">
            <a:spLocks noGrp="1"/>
          </p:cNvSpPr>
          <p:nvPr>
            <p:ph type="body" idx="1"/>
          </p:nvPr>
        </p:nvSpPr>
        <p:spPr>
          <a:xfrm>
            <a:off x="311700" y="735496"/>
            <a:ext cx="8520600" cy="4264804"/>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2000" b="1" dirty="0">
                <a:solidFill>
                  <a:schemeClr val="dk1"/>
                </a:solidFill>
                <a:latin typeface="Times New Roman" panose="02020603050405020304" pitchFamily="18" charset="0"/>
                <a:cs typeface="Times New Roman" panose="02020603050405020304" pitchFamily="18" charset="0"/>
              </a:rPr>
              <a:t>Population</a:t>
            </a:r>
            <a:r>
              <a:rPr lang="en" sz="2000" dirty="0">
                <a:solidFill>
                  <a:schemeClr val="dk1"/>
                </a:solidFill>
                <a:latin typeface="Times New Roman" panose="02020603050405020304" pitchFamily="18" charset="0"/>
                <a:cs typeface="Times New Roman" panose="02020603050405020304" pitchFamily="18" charset="0"/>
              </a:rPr>
              <a:t>: The complete set of all possible observations or measurements that could be made. It represents the entirety of individuals or instances about which you want to make inferences.</a:t>
            </a:r>
            <a:endParaRPr sz="2000" dirty="0">
              <a:solidFill>
                <a:schemeClr val="dk1"/>
              </a:solidFill>
              <a:latin typeface="Times New Roman" panose="02020603050405020304" pitchFamily="18" charset="0"/>
              <a:cs typeface="Times New Roman" panose="02020603050405020304" pitchFamily="18" charset="0"/>
            </a:endParaRPr>
          </a:p>
          <a:p>
            <a:pPr marL="457200" lvl="0" indent="-374650" algn="l" rtl="0">
              <a:lnSpc>
                <a:spcPct val="115000"/>
              </a:lnSpc>
              <a:spcBef>
                <a:spcPts val="1200"/>
              </a:spcBef>
              <a:spcAft>
                <a:spcPts val="0"/>
              </a:spcAft>
              <a:buClr>
                <a:schemeClr val="dk1"/>
              </a:buClr>
              <a:buSzPts val="2300"/>
              <a:buChar char="●"/>
            </a:pPr>
            <a:r>
              <a:rPr lang="en" sz="2000" b="1" dirty="0">
                <a:solidFill>
                  <a:schemeClr val="dk1"/>
                </a:solidFill>
                <a:latin typeface="Times New Roman" panose="02020603050405020304" pitchFamily="18" charset="0"/>
                <a:cs typeface="Times New Roman" panose="02020603050405020304" pitchFamily="18" charset="0"/>
              </a:rPr>
              <a:t>Example</a:t>
            </a:r>
            <a:r>
              <a:rPr lang="en" sz="2000" dirty="0">
                <a:solidFill>
                  <a:schemeClr val="dk1"/>
                </a:solidFill>
                <a:latin typeface="Times New Roman" panose="02020603050405020304" pitchFamily="18" charset="0"/>
                <a:cs typeface="Times New Roman" panose="02020603050405020304" pitchFamily="18" charset="0"/>
              </a:rPr>
              <a:t>: All B.Tech students in a university.</a:t>
            </a:r>
            <a:endParaRPr sz="2000" b="1"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200"/>
              </a:spcBef>
              <a:spcAft>
                <a:spcPts val="0"/>
              </a:spcAft>
              <a:buSzPts val="1800"/>
              <a:buNone/>
            </a:pPr>
            <a:r>
              <a:rPr lang="en" sz="2000" b="1" dirty="0">
                <a:solidFill>
                  <a:schemeClr val="dk1"/>
                </a:solidFill>
                <a:latin typeface="Times New Roman" panose="02020603050405020304" pitchFamily="18" charset="0"/>
                <a:cs typeface="Times New Roman" panose="02020603050405020304" pitchFamily="18" charset="0"/>
              </a:rPr>
              <a:t>Sample</a:t>
            </a:r>
            <a:r>
              <a:rPr lang="en" sz="2000" dirty="0">
                <a:solidFill>
                  <a:schemeClr val="dk1"/>
                </a:solidFill>
                <a:latin typeface="Times New Roman" panose="02020603050405020304" pitchFamily="18" charset="0"/>
                <a:cs typeface="Times New Roman" panose="02020603050405020304" pitchFamily="18" charset="0"/>
              </a:rPr>
              <a:t>: A subset of the population selected for analysis. It is used to draw conclusions about the population.</a:t>
            </a:r>
          </a:p>
          <a:p>
            <a:pPr marL="457200" lvl="0" indent="-374650" algn="l" rtl="0">
              <a:lnSpc>
                <a:spcPct val="115000"/>
              </a:lnSpc>
              <a:spcBef>
                <a:spcPts val="1200"/>
              </a:spcBef>
              <a:spcAft>
                <a:spcPts val="0"/>
              </a:spcAft>
              <a:buClr>
                <a:schemeClr val="dk1"/>
              </a:buClr>
              <a:buSzPts val="2300"/>
              <a:buChar char="●"/>
            </a:pPr>
            <a:r>
              <a:rPr lang="en-US" sz="2000" b="1" dirty="0">
                <a:solidFill>
                  <a:schemeClr val="dk1"/>
                </a:solidFill>
                <a:latin typeface="Times New Roman" panose="02020603050405020304" pitchFamily="18" charset="0"/>
                <a:cs typeface="Times New Roman" panose="02020603050405020304" pitchFamily="18" charset="0"/>
              </a:rPr>
              <a:t>Example</a:t>
            </a:r>
            <a:r>
              <a:rPr lang="en-US" sz="2000" dirty="0">
                <a:solidFill>
                  <a:schemeClr val="dk1"/>
                </a:solidFill>
                <a:latin typeface="Times New Roman" panose="02020603050405020304" pitchFamily="18" charset="0"/>
                <a:cs typeface="Times New Roman" panose="02020603050405020304" pitchFamily="18" charset="0"/>
              </a:rPr>
              <a:t>: A group of 100 randomly selected </a:t>
            </a:r>
            <a:r>
              <a:rPr lang="en-US" sz="2000" dirty="0" err="1">
                <a:solidFill>
                  <a:schemeClr val="dk1"/>
                </a:solidFill>
                <a:latin typeface="Times New Roman" panose="02020603050405020304" pitchFamily="18" charset="0"/>
                <a:cs typeface="Times New Roman" panose="02020603050405020304" pitchFamily="18" charset="0"/>
              </a:rPr>
              <a:t>B.Tech</a:t>
            </a:r>
            <a:r>
              <a:rPr lang="en-US" sz="2000" dirty="0">
                <a:solidFill>
                  <a:schemeClr val="dk1"/>
                </a:solidFill>
                <a:latin typeface="Times New Roman" panose="02020603050405020304" pitchFamily="18" charset="0"/>
                <a:cs typeface="Times New Roman" panose="02020603050405020304" pitchFamily="18" charset="0"/>
              </a:rPr>
              <a:t> students.</a:t>
            </a:r>
          </a:p>
          <a:p>
            <a:pPr marL="0" lvl="0" indent="0" algn="l" rtl="0">
              <a:lnSpc>
                <a:spcPct val="115000"/>
              </a:lnSpc>
              <a:spcBef>
                <a:spcPts val="1200"/>
              </a:spcBef>
              <a:spcAft>
                <a:spcPts val="0"/>
              </a:spcAft>
              <a:buClr>
                <a:schemeClr val="dk1"/>
              </a:buClr>
              <a:buSzPts val="1100"/>
              <a:buFont typeface="Arial"/>
              <a:buNone/>
            </a:pPr>
            <a:r>
              <a:rPr lang="en-US" sz="2000" b="1" dirty="0">
                <a:solidFill>
                  <a:schemeClr val="dk1"/>
                </a:solidFill>
                <a:latin typeface="Times New Roman" panose="02020603050405020304" pitchFamily="18" charset="0"/>
                <a:cs typeface="Times New Roman" panose="02020603050405020304" pitchFamily="18" charset="0"/>
              </a:rPr>
              <a:t>Note</a:t>
            </a:r>
            <a:r>
              <a:rPr lang="en-US" sz="2000" dirty="0">
                <a:solidFill>
                  <a:schemeClr val="dk1"/>
                </a:solidFill>
                <a:latin typeface="Times New Roman" panose="02020603050405020304" pitchFamily="18" charset="0"/>
                <a:cs typeface="Times New Roman" panose="02020603050405020304" pitchFamily="18" charset="0"/>
              </a:rPr>
              <a:t>: The size of the sample, denoted by n  and the size of the population, denoted by N, are related in sample studies.</a:t>
            </a:r>
          </a:p>
          <a:p>
            <a:pPr marL="0" lvl="0" indent="0" algn="l" rtl="0">
              <a:lnSpc>
                <a:spcPct val="115000"/>
              </a:lnSpc>
              <a:spcBef>
                <a:spcPts val="1200"/>
              </a:spcBef>
              <a:spcAft>
                <a:spcPts val="0"/>
              </a:spcAft>
              <a:buSzPts val="1800"/>
              <a:buNone/>
            </a:pPr>
            <a:endParaRPr sz="2000" dirty="0">
              <a:solidFill>
                <a:schemeClr val="dk1"/>
              </a:solidFill>
              <a:latin typeface="Times New Roman" panose="02020603050405020304" pitchFamily="18" charset="0"/>
              <a:cs typeface="Times New Roman" panose="02020603050405020304" pitchFamily="18" charset="0"/>
            </a:endParaRPr>
          </a:p>
          <a:p>
            <a:pPr marL="457200" lvl="0" indent="0" algn="l" rtl="0">
              <a:lnSpc>
                <a:spcPct val="115000"/>
              </a:lnSpc>
              <a:spcBef>
                <a:spcPts val="1200"/>
              </a:spcBef>
              <a:spcAft>
                <a:spcPts val="0"/>
              </a:spcAft>
              <a:buSzPts val="1800"/>
              <a:buNone/>
            </a:pPr>
            <a:endParaRPr sz="2300" dirty="0">
              <a:solidFill>
                <a:schemeClr val="dk1"/>
              </a:solidFill>
            </a:endParaRPr>
          </a:p>
          <a:p>
            <a:pPr marL="0" lvl="0" indent="0" algn="l" rtl="0">
              <a:lnSpc>
                <a:spcPct val="115000"/>
              </a:lnSpc>
              <a:spcBef>
                <a:spcPts val="1200"/>
              </a:spcBef>
              <a:spcAft>
                <a:spcPts val="1200"/>
              </a:spcAft>
              <a:buSzPts val="1800"/>
              <a:buNone/>
            </a:pP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350BBAD-877F-AC65-0553-0B38ACBBAFC6}"/>
              </a:ext>
            </a:extLst>
          </p:cNvPr>
          <p:cNvPicPr>
            <a:picLocks noChangeAspect="1"/>
          </p:cNvPicPr>
          <p:nvPr/>
        </p:nvPicPr>
        <p:blipFill>
          <a:blip r:embed="rId2"/>
          <a:stretch>
            <a:fillRect/>
          </a:stretch>
        </p:blipFill>
        <p:spPr>
          <a:xfrm>
            <a:off x="310526" y="937880"/>
            <a:ext cx="8522947" cy="3267739"/>
          </a:xfrm>
          <a:prstGeom prst="rect">
            <a:avLst/>
          </a:prstGeom>
        </p:spPr>
      </p:pic>
    </p:spTree>
    <p:extLst>
      <p:ext uri="{BB962C8B-B14F-4D97-AF65-F5344CB8AC3E}">
        <p14:creationId xmlns:p14="http://schemas.microsoft.com/office/powerpoint/2010/main" val="7682946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7F16AF1-339B-F40A-3753-C6BAF4694AD0}"/>
              </a:ext>
            </a:extLst>
          </p:cNvPr>
          <p:cNvSpPr>
            <a:spLocks noGrp="1"/>
          </p:cNvSpPr>
          <p:nvPr>
            <p:ph type="title" idx="4294967295"/>
          </p:nvPr>
        </p:nvSpPr>
        <p:spPr>
          <a:xfrm>
            <a:off x="0" y="444500"/>
            <a:ext cx="8521700" cy="4375978"/>
          </a:xfrm>
        </p:spPr>
        <p:txBody>
          <a:bodyPr wrap="square" anchor="ctr">
            <a:noAutofit/>
          </a:bodyPr>
          <a:lstStyle/>
          <a:p>
            <a:pPr>
              <a:lnSpc>
                <a:spcPct val="90000"/>
              </a:lnSpc>
            </a:pPr>
            <a:r>
              <a:rPr lang="en-US" sz="2400" b="1" dirty="0">
                <a:solidFill>
                  <a:srgbClr val="FF0000"/>
                </a:solidFill>
                <a:latin typeface="Times New Roman" panose="02020603050405020304" pitchFamily="18" charset="0"/>
                <a:cs typeface="Times New Roman" panose="02020603050405020304" pitchFamily="18" charset="0"/>
              </a:rPr>
              <a:t>Data/Statistical Variable: </a:t>
            </a:r>
            <a:r>
              <a:rPr lang="en-US" sz="2400" dirty="0">
                <a:latin typeface="Times New Roman" panose="02020603050405020304" pitchFamily="18" charset="0"/>
                <a:cs typeface="Times New Roman" panose="02020603050405020304" pitchFamily="18" charset="0"/>
              </a:rPr>
              <a:t>A collection of actual observations or scores in a survey or an experiment</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Any statistical analysis is performed on data.</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endParaRPr lang="en-IN" sz="24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47974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4" name="Picture 12" descr="Variables: Quantitative (Numerical) vs Qualitative (Categorical ...">
            <a:extLst>
              <a:ext uri="{FF2B5EF4-FFF2-40B4-BE49-F238E27FC236}">
                <a16:creationId xmlns:a16="http://schemas.microsoft.com/office/drawing/2014/main" id="{9F340511-0C50-7AA1-7C4A-7DF28AD87A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4948" y="119270"/>
            <a:ext cx="6857999" cy="48602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22301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PPT - Section 1-2 Data Classification PowerPoint Presentation, free ...">
            <a:extLst>
              <a:ext uri="{FF2B5EF4-FFF2-40B4-BE49-F238E27FC236}">
                <a16:creationId xmlns:a16="http://schemas.microsoft.com/office/drawing/2014/main" id="{1841B83E-D2E7-5B41-44E1-DC16DAA7FD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49086"/>
            <a:ext cx="6858000" cy="48105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42490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A72C1E8-8D47-9702-E8E9-5BBD02165000}"/>
              </a:ext>
            </a:extLst>
          </p:cNvPr>
          <p:cNvPicPr>
            <a:picLocks noChangeAspect="1"/>
          </p:cNvPicPr>
          <p:nvPr/>
        </p:nvPicPr>
        <p:blipFill>
          <a:blip r:embed="rId2"/>
          <a:stretch>
            <a:fillRect/>
          </a:stretch>
        </p:blipFill>
        <p:spPr>
          <a:xfrm>
            <a:off x="500270" y="1066799"/>
            <a:ext cx="6718852" cy="3742083"/>
          </a:xfrm>
          <a:prstGeom prst="rect">
            <a:avLst/>
          </a:prstGeom>
        </p:spPr>
      </p:pic>
      <p:sp>
        <p:nvSpPr>
          <p:cNvPr id="6" name="Title 5">
            <a:extLst>
              <a:ext uri="{FF2B5EF4-FFF2-40B4-BE49-F238E27FC236}">
                <a16:creationId xmlns:a16="http://schemas.microsoft.com/office/drawing/2014/main" id="{A62BAF6E-6A1B-B692-44EE-8E1BF81EA6B9}"/>
              </a:ext>
            </a:extLst>
          </p:cNvPr>
          <p:cNvSpPr>
            <a:spLocks noGrp="1"/>
          </p:cNvSpPr>
          <p:nvPr>
            <p:ph type="title"/>
          </p:nvPr>
        </p:nvSpPr>
        <p:spPr/>
        <p:txBody>
          <a:bodyPr>
            <a:normAutofit fontScale="90000"/>
          </a:bodyPr>
          <a:lstStyle/>
          <a:p>
            <a:r>
              <a:rPr lang="en-US" sz="28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Data representation: </a:t>
            </a:r>
            <a:r>
              <a:rPr lang="en" sz="2800" b="1" dirty="0">
                <a:solidFill>
                  <a:srgbClr val="FF0000"/>
                </a:solidFill>
                <a:latin typeface="Times New Roman" panose="02020603050405020304" pitchFamily="18" charset="0"/>
                <a:cs typeface="Times New Roman" panose="02020603050405020304" pitchFamily="18" charset="0"/>
              </a:rPr>
              <a:t>Grouped vs Ungrouped</a:t>
            </a:r>
            <a:endParaRPr lang="en-IN" dirty="0"/>
          </a:p>
        </p:txBody>
      </p:sp>
    </p:spTree>
    <p:extLst>
      <p:ext uri="{BB962C8B-B14F-4D97-AF65-F5344CB8AC3E}">
        <p14:creationId xmlns:p14="http://schemas.microsoft.com/office/powerpoint/2010/main" val="23669685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692C828-E806-013D-7FCD-94AD11B6DEA2}"/>
              </a:ext>
            </a:extLst>
          </p:cNvPr>
          <p:cNvSpPr txBox="1"/>
          <p:nvPr/>
        </p:nvSpPr>
        <p:spPr>
          <a:xfrm>
            <a:off x="200892" y="450273"/>
            <a:ext cx="7802205" cy="4039568"/>
          </a:xfrm>
          <a:prstGeom prst="rect">
            <a:avLst/>
          </a:prstGeom>
          <a:no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342900" indent="-342900">
              <a:buFont typeface="Wingdings" panose="05000000000000000000" pitchFamily="2" charset="2"/>
              <a:buChar char="Ø"/>
            </a:pPr>
            <a:r>
              <a:rPr lang="en-IN" sz="1800" b="1" dirty="0">
                <a:solidFill>
                  <a:srgbClr val="FF0000"/>
                </a:solidFill>
                <a:latin typeface="Times New Roman" panose="02020603050405020304" pitchFamily="18" charset="0"/>
                <a:cs typeface="Times New Roman" panose="02020603050405020304" pitchFamily="18" charset="0"/>
              </a:rPr>
              <a:t>FREQUENCY DISTRIBUTIONS</a:t>
            </a:r>
          </a:p>
          <a:p>
            <a:r>
              <a:rPr lang="en-US" sz="1800" dirty="0">
                <a:solidFill>
                  <a:srgbClr val="273239"/>
                </a:solidFill>
                <a:latin typeface="Times New Roman" panose="02020603050405020304" pitchFamily="18" charset="0"/>
                <a:cs typeface="Times New Roman" panose="02020603050405020304" pitchFamily="18" charset="0"/>
              </a:rPr>
              <a:t>R</a:t>
            </a:r>
            <a:r>
              <a:rPr lang="en-US" sz="1800" b="0" i="0" dirty="0">
                <a:solidFill>
                  <a:srgbClr val="273239"/>
                </a:solidFill>
                <a:effectLst/>
                <a:latin typeface="Times New Roman" panose="02020603050405020304" pitchFamily="18" charset="0"/>
                <a:cs typeface="Times New Roman" panose="02020603050405020304" pitchFamily="18" charset="0"/>
              </a:rPr>
              <a:t>epresents the pattern of how frequently each value of a variable appears in a dataset. It shows the number of occurrences for each possible value within the dataset.</a:t>
            </a:r>
          </a:p>
          <a:p>
            <a:endParaRPr lang="en-US" sz="1800" b="0" i="0" dirty="0">
              <a:solidFill>
                <a:srgbClr val="273239"/>
              </a:solidFill>
              <a:effectLst/>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kumimoji="0" lang="en-US" altLang="en-US" sz="18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Frequency Distribution Table</a:t>
            </a:r>
          </a:p>
          <a:p>
            <a:r>
              <a:rPr kumimoji="0" lang="en-US" altLang="en-US" sz="18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A way </a:t>
            </a:r>
            <a:r>
              <a:rPr kumimoji="0" lang="en-US" altLang="en-US" sz="1800" b="1"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to organize and present data in a tabular form which helps us to summarize the large dataset into a concise table. </a:t>
            </a:r>
          </a:p>
          <a:p>
            <a:endParaRPr lang="en-US" altLang="en-US" sz="1800" b="1" dirty="0">
              <a:solidFill>
                <a:srgbClr val="273239"/>
              </a:solidFill>
              <a:latin typeface="Times New Roman" panose="02020603050405020304" pitchFamily="18" charset="0"/>
              <a:cs typeface="Times New Roman" panose="02020603050405020304" pitchFamily="18" charset="0"/>
            </a:endParaRPr>
          </a:p>
          <a:p>
            <a:r>
              <a:rPr kumimoji="0" lang="en-US" altLang="en-US" sz="18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In the frequency distribution table, there are two columns one representing the data either in the form of a range or an individual data set and the other column shows the frequency of each interval or individual</a:t>
            </a:r>
            <a:r>
              <a:rPr kumimoji="0" lang="en-US" altLang="en-US" sz="1800" b="0" i="0" u="none" strike="noStrike" cap="none" normalizeH="0" baseline="0" dirty="0">
                <a:ln>
                  <a:noFill/>
                </a:ln>
                <a:solidFill>
                  <a:srgbClr val="273239"/>
                </a:solidFill>
                <a:effectLst/>
                <a:latin typeface="Nunito" pitchFamily="2" charset="0"/>
              </a:rPr>
              <a:t>.</a:t>
            </a:r>
            <a:endParaRPr kumimoji="0" lang="en-US" altLang="en-US" sz="1800" b="0" i="0" u="none" strike="noStrike" cap="none" normalizeH="0" baseline="0" dirty="0">
              <a:ln>
                <a:noFill/>
              </a:ln>
              <a:solidFill>
                <a:schemeClr val="tx1"/>
              </a:solidFill>
              <a:effectLst/>
            </a:endParaRPr>
          </a:p>
          <a:p>
            <a:endParaRPr lang="en-US" sz="2100" b="0" i="0" dirty="0">
              <a:solidFill>
                <a:srgbClr val="273239"/>
              </a:solidFill>
              <a:effectLst/>
              <a:latin typeface="Nunito" panose="020F0502020204030204" pitchFamily="2" charset="0"/>
            </a:endParaRPr>
          </a:p>
          <a:p>
            <a:endParaRPr lang="en-IN" sz="2100" b="1" dirty="0">
              <a:solidFill>
                <a:srgbClr val="FF0000"/>
              </a:solidFill>
            </a:endParaRPr>
          </a:p>
        </p:txBody>
      </p:sp>
    </p:spTree>
    <p:extLst>
      <p:ext uri="{BB962C8B-B14F-4D97-AF65-F5344CB8AC3E}">
        <p14:creationId xmlns:p14="http://schemas.microsoft.com/office/powerpoint/2010/main" val="19839481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F3F0DF79-0DE4-C0AF-7C79-FE26F0007F47}"/>
              </a:ext>
            </a:extLst>
          </p:cNvPr>
          <p:cNvGraphicFramePr>
            <a:graphicFrameLocks noGrp="1"/>
          </p:cNvGraphicFramePr>
          <p:nvPr/>
        </p:nvGraphicFramePr>
        <p:xfrm>
          <a:off x="498764" y="1145957"/>
          <a:ext cx="7239000" cy="3659500"/>
        </p:xfrm>
        <a:graphic>
          <a:graphicData uri="http://schemas.openxmlformats.org/drawingml/2006/table">
            <a:tbl>
              <a:tblPr>
                <a:tableStyleId>{2D5ABB26-0587-4C30-8999-92F81FD0307C}</a:tableStyleId>
              </a:tblPr>
              <a:tblGrid>
                <a:gridCol w="3619500">
                  <a:extLst>
                    <a:ext uri="{9D8B030D-6E8A-4147-A177-3AD203B41FA5}">
                      <a16:colId xmlns:a16="http://schemas.microsoft.com/office/drawing/2014/main" val="610414490"/>
                    </a:ext>
                  </a:extLst>
                </a:gridCol>
                <a:gridCol w="3619500">
                  <a:extLst>
                    <a:ext uri="{9D8B030D-6E8A-4147-A177-3AD203B41FA5}">
                      <a16:colId xmlns:a16="http://schemas.microsoft.com/office/drawing/2014/main" val="3682903421"/>
                    </a:ext>
                  </a:extLst>
                </a:gridCol>
              </a:tblGrid>
              <a:tr h="555460">
                <a:tc>
                  <a:txBody>
                    <a:bodyPr/>
                    <a:lstStyle/>
                    <a:p>
                      <a:pPr algn="ctr" rtl="0" fontAlgn="base">
                        <a:spcAft>
                          <a:spcPts val="750"/>
                        </a:spcAft>
                      </a:pPr>
                      <a:r>
                        <a:rPr lang="en-IN" sz="1800" b="1" dirty="0">
                          <a:effectLst/>
                          <a:latin typeface="Times New Roman" panose="02020603050405020304" pitchFamily="18" charset="0"/>
                          <a:cs typeface="Times New Roman" panose="02020603050405020304" pitchFamily="18" charset="0"/>
                        </a:rPr>
                        <a:t>Test Score</a:t>
                      </a:r>
                    </a:p>
                  </a:txBody>
                  <a:tcPr marL="28575" marR="2857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ase">
                        <a:spcAft>
                          <a:spcPts val="750"/>
                        </a:spcAft>
                      </a:pPr>
                      <a:r>
                        <a:rPr lang="en-IN" sz="1800" b="1">
                          <a:effectLst/>
                          <a:latin typeface="Times New Roman" panose="02020603050405020304" pitchFamily="18" charset="0"/>
                          <a:cs typeface="Times New Roman" panose="02020603050405020304" pitchFamily="18" charset="0"/>
                        </a:rPr>
                        <a:t>Frequency</a:t>
                      </a:r>
                      <a:endParaRPr lang="en-IN" sz="1800" b="1" dirty="0">
                        <a:effectLst/>
                        <a:latin typeface="Times New Roman" panose="02020603050405020304" pitchFamily="18" charset="0"/>
                        <a:cs typeface="Times New Roman" panose="02020603050405020304" pitchFamily="18" charset="0"/>
                      </a:endParaRPr>
                    </a:p>
                  </a:txBody>
                  <a:tcPr marL="57150" marR="57150"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6092505"/>
                  </a:ext>
                </a:extLst>
              </a:tr>
              <a:tr h="620808">
                <a:tc>
                  <a:txBody>
                    <a:bodyPr/>
                    <a:lstStyle/>
                    <a:p>
                      <a:pPr algn="ctr" fontAlgn="base">
                        <a:spcAft>
                          <a:spcPts val="750"/>
                        </a:spcAft>
                      </a:pPr>
                      <a:r>
                        <a:rPr lang="en-IN" sz="1800" b="0" dirty="0">
                          <a:effectLst/>
                          <a:latin typeface="Times New Roman" panose="02020603050405020304" pitchFamily="18" charset="0"/>
                          <a:cs typeface="Times New Roman" panose="02020603050405020304" pitchFamily="18" charset="0"/>
                        </a:rPr>
                        <a:t>0-20</a:t>
                      </a: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spcAft>
                          <a:spcPts val="750"/>
                        </a:spcAft>
                      </a:pPr>
                      <a:r>
                        <a:rPr lang="en-IN" sz="1800" b="0">
                          <a:effectLst/>
                          <a:latin typeface="Times New Roman" panose="02020603050405020304" pitchFamily="18" charset="0"/>
                          <a:cs typeface="Times New Roman" panose="02020603050405020304" pitchFamily="18" charset="0"/>
                        </a:rPr>
                        <a:t>6</a:t>
                      </a: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9615977"/>
                  </a:ext>
                </a:extLst>
              </a:tr>
              <a:tr h="620808">
                <a:tc>
                  <a:txBody>
                    <a:bodyPr/>
                    <a:lstStyle/>
                    <a:p>
                      <a:pPr algn="ctr" fontAlgn="base">
                        <a:spcAft>
                          <a:spcPts val="750"/>
                        </a:spcAft>
                      </a:pPr>
                      <a:r>
                        <a:rPr lang="en-IN" sz="1800" b="0" dirty="0">
                          <a:effectLst/>
                          <a:latin typeface="Times New Roman" panose="02020603050405020304" pitchFamily="18" charset="0"/>
                          <a:cs typeface="Times New Roman" panose="02020603050405020304" pitchFamily="18" charset="0"/>
                        </a:rPr>
                        <a:t>20-40</a:t>
                      </a: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spcAft>
                          <a:spcPts val="750"/>
                        </a:spcAft>
                      </a:pPr>
                      <a:r>
                        <a:rPr lang="en-IN" sz="1800" b="0">
                          <a:effectLst/>
                          <a:latin typeface="Times New Roman" panose="02020603050405020304" pitchFamily="18" charset="0"/>
                          <a:cs typeface="Times New Roman" panose="02020603050405020304" pitchFamily="18" charset="0"/>
                        </a:rPr>
                        <a:t>12</a:t>
                      </a:r>
                      <a:endParaRPr lang="en-IN" sz="1800" b="0" dirty="0">
                        <a:effectLst/>
                        <a:latin typeface="Times New Roman" panose="02020603050405020304" pitchFamily="18" charset="0"/>
                        <a:cs typeface="Times New Roman" panose="02020603050405020304" pitchFamily="18" charset="0"/>
                      </a:endParaRP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6799599"/>
                  </a:ext>
                </a:extLst>
              </a:tr>
              <a:tr h="620808">
                <a:tc>
                  <a:txBody>
                    <a:bodyPr/>
                    <a:lstStyle/>
                    <a:p>
                      <a:pPr algn="ctr" fontAlgn="base">
                        <a:spcAft>
                          <a:spcPts val="750"/>
                        </a:spcAft>
                      </a:pPr>
                      <a:r>
                        <a:rPr lang="en-IN" sz="1800" b="0">
                          <a:effectLst/>
                          <a:latin typeface="Times New Roman" panose="02020603050405020304" pitchFamily="18" charset="0"/>
                          <a:cs typeface="Times New Roman" panose="02020603050405020304" pitchFamily="18" charset="0"/>
                        </a:rPr>
                        <a:t>40-60</a:t>
                      </a:r>
                      <a:endParaRPr lang="en-IN" sz="1800" b="0" dirty="0">
                        <a:effectLst/>
                        <a:latin typeface="Times New Roman" panose="02020603050405020304" pitchFamily="18" charset="0"/>
                        <a:cs typeface="Times New Roman" panose="02020603050405020304" pitchFamily="18" charset="0"/>
                      </a:endParaRP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spcAft>
                          <a:spcPts val="750"/>
                        </a:spcAft>
                      </a:pPr>
                      <a:r>
                        <a:rPr lang="en-IN" sz="1800" b="0" dirty="0">
                          <a:effectLst/>
                          <a:latin typeface="Times New Roman" panose="02020603050405020304" pitchFamily="18" charset="0"/>
                          <a:cs typeface="Times New Roman" panose="02020603050405020304" pitchFamily="18" charset="0"/>
                        </a:rPr>
                        <a:t>22</a:t>
                      </a: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5450741"/>
                  </a:ext>
                </a:extLst>
              </a:tr>
              <a:tr h="620808">
                <a:tc>
                  <a:txBody>
                    <a:bodyPr/>
                    <a:lstStyle/>
                    <a:p>
                      <a:pPr algn="ctr" fontAlgn="base">
                        <a:spcAft>
                          <a:spcPts val="750"/>
                        </a:spcAft>
                      </a:pPr>
                      <a:r>
                        <a:rPr lang="en-IN" sz="1800" b="0">
                          <a:effectLst/>
                          <a:latin typeface="Times New Roman" panose="02020603050405020304" pitchFamily="18" charset="0"/>
                          <a:cs typeface="Times New Roman" panose="02020603050405020304" pitchFamily="18" charset="0"/>
                        </a:rPr>
                        <a:t>60-80</a:t>
                      </a: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spcAft>
                          <a:spcPts val="750"/>
                        </a:spcAft>
                      </a:pPr>
                      <a:r>
                        <a:rPr lang="en-IN" sz="1800" b="0" dirty="0">
                          <a:effectLst/>
                          <a:latin typeface="Times New Roman" panose="02020603050405020304" pitchFamily="18" charset="0"/>
                          <a:cs typeface="Times New Roman" panose="02020603050405020304" pitchFamily="18" charset="0"/>
                        </a:rPr>
                        <a:t>15</a:t>
                      </a: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63419576"/>
                  </a:ext>
                </a:extLst>
              </a:tr>
              <a:tr h="620808">
                <a:tc>
                  <a:txBody>
                    <a:bodyPr/>
                    <a:lstStyle/>
                    <a:p>
                      <a:pPr algn="ctr" fontAlgn="base">
                        <a:spcAft>
                          <a:spcPts val="750"/>
                        </a:spcAft>
                      </a:pPr>
                      <a:r>
                        <a:rPr lang="en-IN" sz="1800" b="0">
                          <a:effectLst/>
                          <a:latin typeface="Times New Roman" panose="02020603050405020304" pitchFamily="18" charset="0"/>
                          <a:cs typeface="Times New Roman" panose="02020603050405020304" pitchFamily="18" charset="0"/>
                        </a:rPr>
                        <a:t>80-100</a:t>
                      </a: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spcAft>
                          <a:spcPts val="750"/>
                        </a:spcAft>
                      </a:pPr>
                      <a:r>
                        <a:rPr lang="en-IN" sz="1800" b="0" dirty="0">
                          <a:effectLst/>
                          <a:latin typeface="Times New Roman" panose="02020603050405020304" pitchFamily="18" charset="0"/>
                          <a:cs typeface="Times New Roman" panose="02020603050405020304" pitchFamily="18" charset="0"/>
                        </a:rPr>
                        <a:t>5</a:t>
                      </a: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1243919"/>
                  </a:ext>
                </a:extLst>
              </a:tr>
            </a:tbl>
          </a:graphicData>
        </a:graphic>
      </p:graphicFrame>
    </p:spTree>
    <p:extLst>
      <p:ext uri="{BB962C8B-B14F-4D97-AF65-F5344CB8AC3E}">
        <p14:creationId xmlns:p14="http://schemas.microsoft.com/office/powerpoint/2010/main" val="30072073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F6792AA-8902-358E-3243-6B61133FDC63}"/>
              </a:ext>
            </a:extLst>
          </p:cNvPr>
          <p:cNvSpPr txBox="1"/>
          <p:nvPr/>
        </p:nvSpPr>
        <p:spPr>
          <a:xfrm>
            <a:off x="505690" y="415637"/>
            <a:ext cx="7266710" cy="1938992"/>
          </a:xfrm>
          <a:prstGeom prst="rect">
            <a:avLst/>
          </a:prstGeom>
          <a:no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400" b="1" dirty="0">
                <a:solidFill>
                  <a:srgbClr val="FF0000"/>
                </a:solidFill>
                <a:latin typeface="Times New Roman" panose="02020603050405020304" pitchFamily="18" charset="0"/>
                <a:cs typeface="Times New Roman" panose="02020603050405020304" pitchFamily="18" charset="0"/>
              </a:rPr>
              <a:t>Ungrouped Frequency Distribution for Ungrouped Data </a:t>
            </a:r>
          </a:p>
          <a:p>
            <a:endParaRPr lang="en-US" sz="2400" b="1" dirty="0">
              <a:solidFill>
                <a:srgbClr val="FF0000"/>
              </a:solidFill>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 ungrouped frequency distribution produced whenever observations are sorted into classes of single values. </a:t>
            </a:r>
          </a:p>
        </p:txBody>
      </p:sp>
    </p:spTree>
    <p:extLst>
      <p:ext uri="{BB962C8B-B14F-4D97-AF65-F5344CB8AC3E}">
        <p14:creationId xmlns:p14="http://schemas.microsoft.com/office/powerpoint/2010/main" val="7783068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D0B3A05-236D-20AF-7CB6-8FABA990694D}"/>
              </a:ext>
            </a:extLst>
          </p:cNvPr>
          <p:cNvSpPr>
            <a:spLocks noChangeArrowheads="1"/>
          </p:cNvSpPr>
          <p:nvPr/>
        </p:nvSpPr>
        <p:spPr bwMode="auto">
          <a:xfrm>
            <a:off x="906011" y="209101"/>
            <a:ext cx="6656664" cy="92333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defTabSz="685800" rtl="0" eaLnBrk="0" fontAlgn="base" latinLnBrk="0" hangingPunct="0">
              <a:lnSpc>
                <a:spcPct val="100000"/>
              </a:lnSpc>
              <a:spcBef>
                <a:spcPct val="0"/>
              </a:spcBef>
              <a:spcAft>
                <a:spcPct val="0"/>
              </a:spcAft>
              <a:buClrTx/>
              <a:buSzTx/>
              <a:buFontTx/>
              <a:buNone/>
              <a:tabLst/>
            </a:pPr>
            <a:endParaRPr lang="en-US" altLang="en-US" sz="1500" b="1" dirty="0">
              <a:solidFill>
                <a:srgbClr val="273239"/>
              </a:solidFill>
              <a:latin typeface="Times New Roman" panose="02020603050405020304" pitchFamily="18" charset="0"/>
              <a:cs typeface="Times New Roman" panose="02020603050405020304" pitchFamily="18" charset="0"/>
            </a:endParaRPr>
          </a:p>
          <a:p>
            <a:pPr marL="0" marR="0" lvl="0" indent="0" defTabSz="6858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Example:</a:t>
            </a:r>
            <a:endParaRPr lang="en-US" altLang="en-US" sz="1500" b="1" dirty="0">
              <a:solidFill>
                <a:srgbClr val="273239"/>
              </a:solidFill>
              <a:latin typeface="Times New Roman" panose="02020603050405020304" pitchFamily="18" charset="0"/>
              <a:cs typeface="Times New Roman" panose="02020603050405020304" pitchFamily="18" charset="0"/>
            </a:endParaRPr>
          </a:p>
          <a:p>
            <a:pPr marL="0" marR="0" lvl="0" indent="0" defTabSz="6858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Make the Frequency Distribution Table for the ungrouped data given as follows:</a:t>
            </a: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6858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10, 20, 15, 25, 30, 10, 15, 10, 25, 20, 15, 10, 30, 25</a:t>
            </a: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43E31A0D-1E34-5A63-7241-DD9B37D8FD5D}"/>
              </a:ext>
            </a:extLst>
          </p:cNvPr>
          <p:cNvGraphicFramePr>
            <a:graphicFrameLocks noGrp="1"/>
          </p:cNvGraphicFramePr>
          <p:nvPr/>
        </p:nvGraphicFramePr>
        <p:xfrm>
          <a:off x="773884" y="1543155"/>
          <a:ext cx="7405382" cy="3383280"/>
        </p:xfrm>
        <a:graphic>
          <a:graphicData uri="http://schemas.openxmlformats.org/drawingml/2006/table">
            <a:tbl>
              <a:tblPr firstRow="1" bandRow="1">
                <a:tableStyleId>{5940675A-B579-460E-94D1-54222C63F5DA}</a:tableStyleId>
              </a:tblPr>
              <a:tblGrid>
                <a:gridCol w="3702691">
                  <a:extLst>
                    <a:ext uri="{9D8B030D-6E8A-4147-A177-3AD203B41FA5}">
                      <a16:colId xmlns:a16="http://schemas.microsoft.com/office/drawing/2014/main" val="2603711333"/>
                    </a:ext>
                  </a:extLst>
                </a:gridCol>
                <a:gridCol w="3702691">
                  <a:extLst>
                    <a:ext uri="{9D8B030D-6E8A-4147-A177-3AD203B41FA5}">
                      <a16:colId xmlns:a16="http://schemas.microsoft.com/office/drawing/2014/main" val="351533007"/>
                    </a:ext>
                  </a:extLst>
                </a:gridCol>
              </a:tblGrid>
              <a:tr h="525780">
                <a:tc>
                  <a:txBody>
                    <a:bodyPr/>
                    <a:lstStyle/>
                    <a:p>
                      <a:pPr algn="ctr" fontAlgn="base"/>
                      <a:r>
                        <a:rPr lang="en-IN" sz="2700" b="1" dirty="0">
                          <a:effectLst/>
                        </a:rPr>
                        <a:t>Value</a:t>
                      </a:r>
                      <a:endParaRPr lang="en-IN" sz="2700" b="1" dirty="0">
                        <a:effectLst/>
                        <a:latin typeface="Times New Roman" panose="02020603050405020304" pitchFamily="18" charset="0"/>
                        <a:cs typeface="Times New Roman" panose="02020603050405020304" pitchFamily="18" charset="0"/>
                      </a:endParaRPr>
                    </a:p>
                  </a:txBody>
                  <a:tcPr marL="28575" marR="28575" marT="57150" marB="57150" anchor="ctr"/>
                </a:tc>
                <a:tc>
                  <a:txBody>
                    <a:bodyPr/>
                    <a:lstStyle/>
                    <a:p>
                      <a:pPr algn="ctr" fontAlgn="base"/>
                      <a:r>
                        <a:rPr lang="en-IN" sz="2700" b="1">
                          <a:effectLst/>
                        </a:rPr>
                        <a:t>Frequency</a:t>
                      </a:r>
                      <a:endParaRPr lang="en-IN" sz="2700" b="1">
                        <a:effectLst/>
                        <a:latin typeface="Times New Roman" panose="02020603050405020304" pitchFamily="18" charset="0"/>
                        <a:cs typeface="Times New Roman" panose="02020603050405020304" pitchFamily="18" charset="0"/>
                      </a:endParaRPr>
                    </a:p>
                  </a:txBody>
                  <a:tcPr marL="57150" marR="57150" marT="57150" marB="57150" anchor="ctr"/>
                </a:tc>
                <a:extLst>
                  <a:ext uri="{0D108BD9-81ED-4DB2-BD59-A6C34878D82A}">
                    <a16:rowId xmlns:a16="http://schemas.microsoft.com/office/drawing/2014/main" val="2708437710"/>
                  </a:ext>
                </a:extLst>
              </a:tr>
              <a:tr h="571500">
                <a:tc>
                  <a:txBody>
                    <a:bodyPr/>
                    <a:lstStyle/>
                    <a:p>
                      <a:pPr algn="ctr" fontAlgn="base">
                        <a:spcAft>
                          <a:spcPts val="750"/>
                        </a:spcAft>
                      </a:pPr>
                      <a:r>
                        <a:rPr lang="en-IN" sz="2700" b="0" dirty="0">
                          <a:effectLst/>
                        </a:rPr>
                        <a:t>10</a:t>
                      </a:r>
                      <a:endParaRPr lang="en-IN" sz="2700" b="0" dirty="0">
                        <a:effectLst/>
                        <a:latin typeface="Times New Roman" panose="02020603050405020304" pitchFamily="18" charset="0"/>
                        <a:cs typeface="Times New Roman" panose="02020603050405020304" pitchFamily="18" charset="0"/>
                      </a:endParaRPr>
                    </a:p>
                  </a:txBody>
                  <a:tcPr marL="57150" marR="57150" marT="80010" marB="80010" anchor="ctr"/>
                </a:tc>
                <a:tc>
                  <a:txBody>
                    <a:bodyPr/>
                    <a:lstStyle/>
                    <a:p>
                      <a:pPr algn="ctr" fontAlgn="base">
                        <a:spcAft>
                          <a:spcPts val="750"/>
                        </a:spcAft>
                      </a:pPr>
                      <a:r>
                        <a:rPr lang="en-IN" sz="2700" b="0" dirty="0">
                          <a:effectLst/>
                        </a:rPr>
                        <a:t>4</a:t>
                      </a:r>
                      <a:endParaRPr lang="en-IN" sz="2700" b="0" dirty="0">
                        <a:effectLst/>
                        <a:latin typeface="Times New Roman" panose="02020603050405020304" pitchFamily="18" charset="0"/>
                        <a:cs typeface="Times New Roman" panose="02020603050405020304" pitchFamily="18" charset="0"/>
                      </a:endParaRPr>
                    </a:p>
                  </a:txBody>
                  <a:tcPr marL="57150" marR="57150" marT="80010" marB="80010" anchor="ctr"/>
                </a:tc>
                <a:extLst>
                  <a:ext uri="{0D108BD9-81ED-4DB2-BD59-A6C34878D82A}">
                    <a16:rowId xmlns:a16="http://schemas.microsoft.com/office/drawing/2014/main" val="331550637"/>
                  </a:ext>
                </a:extLst>
              </a:tr>
              <a:tr h="571500">
                <a:tc>
                  <a:txBody>
                    <a:bodyPr/>
                    <a:lstStyle/>
                    <a:p>
                      <a:pPr algn="ctr" fontAlgn="base">
                        <a:spcAft>
                          <a:spcPts val="750"/>
                        </a:spcAft>
                      </a:pPr>
                      <a:r>
                        <a:rPr lang="en-IN" sz="2700" b="0" dirty="0">
                          <a:effectLst/>
                        </a:rPr>
                        <a:t>15</a:t>
                      </a:r>
                      <a:endParaRPr lang="en-IN" sz="2700" b="0" dirty="0">
                        <a:effectLst/>
                        <a:latin typeface="Times New Roman" panose="02020603050405020304" pitchFamily="18" charset="0"/>
                        <a:cs typeface="Times New Roman" panose="02020603050405020304" pitchFamily="18" charset="0"/>
                      </a:endParaRPr>
                    </a:p>
                  </a:txBody>
                  <a:tcPr marL="57150" marR="57150" marT="80010" marB="80010" anchor="ctr"/>
                </a:tc>
                <a:tc>
                  <a:txBody>
                    <a:bodyPr/>
                    <a:lstStyle/>
                    <a:p>
                      <a:pPr algn="ctr" fontAlgn="base">
                        <a:spcAft>
                          <a:spcPts val="750"/>
                        </a:spcAft>
                      </a:pPr>
                      <a:r>
                        <a:rPr lang="en-IN" sz="2700" b="0" dirty="0">
                          <a:effectLst/>
                        </a:rPr>
                        <a:t>3</a:t>
                      </a:r>
                      <a:endParaRPr lang="en-IN" sz="2700" b="0" dirty="0">
                        <a:effectLst/>
                        <a:latin typeface="Times New Roman" panose="02020603050405020304" pitchFamily="18" charset="0"/>
                        <a:cs typeface="Times New Roman" panose="02020603050405020304" pitchFamily="18" charset="0"/>
                      </a:endParaRPr>
                    </a:p>
                  </a:txBody>
                  <a:tcPr marL="57150" marR="57150" marT="80010" marB="80010" anchor="ctr"/>
                </a:tc>
                <a:extLst>
                  <a:ext uri="{0D108BD9-81ED-4DB2-BD59-A6C34878D82A}">
                    <a16:rowId xmlns:a16="http://schemas.microsoft.com/office/drawing/2014/main" val="493435242"/>
                  </a:ext>
                </a:extLst>
              </a:tr>
              <a:tr h="571500">
                <a:tc>
                  <a:txBody>
                    <a:bodyPr/>
                    <a:lstStyle/>
                    <a:p>
                      <a:pPr algn="ctr" fontAlgn="base">
                        <a:spcAft>
                          <a:spcPts val="750"/>
                        </a:spcAft>
                      </a:pPr>
                      <a:r>
                        <a:rPr lang="en-IN" sz="2700" b="0">
                          <a:effectLst/>
                        </a:rPr>
                        <a:t>20</a:t>
                      </a:r>
                      <a:endParaRPr lang="en-IN" sz="2700" b="0">
                        <a:effectLst/>
                        <a:latin typeface="Times New Roman" panose="02020603050405020304" pitchFamily="18" charset="0"/>
                        <a:cs typeface="Times New Roman" panose="02020603050405020304" pitchFamily="18" charset="0"/>
                      </a:endParaRPr>
                    </a:p>
                  </a:txBody>
                  <a:tcPr marL="57150" marR="57150" marT="80010" marB="80010" anchor="ctr"/>
                </a:tc>
                <a:tc>
                  <a:txBody>
                    <a:bodyPr/>
                    <a:lstStyle/>
                    <a:p>
                      <a:pPr algn="ctr" fontAlgn="base">
                        <a:spcAft>
                          <a:spcPts val="750"/>
                        </a:spcAft>
                      </a:pPr>
                      <a:r>
                        <a:rPr lang="en-IN" sz="2700" b="0" dirty="0">
                          <a:effectLst/>
                        </a:rPr>
                        <a:t>2</a:t>
                      </a:r>
                      <a:endParaRPr lang="en-IN" sz="2700" b="0" dirty="0">
                        <a:effectLst/>
                        <a:latin typeface="Times New Roman" panose="02020603050405020304" pitchFamily="18" charset="0"/>
                        <a:cs typeface="Times New Roman" panose="02020603050405020304" pitchFamily="18" charset="0"/>
                      </a:endParaRPr>
                    </a:p>
                  </a:txBody>
                  <a:tcPr marL="57150" marR="57150" marT="80010" marB="80010" anchor="ctr"/>
                </a:tc>
                <a:extLst>
                  <a:ext uri="{0D108BD9-81ED-4DB2-BD59-A6C34878D82A}">
                    <a16:rowId xmlns:a16="http://schemas.microsoft.com/office/drawing/2014/main" val="3863988398"/>
                  </a:ext>
                </a:extLst>
              </a:tr>
              <a:tr h="571500">
                <a:tc>
                  <a:txBody>
                    <a:bodyPr/>
                    <a:lstStyle/>
                    <a:p>
                      <a:pPr algn="ctr" fontAlgn="base">
                        <a:spcAft>
                          <a:spcPts val="750"/>
                        </a:spcAft>
                      </a:pPr>
                      <a:r>
                        <a:rPr lang="en-IN" sz="2700" b="0">
                          <a:effectLst/>
                        </a:rPr>
                        <a:t>25</a:t>
                      </a:r>
                      <a:endParaRPr lang="en-IN" sz="2700" b="0" dirty="0">
                        <a:effectLst/>
                        <a:latin typeface="Times New Roman" panose="02020603050405020304" pitchFamily="18" charset="0"/>
                        <a:cs typeface="Times New Roman" panose="02020603050405020304" pitchFamily="18" charset="0"/>
                      </a:endParaRPr>
                    </a:p>
                  </a:txBody>
                  <a:tcPr marL="57150" marR="57150" marT="80010" marB="80010" anchor="ctr"/>
                </a:tc>
                <a:tc>
                  <a:txBody>
                    <a:bodyPr/>
                    <a:lstStyle/>
                    <a:p>
                      <a:pPr algn="ctr" fontAlgn="base">
                        <a:spcAft>
                          <a:spcPts val="750"/>
                        </a:spcAft>
                      </a:pPr>
                      <a:r>
                        <a:rPr lang="en-IN" sz="2700" b="0" dirty="0">
                          <a:effectLst/>
                        </a:rPr>
                        <a:t>3</a:t>
                      </a:r>
                      <a:endParaRPr lang="en-IN" sz="2700" b="0" dirty="0">
                        <a:effectLst/>
                        <a:latin typeface="Times New Roman" panose="02020603050405020304" pitchFamily="18" charset="0"/>
                        <a:cs typeface="Times New Roman" panose="02020603050405020304" pitchFamily="18" charset="0"/>
                      </a:endParaRPr>
                    </a:p>
                  </a:txBody>
                  <a:tcPr marL="57150" marR="57150" marT="80010" marB="80010" anchor="ctr"/>
                </a:tc>
                <a:extLst>
                  <a:ext uri="{0D108BD9-81ED-4DB2-BD59-A6C34878D82A}">
                    <a16:rowId xmlns:a16="http://schemas.microsoft.com/office/drawing/2014/main" val="2365998157"/>
                  </a:ext>
                </a:extLst>
              </a:tr>
              <a:tr h="571500">
                <a:tc>
                  <a:txBody>
                    <a:bodyPr/>
                    <a:lstStyle/>
                    <a:p>
                      <a:pPr algn="ctr" fontAlgn="base">
                        <a:spcAft>
                          <a:spcPts val="750"/>
                        </a:spcAft>
                      </a:pPr>
                      <a:r>
                        <a:rPr lang="en-IN" sz="2700" b="0">
                          <a:effectLst/>
                        </a:rPr>
                        <a:t>30</a:t>
                      </a:r>
                      <a:endParaRPr lang="en-IN" sz="2700" b="0">
                        <a:effectLst/>
                        <a:latin typeface="Times New Roman" panose="02020603050405020304" pitchFamily="18" charset="0"/>
                        <a:cs typeface="Times New Roman" panose="02020603050405020304" pitchFamily="18" charset="0"/>
                      </a:endParaRPr>
                    </a:p>
                  </a:txBody>
                  <a:tcPr marL="57150" marR="57150" marT="80010" marB="80010" anchor="ctr"/>
                </a:tc>
                <a:tc>
                  <a:txBody>
                    <a:bodyPr/>
                    <a:lstStyle/>
                    <a:p>
                      <a:pPr algn="ctr" fontAlgn="base">
                        <a:spcAft>
                          <a:spcPts val="750"/>
                        </a:spcAft>
                      </a:pPr>
                      <a:r>
                        <a:rPr lang="en-IN" sz="2700" b="0" dirty="0">
                          <a:effectLst/>
                        </a:rPr>
                        <a:t>2</a:t>
                      </a:r>
                      <a:endParaRPr lang="en-IN" sz="2700" b="0" dirty="0">
                        <a:effectLst/>
                        <a:latin typeface="Times New Roman" panose="02020603050405020304" pitchFamily="18" charset="0"/>
                        <a:cs typeface="Times New Roman" panose="02020603050405020304" pitchFamily="18" charset="0"/>
                      </a:endParaRPr>
                    </a:p>
                  </a:txBody>
                  <a:tcPr marL="57150" marR="57150" marT="80010" marB="80010" anchor="ctr"/>
                </a:tc>
                <a:extLst>
                  <a:ext uri="{0D108BD9-81ED-4DB2-BD59-A6C34878D82A}">
                    <a16:rowId xmlns:a16="http://schemas.microsoft.com/office/drawing/2014/main" val="3977907510"/>
                  </a:ext>
                </a:extLst>
              </a:tr>
            </a:tbl>
          </a:graphicData>
        </a:graphic>
      </p:graphicFrame>
    </p:spTree>
    <p:extLst>
      <p:ext uri="{BB962C8B-B14F-4D97-AF65-F5344CB8AC3E}">
        <p14:creationId xmlns:p14="http://schemas.microsoft.com/office/powerpoint/2010/main" val="7639285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C20C1E7-74AE-805C-6142-5826D518B2D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1134220-36D1-0AC8-D85B-6ACBE7BC08D2}"/>
              </a:ext>
            </a:extLst>
          </p:cNvPr>
          <p:cNvSpPr txBox="1"/>
          <p:nvPr/>
        </p:nvSpPr>
        <p:spPr>
          <a:xfrm>
            <a:off x="302005" y="1170265"/>
            <a:ext cx="7701092" cy="2608406"/>
          </a:xfrm>
          <a:prstGeom prst="rect">
            <a:avLst/>
          </a:prstGeom>
          <a:no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214313" indent="-214313">
              <a:buFont typeface="Wingdings" panose="05000000000000000000" pitchFamily="2" charset="2"/>
              <a:buChar char="Ø"/>
            </a:pPr>
            <a:r>
              <a:rPr lang="en-US" sz="3000" b="1" dirty="0">
                <a:solidFill>
                  <a:srgbClr val="FF0000"/>
                </a:solidFill>
                <a:latin typeface="Times New Roman" panose="02020603050405020304" pitchFamily="18" charset="0"/>
                <a:cs typeface="Times New Roman" panose="02020603050405020304" pitchFamily="18" charset="0"/>
              </a:rPr>
              <a:t>Grouped Frequency Distribution for Ungrouped Data </a:t>
            </a:r>
          </a:p>
          <a:p>
            <a:endParaRPr lang="en-US" sz="2100" b="1" dirty="0">
              <a:solidFill>
                <a:srgbClr val="FF0000"/>
              </a:solidFill>
              <a:latin typeface="Times New Roman" panose="02020603050405020304" pitchFamily="18" charset="0"/>
              <a:cs typeface="Times New Roman" panose="02020603050405020304" pitchFamily="18" charset="0"/>
            </a:endParaRPr>
          </a:p>
          <a:p>
            <a:r>
              <a:rPr lang="en-US" sz="2100" b="1" dirty="0">
                <a:solidFill>
                  <a:srgbClr val="273239"/>
                </a:solidFill>
                <a:latin typeface="Times New Roman" panose="02020603050405020304" pitchFamily="18" charset="0"/>
                <a:cs typeface="Times New Roman" panose="02020603050405020304" pitchFamily="18" charset="0"/>
              </a:rPr>
              <a:t>O</a:t>
            </a:r>
            <a:r>
              <a:rPr lang="en-US" sz="2100" b="1" i="0" dirty="0">
                <a:solidFill>
                  <a:srgbClr val="273239"/>
                </a:solidFill>
                <a:effectLst/>
                <a:latin typeface="Times New Roman" panose="02020603050405020304" pitchFamily="18" charset="0"/>
                <a:cs typeface="Times New Roman" panose="02020603050405020304" pitchFamily="18" charset="0"/>
              </a:rPr>
              <a:t>bservations are divided between different intervals known as class intervals</a:t>
            </a:r>
            <a:r>
              <a:rPr lang="en-US" sz="2100" b="0" i="0" dirty="0">
                <a:solidFill>
                  <a:srgbClr val="273239"/>
                </a:solidFill>
                <a:effectLst/>
                <a:latin typeface="Times New Roman" panose="02020603050405020304" pitchFamily="18" charset="0"/>
                <a:cs typeface="Times New Roman" panose="02020603050405020304" pitchFamily="18" charset="0"/>
              </a:rPr>
              <a:t> and then their frequencies are counted for each class interval. This Frequency Distribution is used mostly when the data set is very large.</a:t>
            </a:r>
            <a:endParaRPr lang="en-US"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65823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6447A8E-EF10-1D28-A830-6EB0AFB33244}"/>
              </a:ext>
            </a:extLst>
          </p:cNvPr>
          <p:cNvSpPr>
            <a:spLocks noChangeArrowheads="1"/>
          </p:cNvSpPr>
          <p:nvPr/>
        </p:nvSpPr>
        <p:spPr bwMode="auto">
          <a:xfrm>
            <a:off x="471054" y="449497"/>
            <a:ext cx="7274082" cy="207749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l" defTabSz="6858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Example: </a:t>
            </a:r>
          </a:p>
          <a:p>
            <a:pPr marL="0" marR="0" lvl="0" indent="0" algn="l" defTabSz="6858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Make the Frequency Distribution Table for the ungrouped data given as follows:</a:t>
            </a: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6858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23, 27, 21, 14, 43, 37, 38, 41, 55, 11, 35, 15, 21, 24, 57, 35, 29, 10, 39, 42, 27, 17, 45, 52, 31, 36, 39, 38, 43, 46, 32, 37, 25</a:t>
            </a:r>
          </a:p>
          <a:p>
            <a:pPr marL="0" marR="0" lvl="0" indent="0" algn="l" defTabSz="685800" rtl="0" eaLnBrk="0" fontAlgn="base" latinLnBrk="0" hangingPunct="0">
              <a:lnSpc>
                <a:spcPct val="100000"/>
              </a:lnSpc>
              <a:spcBef>
                <a:spcPct val="0"/>
              </a:spcBef>
              <a:spcAft>
                <a:spcPct val="0"/>
              </a:spcAft>
              <a:buClrTx/>
              <a:buSzTx/>
              <a:buFontTx/>
              <a:buNone/>
              <a:tabLst/>
            </a:pP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6858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Solution:</a:t>
            </a: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685800" rtl="0" eaLnBrk="0" fontAlgn="base" latinLnBrk="0" hangingPunct="0">
              <a:lnSpc>
                <a:spcPct val="100000"/>
              </a:lnSpc>
              <a:spcBef>
                <a:spcPct val="0"/>
              </a:spcBef>
              <a:spcAft>
                <a:spcPct val="0"/>
              </a:spcAft>
              <a:buClrTx/>
              <a:buSzTx/>
              <a:buFontTx/>
              <a:buNone/>
              <a:tabLst/>
            </a:pPr>
            <a:r>
              <a:rPr lang="en-US" altLang="en-US" sz="1500" dirty="0">
                <a:solidFill>
                  <a:srgbClr val="273239"/>
                </a:solidFill>
                <a:latin typeface="Times New Roman" panose="02020603050405020304" pitchFamily="18" charset="0"/>
                <a:cs typeface="Times New Roman" panose="02020603050405020304" pitchFamily="18" charset="0"/>
              </a:rPr>
              <a:t>O</a:t>
            </a:r>
            <a:r>
              <a:rPr kumimoji="0" lang="en-US" altLang="en-US" sz="15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bservations in between 10 and 57, </a:t>
            </a:r>
          </a:p>
          <a:p>
            <a:pPr marL="0" marR="0" lvl="0" indent="0" algn="l" defTabSz="6858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we can choose class intervals as 10-20, 20-30, 30-40, 40-50, and 50-60. </a:t>
            </a:r>
          </a:p>
          <a:p>
            <a:pPr marL="0" marR="0" lvl="0" indent="0" algn="l" defTabSz="6858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In these class intervals all the observations are covered</a:t>
            </a: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331E6DEA-118B-EA76-3A00-82325AFB7626}"/>
              </a:ext>
            </a:extLst>
          </p:cNvPr>
          <p:cNvGraphicFramePr>
            <a:graphicFrameLocks noGrp="1"/>
          </p:cNvGraphicFramePr>
          <p:nvPr/>
        </p:nvGraphicFramePr>
        <p:xfrm>
          <a:off x="471055" y="2798938"/>
          <a:ext cx="7274082" cy="2286000"/>
        </p:xfrm>
        <a:graphic>
          <a:graphicData uri="http://schemas.openxmlformats.org/drawingml/2006/table">
            <a:tbl>
              <a:tblPr/>
              <a:tblGrid>
                <a:gridCol w="3622638">
                  <a:extLst>
                    <a:ext uri="{9D8B030D-6E8A-4147-A177-3AD203B41FA5}">
                      <a16:colId xmlns:a16="http://schemas.microsoft.com/office/drawing/2014/main" val="3676032124"/>
                    </a:ext>
                  </a:extLst>
                </a:gridCol>
                <a:gridCol w="3651444">
                  <a:extLst>
                    <a:ext uri="{9D8B030D-6E8A-4147-A177-3AD203B41FA5}">
                      <a16:colId xmlns:a16="http://schemas.microsoft.com/office/drawing/2014/main" val="774679286"/>
                    </a:ext>
                  </a:extLst>
                </a:gridCol>
              </a:tblGrid>
              <a:tr h="342900">
                <a:tc>
                  <a:txBody>
                    <a:bodyPr/>
                    <a:lstStyle/>
                    <a:p>
                      <a:pPr algn="ctr" fontAlgn="base"/>
                      <a:r>
                        <a:rPr lang="en-IN" sz="1500" b="1" dirty="0">
                          <a:effectLst/>
                          <a:latin typeface="Times New Roman" panose="02020603050405020304" pitchFamily="18" charset="0"/>
                          <a:cs typeface="Times New Roman" panose="02020603050405020304" pitchFamily="18" charset="0"/>
                        </a:rPr>
                        <a:t>Class Interval</a:t>
                      </a:r>
                    </a:p>
                  </a:txBody>
                  <a:tcPr marL="28575" marR="2857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IN" sz="1500" b="1" dirty="0">
                          <a:effectLst/>
                          <a:latin typeface="Times New Roman" panose="02020603050405020304" pitchFamily="18" charset="0"/>
                          <a:cs typeface="Times New Roman" panose="02020603050405020304" pitchFamily="18" charset="0"/>
                        </a:rPr>
                        <a:t>Frequency</a:t>
                      </a:r>
                    </a:p>
                  </a:txBody>
                  <a:tcPr marL="57150" marR="57150"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000439081"/>
                  </a:ext>
                </a:extLst>
              </a:tr>
              <a:tr h="388620">
                <a:tc>
                  <a:txBody>
                    <a:bodyPr/>
                    <a:lstStyle/>
                    <a:p>
                      <a:pPr algn="ctr" fontAlgn="base">
                        <a:spcAft>
                          <a:spcPts val="750"/>
                        </a:spcAft>
                      </a:pPr>
                      <a:r>
                        <a:rPr lang="en-IN" sz="1500" b="0" dirty="0">
                          <a:effectLst/>
                          <a:latin typeface="Times New Roman" panose="02020603050405020304" pitchFamily="18" charset="0"/>
                          <a:cs typeface="Times New Roman" panose="02020603050405020304" pitchFamily="18" charset="0"/>
                        </a:rPr>
                        <a:t>10 – 20</a:t>
                      </a: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spcAft>
                          <a:spcPts val="750"/>
                        </a:spcAft>
                      </a:pPr>
                      <a:r>
                        <a:rPr lang="en-IN" sz="1500" b="0" dirty="0">
                          <a:effectLst/>
                          <a:latin typeface="Times New Roman" panose="02020603050405020304" pitchFamily="18" charset="0"/>
                          <a:cs typeface="Times New Roman" panose="02020603050405020304" pitchFamily="18" charset="0"/>
                        </a:rPr>
                        <a:t>5</a:t>
                      </a: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603991895"/>
                  </a:ext>
                </a:extLst>
              </a:tr>
              <a:tr h="388620">
                <a:tc>
                  <a:txBody>
                    <a:bodyPr/>
                    <a:lstStyle/>
                    <a:p>
                      <a:pPr algn="ctr" fontAlgn="base">
                        <a:spcAft>
                          <a:spcPts val="750"/>
                        </a:spcAft>
                      </a:pPr>
                      <a:r>
                        <a:rPr lang="en-IN" sz="1500" b="0" dirty="0">
                          <a:effectLst/>
                          <a:latin typeface="Times New Roman" panose="02020603050405020304" pitchFamily="18" charset="0"/>
                          <a:cs typeface="Times New Roman" panose="02020603050405020304" pitchFamily="18" charset="0"/>
                        </a:rPr>
                        <a:t>20 – 30</a:t>
                      </a: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spcAft>
                          <a:spcPts val="750"/>
                        </a:spcAft>
                      </a:pPr>
                      <a:r>
                        <a:rPr lang="en-IN" sz="1500" b="0" dirty="0">
                          <a:effectLst/>
                          <a:latin typeface="Times New Roman" panose="02020603050405020304" pitchFamily="18" charset="0"/>
                          <a:cs typeface="Times New Roman" panose="02020603050405020304" pitchFamily="18" charset="0"/>
                        </a:rPr>
                        <a:t>8</a:t>
                      </a: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021533891"/>
                  </a:ext>
                </a:extLst>
              </a:tr>
              <a:tr h="388620">
                <a:tc>
                  <a:txBody>
                    <a:bodyPr/>
                    <a:lstStyle/>
                    <a:p>
                      <a:pPr algn="ctr" fontAlgn="base">
                        <a:spcAft>
                          <a:spcPts val="750"/>
                        </a:spcAft>
                      </a:pPr>
                      <a:r>
                        <a:rPr lang="en-IN" sz="1500" b="0" dirty="0">
                          <a:effectLst/>
                          <a:latin typeface="Times New Roman" panose="02020603050405020304" pitchFamily="18" charset="0"/>
                          <a:cs typeface="Times New Roman" panose="02020603050405020304" pitchFamily="18" charset="0"/>
                        </a:rPr>
                        <a:t>30 – 40</a:t>
                      </a: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spcAft>
                          <a:spcPts val="750"/>
                        </a:spcAft>
                      </a:pPr>
                      <a:r>
                        <a:rPr lang="en-IN" sz="1500" b="0" dirty="0">
                          <a:effectLst/>
                          <a:latin typeface="Times New Roman" panose="02020603050405020304" pitchFamily="18" charset="0"/>
                          <a:cs typeface="Times New Roman" panose="02020603050405020304" pitchFamily="18" charset="0"/>
                        </a:rPr>
                        <a:t>12</a:t>
                      </a: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749331462"/>
                  </a:ext>
                </a:extLst>
              </a:tr>
              <a:tr h="388620">
                <a:tc>
                  <a:txBody>
                    <a:bodyPr/>
                    <a:lstStyle/>
                    <a:p>
                      <a:pPr algn="ctr" fontAlgn="base">
                        <a:spcAft>
                          <a:spcPts val="750"/>
                        </a:spcAft>
                      </a:pPr>
                      <a:r>
                        <a:rPr lang="en-IN" sz="1500" b="0" dirty="0">
                          <a:effectLst/>
                          <a:latin typeface="Times New Roman" panose="02020603050405020304" pitchFamily="18" charset="0"/>
                          <a:cs typeface="Times New Roman" panose="02020603050405020304" pitchFamily="18" charset="0"/>
                        </a:rPr>
                        <a:t>40 – 50</a:t>
                      </a: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spcAft>
                          <a:spcPts val="750"/>
                        </a:spcAft>
                      </a:pPr>
                      <a:r>
                        <a:rPr lang="en-IN" sz="1500" b="0" dirty="0">
                          <a:effectLst/>
                          <a:latin typeface="Times New Roman" panose="02020603050405020304" pitchFamily="18" charset="0"/>
                          <a:cs typeface="Times New Roman" panose="02020603050405020304" pitchFamily="18" charset="0"/>
                        </a:rPr>
                        <a:t>6</a:t>
                      </a: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519505830"/>
                  </a:ext>
                </a:extLst>
              </a:tr>
              <a:tr h="388620">
                <a:tc>
                  <a:txBody>
                    <a:bodyPr/>
                    <a:lstStyle/>
                    <a:p>
                      <a:pPr algn="ctr" fontAlgn="base">
                        <a:spcAft>
                          <a:spcPts val="750"/>
                        </a:spcAft>
                      </a:pPr>
                      <a:r>
                        <a:rPr lang="en-IN" sz="1500" b="0" dirty="0">
                          <a:effectLst/>
                          <a:latin typeface="Times New Roman" panose="02020603050405020304" pitchFamily="18" charset="0"/>
                          <a:cs typeface="Times New Roman" panose="02020603050405020304" pitchFamily="18" charset="0"/>
                        </a:rPr>
                        <a:t>50 – 60</a:t>
                      </a: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spcAft>
                          <a:spcPts val="750"/>
                        </a:spcAft>
                      </a:pPr>
                      <a:r>
                        <a:rPr lang="en-IN" sz="1500" b="0" dirty="0">
                          <a:effectLst/>
                          <a:latin typeface="Times New Roman" panose="02020603050405020304" pitchFamily="18" charset="0"/>
                          <a:cs typeface="Times New Roman" panose="02020603050405020304" pitchFamily="18" charset="0"/>
                        </a:rPr>
                        <a:t>3</a:t>
                      </a: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421781587"/>
                  </a:ext>
                </a:extLst>
              </a:tr>
            </a:tbl>
          </a:graphicData>
        </a:graphic>
      </p:graphicFrame>
    </p:spTree>
    <p:extLst>
      <p:ext uri="{BB962C8B-B14F-4D97-AF65-F5344CB8AC3E}">
        <p14:creationId xmlns:p14="http://schemas.microsoft.com/office/powerpoint/2010/main" val="16957779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3" name="Google Shape;193;g2f8667aba1d_7_7"/>
          <p:cNvSpPr txBox="1"/>
          <p:nvPr/>
        </p:nvSpPr>
        <p:spPr>
          <a:xfrm>
            <a:off x="285750" y="642938"/>
            <a:ext cx="7929562"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800"/>
              <a:buFont typeface="Times New Roman"/>
              <a:buNone/>
            </a:pPr>
            <a:r>
              <a:rPr lang="en" sz="2800" dirty="0">
                <a:solidFill>
                  <a:schemeClr val="dk1"/>
                </a:solidFill>
                <a:latin typeface="Times New Roman" panose="02020603050405020304" pitchFamily="18" charset="0"/>
                <a:ea typeface="Times New Roman"/>
                <a:cs typeface="Times New Roman" panose="02020603050405020304" pitchFamily="18" charset="0"/>
                <a:sym typeface="Times New Roman"/>
              </a:rPr>
              <a:t>Ex.</a:t>
            </a:r>
            <a:r>
              <a:rPr lang="en" sz="28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Consider a data set of 26 children of ages 1-6 years</a:t>
            </a:r>
            <a:endParaRPr dirty="0">
              <a:latin typeface="Times New Roman" panose="02020603050405020304" pitchFamily="18" charset="0"/>
              <a:cs typeface="Times New Roman" panose="02020603050405020304" pitchFamily="18" charset="0"/>
            </a:endParaRPr>
          </a:p>
        </p:txBody>
      </p:sp>
      <p:pic>
        <p:nvPicPr>
          <p:cNvPr id="194" name="Google Shape;194;g2f8667aba1d_7_7"/>
          <p:cNvPicPr preferRelativeResize="0"/>
          <p:nvPr/>
        </p:nvPicPr>
        <p:blipFill rotWithShape="1">
          <a:blip r:embed="rId3">
            <a:alphaModFix/>
          </a:blip>
          <a:srcRect/>
          <a:stretch/>
        </p:blipFill>
        <p:spPr>
          <a:xfrm>
            <a:off x="2114136" y="1597005"/>
            <a:ext cx="3532584" cy="3295650"/>
          </a:xfrm>
          <a:prstGeom prst="rect">
            <a:avLst/>
          </a:prstGeom>
          <a:noFill/>
          <a:ln>
            <a:noFill/>
          </a:ln>
        </p:spPr>
      </p:pic>
    </p:spTree>
    <p:extLst>
      <p:ext uri="{BB962C8B-B14F-4D97-AF65-F5344CB8AC3E}">
        <p14:creationId xmlns:p14="http://schemas.microsoft.com/office/powerpoint/2010/main" val="37470723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200" name="Google Shape;200;g2f8667aba1d_7_13"/>
          <p:cNvSpPr txBox="1"/>
          <p:nvPr/>
        </p:nvSpPr>
        <p:spPr>
          <a:xfrm>
            <a:off x="285750" y="642938"/>
            <a:ext cx="7929562"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800"/>
              <a:buFont typeface="Times New Roman"/>
              <a:buNone/>
            </a:pPr>
            <a:r>
              <a:rPr lang="en-US" sz="28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For this data set of 26 children of ages 1-6 years</a:t>
            </a:r>
            <a:endParaRPr lang="en-US" dirty="0">
              <a:latin typeface="Times New Roman" panose="02020603050405020304" pitchFamily="18" charset="0"/>
              <a:cs typeface="Times New Roman" panose="02020603050405020304" pitchFamily="18" charset="0"/>
            </a:endParaRPr>
          </a:p>
        </p:txBody>
      </p:sp>
      <p:graphicFrame>
        <p:nvGraphicFramePr>
          <p:cNvPr id="201" name="Google Shape;201;g2f8667aba1d_7_13"/>
          <p:cNvGraphicFramePr/>
          <p:nvPr>
            <p:extLst>
              <p:ext uri="{D42A27DB-BD31-4B8C-83A1-F6EECF244321}">
                <p14:modId xmlns:p14="http://schemas.microsoft.com/office/powerpoint/2010/main" val="444440355"/>
              </p:ext>
            </p:extLst>
          </p:nvPr>
        </p:nvGraphicFramePr>
        <p:xfrm>
          <a:off x="814412" y="1968806"/>
          <a:ext cx="6362675" cy="868520"/>
        </p:xfrm>
        <a:graphic>
          <a:graphicData uri="http://schemas.openxmlformats.org/drawingml/2006/table">
            <a:tbl>
              <a:tblPr>
                <a:noFill/>
                <a:tableStyleId>{E56736FE-0E8E-44BB-A387-68498AA667DC}</a:tableStyleId>
              </a:tblPr>
              <a:tblGrid>
                <a:gridCol w="1757350">
                  <a:extLst>
                    <a:ext uri="{9D8B030D-6E8A-4147-A177-3AD203B41FA5}">
                      <a16:colId xmlns:a16="http://schemas.microsoft.com/office/drawing/2014/main" val="20000"/>
                    </a:ext>
                  </a:extLst>
                </a:gridCol>
                <a:gridCol w="877875">
                  <a:extLst>
                    <a:ext uri="{9D8B030D-6E8A-4147-A177-3AD203B41FA5}">
                      <a16:colId xmlns:a16="http://schemas.microsoft.com/office/drawing/2014/main" val="20001"/>
                    </a:ext>
                  </a:extLst>
                </a:gridCol>
                <a:gridCol w="790575">
                  <a:extLst>
                    <a:ext uri="{9D8B030D-6E8A-4147-A177-3AD203B41FA5}">
                      <a16:colId xmlns:a16="http://schemas.microsoft.com/office/drawing/2014/main" val="20002"/>
                    </a:ext>
                  </a:extLst>
                </a:gridCol>
                <a:gridCol w="790575">
                  <a:extLst>
                    <a:ext uri="{9D8B030D-6E8A-4147-A177-3AD203B41FA5}">
                      <a16:colId xmlns:a16="http://schemas.microsoft.com/office/drawing/2014/main" val="20003"/>
                    </a:ext>
                  </a:extLst>
                </a:gridCol>
                <a:gridCol w="701675">
                  <a:extLst>
                    <a:ext uri="{9D8B030D-6E8A-4147-A177-3AD203B41FA5}">
                      <a16:colId xmlns:a16="http://schemas.microsoft.com/office/drawing/2014/main" val="20004"/>
                    </a:ext>
                  </a:extLst>
                </a:gridCol>
                <a:gridCol w="790575">
                  <a:extLst>
                    <a:ext uri="{9D8B030D-6E8A-4147-A177-3AD203B41FA5}">
                      <a16:colId xmlns:a16="http://schemas.microsoft.com/office/drawing/2014/main" val="20005"/>
                    </a:ext>
                  </a:extLst>
                </a:gridCol>
                <a:gridCol w="654050">
                  <a:extLst>
                    <a:ext uri="{9D8B030D-6E8A-4147-A177-3AD203B41FA5}">
                      <a16:colId xmlns:a16="http://schemas.microsoft.com/office/drawing/2014/main" val="20006"/>
                    </a:ext>
                  </a:extLst>
                </a:gridCol>
              </a:tblGrid>
              <a:tr h="422300">
                <a:tc>
                  <a:txBody>
                    <a:bodyPr/>
                    <a:lstStyle/>
                    <a:p>
                      <a:pPr marL="355600" marR="0" lvl="0" indent="-355600" algn="l" rtl="0">
                        <a:lnSpc>
                          <a:spcPct val="100000"/>
                        </a:lnSpc>
                        <a:spcBef>
                          <a:spcPts val="0"/>
                        </a:spcBef>
                        <a:spcAft>
                          <a:spcPts val="0"/>
                        </a:spcAft>
                        <a:buClr>
                          <a:schemeClr val="dk1"/>
                        </a:buClr>
                        <a:buSzPts val="1400"/>
                        <a:buFont typeface="Times New Roman"/>
                        <a:buNone/>
                      </a:pPr>
                      <a:r>
                        <a:rPr lang="en" sz="2400" b="1" i="0" u="none" strike="noStrike" cap="none" dirty="0">
                          <a:solidFill>
                            <a:schemeClr val="dk1"/>
                          </a:solidFill>
                          <a:latin typeface="Times New Roman"/>
                          <a:ea typeface="Times New Roman"/>
                          <a:cs typeface="Times New Roman"/>
                          <a:sym typeface="Times New Roman"/>
                        </a:rPr>
                        <a:t>Age</a:t>
                      </a:r>
                      <a:endParaRPr sz="2400" dirty="0"/>
                    </a:p>
                  </a:txBody>
                  <a:tcPr marL="91450" marR="91450" marT="34250" marB="3425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355600" marR="0" lvl="0" indent="-355600" algn="ctr" rtl="0">
                        <a:lnSpc>
                          <a:spcPct val="100000"/>
                        </a:lnSpc>
                        <a:spcBef>
                          <a:spcPts val="0"/>
                        </a:spcBef>
                        <a:spcAft>
                          <a:spcPts val="0"/>
                        </a:spcAft>
                        <a:buClr>
                          <a:schemeClr val="dk1"/>
                        </a:buClr>
                        <a:buSzPts val="1400"/>
                        <a:buFont typeface="Times New Roman"/>
                        <a:buNone/>
                      </a:pPr>
                      <a:r>
                        <a:rPr lang="en" sz="2400" b="1" i="0" u="none" strike="noStrike" cap="none" dirty="0">
                          <a:solidFill>
                            <a:schemeClr val="dk1"/>
                          </a:solidFill>
                          <a:latin typeface="Times New Roman"/>
                          <a:ea typeface="Times New Roman"/>
                          <a:cs typeface="Times New Roman"/>
                          <a:sym typeface="Times New Roman"/>
                        </a:rPr>
                        <a:t>1</a:t>
                      </a:r>
                      <a:endParaRPr sz="2400" dirty="0"/>
                    </a:p>
                  </a:txBody>
                  <a:tcPr marL="91450" marR="91450" marT="34250" marB="3425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355600" marR="0" lvl="0" indent="-355600" algn="ctr" rtl="0">
                        <a:lnSpc>
                          <a:spcPct val="100000"/>
                        </a:lnSpc>
                        <a:spcBef>
                          <a:spcPts val="0"/>
                        </a:spcBef>
                        <a:spcAft>
                          <a:spcPts val="0"/>
                        </a:spcAft>
                        <a:buClr>
                          <a:schemeClr val="dk1"/>
                        </a:buClr>
                        <a:buSzPts val="1400"/>
                        <a:buFont typeface="Times New Roman"/>
                        <a:buNone/>
                      </a:pPr>
                      <a:r>
                        <a:rPr lang="en" sz="2400" b="1" i="0" u="none" strike="noStrike" cap="none" dirty="0">
                          <a:solidFill>
                            <a:schemeClr val="dk1"/>
                          </a:solidFill>
                          <a:latin typeface="Times New Roman"/>
                          <a:ea typeface="Times New Roman"/>
                          <a:cs typeface="Times New Roman"/>
                          <a:sym typeface="Times New Roman"/>
                        </a:rPr>
                        <a:t>2</a:t>
                      </a:r>
                      <a:endParaRPr sz="2400" dirty="0"/>
                    </a:p>
                  </a:txBody>
                  <a:tcPr marL="91450" marR="91450" marT="34250" marB="3425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355600" marR="0" lvl="0" indent="-355600" algn="ctr" rtl="0">
                        <a:lnSpc>
                          <a:spcPct val="100000"/>
                        </a:lnSpc>
                        <a:spcBef>
                          <a:spcPts val="0"/>
                        </a:spcBef>
                        <a:spcAft>
                          <a:spcPts val="0"/>
                        </a:spcAft>
                        <a:buClr>
                          <a:schemeClr val="dk1"/>
                        </a:buClr>
                        <a:buSzPts val="1400"/>
                        <a:buFont typeface="Times New Roman"/>
                        <a:buNone/>
                      </a:pPr>
                      <a:r>
                        <a:rPr lang="en" sz="2400" b="1" i="0" u="none" strike="noStrike" cap="none" dirty="0">
                          <a:solidFill>
                            <a:schemeClr val="dk1"/>
                          </a:solidFill>
                          <a:latin typeface="Times New Roman"/>
                          <a:ea typeface="Times New Roman"/>
                          <a:cs typeface="Times New Roman"/>
                          <a:sym typeface="Times New Roman"/>
                        </a:rPr>
                        <a:t>3</a:t>
                      </a:r>
                      <a:endParaRPr sz="2400" dirty="0"/>
                    </a:p>
                  </a:txBody>
                  <a:tcPr marL="91450" marR="91450" marT="34250" marB="3425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355600" marR="0" lvl="0" indent="-355600" algn="ctr" rtl="0">
                        <a:lnSpc>
                          <a:spcPct val="100000"/>
                        </a:lnSpc>
                        <a:spcBef>
                          <a:spcPts val="0"/>
                        </a:spcBef>
                        <a:spcAft>
                          <a:spcPts val="0"/>
                        </a:spcAft>
                        <a:buClr>
                          <a:schemeClr val="dk1"/>
                        </a:buClr>
                        <a:buSzPts val="1400"/>
                        <a:buFont typeface="Times New Roman"/>
                        <a:buNone/>
                      </a:pPr>
                      <a:r>
                        <a:rPr lang="en" sz="2400" b="1" i="0" u="none" strike="noStrike" cap="none">
                          <a:solidFill>
                            <a:schemeClr val="dk1"/>
                          </a:solidFill>
                          <a:latin typeface="Times New Roman"/>
                          <a:ea typeface="Times New Roman"/>
                          <a:cs typeface="Times New Roman"/>
                          <a:sym typeface="Times New Roman"/>
                        </a:rPr>
                        <a:t>4</a:t>
                      </a:r>
                      <a:endParaRPr sz="2400"/>
                    </a:p>
                  </a:txBody>
                  <a:tcPr marL="91450" marR="91450" marT="34250" marB="3425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355600" marR="0" lvl="0" indent="-355600" algn="ctr" rtl="0">
                        <a:lnSpc>
                          <a:spcPct val="100000"/>
                        </a:lnSpc>
                        <a:spcBef>
                          <a:spcPts val="0"/>
                        </a:spcBef>
                        <a:spcAft>
                          <a:spcPts val="0"/>
                        </a:spcAft>
                        <a:buClr>
                          <a:schemeClr val="dk1"/>
                        </a:buClr>
                        <a:buSzPts val="1400"/>
                        <a:buFont typeface="Times New Roman"/>
                        <a:buNone/>
                      </a:pPr>
                      <a:r>
                        <a:rPr lang="en" sz="2400" b="1" i="0" u="none" strike="noStrike" cap="none" dirty="0">
                          <a:solidFill>
                            <a:schemeClr val="dk1"/>
                          </a:solidFill>
                          <a:latin typeface="Times New Roman"/>
                          <a:ea typeface="Times New Roman"/>
                          <a:cs typeface="Times New Roman"/>
                          <a:sym typeface="Times New Roman"/>
                        </a:rPr>
                        <a:t>5</a:t>
                      </a:r>
                      <a:endParaRPr sz="2400" dirty="0"/>
                    </a:p>
                  </a:txBody>
                  <a:tcPr marL="91450" marR="91450" marT="34250" marB="3425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355600" marR="0" lvl="0" indent="-355600" algn="ctr" rtl="0">
                        <a:lnSpc>
                          <a:spcPct val="100000"/>
                        </a:lnSpc>
                        <a:spcBef>
                          <a:spcPts val="0"/>
                        </a:spcBef>
                        <a:spcAft>
                          <a:spcPts val="0"/>
                        </a:spcAft>
                        <a:buClr>
                          <a:schemeClr val="dk1"/>
                        </a:buClr>
                        <a:buSzPts val="1400"/>
                        <a:buFont typeface="Times New Roman"/>
                        <a:buNone/>
                      </a:pPr>
                      <a:r>
                        <a:rPr lang="en" sz="2400" b="1" i="0" u="none" strike="noStrike" cap="none">
                          <a:solidFill>
                            <a:schemeClr val="dk1"/>
                          </a:solidFill>
                          <a:latin typeface="Times New Roman"/>
                          <a:ea typeface="Times New Roman"/>
                          <a:cs typeface="Times New Roman"/>
                          <a:sym typeface="Times New Roman"/>
                        </a:rPr>
                        <a:t>6</a:t>
                      </a:r>
                      <a:endParaRPr sz="2400"/>
                    </a:p>
                  </a:txBody>
                  <a:tcPr marL="91450" marR="91450" marT="34250" marB="3425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393625">
                <a:tc>
                  <a:txBody>
                    <a:bodyPr/>
                    <a:lstStyle/>
                    <a:p>
                      <a:pPr marL="355600" marR="0" lvl="0" indent="-355600" algn="l" rtl="0">
                        <a:lnSpc>
                          <a:spcPct val="100000"/>
                        </a:lnSpc>
                        <a:spcBef>
                          <a:spcPts val="0"/>
                        </a:spcBef>
                        <a:spcAft>
                          <a:spcPts val="0"/>
                        </a:spcAft>
                        <a:buClr>
                          <a:schemeClr val="dk1"/>
                        </a:buClr>
                        <a:buSzPts val="1400"/>
                        <a:buFont typeface="Times New Roman"/>
                        <a:buNone/>
                      </a:pPr>
                      <a:r>
                        <a:rPr lang="en" sz="2400" b="1" i="0" u="none" strike="noStrike" cap="none">
                          <a:solidFill>
                            <a:schemeClr val="dk1"/>
                          </a:solidFill>
                          <a:latin typeface="Times New Roman"/>
                          <a:ea typeface="Times New Roman"/>
                          <a:cs typeface="Times New Roman"/>
                          <a:sym typeface="Times New Roman"/>
                        </a:rPr>
                        <a:t>Frequency</a:t>
                      </a:r>
                      <a:endParaRPr sz="2400"/>
                    </a:p>
                  </a:txBody>
                  <a:tcPr marL="91450" marR="91450" marT="34250" marB="3425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355600" marR="0" lvl="0" indent="-355600" algn="ctr" rtl="0">
                        <a:lnSpc>
                          <a:spcPct val="100000"/>
                        </a:lnSpc>
                        <a:spcBef>
                          <a:spcPts val="0"/>
                        </a:spcBef>
                        <a:spcAft>
                          <a:spcPts val="0"/>
                        </a:spcAft>
                        <a:buClr>
                          <a:schemeClr val="dk1"/>
                        </a:buClr>
                        <a:buSzPts val="1400"/>
                        <a:buFont typeface="Times New Roman"/>
                        <a:buNone/>
                      </a:pPr>
                      <a:r>
                        <a:rPr lang="en" sz="2400" b="1" i="0" u="none" strike="noStrike" cap="none" dirty="0">
                          <a:solidFill>
                            <a:schemeClr val="dk1"/>
                          </a:solidFill>
                          <a:latin typeface="Times New Roman"/>
                          <a:ea typeface="Times New Roman"/>
                          <a:cs typeface="Times New Roman"/>
                          <a:sym typeface="Times New Roman"/>
                        </a:rPr>
                        <a:t>5</a:t>
                      </a:r>
                      <a:endParaRPr sz="2400" dirty="0"/>
                    </a:p>
                  </a:txBody>
                  <a:tcPr marL="91450" marR="91450" marT="34250" marB="3425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355600" marR="0" lvl="0" indent="-355600" algn="ctr" rtl="0">
                        <a:lnSpc>
                          <a:spcPct val="100000"/>
                        </a:lnSpc>
                        <a:spcBef>
                          <a:spcPts val="0"/>
                        </a:spcBef>
                        <a:spcAft>
                          <a:spcPts val="0"/>
                        </a:spcAft>
                        <a:buClr>
                          <a:schemeClr val="dk1"/>
                        </a:buClr>
                        <a:buSzPts val="1400"/>
                        <a:buFont typeface="Times New Roman"/>
                        <a:buNone/>
                      </a:pPr>
                      <a:r>
                        <a:rPr lang="en" sz="2400" b="1" i="0" u="none" strike="noStrike" cap="none" dirty="0">
                          <a:solidFill>
                            <a:schemeClr val="dk1"/>
                          </a:solidFill>
                          <a:latin typeface="Times New Roman"/>
                          <a:ea typeface="Times New Roman"/>
                          <a:cs typeface="Times New Roman"/>
                          <a:sym typeface="Times New Roman"/>
                        </a:rPr>
                        <a:t>3</a:t>
                      </a:r>
                      <a:endParaRPr sz="2400" dirty="0"/>
                    </a:p>
                  </a:txBody>
                  <a:tcPr marL="91450" marR="91450" marT="34250" marB="3425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355600" marR="0" lvl="0" indent="-355600" algn="ctr" rtl="0">
                        <a:lnSpc>
                          <a:spcPct val="100000"/>
                        </a:lnSpc>
                        <a:spcBef>
                          <a:spcPts val="0"/>
                        </a:spcBef>
                        <a:spcAft>
                          <a:spcPts val="0"/>
                        </a:spcAft>
                        <a:buClr>
                          <a:schemeClr val="dk1"/>
                        </a:buClr>
                        <a:buSzPts val="1400"/>
                        <a:buFont typeface="Times New Roman"/>
                        <a:buNone/>
                      </a:pPr>
                      <a:r>
                        <a:rPr lang="en" sz="2400" b="1" i="0" u="none" strike="noStrike" cap="none" dirty="0">
                          <a:solidFill>
                            <a:schemeClr val="dk1"/>
                          </a:solidFill>
                          <a:latin typeface="Times New Roman"/>
                          <a:ea typeface="Times New Roman"/>
                          <a:cs typeface="Times New Roman"/>
                          <a:sym typeface="Times New Roman"/>
                        </a:rPr>
                        <a:t>7</a:t>
                      </a:r>
                      <a:endParaRPr sz="2400" dirty="0"/>
                    </a:p>
                  </a:txBody>
                  <a:tcPr marL="91450" marR="91450" marT="34250" marB="3425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355600" marR="0" lvl="0" indent="-355600" algn="ctr" rtl="0">
                        <a:lnSpc>
                          <a:spcPct val="100000"/>
                        </a:lnSpc>
                        <a:spcBef>
                          <a:spcPts val="0"/>
                        </a:spcBef>
                        <a:spcAft>
                          <a:spcPts val="0"/>
                        </a:spcAft>
                        <a:buClr>
                          <a:schemeClr val="dk1"/>
                        </a:buClr>
                        <a:buSzPts val="1400"/>
                        <a:buFont typeface="Times New Roman"/>
                        <a:buNone/>
                      </a:pPr>
                      <a:r>
                        <a:rPr lang="en" sz="2400" b="1" i="0" u="none" strike="noStrike" cap="none" dirty="0">
                          <a:solidFill>
                            <a:schemeClr val="dk1"/>
                          </a:solidFill>
                          <a:latin typeface="Times New Roman"/>
                          <a:ea typeface="Times New Roman"/>
                          <a:cs typeface="Times New Roman"/>
                          <a:sym typeface="Times New Roman"/>
                        </a:rPr>
                        <a:t>5</a:t>
                      </a:r>
                      <a:endParaRPr sz="2400" dirty="0"/>
                    </a:p>
                  </a:txBody>
                  <a:tcPr marL="91450" marR="91450" marT="34250" marB="3425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355600" marR="0" lvl="0" indent="-355600" algn="ctr" rtl="0">
                        <a:lnSpc>
                          <a:spcPct val="100000"/>
                        </a:lnSpc>
                        <a:spcBef>
                          <a:spcPts val="0"/>
                        </a:spcBef>
                        <a:spcAft>
                          <a:spcPts val="0"/>
                        </a:spcAft>
                        <a:buClr>
                          <a:schemeClr val="dk1"/>
                        </a:buClr>
                        <a:buSzPts val="1400"/>
                        <a:buFont typeface="Times New Roman"/>
                        <a:buNone/>
                      </a:pPr>
                      <a:r>
                        <a:rPr lang="en" sz="2400" b="1" i="0" u="none" strike="noStrike" cap="none" dirty="0">
                          <a:solidFill>
                            <a:schemeClr val="dk1"/>
                          </a:solidFill>
                          <a:latin typeface="Times New Roman"/>
                          <a:ea typeface="Times New Roman"/>
                          <a:cs typeface="Times New Roman"/>
                          <a:sym typeface="Times New Roman"/>
                        </a:rPr>
                        <a:t>4</a:t>
                      </a:r>
                      <a:endParaRPr sz="2400" dirty="0"/>
                    </a:p>
                  </a:txBody>
                  <a:tcPr marL="91450" marR="91450" marT="34250" marB="3425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355600" marR="0" lvl="0" indent="-355600" algn="ctr" rtl="0">
                        <a:lnSpc>
                          <a:spcPct val="100000"/>
                        </a:lnSpc>
                        <a:spcBef>
                          <a:spcPts val="0"/>
                        </a:spcBef>
                        <a:spcAft>
                          <a:spcPts val="0"/>
                        </a:spcAft>
                        <a:buClr>
                          <a:schemeClr val="dk1"/>
                        </a:buClr>
                        <a:buSzPts val="1400"/>
                        <a:buFont typeface="Times New Roman"/>
                        <a:buNone/>
                      </a:pPr>
                      <a:r>
                        <a:rPr lang="en" sz="2400" b="1" i="0" u="none" strike="noStrike" cap="none" dirty="0">
                          <a:solidFill>
                            <a:schemeClr val="dk1"/>
                          </a:solidFill>
                          <a:latin typeface="Times New Roman"/>
                          <a:ea typeface="Times New Roman"/>
                          <a:cs typeface="Times New Roman"/>
                          <a:sym typeface="Times New Roman"/>
                        </a:rPr>
                        <a:t>2</a:t>
                      </a:r>
                      <a:endParaRPr sz="2400" dirty="0"/>
                    </a:p>
                  </a:txBody>
                  <a:tcPr marL="91450" marR="91450" marT="34250" marB="3425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202" name="Google Shape;202;g2f8667aba1d_7_13"/>
          <p:cNvGraphicFramePr/>
          <p:nvPr>
            <p:extLst>
              <p:ext uri="{D42A27DB-BD31-4B8C-83A1-F6EECF244321}">
                <p14:modId xmlns:p14="http://schemas.microsoft.com/office/powerpoint/2010/main" val="2280506358"/>
              </p:ext>
            </p:extLst>
          </p:nvPr>
        </p:nvGraphicFramePr>
        <p:xfrm>
          <a:off x="684212" y="3509244"/>
          <a:ext cx="6429350" cy="930835"/>
        </p:xfrm>
        <a:graphic>
          <a:graphicData uri="http://schemas.openxmlformats.org/drawingml/2006/table">
            <a:tbl>
              <a:tblPr>
                <a:noFill/>
                <a:tableStyleId>{E56736FE-0E8E-44BB-A387-68498AA667DC}</a:tableStyleId>
              </a:tblPr>
              <a:tblGrid>
                <a:gridCol w="2078025">
                  <a:extLst>
                    <a:ext uri="{9D8B030D-6E8A-4147-A177-3AD203B41FA5}">
                      <a16:colId xmlns:a16="http://schemas.microsoft.com/office/drawing/2014/main" val="20000"/>
                    </a:ext>
                  </a:extLst>
                </a:gridCol>
                <a:gridCol w="1450975">
                  <a:extLst>
                    <a:ext uri="{9D8B030D-6E8A-4147-A177-3AD203B41FA5}">
                      <a16:colId xmlns:a16="http://schemas.microsoft.com/office/drawing/2014/main" val="20001"/>
                    </a:ext>
                  </a:extLst>
                </a:gridCol>
                <a:gridCol w="1449375">
                  <a:extLst>
                    <a:ext uri="{9D8B030D-6E8A-4147-A177-3AD203B41FA5}">
                      <a16:colId xmlns:a16="http://schemas.microsoft.com/office/drawing/2014/main" val="20002"/>
                    </a:ext>
                  </a:extLst>
                </a:gridCol>
                <a:gridCol w="1450975">
                  <a:extLst>
                    <a:ext uri="{9D8B030D-6E8A-4147-A177-3AD203B41FA5}">
                      <a16:colId xmlns:a16="http://schemas.microsoft.com/office/drawing/2014/main" val="20003"/>
                    </a:ext>
                  </a:extLst>
                </a:gridCol>
              </a:tblGrid>
              <a:tr h="397200">
                <a:tc>
                  <a:txBody>
                    <a:bodyPr/>
                    <a:lstStyle/>
                    <a:p>
                      <a:pPr marL="0" marR="0" lvl="0" indent="0" algn="l" rtl="0">
                        <a:lnSpc>
                          <a:spcPct val="100000"/>
                        </a:lnSpc>
                        <a:spcBef>
                          <a:spcPts val="0"/>
                        </a:spcBef>
                        <a:spcAft>
                          <a:spcPts val="0"/>
                        </a:spcAft>
                        <a:buClr>
                          <a:schemeClr val="dk1"/>
                        </a:buClr>
                        <a:buSzPts val="1100"/>
                        <a:buFont typeface="Times New Roman"/>
                        <a:buNone/>
                      </a:pPr>
                      <a:r>
                        <a:rPr lang="en" sz="2400" b="1" i="0" u="none" strike="noStrike" cap="none" dirty="0">
                          <a:solidFill>
                            <a:schemeClr val="dk1"/>
                          </a:solidFill>
                          <a:latin typeface="Times New Roman"/>
                          <a:ea typeface="Times New Roman"/>
                          <a:cs typeface="Times New Roman"/>
                          <a:sym typeface="Times New Roman"/>
                        </a:rPr>
                        <a:t>Age Group</a:t>
                      </a:r>
                      <a:endParaRPr sz="2400" dirty="0"/>
                    </a:p>
                  </a:txBody>
                  <a:tcPr marL="91450" marR="91450" marT="34300" marB="343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00"/>
                        <a:buFont typeface="Times New Roman"/>
                        <a:buNone/>
                      </a:pPr>
                      <a:r>
                        <a:rPr lang="en" sz="2400" b="1" i="0" u="none" strike="noStrike" cap="none" dirty="0">
                          <a:solidFill>
                            <a:schemeClr val="dk1"/>
                          </a:solidFill>
                          <a:latin typeface="Times New Roman"/>
                          <a:ea typeface="Times New Roman"/>
                          <a:cs typeface="Times New Roman"/>
                          <a:sym typeface="Times New Roman"/>
                        </a:rPr>
                        <a:t>1-2</a:t>
                      </a:r>
                      <a:endParaRPr sz="2400" dirty="0"/>
                    </a:p>
                  </a:txBody>
                  <a:tcPr marL="91450" marR="91450" marT="34300" marB="343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00"/>
                        <a:buFont typeface="Times New Roman"/>
                        <a:buNone/>
                      </a:pPr>
                      <a:r>
                        <a:rPr lang="en" sz="2400" b="1" i="0" u="none" strike="noStrike" cap="none">
                          <a:solidFill>
                            <a:schemeClr val="dk1"/>
                          </a:solidFill>
                          <a:latin typeface="Times New Roman"/>
                          <a:ea typeface="Times New Roman"/>
                          <a:cs typeface="Times New Roman"/>
                          <a:sym typeface="Times New Roman"/>
                        </a:rPr>
                        <a:t>3-4</a:t>
                      </a:r>
                      <a:endParaRPr sz="2400"/>
                    </a:p>
                  </a:txBody>
                  <a:tcPr marL="91450" marR="91450" marT="34300" marB="343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00"/>
                        <a:buFont typeface="Times New Roman"/>
                        <a:buNone/>
                      </a:pPr>
                      <a:r>
                        <a:rPr lang="en" sz="2400" b="1" i="0" u="none" strike="noStrike" cap="none">
                          <a:solidFill>
                            <a:schemeClr val="dk1"/>
                          </a:solidFill>
                          <a:latin typeface="Times New Roman"/>
                          <a:ea typeface="Times New Roman"/>
                          <a:cs typeface="Times New Roman"/>
                          <a:sym typeface="Times New Roman"/>
                        </a:rPr>
                        <a:t>5-6</a:t>
                      </a:r>
                      <a:endParaRPr sz="2400"/>
                    </a:p>
                  </a:txBody>
                  <a:tcPr marL="91450" marR="91450" marT="34300" marB="343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496475">
                <a:tc>
                  <a:txBody>
                    <a:bodyPr/>
                    <a:lstStyle/>
                    <a:p>
                      <a:pPr marL="0" marR="0" lvl="0" indent="0" algn="l" rtl="0">
                        <a:lnSpc>
                          <a:spcPct val="100000"/>
                        </a:lnSpc>
                        <a:spcBef>
                          <a:spcPts val="0"/>
                        </a:spcBef>
                        <a:spcAft>
                          <a:spcPts val="0"/>
                        </a:spcAft>
                        <a:buClr>
                          <a:schemeClr val="dk1"/>
                        </a:buClr>
                        <a:buSzPts val="1100"/>
                        <a:buFont typeface="Times New Roman"/>
                        <a:buNone/>
                      </a:pPr>
                      <a:r>
                        <a:rPr lang="en" sz="2400" b="1" i="0" u="none" strike="noStrike" cap="none">
                          <a:solidFill>
                            <a:schemeClr val="dk1"/>
                          </a:solidFill>
                          <a:latin typeface="Times New Roman"/>
                          <a:ea typeface="Times New Roman"/>
                          <a:cs typeface="Times New Roman"/>
                          <a:sym typeface="Times New Roman"/>
                        </a:rPr>
                        <a:t>Frequency</a:t>
                      </a:r>
                      <a:endParaRPr sz="2400"/>
                    </a:p>
                  </a:txBody>
                  <a:tcPr marL="91450" marR="91450" marT="34300" marB="343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00"/>
                        <a:buFont typeface="Times New Roman"/>
                        <a:buNone/>
                      </a:pPr>
                      <a:r>
                        <a:rPr lang="en" sz="2400" b="1" i="0" u="none" strike="noStrike" cap="none" dirty="0">
                          <a:solidFill>
                            <a:schemeClr val="dk1"/>
                          </a:solidFill>
                          <a:latin typeface="Times New Roman"/>
                          <a:ea typeface="Times New Roman"/>
                          <a:cs typeface="Times New Roman"/>
                          <a:sym typeface="Times New Roman"/>
                        </a:rPr>
                        <a:t>8</a:t>
                      </a:r>
                      <a:endParaRPr sz="2400" dirty="0"/>
                    </a:p>
                  </a:txBody>
                  <a:tcPr marL="91450" marR="91450" marT="34300" marB="343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00"/>
                        <a:buFont typeface="Times New Roman"/>
                        <a:buNone/>
                      </a:pPr>
                      <a:r>
                        <a:rPr lang="en" sz="2400" b="1" i="0" u="none" strike="noStrike" cap="none" dirty="0">
                          <a:solidFill>
                            <a:schemeClr val="dk1"/>
                          </a:solidFill>
                          <a:latin typeface="Times New Roman"/>
                          <a:ea typeface="Times New Roman"/>
                          <a:cs typeface="Times New Roman"/>
                          <a:sym typeface="Times New Roman"/>
                        </a:rPr>
                        <a:t>12</a:t>
                      </a:r>
                      <a:endParaRPr sz="2400" dirty="0"/>
                    </a:p>
                  </a:txBody>
                  <a:tcPr marL="91450" marR="91450" marT="34300" marB="343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00"/>
                        <a:buFont typeface="Times New Roman"/>
                        <a:buNone/>
                      </a:pPr>
                      <a:r>
                        <a:rPr lang="en" sz="2400" b="1" i="0" u="none" strike="noStrike" cap="none" dirty="0">
                          <a:solidFill>
                            <a:schemeClr val="dk1"/>
                          </a:solidFill>
                          <a:latin typeface="Times New Roman"/>
                          <a:ea typeface="Times New Roman"/>
                          <a:cs typeface="Times New Roman"/>
                          <a:sym typeface="Times New Roman"/>
                        </a:rPr>
                        <a:t>6</a:t>
                      </a:r>
                      <a:endParaRPr sz="2400" dirty="0"/>
                    </a:p>
                  </a:txBody>
                  <a:tcPr marL="91450" marR="91450" marT="34300" marB="343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203" name="Google Shape;203;g2f8667aba1d_7_13"/>
          <p:cNvSpPr txBox="1"/>
          <p:nvPr/>
        </p:nvSpPr>
        <p:spPr>
          <a:xfrm>
            <a:off x="285749" y="1312069"/>
            <a:ext cx="7198415"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New Roman"/>
              <a:buNone/>
            </a:pPr>
            <a:r>
              <a:rPr lang="en" sz="2400" b="1" i="0" u="none" dirty="0">
                <a:solidFill>
                  <a:srgbClr val="FF0000"/>
                </a:solidFill>
                <a:latin typeface="Times New Roman" panose="02020603050405020304" pitchFamily="18" charset="0"/>
                <a:ea typeface="Times New Roman"/>
                <a:cs typeface="Times New Roman" panose="02020603050405020304" pitchFamily="18" charset="0"/>
                <a:sym typeface="Times New Roman"/>
              </a:rPr>
              <a:t>Ungrouped Frequency Distribution</a:t>
            </a:r>
            <a:endParaRPr dirty="0">
              <a:solidFill>
                <a:srgbClr val="FF0000"/>
              </a:solidFill>
              <a:latin typeface="Times New Roman" panose="02020603050405020304" pitchFamily="18" charset="0"/>
              <a:cs typeface="Times New Roman" panose="02020603050405020304" pitchFamily="18" charset="0"/>
            </a:endParaRPr>
          </a:p>
        </p:txBody>
      </p:sp>
      <p:sp>
        <p:nvSpPr>
          <p:cNvPr id="204" name="Google Shape;204;g2f8667aba1d_7_13"/>
          <p:cNvSpPr txBox="1"/>
          <p:nvPr/>
        </p:nvSpPr>
        <p:spPr>
          <a:xfrm>
            <a:off x="437322" y="2969419"/>
            <a:ext cx="6828181"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New Roman"/>
              <a:buNone/>
            </a:pPr>
            <a:r>
              <a:rPr lang="en-IN" sz="2400" b="1" i="0" u="none" dirty="0">
                <a:solidFill>
                  <a:srgbClr val="FF0000"/>
                </a:solidFill>
                <a:latin typeface="Times New Roman" panose="02020603050405020304" pitchFamily="18" charset="0"/>
                <a:ea typeface="Times New Roman"/>
                <a:cs typeface="Times New Roman" panose="02020603050405020304" pitchFamily="18" charset="0"/>
                <a:sym typeface="Times New Roman"/>
              </a:rPr>
              <a:t>Grouped Frequency Distribution</a:t>
            </a:r>
            <a:endParaRPr lang="en-IN" sz="24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47774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B26CAD7-E292-A5D2-BF9D-C337C9FA02CC}"/>
              </a:ext>
            </a:extLst>
          </p:cNvPr>
          <p:cNvSpPr txBox="1"/>
          <p:nvPr/>
        </p:nvSpPr>
        <p:spPr>
          <a:xfrm>
            <a:off x="67088" y="459633"/>
            <a:ext cx="8647044" cy="4593566"/>
          </a:xfrm>
          <a:prstGeom prst="rect">
            <a:avLst/>
          </a:prstGeom>
          <a:no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100" b="1" dirty="0">
                <a:solidFill>
                  <a:srgbClr val="FF0000"/>
                </a:solidFill>
                <a:latin typeface="Times New Roman" panose="02020603050405020304" pitchFamily="18" charset="0"/>
                <a:cs typeface="Times New Roman" panose="02020603050405020304" pitchFamily="18" charset="0"/>
              </a:rPr>
              <a:t>CONSTRUCTING FREQUENCY DISTRIBUTIONS</a:t>
            </a:r>
          </a:p>
          <a:p>
            <a:endParaRPr lang="en-US" sz="2100" b="1" dirty="0">
              <a:solidFill>
                <a:srgbClr val="FF0000"/>
              </a:solidFill>
              <a:latin typeface="Times New Roman" panose="02020603050405020304" pitchFamily="18" charset="0"/>
              <a:cs typeface="Times New Roman" panose="02020603050405020304" pitchFamily="18" charset="0"/>
            </a:endParaRPr>
          </a:p>
          <a:p>
            <a:pPr marL="342900" indent="-342900">
              <a:buAutoNum type="arabicPeriod"/>
            </a:pPr>
            <a:r>
              <a:rPr lang="en-US" sz="1800" dirty="0">
                <a:latin typeface="Times New Roman" panose="02020603050405020304" pitchFamily="18" charset="0"/>
                <a:cs typeface="Times New Roman" panose="02020603050405020304" pitchFamily="18" charset="0"/>
              </a:rPr>
              <a:t>Find the range, that is, the difference between the largest and smallest observations. </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2. Find the class interval required to span the range by dividing the range by the desired number of classes (ordinarily 10). </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3. Round off to the nearest convenient interval (such as 1, 2, 3, . . . 10, particularly 5 or 10 or multiples of 5 or 10). </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4. Determine where the lowest class should begin. (Ordinarily, this number should be a multiple of the class interval.)</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5. Determine where the lowest class should end by adding the class interval to the lower boundary and then subtracting one unit of measurement. </a:t>
            </a:r>
          </a:p>
          <a:p>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52074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C261D32-6625-C95B-6032-CEB2DF8F3D68}"/>
              </a:ext>
            </a:extLst>
          </p:cNvPr>
          <p:cNvSpPr txBox="1"/>
          <p:nvPr/>
        </p:nvSpPr>
        <p:spPr>
          <a:xfrm>
            <a:off x="581440" y="1021245"/>
            <a:ext cx="8468138" cy="3116238"/>
          </a:xfrm>
          <a:prstGeom prst="rect">
            <a:avLst/>
          </a:prstGeom>
          <a:no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800" dirty="0">
                <a:latin typeface="Times New Roman" panose="02020603050405020304" pitchFamily="18" charset="0"/>
                <a:cs typeface="Times New Roman" panose="02020603050405020304" pitchFamily="18" charset="0"/>
              </a:rPr>
              <a:t>6. Working upward, list as many equivalent classes as are required to include the largest observation.</a:t>
            </a:r>
          </a:p>
          <a:p>
            <a:r>
              <a:rPr lang="en-US" sz="1800" dirty="0">
                <a:latin typeface="Times New Roman" panose="02020603050405020304" pitchFamily="18" charset="0"/>
                <a:cs typeface="Times New Roman" panose="02020603050405020304" pitchFamily="18" charset="0"/>
              </a:rPr>
              <a:t>For example, list 130–139, 140–149, . . . , 240–249</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7. Indicate with a tally the class in which each observation falls.  </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8. Replace the tally count for each class with a number—the frequency (f )—and show the total of all frequencies. (Tally marks are not usually shown in the final frequency distribution.) </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9. Supply headings for both columns and a title for the table. </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10340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2491132D-EC26-7CBA-216D-D1E21D50E8F9}"/>
              </a:ext>
            </a:extLst>
          </p:cNvPr>
          <p:cNvSpPr>
            <a:spLocks noChangeArrowheads="1"/>
          </p:cNvSpPr>
          <p:nvPr/>
        </p:nvSpPr>
        <p:spPr bwMode="auto">
          <a:xfrm>
            <a:off x="736549" y="1186756"/>
            <a:ext cx="6551345" cy="27699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kumimoji="0" lang="en-US" altLang="en-US" sz="27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Relative Frequency Distribution</a:t>
            </a:r>
          </a:p>
          <a:p>
            <a:pPr marL="0" marR="0" lvl="0" indent="0" algn="l" defTabSz="6858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This distribution displays the proportion or percentage of observations in each interval or class. </a:t>
            </a:r>
          </a:p>
          <a:p>
            <a:pPr marL="0" marR="0" lvl="0" indent="0" algn="l" defTabSz="6858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It is useful for comparing different data sets or for analyzing the distribution of data within a set.</a:t>
            </a:r>
          </a:p>
          <a:p>
            <a:pPr marL="0" marR="0" lvl="0" indent="0" algn="l" defTabSz="685800" rtl="0" eaLnBrk="0" fontAlgn="base" latinLnBrk="0" hangingPunct="0">
              <a:lnSpc>
                <a:spcPct val="100000"/>
              </a:lnSpc>
              <a:spcBef>
                <a:spcPct val="0"/>
              </a:spcBef>
              <a:spcAft>
                <a:spcPct val="0"/>
              </a:spcAft>
              <a:buClrTx/>
              <a:buSzTx/>
              <a:buFontTx/>
              <a:buNone/>
              <a:tabLst/>
            </a:pP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6858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Relative Frequency is given by:</a:t>
            </a:r>
          </a:p>
          <a:p>
            <a:pPr marL="0" marR="0" lvl="0" indent="0" algn="l" defTabSz="685800" rtl="0" eaLnBrk="0" fontAlgn="base" latinLnBrk="0" hangingPunct="0">
              <a:lnSpc>
                <a:spcPct val="100000"/>
              </a:lnSpc>
              <a:spcBef>
                <a:spcPct val="0"/>
              </a:spcBef>
              <a:spcAft>
                <a:spcPct val="0"/>
              </a:spcAft>
              <a:buClrTx/>
              <a:buSzTx/>
              <a:buFontTx/>
              <a:buNone/>
              <a:tabLst/>
            </a:pP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6858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Relative Frequency = (Frequency of Event)/(Total Number of Events)</a:t>
            </a:r>
          </a:p>
        </p:txBody>
      </p:sp>
    </p:spTree>
    <p:extLst>
      <p:ext uri="{BB962C8B-B14F-4D97-AF65-F5344CB8AC3E}">
        <p14:creationId xmlns:p14="http://schemas.microsoft.com/office/powerpoint/2010/main" val="20899643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215AA8B-A1E9-5497-7BC2-E5A49DE272C3}"/>
              </a:ext>
            </a:extLst>
          </p:cNvPr>
          <p:cNvGraphicFramePr>
            <a:graphicFrameLocks noGrp="1"/>
          </p:cNvGraphicFramePr>
          <p:nvPr/>
        </p:nvGraphicFramePr>
        <p:xfrm>
          <a:off x="200891" y="2452251"/>
          <a:ext cx="8333508" cy="2567940"/>
        </p:xfrm>
        <a:graphic>
          <a:graphicData uri="http://schemas.openxmlformats.org/drawingml/2006/table">
            <a:tbl>
              <a:tblPr/>
              <a:tblGrid>
                <a:gridCol w="2342468">
                  <a:extLst>
                    <a:ext uri="{9D8B030D-6E8A-4147-A177-3AD203B41FA5}">
                      <a16:colId xmlns:a16="http://schemas.microsoft.com/office/drawing/2014/main" val="3467697096"/>
                    </a:ext>
                  </a:extLst>
                </a:gridCol>
                <a:gridCol w="2810962">
                  <a:extLst>
                    <a:ext uri="{9D8B030D-6E8A-4147-A177-3AD203B41FA5}">
                      <a16:colId xmlns:a16="http://schemas.microsoft.com/office/drawing/2014/main" val="954509780"/>
                    </a:ext>
                  </a:extLst>
                </a:gridCol>
                <a:gridCol w="3180078">
                  <a:extLst>
                    <a:ext uri="{9D8B030D-6E8A-4147-A177-3AD203B41FA5}">
                      <a16:colId xmlns:a16="http://schemas.microsoft.com/office/drawing/2014/main" val="1396803793"/>
                    </a:ext>
                  </a:extLst>
                </a:gridCol>
              </a:tblGrid>
              <a:tr h="320040">
                <a:tc>
                  <a:txBody>
                    <a:bodyPr/>
                    <a:lstStyle/>
                    <a:p>
                      <a:pPr algn="ctr" fontAlgn="base"/>
                      <a:r>
                        <a:rPr lang="en-IN" sz="1400" b="1" dirty="0">
                          <a:effectLst/>
                          <a:latin typeface="Times New Roman" panose="02020603050405020304" pitchFamily="18" charset="0"/>
                          <a:cs typeface="Times New Roman" panose="02020603050405020304" pitchFamily="18" charset="0"/>
                        </a:rPr>
                        <a:t>Score Range</a:t>
                      </a:r>
                    </a:p>
                  </a:txBody>
                  <a:tcPr marL="28575" marR="2857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r>
                        <a:rPr lang="en-IN" sz="1400" b="1">
                          <a:effectLst/>
                          <a:latin typeface="Times New Roman" panose="02020603050405020304" pitchFamily="18" charset="0"/>
                          <a:cs typeface="Times New Roman" panose="02020603050405020304" pitchFamily="18" charset="0"/>
                        </a:rPr>
                        <a:t>Frequency</a:t>
                      </a:r>
                    </a:p>
                  </a:txBody>
                  <a:tcPr marL="57150" marR="57150"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r>
                        <a:rPr lang="en-IN" sz="1400" b="1">
                          <a:effectLst/>
                          <a:latin typeface="Times New Roman" panose="02020603050405020304" pitchFamily="18" charset="0"/>
                          <a:cs typeface="Times New Roman" panose="02020603050405020304" pitchFamily="18" charset="0"/>
                        </a:rPr>
                        <a:t>Relative Frequency</a:t>
                      </a:r>
                    </a:p>
                  </a:txBody>
                  <a:tcPr marL="57150" marR="57150"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98330848"/>
                  </a:ext>
                </a:extLst>
              </a:tr>
              <a:tr h="365760">
                <a:tc>
                  <a:txBody>
                    <a:bodyPr/>
                    <a:lstStyle/>
                    <a:p>
                      <a:pPr algn="ctr" fontAlgn="base">
                        <a:spcAft>
                          <a:spcPts val="750"/>
                        </a:spcAft>
                      </a:pPr>
                      <a:r>
                        <a:rPr lang="en-IN" sz="1400" b="0" dirty="0">
                          <a:effectLst/>
                          <a:latin typeface="Times New Roman" panose="02020603050405020304" pitchFamily="18" charset="0"/>
                          <a:cs typeface="Times New Roman" panose="02020603050405020304" pitchFamily="18" charset="0"/>
                        </a:rPr>
                        <a:t>0-20</a:t>
                      </a: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spcAft>
                          <a:spcPts val="750"/>
                        </a:spcAft>
                      </a:pPr>
                      <a:r>
                        <a:rPr lang="en-IN" sz="1400" b="0">
                          <a:effectLst/>
                          <a:latin typeface="Times New Roman" panose="02020603050405020304" pitchFamily="18" charset="0"/>
                          <a:cs typeface="Times New Roman" panose="02020603050405020304" pitchFamily="18" charset="0"/>
                        </a:rPr>
                        <a:t>5</a:t>
                      </a: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spcAft>
                          <a:spcPts val="750"/>
                        </a:spcAft>
                      </a:pPr>
                      <a:r>
                        <a:rPr lang="en-IN" sz="1400" b="0">
                          <a:effectLst/>
                          <a:latin typeface="Times New Roman" panose="02020603050405020304" pitchFamily="18" charset="0"/>
                          <a:cs typeface="Times New Roman" panose="02020603050405020304" pitchFamily="18" charset="0"/>
                        </a:rPr>
                        <a:t>5/50 = 0.10</a:t>
                      </a: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0215032"/>
                  </a:ext>
                </a:extLst>
              </a:tr>
              <a:tr h="365760">
                <a:tc>
                  <a:txBody>
                    <a:bodyPr/>
                    <a:lstStyle/>
                    <a:p>
                      <a:pPr algn="ctr" fontAlgn="base">
                        <a:spcAft>
                          <a:spcPts val="750"/>
                        </a:spcAft>
                      </a:pPr>
                      <a:r>
                        <a:rPr lang="en-IN" sz="1400" b="0" dirty="0">
                          <a:effectLst/>
                          <a:latin typeface="Times New Roman" panose="02020603050405020304" pitchFamily="18" charset="0"/>
                          <a:cs typeface="Times New Roman" panose="02020603050405020304" pitchFamily="18" charset="0"/>
                        </a:rPr>
                        <a:t>21-40</a:t>
                      </a: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spcAft>
                          <a:spcPts val="750"/>
                        </a:spcAft>
                      </a:pPr>
                      <a:r>
                        <a:rPr lang="en-IN" sz="1400" b="0" dirty="0">
                          <a:effectLst/>
                          <a:latin typeface="Times New Roman" panose="02020603050405020304" pitchFamily="18" charset="0"/>
                          <a:cs typeface="Times New Roman" panose="02020603050405020304" pitchFamily="18" charset="0"/>
                        </a:rPr>
                        <a:t>10</a:t>
                      </a: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spcAft>
                          <a:spcPts val="750"/>
                        </a:spcAft>
                      </a:pPr>
                      <a:r>
                        <a:rPr lang="en-IN" sz="1400" b="0" dirty="0">
                          <a:effectLst/>
                          <a:latin typeface="Times New Roman" panose="02020603050405020304" pitchFamily="18" charset="0"/>
                          <a:cs typeface="Times New Roman" panose="02020603050405020304" pitchFamily="18" charset="0"/>
                        </a:rPr>
                        <a:t>10/50 = 0.20</a:t>
                      </a: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3214695"/>
                  </a:ext>
                </a:extLst>
              </a:tr>
              <a:tr h="365760">
                <a:tc>
                  <a:txBody>
                    <a:bodyPr/>
                    <a:lstStyle/>
                    <a:p>
                      <a:pPr algn="ctr" fontAlgn="base">
                        <a:spcAft>
                          <a:spcPts val="750"/>
                        </a:spcAft>
                      </a:pPr>
                      <a:r>
                        <a:rPr lang="en-IN" sz="1400" b="0">
                          <a:effectLst/>
                          <a:latin typeface="Times New Roman" panose="02020603050405020304" pitchFamily="18" charset="0"/>
                          <a:cs typeface="Times New Roman" panose="02020603050405020304" pitchFamily="18" charset="0"/>
                        </a:rPr>
                        <a:t>41-60</a:t>
                      </a: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spcAft>
                          <a:spcPts val="750"/>
                        </a:spcAft>
                      </a:pPr>
                      <a:r>
                        <a:rPr lang="en-IN" sz="1400" b="0" dirty="0">
                          <a:effectLst/>
                          <a:latin typeface="Times New Roman" panose="02020603050405020304" pitchFamily="18" charset="0"/>
                          <a:cs typeface="Times New Roman" panose="02020603050405020304" pitchFamily="18" charset="0"/>
                        </a:rPr>
                        <a:t>20</a:t>
                      </a: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spcAft>
                          <a:spcPts val="750"/>
                        </a:spcAft>
                      </a:pPr>
                      <a:r>
                        <a:rPr lang="en-IN" sz="1400" b="0">
                          <a:effectLst/>
                          <a:latin typeface="Times New Roman" panose="02020603050405020304" pitchFamily="18" charset="0"/>
                          <a:cs typeface="Times New Roman" panose="02020603050405020304" pitchFamily="18" charset="0"/>
                        </a:rPr>
                        <a:t>20/50 = 0.40</a:t>
                      </a: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34916109"/>
                  </a:ext>
                </a:extLst>
              </a:tr>
              <a:tr h="365760">
                <a:tc>
                  <a:txBody>
                    <a:bodyPr/>
                    <a:lstStyle/>
                    <a:p>
                      <a:pPr algn="ctr" fontAlgn="base">
                        <a:spcAft>
                          <a:spcPts val="750"/>
                        </a:spcAft>
                      </a:pPr>
                      <a:r>
                        <a:rPr lang="en-IN" sz="1400" b="0" dirty="0">
                          <a:effectLst/>
                          <a:latin typeface="Times New Roman" panose="02020603050405020304" pitchFamily="18" charset="0"/>
                          <a:cs typeface="Times New Roman" panose="02020603050405020304" pitchFamily="18" charset="0"/>
                        </a:rPr>
                        <a:t>61-80</a:t>
                      </a: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spcAft>
                          <a:spcPts val="750"/>
                        </a:spcAft>
                      </a:pPr>
                      <a:r>
                        <a:rPr lang="en-IN" sz="1400" b="0" dirty="0">
                          <a:effectLst/>
                          <a:latin typeface="Times New Roman" panose="02020603050405020304" pitchFamily="18" charset="0"/>
                          <a:cs typeface="Times New Roman" panose="02020603050405020304" pitchFamily="18" charset="0"/>
                        </a:rPr>
                        <a:t>10</a:t>
                      </a: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spcAft>
                          <a:spcPts val="750"/>
                        </a:spcAft>
                      </a:pPr>
                      <a:r>
                        <a:rPr lang="en-IN" sz="1400" b="0" dirty="0">
                          <a:effectLst/>
                          <a:latin typeface="Times New Roman" panose="02020603050405020304" pitchFamily="18" charset="0"/>
                          <a:cs typeface="Times New Roman" panose="02020603050405020304" pitchFamily="18" charset="0"/>
                        </a:rPr>
                        <a:t>10/50 = 0.20</a:t>
                      </a: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1188264"/>
                  </a:ext>
                </a:extLst>
              </a:tr>
              <a:tr h="365760">
                <a:tc>
                  <a:txBody>
                    <a:bodyPr/>
                    <a:lstStyle/>
                    <a:p>
                      <a:pPr algn="ctr" fontAlgn="base">
                        <a:spcAft>
                          <a:spcPts val="750"/>
                        </a:spcAft>
                      </a:pPr>
                      <a:r>
                        <a:rPr lang="en-IN" sz="1400" b="0">
                          <a:effectLst/>
                          <a:latin typeface="Times New Roman" panose="02020603050405020304" pitchFamily="18" charset="0"/>
                          <a:cs typeface="Times New Roman" panose="02020603050405020304" pitchFamily="18" charset="0"/>
                        </a:rPr>
                        <a:t>81-100</a:t>
                      </a: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spcAft>
                          <a:spcPts val="750"/>
                        </a:spcAft>
                      </a:pPr>
                      <a:r>
                        <a:rPr lang="en-IN" sz="1400" b="0" dirty="0">
                          <a:effectLst/>
                          <a:latin typeface="Times New Roman" panose="02020603050405020304" pitchFamily="18" charset="0"/>
                          <a:cs typeface="Times New Roman" panose="02020603050405020304" pitchFamily="18" charset="0"/>
                        </a:rPr>
                        <a:t>5</a:t>
                      </a: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spcAft>
                          <a:spcPts val="750"/>
                        </a:spcAft>
                      </a:pPr>
                      <a:r>
                        <a:rPr lang="en-IN" sz="1400" b="0" dirty="0">
                          <a:effectLst/>
                          <a:latin typeface="Times New Roman" panose="02020603050405020304" pitchFamily="18" charset="0"/>
                          <a:cs typeface="Times New Roman" panose="02020603050405020304" pitchFamily="18" charset="0"/>
                        </a:rPr>
                        <a:t>5/50 = 0.10</a:t>
                      </a: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9030277"/>
                  </a:ext>
                </a:extLst>
              </a:tr>
              <a:tr h="365760">
                <a:tc>
                  <a:txBody>
                    <a:bodyPr/>
                    <a:lstStyle/>
                    <a:p>
                      <a:pPr algn="ctr" rtl="0" fontAlgn="base">
                        <a:spcAft>
                          <a:spcPts val="750"/>
                        </a:spcAft>
                      </a:pPr>
                      <a:r>
                        <a:rPr lang="en-IN" sz="1400" b="1">
                          <a:effectLst/>
                          <a:latin typeface="Times New Roman" panose="02020603050405020304" pitchFamily="18" charset="0"/>
                          <a:cs typeface="Times New Roman" panose="02020603050405020304" pitchFamily="18" charset="0"/>
                        </a:rPr>
                        <a:t>Total</a:t>
                      </a:r>
                      <a:endParaRPr lang="en-IN" sz="1400" b="0">
                        <a:effectLst/>
                        <a:latin typeface="Times New Roman" panose="02020603050405020304" pitchFamily="18" charset="0"/>
                        <a:cs typeface="Times New Roman" panose="02020603050405020304" pitchFamily="18" charset="0"/>
                      </a:endParaRP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spcAft>
                          <a:spcPts val="750"/>
                        </a:spcAft>
                      </a:pPr>
                      <a:r>
                        <a:rPr lang="en-IN" sz="1400" b="1">
                          <a:effectLst/>
                          <a:latin typeface="Times New Roman" panose="02020603050405020304" pitchFamily="18" charset="0"/>
                          <a:cs typeface="Times New Roman" panose="02020603050405020304" pitchFamily="18" charset="0"/>
                        </a:rPr>
                        <a:t>50</a:t>
                      </a:r>
                      <a:endParaRPr lang="en-IN" sz="1400" b="0">
                        <a:effectLst/>
                        <a:latin typeface="Times New Roman" panose="02020603050405020304" pitchFamily="18" charset="0"/>
                        <a:cs typeface="Times New Roman" panose="02020603050405020304" pitchFamily="18" charset="0"/>
                      </a:endParaRP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spcAft>
                          <a:spcPts val="750"/>
                        </a:spcAft>
                      </a:pPr>
                      <a:r>
                        <a:rPr lang="en-IN" sz="1400" b="1" dirty="0">
                          <a:effectLst/>
                          <a:latin typeface="Times New Roman" panose="02020603050405020304" pitchFamily="18" charset="0"/>
                          <a:cs typeface="Times New Roman" panose="02020603050405020304" pitchFamily="18" charset="0"/>
                        </a:rPr>
                        <a:t>1.00</a:t>
                      </a:r>
                      <a:endParaRPr lang="en-IN" sz="1400" b="0" dirty="0">
                        <a:effectLst/>
                        <a:latin typeface="Times New Roman" panose="02020603050405020304" pitchFamily="18" charset="0"/>
                        <a:cs typeface="Times New Roman" panose="02020603050405020304" pitchFamily="18" charset="0"/>
                      </a:endParaRP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43428441"/>
                  </a:ext>
                </a:extLst>
              </a:tr>
            </a:tbl>
          </a:graphicData>
        </a:graphic>
      </p:graphicFrame>
      <p:sp>
        <p:nvSpPr>
          <p:cNvPr id="3" name="Rectangle 1">
            <a:extLst>
              <a:ext uri="{FF2B5EF4-FFF2-40B4-BE49-F238E27FC236}">
                <a16:creationId xmlns:a16="http://schemas.microsoft.com/office/drawing/2014/main" id="{C3F753FC-9D2B-11CF-ED11-FC42A96F3695}"/>
              </a:ext>
            </a:extLst>
          </p:cNvPr>
          <p:cNvSpPr>
            <a:spLocks noChangeArrowheads="1"/>
          </p:cNvSpPr>
          <p:nvPr/>
        </p:nvSpPr>
        <p:spPr bwMode="auto">
          <a:xfrm>
            <a:off x="304801" y="383927"/>
            <a:ext cx="8229599" cy="196977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l" defTabSz="6858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Example:</a:t>
            </a:r>
          </a:p>
          <a:p>
            <a:pPr marL="0" marR="0" lvl="0" indent="0" algn="l" defTabSz="685800" rtl="0" eaLnBrk="0" fontAlgn="base" latinLnBrk="0" hangingPunct="0">
              <a:lnSpc>
                <a:spcPct val="100000"/>
              </a:lnSpc>
              <a:spcBef>
                <a:spcPct val="0"/>
              </a:spcBef>
              <a:spcAft>
                <a:spcPct val="0"/>
              </a:spcAft>
              <a:buClrTx/>
              <a:buSzTx/>
              <a:buFontTx/>
              <a:buNone/>
              <a:tabLst/>
            </a:pPr>
            <a:endParaRPr lang="en-US" altLang="en-US" sz="1600" b="1" dirty="0">
              <a:solidFill>
                <a:srgbClr val="273239"/>
              </a:solidFill>
              <a:latin typeface="Times New Roman" panose="02020603050405020304" pitchFamily="18" charset="0"/>
              <a:cs typeface="Times New Roman" panose="02020603050405020304" pitchFamily="18" charset="0"/>
            </a:endParaRPr>
          </a:p>
          <a:p>
            <a:pPr marL="0" marR="0" lvl="0" indent="0" algn="l" defTabSz="6858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endParaRPr>
          </a:p>
          <a:p>
            <a:pPr marL="0" marR="0" lvl="0" indent="0" algn="l" defTabSz="685800" rtl="0" eaLnBrk="0" fontAlgn="base" latinLnBrk="0" hangingPunct="0">
              <a:lnSpc>
                <a:spcPct val="100000"/>
              </a:lnSpc>
              <a:spcBef>
                <a:spcPct val="0"/>
              </a:spcBef>
              <a:spcAft>
                <a:spcPct val="0"/>
              </a:spcAft>
              <a:buClrTx/>
              <a:buSzTx/>
              <a:buFontTx/>
              <a:buNone/>
              <a:tabLst/>
            </a:pPr>
            <a:endParaRPr lang="en-US" altLang="en-US" sz="1600" b="1" dirty="0">
              <a:solidFill>
                <a:srgbClr val="273239"/>
              </a:solidFill>
              <a:latin typeface="Times New Roman" panose="02020603050405020304" pitchFamily="18" charset="0"/>
              <a:cs typeface="Times New Roman" panose="02020603050405020304" pitchFamily="18" charset="0"/>
            </a:endParaRPr>
          </a:p>
          <a:p>
            <a:pPr marL="0" marR="0" lvl="0" indent="0" algn="l" defTabSz="6858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endParaRPr>
          </a:p>
          <a:p>
            <a:pPr marL="0" marR="0" lvl="0" indent="0" algn="l" defTabSz="6858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Solution:</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6858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Create the Relative Frequency Distribution table, we need to calculate Relative Frequency for each class interval. Thus Relative Frequency Distribution table is given as follows:</a:t>
            </a:r>
          </a:p>
        </p:txBody>
      </p:sp>
      <p:graphicFrame>
        <p:nvGraphicFramePr>
          <p:cNvPr id="8" name="Table 7">
            <a:extLst>
              <a:ext uri="{FF2B5EF4-FFF2-40B4-BE49-F238E27FC236}">
                <a16:creationId xmlns:a16="http://schemas.microsoft.com/office/drawing/2014/main" id="{125DA25E-28FA-76C2-E70B-F1481A73FDC2}"/>
              </a:ext>
            </a:extLst>
          </p:cNvPr>
          <p:cNvGraphicFramePr>
            <a:graphicFrameLocks noGrp="1"/>
          </p:cNvGraphicFramePr>
          <p:nvPr/>
        </p:nvGraphicFramePr>
        <p:xfrm>
          <a:off x="1219200" y="727363"/>
          <a:ext cx="6179126" cy="803564"/>
        </p:xfrm>
        <a:graphic>
          <a:graphicData uri="http://schemas.openxmlformats.org/drawingml/2006/table">
            <a:tbl>
              <a:tblPr/>
              <a:tblGrid>
                <a:gridCol w="1189111">
                  <a:extLst>
                    <a:ext uri="{9D8B030D-6E8A-4147-A177-3AD203B41FA5}">
                      <a16:colId xmlns:a16="http://schemas.microsoft.com/office/drawing/2014/main" val="400517456"/>
                    </a:ext>
                  </a:extLst>
                </a:gridCol>
                <a:gridCol w="998003">
                  <a:extLst>
                    <a:ext uri="{9D8B030D-6E8A-4147-A177-3AD203B41FA5}">
                      <a16:colId xmlns:a16="http://schemas.microsoft.com/office/drawing/2014/main" val="1113098642"/>
                    </a:ext>
                  </a:extLst>
                </a:gridCol>
                <a:gridCol w="998003">
                  <a:extLst>
                    <a:ext uri="{9D8B030D-6E8A-4147-A177-3AD203B41FA5}">
                      <a16:colId xmlns:a16="http://schemas.microsoft.com/office/drawing/2014/main" val="4281221068"/>
                    </a:ext>
                  </a:extLst>
                </a:gridCol>
                <a:gridCol w="998003">
                  <a:extLst>
                    <a:ext uri="{9D8B030D-6E8A-4147-A177-3AD203B41FA5}">
                      <a16:colId xmlns:a16="http://schemas.microsoft.com/office/drawing/2014/main" val="3086991089"/>
                    </a:ext>
                  </a:extLst>
                </a:gridCol>
                <a:gridCol w="998003">
                  <a:extLst>
                    <a:ext uri="{9D8B030D-6E8A-4147-A177-3AD203B41FA5}">
                      <a16:colId xmlns:a16="http://schemas.microsoft.com/office/drawing/2014/main" val="168485226"/>
                    </a:ext>
                  </a:extLst>
                </a:gridCol>
                <a:gridCol w="998003">
                  <a:extLst>
                    <a:ext uri="{9D8B030D-6E8A-4147-A177-3AD203B41FA5}">
                      <a16:colId xmlns:a16="http://schemas.microsoft.com/office/drawing/2014/main" val="659771113"/>
                    </a:ext>
                  </a:extLst>
                </a:gridCol>
              </a:tblGrid>
              <a:tr h="401782">
                <a:tc>
                  <a:txBody>
                    <a:bodyPr/>
                    <a:lstStyle/>
                    <a:p>
                      <a:pPr algn="ctr" fontAlgn="base"/>
                      <a:r>
                        <a:rPr lang="en-IN" sz="1400" b="1" dirty="0">
                          <a:effectLst/>
                          <a:latin typeface="Times New Roman" panose="02020603050405020304" pitchFamily="18" charset="0"/>
                          <a:cs typeface="Times New Roman" panose="02020603050405020304" pitchFamily="18" charset="0"/>
                        </a:rPr>
                        <a:t>Score Range</a:t>
                      </a:r>
                    </a:p>
                  </a:txBody>
                  <a:tcPr marL="28575" marR="28575" marT="39863" marB="398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400" b="0" dirty="0">
                          <a:effectLst/>
                          <a:latin typeface="Times New Roman" panose="02020603050405020304" pitchFamily="18" charset="0"/>
                          <a:cs typeface="Times New Roman" panose="02020603050405020304" pitchFamily="18" charset="0"/>
                        </a:rPr>
                        <a:t>0-20</a:t>
                      </a: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400" b="0" dirty="0">
                          <a:effectLst/>
                          <a:latin typeface="Times New Roman" panose="02020603050405020304" pitchFamily="18" charset="0"/>
                          <a:cs typeface="Times New Roman" panose="02020603050405020304" pitchFamily="18" charset="0"/>
                        </a:rPr>
                        <a:t>21-40</a:t>
                      </a: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400" b="0" dirty="0">
                          <a:effectLst/>
                          <a:latin typeface="Times New Roman" panose="02020603050405020304" pitchFamily="18" charset="0"/>
                          <a:cs typeface="Times New Roman" panose="02020603050405020304" pitchFamily="18" charset="0"/>
                        </a:rPr>
                        <a:t>41-60</a:t>
                      </a: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400" b="0">
                          <a:effectLst/>
                          <a:latin typeface="Times New Roman" panose="02020603050405020304" pitchFamily="18" charset="0"/>
                          <a:cs typeface="Times New Roman" panose="02020603050405020304" pitchFamily="18" charset="0"/>
                        </a:rPr>
                        <a:t>61-80</a:t>
                      </a: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400" b="0">
                          <a:effectLst/>
                          <a:latin typeface="Times New Roman" panose="02020603050405020304" pitchFamily="18" charset="0"/>
                          <a:cs typeface="Times New Roman" panose="02020603050405020304" pitchFamily="18" charset="0"/>
                        </a:rPr>
                        <a:t>81-100</a:t>
                      </a: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944570878"/>
                  </a:ext>
                </a:extLst>
              </a:tr>
              <a:tr h="401782">
                <a:tc>
                  <a:txBody>
                    <a:bodyPr/>
                    <a:lstStyle/>
                    <a:p>
                      <a:pPr algn="ctr" fontAlgn="base"/>
                      <a:r>
                        <a:rPr lang="en-IN" sz="1400" b="1">
                          <a:effectLst/>
                          <a:latin typeface="Times New Roman" panose="02020603050405020304" pitchFamily="18" charset="0"/>
                          <a:cs typeface="Times New Roman" panose="02020603050405020304" pitchFamily="18" charset="0"/>
                        </a:rPr>
                        <a:t>Frequency</a:t>
                      </a:r>
                    </a:p>
                  </a:txBody>
                  <a:tcPr marL="28575" marR="28575" marT="39863" marB="398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400" b="0" dirty="0">
                          <a:effectLst/>
                          <a:latin typeface="Times New Roman" panose="02020603050405020304" pitchFamily="18" charset="0"/>
                          <a:cs typeface="Times New Roman" panose="02020603050405020304" pitchFamily="18" charset="0"/>
                        </a:rPr>
                        <a:t>5</a:t>
                      </a: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400" b="0" dirty="0">
                          <a:effectLst/>
                          <a:latin typeface="Times New Roman" panose="02020603050405020304" pitchFamily="18" charset="0"/>
                          <a:cs typeface="Times New Roman" panose="02020603050405020304" pitchFamily="18" charset="0"/>
                        </a:rPr>
                        <a:t>10</a:t>
                      </a: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400" b="0" dirty="0">
                          <a:effectLst/>
                          <a:latin typeface="Times New Roman" panose="02020603050405020304" pitchFamily="18" charset="0"/>
                          <a:cs typeface="Times New Roman" panose="02020603050405020304" pitchFamily="18" charset="0"/>
                        </a:rPr>
                        <a:t>20</a:t>
                      </a: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400" b="0" dirty="0">
                          <a:effectLst/>
                          <a:latin typeface="Times New Roman" panose="02020603050405020304" pitchFamily="18" charset="0"/>
                          <a:cs typeface="Times New Roman" panose="02020603050405020304" pitchFamily="18" charset="0"/>
                        </a:rPr>
                        <a:t>10</a:t>
                      </a: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400" b="0" dirty="0">
                          <a:effectLst/>
                          <a:latin typeface="Times New Roman" panose="02020603050405020304" pitchFamily="18" charset="0"/>
                          <a:cs typeface="Times New Roman" panose="02020603050405020304" pitchFamily="18" charset="0"/>
                        </a:rPr>
                        <a:t>5</a:t>
                      </a: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159858487"/>
                  </a:ext>
                </a:extLst>
              </a:tr>
            </a:tbl>
          </a:graphicData>
        </a:graphic>
      </p:graphicFrame>
    </p:spTree>
    <p:extLst>
      <p:ext uri="{BB962C8B-B14F-4D97-AF65-F5344CB8AC3E}">
        <p14:creationId xmlns:p14="http://schemas.microsoft.com/office/powerpoint/2010/main" val="29038861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B60B28A-B58E-8F6A-6974-32253F639464}"/>
              </a:ext>
            </a:extLst>
          </p:cNvPr>
          <p:cNvSpPr>
            <a:spLocks noChangeArrowheads="1"/>
          </p:cNvSpPr>
          <p:nvPr/>
        </p:nvSpPr>
        <p:spPr bwMode="auto">
          <a:xfrm>
            <a:off x="332509" y="728957"/>
            <a:ext cx="7301346" cy="302390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l" defTabSz="6858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Cumulative Frequency Distribution:</a:t>
            </a:r>
          </a:p>
          <a:p>
            <a:pPr marL="0" marR="0" lvl="0" indent="0" algn="l" defTabSz="685800" rtl="0" eaLnBrk="0" fontAlgn="base" latinLnBrk="0" hangingPunct="0">
              <a:lnSpc>
                <a:spcPct val="100000"/>
              </a:lnSpc>
              <a:spcBef>
                <a:spcPct val="0"/>
              </a:spcBef>
              <a:spcAft>
                <a:spcPct val="0"/>
              </a:spcAft>
              <a:buClrTx/>
              <a:buSzTx/>
              <a:buFontTx/>
              <a:buNone/>
              <a:tabLst/>
            </a:pPr>
            <a:endParaRPr kumimoji="0" lang="en-US" altLang="en-US" sz="1500" b="1"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endParaRPr>
          </a:p>
          <a:p>
            <a:pPr marL="0" marR="0" lvl="0" indent="0" algn="l" defTabSz="6858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It is defined as the sum of all the frequencies in the previous values or intervals up to the current one.</a:t>
            </a:r>
            <a:r>
              <a:rPr kumimoji="0" lang="en-US" altLang="en-US" sz="15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p>
          <a:p>
            <a:pPr marL="0" marR="0" lvl="0" indent="0" algn="l" defTabSz="685800" rtl="0" eaLnBrk="0" fontAlgn="base" latinLnBrk="0" hangingPunct="0">
              <a:lnSpc>
                <a:spcPct val="100000"/>
              </a:lnSpc>
              <a:spcBef>
                <a:spcPct val="0"/>
              </a:spcBef>
              <a:spcAft>
                <a:spcPct val="0"/>
              </a:spcAft>
              <a:buClrTx/>
              <a:buSzTx/>
              <a:buFontTx/>
              <a:buNone/>
              <a:tabLst/>
            </a:pPr>
            <a:endParaRPr kumimoji="0" lang="en-US" altLang="en-US" sz="15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endParaRPr>
          </a:p>
          <a:p>
            <a:pPr marL="0" marR="0" lvl="0" indent="0" algn="l" defTabSz="6858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The distributions which represent the frequency distributions using</a:t>
            </a:r>
            <a:r>
              <a:rPr kumimoji="0" lang="en-US" altLang="en-US" sz="1500" b="1"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cumulative frequencies are called cumulative frequency distributions</a:t>
            </a:r>
            <a:r>
              <a:rPr kumimoji="0" lang="en-US" altLang="en-US" sz="15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p>
          <a:p>
            <a:pPr marL="0" marR="0" lvl="0" indent="0" algn="l" defTabSz="685800" rtl="0" eaLnBrk="0" fontAlgn="base" latinLnBrk="0" hangingPunct="0">
              <a:lnSpc>
                <a:spcPct val="100000"/>
              </a:lnSpc>
              <a:spcBef>
                <a:spcPct val="0"/>
              </a:spcBef>
              <a:spcAft>
                <a:spcPct val="0"/>
              </a:spcAft>
              <a:buClrTx/>
              <a:buSzTx/>
              <a:buFontTx/>
              <a:buNone/>
              <a:tabLst/>
            </a:pPr>
            <a:endParaRPr kumimoji="0" lang="en-US" altLang="en-US" sz="15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endParaRPr>
          </a:p>
          <a:p>
            <a:pPr marL="0" marR="0" lvl="0" indent="0" algn="l" defTabSz="6858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There are two types of cumulative frequency distributions:</a:t>
            </a: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685800" rtl="0" eaLnBrk="0" fontAlgn="base" latinLnBrk="0" hangingPunct="0">
              <a:lnSpc>
                <a:spcPct val="100000"/>
              </a:lnSpc>
              <a:spcBef>
                <a:spcPct val="0"/>
              </a:spcBef>
              <a:spcAft>
                <a:spcPct val="0"/>
              </a:spcAft>
              <a:buClrTx/>
              <a:buSzTx/>
              <a:buFontTx/>
              <a:buChar char="•"/>
              <a:tabLst/>
            </a:pPr>
            <a:r>
              <a:rPr kumimoji="0" lang="en-US" altLang="en-US" sz="15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Less than Type:</a:t>
            </a:r>
            <a:r>
              <a:rPr kumimoji="0" lang="en-US" altLang="en-US" sz="15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 sum all the frequencies before the current interval.</a:t>
            </a:r>
          </a:p>
          <a:p>
            <a:pPr marL="0" marR="0" lvl="0" indent="0" algn="l" defTabSz="685800" rtl="0" eaLnBrk="0" fontAlgn="base" latinLnBrk="0" hangingPunct="0">
              <a:lnSpc>
                <a:spcPct val="100000"/>
              </a:lnSpc>
              <a:spcBef>
                <a:spcPct val="0"/>
              </a:spcBef>
              <a:spcAft>
                <a:spcPct val="0"/>
              </a:spcAft>
              <a:buClrTx/>
              <a:buSzTx/>
              <a:tabLst/>
            </a:pP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685800" rtl="0" eaLnBrk="0" fontAlgn="base" latinLnBrk="0" hangingPunct="0">
              <a:lnSpc>
                <a:spcPct val="100000"/>
              </a:lnSpc>
              <a:spcBef>
                <a:spcPct val="0"/>
              </a:spcBef>
              <a:spcAft>
                <a:spcPct val="0"/>
              </a:spcAft>
              <a:buClrTx/>
              <a:buSzTx/>
              <a:buFontTx/>
              <a:buChar char="•"/>
              <a:tabLst/>
            </a:pPr>
            <a:r>
              <a:rPr kumimoji="0" lang="en-US" altLang="en-US" sz="15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More than Type: </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 sum all the frequencies after the current interval.</a:t>
            </a:r>
          </a:p>
          <a:p>
            <a:pPr marL="0" marR="0" lvl="0" indent="0" algn="l" defTabSz="685800" rtl="0" eaLnBrk="0" fontAlgn="base" latinLnBrk="0" hangingPunct="0">
              <a:lnSpc>
                <a:spcPct val="100000"/>
              </a:lnSpc>
              <a:spcBef>
                <a:spcPct val="0"/>
              </a:spcBef>
              <a:spcAft>
                <a:spcPct val="0"/>
              </a:spcAft>
              <a:buClrTx/>
              <a:buSzTx/>
              <a:buFontTx/>
              <a:buNone/>
              <a:tabLst/>
            </a:pPr>
            <a:endParaRPr kumimoji="0" lang="en-US" altLang="en-US" sz="135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395038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E3EA3B1-3DB2-8C67-E4AF-8B5B32C63241}"/>
              </a:ext>
            </a:extLst>
          </p:cNvPr>
          <p:cNvGraphicFramePr>
            <a:graphicFrameLocks noGrp="1"/>
          </p:cNvGraphicFramePr>
          <p:nvPr/>
        </p:nvGraphicFramePr>
        <p:xfrm>
          <a:off x="796637" y="2237509"/>
          <a:ext cx="6434745" cy="2400300"/>
        </p:xfrm>
        <a:graphic>
          <a:graphicData uri="http://schemas.openxmlformats.org/drawingml/2006/table">
            <a:tbl>
              <a:tblPr/>
              <a:tblGrid>
                <a:gridCol w="1286949">
                  <a:extLst>
                    <a:ext uri="{9D8B030D-6E8A-4147-A177-3AD203B41FA5}">
                      <a16:colId xmlns:a16="http://schemas.microsoft.com/office/drawing/2014/main" val="4120770747"/>
                    </a:ext>
                  </a:extLst>
                </a:gridCol>
                <a:gridCol w="1286949">
                  <a:extLst>
                    <a:ext uri="{9D8B030D-6E8A-4147-A177-3AD203B41FA5}">
                      <a16:colId xmlns:a16="http://schemas.microsoft.com/office/drawing/2014/main" val="1203494587"/>
                    </a:ext>
                  </a:extLst>
                </a:gridCol>
                <a:gridCol w="1286949">
                  <a:extLst>
                    <a:ext uri="{9D8B030D-6E8A-4147-A177-3AD203B41FA5}">
                      <a16:colId xmlns:a16="http://schemas.microsoft.com/office/drawing/2014/main" val="328037596"/>
                    </a:ext>
                  </a:extLst>
                </a:gridCol>
                <a:gridCol w="1286949">
                  <a:extLst>
                    <a:ext uri="{9D8B030D-6E8A-4147-A177-3AD203B41FA5}">
                      <a16:colId xmlns:a16="http://schemas.microsoft.com/office/drawing/2014/main" val="2772531352"/>
                    </a:ext>
                  </a:extLst>
                </a:gridCol>
                <a:gridCol w="1286949">
                  <a:extLst>
                    <a:ext uri="{9D8B030D-6E8A-4147-A177-3AD203B41FA5}">
                      <a16:colId xmlns:a16="http://schemas.microsoft.com/office/drawing/2014/main" val="216773207"/>
                    </a:ext>
                  </a:extLst>
                </a:gridCol>
              </a:tblGrid>
              <a:tr h="480060">
                <a:tc>
                  <a:txBody>
                    <a:bodyPr/>
                    <a:lstStyle/>
                    <a:p>
                      <a:pPr algn="ctr" fontAlgn="ctr"/>
                      <a:r>
                        <a:rPr lang="en-IN" sz="2100" b="1" dirty="0">
                          <a:effectLst/>
                          <a:latin typeface="Times New Roman" panose="02020603050405020304" pitchFamily="18" charset="0"/>
                          <a:cs typeface="Times New Roman" panose="02020603050405020304" pitchFamily="18" charset="0"/>
                        </a:rPr>
                        <a:t>45</a:t>
                      </a:r>
                      <a:endParaRPr lang="en-IN" sz="2100" b="0" dirty="0">
                        <a:effectLst/>
                        <a:latin typeface="Times New Roman" panose="02020603050405020304" pitchFamily="18" charset="0"/>
                        <a:cs typeface="Times New Roman" panose="02020603050405020304" pitchFamily="18" charset="0"/>
                      </a:endParaRP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2100" b="1">
                          <a:effectLst/>
                          <a:latin typeface="Times New Roman" panose="02020603050405020304" pitchFamily="18" charset="0"/>
                          <a:cs typeface="Times New Roman" panose="02020603050405020304" pitchFamily="18" charset="0"/>
                        </a:rPr>
                        <a:t>34</a:t>
                      </a:r>
                      <a:endParaRPr lang="en-IN" sz="2100" b="0">
                        <a:effectLst/>
                        <a:latin typeface="Times New Roman" panose="02020603050405020304" pitchFamily="18" charset="0"/>
                        <a:cs typeface="Times New Roman" panose="02020603050405020304" pitchFamily="18" charset="0"/>
                      </a:endParaRP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2100" b="1">
                          <a:effectLst/>
                          <a:latin typeface="Times New Roman" panose="02020603050405020304" pitchFamily="18" charset="0"/>
                          <a:cs typeface="Times New Roman" panose="02020603050405020304" pitchFamily="18" charset="0"/>
                        </a:rPr>
                        <a:t>50</a:t>
                      </a:r>
                      <a:endParaRPr lang="en-IN" sz="2100" b="0">
                        <a:effectLst/>
                        <a:latin typeface="Times New Roman" panose="02020603050405020304" pitchFamily="18" charset="0"/>
                        <a:cs typeface="Times New Roman" panose="02020603050405020304" pitchFamily="18" charset="0"/>
                      </a:endParaRP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2100" b="1" dirty="0">
                          <a:effectLst/>
                          <a:latin typeface="Times New Roman" panose="02020603050405020304" pitchFamily="18" charset="0"/>
                          <a:cs typeface="Times New Roman" panose="02020603050405020304" pitchFamily="18" charset="0"/>
                        </a:rPr>
                        <a:t>75</a:t>
                      </a:r>
                      <a:endParaRPr lang="en-IN" sz="2100" b="0" dirty="0">
                        <a:effectLst/>
                        <a:latin typeface="Times New Roman" panose="02020603050405020304" pitchFamily="18" charset="0"/>
                        <a:cs typeface="Times New Roman" panose="02020603050405020304" pitchFamily="18" charset="0"/>
                      </a:endParaRP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2100" b="1">
                          <a:effectLst/>
                          <a:latin typeface="Times New Roman" panose="02020603050405020304" pitchFamily="18" charset="0"/>
                          <a:cs typeface="Times New Roman" panose="02020603050405020304" pitchFamily="18" charset="0"/>
                        </a:rPr>
                        <a:t>22</a:t>
                      </a:r>
                      <a:endParaRPr lang="en-IN" sz="2100" b="0">
                        <a:effectLst/>
                        <a:latin typeface="Times New Roman" panose="02020603050405020304" pitchFamily="18" charset="0"/>
                        <a:cs typeface="Times New Roman" panose="02020603050405020304" pitchFamily="18" charset="0"/>
                      </a:endParaRP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177527927"/>
                  </a:ext>
                </a:extLst>
              </a:tr>
              <a:tr h="480060">
                <a:tc>
                  <a:txBody>
                    <a:bodyPr/>
                    <a:lstStyle/>
                    <a:p>
                      <a:pPr algn="ctr" fontAlgn="ctr"/>
                      <a:r>
                        <a:rPr lang="en-IN" sz="2100" b="1" dirty="0">
                          <a:effectLst/>
                          <a:latin typeface="Times New Roman" panose="02020603050405020304" pitchFamily="18" charset="0"/>
                          <a:cs typeface="Times New Roman" panose="02020603050405020304" pitchFamily="18" charset="0"/>
                        </a:rPr>
                        <a:t>56</a:t>
                      </a:r>
                      <a:endParaRPr lang="en-IN" sz="2100" b="0" dirty="0">
                        <a:effectLst/>
                        <a:latin typeface="Times New Roman" panose="02020603050405020304" pitchFamily="18" charset="0"/>
                        <a:cs typeface="Times New Roman" panose="02020603050405020304" pitchFamily="18" charset="0"/>
                      </a:endParaRP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2100" b="1" dirty="0">
                          <a:effectLst/>
                          <a:latin typeface="Times New Roman" panose="02020603050405020304" pitchFamily="18" charset="0"/>
                          <a:cs typeface="Times New Roman" panose="02020603050405020304" pitchFamily="18" charset="0"/>
                        </a:rPr>
                        <a:t>63</a:t>
                      </a:r>
                      <a:endParaRPr lang="en-IN" sz="2100" b="0" dirty="0">
                        <a:effectLst/>
                        <a:latin typeface="Times New Roman" panose="02020603050405020304" pitchFamily="18" charset="0"/>
                        <a:cs typeface="Times New Roman" panose="02020603050405020304" pitchFamily="18" charset="0"/>
                      </a:endParaRP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2100" b="1">
                          <a:effectLst/>
                          <a:latin typeface="Times New Roman" panose="02020603050405020304" pitchFamily="18" charset="0"/>
                          <a:cs typeface="Times New Roman" panose="02020603050405020304" pitchFamily="18" charset="0"/>
                        </a:rPr>
                        <a:t>70</a:t>
                      </a:r>
                      <a:endParaRPr lang="en-IN" sz="2100" b="0">
                        <a:effectLst/>
                        <a:latin typeface="Times New Roman" panose="02020603050405020304" pitchFamily="18" charset="0"/>
                        <a:cs typeface="Times New Roman" panose="02020603050405020304" pitchFamily="18" charset="0"/>
                      </a:endParaRP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2100" b="1">
                          <a:effectLst/>
                          <a:latin typeface="Times New Roman" panose="02020603050405020304" pitchFamily="18" charset="0"/>
                          <a:cs typeface="Times New Roman" panose="02020603050405020304" pitchFamily="18" charset="0"/>
                        </a:rPr>
                        <a:t>49</a:t>
                      </a:r>
                      <a:endParaRPr lang="en-IN" sz="2100" b="0">
                        <a:effectLst/>
                        <a:latin typeface="Times New Roman" panose="02020603050405020304" pitchFamily="18" charset="0"/>
                        <a:cs typeface="Times New Roman" panose="02020603050405020304" pitchFamily="18" charset="0"/>
                      </a:endParaRP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2100" b="1">
                          <a:effectLst/>
                          <a:latin typeface="Times New Roman" panose="02020603050405020304" pitchFamily="18" charset="0"/>
                          <a:cs typeface="Times New Roman" panose="02020603050405020304" pitchFamily="18" charset="0"/>
                        </a:rPr>
                        <a:t>33</a:t>
                      </a:r>
                      <a:endParaRPr lang="en-IN" sz="2100" b="0">
                        <a:effectLst/>
                        <a:latin typeface="Times New Roman" panose="02020603050405020304" pitchFamily="18" charset="0"/>
                        <a:cs typeface="Times New Roman" panose="02020603050405020304" pitchFamily="18" charset="0"/>
                      </a:endParaRP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128957941"/>
                  </a:ext>
                </a:extLst>
              </a:tr>
              <a:tr h="480060">
                <a:tc>
                  <a:txBody>
                    <a:bodyPr/>
                    <a:lstStyle/>
                    <a:p>
                      <a:pPr algn="ctr" fontAlgn="ctr"/>
                      <a:r>
                        <a:rPr lang="en-IN" sz="2100" b="1">
                          <a:effectLst/>
                          <a:latin typeface="Times New Roman" panose="02020603050405020304" pitchFamily="18" charset="0"/>
                          <a:cs typeface="Times New Roman" panose="02020603050405020304" pitchFamily="18" charset="0"/>
                        </a:rPr>
                        <a:t>0</a:t>
                      </a:r>
                      <a:endParaRPr lang="en-IN" sz="2100" b="0">
                        <a:effectLst/>
                        <a:latin typeface="Times New Roman" panose="02020603050405020304" pitchFamily="18" charset="0"/>
                        <a:cs typeface="Times New Roman" panose="02020603050405020304" pitchFamily="18" charset="0"/>
                      </a:endParaRP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2100" b="1">
                          <a:effectLst/>
                          <a:latin typeface="Times New Roman" panose="02020603050405020304" pitchFamily="18" charset="0"/>
                          <a:cs typeface="Times New Roman" panose="02020603050405020304" pitchFamily="18" charset="0"/>
                        </a:rPr>
                        <a:t>8</a:t>
                      </a:r>
                      <a:endParaRPr lang="en-IN" sz="2100" b="0">
                        <a:effectLst/>
                        <a:latin typeface="Times New Roman" panose="02020603050405020304" pitchFamily="18" charset="0"/>
                        <a:cs typeface="Times New Roman" panose="02020603050405020304" pitchFamily="18" charset="0"/>
                      </a:endParaRP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2100" b="1" dirty="0">
                          <a:effectLst/>
                          <a:latin typeface="Times New Roman" panose="02020603050405020304" pitchFamily="18" charset="0"/>
                          <a:cs typeface="Times New Roman" panose="02020603050405020304" pitchFamily="18" charset="0"/>
                        </a:rPr>
                        <a:t>14</a:t>
                      </a:r>
                      <a:endParaRPr lang="en-IN" sz="2100" b="0" dirty="0">
                        <a:effectLst/>
                        <a:latin typeface="Times New Roman" panose="02020603050405020304" pitchFamily="18" charset="0"/>
                        <a:cs typeface="Times New Roman" panose="02020603050405020304" pitchFamily="18" charset="0"/>
                      </a:endParaRP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2100" b="1">
                          <a:effectLst/>
                          <a:latin typeface="Times New Roman" panose="02020603050405020304" pitchFamily="18" charset="0"/>
                          <a:cs typeface="Times New Roman" panose="02020603050405020304" pitchFamily="18" charset="0"/>
                        </a:rPr>
                        <a:t>39</a:t>
                      </a:r>
                      <a:endParaRPr lang="en-IN" sz="2100" b="0">
                        <a:effectLst/>
                        <a:latin typeface="Times New Roman" panose="02020603050405020304" pitchFamily="18" charset="0"/>
                        <a:cs typeface="Times New Roman" panose="02020603050405020304" pitchFamily="18" charset="0"/>
                      </a:endParaRP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2100" b="1">
                          <a:effectLst/>
                          <a:latin typeface="Times New Roman" panose="02020603050405020304" pitchFamily="18" charset="0"/>
                          <a:cs typeface="Times New Roman" panose="02020603050405020304" pitchFamily="18" charset="0"/>
                        </a:rPr>
                        <a:t>86</a:t>
                      </a:r>
                      <a:endParaRPr lang="en-IN" sz="2100" b="0">
                        <a:effectLst/>
                        <a:latin typeface="Times New Roman" panose="02020603050405020304" pitchFamily="18" charset="0"/>
                        <a:cs typeface="Times New Roman" panose="02020603050405020304" pitchFamily="18" charset="0"/>
                      </a:endParaRP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511389059"/>
                  </a:ext>
                </a:extLst>
              </a:tr>
              <a:tr h="480060">
                <a:tc>
                  <a:txBody>
                    <a:bodyPr/>
                    <a:lstStyle/>
                    <a:p>
                      <a:pPr algn="ctr" fontAlgn="ctr"/>
                      <a:r>
                        <a:rPr lang="en-IN" sz="2100" b="1">
                          <a:effectLst/>
                          <a:latin typeface="Times New Roman" panose="02020603050405020304" pitchFamily="18" charset="0"/>
                          <a:cs typeface="Times New Roman" panose="02020603050405020304" pitchFamily="18" charset="0"/>
                        </a:rPr>
                        <a:t>92</a:t>
                      </a:r>
                      <a:endParaRPr lang="en-IN" sz="2100" b="0">
                        <a:effectLst/>
                        <a:latin typeface="Times New Roman" panose="02020603050405020304" pitchFamily="18" charset="0"/>
                        <a:cs typeface="Times New Roman" panose="02020603050405020304" pitchFamily="18" charset="0"/>
                      </a:endParaRP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2100" b="1" dirty="0">
                          <a:effectLst/>
                          <a:latin typeface="Times New Roman" panose="02020603050405020304" pitchFamily="18" charset="0"/>
                          <a:cs typeface="Times New Roman" panose="02020603050405020304" pitchFamily="18" charset="0"/>
                        </a:rPr>
                        <a:t>88</a:t>
                      </a:r>
                      <a:endParaRPr lang="en-IN" sz="2100" b="0" dirty="0">
                        <a:effectLst/>
                        <a:latin typeface="Times New Roman" panose="02020603050405020304" pitchFamily="18" charset="0"/>
                        <a:cs typeface="Times New Roman" panose="02020603050405020304" pitchFamily="18" charset="0"/>
                      </a:endParaRP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2100" b="1" dirty="0">
                          <a:effectLst/>
                          <a:latin typeface="Times New Roman" panose="02020603050405020304" pitchFamily="18" charset="0"/>
                          <a:cs typeface="Times New Roman" panose="02020603050405020304" pitchFamily="18" charset="0"/>
                        </a:rPr>
                        <a:t>70</a:t>
                      </a:r>
                      <a:endParaRPr lang="en-IN" sz="2100" b="0" dirty="0">
                        <a:effectLst/>
                        <a:latin typeface="Times New Roman" panose="02020603050405020304" pitchFamily="18" charset="0"/>
                        <a:cs typeface="Times New Roman" panose="02020603050405020304" pitchFamily="18" charset="0"/>
                      </a:endParaRP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2100" b="1" dirty="0">
                          <a:effectLst/>
                          <a:latin typeface="Times New Roman" panose="02020603050405020304" pitchFamily="18" charset="0"/>
                          <a:cs typeface="Times New Roman" panose="02020603050405020304" pitchFamily="18" charset="0"/>
                        </a:rPr>
                        <a:t>56</a:t>
                      </a:r>
                      <a:endParaRPr lang="en-IN" sz="2100" b="0" dirty="0">
                        <a:effectLst/>
                        <a:latin typeface="Times New Roman" panose="02020603050405020304" pitchFamily="18" charset="0"/>
                        <a:cs typeface="Times New Roman" panose="02020603050405020304" pitchFamily="18" charset="0"/>
                      </a:endParaRP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2100" b="1" dirty="0">
                          <a:effectLst/>
                          <a:latin typeface="Times New Roman" panose="02020603050405020304" pitchFamily="18" charset="0"/>
                          <a:cs typeface="Times New Roman" panose="02020603050405020304" pitchFamily="18" charset="0"/>
                        </a:rPr>
                        <a:t>50</a:t>
                      </a:r>
                      <a:endParaRPr lang="en-IN" sz="2100" b="0" dirty="0">
                        <a:effectLst/>
                        <a:latin typeface="Times New Roman" panose="02020603050405020304" pitchFamily="18" charset="0"/>
                        <a:cs typeface="Times New Roman" panose="02020603050405020304" pitchFamily="18" charset="0"/>
                      </a:endParaRP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384204212"/>
                  </a:ext>
                </a:extLst>
              </a:tr>
              <a:tr h="480060">
                <a:tc>
                  <a:txBody>
                    <a:bodyPr/>
                    <a:lstStyle/>
                    <a:p>
                      <a:pPr algn="ctr" fontAlgn="ctr"/>
                      <a:r>
                        <a:rPr lang="en-IN" sz="2100" b="1">
                          <a:effectLst/>
                          <a:latin typeface="Times New Roman" panose="02020603050405020304" pitchFamily="18" charset="0"/>
                          <a:cs typeface="Times New Roman" panose="02020603050405020304" pitchFamily="18" charset="0"/>
                        </a:rPr>
                        <a:t>57</a:t>
                      </a:r>
                      <a:endParaRPr lang="en-IN" sz="2100" b="0">
                        <a:effectLst/>
                        <a:latin typeface="Times New Roman" panose="02020603050405020304" pitchFamily="18" charset="0"/>
                        <a:cs typeface="Times New Roman" panose="02020603050405020304" pitchFamily="18" charset="0"/>
                      </a:endParaRP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2100" b="1">
                          <a:effectLst/>
                          <a:latin typeface="Times New Roman" panose="02020603050405020304" pitchFamily="18" charset="0"/>
                          <a:cs typeface="Times New Roman" panose="02020603050405020304" pitchFamily="18" charset="0"/>
                        </a:rPr>
                        <a:t>45</a:t>
                      </a:r>
                      <a:endParaRPr lang="en-IN" sz="2100" b="0">
                        <a:effectLst/>
                        <a:latin typeface="Times New Roman" panose="02020603050405020304" pitchFamily="18" charset="0"/>
                        <a:cs typeface="Times New Roman" panose="02020603050405020304" pitchFamily="18" charset="0"/>
                      </a:endParaRP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2100" b="1" dirty="0">
                          <a:effectLst/>
                          <a:latin typeface="Times New Roman" panose="02020603050405020304" pitchFamily="18" charset="0"/>
                          <a:cs typeface="Times New Roman" panose="02020603050405020304" pitchFamily="18" charset="0"/>
                        </a:rPr>
                        <a:t>42</a:t>
                      </a:r>
                      <a:endParaRPr lang="en-IN" sz="2100" b="0" dirty="0">
                        <a:effectLst/>
                        <a:latin typeface="Times New Roman" panose="02020603050405020304" pitchFamily="18" charset="0"/>
                        <a:cs typeface="Times New Roman" panose="02020603050405020304" pitchFamily="18" charset="0"/>
                      </a:endParaRP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2100" b="1" dirty="0">
                          <a:effectLst/>
                          <a:latin typeface="Times New Roman" panose="02020603050405020304" pitchFamily="18" charset="0"/>
                          <a:cs typeface="Times New Roman" panose="02020603050405020304" pitchFamily="18" charset="0"/>
                        </a:rPr>
                        <a:t>12</a:t>
                      </a:r>
                      <a:endParaRPr lang="en-IN" sz="2100" b="0" dirty="0">
                        <a:effectLst/>
                        <a:latin typeface="Times New Roman" panose="02020603050405020304" pitchFamily="18" charset="0"/>
                        <a:cs typeface="Times New Roman" panose="02020603050405020304" pitchFamily="18" charset="0"/>
                      </a:endParaRP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2100" b="1" dirty="0">
                          <a:effectLst/>
                          <a:latin typeface="Times New Roman" panose="02020603050405020304" pitchFamily="18" charset="0"/>
                          <a:cs typeface="Times New Roman" panose="02020603050405020304" pitchFamily="18" charset="0"/>
                        </a:rPr>
                        <a:t>39</a:t>
                      </a:r>
                      <a:endParaRPr lang="en-IN" sz="2100" b="0" dirty="0">
                        <a:effectLst/>
                        <a:latin typeface="Times New Roman" panose="02020603050405020304" pitchFamily="18" charset="0"/>
                        <a:cs typeface="Times New Roman" panose="02020603050405020304" pitchFamily="18" charset="0"/>
                      </a:endParaRPr>
                    </a:p>
                  </a:txBody>
                  <a:tcPr marL="57150" marR="57150" marT="80010" marB="800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269357061"/>
                  </a:ext>
                </a:extLst>
              </a:tr>
            </a:tbl>
          </a:graphicData>
        </a:graphic>
      </p:graphicFrame>
      <p:sp>
        <p:nvSpPr>
          <p:cNvPr id="3" name="Rectangle 1">
            <a:extLst>
              <a:ext uri="{FF2B5EF4-FFF2-40B4-BE49-F238E27FC236}">
                <a16:creationId xmlns:a16="http://schemas.microsoft.com/office/drawing/2014/main" id="{E4BCE0C2-44E4-7EB1-5538-EEC8B45BF421}"/>
              </a:ext>
            </a:extLst>
          </p:cNvPr>
          <p:cNvSpPr>
            <a:spLocks noChangeArrowheads="1"/>
          </p:cNvSpPr>
          <p:nvPr/>
        </p:nvSpPr>
        <p:spPr bwMode="auto">
          <a:xfrm>
            <a:off x="796636" y="876540"/>
            <a:ext cx="6434745" cy="92333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l" defTabSz="685800" rtl="0" eaLnBrk="0" fontAlgn="base" latinLnBrk="0" hangingPunct="0">
              <a:lnSpc>
                <a:spcPct val="100000"/>
              </a:lnSpc>
              <a:spcBef>
                <a:spcPct val="0"/>
              </a:spcBef>
              <a:spcAft>
                <a:spcPct val="0"/>
              </a:spcAft>
              <a:buClrTx/>
              <a:buSzTx/>
              <a:buFontTx/>
              <a:buNone/>
              <a:tabLst/>
            </a:pPr>
            <a:r>
              <a:rPr kumimoji="0" lang="en-US" altLang="en-US" sz="150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Example: </a:t>
            </a:r>
          </a:p>
          <a:p>
            <a:pPr marL="0" marR="0" lvl="0" indent="0" algn="l" defTabSz="685800" rtl="0" eaLnBrk="0" fontAlgn="base" latinLnBrk="0" hangingPunct="0">
              <a:lnSpc>
                <a:spcPct val="100000"/>
              </a:lnSpc>
              <a:spcBef>
                <a:spcPct val="0"/>
              </a:spcBef>
              <a:spcAft>
                <a:spcPct val="0"/>
              </a:spcAft>
              <a:buClrTx/>
              <a:buSzTx/>
              <a:buFontTx/>
              <a:buNone/>
              <a:tabLst/>
            </a:pPr>
            <a:r>
              <a:rPr kumimoji="0" lang="en-US" altLang="en-US" sz="150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The table below gives the values of runs scored by Virat Kohli in the last 25 T-20 matches. Represent the data in the form of less-than-type cumulative frequency distribution</a:t>
            </a:r>
            <a:r>
              <a:rPr kumimoji="0" lang="en-US" altLang="en-US" sz="1500" b="1"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43567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5F6E826E-41EA-A9FE-5CB1-B5BFEB5EFF29}"/>
              </a:ext>
            </a:extLst>
          </p:cNvPr>
          <p:cNvGraphicFramePr>
            <a:graphicFrameLocks noGrp="1"/>
          </p:cNvGraphicFramePr>
          <p:nvPr/>
        </p:nvGraphicFramePr>
        <p:xfrm>
          <a:off x="1125607" y="1278236"/>
          <a:ext cx="5270224" cy="3705545"/>
        </p:xfrm>
        <a:graphic>
          <a:graphicData uri="http://schemas.openxmlformats.org/drawingml/2006/table">
            <a:tbl>
              <a:tblPr/>
              <a:tblGrid>
                <a:gridCol w="2187727">
                  <a:extLst>
                    <a:ext uri="{9D8B030D-6E8A-4147-A177-3AD203B41FA5}">
                      <a16:colId xmlns:a16="http://schemas.microsoft.com/office/drawing/2014/main" val="1665396963"/>
                    </a:ext>
                  </a:extLst>
                </a:gridCol>
                <a:gridCol w="3082497">
                  <a:extLst>
                    <a:ext uri="{9D8B030D-6E8A-4147-A177-3AD203B41FA5}">
                      <a16:colId xmlns:a16="http://schemas.microsoft.com/office/drawing/2014/main" val="3836383049"/>
                    </a:ext>
                  </a:extLst>
                </a:gridCol>
              </a:tblGrid>
              <a:tr h="295805">
                <a:tc>
                  <a:txBody>
                    <a:bodyPr/>
                    <a:lstStyle/>
                    <a:p>
                      <a:pPr algn="ctr" fontAlgn="base"/>
                      <a:r>
                        <a:rPr lang="en-IN" sz="1200" b="1" dirty="0">
                          <a:effectLst/>
                          <a:latin typeface="Times New Roman" panose="02020603050405020304" pitchFamily="18" charset="0"/>
                          <a:cs typeface="Times New Roman" panose="02020603050405020304" pitchFamily="18" charset="0"/>
                        </a:rPr>
                        <a:t>Runs</a:t>
                      </a:r>
                    </a:p>
                  </a:txBody>
                  <a:tcPr marL="28231" marR="28231" marT="56462" marB="564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a:r>
                        <a:rPr lang="en-IN" sz="1200" b="1" dirty="0">
                          <a:effectLst/>
                          <a:latin typeface="Times New Roman" panose="02020603050405020304" pitchFamily="18" charset="0"/>
                          <a:cs typeface="Times New Roman" panose="02020603050405020304" pitchFamily="18" charset="0"/>
                        </a:rPr>
                        <a:t>Frequency</a:t>
                      </a:r>
                    </a:p>
                  </a:txBody>
                  <a:tcPr marL="56462" marR="56462" marT="56462" marB="564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78822901"/>
                  </a:ext>
                </a:extLst>
              </a:tr>
              <a:tr h="340974">
                <a:tc>
                  <a:txBody>
                    <a:bodyPr/>
                    <a:lstStyle/>
                    <a:p>
                      <a:pPr algn="ctr" fontAlgn="base">
                        <a:spcAft>
                          <a:spcPts val="750"/>
                        </a:spcAft>
                      </a:pPr>
                      <a:r>
                        <a:rPr lang="en-IN" sz="1200" b="0" dirty="0">
                          <a:effectLst/>
                          <a:latin typeface="Times New Roman" panose="02020603050405020304" pitchFamily="18" charset="0"/>
                          <a:cs typeface="Times New Roman" panose="02020603050405020304" pitchFamily="18" charset="0"/>
                        </a:rPr>
                        <a:t>0-10</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a:spcAft>
                          <a:spcPts val="750"/>
                        </a:spcAft>
                      </a:pPr>
                      <a:r>
                        <a:rPr lang="en-IN" sz="1200" b="0">
                          <a:effectLst/>
                          <a:latin typeface="Times New Roman" panose="02020603050405020304" pitchFamily="18" charset="0"/>
                          <a:cs typeface="Times New Roman" panose="02020603050405020304" pitchFamily="18" charset="0"/>
                        </a:rPr>
                        <a:t>2</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04054063"/>
                  </a:ext>
                </a:extLst>
              </a:tr>
              <a:tr h="340974">
                <a:tc>
                  <a:txBody>
                    <a:bodyPr/>
                    <a:lstStyle/>
                    <a:p>
                      <a:pPr algn="ctr" fontAlgn="base">
                        <a:spcAft>
                          <a:spcPts val="750"/>
                        </a:spcAft>
                      </a:pPr>
                      <a:r>
                        <a:rPr lang="en-IN" sz="1200" b="0" dirty="0">
                          <a:effectLst/>
                          <a:latin typeface="Times New Roman" panose="02020603050405020304" pitchFamily="18" charset="0"/>
                          <a:cs typeface="Times New Roman" panose="02020603050405020304" pitchFamily="18" charset="0"/>
                        </a:rPr>
                        <a:t>10-20</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a:spcAft>
                          <a:spcPts val="750"/>
                        </a:spcAft>
                      </a:pPr>
                      <a:r>
                        <a:rPr lang="en-IN" sz="1200" b="0" dirty="0">
                          <a:effectLst/>
                          <a:latin typeface="Times New Roman" panose="02020603050405020304" pitchFamily="18" charset="0"/>
                          <a:cs typeface="Times New Roman" panose="02020603050405020304" pitchFamily="18" charset="0"/>
                        </a:rPr>
                        <a:t>2</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1380958"/>
                  </a:ext>
                </a:extLst>
              </a:tr>
              <a:tr h="340974">
                <a:tc>
                  <a:txBody>
                    <a:bodyPr/>
                    <a:lstStyle/>
                    <a:p>
                      <a:pPr algn="ctr" fontAlgn="base">
                        <a:spcAft>
                          <a:spcPts val="750"/>
                        </a:spcAft>
                      </a:pPr>
                      <a:r>
                        <a:rPr lang="en-IN" sz="1200" b="0" dirty="0">
                          <a:effectLst/>
                          <a:latin typeface="Times New Roman" panose="02020603050405020304" pitchFamily="18" charset="0"/>
                          <a:cs typeface="Times New Roman" panose="02020603050405020304" pitchFamily="18" charset="0"/>
                        </a:rPr>
                        <a:t>20-30</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a:spcAft>
                          <a:spcPts val="750"/>
                        </a:spcAft>
                      </a:pPr>
                      <a:r>
                        <a:rPr lang="en-IN" sz="1200" b="0" dirty="0">
                          <a:effectLst/>
                          <a:latin typeface="Times New Roman" panose="02020603050405020304" pitchFamily="18" charset="0"/>
                          <a:cs typeface="Times New Roman" panose="02020603050405020304" pitchFamily="18" charset="0"/>
                        </a:rPr>
                        <a:t>1</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172408"/>
                  </a:ext>
                </a:extLst>
              </a:tr>
              <a:tr h="340974">
                <a:tc>
                  <a:txBody>
                    <a:bodyPr/>
                    <a:lstStyle/>
                    <a:p>
                      <a:pPr algn="ctr" fontAlgn="base">
                        <a:spcAft>
                          <a:spcPts val="750"/>
                        </a:spcAft>
                      </a:pPr>
                      <a:r>
                        <a:rPr lang="en-IN" sz="1200" b="0" dirty="0">
                          <a:effectLst/>
                          <a:latin typeface="Times New Roman" panose="02020603050405020304" pitchFamily="18" charset="0"/>
                          <a:cs typeface="Times New Roman" panose="02020603050405020304" pitchFamily="18" charset="0"/>
                        </a:rPr>
                        <a:t>30-40</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a:spcAft>
                          <a:spcPts val="750"/>
                        </a:spcAft>
                      </a:pPr>
                      <a:r>
                        <a:rPr lang="en-IN" sz="1200" b="0" dirty="0">
                          <a:effectLst/>
                          <a:latin typeface="Times New Roman" panose="02020603050405020304" pitchFamily="18" charset="0"/>
                          <a:cs typeface="Times New Roman" panose="02020603050405020304" pitchFamily="18" charset="0"/>
                        </a:rPr>
                        <a:t>4</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61547691"/>
                  </a:ext>
                </a:extLst>
              </a:tr>
              <a:tr h="340974">
                <a:tc>
                  <a:txBody>
                    <a:bodyPr/>
                    <a:lstStyle/>
                    <a:p>
                      <a:pPr algn="ctr" fontAlgn="base">
                        <a:spcAft>
                          <a:spcPts val="750"/>
                        </a:spcAft>
                      </a:pPr>
                      <a:r>
                        <a:rPr lang="en-IN" sz="1200" b="0" dirty="0">
                          <a:effectLst/>
                          <a:latin typeface="Times New Roman" panose="02020603050405020304" pitchFamily="18" charset="0"/>
                          <a:cs typeface="Times New Roman" panose="02020603050405020304" pitchFamily="18" charset="0"/>
                        </a:rPr>
                        <a:t>40-50</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a:spcAft>
                          <a:spcPts val="750"/>
                        </a:spcAft>
                      </a:pPr>
                      <a:r>
                        <a:rPr lang="en-IN" sz="1200" b="0" dirty="0">
                          <a:effectLst/>
                          <a:latin typeface="Times New Roman" panose="02020603050405020304" pitchFamily="18" charset="0"/>
                          <a:cs typeface="Times New Roman" panose="02020603050405020304" pitchFamily="18" charset="0"/>
                        </a:rPr>
                        <a:t>4</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7807851"/>
                  </a:ext>
                </a:extLst>
              </a:tr>
              <a:tr h="340974">
                <a:tc>
                  <a:txBody>
                    <a:bodyPr/>
                    <a:lstStyle/>
                    <a:p>
                      <a:pPr algn="ctr" fontAlgn="base">
                        <a:spcAft>
                          <a:spcPts val="750"/>
                        </a:spcAft>
                      </a:pPr>
                      <a:r>
                        <a:rPr lang="en-IN" sz="1200" b="0" dirty="0">
                          <a:effectLst/>
                          <a:latin typeface="Times New Roman" panose="02020603050405020304" pitchFamily="18" charset="0"/>
                          <a:cs typeface="Times New Roman" panose="02020603050405020304" pitchFamily="18" charset="0"/>
                        </a:rPr>
                        <a:t>50-60</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a:spcAft>
                          <a:spcPts val="750"/>
                        </a:spcAft>
                      </a:pPr>
                      <a:r>
                        <a:rPr lang="en-IN" sz="1200" b="0" dirty="0">
                          <a:effectLst/>
                          <a:latin typeface="Times New Roman" panose="02020603050405020304" pitchFamily="18" charset="0"/>
                          <a:cs typeface="Times New Roman" panose="02020603050405020304" pitchFamily="18" charset="0"/>
                        </a:rPr>
                        <a:t>5</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763203"/>
                  </a:ext>
                </a:extLst>
              </a:tr>
              <a:tr h="340974">
                <a:tc>
                  <a:txBody>
                    <a:bodyPr/>
                    <a:lstStyle/>
                    <a:p>
                      <a:pPr algn="ctr" fontAlgn="base">
                        <a:spcAft>
                          <a:spcPts val="750"/>
                        </a:spcAft>
                      </a:pPr>
                      <a:r>
                        <a:rPr lang="en-IN" sz="1200" b="0" dirty="0">
                          <a:effectLst/>
                          <a:latin typeface="Times New Roman" panose="02020603050405020304" pitchFamily="18" charset="0"/>
                          <a:cs typeface="Times New Roman" panose="02020603050405020304" pitchFamily="18" charset="0"/>
                        </a:rPr>
                        <a:t>60-70</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a:spcAft>
                          <a:spcPts val="750"/>
                        </a:spcAft>
                      </a:pPr>
                      <a:r>
                        <a:rPr lang="en-IN" sz="1200" b="0" dirty="0">
                          <a:effectLst/>
                          <a:latin typeface="Times New Roman" panose="02020603050405020304" pitchFamily="18" charset="0"/>
                          <a:cs typeface="Times New Roman" panose="02020603050405020304" pitchFamily="18" charset="0"/>
                        </a:rPr>
                        <a:t>1</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2137949"/>
                  </a:ext>
                </a:extLst>
              </a:tr>
              <a:tr h="340974">
                <a:tc>
                  <a:txBody>
                    <a:bodyPr/>
                    <a:lstStyle/>
                    <a:p>
                      <a:pPr algn="ctr" fontAlgn="base">
                        <a:spcAft>
                          <a:spcPts val="750"/>
                        </a:spcAft>
                      </a:pPr>
                      <a:r>
                        <a:rPr lang="en-IN" sz="1200" b="0">
                          <a:effectLst/>
                          <a:latin typeface="Times New Roman" panose="02020603050405020304" pitchFamily="18" charset="0"/>
                          <a:cs typeface="Times New Roman" panose="02020603050405020304" pitchFamily="18" charset="0"/>
                        </a:rPr>
                        <a:t>70-80</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a:spcAft>
                          <a:spcPts val="750"/>
                        </a:spcAft>
                      </a:pPr>
                      <a:r>
                        <a:rPr lang="en-IN" sz="1200" b="0" dirty="0">
                          <a:effectLst/>
                          <a:latin typeface="Times New Roman" panose="02020603050405020304" pitchFamily="18" charset="0"/>
                          <a:cs typeface="Times New Roman" panose="02020603050405020304" pitchFamily="18" charset="0"/>
                        </a:rPr>
                        <a:t>3</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2147861"/>
                  </a:ext>
                </a:extLst>
              </a:tr>
              <a:tr h="340974">
                <a:tc>
                  <a:txBody>
                    <a:bodyPr/>
                    <a:lstStyle/>
                    <a:p>
                      <a:pPr algn="ctr" fontAlgn="base">
                        <a:spcAft>
                          <a:spcPts val="750"/>
                        </a:spcAft>
                      </a:pPr>
                      <a:r>
                        <a:rPr lang="en-IN" sz="1200" b="0">
                          <a:effectLst/>
                          <a:latin typeface="Times New Roman" panose="02020603050405020304" pitchFamily="18" charset="0"/>
                          <a:cs typeface="Times New Roman" panose="02020603050405020304" pitchFamily="18" charset="0"/>
                        </a:rPr>
                        <a:t>80-90</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a:spcAft>
                          <a:spcPts val="750"/>
                        </a:spcAft>
                      </a:pPr>
                      <a:r>
                        <a:rPr lang="en-IN" sz="1200" b="0" dirty="0">
                          <a:effectLst/>
                          <a:latin typeface="Times New Roman" panose="02020603050405020304" pitchFamily="18" charset="0"/>
                          <a:cs typeface="Times New Roman" panose="02020603050405020304" pitchFamily="18" charset="0"/>
                        </a:rPr>
                        <a:t>2</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855342"/>
                  </a:ext>
                </a:extLst>
              </a:tr>
              <a:tr h="340974">
                <a:tc>
                  <a:txBody>
                    <a:bodyPr/>
                    <a:lstStyle/>
                    <a:p>
                      <a:pPr algn="ctr" fontAlgn="base">
                        <a:spcAft>
                          <a:spcPts val="750"/>
                        </a:spcAft>
                      </a:pPr>
                      <a:r>
                        <a:rPr lang="en-IN" sz="1200" b="0">
                          <a:effectLst/>
                          <a:latin typeface="Times New Roman" panose="02020603050405020304" pitchFamily="18" charset="0"/>
                          <a:cs typeface="Times New Roman" panose="02020603050405020304" pitchFamily="18" charset="0"/>
                        </a:rPr>
                        <a:t>90-100</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a:spcAft>
                          <a:spcPts val="750"/>
                        </a:spcAft>
                      </a:pPr>
                      <a:r>
                        <a:rPr lang="en-IN" sz="1200" b="0" dirty="0">
                          <a:effectLst/>
                          <a:latin typeface="Times New Roman" panose="02020603050405020304" pitchFamily="18" charset="0"/>
                          <a:cs typeface="Times New Roman" panose="02020603050405020304" pitchFamily="18" charset="0"/>
                        </a:rPr>
                        <a:t>1</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7561329"/>
                  </a:ext>
                </a:extLst>
              </a:tr>
            </a:tbl>
          </a:graphicData>
        </a:graphic>
      </p:graphicFrame>
      <p:sp>
        <p:nvSpPr>
          <p:cNvPr id="3" name="Rectangle 1">
            <a:extLst>
              <a:ext uri="{FF2B5EF4-FFF2-40B4-BE49-F238E27FC236}">
                <a16:creationId xmlns:a16="http://schemas.microsoft.com/office/drawing/2014/main" id="{941D6BF9-58A5-7BAB-F55B-D7AFBEA32EE8}"/>
              </a:ext>
            </a:extLst>
          </p:cNvPr>
          <p:cNvSpPr>
            <a:spLocks noChangeArrowheads="1"/>
          </p:cNvSpPr>
          <p:nvPr/>
        </p:nvSpPr>
        <p:spPr bwMode="auto">
          <a:xfrm>
            <a:off x="359526" y="374857"/>
            <a:ext cx="6789419" cy="7617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l" defTabSz="685800" rtl="0" eaLnBrk="0" fontAlgn="base" latinLnBrk="0" hangingPunct="0">
              <a:lnSpc>
                <a:spcPct val="100000"/>
              </a:lnSpc>
              <a:spcBef>
                <a:spcPct val="0"/>
              </a:spcBef>
              <a:spcAft>
                <a:spcPct val="0"/>
              </a:spcAft>
              <a:buClrTx/>
              <a:buSzTx/>
              <a:buFontTx/>
              <a:buNone/>
              <a:tabLst/>
            </a:pPr>
            <a:r>
              <a:rPr kumimoji="0" lang="en-US" altLang="en-US" sz="150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Since there are a lot of distinct values, we’ll express this in the form of grouped distributions with intervals like 0-10, 10-20 and so. First let’s represent the data in the form of grouped frequency distribution. </a:t>
            </a:r>
            <a:endParaRPr kumimoji="0" lang="en-US" altLang="en-US" sz="15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42252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6904228-F8C6-AADE-3F96-DC62132B1C5D}"/>
              </a:ext>
            </a:extLst>
          </p:cNvPr>
          <p:cNvGraphicFramePr>
            <a:graphicFrameLocks noGrp="1"/>
          </p:cNvGraphicFramePr>
          <p:nvPr/>
        </p:nvGraphicFramePr>
        <p:xfrm>
          <a:off x="715617" y="596349"/>
          <a:ext cx="3466272" cy="4341652"/>
        </p:xfrm>
        <a:graphic>
          <a:graphicData uri="http://schemas.openxmlformats.org/drawingml/2006/table">
            <a:tbl>
              <a:tblPr/>
              <a:tblGrid>
                <a:gridCol w="1733136">
                  <a:extLst>
                    <a:ext uri="{9D8B030D-6E8A-4147-A177-3AD203B41FA5}">
                      <a16:colId xmlns:a16="http://schemas.microsoft.com/office/drawing/2014/main" val="657456562"/>
                    </a:ext>
                  </a:extLst>
                </a:gridCol>
                <a:gridCol w="1733136">
                  <a:extLst>
                    <a:ext uri="{9D8B030D-6E8A-4147-A177-3AD203B41FA5}">
                      <a16:colId xmlns:a16="http://schemas.microsoft.com/office/drawing/2014/main" val="3896632115"/>
                    </a:ext>
                  </a:extLst>
                </a:gridCol>
              </a:tblGrid>
              <a:tr h="546942">
                <a:tc>
                  <a:txBody>
                    <a:bodyPr/>
                    <a:lstStyle/>
                    <a:p>
                      <a:pPr algn="ctr" fontAlgn="base"/>
                      <a:r>
                        <a:rPr lang="en-US" sz="1400" b="1" dirty="0">
                          <a:effectLst/>
                          <a:latin typeface="Times New Roman" panose="02020603050405020304" pitchFamily="18" charset="0"/>
                          <a:cs typeface="Times New Roman" panose="02020603050405020304" pitchFamily="18" charset="0"/>
                        </a:rPr>
                        <a:t>Runs scored by Virat Kohli</a:t>
                      </a:r>
                    </a:p>
                  </a:txBody>
                  <a:tcPr marL="28231" marR="28231" marT="56462" marB="564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r>
                        <a:rPr lang="en-IN" sz="1400" b="1" dirty="0">
                          <a:effectLst/>
                          <a:latin typeface="Times New Roman" panose="02020603050405020304" pitchFamily="18" charset="0"/>
                          <a:cs typeface="Times New Roman" panose="02020603050405020304" pitchFamily="18" charset="0"/>
                        </a:rPr>
                        <a:t>Cumulative Frequency</a:t>
                      </a:r>
                    </a:p>
                  </a:txBody>
                  <a:tcPr marL="56462" marR="56462" marT="56462" marB="564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607697"/>
                  </a:ext>
                </a:extLst>
              </a:tr>
              <a:tr h="379471">
                <a:tc>
                  <a:txBody>
                    <a:bodyPr/>
                    <a:lstStyle/>
                    <a:p>
                      <a:pPr algn="ctr" rtl="0" fontAlgn="base">
                        <a:spcAft>
                          <a:spcPts val="750"/>
                        </a:spcAft>
                      </a:pPr>
                      <a:r>
                        <a:rPr lang="en-IN" sz="1400" b="0" dirty="0">
                          <a:effectLst/>
                          <a:latin typeface="Times New Roman" panose="02020603050405020304" pitchFamily="18" charset="0"/>
                          <a:cs typeface="Times New Roman" panose="02020603050405020304" pitchFamily="18" charset="0"/>
                        </a:rPr>
                        <a:t>Less than 10</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spcAft>
                          <a:spcPts val="750"/>
                        </a:spcAft>
                      </a:pPr>
                      <a:r>
                        <a:rPr lang="en-IN" sz="1400" b="0">
                          <a:effectLst/>
                          <a:latin typeface="Times New Roman" panose="02020603050405020304" pitchFamily="18" charset="0"/>
                          <a:cs typeface="Times New Roman" panose="02020603050405020304" pitchFamily="18" charset="0"/>
                        </a:rPr>
                        <a:t>2</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2218761"/>
                  </a:ext>
                </a:extLst>
              </a:tr>
              <a:tr h="379471">
                <a:tc>
                  <a:txBody>
                    <a:bodyPr/>
                    <a:lstStyle/>
                    <a:p>
                      <a:pPr algn="ctr" rtl="0" fontAlgn="base">
                        <a:spcAft>
                          <a:spcPts val="750"/>
                        </a:spcAft>
                      </a:pPr>
                      <a:r>
                        <a:rPr lang="en-IN" sz="1400" b="0" dirty="0">
                          <a:effectLst/>
                          <a:latin typeface="Times New Roman" panose="02020603050405020304" pitchFamily="18" charset="0"/>
                          <a:cs typeface="Times New Roman" panose="02020603050405020304" pitchFamily="18" charset="0"/>
                        </a:rPr>
                        <a:t>Less than 20</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spcAft>
                          <a:spcPts val="750"/>
                        </a:spcAft>
                      </a:pPr>
                      <a:r>
                        <a:rPr lang="en-IN" sz="1400" b="0" dirty="0">
                          <a:effectLst/>
                          <a:latin typeface="Times New Roman" panose="02020603050405020304" pitchFamily="18" charset="0"/>
                          <a:cs typeface="Times New Roman" panose="02020603050405020304" pitchFamily="18" charset="0"/>
                        </a:rPr>
                        <a:t>4</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6518334"/>
                  </a:ext>
                </a:extLst>
              </a:tr>
              <a:tr h="379471">
                <a:tc>
                  <a:txBody>
                    <a:bodyPr/>
                    <a:lstStyle/>
                    <a:p>
                      <a:pPr algn="ctr" rtl="0" fontAlgn="base">
                        <a:spcAft>
                          <a:spcPts val="750"/>
                        </a:spcAft>
                      </a:pPr>
                      <a:r>
                        <a:rPr lang="en-IN" sz="1400" b="0" dirty="0">
                          <a:effectLst/>
                          <a:latin typeface="Times New Roman" panose="02020603050405020304" pitchFamily="18" charset="0"/>
                          <a:cs typeface="Times New Roman" panose="02020603050405020304" pitchFamily="18" charset="0"/>
                        </a:rPr>
                        <a:t>Less than 30</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spcAft>
                          <a:spcPts val="750"/>
                        </a:spcAft>
                      </a:pPr>
                      <a:r>
                        <a:rPr lang="en-IN" sz="1400" b="0" dirty="0">
                          <a:effectLst/>
                          <a:latin typeface="Times New Roman" panose="02020603050405020304" pitchFamily="18" charset="0"/>
                          <a:cs typeface="Times New Roman" panose="02020603050405020304" pitchFamily="18" charset="0"/>
                        </a:rPr>
                        <a:t>5</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5911722"/>
                  </a:ext>
                </a:extLst>
              </a:tr>
              <a:tr h="379471">
                <a:tc>
                  <a:txBody>
                    <a:bodyPr/>
                    <a:lstStyle/>
                    <a:p>
                      <a:pPr algn="ctr" rtl="0" fontAlgn="base">
                        <a:spcAft>
                          <a:spcPts val="750"/>
                        </a:spcAft>
                      </a:pPr>
                      <a:r>
                        <a:rPr lang="en-IN" sz="1400" b="0" dirty="0">
                          <a:effectLst/>
                          <a:latin typeface="Times New Roman" panose="02020603050405020304" pitchFamily="18" charset="0"/>
                          <a:cs typeface="Times New Roman" panose="02020603050405020304" pitchFamily="18" charset="0"/>
                        </a:rPr>
                        <a:t>Less than 40</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spcAft>
                          <a:spcPts val="750"/>
                        </a:spcAft>
                      </a:pPr>
                      <a:r>
                        <a:rPr lang="en-IN" sz="1400" b="0" dirty="0">
                          <a:effectLst/>
                          <a:latin typeface="Times New Roman" panose="02020603050405020304" pitchFamily="18" charset="0"/>
                          <a:cs typeface="Times New Roman" panose="02020603050405020304" pitchFamily="18" charset="0"/>
                        </a:rPr>
                        <a:t>9</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06730638"/>
                  </a:ext>
                </a:extLst>
              </a:tr>
              <a:tr h="379471">
                <a:tc>
                  <a:txBody>
                    <a:bodyPr/>
                    <a:lstStyle/>
                    <a:p>
                      <a:pPr algn="ctr" rtl="0" fontAlgn="base">
                        <a:spcAft>
                          <a:spcPts val="750"/>
                        </a:spcAft>
                      </a:pPr>
                      <a:r>
                        <a:rPr lang="en-IN" sz="1400" b="0">
                          <a:effectLst/>
                          <a:latin typeface="Times New Roman" panose="02020603050405020304" pitchFamily="18" charset="0"/>
                          <a:cs typeface="Times New Roman" panose="02020603050405020304" pitchFamily="18" charset="0"/>
                        </a:rPr>
                        <a:t>Less than 50</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spcAft>
                          <a:spcPts val="750"/>
                        </a:spcAft>
                      </a:pPr>
                      <a:r>
                        <a:rPr lang="en-IN" sz="1400" b="0" dirty="0">
                          <a:effectLst/>
                          <a:latin typeface="Times New Roman" panose="02020603050405020304" pitchFamily="18" charset="0"/>
                          <a:cs typeface="Times New Roman" panose="02020603050405020304" pitchFamily="18" charset="0"/>
                        </a:rPr>
                        <a:t>13</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3338858"/>
                  </a:ext>
                </a:extLst>
              </a:tr>
              <a:tr h="379471">
                <a:tc>
                  <a:txBody>
                    <a:bodyPr/>
                    <a:lstStyle/>
                    <a:p>
                      <a:pPr algn="ctr" rtl="0" fontAlgn="base">
                        <a:spcAft>
                          <a:spcPts val="750"/>
                        </a:spcAft>
                      </a:pPr>
                      <a:r>
                        <a:rPr lang="en-IN" sz="1400" b="0">
                          <a:effectLst/>
                          <a:latin typeface="Times New Roman" panose="02020603050405020304" pitchFamily="18" charset="0"/>
                          <a:cs typeface="Times New Roman" panose="02020603050405020304" pitchFamily="18" charset="0"/>
                        </a:rPr>
                        <a:t>Less than 60</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spcAft>
                          <a:spcPts val="750"/>
                        </a:spcAft>
                      </a:pPr>
                      <a:r>
                        <a:rPr lang="en-IN" sz="1400" b="0" dirty="0">
                          <a:effectLst/>
                          <a:latin typeface="Times New Roman" panose="02020603050405020304" pitchFamily="18" charset="0"/>
                          <a:cs typeface="Times New Roman" panose="02020603050405020304" pitchFamily="18" charset="0"/>
                        </a:rPr>
                        <a:t>18</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8521081"/>
                  </a:ext>
                </a:extLst>
              </a:tr>
              <a:tr h="379471">
                <a:tc>
                  <a:txBody>
                    <a:bodyPr/>
                    <a:lstStyle/>
                    <a:p>
                      <a:pPr algn="ctr" rtl="0" fontAlgn="base">
                        <a:spcAft>
                          <a:spcPts val="750"/>
                        </a:spcAft>
                      </a:pPr>
                      <a:r>
                        <a:rPr lang="en-IN" sz="1400" b="0">
                          <a:effectLst/>
                          <a:latin typeface="Times New Roman" panose="02020603050405020304" pitchFamily="18" charset="0"/>
                          <a:cs typeface="Times New Roman" panose="02020603050405020304" pitchFamily="18" charset="0"/>
                        </a:rPr>
                        <a:t>Less than 70</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spcAft>
                          <a:spcPts val="750"/>
                        </a:spcAft>
                      </a:pPr>
                      <a:r>
                        <a:rPr lang="en-IN" sz="1400" b="0" dirty="0">
                          <a:effectLst/>
                          <a:latin typeface="Times New Roman" panose="02020603050405020304" pitchFamily="18" charset="0"/>
                          <a:cs typeface="Times New Roman" panose="02020603050405020304" pitchFamily="18" charset="0"/>
                        </a:rPr>
                        <a:t>19</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8595830"/>
                  </a:ext>
                </a:extLst>
              </a:tr>
              <a:tr h="379471">
                <a:tc>
                  <a:txBody>
                    <a:bodyPr/>
                    <a:lstStyle/>
                    <a:p>
                      <a:pPr algn="ctr" rtl="0" fontAlgn="base">
                        <a:spcAft>
                          <a:spcPts val="750"/>
                        </a:spcAft>
                      </a:pPr>
                      <a:r>
                        <a:rPr lang="en-IN" sz="1400" b="0">
                          <a:effectLst/>
                          <a:latin typeface="Times New Roman" panose="02020603050405020304" pitchFamily="18" charset="0"/>
                          <a:cs typeface="Times New Roman" panose="02020603050405020304" pitchFamily="18" charset="0"/>
                        </a:rPr>
                        <a:t>Less than 80</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spcAft>
                          <a:spcPts val="750"/>
                        </a:spcAft>
                      </a:pPr>
                      <a:r>
                        <a:rPr lang="en-IN" sz="1400" b="0" dirty="0">
                          <a:effectLst/>
                          <a:latin typeface="Times New Roman" panose="02020603050405020304" pitchFamily="18" charset="0"/>
                          <a:cs typeface="Times New Roman" panose="02020603050405020304" pitchFamily="18" charset="0"/>
                        </a:rPr>
                        <a:t>22</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62714407"/>
                  </a:ext>
                </a:extLst>
              </a:tr>
              <a:tr h="379471">
                <a:tc>
                  <a:txBody>
                    <a:bodyPr/>
                    <a:lstStyle/>
                    <a:p>
                      <a:pPr algn="ctr" rtl="0" fontAlgn="base">
                        <a:spcAft>
                          <a:spcPts val="750"/>
                        </a:spcAft>
                      </a:pPr>
                      <a:r>
                        <a:rPr lang="en-IN" sz="1400" b="0">
                          <a:effectLst/>
                          <a:latin typeface="Times New Roman" panose="02020603050405020304" pitchFamily="18" charset="0"/>
                          <a:cs typeface="Times New Roman" panose="02020603050405020304" pitchFamily="18" charset="0"/>
                        </a:rPr>
                        <a:t>Less than 90</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spcAft>
                          <a:spcPts val="750"/>
                        </a:spcAft>
                      </a:pPr>
                      <a:r>
                        <a:rPr lang="en-IN" sz="1400" b="0" dirty="0">
                          <a:effectLst/>
                          <a:latin typeface="Times New Roman" panose="02020603050405020304" pitchFamily="18" charset="0"/>
                          <a:cs typeface="Times New Roman" panose="02020603050405020304" pitchFamily="18" charset="0"/>
                        </a:rPr>
                        <a:t>24</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6121267"/>
                  </a:ext>
                </a:extLst>
              </a:tr>
              <a:tr h="379471">
                <a:tc>
                  <a:txBody>
                    <a:bodyPr/>
                    <a:lstStyle/>
                    <a:p>
                      <a:pPr algn="ctr" rtl="0" fontAlgn="base">
                        <a:spcAft>
                          <a:spcPts val="750"/>
                        </a:spcAft>
                      </a:pPr>
                      <a:r>
                        <a:rPr lang="en-IN" sz="1400" b="0">
                          <a:effectLst/>
                          <a:latin typeface="Times New Roman" panose="02020603050405020304" pitchFamily="18" charset="0"/>
                          <a:cs typeface="Times New Roman" panose="02020603050405020304" pitchFamily="18" charset="0"/>
                        </a:rPr>
                        <a:t>Less than 100</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spcAft>
                          <a:spcPts val="750"/>
                        </a:spcAft>
                      </a:pPr>
                      <a:r>
                        <a:rPr lang="en-IN" sz="1400" b="0" dirty="0">
                          <a:effectLst/>
                          <a:latin typeface="Times New Roman" panose="02020603050405020304" pitchFamily="18" charset="0"/>
                          <a:cs typeface="Times New Roman" panose="02020603050405020304" pitchFamily="18" charset="0"/>
                        </a:rPr>
                        <a:t>25</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08710583"/>
                  </a:ext>
                </a:extLst>
              </a:tr>
            </a:tbl>
          </a:graphicData>
        </a:graphic>
      </p:graphicFrame>
      <p:sp>
        <p:nvSpPr>
          <p:cNvPr id="3" name="Rectangle 1">
            <a:extLst>
              <a:ext uri="{FF2B5EF4-FFF2-40B4-BE49-F238E27FC236}">
                <a16:creationId xmlns:a16="http://schemas.microsoft.com/office/drawing/2014/main" id="{C6862D69-3023-8E45-648A-683615B7EB36}"/>
              </a:ext>
            </a:extLst>
          </p:cNvPr>
          <p:cNvSpPr>
            <a:spLocks noChangeArrowheads="1"/>
          </p:cNvSpPr>
          <p:nvPr/>
        </p:nvSpPr>
        <p:spPr bwMode="auto">
          <a:xfrm>
            <a:off x="2595563" y="1125655"/>
            <a:ext cx="9144000"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l" defTabSz="685800" rtl="0" eaLnBrk="0" fontAlgn="base" latinLnBrk="0" hangingPunct="0">
              <a:lnSpc>
                <a:spcPct val="100000"/>
              </a:lnSpc>
              <a:spcBef>
                <a:spcPct val="0"/>
              </a:spcBef>
              <a:spcAft>
                <a:spcPct val="0"/>
              </a:spcAft>
              <a:buClrTx/>
              <a:buSzTx/>
              <a:buFontTx/>
              <a:buNone/>
              <a:tabLst/>
            </a:pPr>
            <a:br>
              <a:rPr kumimoji="0" lang="en-US" altLang="en-US" sz="1350" b="0" i="0" u="none" strike="noStrike" cap="none" normalizeH="0" baseline="0">
                <a:ln>
                  <a:noFill/>
                </a:ln>
                <a:solidFill>
                  <a:schemeClr val="tx1"/>
                </a:solidFill>
                <a:effectLst/>
                <a:latin typeface="Arial" panose="020B0604020202020204" pitchFamily="34" charset="0"/>
              </a:rPr>
            </a:br>
            <a:endParaRPr kumimoji="0" lang="en-US" altLang="en-US" sz="1350" b="0" i="0" u="none" strike="noStrike" cap="none" normalizeH="0" baseline="0">
              <a:ln>
                <a:noFill/>
              </a:ln>
              <a:solidFill>
                <a:schemeClr val="tx1"/>
              </a:solidFill>
              <a:effectLst/>
              <a:latin typeface="Arial" panose="020B0604020202020204" pitchFamily="34" charset="0"/>
            </a:endParaRPr>
          </a:p>
        </p:txBody>
      </p:sp>
      <p:graphicFrame>
        <p:nvGraphicFramePr>
          <p:cNvPr id="5" name="Table 4">
            <a:extLst>
              <a:ext uri="{FF2B5EF4-FFF2-40B4-BE49-F238E27FC236}">
                <a16:creationId xmlns:a16="http://schemas.microsoft.com/office/drawing/2014/main" id="{B6921E2A-DA4D-150B-EEF7-21841B220C66}"/>
              </a:ext>
            </a:extLst>
          </p:cNvPr>
          <p:cNvGraphicFramePr>
            <a:graphicFrameLocks noGrp="1"/>
          </p:cNvGraphicFramePr>
          <p:nvPr/>
        </p:nvGraphicFramePr>
        <p:xfrm>
          <a:off x="4629151" y="596349"/>
          <a:ext cx="3578087" cy="4341642"/>
        </p:xfrm>
        <a:graphic>
          <a:graphicData uri="http://schemas.openxmlformats.org/drawingml/2006/table">
            <a:tbl>
              <a:tblPr/>
              <a:tblGrid>
                <a:gridCol w="1815803">
                  <a:extLst>
                    <a:ext uri="{9D8B030D-6E8A-4147-A177-3AD203B41FA5}">
                      <a16:colId xmlns:a16="http://schemas.microsoft.com/office/drawing/2014/main" val="2843999598"/>
                    </a:ext>
                  </a:extLst>
                </a:gridCol>
                <a:gridCol w="1762284">
                  <a:extLst>
                    <a:ext uri="{9D8B030D-6E8A-4147-A177-3AD203B41FA5}">
                      <a16:colId xmlns:a16="http://schemas.microsoft.com/office/drawing/2014/main" val="225794208"/>
                    </a:ext>
                  </a:extLst>
                </a:gridCol>
              </a:tblGrid>
              <a:tr h="546942">
                <a:tc>
                  <a:txBody>
                    <a:bodyPr/>
                    <a:lstStyle/>
                    <a:p>
                      <a:pPr algn="ctr" rtl="0" fontAlgn="base">
                        <a:spcAft>
                          <a:spcPts val="750"/>
                        </a:spcAft>
                      </a:pPr>
                      <a:r>
                        <a:rPr lang="en-US" sz="1400" b="1" dirty="0">
                          <a:effectLst/>
                          <a:latin typeface="Times New Roman" panose="02020603050405020304" pitchFamily="18" charset="0"/>
                          <a:cs typeface="Times New Roman" panose="02020603050405020304" pitchFamily="18" charset="0"/>
                        </a:rPr>
                        <a:t>Runs scored by Virat Kohli</a:t>
                      </a:r>
                    </a:p>
                  </a:txBody>
                  <a:tcPr marL="28231" marR="28231" marT="56462" marB="564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ase">
                        <a:spcAft>
                          <a:spcPts val="750"/>
                        </a:spcAft>
                      </a:pPr>
                      <a:r>
                        <a:rPr lang="en-IN" sz="1400" b="1">
                          <a:effectLst/>
                          <a:latin typeface="Times New Roman" panose="02020603050405020304" pitchFamily="18" charset="0"/>
                          <a:cs typeface="Times New Roman" panose="02020603050405020304" pitchFamily="18" charset="0"/>
                        </a:rPr>
                        <a:t>Cumulative Frequency</a:t>
                      </a:r>
                    </a:p>
                  </a:txBody>
                  <a:tcPr marL="56462" marR="56462" marT="56462" marB="564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49266321"/>
                  </a:ext>
                </a:extLst>
              </a:tr>
              <a:tr h="379470">
                <a:tc>
                  <a:txBody>
                    <a:bodyPr/>
                    <a:lstStyle/>
                    <a:p>
                      <a:pPr algn="ctr" rtl="0" fontAlgn="base">
                        <a:spcAft>
                          <a:spcPts val="750"/>
                        </a:spcAft>
                      </a:pPr>
                      <a:r>
                        <a:rPr lang="en-IN" sz="1400" b="0" dirty="0">
                          <a:effectLst/>
                          <a:latin typeface="Times New Roman" panose="02020603050405020304" pitchFamily="18" charset="0"/>
                          <a:cs typeface="Times New Roman" panose="02020603050405020304" pitchFamily="18" charset="0"/>
                        </a:rPr>
                        <a:t>More than 0</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spcAft>
                          <a:spcPts val="750"/>
                        </a:spcAft>
                      </a:pPr>
                      <a:r>
                        <a:rPr lang="en-IN" sz="1400" b="0">
                          <a:effectLst/>
                          <a:latin typeface="Times New Roman" panose="02020603050405020304" pitchFamily="18" charset="0"/>
                          <a:cs typeface="Times New Roman" panose="02020603050405020304" pitchFamily="18" charset="0"/>
                        </a:rPr>
                        <a:t>25</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36723408"/>
                  </a:ext>
                </a:extLst>
              </a:tr>
              <a:tr h="379470">
                <a:tc>
                  <a:txBody>
                    <a:bodyPr/>
                    <a:lstStyle/>
                    <a:p>
                      <a:pPr algn="ctr" rtl="0" fontAlgn="base">
                        <a:spcAft>
                          <a:spcPts val="750"/>
                        </a:spcAft>
                      </a:pPr>
                      <a:r>
                        <a:rPr lang="en-IN" sz="1400" b="0" dirty="0">
                          <a:effectLst/>
                          <a:latin typeface="Times New Roman" panose="02020603050405020304" pitchFamily="18" charset="0"/>
                          <a:cs typeface="Times New Roman" panose="02020603050405020304" pitchFamily="18" charset="0"/>
                        </a:rPr>
                        <a:t>More than 10</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spcAft>
                          <a:spcPts val="750"/>
                        </a:spcAft>
                      </a:pPr>
                      <a:r>
                        <a:rPr lang="en-IN" sz="1400" b="0" dirty="0">
                          <a:effectLst/>
                          <a:latin typeface="Times New Roman" panose="02020603050405020304" pitchFamily="18" charset="0"/>
                          <a:cs typeface="Times New Roman" panose="02020603050405020304" pitchFamily="18" charset="0"/>
                        </a:rPr>
                        <a:t>23</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2464563"/>
                  </a:ext>
                </a:extLst>
              </a:tr>
              <a:tr h="379470">
                <a:tc>
                  <a:txBody>
                    <a:bodyPr/>
                    <a:lstStyle/>
                    <a:p>
                      <a:pPr algn="ctr" rtl="0" fontAlgn="base">
                        <a:spcAft>
                          <a:spcPts val="750"/>
                        </a:spcAft>
                      </a:pPr>
                      <a:r>
                        <a:rPr lang="en-IN" sz="1400" b="0" dirty="0">
                          <a:effectLst/>
                          <a:latin typeface="Times New Roman" panose="02020603050405020304" pitchFamily="18" charset="0"/>
                          <a:cs typeface="Times New Roman" panose="02020603050405020304" pitchFamily="18" charset="0"/>
                        </a:rPr>
                        <a:t>More than 20</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spcAft>
                          <a:spcPts val="750"/>
                        </a:spcAft>
                      </a:pPr>
                      <a:r>
                        <a:rPr lang="en-IN" sz="1400" b="0">
                          <a:effectLst/>
                          <a:latin typeface="Times New Roman" panose="02020603050405020304" pitchFamily="18" charset="0"/>
                          <a:cs typeface="Times New Roman" panose="02020603050405020304" pitchFamily="18" charset="0"/>
                        </a:rPr>
                        <a:t>21</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88103871"/>
                  </a:ext>
                </a:extLst>
              </a:tr>
              <a:tr h="379470">
                <a:tc>
                  <a:txBody>
                    <a:bodyPr/>
                    <a:lstStyle/>
                    <a:p>
                      <a:pPr algn="ctr" rtl="0" fontAlgn="base">
                        <a:spcAft>
                          <a:spcPts val="750"/>
                        </a:spcAft>
                      </a:pPr>
                      <a:r>
                        <a:rPr lang="en-IN" sz="1400" b="0" dirty="0">
                          <a:effectLst/>
                          <a:latin typeface="Times New Roman" panose="02020603050405020304" pitchFamily="18" charset="0"/>
                          <a:cs typeface="Times New Roman" panose="02020603050405020304" pitchFamily="18" charset="0"/>
                        </a:rPr>
                        <a:t>More than 30</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spcAft>
                          <a:spcPts val="750"/>
                        </a:spcAft>
                      </a:pPr>
                      <a:r>
                        <a:rPr lang="en-IN" sz="1400" b="0" dirty="0">
                          <a:effectLst/>
                          <a:latin typeface="Times New Roman" panose="02020603050405020304" pitchFamily="18" charset="0"/>
                          <a:cs typeface="Times New Roman" panose="02020603050405020304" pitchFamily="18" charset="0"/>
                        </a:rPr>
                        <a:t>20</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4110389"/>
                  </a:ext>
                </a:extLst>
              </a:tr>
              <a:tr h="379470">
                <a:tc>
                  <a:txBody>
                    <a:bodyPr/>
                    <a:lstStyle/>
                    <a:p>
                      <a:pPr algn="ctr" rtl="0" fontAlgn="base">
                        <a:spcAft>
                          <a:spcPts val="750"/>
                        </a:spcAft>
                      </a:pPr>
                      <a:r>
                        <a:rPr lang="en-IN" sz="1400" b="0">
                          <a:effectLst/>
                          <a:latin typeface="Times New Roman" panose="02020603050405020304" pitchFamily="18" charset="0"/>
                          <a:cs typeface="Times New Roman" panose="02020603050405020304" pitchFamily="18" charset="0"/>
                        </a:rPr>
                        <a:t>More than 40</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spcAft>
                          <a:spcPts val="750"/>
                        </a:spcAft>
                      </a:pPr>
                      <a:r>
                        <a:rPr lang="en-IN" sz="1400" b="0" dirty="0">
                          <a:effectLst/>
                          <a:latin typeface="Times New Roman" panose="02020603050405020304" pitchFamily="18" charset="0"/>
                          <a:cs typeface="Times New Roman" panose="02020603050405020304" pitchFamily="18" charset="0"/>
                        </a:rPr>
                        <a:t>16</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82691218"/>
                  </a:ext>
                </a:extLst>
              </a:tr>
              <a:tr h="379470">
                <a:tc>
                  <a:txBody>
                    <a:bodyPr/>
                    <a:lstStyle/>
                    <a:p>
                      <a:pPr algn="ctr" rtl="0" fontAlgn="base">
                        <a:spcAft>
                          <a:spcPts val="750"/>
                        </a:spcAft>
                      </a:pPr>
                      <a:r>
                        <a:rPr lang="en-IN" sz="1400" b="0">
                          <a:effectLst/>
                          <a:latin typeface="Times New Roman" panose="02020603050405020304" pitchFamily="18" charset="0"/>
                          <a:cs typeface="Times New Roman" panose="02020603050405020304" pitchFamily="18" charset="0"/>
                        </a:rPr>
                        <a:t>More than 50</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spcAft>
                          <a:spcPts val="750"/>
                        </a:spcAft>
                      </a:pPr>
                      <a:r>
                        <a:rPr lang="en-IN" sz="1400" b="0" dirty="0">
                          <a:effectLst/>
                          <a:latin typeface="Times New Roman" panose="02020603050405020304" pitchFamily="18" charset="0"/>
                          <a:cs typeface="Times New Roman" panose="02020603050405020304" pitchFamily="18" charset="0"/>
                        </a:rPr>
                        <a:t>12</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42569703"/>
                  </a:ext>
                </a:extLst>
              </a:tr>
              <a:tr h="379470">
                <a:tc>
                  <a:txBody>
                    <a:bodyPr/>
                    <a:lstStyle/>
                    <a:p>
                      <a:pPr algn="ctr" rtl="0" fontAlgn="base">
                        <a:spcAft>
                          <a:spcPts val="750"/>
                        </a:spcAft>
                      </a:pPr>
                      <a:r>
                        <a:rPr lang="en-IN" sz="1400" b="0">
                          <a:effectLst/>
                          <a:latin typeface="Times New Roman" panose="02020603050405020304" pitchFamily="18" charset="0"/>
                          <a:cs typeface="Times New Roman" panose="02020603050405020304" pitchFamily="18" charset="0"/>
                        </a:rPr>
                        <a:t>More than 60</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spcAft>
                          <a:spcPts val="750"/>
                        </a:spcAft>
                      </a:pPr>
                      <a:r>
                        <a:rPr lang="en-IN" sz="1400" b="0" dirty="0">
                          <a:effectLst/>
                          <a:latin typeface="Times New Roman" panose="02020603050405020304" pitchFamily="18" charset="0"/>
                          <a:cs typeface="Times New Roman" panose="02020603050405020304" pitchFamily="18" charset="0"/>
                        </a:rPr>
                        <a:t>7</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63061272"/>
                  </a:ext>
                </a:extLst>
              </a:tr>
              <a:tr h="379470">
                <a:tc>
                  <a:txBody>
                    <a:bodyPr/>
                    <a:lstStyle/>
                    <a:p>
                      <a:pPr algn="ctr" rtl="0" fontAlgn="base">
                        <a:spcAft>
                          <a:spcPts val="750"/>
                        </a:spcAft>
                      </a:pPr>
                      <a:r>
                        <a:rPr lang="en-IN" sz="1400" b="0">
                          <a:effectLst/>
                          <a:latin typeface="Times New Roman" panose="02020603050405020304" pitchFamily="18" charset="0"/>
                          <a:cs typeface="Times New Roman" panose="02020603050405020304" pitchFamily="18" charset="0"/>
                        </a:rPr>
                        <a:t>More than 70</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spcAft>
                          <a:spcPts val="750"/>
                        </a:spcAft>
                      </a:pPr>
                      <a:r>
                        <a:rPr lang="en-IN" sz="1400" b="0" dirty="0">
                          <a:effectLst/>
                          <a:latin typeface="Times New Roman" panose="02020603050405020304" pitchFamily="18" charset="0"/>
                          <a:cs typeface="Times New Roman" panose="02020603050405020304" pitchFamily="18" charset="0"/>
                        </a:rPr>
                        <a:t>6</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3000928"/>
                  </a:ext>
                </a:extLst>
              </a:tr>
              <a:tr h="379470">
                <a:tc>
                  <a:txBody>
                    <a:bodyPr/>
                    <a:lstStyle/>
                    <a:p>
                      <a:pPr algn="ctr" rtl="0" fontAlgn="base">
                        <a:spcAft>
                          <a:spcPts val="750"/>
                        </a:spcAft>
                      </a:pPr>
                      <a:r>
                        <a:rPr lang="en-IN" sz="1400" b="0">
                          <a:effectLst/>
                          <a:latin typeface="Times New Roman" panose="02020603050405020304" pitchFamily="18" charset="0"/>
                          <a:cs typeface="Times New Roman" panose="02020603050405020304" pitchFamily="18" charset="0"/>
                        </a:rPr>
                        <a:t>More than 80</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spcAft>
                          <a:spcPts val="750"/>
                        </a:spcAft>
                      </a:pPr>
                      <a:r>
                        <a:rPr lang="en-IN" sz="1400" b="0" dirty="0">
                          <a:effectLst/>
                          <a:latin typeface="Times New Roman" panose="02020603050405020304" pitchFamily="18" charset="0"/>
                          <a:cs typeface="Times New Roman" panose="02020603050405020304" pitchFamily="18" charset="0"/>
                        </a:rPr>
                        <a:t>3</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5967623"/>
                  </a:ext>
                </a:extLst>
              </a:tr>
              <a:tr h="379470">
                <a:tc>
                  <a:txBody>
                    <a:bodyPr/>
                    <a:lstStyle/>
                    <a:p>
                      <a:pPr algn="ctr" rtl="0" fontAlgn="base">
                        <a:spcAft>
                          <a:spcPts val="750"/>
                        </a:spcAft>
                      </a:pPr>
                      <a:r>
                        <a:rPr lang="en-IN" sz="1400" b="0">
                          <a:effectLst/>
                          <a:latin typeface="Times New Roman" panose="02020603050405020304" pitchFamily="18" charset="0"/>
                          <a:cs typeface="Times New Roman" panose="02020603050405020304" pitchFamily="18" charset="0"/>
                        </a:rPr>
                        <a:t>More than 90</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spcAft>
                          <a:spcPts val="750"/>
                        </a:spcAft>
                      </a:pPr>
                      <a:r>
                        <a:rPr lang="en-IN" sz="1400" b="0" dirty="0">
                          <a:effectLst/>
                          <a:latin typeface="Times New Roman" panose="02020603050405020304" pitchFamily="18" charset="0"/>
                          <a:cs typeface="Times New Roman" panose="02020603050405020304" pitchFamily="18" charset="0"/>
                        </a:rPr>
                        <a:t>1</a:t>
                      </a:r>
                    </a:p>
                  </a:txBody>
                  <a:tcPr marL="56462" marR="56462" marT="79047" marB="79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9604477"/>
                  </a:ext>
                </a:extLst>
              </a:tr>
            </a:tbl>
          </a:graphicData>
        </a:graphic>
      </p:graphicFrame>
    </p:spTree>
    <p:extLst>
      <p:ext uri="{BB962C8B-B14F-4D97-AF65-F5344CB8AC3E}">
        <p14:creationId xmlns:p14="http://schemas.microsoft.com/office/powerpoint/2010/main" val="7358319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5BACCF6-EBE4-E6DF-B231-59F033D7A387}"/>
              </a:ext>
            </a:extLst>
          </p:cNvPr>
          <p:cNvSpPr>
            <a:spLocks noGrp="1"/>
          </p:cNvSpPr>
          <p:nvPr>
            <p:ph type="title"/>
          </p:nvPr>
        </p:nvSpPr>
        <p:spPr/>
        <p:txBody>
          <a:bodyPr/>
          <a:lstStyle/>
          <a:p>
            <a:r>
              <a:rPr lang="en" sz="4400" b="1" dirty="0">
                <a:solidFill>
                  <a:srgbClr val="FF0000"/>
                </a:solidFill>
                <a:latin typeface="Times New Roman" panose="02020603050405020304" pitchFamily="18" charset="0"/>
                <a:cs typeface="Times New Roman" panose="02020603050405020304" pitchFamily="18" charset="0"/>
              </a:rPr>
              <a:t>Measures of Central Tendency</a:t>
            </a:r>
            <a:endParaRPr lang="en-IN" dirty="0"/>
          </a:p>
        </p:txBody>
      </p:sp>
      <p:pic>
        <p:nvPicPr>
          <p:cNvPr id="4102" name="Picture 6" descr="Mean, Median and Mode in R Programming - GeeksforGeeks">
            <a:extLst>
              <a:ext uri="{FF2B5EF4-FFF2-40B4-BE49-F238E27FC236}">
                <a16:creationId xmlns:a16="http://schemas.microsoft.com/office/drawing/2014/main" id="{AA654944-A9F3-F17B-696E-B2C75972DE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2613" y="1404730"/>
            <a:ext cx="5184291" cy="26769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21241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8" name="Google Shape;328;p15"/>
              <p:cNvSpPr txBox="1">
                <a:spLocks noGrp="1"/>
              </p:cNvSpPr>
              <p:nvPr>
                <p:ph type="body" idx="4294967295"/>
              </p:nvPr>
            </p:nvSpPr>
            <p:spPr>
              <a:xfrm>
                <a:off x="311150" y="535816"/>
                <a:ext cx="8521700" cy="4071868"/>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 sz="2300" b="1" dirty="0">
                    <a:solidFill>
                      <a:srgbClr val="FF0000"/>
                    </a:solidFill>
                    <a:latin typeface="Times New Roman" panose="02020603050405020304" pitchFamily="18" charset="0"/>
                    <a:cs typeface="Times New Roman" panose="02020603050405020304" pitchFamily="18" charset="0"/>
                  </a:rPr>
                  <a:t>Mean (Arithmetic Average)</a:t>
                </a:r>
                <a:r>
                  <a:rPr lang="en" sz="2300" dirty="0">
                    <a:solidFill>
                      <a:srgbClr val="FF0000"/>
                    </a:solidFill>
                    <a:latin typeface="Times New Roman" panose="02020603050405020304" pitchFamily="18" charset="0"/>
                    <a:cs typeface="Times New Roman" panose="02020603050405020304" pitchFamily="18" charset="0"/>
                  </a:rPr>
                  <a:t>: </a:t>
                </a:r>
                <a:r>
                  <a:rPr lang="en" sz="2300" dirty="0">
                    <a:solidFill>
                      <a:schemeClr val="dk1"/>
                    </a:solidFill>
                    <a:latin typeface="Times New Roman" panose="02020603050405020304" pitchFamily="18" charset="0"/>
                    <a:cs typeface="Times New Roman" panose="02020603050405020304" pitchFamily="18" charset="0"/>
                  </a:rPr>
                  <a:t>The sum of all observations divided by the number of observations.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For ungrouped data : Mean =</a:t>
                </a:r>
                <a14:m>
                  <m:oMath xmlns:m="http://schemas.openxmlformats.org/officeDocument/2006/math">
                    <m:f>
                      <m:fPr>
                        <m:ctrlP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ctrlPr>
                      </m:fPr>
                      <m:num>
                        <m: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t>𝑆𝑢𝑚</m:t>
                        </m:r>
                        <m: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t> </m:t>
                        </m:r>
                        <m: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t>𝑜𝑓</m:t>
                        </m:r>
                        <m: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t> </m:t>
                        </m:r>
                        <m: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t>𝑎𝑙𝑙</m:t>
                        </m:r>
                        <m: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t> </m:t>
                        </m:r>
                        <m: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t>𝑜𝑏𝑠𝑒𝑟𝑣𝑎𝑡𝑖𝑜𝑛𝑠</m:t>
                        </m:r>
                      </m:num>
                      <m:den>
                        <m: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t>𝑛𝑢𝑚𝑏𝑒𝑟</m:t>
                        </m:r>
                        <m: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t> </m:t>
                        </m:r>
                        <m: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t>𝑜𝑓</m:t>
                        </m:r>
                        <m: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t> </m:t>
                        </m:r>
                        <m: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t>𝑜𝑏𝑠𝑒𝑟𝑣𝑎𝑡𝑖𝑜𝑛𝑠</m:t>
                        </m:r>
                      </m:den>
                    </m:f>
                  </m:oMath>
                </a14:m>
                <a:endParaRPr kumimoji="0" lang="ar-AE" sz="2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ar-AE" sz="2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14:m>
                  <m:oMath xmlns:m="http://schemas.openxmlformats.org/officeDocument/2006/math">
                    <m:acc>
                      <m:accPr>
                        <m:chr m:val="̅"/>
                        <m:ctrlP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ctrlPr>
                      </m:accPr>
                      <m:e>
                        <m: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t>𝑥</m:t>
                        </m:r>
                      </m:e>
                    </m:acc>
                    <m: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t>= </m:t>
                    </m:r>
                    <m:f>
                      <m:fPr>
                        <m:ctrlP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ctrlPr>
                      </m:fPr>
                      <m:num>
                        <m:nary>
                          <m:naryPr>
                            <m:chr m:val="∑"/>
                            <m:subHide m:val="on"/>
                            <m:supHide m:val="on"/>
                            <m:ctrlP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ctrlPr>
                          </m:naryPr>
                          <m:sub/>
                          <m:sup/>
                          <m:e>
                            <m:sSub>
                              <m:sSubPr>
                                <m:ctrlP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ctrlPr>
                              </m:sSubPr>
                              <m:e>
                                <m: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t>𝑥</m:t>
                                </m:r>
                              </m:e>
                              <m:sub>
                                <m: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t>𝑖</m:t>
                                </m:r>
                              </m:sub>
                            </m:sSub>
                          </m:e>
                        </m:nary>
                      </m:num>
                      <m:den>
                        <m: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t>𝑛</m:t>
                        </m:r>
                      </m:den>
                    </m:f>
                  </m:oMath>
                </a14:m>
                <a:endParaRPr kumimoji="0" lang="ar-AE" sz="2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For grouped data :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14:m>
                  <m:oMath xmlns:m="http://schemas.openxmlformats.org/officeDocument/2006/math">
                    <m:acc>
                      <m:accPr>
                        <m:chr m:val="̅"/>
                        <m:ctrlP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ctrlPr>
                      </m:accPr>
                      <m:e>
                        <m: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t>𝑥</m:t>
                        </m:r>
                      </m:e>
                    </m:acc>
                    <m:r>
                      <a:rPr kumimoji="0" lang="ar-AE" sz="23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t>=</m:t>
                    </m:r>
                    <m:f>
                      <m:fPr>
                        <m:ctrlP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ctrlPr>
                      </m:fPr>
                      <m:num>
                        <m:nary>
                          <m:naryPr>
                            <m:chr m:val="∑"/>
                            <m:subHide m:val="on"/>
                            <m:supHide m:val="on"/>
                            <m:ctrlP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ctrlPr>
                          </m:naryPr>
                          <m:sub/>
                          <m:sup/>
                          <m:e>
                            <m:sSub>
                              <m:sSubPr>
                                <m:ctrlP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ctrlPr>
                              </m:sSubPr>
                              <m:e>
                                <m: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t>𝑓</m:t>
                                </m:r>
                              </m:e>
                              <m:sub>
                                <m: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t>𝑖</m:t>
                                </m:r>
                              </m:sub>
                            </m:sSub>
                            <m:sSub>
                              <m:sSubPr>
                                <m:ctrlP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ctrlPr>
                              </m:sSubPr>
                              <m:e>
                                <m: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t>𝑥</m:t>
                                </m:r>
                              </m:e>
                              <m:sub>
                                <m: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t>𝑖</m:t>
                                </m:r>
                              </m:sub>
                            </m:sSub>
                          </m:e>
                        </m:nary>
                      </m:num>
                      <m:den>
                        <m:nary>
                          <m:naryPr>
                            <m:chr m:val="∑"/>
                            <m:subHide m:val="on"/>
                            <m:supHide m:val="on"/>
                            <m:ctrlP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ctrlPr>
                          </m:naryPr>
                          <m:sub/>
                          <m:sup/>
                          <m:e>
                            <m:sSub>
                              <m:sSubPr>
                                <m:ctrlP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ctrlPr>
                              </m:sSubPr>
                              <m:e>
                                <m: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t>𝑓</m:t>
                                </m:r>
                              </m:e>
                              <m:sub>
                                <m: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t>𝑖</m:t>
                                </m:r>
                              </m:sub>
                            </m:sSub>
                          </m:e>
                        </m:nary>
                      </m:den>
                    </m:f>
                  </m:oMath>
                </a14:m>
                <a:endParaRPr kumimoji="0" lang="ar-AE" sz="23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300" kern="1200" dirty="0">
                    <a:solidFill>
                      <a:prstClr val="black"/>
                    </a:solidFill>
                    <a:latin typeface="Cambria Math" panose="02040503050406030204" pitchFamily="18" charset="0"/>
                    <a:ea typeface="+mn-ea"/>
                    <a:cs typeface="+mj-cs"/>
                  </a:rPr>
                  <a:t>Where</a:t>
                </a:r>
                <a:r>
                  <a:rPr lang="en-US" sz="2300" i="1" kern="1200" dirty="0">
                    <a:solidFill>
                      <a:prstClr val="black"/>
                    </a:solidFill>
                    <a:latin typeface="Cambria Math" panose="02040503050406030204" pitchFamily="18" charset="0"/>
                    <a:ea typeface="+mn-ea"/>
                    <a:cs typeface="+mj-cs"/>
                  </a:rPr>
                  <a:t>  </a:t>
                </a:r>
                <a14:m>
                  <m:oMath xmlns:m="http://schemas.openxmlformats.org/officeDocument/2006/math">
                    <m: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t> </m:t>
                    </m:r>
                    <m:sSub>
                      <m:sSubPr>
                        <m:ctrlP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ctrlPr>
                      </m:sSubPr>
                      <m:e>
                        <m: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t>𝑓</m:t>
                        </m:r>
                      </m:e>
                      <m:sub>
                        <m: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t>𝑖</m:t>
                        </m:r>
                      </m:sub>
                    </m:sSub>
                    <m: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t>=</m:t>
                    </m:r>
                    <m: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t>𝑓𝑟𝑒𝑞𝑢𝑒𝑛𝑐𝑖𝑒𝑠</m:t>
                    </m:r>
                    <m: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t> </m:t>
                    </m:r>
                    <m: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t>𝑜𝑓</m:t>
                    </m:r>
                    <m: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t> </m:t>
                    </m:r>
                    <m: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t>𝑡</m:t>
                    </m:r>
                    <m: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t>h</m:t>
                    </m:r>
                    <m: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t>𝑒</m:t>
                    </m:r>
                    <m: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t> </m:t>
                    </m:r>
                    <m: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t>𝑐𝑙𝑎𝑠𝑠</m:t>
                    </m:r>
                    <m: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t> </m:t>
                    </m:r>
                    <m:r>
                      <a:rPr kumimoji="0" lang="ar-AE"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j-cs"/>
                      </a:rPr>
                      <m:t>𝑖</m:t>
                    </m:r>
                  </m:oMath>
                </a14:m>
                <a:endParaRPr kumimoji="0" lang="ar-AE" sz="23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j-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ar-AE" sz="2300" b="0" i="0" u="none" strike="noStrike" kern="1200" cap="none" spc="0" normalizeH="0" baseline="0" noProof="0" dirty="0">
                    <a:ln>
                      <a:noFill/>
                    </a:ln>
                    <a:solidFill>
                      <a:prstClr val="black"/>
                    </a:solidFill>
                    <a:effectLst/>
                    <a:uLnTx/>
                    <a:uFillTx/>
                    <a:latin typeface="Calibri" panose="020F0502020204030204"/>
                    <a:ea typeface="+mn-ea"/>
                    <a:cs typeface="+mj-cs"/>
                  </a:rPr>
                  <a:t>	</a:t>
                </a:r>
                <a:endParaRPr lang="en-IN" sz="2300" dirty="0">
                  <a:solidFill>
                    <a:schemeClr val="dk1"/>
                  </a:solidFill>
                  <a:cs typeface="+mj-cs"/>
                </a:endParaRPr>
              </a:p>
            </p:txBody>
          </p:sp>
        </mc:Choice>
        <mc:Fallback xmlns="">
          <p:sp>
            <p:nvSpPr>
              <p:cNvPr id="328" name="Google Shape;328;p15"/>
              <p:cNvSpPr txBox="1">
                <a:spLocks noGrp="1" noRot="1" noChangeAspect="1" noMove="1" noResize="1" noEditPoints="1" noAdjustHandles="1" noChangeArrowheads="1" noChangeShapeType="1" noTextEdit="1"/>
              </p:cNvSpPr>
              <p:nvPr>
                <p:ph type="body" idx="4294967295"/>
              </p:nvPr>
            </p:nvSpPr>
            <p:spPr>
              <a:xfrm>
                <a:off x="311150" y="535816"/>
                <a:ext cx="8521700" cy="4071868"/>
              </a:xfrm>
              <a:prstGeom prst="rect">
                <a:avLst/>
              </a:prstGeom>
              <a:blipFill>
                <a:blip r:embed="rId3"/>
                <a:stretch>
                  <a:fillRect l="-1073" b="-4491"/>
                </a:stretch>
              </a:blipFill>
              <a:ln>
                <a:noFill/>
              </a:ln>
            </p:spPr>
            <p:txBody>
              <a:bodyPr/>
              <a:lstStyle/>
              <a:p>
                <a:r>
                  <a:rPr lang="en-IN">
                    <a:noFill/>
                  </a:rPr>
                  <a:t> </a:t>
                </a:r>
              </a:p>
            </p:txBody>
          </p:sp>
        </mc:Fallback>
      </mc:AlternateContent>
    </p:spTree>
    <p:extLst>
      <p:ext uri="{BB962C8B-B14F-4D97-AF65-F5344CB8AC3E}">
        <p14:creationId xmlns:p14="http://schemas.microsoft.com/office/powerpoint/2010/main" val="8847901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94E59C8-5987-DF4F-9B43-52E2D5AF4746}"/>
              </a:ext>
            </a:extLst>
          </p:cNvPr>
          <p:cNvSpPr>
            <a:spLocks noGrp="1"/>
          </p:cNvSpPr>
          <p:nvPr>
            <p:ph type="title"/>
          </p:nvPr>
        </p:nvSpPr>
        <p:spPr/>
        <p:txBody>
          <a:bodyPr>
            <a:noAutofit/>
          </a:bodyPr>
          <a:lstStyle/>
          <a:p>
            <a:r>
              <a:rPr lang="en-US" sz="3200" b="1" dirty="0">
                <a:solidFill>
                  <a:srgbClr val="FF0000"/>
                </a:solidFill>
                <a:latin typeface="Times New Roman" panose="02020603050405020304" pitchFamily="18" charset="0"/>
                <a:cs typeface="Times New Roman" panose="02020603050405020304" pitchFamily="18" charset="0"/>
              </a:rPr>
              <a:t>Illustrative  Examples </a:t>
            </a:r>
            <a:endParaRPr lang="en-IN" sz="32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Text Placeholder 10">
                <a:extLst>
                  <a:ext uri="{FF2B5EF4-FFF2-40B4-BE49-F238E27FC236}">
                    <a16:creationId xmlns:a16="http://schemas.microsoft.com/office/drawing/2014/main" id="{4F242929-3979-C783-1E3F-7910BA9A94B4}"/>
                  </a:ext>
                </a:extLst>
              </p:cNvPr>
              <p:cNvSpPr>
                <a:spLocks noGrp="1"/>
              </p:cNvSpPr>
              <p:nvPr>
                <p:ph type="body" idx="1"/>
              </p:nvPr>
            </p:nvSpPr>
            <p:spPr/>
            <p:txBody>
              <a:bodyPr>
                <a:normAutofit fontScale="85000" lnSpcReduction="20000"/>
              </a:bodyPr>
              <a:lstStyle/>
              <a:p>
                <a:pPr marL="114300" indent="0">
                  <a:lnSpc>
                    <a:spcPct val="90000"/>
                  </a:lnSpc>
                  <a:spcAft>
                    <a:spcPts val="800"/>
                  </a:spcAft>
                  <a:buNone/>
                </a:pPr>
                <a:r>
                  <a:rPr lang="en-US" sz="1800" b="1"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Example 1</a:t>
                </a:r>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 indent="0">
                  <a:lnSpc>
                    <a:spcPct val="90000"/>
                  </a:lnSpc>
                  <a:spcAft>
                    <a:spcPts val="800"/>
                  </a:spcAft>
                  <a:buNone/>
                </a:pPr>
                <a:r>
                  <a:rPr lang="en-US" sz="1800" b="1"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Calculate the mean for the data set as given below</a:t>
                </a:r>
              </a:p>
              <a:p>
                <a:pPr marL="114300" indent="0">
                  <a:lnSpc>
                    <a:spcPct val="90000"/>
                  </a:lnSpc>
                  <a:spcAft>
                    <a:spcPts val="800"/>
                  </a:spcAft>
                  <a:buNone/>
                </a:pPr>
                <a:r>
                  <a:rPr lang="en-US" sz="1800" b="1"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5, 7, 9, 10, 12</a:t>
                </a:r>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 indent="0">
                  <a:lnSpc>
                    <a:spcPct val="90000"/>
                  </a:lnSpc>
                  <a:spcAft>
                    <a:spcPts val="800"/>
                  </a:spcAft>
                  <a:buNone/>
                </a:pPr>
                <a:r>
                  <a:rPr lang="en-US" sz="1800"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formula for the mean is:</a:t>
                </a:r>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 indent="0">
                  <a:lnSpc>
                    <a:spcPct val="90000"/>
                  </a:lnSpc>
                  <a:spcAft>
                    <a:spcPts val="800"/>
                  </a:spcAft>
                  <a:buNone/>
                </a:pPr>
                <a:r>
                  <a:rPr lang="en-US" sz="1800"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Mean =  </a:t>
                </a:r>
                <a14:m>
                  <m:oMath xmlns:m="http://schemas.openxmlformats.org/officeDocument/2006/math">
                    <m:f>
                      <m:fPr>
                        <m:ctrlPr>
                          <a:rPr lang="en-IN" sz="1800"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nary>
                          <m:naryPr>
                            <m:chr m:val="∑"/>
                            <m:subHide m:val="on"/>
                            <m:supHide m:val="on"/>
                            <m:ctrlPr>
                              <a:rPr lang="en-IN" sz="1800"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naryPr>
                          <m:sub/>
                          <m:sup/>
                          <m:e>
                            <m:sSub>
                              <m:sSubPr>
                                <m:ctrlPr>
                                  <a:rPr lang="en-IN" sz="1800"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sz="1800"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𝑖</m:t>
                                </m:r>
                              </m:sub>
                            </m:sSub>
                          </m:e>
                        </m:nary>
                      </m:num>
                      <m:den>
                        <m:r>
                          <a:rPr lang="en-US" sz="1800"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den>
                    </m:f>
                  </m:oMath>
                </a14:m>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 indent="0">
                  <a:lnSpc>
                    <a:spcPct val="90000"/>
                  </a:lnSpc>
                  <a:spcAft>
                    <a:spcPts val="800"/>
                  </a:spcAft>
                  <a:buNone/>
                </a:pPr>
                <a:r>
                  <a:rPr lang="en-US" sz="1800" b="1"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Step 1:</a:t>
                </a:r>
                <a:r>
                  <a:rPr lang="en-US" sz="1800"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Find the sum of the data values.</a:t>
                </a:r>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 indent="0">
                  <a:lnSpc>
                    <a:spcPct val="90000"/>
                  </a:lnSpc>
                  <a:spcAft>
                    <a:spcPts val="800"/>
                  </a:spcAft>
                  <a:buNone/>
                </a:pPr>
                <a:r>
                  <a:rPr lang="en-US" sz="1800"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5+7+9+10+12=43</a:t>
                </a:r>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 indent="0">
                  <a:lnSpc>
                    <a:spcPct val="90000"/>
                  </a:lnSpc>
                  <a:spcAft>
                    <a:spcPts val="800"/>
                  </a:spcAft>
                  <a:buNone/>
                </a:pPr>
                <a:r>
                  <a:rPr lang="en-US" sz="1800" b="1"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Step 2:</a:t>
                </a:r>
                <a:r>
                  <a:rPr lang="en-US" sz="1800"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Count the number of data points.</a:t>
                </a:r>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 indent="0">
                  <a:lnSpc>
                    <a:spcPct val="90000"/>
                  </a:lnSpc>
                  <a:spcAft>
                    <a:spcPts val="800"/>
                  </a:spcAft>
                  <a:buNone/>
                </a:pPr>
                <a:r>
                  <a:rPr lang="en-US" sz="1800"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n = 5</a:t>
                </a:r>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 indent="0">
                  <a:lnSpc>
                    <a:spcPct val="90000"/>
                  </a:lnSpc>
                  <a:spcAft>
                    <a:spcPts val="800"/>
                  </a:spcAft>
                  <a:buNone/>
                </a:pPr>
                <a:r>
                  <a:rPr lang="en-US" sz="1800" b="1"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Step 3:</a:t>
                </a:r>
                <a:r>
                  <a:rPr lang="en-US" sz="1800"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Calculate the mean.</a:t>
                </a:r>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 indent="0">
                  <a:lnSpc>
                    <a:spcPct val="90000"/>
                  </a:lnSpc>
                  <a:spcAft>
                    <a:spcPts val="800"/>
                  </a:spcAft>
                  <a:buNone/>
                </a:pPr>
                <a:r>
                  <a:rPr lang="en-US" sz="1800"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Mean =   </a:t>
                </a:r>
                <a14:m>
                  <m:oMath xmlns:m="http://schemas.openxmlformats.org/officeDocument/2006/math">
                    <m:f>
                      <m:fPr>
                        <m:ctrlPr>
                          <a:rPr lang="en-IN" sz="1800"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43</m:t>
                        </m:r>
                      </m:num>
                      <m:den>
                        <m:r>
                          <a:rPr lang="en-US" sz="1800"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5</m:t>
                        </m:r>
                      </m:den>
                    </m:f>
                  </m:oMath>
                </a14:m>
                <a:r>
                  <a:rPr lang="en-US" sz="1800"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8.6</a:t>
                </a:r>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mc:Choice>
        <mc:Fallback xmlns="">
          <p:sp>
            <p:nvSpPr>
              <p:cNvPr id="11" name="Text Placeholder 10">
                <a:extLst>
                  <a:ext uri="{FF2B5EF4-FFF2-40B4-BE49-F238E27FC236}">
                    <a16:creationId xmlns:a16="http://schemas.microsoft.com/office/drawing/2014/main" id="{4F242929-3979-C783-1E3F-7910BA9A94B4}"/>
                  </a:ext>
                </a:extLst>
              </p:cNvPr>
              <p:cNvSpPr>
                <a:spLocks noGrp="1" noRot="1" noChangeAspect="1" noMove="1" noResize="1" noEditPoints="1" noAdjustHandles="1" noChangeArrowheads="1" noChangeShapeType="1" noTextEdit="1"/>
              </p:cNvSpPr>
              <p:nvPr>
                <p:ph type="body" idx="1"/>
              </p:nvPr>
            </p:nvSpPr>
            <p:spPr>
              <a:blipFill>
                <a:blip r:embed="rId2"/>
                <a:stretch>
                  <a:fillRect t="-893"/>
                </a:stretch>
              </a:blipFill>
            </p:spPr>
            <p:txBody>
              <a:bodyPr/>
              <a:lstStyle/>
              <a:p>
                <a:r>
                  <a:rPr lang="en-IN">
                    <a:noFill/>
                  </a:rPr>
                  <a:t> </a:t>
                </a:r>
              </a:p>
            </p:txBody>
          </p:sp>
        </mc:Fallback>
      </mc:AlternateContent>
    </p:spTree>
    <p:extLst>
      <p:ext uri="{BB962C8B-B14F-4D97-AF65-F5344CB8AC3E}">
        <p14:creationId xmlns:p14="http://schemas.microsoft.com/office/powerpoint/2010/main" val="16775555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337;p34">
            <a:extLst>
              <a:ext uri="{FF2B5EF4-FFF2-40B4-BE49-F238E27FC236}">
                <a16:creationId xmlns:a16="http://schemas.microsoft.com/office/drawing/2014/main" id="{79C596E9-E3FE-FE4A-6DFF-ECDBA5DFDAD3}"/>
              </a:ext>
            </a:extLst>
          </p:cNvPr>
          <p:cNvPicPr preferRelativeResize="0"/>
          <p:nvPr/>
        </p:nvPicPr>
        <p:blipFill rotWithShape="1">
          <a:blip r:embed="rId2">
            <a:alphaModFix/>
          </a:blip>
          <a:srcRect l="-860" r="859"/>
          <a:stretch/>
        </p:blipFill>
        <p:spPr>
          <a:xfrm>
            <a:off x="428625" y="454405"/>
            <a:ext cx="8286750" cy="4234689"/>
          </a:xfrm>
          <a:prstGeom prst="rect">
            <a:avLst/>
          </a:prstGeom>
          <a:noFill/>
          <a:ln>
            <a:noFill/>
          </a:ln>
        </p:spPr>
      </p:pic>
    </p:spTree>
    <p:extLst>
      <p:ext uri="{BB962C8B-B14F-4D97-AF65-F5344CB8AC3E}">
        <p14:creationId xmlns:p14="http://schemas.microsoft.com/office/powerpoint/2010/main" val="26809338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E991A5D-0B29-2B1E-7A7C-9570C811F04F}"/>
              </a:ext>
            </a:extLst>
          </p:cNvPr>
          <p:cNvSpPr>
            <a:spLocks noGrp="1"/>
          </p:cNvSpPr>
          <p:nvPr>
            <p:ph type="body" idx="4294967295"/>
          </p:nvPr>
        </p:nvSpPr>
        <p:spPr>
          <a:xfrm>
            <a:off x="0" y="119270"/>
            <a:ext cx="8521700" cy="4449555"/>
          </a:xfrm>
        </p:spPr>
        <p:txBody>
          <a:bodyPr/>
          <a:lstStyle/>
          <a:p>
            <a:pPr marL="114300" indent="0">
              <a:lnSpc>
                <a:spcPct val="107000"/>
              </a:lnSpc>
              <a:spcAft>
                <a:spcPts val="800"/>
              </a:spcAft>
              <a:buNone/>
              <a:tabLst>
                <a:tab pos="1074420" algn="l"/>
              </a:tabLst>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Example 2 :</a:t>
            </a:r>
          </a:p>
          <a:p>
            <a:pPr marL="114300" indent="0">
              <a:lnSpc>
                <a:spcPct val="107000"/>
              </a:lnSpc>
              <a:spcAft>
                <a:spcPts val="800"/>
              </a:spcAft>
              <a:buNone/>
              <a:tabLst>
                <a:tab pos="1074420" algn="l"/>
              </a:tabLst>
            </a:pPr>
            <a:r>
              <a:rPr lang="en-US" sz="1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Find the mean of the grouped data given below:</a:t>
            </a:r>
          </a:p>
          <a:p>
            <a:endParaRPr lang="en-IN" dirty="0"/>
          </a:p>
        </p:txBody>
      </p:sp>
      <p:graphicFrame>
        <p:nvGraphicFramePr>
          <p:cNvPr id="6" name="Table 5">
            <a:extLst>
              <a:ext uri="{FF2B5EF4-FFF2-40B4-BE49-F238E27FC236}">
                <a16:creationId xmlns:a16="http://schemas.microsoft.com/office/drawing/2014/main" id="{4575B7DE-6EEB-9BCA-C1E0-49ECB4BB1817}"/>
              </a:ext>
            </a:extLst>
          </p:cNvPr>
          <p:cNvGraphicFramePr>
            <a:graphicFrameLocks noGrp="1"/>
          </p:cNvGraphicFramePr>
          <p:nvPr/>
        </p:nvGraphicFramePr>
        <p:xfrm>
          <a:off x="512970" y="1360073"/>
          <a:ext cx="3432865" cy="2194560"/>
        </p:xfrm>
        <a:graphic>
          <a:graphicData uri="http://schemas.openxmlformats.org/drawingml/2006/table">
            <a:tbl>
              <a:tblPr firstRow="1" bandRow="1">
                <a:tableStyleId>{E56736FE-0E8E-44BB-A387-68498AA667DC}</a:tableStyleId>
              </a:tblPr>
              <a:tblGrid>
                <a:gridCol w="1554369">
                  <a:extLst>
                    <a:ext uri="{9D8B030D-6E8A-4147-A177-3AD203B41FA5}">
                      <a16:colId xmlns:a16="http://schemas.microsoft.com/office/drawing/2014/main" val="424530423"/>
                    </a:ext>
                  </a:extLst>
                </a:gridCol>
                <a:gridCol w="1878496">
                  <a:extLst>
                    <a:ext uri="{9D8B030D-6E8A-4147-A177-3AD203B41FA5}">
                      <a16:colId xmlns:a16="http://schemas.microsoft.com/office/drawing/2014/main" val="4198882287"/>
                    </a:ext>
                  </a:extLst>
                </a:gridCol>
              </a:tblGrid>
              <a:tr h="288500">
                <a:tc>
                  <a:txBody>
                    <a:bodyPr/>
                    <a:lstStyle/>
                    <a:p>
                      <a:r>
                        <a:rPr lang="en-US" dirty="0">
                          <a:latin typeface="Times New Roman" panose="02020603050405020304" pitchFamily="18" charset="0"/>
                          <a:cs typeface="Times New Roman" panose="02020603050405020304" pitchFamily="18" charset="0"/>
                        </a:rPr>
                        <a:t>Class Interval</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Frequency</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10949046"/>
                  </a:ext>
                </a:extLst>
              </a:tr>
              <a:tr h="288500">
                <a:tc>
                  <a:txBody>
                    <a:bodyPr/>
                    <a:lstStyle/>
                    <a:p>
                      <a:r>
                        <a:rPr lang="en-US" dirty="0">
                          <a:latin typeface="Times New Roman" panose="02020603050405020304" pitchFamily="18" charset="0"/>
                          <a:cs typeface="Times New Roman" panose="02020603050405020304" pitchFamily="18" charset="0"/>
                        </a:rPr>
                        <a:t>40-49</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3</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41931137"/>
                  </a:ext>
                </a:extLst>
              </a:tr>
              <a:tr h="288500">
                <a:tc>
                  <a:txBody>
                    <a:bodyPr/>
                    <a:lstStyle/>
                    <a:p>
                      <a:r>
                        <a:rPr lang="en-US" dirty="0">
                          <a:latin typeface="Times New Roman" panose="02020603050405020304" pitchFamily="18" charset="0"/>
                          <a:cs typeface="Times New Roman" panose="02020603050405020304" pitchFamily="18" charset="0"/>
                        </a:rPr>
                        <a:t>50-59</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5</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72696833"/>
                  </a:ext>
                </a:extLst>
              </a:tr>
              <a:tr h="288500">
                <a:tc>
                  <a:txBody>
                    <a:bodyPr/>
                    <a:lstStyle/>
                    <a:p>
                      <a:r>
                        <a:rPr lang="en-US" dirty="0">
                          <a:latin typeface="Times New Roman" panose="02020603050405020304" pitchFamily="18" charset="0"/>
                          <a:cs typeface="Times New Roman" panose="02020603050405020304" pitchFamily="18" charset="0"/>
                        </a:rPr>
                        <a:t>60-69</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7</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18632324"/>
                  </a:ext>
                </a:extLst>
              </a:tr>
              <a:tr h="288500">
                <a:tc>
                  <a:txBody>
                    <a:bodyPr/>
                    <a:lstStyle/>
                    <a:p>
                      <a:r>
                        <a:rPr lang="en-US" dirty="0">
                          <a:latin typeface="Times New Roman" panose="02020603050405020304" pitchFamily="18" charset="0"/>
                          <a:cs typeface="Times New Roman" panose="02020603050405020304" pitchFamily="18" charset="0"/>
                        </a:rPr>
                        <a:t>70-79</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4</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39912223"/>
                  </a:ext>
                </a:extLst>
              </a:tr>
              <a:tr h="288500">
                <a:tc>
                  <a:txBody>
                    <a:bodyPr/>
                    <a:lstStyle/>
                    <a:p>
                      <a:r>
                        <a:rPr lang="en-US" dirty="0">
                          <a:latin typeface="Times New Roman" panose="02020603050405020304" pitchFamily="18" charset="0"/>
                          <a:cs typeface="Times New Roman" panose="02020603050405020304" pitchFamily="18" charset="0"/>
                        </a:rPr>
                        <a:t>80-89</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1</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15466999"/>
                  </a:ext>
                </a:extLst>
              </a:tr>
            </a:tbl>
          </a:graphicData>
        </a:graphic>
      </p:graphicFrame>
    </p:spTree>
    <p:extLst>
      <p:ext uri="{BB962C8B-B14F-4D97-AF65-F5344CB8AC3E}">
        <p14:creationId xmlns:p14="http://schemas.microsoft.com/office/powerpoint/2010/main" val="32014145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EC75084-63C0-EBB5-5F26-4DB89FE3C798}"/>
                  </a:ext>
                </a:extLst>
              </p:cNvPr>
              <p:cNvSpPr txBox="1"/>
              <p:nvPr/>
            </p:nvSpPr>
            <p:spPr>
              <a:xfrm>
                <a:off x="374783" y="99391"/>
                <a:ext cx="8280747" cy="4685065"/>
              </a:xfrm>
              <a:prstGeom prst="rect">
                <a:avLst/>
              </a:prstGeom>
              <a:noFill/>
            </p:spPr>
            <p:txBody>
              <a:bodyPr wrap="square">
                <a:spAutoFit/>
              </a:bodyPr>
              <a:lstStyle/>
              <a:p>
                <a:pPr>
                  <a:lnSpc>
                    <a:spcPct val="107000"/>
                  </a:lnSpc>
                  <a:spcAft>
                    <a:spcPts val="800"/>
                  </a:spcAft>
                  <a:tabLst>
                    <a:tab pos="1074420" algn="l"/>
                  </a:tabLst>
                </a:pPr>
                <a:r>
                  <a:rPr lang="en-IN" sz="1400" b="1" kern="1200" dirty="0">
                    <a:solidFill>
                      <a:srgbClr val="000000"/>
                    </a:solidFill>
                    <a:effectLst/>
                    <a:ea typeface="Times New Roman" panose="02020603050405020304" pitchFamily="18" charset="0"/>
                    <a:cs typeface="Times New Roman" panose="02020603050405020304" pitchFamily="18" charset="0"/>
                  </a:rPr>
                  <a:t>Solution: Here </a:t>
                </a:r>
                <a:br>
                  <a:rPr lang="en-IN" sz="1400" b="1" kern="1200" dirty="0">
                    <a:solidFill>
                      <a:srgbClr val="000000"/>
                    </a:solidFill>
                    <a:effectLst/>
                    <a:ea typeface="Times New Roman" panose="02020603050405020304" pitchFamily="18" charset="0"/>
                    <a:cs typeface="Times New Roman" panose="02020603050405020304" pitchFamily="18" charset="0"/>
                  </a:rPr>
                </a:br>
                <a:r>
                  <a:rPr lang="en-IN" sz="1400" b="1" kern="1200" dirty="0">
                    <a:solidFill>
                      <a:srgbClr val="000000"/>
                    </a:solidFill>
                    <a:effectLst/>
                    <a:ea typeface="Times New Roman" panose="02020603050405020304" pitchFamily="18" charset="0"/>
                    <a:cs typeface="Times New Roman" panose="02020603050405020304" pitchFamily="18" charset="0"/>
                  </a:rPr>
                  <a:t>	</a:t>
                </a:r>
                <a14:m>
                  <m:oMath xmlns:m="http://schemas.openxmlformats.org/officeDocument/2006/math">
                    <m:acc>
                      <m:accPr>
                        <m:chr m:val="̅"/>
                        <m:ctrlPr>
                          <a:rPr lang="en-IN" sz="1400" b="1"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US" sz="1400" b="1"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𝒙</m:t>
                        </m:r>
                      </m:e>
                    </m:acc>
                    <m:r>
                      <a:rPr lang="en-US" sz="1400" b="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IN" sz="1400" b="1"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nary>
                          <m:naryPr>
                            <m:chr m:val="∑"/>
                            <m:subHide m:val="on"/>
                            <m:supHide m:val="on"/>
                            <m:ctrlPr>
                              <a:rPr lang="en-IN" sz="1400" b="1"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naryPr>
                          <m:sub/>
                          <m:sup/>
                          <m:e>
                            <m:sSub>
                              <m:sSubPr>
                                <m:ctrlPr>
                                  <a:rPr lang="en-IN" sz="1400" b="1"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400" b="1"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𝒇</m:t>
                                </m:r>
                              </m:e>
                              <m:sub>
                                <m:r>
                                  <a:rPr lang="en-US" sz="1400" b="1"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𝒊</m:t>
                                </m:r>
                              </m:sub>
                            </m:sSub>
                            <m:sSub>
                              <m:sSubPr>
                                <m:ctrlPr>
                                  <a:rPr lang="en-IN" sz="1400" b="1"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400" b="1"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𝒙</m:t>
                                </m:r>
                              </m:e>
                              <m:sub>
                                <m:r>
                                  <a:rPr lang="en-US" sz="1400" b="1"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𝒊</m:t>
                                </m:r>
                              </m:sub>
                            </m:sSub>
                          </m:e>
                        </m:nary>
                      </m:num>
                      <m:den>
                        <m:nary>
                          <m:naryPr>
                            <m:chr m:val="∑"/>
                            <m:subHide m:val="on"/>
                            <m:supHide m:val="on"/>
                            <m:ctrlPr>
                              <a:rPr lang="en-IN" sz="1400" b="1"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naryPr>
                          <m:sub/>
                          <m:sup/>
                          <m:e>
                            <m:sSub>
                              <m:sSubPr>
                                <m:ctrlPr>
                                  <a:rPr lang="en-IN" sz="1400" b="1"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400" b="1"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𝒇</m:t>
                                </m:r>
                              </m:e>
                              <m:sub>
                                <m:r>
                                  <a:rPr lang="en-US" sz="1400" b="1"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𝒊</m:t>
                                </m:r>
                              </m:sub>
                            </m:sSub>
                          </m:e>
                        </m:nary>
                      </m:den>
                    </m:f>
                  </m:oMath>
                </a14:m>
                <a:endParaRPr lang="en-IN" sz="105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tabLst>
                    <a:tab pos="1074420" algn="l"/>
                  </a:tabLst>
                </a:pPr>
                <a:r>
                  <a:rPr lang="en-US" sz="1600"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Where:</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 pos="1074420" algn="l"/>
                  </a:tabLst>
                </a:pPr>
                <a14:m>
                  <m:oMath xmlns:m="http://schemas.openxmlformats.org/officeDocument/2006/math">
                    <m:sSub>
                      <m:sSubPr>
                        <m:ctrlPr>
                          <a:rPr lang="en-IN" sz="1600" b="1"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b="1"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𝒇</m:t>
                        </m:r>
                      </m:e>
                      <m:sub>
                        <m:r>
                          <a:rPr lang="en-US" sz="1600" b="1"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𝒊</m:t>
                        </m:r>
                      </m:sub>
                    </m:sSub>
                  </m:oMath>
                </a14:m>
                <a:r>
                  <a:rPr lang="en-US" sz="1600"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frequency of each class</a:t>
                </a:r>
                <a:endParaRPr lang="en-IN" sz="16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 pos="1074420" algn="l"/>
                  </a:tabLst>
                </a:pPr>
                <a14:m>
                  <m:oMath xmlns:m="http://schemas.openxmlformats.org/officeDocument/2006/math">
                    <m:sSub>
                      <m:sSubPr>
                        <m:ctrlPr>
                          <a:rPr lang="en-IN" sz="1600" b="1"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b="1"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𝒙</m:t>
                        </m:r>
                      </m:e>
                      <m:sub>
                        <m:r>
                          <a:rPr lang="en-US" sz="1600" b="1"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𝒊</m:t>
                        </m:r>
                      </m:sub>
                    </m:sSub>
                  </m:oMath>
                </a14:m>
                <a:r>
                  <a:rPr lang="en-US" sz="1600"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midpoint of each class</a:t>
                </a:r>
                <a:endParaRPr lang="en-IN" sz="16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 pos="1074420" algn="l"/>
                  </a:tabLst>
                </a:pPr>
                <a:r>
                  <a:rPr lang="en-US" sz="1600"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nary>
                      <m:naryPr>
                        <m:chr m:val="∑"/>
                        <m:subHide m:val="on"/>
                        <m:supHide m:val="on"/>
                        <m:ctrlPr>
                          <a:rPr lang="en-IN" sz="1600" b="1"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naryPr>
                      <m:sub/>
                      <m:sup/>
                      <m:e>
                        <m:sSub>
                          <m:sSubPr>
                            <m:ctrlPr>
                              <a:rPr lang="en-IN" sz="1600" b="1"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b="1"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𝒇</m:t>
                            </m:r>
                          </m:e>
                          <m:sub>
                            <m:r>
                              <a:rPr lang="en-US" sz="1600" b="1"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𝒊</m:t>
                            </m:r>
                          </m:sub>
                        </m:sSub>
                      </m:e>
                    </m:nary>
                    <m:r>
                      <a:rPr lang="en-US" sz="1600" b="1"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1600"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total frequency</a:t>
                </a:r>
              </a:p>
              <a:p>
                <a:pPr marL="342900" lvl="0" indent="-342900">
                  <a:lnSpc>
                    <a:spcPct val="107000"/>
                  </a:lnSpc>
                  <a:spcAft>
                    <a:spcPts val="800"/>
                  </a:spcAft>
                  <a:buSzPts val="1000"/>
                  <a:buFont typeface="Symbol" panose="05050102010706020507" pitchFamily="18" charset="2"/>
                  <a:buChar char=""/>
                  <a:tabLst>
                    <a:tab pos="457200" algn="l"/>
                    <a:tab pos="1074420" algn="l"/>
                  </a:tabLst>
                </a:pPr>
                <a:endParaRPr lang="en-IN" dirty="0">
                  <a:latin typeface="Times New Roman" panose="02020603050405020304" pitchFamily="18"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 pos="1074420" algn="l"/>
                  </a:tabLst>
                </a:pPr>
                <a:endParaRPr lang="en-IN" dirty="0">
                  <a:latin typeface="Times New Roman" panose="02020603050405020304" pitchFamily="18"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 pos="1074420" algn="l"/>
                  </a:tabLst>
                </a:pPr>
                <a:endParaRPr lang="en-IN" dirty="0">
                  <a:latin typeface="Times New Roman" panose="02020603050405020304" pitchFamily="18"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 pos="1074420" algn="l"/>
                  </a:tabLst>
                </a:pPr>
                <a:endParaRPr lang="en-IN" dirty="0">
                  <a:latin typeface="Times New Roman" panose="02020603050405020304" pitchFamily="18"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 pos="1074420" algn="l"/>
                  </a:tabLst>
                </a:pPr>
                <a:endParaRPr lang="en-IN" dirty="0">
                  <a:latin typeface="Times New Roman" panose="02020603050405020304" pitchFamily="18"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 pos="1074420" algn="l"/>
                  </a:tabLst>
                </a:pPr>
                <a:endParaRPr lang="en-IN" dirty="0">
                  <a:latin typeface="Times New Roman" panose="02020603050405020304" pitchFamily="18" charset="0"/>
                  <a:cs typeface="Times New Roman" panose="02020603050405020304" pitchFamily="18" charset="0"/>
                </a:endParaRPr>
              </a:p>
              <a:p>
                <a:pPr>
                  <a:lnSpc>
                    <a:spcPct val="107000"/>
                  </a:lnSpc>
                  <a:spcAft>
                    <a:spcPts val="800"/>
                  </a:spcAft>
                  <a:buSzPts val="1000"/>
                  <a:tabLst>
                    <a:tab pos="457200" algn="l"/>
                    <a:tab pos="1074420" algn="l"/>
                  </a:tabLst>
                </a:pPr>
                <a:r>
                  <a:rPr lang="en-US" sz="1800" kern="12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Mean (</a:t>
                </a:r>
                <a14:m>
                  <m:oMath xmlns:m="http://schemas.openxmlformats.org/officeDocument/2006/math">
                    <m:acc>
                      <m:accPr>
                        <m:chr m:val="̅"/>
                        <m:ctrlPr>
                          <a:rPr lang="en-IN" sz="1800" b="1" i="1" kern="1200">
                            <a:solidFill>
                              <a:srgbClr val="FF00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US" sz="1800" b="1" i="1" kern="120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𝒙</m:t>
                        </m:r>
                      </m:e>
                    </m:acc>
                    <m:r>
                      <a:rPr lang="en-US" sz="1800" b="1" i="1" kern="1200">
                        <a:solidFill>
                          <a:srgbClr val="FF0000"/>
                        </a:solidFill>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1800" kern="12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kern="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f>
                      <m:fPr>
                        <m:ctrlPr>
                          <a:rPr lang="en-IN" sz="1800"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133</m:t>
                        </m:r>
                        <m:r>
                          <a:rPr lang="en-US" sz="1800"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800"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5</m:t>
                        </m:r>
                        <m:r>
                          <a:rPr lang="en-US" sz="1800"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 </m:t>
                        </m:r>
                        <m:r>
                          <a:rPr lang="en-US" sz="1800"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272</m:t>
                        </m:r>
                        <m:r>
                          <a:rPr lang="en-US" sz="1800"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800"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5</m:t>
                        </m:r>
                        <m:r>
                          <a:rPr lang="en-US" sz="1800"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 </m:t>
                        </m:r>
                        <m:r>
                          <a:rPr lang="en-US" sz="1800"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451</m:t>
                        </m:r>
                        <m:r>
                          <a:rPr lang="en-US" sz="1800"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800"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5</m:t>
                        </m:r>
                        <m:r>
                          <a:rPr lang="en-US" sz="1800"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m:t>
                        </m:r>
                        <m:r>
                          <a:rPr lang="en-US" sz="1800"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298</m:t>
                        </m:r>
                        <m:r>
                          <a:rPr lang="en-US" sz="1800"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 </m:t>
                        </m:r>
                        <m:r>
                          <a:rPr lang="en-US" sz="1800"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84</m:t>
                        </m:r>
                        <m:r>
                          <a:rPr lang="en-US" sz="1800"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800"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5</m:t>
                        </m:r>
                      </m:num>
                      <m:den>
                        <m:r>
                          <a:rPr lang="en-US" sz="1800"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3</m:t>
                        </m:r>
                        <m:r>
                          <a:rPr lang="en-US" sz="1800"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m:t>
                        </m:r>
                        <m:r>
                          <a:rPr lang="en-US" sz="1800"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5</m:t>
                        </m:r>
                        <m:r>
                          <a:rPr lang="en-US" sz="1800"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m:t>
                        </m:r>
                        <m:r>
                          <a:rPr lang="en-US" sz="1800"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7</m:t>
                        </m:r>
                        <m:r>
                          <a:rPr lang="en-US" sz="1800"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 </m:t>
                        </m:r>
                        <m:r>
                          <a:rPr lang="en-US" sz="1800"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4</m:t>
                        </m:r>
                        <m:r>
                          <a:rPr lang="en-US" sz="1800"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 </m:t>
                        </m:r>
                        <m:r>
                          <a:rPr lang="en-US" sz="1800"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den>
                    </m:f>
                  </m:oMath>
                </a14:m>
                <a:r>
                  <a:rPr lang="en-US" sz="1800"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a:t>
                </a:r>
                <a14:m>
                  <m:oMath xmlns:m="http://schemas.openxmlformats.org/officeDocument/2006/math">
                    <m:f>
                      <m:fPr>
                        <m:ctrlPr>
                          <a:rPr lang="en-IN" sz="1800"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1240</m:t>
                        </m:r>
                      </m:num>
                      <m:den>
                        <m:r>
                          <a:rPr lang="en-US" sz="1800"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20</m:t>
                        </m:r>
                      </m:den>
                    </m:f>
                  </m:oMath>
                </a14:m>
                <a:endParaRPr lang="en-IN" dirty="0"/>
              </a:p>
            </p:txBody>
          </p:sp>
        </mc:Choice>
        <mc:Fallback xmlns="">
          <p:sp>
            <p:nvSpPr>
              <p:cNvPr id="5" name="TextBox 4">
                <a:extLst>
                  <a:ext uri="{FF2B5EF4-FFF2-40B4-BE49-F238E27FC236}">
                    <a16:creationId xmlns:a16="http://schemas.microsoft.com/office/drawing/2014/main" id="{3EC75084-63C0-EBB5-5F26-4DB89FE3C798}"/>
                  </a:ext>
                </a:extLst>
              </p:cNvPr>
              <p:cNvSpPr txBox="1">
                <a:spLocks noRot="1" noChangeAspect="1" noMove="1" noResize="1" noEditPoints="1" noAdjustHandles="1" noChangeArrowheads="1" noChangeShapeType="1" noTextEdit="1"/>
              </p:cNvSpPr>
              <p:nvPr/>
            </p:nvSpPr>
            <p:spPr>
              <a:xfrm>
                <a:off x="374783" y="99391"/>
                <a:ext cx="8280747" cy="4685065"/>
              </a:xfrm>
              <a:prstGeom prst="rect">
                <a:avLst/>
              </a:prstGeom>
              <a:blipFill>
                <a:blip r:embed="rId2"/>
                <a:stretch>
                  <a:fillRect l="-589" t="-13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ECF623B1-D868-4025-8F8E-A5800F42197D}"/>
                  </a:ext>
                </a:extLst>
              </p:cNvPr>
              <p:cNvGraphicFramePr>
                <a:graphicFrameLocks noGrp="1"/>
              </p:cNvGraphicFramePr>
              <p:nvPr/>
            </p:nvGraphicFramePr>
            <p:xfrm>
              <a:off x="374783" y="2441924"/>
              <a:ext cx="6860903" cy="1732027"/>
            </p:xfrm>
            <a:graphic>
              <a:graphicData uri="http://schemas.openxmlformats.org/drawingml/2006/table">
                <a:tbl>
                  <a:tblPr firstRow="1" firstCol="1" bandRow="1"/>
                  <a:tblGrid>
                    <a:gridCol w="1625385">
                      <a:extLst>
                        <a:ext uri="{9D8B030D-6E8A-4147-A177-3AD203B41FA5}">
                          <a16:colId xmlns:a16="http://schemas.microsoft.com/office/drawing/2014/main" val="1283923897"/>
                        </a:ext>
                      </a:extLst>
                    </a:gridCol>
                    <a:gridCol w="1744264">
                      <a:extLst>
                        <a:ext uri="{9D8B030D-6E8A-4147-A177-3AD203B41FA5}">
                          <a16:colId xmlns:a16="http://schemas.microsoft.com/office/drawing/2014/main" val="926969812"/>
                        </a:ext>
                      </a:extLst>
                    </a:gridCol>
                    <a:gridCol w="1745627">
                      <a:extLst>
                        <a:ext uri="{9D8B030D-6E8A-4147-A177-3AD203B41FA5}">
                          <a16:colId xmlns:a16="http://schemas.microsoft.com/office/drawing/2014/main" val="411304333"/>
                        </a:ext>
                      </a:extLst>
                    </a:gridCol>
                    <a:gridCol w="1745627">
                      <a:extLst>
                        <a:ext uri="{9D8B030D-6E8A-4147-A177-3AD203B41FA5}">
                          <a16:colId xmlns:a16="http://schemas.microsoft.com/office/drawing/2014/main" val="794243375"/>
                        </a:ext>
                      </a:extLst>
                    </a:gridCol>
                  </a:tblGrid>
                  <a:tr h="327157">
                    <a:tc>
                      <a:txBody>
                        <a:bodyPr/>
                        <a:lstStyle/>
                        <a:p>
                          <a:pPr algn="l">
                            <a:lnSpc>
                              <a:spcPct val="107000"/>
                            </a:lnSpc>
                            <a:spcAft>
                              <a:spcPts val="800"/>
                            </a:spcAft>
                            <a:tabLst>
                              <a:tab pos="1074420" algn="l"/>
                            </a:tabLst>
                          </a:pP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Class Interval</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tabLst>
                              <a:tab pos="1074420" algn="l"/>
                            </a:tabLst>
                          </a:pPr>
                          <a:r>
                            <a:rPr lang="en-US" sz="1400" kern="100">
                              <a:effectLst/>
                              <a:latin typeface="Times New Roman" panose="02020603050405020304" pitchFamily="18" charset="0"/>
                              <a:ea typeface="Calibri" panose="020F0502020204030204" pitchFamily="34" charset="0"/>
                              <a:cs typeface="Times New Roman" panose="02020603050405020304" pitchFamily="18" charset="0"/>
                            </a:rPr>
                            <a:t>Frequency (</a:t>
                          </a:r>
                          <a14:m>
                            <m:oMath xmlns:m="http://schemas.openxmlformats.org/officeDocument/2006/math">
                              <m:sSub>
                                <m:sSubPr>
                                  <m:ctrlPr>
                                    <a:rPr lang="en-IN" sz="1600" b="1"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b="1"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𝒇</m:t>
                                  </m:r>
                                </m:e>
                                <m:sub>
                                  <m:r>
                                    <a:rPr lang="en-US" sz="1600" b="1"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𝒊</m:t>
                                  </m:r>
                                </m:sub>
                              </m:sSub>
                              <m:r>
                                <a:rPr lang="en-US" sz="1600" b="1"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a14:m>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tabLst>
                              <a:tab pos="1074420" algn="l"/>
                            </a:tabLst>
                          </a:pP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Midpoint(</a:t>
                          </a:r>
                          <a14:m>
                            <m:oMath xmlns:m="http://schemas.openxmlformats.org/officeDocument/2006/math">
                              <m:sSub>
                                <m:sSubPr>
                                  <m:ctrlPr>
                                    <a:rPr lang="en-IN" sz="1600" b="1"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b="1"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𝒙</m:t>
                                  </m:r>
                                </m:e>
                                <m:sub>
                                  <m:r>
                                    <a:rPr lang="en-US" sz="1600" b="1"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𝒊</m:t>
                                  </m:r>
                                </m:sub>
                              </m:sSub>
                              <m:r>
                                <a:rPr lang="en-US" sz="1600" b="1"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a14:m>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tabLst>
                              <a:tab pos="1074420" algn="l"/>
                            </a:tabLst>
                          </a:pPr>
                          <a14:m>
                            <m:oMathPara xmlns:m="http://schemas.openxmlformats.org/officeDocument/2006/math">
                              <m:oMathParaPr>
                                <m:jc m:val="centerGroup"/>
                              </m:oMathParaPr>
                              <m:oMath xmlns:m="http://schemas.openxmlformats.org/officeDocument/2006/math">
                                <m:sSub>
                                  <m:sSubPr>
                                    <m:ctrlPr>
                                      <a:rPr lang="en-IN" sz="1600" b="1"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b="1"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𝒇</m:t>
                                    </m:r>
                                  </m:e>
                                  <m:sub>
                                    <m:r>
                                      <a:rPr lang="en-US" sz="1600" b="1"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𝒊</m:t>
                                    </m:r>
                                  </m:sub>
                                </m:sSub>
                                <m:sSub>
                                  <m:sSubPr>
                                    <m:ctrlPr>
                                      <a:rPr lang="en-IN" sz="1600" b="1"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b="1"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𝒙</m:t>
                                    </m:r>
                                  </m:e>
                                  <m:sub>
                                    <m:r>
                                      <a:rPr lang="en-US" sz="1600" b="1"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𝒊</m:t>
                                    </m:r>
                                  </m:sub>
                                </m:sSub>
                              </m:oMath>
                            </m:oMathPara>
                          </a14:m>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36418109"/>
                      </a:ext>
                    </a:extLst>
                  </a:tr>
                  <a:tr h="195870">
                    <a:tc>
                      <a:txBody>
                        <a:bodyPr/>
                        <a:lstStyle/>
                        <a:p>
                          <a:pPr algn="l">
                            <a:lnSpc>
                              <a:spcPct val="107000"/>
                            </a:lnSpc>
                            <a:spcAft>
                              <a:spcPts val="800"/>
                            </a:spcAft>
                            <a:tabLst>
                              <a:tab pos="1074420" algn="l"/>
                            </a:tabLst>
                          </a:pP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40-49</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tabLst>
                              <a:tab pos="1074420" algn="l"/>
                            </a:tabLst>
                          </a:pP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3</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tabLst>
                              <a:tab pos="1074420" algn="l"/>
                            </a:tabLst>
                          </a:pPr>
                          <a:r>
                            <a:rPr lang="en-US" sz="1400" kern="100">
                              <a:effectLst/>
                              <a:latin typeface="Times New Roman" panose="02020603050405020304" pitchFamily="18" charset="0"/>
                              <a:ea typeface="Calibri" panose="020F0502020204030204" pitchFamily="34" charset="0"/>
                              <a:cs typeface="Times New Roman" panose="02020603050405020304" pitchFamily="18" charset="0"/>
                            </a:rPr>
                            <a:t>44.5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tabLst>
                              <a:tab pos="1074420" algn="l"/>
                            </a:tabLst>
                          </a:pPr>
                          <a:r>
                            <a:rPr lang="en-US" sz="1400" kern="100">
                              <a:effectLst/>
                              <a:latin typeface="Times New Roman" panose="02020603050405020304" pitchFamily="18" charset="0"/>
                              <a:ea typeface="Calibri" panose="020F0502020204030204" pitchFamily="34" charset="0"/>
                              <a:cs typeface="Times New Roman" panose="02020603050405020304" pitchFamily="18" charset="0"/>
                            </a:rPr>
                            <a:t>133.5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91648606"/>
                      </a:ext>
                    </a:extLst>
                  </a:tr>
                  <a:tr h="169762">
                    <a:tc>
                      <a:txBody>
                        <a:bodyPr/>
                        <a:lstStyle/>
                        <a:p>
                          <a:pPr algn="l">
                            <a:lnSpc>
                              <a:spcPct val="107000"/>
                            </a:lnSpc>
                            <a:spcAft>
                              <a:spcPts val="800"/>
                            </a:spcAft>
                            <a:tabLst>
                              <a:tab pos="1074420" algn="l"/>
                            </a:tabLst>
                          </a:pP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50-59</a:t>
                          </a:r>
                        </a:p>
                        <a:p>
                          <a:pPr algn="l">
                            <a:lnSpc>
                              <a:spcPct val="107000"/>
                            </a:lnSpc>
                            <a:spcAft>
                              <a:spcPts val="800"/>
                            </a:spcAft>
                            <a:tabLst>
                              <a:tab pos="1074420" algn="l"/>
                            </a:tabLst>
                          </a:pP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tabLst>
                              <a:tab pos="1074420" algn="l"/>
                            </a:tabLst>
                          </a:pP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5</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tabLst>
                              <a:tab pos="1074420" algn="l"/>
                            </a:tabLst>
                          </a:pP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54.5</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tabLst>
                              <a:tab pos="1074420" algn="l"/>
                            </a:tabLst>
                          </a:pP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272.5</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41457804"/>
                      </a:ext>
                    </a:extLst>
                  </a:tr>
                  <a:tr h="195870">
                    <a:tc>
                      <a:txBody>
                        <a:bodyPr/>
                        <a:lstStyle/>
                        <a:p>
                          <a:pPr algn="l">
                            <a:lnSpc>
                              <a:spcPct val="107000"/>
                            </a:lnSpc>
                            <a:spcAft>
                              <a:spcPts val="800"/>
                            </a:spcAft>
                            <a:tabLst>
                              <a:tab pos="1074420" algn="l"/>
                            </a:tabLst>
                          </a:pPr>
                          <a:r>
                            <a:rPr lang="en-US" sz="1400" kern="100">
                              <a:effectLst/>
                              <a:latin typeface="Times New Roman" panose="02020603050405020304" pitchFamily="18" charset="0"/>
                              <a:ea typeface="Calibri" panose="020F0502020204030204" pitchFamily="34" charset="0"/>
                              <a:cs typeface="Times New Roman" panose="02020603050405020304" pitchFamily="18" charset="0"/>
                            </a:rPr>
                            <a:t>60-69</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tabLst>
                              <a:tab pos="1074420" algn="l"/>
                            </a:tabLst>
                          </a:pPr>
                          <a:r>
                            <a:rPr lang="en-US" sz="1400" kern="100">
                              <a:effectLst/>
                              <a:latin typeface="Times New Roman" panose="02020603050405020304" pitchFamily="18" charset="0"/>
                              <a:ea typeface="Calibri" panose="020F0502020204030204" pitchFamily="34" charset="0"/>
                              <a:cs typeface="Times New Roman" panose="02020603050405020304" pitchFamily="18" charset="0"/>
                            </a:rPr>
                            <a:t>7</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tabLst>
                              <a:tab pos="1074420" algn="l"/>
                            </a:tabLst>
                          </a:pP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64.5</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tabLst>
                              <a:tab pos="1074420" algn="l"/>
                            </a:tabLst>
                          </a:pPr>
                          <a:r>
                            <a:rPr lang="en-US" sz="1400" kern="100">
                              <a:effectLst/>
                              <a:latin typeface="Times New Roman" panose="02020603050405020304" pitchFamily="18" charset="0"/>
                              <a:ea typeface="Calibri" panose="020F0502020204030204" pitchFamily="34" charset="0"/>
                              <a:cs typeface="Times New Roman" panose="02020603050405020304" pitchFamily="18" charset="0"/>
                            </a:rPr>
                            <a:t>451.5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95844153"/>
                      </a:ext>
                    </a:extLst>
                  </a:tr>
                  <a:tr h="195870">
                    <a:tc>
                      <a:txBody>
                        <a:bodyPr/>
                        <a:lstStyle/>
                        <a:p>
                          <a:pPr algn="l">
                            <a:lnSpc>
                              <a:spcPct val="107000"/>
                            </a:lnSpc>
                            <a:spcAft>
                              <a:spcPts val="800"/>
                            </a:spcAft>
                            <a:tabLst>
                              <a:tab pos="1074420" algn="l"/>
                            </a:tabLst>
                          </a:pPr>
                          <a:r>
                            <a:rPr lang="en-US" sz="1400" kern="100">
                              <a:effectLst/>
                              <a:latin typeface="Times New Roman" panose="02020603050405020304" pitchFamily="18" charset="0"/>
                              <a:ea typeface="Calibri" panose="020F0502020204030204" pitchFamily="34" charset="0"/>
                              <a:cs typeface="Times New Roman" panose="02020603050405020304" pitchFamily="18" charset="0"/>
                            </a:rPr>
                            <a:t>70-79</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tabLst>
                              <a:tab pos="1074420" algn="l"/>
                            </a:tabLst>
                          </a:pP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4</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tabLst>
                              <a:tab pos="1074420" algn="l"/>
                            </a:tabLst>
                          </a:pP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74.5</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tabLst>
                              <a:tab pos="1074420" algn="l"/>
                            </a:tabLst>
                          </a:pPr>
                          <a:r>
                            <a:rPr lang="en-US" sz="1400" kern="100">
                              <a:effectLst/>
                              <a:latin typeface="Times New Roman" panose="02020603050405020304" pitchFamily="18" charset="0"/>
                              <a:ea typeface="Calibri" panose="020F0502020204030204" pitchFamily="34" charset="0"/>
                              <a:cs typeface="Times New Roman" panose="02020603050405020304" pitchFamily="18" charset="0"/>
                            </a:rPr>
                            <a:t>298</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14448279"/>
                      </a:ext>
                    </a:extLst>
                  </a:tr>
                  <a:tr h="195870">
                    <a:tc>
                      <a:txBody>
                        <a:bodyPr/>
                        <a:lstStyle/>
                        <a:p>
                          <a:pPr algn="l">
                            <a:lnSpc>
                              <a:spcPct val="107000"/>
                            </a:lnSpc>
                            <a:spcAft>
                              <a:spcPts val="800"/>
                            </a:spcAft>
                            <a:tabLst>
                              <a:tab pos="1074420" algn="l"/>
                            </a:tabLst>
                          </a:pP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80-89</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tabLst>
                              <a:tab pos="1074420" algn="l"/>
                            </a:tabLst>
                          </a:pPr>
                          <a:r>
                            <a:rPr lang="en-US" sz="1400" kern="100">
                              <a:effectLst/>
                              <a:latin typeface="Times New Roman" panose="02020603050405020304" pitchFamily="18" charset="0"/>
                              <a:ea typeface="Calibri" panose="020F0502020204030204" pitchFamily="34" charset="0"/>
                              <a:cs typeface="Times New Roman" panose="02020603050405020304" pitchFamily="18" charset="0"/>
                            </a:rPr>
                            <a:t>1</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tabLst>
                              <a:tab pos="1074420" algn="l"/>
                            </a:tabLst>
                          </a:pPr>
                          <a:r>
                            <a:rPr lang="en-US" sz="1400" kern="100">
                              <a:effectLst/>
                              <a:latin typeface="Times New Roman" panose="02020603050405020304" pitchFamily="18" charset="0"/>
                              <a:ea typeface="Calibri" panose="020F0502020204030204" pitchFamily="34" charset="0"/>
                              <a:cs typeface="Times New Roman" panose="02020603050405020304" pitchFamily="18" charset="0"/>
                            </a:rPr>
                            <a:t>84.5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tabLst>
                              <a:tab pos="1074420" algn="l"/>
                            </a:tabLst>
                          </a:pP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84.5</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6832035"/>
                      </a:ext>
                    </a:extLst>
                  </a:tr>
                </a:tbl>
              </a:graphicData>
            </a:graphic>
          </p:graphicFrame>
        </mc:Choice>
        <mc:Fallback xmlns="">
          <p:graphicFrame>
            <p:nvGraphicFramePr>
              <p:cNvPr id="6" name="Table 5">
                <a:extLst>
                  <a:ext uri="{FF2B5EF4-FFF2-40B4-BE49-F238E27FC236}">
                    <a16:creationId xmlns:a16="http://schemas.microsoft.com/office/drawing/2014/main" id="{ECF623B1-D868-4025-8F8E-A5800F42197D}"/>
                  </a:ext>
                </a:extLst>
              </p:cNvPr>
              <p:cNvGraphicFramePr>
                <a:graphicFrameLocks noGrp="1"/>
              </p:cNvGraphicFramePr>
              <p:nvPr>
                <p:extLst>
                  <p:ext uri="{D42A27DB-BD31-4B8C-83A1-F6EECF244321}">
                    <p14:modId xmlns:p14="http://schemas.microsoft.com/office/powerpoint/2010/main" val="1516073671"/>
                  </p:ext>
                </p:extLst>
              </p:nvPr>
            </p:nvGraphicFramePr>
            <p:xfrm>
              <a:off x="374783" y="2441924"/>
              <a:ext cx="6860903" cy="1732027"/>
            </p:xfrm>
            <a:graphic>
              <a:graphicData uri="http://schemas.openxmlformats.org/drawingml/2006/table">
                <a:tbl>
                  <a:tblPr firstRow="1" firstCol="1" bandRow="1"/>
                  <a:tblGrid>
                    <a:gridCol w="1625385">
                      <a:extLst>
                        <a:ext uri="{9D8B030D-6E8A-4147-A177-3AD203B41FA5}">
                          <a16:colId xmlns:a16="http://schemas.microsoft.com/office/drawing/2014/main" val="1283923897"/>
                        </a:ext>
                      </a:extLst>
                    </a:gridCol>
                    <a:gridCol w="1744264">
                      <a:extLst>
                        <a:ext uri="{9D8B030D-6E8A-4147-A177-3AD203B41FA5}">
                          <a16:colId xmlns:a16="http://schemas.microsoft.com/office/drawing/2014/main" val="926969812"/>
                        </a:ext>
                      </a:extLst>
                    </a:gridCol>
                    <a:gridCol w="1745627">
                      <a:extLst>
                        <a:ext uri="{9D8B030D-6E8A-4147-A177-3AD203B41FA5}">
                          <a16:colId xmlns:a16="http://schemas.microsoft.com/office/drawing/2014/main" val="411304333"/>
                        </a:ext>
                      </a:extLst>
                    </a:gridCol>
                    <a:gridCol w="1745627">
                      <a:extLst>
                        <a:ext uri="{9D8B030D-6E8A-4147-A177-3AD203B41FA5}">
                          <a16:colId xmlns:a16="http://schemas.microsoft.com/office/drawing/2014/main" val="794243375"/>
                        </a:ext>
                      </a:extLst>
                    </a:gridCol>
                  </a:tblGrid>
                  <a:tr h="362522">
                    <a:tc>
                      <a:txBody>
                        <a:bodyPr/>
                        <a:lstStyle/>
                        <a:p>
                          <a:pPr algn="l">
                            <a:lnSpc>
                              <a:spcPct val="107000"/>
                            </a:lnSpc>
                            <a:spcAft>
                              <a:spcPts val="800"/>
                            </a:spcAft>
                            <a:tabLst>
                              <a:tab pos="1074420" algn="l"/>
                            </a:tabLst>
                          </a:pP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Class Interval</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93706" t="-15000" r="-201399" b="-403333"/>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93031" t="-15000" r="-100697" b="-403333"/>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294056" t="-15000" r="-1049" b="-403333"/>
                          </a:stretch>
                        </a:blipFill>
                      </a:tcPr>
                    </a:tc>
                    <a:extLst>
                      <a:ext uri="{0D108BD9-81ED-4DB2-BD59-A6C34878D82A}">
                        <a16:rowId xmlns:a16="http://schemas.microsoft.com/office/drawing/2014/main" val="2636418109"/>
                      </a:ext>
                    </a:extLst>
                  </a:tr>
                  <a:tr h="217043">
                    <a:tc>
                      <a:txBody>
                        <a:bodyPr/>
                        <a:lstStyle/>
                        <a:p>
                          <a:pPr algn="l">
                            <a:lnSpc>
                              <a:spcPct val="107000"/>
                            </a:lnSpc>
                            <a:spcAft>
                              <a:spcPts val="800"/>
                            </a:spcAft>
                            <a:tabLst>
                              <a:tab pos="1074420" algn="l"/>
                            </a:tabLst>
                          </a:pP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40-49</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tabLst>
                              <a:tab pos="1074420" algn="l"/>
                            </a:tabLst>
                          </a:pP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3</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tabLst>
                              <a:tab pos="1074420" algn="l"/>
                            </a:tabLst>
                          </a:pPr>
                          <a:r>
                            <a:rPr lang="en-US" sz="1400" kern="100">
                              <a:effectLst/>
                              <a:latin typeface="Times New Roman" panose="02020603050405020304" pitchFamily="18" charset="0"/>
                              <a:ea typeface="Calibri" panose="020F0502020204030204" pitchFamily="34" charset="0"/>
                              <a:cs typeface="Times New Roman" panose="02020603050405020304" pitchFamily="18" charset="0"/>
                            </a:rPr>
                            <a:t>44.5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tabLst>
                              <a:tab pos="1074420" algn="l"/>
                            </a:tabLst>
                          </a:pPr>
                          <a:r>
                            <a:rPr lang="en-US" sz="1400" kern="100">
                              <a:effectLst/>
                              <a:latin typeface="Times New Roman" panose="02020603050405020304" pitchFamily="18" charset="0"/>
                              <a:ea typeface="Calibri" panose="020F0502020204030204" pitchFamily="34" charset="0"/>
                              <a:cs typeface="Times New Roman" panose="02020603050405020304" pitchFamily="18" charset="0"/>
                            </a:rPr>
                            <a:t>133.5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91648606"/>
                      </a:ext>
                    </a:extLst>
                  </a:tr>
                  <a:tr h="501333">
                    <a:tc>
                      <a:txBody>
                        <a:bodyPr/>
                        <a:lstStyle/>
                        <a:p>
                          <a:pPr algn="l">
                            <a:lnSpc>
                              <a:spcPct val="107000"/>
                            </a:lnSpc>
                            <a:spcAft>
                              <a:spcPts val="800"/>
                            </a:spcAft>
                            <a:tabLst>
                              <a:tab pos="1074420" algn="l"/>
                            </a:tabLst>
                          </a:pP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50-59</a:t>
                          </a:r>
                        </a:p>
                        <a:p>
                          <a:pPr algn="l">
                            <a:lnSpc>
                              <a:spcPct val="107000"/>
                            </a:lnSpc>
                            <a:spcAft>
                              <a:spcPts val="800"/>
                            </a:spcAft>
                            <a:tabLst>
                              <a:tab pos="1074420" algn="l"/>
                            </a:tabLst>
                          </a:pP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tabLst>
                              <a:tab pos="1074420" algn="l"/>
                            </a:tabLst>
                          </a:pP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5</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tabLst>
                              <a:tab pos="1074420" algn="l"/>
                            </a:tabLst>
                          </a:pP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54.5</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tabLst>
                              <a:tab pos="1074420" algn="l"/>
                            </a:tabLst>
                          </a:pP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272.5</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41457804"/>
                      </a:ext>
                    </a:extLst>
                  </a:tr>
                  <a:tr h="217043">
                    <a:tc>
                      <a:txBody>
                        <a:bodyPr/>
                        <a:lstStyle/>
                        <a:p>
                          <a:pPr algn="l">
                            <a:lnSpc>
                              <a:spcPct val="107000"/>
                            </a:lnSpc>
                            <a:spcAft>
                              <a:spcPts val="800"/>
                            </a:spcAft>
                            <a:tabLst>
                              <a:tab pos="1074420" algn="l"/>
                            </a:tabLst>
                          </a:pPr>
                          <a:r>
                            <a:rPr lang="en-US" sz="1400" kern="100">
                              <a:effectLst/>
                              <a:latin typeface="Times New Roman" panose="02020603050405020304" pitchFamily="18" charset="0"/>
                              <a:ea typeface="Calibri" panose="020F0502020204030204" pitchFamily="34" charset="0"/>
                              <a:cs typeface="Times New Roman" panose="02020603050405020304" pitchFamily="18" charset="0"/>
                            </a:rPr>
                            <a:t>60-69</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tabLst>
                              <a:tab pos="1074420" algn="l"/>
                            </a:tabLst>
                          </a:pPr>
                          <a:r>
                            <a:rPr lang="en-US" sz="1400" kern="100">
                              <a:effectLst/>
                              <a:latin typeface="Times New Roman" panose="02020603050405020304" pitchFamily="18" charset="0"/>
                              <a:ea typeface="Calibri" panose="020F0502020204030204" pitchFamily="34" charset="0"/>
                              <a:cs typeface="Times New Roman" panose="02020603050405020304" pitchFamily="18" charset="0"/>
                            </a:rPr>
                            <a:t>7</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tabLst>
                              <a:tab pos="1074420" algn="l"/>
                            </a:tabLst>
                          </a:pP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64.5</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tabLst>
                              <a:tab pos="1074420" algn="l"/>
                            </a:tabLst>
                          </a:pPr>
                          <a:r>
                            <a:rPr lang="en-US" sz="1400" kern="100">
                              <a:effectLst/>
                              <a:latin typeface="Times New Roman" panose="02020603050405020304" pitchFamily="18" charset="0"/>
                              <a:ea typeface="Calibri" panose="020F0502020204030204" pitchFamily="34" charset="0"/>
                              <a:cs typeface="Times New Roman" panose="02020603050405020304" pitchFamily="18" charset="0"/>
                            </a:rPr>
                            <a:t>451.5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95844153"/>
                      </a:ext>
                    </a:extLst>
                  </a:tr>
                  <a:tr h="217043">
                    <a:tc>
                      <a:txBody>
                        <a:bodyPr/>
                        <a:lstStyle/>
                        <a:p>
                          <a:pPr algn="l">
                            <a:lnSpc>
                              <a:spcPct val="107000"/>
                            </a:lnSpc>
                            <a:spcAft>
                              <a:spcPts val="800"/>
                            </a:spcAft>
                            <a:tabLst>
                              <a:tab pos="1074420" algn="l"/>
                            </a:tabLst>
                          </a:pPr>
                          <a:r>
                            <a:rPr lang="en-US" sz="1400" kern="100">
                              <a:effectLst/>
                              <a:latin typeface="Times New Roman" panose="02020603050405020304" pitchFamily="18" charset="0"/>
                              <a:ea typeface="Calibri" panose="020F0502020204030204" pitchFamily="34" charset="0"/>
                              <a:cs typeface="Times New Roman" panose="02020603050405020304" pitchFamily="18" charset="0"/>
                            </a:rPr>
                            <a:t>70-79</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tabLst>
                              <a:tab pos="1074420" algn="l"/>
                            </a:tabLst>
                          </a:pP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4</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tabLst>
                              <a:tab pos="1074420" algn="l"/>
                            </a:tabLst>
                          </a:pP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74.5</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tabLst>
                              <a:tab pos="1074420" algn="l"/>
                            </a:tabLst>
                          </a:pPr>
                          <a:r>
                            <a:rPr lang="en-US" sz="1400" kern="100">
                              <a:effectLst/>
                              <a:latin typeface="Times New Roman" panose="02020603050405020304" pitchFamily="18" charset="0"/>
                              <a:ea typeface="Calibri" panose="020F0502020204030204" pitchFamily="34" charset="0"/>
                              <a:cs typeface="Times New Roman" panose="02020603050405020304" pitchFamily="18" charset="0"/>
                            </a:rPr>
                            <a:t>298</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14448279"/>
                      </a:ext>
                    </a:extLst>
                  </a:tr>
                  <a:tr h="217043">
                    <a:tc>
                      <a:txBody>
                        <a:bodyPr/>
                        <a:lstStyle/>
                        <a:p>
                          <a:pPr algn="l">
                            <a:lnSpc>
                              <a:spcPct val="107000"/>
                            </a:lnSpc>
                            <a:spcAft>
                              <a:spcPts val="800"/>
                            </a:spcAft>
                            <a:tabLst>
                              <a:tab pos="1074420" algn="l"/>
                            </a:tabLst>
                          </a:pP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80-89</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tabLst>
                              <a:tab pos="1074420" algn="l"/>
                            </a:tabLst>
                          </a:pPr>
                          <a:r>
                            <a:rPr lang="en-US" sz="1400" kern="100">
                              <a:effectLst/>
                              <a:latin typeface="Times New Roman" panose="02020603050405020304" pitchFamily="18" charset="0"/>
                              <a:ea typeface="Calibri" panose="020F0502020204030204" pitchFamily="34" charset="0"/>
                              <a:cs typeface="Times New Roman" panose="02020603050405020304" pitchFamily="18" charset="0"/>
                            </a:rPr>
                            <a:t>1</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tabLst>
                              <a:tab pos="1074420" algn="l"/>
                            </a:tabLst>
                          </a:pPr>
                          <a:r>
                            <a:rPr lang="en-US" sz="1400" kern="100">
                              <a:effectLst/>
                              <a:latin typeface="Times New Roman" panose="02020603050405020304" pitchFamily="18" charset="0"/>
                              <a:ea typeface="Calibri" panose="020F0502020204030204" pitchFamily="34" charset="0"/>
                              <a:cs typeface="Times New Roman" panose="02020603050405020304" pitchFamily="18" charset="0"/>
                            </a:rPr>
                            <a:t>84.5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tabLst>
                              <a:tab pos="1074420" algn="l"/>
                            </a:tabLst>
                          </a:pP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84.5</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6832035"/>
                      </a:ext>
                    </a:extLst>
                  </a:tr>
                </a:tbl>
              </a:graphicData>
            </a:graphic>
          </p:graphicFrame>
        </mc:Fallback>
      </mc:AlternateContent>
    </p:spTree>
    <p:extLst>
      <p:ext uri="{BB962C8B-B14F-4D97-AF65-F5344CB8AC3E}">
        <p14:creationId xmlns:p14="http://schemas.microsoft.com/office/powerpoint/2010/main" val="15401647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A862B-17D1-8328-95EE-197E023897AA}"/>
              </a:ext>
            </a:extLst>
          </p:cNvPr>
          <p:cNvSpPr>
            <a:spLocks noGrp="1"/>
          </p:cNvSpPr>
          <p:nvPr>
            <p:ph type="title"/>
          </p:nvPr>
        </p:nvSpPr>
        <p:spPr>
          <a:xfrm>
            <a:off x="311700" y="445024"/>
            <a:ext cx="8520600" cy="1165115"/>
          </a:xfrm>
        </p:spPr>
        <p:txBody>
          <a:bodyPr>
            <a:normAutofit fontScale="90000"/>
          </a:bodyPr>
          <a:lstStyle/>
          <a:p>
            <a:pPr marL="0" marR="0" lvl="0" indent="0" defTabSz="914400" rtl="0" eaLnBrk="1" fontAlgn="auto" latinLnBrk="0" hangingPunct="1">
              <a:lnSpc>
                <a:spcPct val="115000"/>
              </a:lnSpc>
              <a:spcBef>
                <a:spcPts val="1200"/>
              </a:spcBef>
              <a:spcAft>
                <a:spcPts val="0"/>
              </a:spcAft>
              <a:tabLst/>
              <a:defRPr/>
            </a:pPr>
            <a:r>
              <a:rPr kumimoji="0" lang="en-US" sz="2800" b="1" i="0" u="none" strike="noStrike" kern="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sym typeface="Arial"/>
              </a:rPr>
              <a:t>Median</a:t>
            </a:r>
            <a:r>
              <a:rPr kumimoji="0" lang="en-US" sz="2800" b="0" i="0" u="none" strike="noStrike" kern="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sym typeface="Arial"/>
              </a:rPr>
              <a:t>: </a:t>
            </a:r>
            <a:r>
              <a:rPr kumimoji="0" lang="en-US" sz="2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The middle value of the dataset when arranged in ascending order.</a:t>
            </a:r>
            <a:br>
              <a:rPr kumimoji="0" lang="en-US" sz="2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br>
            <a:br>
              <a:rPr kumimoji="0" lang="en-US" sz="2800" b="0" i="0" u="none" strike="noStrike" kern="0" cap="none" spc="0" normalizeH="0" baseline="0" noProof="0" dirty="0">
                <a:ln>
                  <a:noFill/>
                </a:ln>
                <a:solidFill>
                  <a:srgbClr val="B044F2"/>
                </a:solidFill>
                <a:effectLst/>
                <a:uLnTx/>
                <a:uFillTx/>
                <a:latin typeface="Times New Roman" panose="02020603050405020304" pitchFamily="18" charset="0"/>
                <a:cs typeface="Times New Roman" panose="02020603050405020304" pitchFamily="18" charset="0"/>
                <a:sym typeface="Arial"/>
              </a:rPr>
            </a:br>
            <a:r>
              <a:rPr lang="en-US" b="1" dirty="0">
                <a:solidFill>
                  <a:srgbClr val="FF0000"/>
                </a:solidFill>
                <a:latin typeface="Times New Roman" panose="02020603050405020304" pitchFamily="18" charset="0"/>
                <a:cs typeface="Times New Roman" panose="02020603050405020304" pitchFamily="18" charset="0"/>
              </a:rPr>
              <a:t>For ungrouped data:</a:t>
            </a:r>
            <a:endParaRPr lang="en-IN"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26482CB1-9E69-59CF-EBF0-D12C8C995CC0}"/>
                  </a:ext>
                </a:extLst>
              </p:cNvPr>
              <p:cNvSpPr>
                <a:spLocks noGrp="1"/>
              </p:cNvSpPr>
              <p:nvPr>
                <p:ph type="body" idx="1"/>
              </p:nvPr>
            </p:nvSpPr>
            <p:spPr>
              <a:xfrm>
                <a:off x="311700" y="2405271"/>
                <a:ext cx="8520600" cy="2564294"/>
              </a:xfrm>
            </p:spPr>
            <p:txBody>
              <a:bodyPr>
                <a:normAutofit/>
              </a:bodyPr>
              <a:lstStyle/>
              <a:p>
                <a:pPr marL="0" indent="0">
                  <a:buNone/>
                </a:pPr>
                <a:r>
                  <a:rPr lang="en-US" dirty="0">
                    <a:solidFill>
                      <a:schemeClr val="tx1"/>
                    </a:solidFill>
                    <a:latin typeface="Times New Roman" panose="02020603050405020304" pitchFamily="18" charset="0"/>
                    <a:cs typeface="Times New Roman" panose="02020603050405020304" pitchFamily="18" charset="0"/>
                  </a:rPr>
                  <a:t>Firstly, arrange the data in ascending order</a:t>
                </a:r>
              </a:p>
              <a:p>
                <a:pPr marL="571500" indent="-571500">
                  <a:buAutoNum type="romanLcParenBoth"/>
                </a:pPr>
                <a:r>
                  <a:rPr lang="en-US" dirty="0">
                    <a:solidFill>
                      <a:schemeClr val="tx1"/>
                    </a:solidFill>
                    <a:latin typeface="Times New Roman" panose="02020603050405020304" pitchFamily="18" charset="0"/>
                    <a:cs typeface="Times New Roman" panose="02020603050405020304" pitchFamily="18" charset="0"/>
                  </a:rPr>
                  <a:t>If n is odd , Median =</a:t>
                </a:r>
                <a14:m>
                  <m:oMath xmlns:m="http://schemas.openxmlformats.org/officeDocument/2006/math">
                    <m:sSup>
                      <m:sSupPr>
                        <m:ctrlPr>
                          <a:rPr lang="en-US" i="1" smtClean="0">
                            <a:solidFill>
                              <a:schemeClr val="tx1"/>
                            </a:solidFill>
                            <a:latin typeface="Cambria Math" panose="02040503050406030204" pitchFamily="18" charset="0"/>
                          </a:rPr>
                        </m:ctrlPr>
                      </m:sSupPr>
                      <m:e>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𝑛</m:t>
                            </m:r>
                            <m:r>
                              <a:rPr lang="en-US" b="0" i="1" smtClean="0">
                                <a:solidFill>
                                  <a:schemeClr val="tx1"/>
                                </a:solidFill>
                                <a:latin typeface="Cambria Math" panose="02040503050406030204" pitchFamily="18" charset="0"/>
                              </a:rPr>
                              <m:t>+1)</m:t>
                            </m:r>
                          </m:num>
                          <m:den>
                            <m:r>
                              <a:rPr lang="en-US" b="0" i="1" smtClean="0">
                                <a:solidFill>
                                  <a:schemeClr val="tx1"/>
                                </a:solidFill>
                                <a:latin typeface="Cambria Math" panose="02040503050406030204" pitchFamily="18" charset="0"/>
                              </a:rPr>
                              <m:t>2</m:t>
                            </m:r>
                          </m:den>
                        </m:f>
                      </m:e>
                      <m:sup>
                        <m:r>
                          <a:rPr lang="en-US" b="0" i="1" smtClean="0">
                            <a:solidFill>
                              <a:schemeClr val="tx1"/>
                            </a:solidFill>
                            <a:latin typeface="Cambria Math" panose="02040503050406030204" pitchFamily="18" charset="0"/>
                          </a:rPr>
                          <m:t>𝑡h</m:t>
                        </m:r>
                      </m:sup>
                    </m:sSup>
                  </m:oMath>
                </a14:m>
                <a:r>
                  <a:rPr lang="en-US" dirty="0">
                    <a:solidFill>
                      <a:schemeClr val="tx1"/>
                    </a:solidFill>
                    <a:latin typeface="Times New Roman" panose="02020603050405020304" pitchFamily="18" charset="0"/>
                    <a:cs typeface="Times New Roman" panose="02020603050405020304" pitchFamily="18" charset="0"/>
                  </a:rPr>
                  <a:t>observation </a:t>
                </a:r>
              </a:p>
              <a:p>
                <a:pPr marL="571500" indent="-571500">
                  <a:buFont typeface="Arial" panose="020B0604020202020204" pitchFamily="34" charset="0"/>
                  <a:buAutoNum type="romanLcParenBoth"/>
                </a:pPr>
                <a:r>
                  <a:rPr lang="en-US" dirty="0">
                    <a:solidFill>
                      <a:schemeClr val="tx1"/>
                    </a:solidFill>
                    <a:latin typeface="Times New Roman" panose="02020603050405020304" pitchFamily="18" charset="0"/>
                    <a:cs typeface="Times New Roman" panose="02020603050405020304" pitchFamily="18" charset="0"/>
                  </a:rPr>
                  <a:t>If n is even , Median =</a:t>
                </a:r>
                <a14:m>
                  <m:oMath xmlns:m="http://schemas.openxmlformats.org/officeDocument/2006/math">
                    <m:f>
                      <m:fPr>
                        <m:ctrlPr>
                          <a:rPr lang="en-US" i="1" smtClean="0">
                            <a:solidFill>
                              <a:schemeClr val="tx1"/>
                            </a:solidFill>
                            <a:latin typeface="Cambria Math" panose="02040503050406030204" pitchFamily="18" charset="0"/>
                          </a:rPr>
                        </m:ctrlPr>
                      </m:fPr>
                      <m:num>
                        <m:sSup>
                          <m:sSupPr>
                            <m:ctrlPr>
                              <a:rPr lang="en-US" i="1" smtClean="0">
                                <a:solidFill>
                                  <a:schemeClr val="tx1"/>
                                </a:solidFill>
                                <a:latin typeface="Cambria Math" panose="02040503050406030204" pitchFamily="18" charset="0"/>
                              </a:rPr>
                            </m:ctrlPr>
                          </m:sSupPr>
                          <m:e>
                            <m:d>
                              <m:dPr>
                                <m:ctrlPr>
                                  <a:rPr lang="en-US" i="1" smtClean="0">
                                    <a:solidFill>
                                      <a:schemeClr val="tx1"/>
                                    </a:solidFill>
                                    <a:latin typeface="Cambria Math" panose="02040503050406030204" pitchFamily="18" charset="0"/>
                                  </a:rPr>
                                </m:ctrlPr>
                              </m:dPr>
                              <m:e>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𝑛</m:t>
                                    </m:r>
                                  </m:num>
                                  <m:den>
                                    <m:r>
                                      <a:rPr lang="en-US" b="0" i="1" smtClean="0">
                                        <a:solidFill>
                                          <a:schemeClr val="tx1"/>
                                        </a:solidFill>
                                        <a:latin typeface="Cambria Math" panose="02040503050406030204" pitchFamily="18" charset="0"/>
                                      </a:rPr>
                                      <m:t>2</m:t>
                                    </m:r>
                                  </m:den>
                                </m:f>
                              </m:e>
                            </m:d>
                          </m:e>
                          <m:sup>
                            <m:r>
                              <a:rPr lang="en-US" b="0" i="1" smtClean="0">
                                <a:solidFill>
                                  <a:schemeClr val="tx1"/>
                                </a:solidFill>
                                <a:latin typeface="Cambria Math" panose="02040503050406030204" pitchFamily="18" charset="0"/>
                              </a:rPr>
                              <m:t>𝑡h</m:t>
                            </m:r>
                          </m:sup>
                        </m:sSup>
                        <m:r>
                          <a:rPr lang="en-US" b="0" i="1" smtClean="0">
                            <a:solidFill>
                              <a:schemeClr val="tx1"/>
                            </a:solidFill>
                            <a:latin typeface="Cambria Math" panose="02040503050406030204" pitchFamily="18" charset="0"/>
                          </a:rPr>
                          <m:t>+</m:t>
                        </m:r>
                        <m:sSup>
                          <m:sSupPr>
                            <m:ctrlPr>
                              <a:rPr lang="en-US" b="0" i="1" smtClean="0">
                                <a:solidFill>
                                  <a:schemeClr val="tx1"/>
                                </a:solidFill>
                                <a:latin typeface="Cambria Math" panose="02040503050406030204" pitchFamily="18" charset="0"/>
                              </a:rPr>
                            </m:ctrlPr>
                          </m:sSupPr>
                          <m:e>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𝑛</m:t>
                                    </m:r>
                                  </m:num>
                                  <m:den>
                                    <m:r>
                                      <a:rPr lang="en-US" b="0" i="1" smtClean="0">
                                        <a:solidFill>
                                          <a:schemeClr val="tx1"/>
                                        </a:solidFill>
                                        <a:latin typeface="Cambria Math" panose="02040503050406030204" pitchFamily="18" charset="0"/>
                                      </a:rPr>
                                      <m:t>2</m:t>
                                    </m:r>
                                  </m:den>
                                </m:f>
                                <m:r>
                                  <a:rPr lang="en-US" b="0" i="1" smtClean="0">
                                    <a:solidFill>
                                      <a:schemeClr val="tx1"/>
                                    </a:solidFill>
                                    <a:latin typeface="Cambria Math" panose="02040503050406030204" pitchFamily="18" charset="0"/>
                                  </a:rPr>
                                  <m:t>+1</m:t>
                                </m:r>
                              </m:e>
                            </m:d>
                          </m:e>
                          <m:sup>
                            <m:r>
                              <a:rPr lang="en-US" b="0" i="1" smtClean="0">
                                <a:solidFill>
                                  <a:schemeClr val="tx1"/>
                                </a:solidFill>
                                <a:latin typeface="Cambria Math" panose="02040503050406030204" pitchFamily="18" charset="0"/>
                              </a:rPr>
                              <m:t>𝑡h</m:t>
                            </m:r>
                          </m:sup>
                        </m:sSup>
                      </m:num>
                      <m:den>
                        <m:r>
                          <a:rPr lang="en-US" b="0" i="1" smtClean="0">
                            <a:solidFill>
                              <a:schemeClr val="tx1"/>
                            </a:solidFill>
                            <a:latin typeface="Cambria Math" panose="02040503050406030204" pitchFamily="18" charset="0"/>
                          </a:rPr>
                          <m:t>2</m:t>
                        </m:r>
                      </m:den>
                    </m:f>
                  </m:oMath>
                </a14:m>
                <a:r>
                  <a:rPr lang="en-US" dirty="0">
                    <a:solidFill>
                      <a:schemeClr val="tx1"/>
                    </a:solidFill>
                    <a:latin typeface="Times New Roman" panose="02020603050405020304" pitchFamily="18" charset="0"/>
                    <a:cs typeface="Times New Roman" panose="02020603050405020304" pitchFamily="18" charset="0"/>
                  </a:rPr>
                  <a:t>observation </a:t>
                </a:r>
              </a:p>
            </p:txBody>
          </p:sp>
        </mc:Choice>
        <mc:Fallback xmlns="">
          <p:sp>
            <p:nvSpPr>
              <p:cNvPr id="3" name="Text Placeholder 2">
                <a:extLst>
                  <a:ext uri="{FF2B5EF4-FFF2-40B4-BE49-F238E27FC236}">
                    <a16:creationId xmlns:a16="http://schemas.microsoft.com/office/drawing/2014/main" id="{26482CB1-9E69-59CF-EBF0-D12C8C995CC0}"/>
                  </a:ext>
                </a:extLst>
              </p:cNvPr>
              <p:cNvSpPr>
                <a:spLocks noGrp="1" noRot="1" noChangeAspect="1" noMove="1" noResize="1" noEditPoints="1" noAdjustHandles="1" noChangeArrowheads="1" noChangeShapeType="1" noTextEdit="1"/>
              </p:cNvSpPr>
              <p:nvPr>
                <p:ph type="body" idx="1"/>
              </p:nvPr>
            </p:nvSpPr>
            <p:spPr>
              <a:xfrm>
                <a:off x="311700" y="2405271"/>
                <a:ext cx="8520600" cy="2564294"/>
              </a:xfrm>
              <a:blipFill>
                <a:blip r:embed="rId2"/>
                <a:stretch>
                  <a:fillRect l="-572"/>
                </a:stretch>
              </a:blipFill>
            </p:spPr>
            <p:txBody>
              <a:bodyPr/>
              <a:lstStyle/>
              <a:p>
                <a:r>
                  <a:rPr lang="en-IN">
                    <a:noFill/>
                  </a:rPr>
                  <a:t> </a:t>
                </a:r>
              </a:p>
            </p:txBody>
          </p:sp>
        </mc:Fallback>
      </mc:AlternateContent>
    </p:spTree>
    <p:extLst>
      <p:ext uri="{BB962C8B-B14F-4D97-AF65-F5344CB8AC3E}">
        <p14:creationId xmlns:p14="http://schemas.microsoft.com/office/powerpoint/2010/main" val="9840416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42A6B49-09AB-B27A-C42B-9B8964A6DC36}"/>
              </a:ext>
            </a:extLst>
          </p:cNvPr>
          <p:cNvSpPr>
            <a:spLocks noGrp="1"/>
          </p:cNvSpPr>
          <p:nvPr>
            <p:ph type="title"/>
          </p:nvPr>
        </p:nvSpPr>
        <p:spPr/>
        <p:txBody>
          <a:bodyPr>
            <a:noAutofit/>
          </a:bodyPr>
          <a:lstStyle/>
          <a:p>
            <a:r>
              <a:rPr lang="en-US" sz="3200" b="1" dirty="0">
                <a:solidFill>
                  <a:srgbClr val="FF0000"/>
                </a:solidFill>
                <a:latin typeface="Times New Roman" panose="02020603050405020304" pitchFamily="18" charset="0"/>
                <a:cs typeface="Times New Roman" panose="02020603050405020304" pitchFamily="18" charset="0"/>
              </a:rPr>
              <a:t>Illustrative  Examples </a:t>
            </a:r>
            <a:endParaRPr lang="en-IN" sz="3200" b="1" dirty="0">
              <a:solidFill>
                <a:srgbClr val="FF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636C319D-460F-2BA3-DDBB-CE56A5C69D29}"/>
              </a:ext>
            </a:extLst>
          </p:cNvPr>
          <p:cNvSpPr>
            <a:spLocks noGrp="1"/>
          </p:cNvSpPr>
          <p:nvPr>
            <p:ph type="body" idx="1"/>
          </p:nvPr>
        </p:nvSpPr>
        <p:spPr/>
        <p:txBody>
          <a:bodyPr>
            <a:normAutofit fontScale="77500" lnSpcReduction="20000"/>
          </a:bodyPr>
          <a:lstStyle/>
          <a:p>
            <a:pPr marL="114300" indent="0">
              <a:buNone/>
            </a:pPr>
            <a:r>
              <a:rPr lang="en-US" sz="31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Example 1</a:t>
            </a:r>
            <a:endParaRPr lang="en-IN" sz="31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114300" indent="0">
              <a:buNone/>
            </a:pPr>
            <a:r>
              <a:rPr lang="en-US" sz="31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Find Median of the data: 5, 8, 3, 7, 10</a:t>
            </a:r>
            <a:endParaRPr lang="en-IN" sz="3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114300" indent="0">
              <a:buNone/>
            </a:pPr>
            <a:r>
              <a:rPr lang="en-US" sz="31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Step 1:</a:t>
            </a:r>
            <a:r>
              <a:rPr lang="en-US" sz="3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Arrange the data in ascending order.</a:t>
            </a:r>
            <a:endParaRPr lang="en-IN" sz="3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114300" indent="0">
              <a:buNone/>
            </a:pPr>
            <a:r>
              <a:rPr lang="en-US" sz="3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3,5,7,8,10</a:t>
            </a:r>
            <a:endParaRPr lang="en-IN" sz="3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114300" indent="0">
              <a:buNone/>
            </a:pPr>
            <a:r>
              <a:rPr lang="en-US" sz="31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Step 2:</a:t>
            </a:r>
            <a:r>
              <a:rPr lang="en-US" sz="3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The number of data points, n = 5  (odd).</a:t>
            </a:r>
            <a:endParaRPr lang="en-IN" sz="3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114300" indent="0">
              <a:buNone/>
            </a:pPr>
            <a:r>
              <a:rPr lang="en-US" sz="31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Step 3:</a:t>
            </a:r>
            <a:r>
              <a:rPr lang="en-US" sz="3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The median is the middle value (the 3rd value in this case).</a:t>
            </a:r>
            <a:endParaRPr lang="en-IN" sz="3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114300" indent="0">
              <a:buNone/>
            </a:pPr>
            <a:r>
              <a:rPr lang="en-US" sz="3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Median=7</a:t>
            </a:r>
            <a:endParaRPr lang="en-IN" sz="3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114300" indent="0">
              <a:buNone/>
            </a:pPr>
            <a:r>
              <a:rPr lang="en-US" sz="3100" dirty="0">
                <a:solidFill>
                  <a:schemeClr val="tx1"/>
                </a:solidFill>
                <a:effectLst/>
                <a:latin typeface="Times New Roman" panose="02020603050405020304" pitchFamily="18" charset="0"/>
                <a:ea typeface="Times New Roman" panose="02020603050405020304" pitchFamily="18" charset="0"/>
              </a:rPr>
              <a:t> </a:t>
            </a:r>
          </a:p>
          <a:p>
            <a:pPr marL="114300" indent="0">
              <a:buNone/>
            </a:pPr>
            <a:endParaRPr lang="en-US" sz="3100" dirty="0">
              <a:solidFill>
                <a:schemeClr val="tx1"/>
              </a:solidFill>
              <a:latin typeface="Times New Roman" panose="02020603050405020304" pitchFamily="18" charset="0"/>
              <a:ea typeface="Times New Roman" panose="02020603050405020304" pitchFamily="18" charset="0"/>
            </a:endParaRPr>
          </a:p>
          <a:p>
            <a:pPr marL="114300" indent="0">
              <a:buNone/>
            </a:pPr>
            <a:endParaRPr lang="en-US" sz="3100" dirty="0">
              <a:solidFill>
                <a:schemeClr val="tx1"/>
              </a:solidFill>
              <a:effectLst/>
              <a:latin typeface="Times New Roman" panose="02020603050405020304" pitchFamily="18" charset="0"/>
              <a:ea typeface="Times New Roman" panose="02020603050405020304" pitchFamily="18" charset="0"/>
            </a:endParaRPr>
          </a:p>
          <a:p>
            <a:pPr marL="114300" indent="0">
              <a:buNone/>
            </a:pPr>
            <a:endParaRPr lang="en-US" sz="3100" dirty="0">
              <a:solidFill>
                <a:schemeClr val="tx1"/>
              </a:solidFill>
              <a:latin typeface="Times New Roman" panose="02020603050405020304" pitchFamily="18" charset="0"/>
              <a:ea typeface="Times New Roman" panose="02020603050405020304" pitchFamily="18" charset="0"/>
            </a:endParaRPr>
          </a:p>
          <a:p>
            <a:pPr marL="114300" indent="0">
              <a:buNone/>
            </a:pPr>
            <a:endParaRPr lang="en-IN" sz="3100" dirty="0">
              <a:solidFill>
                <a:schemeClr val="tx1"/>
              </a:solidFill>
              <a:effectLst/>
              <a:latin typeface="Times New Roman" panose="02020603050405020304" pitchFamily="18" charset="0"/>
              <a:ea typeface="Times New Roman" panose="02020603050405020304" pitchFamily="18" charset="0"/>
            </a:endParaRPr>
          </a:p>
          <a:p>
            <a:pPr marL="114300" indent="0">
              <a:buNone/>
            </a:pPr>
            <a:endParaRPr lang="en-IN" sz="3100" dirty="0">
              <a:solidFill>
                <a:schemeClr val="tx1"/>
              </a:solidFill>
              <a:latin typeface="Times New Roman" panose="02020603050405020304" pitchFamily="18" charset="0"/>
              <a:ea typeface="Times New Roman" panose="02020603050405020304" pitchFamily="18" charset="0"/>
            </a:endParaRPr>
          </a:p>
          <a:p>
            <a:pPr marL="114300" indent="0">
              <a:buNone/>
            </a:pPr>
            <a:endParaRPr lang="en-IN" sz="3100" dirty="0">
              <a:solidFill>
                <a:schemeClr val="tx1"/>
              </a:solidFill>
              <a:effectLst/>
              <a:latin typeface="Times New Roman" panose="02020603050405020304" pitchFamily="18" charset="0"/>
              <a:ea typeface="Times New Roman" panose="02020603050405020304" pitchFamily="18" charset="0"/>
            </a:endParaRPr>
          </a:p>
          <a:p>
            <a:pPr marL="114300" indent="0">
              <a:buNone/>
            </a:pPr>
            <a:endParaRPr lang="en-IN" sz="3100" dirty="0">
              <a:solidFill>
                <a:schemeClr val="tx1"/>
              </a:solidFill>
              <a:effectLst/>
              <a:latin typeface="Times New Roman" panose="02020603050405020304" pitchFamily="18" charset="0"/>
              <a:ea typeface="Times New Roman" panose="02020603050405020304" pitchFamily="18" charset="0"/>
            </a:endParaRPr>
          </a:p>
          <a:p>
            <a:pPr marL="114300" indent="0">
              <a:buNone/>
            </a:pPr>
            <a:endParaRPr lang="en-IN" dirty="0"/>
          </a:p>
        </p:txBody>
      </p:sp>
    </p:spTree>
    <p:extLst>
      <p:ext uri="{BB962C8B-B14F-4D97-AF65-F5344CB8AC3E}">
        <p14:creationId xmlns:p14="http://schemas.microsoft.com/office/powerpoint/2010/main" val="33212253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061BD0C-728E-4943-302B-71260A181BC8}"/>
                  </a:ext>
                </a:extLst>
              </p:cNvPr>
              <p:cNvSpPr>
                <a:spLocks noGrp="1"/>
              </p:cNvSpPr>
              <p:nvPr>
                <p:ph type="body" idx="4294967295"/>
              </p:nvPr>
            </p:nvSpPr>
            <p:spPr>
              <a:xfrm>
                <a:off x="0" y="397565"/>
                <a:ext cx="8521700" cy="4171260"/>
              </a:xfrm>
            </p:spPr>
            <p:txBody>
              <a:bodyPr>
                <a:normAutofit/>
              </a:bodyPr>
              <a:lstStyle/>
              <a:p>
                <a:pPr marL="114300" indent="0">
                  <a:buNone/>
                </a:pPr>
                <a:endParaRPr lang="en-IN" sz="1800" dirty="0">
                  <a:solidFill>
                    <a:schemeClr val="tx1"/>
                  </a:solidFill>
                  <a:effectLst/>
                  <a:latin typeface="Times New Roman" panose="02020603050405020304" pitchFamily="18" charset="0"/>
                  <a:ea typeface="Times New Roman" panose="02020603050405020304" pitchFamily="18" charset="0"/>
                </a:endParaRPr>
              </a:p>
              <a:p>
                <a:pPr marL="114300" indent="0">
                  <a:buNone/>
                </a:pPr>
                <a:r>
                  <a:rPr lang="en-US"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Example 2</a:t>
                </a:r>
                <a:endParaRPr lang="en-IN" sz="24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114300" indent="0">
                  <a:buNone/>
                </a:pPr>
                <a:r>
                  <a:rPr lang="en-US"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Find Median of the data : 12, 16, 10, 8, 22, 18</a:t>
                </a:r>
                <a:endParaRPr lang="en-IN" sz="24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114300" indent="0">
                  <a:buNone/>
                </a:pPr>
                <a:r>
                  <a:rPr lang="en-US" sz="24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Step 1:</a:t>
                </a:r>
                <a:r>
                  <a:rPr 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Arrange the data in ascending order.</a:t>
                </a:r>
                <a:endParaRPr lang="en-IN"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114300" indent="0">
                  <a:buNone/>
                </a:pPr>
                <a:r>
                  <a:rPr 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8,10,12,16,18,22</a:t>
                </a:r>
                <a:endParaRPr lang="en-IN"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114300" indent="0">
                  <a:buNone/>
                </a:pPr>
                <a:r>
                  <a:rPr lang="en-US" sz="24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Step 2:</a:t>
                </a:r>
                <a:r>
                  <a:rPr 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The number of data points  n=6 (even).</a:t>
                </a:r>
                <a:endParaRPr lang="en-IN"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114300" indent="0">
                  <a:buNone/>
                </a:pPr>
                <a:r>
                  <a:rPr lang="en-US" sz="24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Step 3:</a:t>
                </a:r>
                <a:r>
                  <a:rPr 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The median is the average of the two middle values (3rd and 4th values).</a:t>
                </a:r>
                <a:endParaRPr lang="en-IN"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114300" indent="0">
                  <a:buNone/>
                  <a:tabLst>
                    <a:tab pos="1074420" algn="l"/>
                  </a:tabLst>
                </a:pPr>
                <a:r>
                  <a:rPr 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Median = </a:t>
                </a:r>
                <a14:m>
                  <m:oMath xmlns:m="http://schemas.openxmlformats.org/officeDocument/2006/math">
                    <m:f>
                      <m:fPr>
                        <m:ctrlPr>
                          <a:rPr lang="en-IN" sz="2400" i="1" kern="1200">
                            <a:solidFill>
                              <a:schemeClr val="tx1"/>
                            </a:solidFill>
                            <a:effectLst/>
                            <a:latin typeface="Cambria Math" panose="02040503050406030204" pitchFamily="18" charset="0"/>
                            <a:ea typeface="Times New Roman" panose="02020603050405020304" pitchFamily="18" charset="0"/>
                          </a:rPr>
                        </m:ctrlPr>
                      </m:fPr>
                      <m:num>
                        <m:r>
                          <a:rPr lang="en-US" sz="2400" i="1" kern="1200">
                            <a:solidFill>
                              <a:schemeClr val="tx1"/>
                            </a:solidFill>
                            <a:effectLst/>
                            <a:latin typeface="Cambria Math" panose="02040503050406030204" pitchFamily="18" charset="0"/>
                            <a:ea typeface="Times New Roman" panose="02020603050405020304" pitchFamily="18" charset="0"/>
                          </a:rPr>
                          <m:t>12</m:t>
                        </m:r>
                        <m:r>
                          <a:rPr lang="en-US" sz="2400" i="1" kern="1200">
                            <a:solidFill>
                              <a:schemeClr val="tx1"/>
                            </a:solidFill>
                            <a:effectLst/>
                            <a:latin typeface="Cambria Math" panose="02040503050406030204" pitchFamily="18" charset="0"/>
                            <a:ea typeface="Times New Roman" panose="02020603050405020304" pitchFamily="18" charset="0"/>
                          </a:rPr>
                          <m:t> + </m:t>
                        </m:r>
                        <m:r>
                          <a:rPr lang="en-US" sz="2400" i="1" kern="1200">
                            <a:solidFill>
                              <a:schemeClr val="tx1"/>
                            </a:solidFill>
                            <a:effectLst/>
                            <a:latin typeface="Cambria Math" panose="02040503050406030204" pitchFamily="18" charset="0"/>
                            <a:ea typeface="Times New Roman" panose="02020603050405020304" pitchFamily="18" charset="0"/>
                          </a:rPr>
                          <m:t>16</m:t>
                        </m:r>
                      </m:num>
                      <m:den>
                        <m:r>
                          <a:rPr lang="en-US" sz="2400" i="1" kern="1200">
                            <a:solidFill>
                              <a:schemeClr val="tx1"/>
                            </a:solidFill>
                            <a:effectLst/>
                            <a:latin typeface="Cambria Math" panose="02040503050406030204" pitchFamily="18" charset="0"/>
                            <a:ea typeface="Times New Roman" panose="02020603050405020304" pitchFamily="18" charset="0"/>
                          </a:rPr>
                          <m:t>2</m:t>
                        </m:r>
                      </m:den>
                    </m:f>
                  </m:oMath>
                </a14:m>
                <a:r>
                  <a:rPr lang="en-US" sz="2400" kern="12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 14</a:t>
                </a:r>
                <a:endParaRPr lang="en-IN"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dirty="0"/>
              </a:p>
            </p:txBody>
          </p:sp>
        </mc:Choice>
        <mc:Fallback xmlns="">
          <p:sp>
            <p:nvSpPr>
              <p:cNvPr id="3" name="Text Placeholder 2">
                <a:extLst>
                  <a:ext uri="{FF2B5EF4-FFF2-40B4-BE49-F238E27FC236}">
                    <a16:creationId xmlns:a16="http://schemas.microsoft.com/office/drawing/2014/main" id="{B061BD0C-728E-4943-302B-71260A181BC8}"/>
                  </a:ext>
                </a:extLst>
              </p:cNvPr>
              <p:cNvSpPr>
                <a:spLocks noGrp="1" noRot="1" noChangeAspect="1" noMove="1" noResize="1" noEditPoints="1" noAdjustHandles="1" noChangeArrowheads="1" noChangeShapeType="1" noTextEdit="1"/>
              </p:cNvSpPr>
              <p:nvPr>
                <p:ph type="body" idx="4294967295"/>
              </p:nvPr>
            </p:nvSpPr>
            <p:spPr>
              <a:xfrm>
                <a:off x="0" y="397565"/>
                <a:ext cx="8521700" cy="4171260"/>
              </a:xfrm>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7925434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AB73F44-1EA4-7F96-3F08-4BD9BE7EDAC6}"/>
              </a:ext>
            </a:extLst>
          </p:cNvPr>
          <p:cNvSpPr>
            <a:spLocks noGrp="1"/>
          </p:cNvSpPr>
          <p:nvPr>
            <p:ph type="title"/>
          </p:nvPr>
        </p:nvSpPr>
        <p:spPr>
          <a:xfrm>
            <a:off x="311700" y="445025"/>
            <a:ext cx="8520600" cy="662663"/>
          </a:xfrm>
        </p:spPr>
        <p:txBody>
          <a:bodyPr>
            <a:normAutofit fontScale="90000"/>
          </a:bodyPr>
          <a:lstStyle/>
          <a:p>
            <a:r>
              <a:rPr lang="en-US" sz="3600" b="1" dirty="0">
                <a:solidFill>
                  <a:srgbClr val="FF0000"/>
                </a:solidFill>
                <a:latin typeface="Times New Roman" panose="02020603050405020304" pitchFamily="18" charset="0"/>
                <a:cs typeface="Times New Roman" panose="02020603050405020304" pitchFamily="18" charset="0"/>
              </a:rPr>
              <a:t>Median for grouped data</a:t>
            </a:r>
            <a:endParaRPr lang="en-IN" sz="36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Text Placeholder 6">
                <a:extLst>
                  <a:ext uri="{FF2B5EF4-FFF2-40B4-BE49-F238E27FC236}">
                    <a16:creationId xmlns:a16="http://schemas.microsoft.com/office/drawing/2014/main" id="{A9DEC10C-24CF-15DE-0AB9-E9756CCBFC5E}"/>
                  </a:ext>
                </a:extLst>
              </p:cNvPr>
              <p:cNvSpPr>
                <a:spLocks noGrp="1"/>
              </p:cNvSpPr>
              <p:nvPr>
                <p:ph type="body" idx="1"/>
              </p:nvPr>
            </p:nvSpPr>
            <p:spPr>
              <a:xfrm>
                <a:off x="311700" y="1053548"/>
                <a:ext cx="8520600" cy="4410550"/>
              </a:xfrm>
            </p:spPr>
            <p:txBody>
              <a:bodyPr>
                <a:normAutofit fontScale="55000" lnSpcReduction="20000"/>
              </a:bodyPr>
              <a:lstStyle/>
              <a:p>
                <a:pPr marL="114300" indent="0">
                  <a:lnSpc>
                    <a:spcPct val="107000"/>
                  </a:lnSpc>
                  <a:spcAft>
                    <a:spcPts val="800"/>
                  </a:spcAft>
                  <a:buNone/>
                  <a:tabLst>
                    <a:tab pos="1074420" algn="l"/>
                  </a:tabLst>
                </a:pPr>
                <a:r>
                  <a:rPr lang="en-US" sz="31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For grouped data :</a:t>
                </a:r>
                <a:endParaRPr lang="en-IN" sz="3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114300" indent="0">
                  <a:lnSpc>
                    <a:spcPct val="107000"/>
                  </a:lnSpc>
                  <a:spcAft>
                    <a:spcPts val="800"/>
                  </a:spcAft>
                  <a:buNone/>
                  <a:tabLst>
                    <a:tab pos="1074420" algn="l"/>
                  </a:tabLst>
                </a:pPr>
                <a:r>
                  <a:rPr lang="en-US" sz="31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Step 1: </a:t>
                </a:r>
                <a:r>
                  <a:rPr lang="en-US" sz="3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Construct the cumulative frequency distribution</a:t>
                </a:r>
                <a:endParaRPr lang="en-IN" sz="3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114300" indent="0">
                  <a:lnSpc>
                    <a:spcPct val="107000"/>
                  </a:lnSpc>
                  <a:spcAft>
                    <a:spcPts val="800"/>
                  </a:spcAft>
                  <a:buNone/>
                  <a:tabLst>
                    <a:tab pos="1074420" algn="l"/>
                  </a:tabLst>
                </a:pPr>
                <a:r>
                  <a:rPr lang="en-US" sz="31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Step 2: </a:t>
                </a:r>
                <a:r>
                  <a:rPr lang="en-US" sz="3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Find the median class. Median class is the class in which the      </a:t>
                </a:r>
                <a:endParaRPr lang="en-IN" sz="3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114300" indent="0">
                  <a:lnSpc>
                    <a:spcPct val="107000"/>
                  </a:lnSpc>
                  <a:spcAft>
                    <a:spcPts val="800"/>
                  </a:spcAft>
                  <a:buNone/>
                  <a:tabLst>
                    <a:tab pos="1074420" algn="l"/>
                  </a:tabLst>
                </a:pPr>
                <a:r>
                  <a:rPr lang="en-US" sz="3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value of </a:t>
                </a:r>
                <a14:m>
                  <m:oMath xmlns:m="http://schemas.openxmlformats.org/officeDocument/2006/math">
                    <m:f>
                      <m:fPr>
                        <m:ctrlPr>
                          <a:rPr lang="en-IN" sz="3100"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3100"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𝑵</m:t>
                        </m:r>
                      </m:num>
                      <m:den>
                        <m:r>
                          <a:rPr lang="en-US" sz="3100"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𝟐</m:t>
                        </m:r>
                      </m:den>
                    </m:f>
                  </m:oMath>
                </a14:m>
                <a:r>
                  <a:rPr lang="en-US" sz="3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falls in cumulative frequency distribution.</a:t>
                </a:r>
                <a:endParaRPr lang="en-IN" sz="3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114300" indent="0">
                  <a:lnSpc>
                    <a:spcPct val="107000"/>
                  </a:lnSpc>
                  <a:spcAft>
                    <a:spcPts val="800"/>
                  </a:spcAft>
                  <a:buNone/>
                  <a:tabLst>
                    <a:tab pos="1074420" algn="l"/>
                  </a:tabLst>
                </a:pPr>
                <a:r>
                  <a:rPr lang="en-US" sz="31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Step 3: </a:t>
                </a:r>
                <a:r>
                  <a:rPr lang="en-US" sz="3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Find the median by using the following formula.</a:t>
                </a:r>
                <a:endParaRPr lang="en-IN" sz="3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114300" indent="0">
                  <a:lnSpc>
                    <a:spcPct val="107000"/>
                  </a:lnSpc>
                  <a:spcAft>
                    <a:spcPts val="800"/>
                  </a:spcAft>
                  <a:buNone/>
                  <a:tabLst>
                    <a:tab pos="1074420" algn="l"/>
                  </a:tabLst>
                </a:pPr>
                <a:r>
                  <a:rPr lang="en-US" sz="3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Median =</a:t>
                </a:r>
                <a14:m>
                  <m:oMath xmlns:m="http://schemas.openxmlformats.org/officeDocument/2006/math">
                    <m:r>
                      <a:rPr lang="en-US" sz="3100"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𝑳</m:t>
                    </m:r>
                    <m:r>
                      <a:rPr lang="en-US" sz="3100"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IN" sz="3100"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dPr>
                      <m:e>
                        <m:f>
                          <m:fPr>
                            <m:ctrlPr>
                              <a:rPr lang="en-IN" sz="3100"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fPr>
                          <m:num>
                            <m:f>
                              <m:fPr>
                                <m:ctrlPr>
                                  <a:rPr lang="en-IN" sz="3100"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3100"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𝑵</m:t>
                                </m:r>
                              </m:num>
                              <m:den>
                                <m:r>
                                  <a:rPr lang="en-US" sz="3100"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𝟐</m:t>
                                </m:r>
                              </m:den>
                            </m:f>
                            <m:r>
                              <a:rPr lang="en-US" sz="3100"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 </m:t>
                            </m:r>
                            <m:r>
                              <a:rPr lang="en-US" sz="3100"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𝒄</m:t>
                            </m:r>
                            <m:r>
                              <a:rPr lang="en-US" sz="3100"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3100"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𝒇</m:t>
                            </m:r>
                          </m:num>
                          <m:den>
                            <m:r>
                              <a:rPr lang="en-US" sz="3100"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𝒇</m:t>
                            </m:r>
                          </m:den>
                        </m:f>
                      </m:e>
                    </m:d>
                  </m:oMath>
                </a14:m>
                <a:r>
                  <a:rPr lang="en-US" sz="3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a:t>
                </a:r>
                <a:endParaRPr lang="en-IN" sz="3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114300" indent="0">
                  <a:lnSpc>
                    <a:spcPct val="107000"/>
                  </a:lnSpc>
                  <a:spcAft>
                    <a:spcPts val="800"/>
                  </a:spcAft>
                  <a:buNone/>
                  <a:tabLst>
                    <a:tab pos="1074420" algn="l"/>
                  </a:tabLst>
                </a:pPr>
                <a:r>
                  <a:rPr lang="en-US" sz="3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Where, N = Total Frequency</a:t>
                </a:r>
                <a:endParaRPr lang="en-IN" sz="3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114300" indent="0">
                  <a:lnSpc>
                    <a:spcPct val="107000"/>
                  </a:lnSpc>
                  <a:spcAft>
                    <a:spcPts val="800"/>
                  </a:spcAft>
                  <a:buNone/>
                  <a:tabLst>
                    <a:tab pos="1074420" algn="l"/>
                  </a:tabLst>
                </a:pPr>
                <a:r>
                  <a:rPr lang="en-US" sz="3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L = Lower limit of the median class</a:t>
                </a:r>
                <a:endParaRPr lang="en-IN" sz="3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114300" indent="0">
                  <a:lnSpc>
                    <a:spcPct val="107000"/>
                  </a:lnSpc>
                  <a:spcAft>
                    <a:spcPts val="800"/>
                  </a:spcAft>
                  <a:buNone/>
                  <a:tabLst>
                    <a:tab pos="1074420" algn="l"/>
                  </a:tabLst>
                </a:pPr>
                <a:r>
                  <a:rPr lang="en-US" sz="3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f =  Frequency of the median class</a:t>
                </a:r>
                <a:endParaRPr lang="en-IN" sz="3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114300" indent="0">
                  <a:lnSpc>
                    <a:spcPct val="107000"/>
                  </a:lnSpc>
                  <a:spcAft>
                    <a:spcPts val="800"/>
                  </a:spcAft>
                  <a:buNone/>
                  <a:tabLst>
                    <a:tab pos="1074420" algn="l"/>
                  </a:tabLst>
                </a:pPr>
                <a:r>
                  <a:rPr lang="en-US" sz="3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10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c.f</a:t>
                </a:r>
                <a:r>
                  <a:rPr lang="en-US" sz="3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cumulative frequency of the class before the median class</a:t>
                </a:r>
                <a:endParaRPr lang="en-IN" sz="3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114300" indent="0">
                  <a:lnSpc>
                    <a:spcPct val="107000"/>
                  </a:lnSpc>
                  <a:spcAft>
                    <a:spcPts val="800"/>
                  </a:spcAft>
                  <a:buNone/>
                  <a:tabLst>
                    <a:tab pos="1074420" algn="l"/>
                  </a:tabLst>
                </a:pPr>
                <a:r>
                  <a:rPr lang="en-US" sz="3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h = class width</a:t>
                </a:r>
                <a:endParaRPr lang="en-IN" sz="3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mc:Choice>
        <mc:Fallback xmlns="">
          <p:sp>
            <p:nvSpPr>
              <p:cNvPr id="7" name="Text Placeholder 6">
                <a:extLst>
                  <a:ext uri="{FF2B5EF4-FFF2-40B4-BE49-F238E27FC236}">
                    <a16:creationId xmlns:a16="http://schemas.microsoft.com/office/drawing/2014/main" id="{A9DEC10C-24CF-15DE-0AB9-E9756CCBFC5E}"/>
                  </a:ext>
                </a:extLst>
              </p:cNvPr>
              <p:cNvSpPr>
                <a:spLocks noGrp="1" noRot="1" noChangeAspect="1" noMove="1" noResize="1" noEditPoints="1" noAdjustHandles="1" noChangeArrowheads="1" noChangeShapeType="1" noTextEdit="1"/>
              </p:cNvSpPr>
              <p:nvPr>
                <p:ph type="body" idx="1"/>
              </p:nvPr>
            </p:nvSpPr>
            <p:spPr>
              <a:xfrm>
                <a:off x="311700" y="1053548"/>
                <a:ext cx="8520600" cy="4410550"/>
              </a:xfrm>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8428546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F1E5BA0-47A4-FEA8-FD9B-2E6273DC24F7}"/>
              </a:ext>
            </a:extLst>
          </p:cNvPr>
          <p:cNvSpPr>
            <a:spLocks noGrp="1"/>
          </p:cNvSpPr>
          <p:nvPr>
            <p:ph type="body" idx="4294967295"/>
          </p:nvPr>
        </p:nvSpPr>
        <p:spPr>
          <a:xfrm>
            <a:off x="0" y="2803525"/>
            <a:ext cx="8521700" cy="2957513"/>
          </a:xfrm>
        </p:spPr>
        <p:txBody>
          <a:bodyPr>
            <a:normAutofit/>
          </a:bodyPr>
          <a:lstStyle/>
          <a:p>
            <a:pPr marL="114300" indent="0">
              <a:buNone/>
            </a:pPr>
            <a:r>
              <a:rPr lang="en-US" sz="1600" dirty="0"/>
              <a:t> </a:t>
            </a:r>
            <a:endParaRPr lang="en-IN" sz="1600" dirty="0"/>
          </a:p>
        </p:txBody>
      </p:sp>
      <p:pic>
        <p:nvPicPr>
          <p:cNvPr id="6" name="Picture 5">
            <a:extLst>
              <a:ext uri="{FF2B5EF4-FFF2-40B4-BE49-F238E27FC236}">
                <a16:creationId xmlns:a16="http://schemas.microsoft.com/office/drawing/2014/main" id="{B5D0897F-5666-7B56-348F-DC49EDEF86E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08816" y="241714"/>
            <a:ext cx="6261652" cy="2081558"/>
          </a:xfrm>
          <a:prstGeom prst="rect">
            <a:avLst/>
          </a:prstGeom>
          <a:noFill/>
          <a:ln>
            <a:noFill/>
          </a:ln>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E2D4984-C5AD-68AB-F89B-AAAC730D066C}"/>
                  </a:ext>
                </a:extLst>
              </p:cNvPr>
              <p:cNvSpPr txBox="1"/>
              <p:nvPr/>
            </p:nvSpPr>
            <p:spPr>
              <a:xfrm>
                <a:off x="546653" y="2186609"/>
                <a:ext cx="8110330" cy="2763064"/>
              </a:xfrm>
              <a:prstGeom prst="rect">
                <a:avLst/>
              </a:prstGeom>
              <a:noFill/>
            </p:spPr>
            <p:txBody>
              <a:bodyPr wrap="square">
                <a:spAutoFit/>
              </a:bodyPr>
              <a:lstStyle/>
              <a:p>
                <a:pPr>
                  <a:lnSpc>
                    <a:spcPct val="107000"/>
                  </a:lnSpc>
                  <a:spcAft>
                    <a:spcPts val="800"/>
                  </a:spcAft>
                </a:pPr>
                <a:r>
                  <a:rPr lang="en-US" sz="1600" b="1" kern="100" dirty="0">
                    <a:effectLst/>
                    <a:latin typeface="Times New Roman" panose="02020603050405020304" pitchFamily="18" charset="0"/>
                    <a:ea typeface="Calibri" panose="020F0502020204030204" pitchFamily="34" charset="0"/>
                    <a:cs typeface="Times New Roman" panose="02020603050405020304" pitchFamily="18" charset="0"/>
                  </a:rPr>
                  <a:t>Step 1:</a:t>
                </a: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 Calculate the total frequency N</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           N = 50</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1600" b="1" kern="100" dirty="0">
                    <a:effectLst/>
                    <a:latin typeface="Times New Roman" panose="02020603050405020304" pitchFamily="18" charset="0"/>
                    <a:ea typeface="Calibri" panose="020F0502020204030204" pitchFamily="34" charset="0"/>
                    <a:cs typeface="Times New Roman" panose="02020603050405020304" pitchFamily="18" charset="0"/>
                  </a:rPr>
                  <a:t>Step 2:</a:t>
                </a: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 Find  </a:t>
                </a:r>
                <a14:m>
                  <m:oMath xmlns:m="http://schemas.openxmlformats.org/officeDocument/2006/math">
                    <m:f>
                      <m:fPr>
                        <m:ctrlPr>
                          <a:rPr lang="en-IN" sz="1600"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600"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𝑁</m:t>
                        </m:r>
                      </m:num>
                      <m:den>
                        <m:r>
                          <a:rPr lang="en-US" sz="1600"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den>
                    </m:f>
                  </m:oMath>
                </a14:m>
                <a:r>
                  <a:rPr lang="en-US" sz="1600"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f>
                      <m:fPr>
                        <m:ctrlPr>
                          <a:rPr lang="en-IN" sz="1600"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600"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𝑁</m:t>
                        </m:r>
                      </m:num>
                      <m:den>
                        <m:r>
                          <a:rPr lang="en-US" sz="1600"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den>
                    </m:f>
                    <m:r>
                      <a:rPr lang="en-US" sz="1600"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 </m:t>
                    </m:r>
                    <m:f>
                      <m:fPr>
                        <m:ctrlPr>
                          <a:rPr lang="en-IN" sz="1600"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600"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50</m:t>
                        </m:r>
                      </m:num>
                      <m:den>
                        <m:r>
                          <a:rPr lang="en-US" sz="1600"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den>
                    </m:f>
                  </m:oMath>
                </a14:m>
                <a:r>
                  <a:rPr lang="en-US" sz="1600"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25</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So, the cumulative frequency just before or at 25 will help us find the </a:t>
                </a:r>
                <a:r>
                  <a:rPr lang="en-US" sz="1600" b="1" kern="100" dirty="0">
                    <a:effectLst/>
                    <a:latin typeface="Times New Roman" panose="02020603050405020304" pitchFamily="18" charset="0"/>
                    <a:ea typeface="Calibri" panose="020F0502020204030204" pitchFamily="34" charset="0"/>
                    <a:cs typeface="Times New Roman" panose="02020603050405020304" pitchFamily="18" charset="0"/>
                  </a:rPr>
                  <a:t>median class</a:t>
                </a: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Now from the cumulative frequency (CF) column, we see that  </a:t>
                </a:r>
                <a14:m>
                  <m:oMath xmlns:m="http://schemas.openxmlformats.org/officeDocument/2006/math">
                    <m:f>
                      <m:fPr>
                        <m:ctrlPr>
                          <a:rPr lang="en-IN" sz="1600"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600"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𝑁</m:t>
                        </m:r>
                      </m:num>
                      <m:den>
                        <m:r>
                          <a:rPr lang="en-US" sz="1600"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den>
                    </m:f>
                  </m:oMath>
                </a14:m>
                <a:r>
                  <a:rPr lang="en-US" sz="1600"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 25 falls in the class 20 - 30 (since CF for this class is 25). Therefore, 20 - 30 is the </a:t>
                </a:r>
                <a:r>
                  <a:rPr lang="en-US" sz="1600" b="1" kern="100" dirty="0">
                    <a:effectLst/>
                    <a:latin typeface="Times New Roman" panose="02020603050405020304" pitchFamily="18" charset="0"/>
                    <a:ea typeface="Calibri" panose="020F0502020204030204" pitchFamily="34" charset="0"/>
                    <a:cs typeface="Times New Roman" panose="02020603050405020304" pitchFamily="18" charset="0"/>
                  </a:rPr>
                  <a:t>median class</a:t>
                </a: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mc:Choice>
        <mc:Fallback xmlns="">
          <p:sp>
            <p:nvSpPr>
              <p:cNvPr id="8" name="TextBox 7">
                <a:extLst>
                  <a:ext uri="{FF2B5EF4-FFF2-40B4-BE49-F238E27FC236}">
                    <a16:creationId xmlns:a16="http://schemas.microsoft.com/office/drawing/2014/main" id="{EE2D4984-C5AD-68AB-F89B-AAAC730D066C}"/>
                  </a:ext>
                </a:extLst>
              </p:cNvPr>
              <p:cNvSpPr txBox="1">
                <a:spLocks noRot="1" noChangeAspect="1" noMove="1" noResize="1" noEditPoints="1" noAdjustHandles="1" noChangeArrowheads="1" noChangeShapeType="1" noTextEdit="1"/>
              </p:cNvSpPr>
              <p:nvPr/>
            </p:nvSpPr>
            <p:spPr>
              <a:xfrm>
                <a:off x="546653" y="2186609"/>
                <a:ext cx="8110330" cy="2763064"/>
              </a:xfrm>
              <a:prstGeom prst="rect">
                <a:avLst/>
              </a:prstGeom>
              <a:blipFill>
                <a:blip r:embed="rId3"/>
                <a:stretch>
                  <a:fillRect l="-451" t="-662" b="-1987"/>
                </a:stretch>
              </a:blipFill>
            </p:spPr>
            <p:txBody>
              <a:bodyPr/>
              <a:lstStyle/>
              <a:p>
                <a:r>
                  <a:rPr lang="en-IN">
                    <a:noFill/>
                  </a:rPr>
                  <a:t> </a:t>
                </a:r>
              </a:p>
            </p:txBody>
          </p:sp>
        </mc:Fallback>
      </mc:AlternateContent>
      <p:sp>
        <p:nvSpPr>
          <p:cNvPr id="13" name="TextBox 12">
            <a:extLst>
              <a:ext uri="{FF2B5EF4-FFF2-40B4-BE49-F238E27FC236}">
                <a16:creationId xmlns:a16="http://schemas.microsoft.com/office/drawing/2014/main" id="{6264AAB8-F397-9DD6-B724-B722FECA0997}"/>
              </a:ext>
            </a:extLst>
          </p:cNvPr>
          <p:cNvSpPr txBox="1"/>
          <p:nvPr/>
        </p:nvSpPr>
        <p:spPr>
          <a:xfrm>
            <a:off x="546653" y="149088"/>
            <a:ext cx="1570382"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Example</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06164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1817729-A683-983A-9770-1AB804630457}"/>
                  </a:ext>
                </a:extLst>
              </p:cNvPr>
              <p:cNvSpPr txBox="1"/>
              <p:nvPr/>
            </p:nvSpPr>
            <p:spPr>
              <a:xfrm>
                <a:off x="308113" y="447260"/>
                <a:ext cx="8676861" cy="4878708"/>
              </a:xfrm>
              <a:prstGeom prst="rect">
                <a:avLst/>
              </a:prstGeom>
              <a:noFill/>
            </p:spPr>
            <p:txBody>
              <a:bodyPr wrap="square">
                <a:spAutoFit/>
              </a:bodyPr>
              <a:lstStyle/>
              <a:p>
                <a:pPr marL="360000">
                  <a:lnSpc>
                    <a:spcPct val="107000"/>
                  </a:lnSpc>
                  <a:spcAft>
                    <a:spcPts val="800"/>
                  </a:spcAft>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Step 3:</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Use the median formula:</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60000">
                  <a:lnSpc>
                    <a:spcPct val="107000"/>
                  </a:lnSpc>
                  <a:spcAft>
                    <a:spcPts val="800"/>
                  </a:spcAft>
                  <a:tabLst>
                    <a:tab pos="107442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Median =  </a:t>
                </a:r>
                <a14:m>
                  <m:oMath xmlns:m="http://schemas.openxmlformats.org/officeDocument/2006/math">
                    <m:r>
                      <a:rPr lang="en-US" sz="1800" b="1" i="1" kern="100">
                        <a:effectLst/>
                        <a:latin typeface="Cambria Math" panose="02040503050406030204" pitchFamily="18" charset="0"/>
                        <a:ea typeface="Calibri" panose="020F0502020204030204" pitchFamily="34" charset="0"/>
                        <a:cs typeface="Times New Roman" panose="02020603050405020304" pitchFamily="18" charset="0"/>
                      </a:rPr>
                      <m:t>𝑳</m:t>
                    </m:r>
                    <m:r>
                      <a:rPr lang="en-US" sz="1800" b="1" i="1" kern="100">
                        <a:effectLst/>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IN" sz="1800" b="1" i="1" kern="100">
                            <a:effectLst/>
                            <a:latin typeface="Cambria Math" panose="02040503050406030204" pitchFamily="18" charset="0"/>
                            <a:ea typeface="Calibri" panose="020F0502020204030204" pitchFamily="34" charset="0"/>
                            <a:cs typeface="Times New Roman" panose="02020603050405020304" pitchFamily="18" charset="0"/>
                          </a:rPr>
                        </m:ctrlPr>
                      </m:dPr>
                      <m:e>
                        <m:f>
                          <m:fPr>
                            <m:ctrlPr>
                              <a:rPr lang="en-IN" sz="1800" b="1" i="1" kern="100">
                                <a:effectLst/>
                                <a:latin typeface="Cambria Math" panose="02040503050406030204" pitchFamily="18" charset="0"/>
                                <a:ea typeface="Calibri" panose="020F0502020204030204" pitchFamily="34" charset="0"/>
                                <a:cs typeface="Times New Roman" panose="02020603050405020304" pitchFamily="18" charset="0"/>
                              </a:rPr>
                            </m:ctrlPr>
                          </m:fPr>
                          <m:num>
                            <m:f>
                              <m:fPr>
                                <m:ctrlPr>
                                  <a:rPr lang="en-IN" sz="1800" b="1" i="1" kern="100">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b="1" i="1" kern="100">
                                    <a:effectLst/>
                                    <a:latin typeface="Cambria Math" panose="02040503050406030204" pitchFamily="18" charset="0"/>
                                    <a:ea typeface="Calibri" panose="020F0502020204030204" pitchFamily="34" charset="0"/>
                                    <a:cs typeface="Times New Roman" panose="02020603050405020304" pitchFamily="18" charset="0"/>
                                  </a:rPr>
                                  <m:t>𝑵</m:t>
                                </m:r>
                              </m:num>
                              <m:den>
                                <m:r>
                                  <a:rPr lang="en-US" sz="1800" b="1" i="1" kern="100">
                                    <a:effectLst/>
                                    <a:latin typeface="Cambria Math" panose="02040503050406030204" pitchFamily="18" charset="0"/>
                                    <a:ea typeface="Calibri" panose="020F0502020204030204" pitchFamily="34" charset="0"/>
                                    <a:cs typeface="Times New Roman" panose="02020603050405020304" pitchFamily="18" charset="0"/>
                                  </a:rPr>
                                  <m:t>𝟐</m:t>
                                </m:r>
                              </m:den>
                            </m:f>
                            <m:r>
                              <a:rPr lang="en-US" sz="1800" b="1" i="1" kern="100">
                                <a:effectLst/>
                                <a:latin typeface="Cambria Math" panose="02040503050406030204" pitchFamily="18" charset="0"/>
                                <a:ea typeface="Calibri" panose="020F0502020204030204" pitchFamily="34" charset="0"/>
                                <a:cs typeface="Times New Roman" panose="02020603050405020304" pitchFamily="18" charset="0"/>
                              </a:rPr>
                              <m:t> − </m:t>
                            </m:r>
                            <m:r>
                              <a:rPr lang="en-US" sz="1800" b="1" i="1" kern="100">
                                <a:effectLst/>
                                <a:latin typeface="Cambria Math" panose="02040503050406030204" pitchFamily="18" charset="0"/>
                                <a:ea typeface="Calibri" panose="020F0502020204030204" pitchFamily="34" charset="0"/>
                                <a:cs typeface="Times New Roman" panose="02020603050405020304" pitchFamily="18" charset="0"/>
                              </a:rPr>
                              <m:t>𝒄</m:t>
                            </m:r>
                            <m:r>
                              <a:rPr lang="en-US" sz="1800" b="1" i="1" kern="100">
                                <a:effectLst/>
                                <a:latin typeface="Cambria Math" panose="02040503050406030204" pitchFamily="18" charset="0"/>
                                <a:ea typeface="Calibri" panose="020F0502020204030204" pitchFamily="34" charset="0"/>
                                <a:cs typeface="Times New Roman" panose="02020603050405020304" pitchFamily="18" charset="0"/>
                              </a:rPr>
                              <m:t>.</m:t>
                            </m:r>
                            <m:r>
                              <a:rPr lang="en-US" sz="1800" b="1" i="1" kern="100">
                                <a:effectLst/>
                                <a:latin typeface="Cambria Math" panose="02040503050406030204" pitchFamily="18" charset="0"/>
                                <a:ea typeface="Calibri" panose="020F0502020204030204" pitchFamily="34" charset="0"/>
                                <a:cs typeface="Times New Roman" panose="02020603050405020304" pitchFamily="18" charset="0"/>
                              </a:rPr>
                              <m:t>𝒇</m:t>
                            </m:r>
                          </m:num>
                          <m:den>
                            <m:r>
                              <a:rPr lang="en-US" sz="1800" b="1" i="1" kern="100">
                                <a:effectLst/>
                                <a:latin typeface="Cambria Math" panose="02040503050406030204" pitchFamily="18" charset="0"/>
                                <a:ea typeface="Calibri" panose="020F0502020204030204" pitchFamily="34" charset="0"/>
                                <a:cs typeface="Times New Roman" panose="02020603050405020304" pitchFamily="18" charset="0"/>
                              </a:rPr>
                              <m:t>𝒇</m:t>
                            </m:r>
                          </m:den>
                        </m:f>
                      </m:e>
                    </m:d>
                  </m:oMath>
                </a14:m>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*h</a:t>
                </a:r>
                <a:r>
                  <a:rPr lang="en-US" sz="1800" b="1" kern="100" dirty="0">
                    <a:latin typeface="Times New Roman" panose="02020603050405020304" pitchFamily="18" charset="0"/>
                    <a:ea typeface="Calibri" panose="020F0502020204030204" pitchFamily="34" charset="0"/>
                    <a:cs typeface="Times New Roman" panose="02020603050405020304" pitchFamily="18" charset="0"/>
                  </a:rPr>
                  <a:t>            </a:t>
                </a:r>
              </a:p>
              <a:p>
                <a:pPr marL="360000">
                  <a:lnSpc>
                    <a:spcPct val="107000"/>
                  </a:lnSpc>
                  <a:spcAft>
                    <a:spcPts val="800"/>
                  </a:spcAft>
                  <a:tabLst>
                    <a:tab pos="107442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Where: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60000" lvl="0" indent="-342900">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L =20 (lower boundary of the median class)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60000" lvl="0" indent="-342900">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N=50 (total frequency)</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60000" lvl="0" indent="-342900">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f=13 (cumulative frequency of the class before the median class)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60000" lvl="0" indent="-342900">
                  <a:spcAft>
                    <a:spcPts val="800"/>
                  </a:spcAft>
                  <a:buSzPts val="1000"/>
                  <a:buFont typeface="Symbol" panose="05050102010706020507" pitchFamily="18" charset="2"/>
                  <a:buChar char=""/>
                  <a:tabLst>
                    <a:tab pos="457200" algn="l"/>
                  </a:tabLst>
                </a:pPr>
                <a14:m>
                  <m:oMath xmlns:m="http://schemas.openxmlformats.org/officeDocument/2006/math">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𝑐</m:t>
                    </m:r>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m:t>
                    </m:r>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𝑓</m:t>
                    </m:r>
                  </m:oMath>
                </a14:m>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​=12 (frequency of the median class)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60000" lvl="0" indent="-342900">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h= 10 (class width)</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60000">
                  <a:lnSpc>
                    <a:spcPct val="107000"/>
                  </a:lnSpc>
                  <a:spcAft>
                    <a:spcPts val="800"/>
                  </a:spcAft>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Step 4:</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Apply the formula.</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60000">
                  <a:lnSpc>
                    <a:spcPct val="107000"/>
                  </a:lnSpc>
                  <a:spcAft>
                    <a:spcPts val="800"/>
                  </a:spcAft>
                  <a:tabLst>
                    <a:tab pos="107442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Median = </a:t>
                </a:r>
                <a14:m>
                  <m:oMath xmlns:m="http://schemas.openxmlformats.org/officeDocument/2006/math">
                    <m:r>
                      <a:rPr lang="en-US" sz="1800" b="1" i="1" kern="100">
                        <a:effectLst/>
                        <a:latin typeface="Cambria Math" panose="02040503050406030204" pitchFamily="18" charset="0"/>
                        <a:ea typeface="Calibri" panose="020F0502020204030204" pitchFamily="34" charset="0"/>
                        <a:cs typeface="Times New Roman" panose="02020603050405020304" pitchFamily="18" charset="0"/>
                      </a:rPr>
                      <m:t>𝟐𝟎</m:t>
                    </m:r>
                    <m:r>
                      <a:rPr lang="en-US" sz="1800" b="1" i="1" kern="100">
                        <a:effectLst/>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IN" sz="1800" b="1" i="1" kern="100">
                            <a:effectLst/>
                            <a:latin typeface="Cambria Math" panose="02040503050406030204" pitchFamily="18" charset="0"/>
                            <a:ea typeface="Calibri" panose="020F0502020204030204" pitchFamily="34" charset="0"/>
                            <a:cs typeface="Times New Roman" panose="02020603050405020304" pitchFamily="18" charset="0"/>
                          </a:rPr>
                        </m:ctrlPr>
                      </m:dPr>
                      <m:e>
                        <m:f>
                          <m:fPr>
                            <m:ctrlPr>
                              <a:rPr lang="en-IN" sz="1800" b="1" i="1" kern="100">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b="1" i="1" kern="100">
                                <a:effectLst/>
                                <a:latin typeface="Cambria Math" panose="02040503050406030204" pitchFamily="18" charset="0"/>
                                <a:ea typeface="Calibri" panose="020F0502020204030204" pitchFamily="34" charset="0"/>
                                <a:cs typeface="Times New Roman" panose="02020603050405020304" pitchFamily="18" charset="0"/>
                              </a:rPr>
                              <m:t>𝟐𝟓</m:t>
                            </m:r>
                            <m:r>
                              <a:rPr lang="en-US" sz="1800" b="1" i="1" kern="100">
                                <a:effectLst/>
                                <a:latin typeface="Cambria Math" panose="02040503050406030204" pitchFamily="18" charset="0"/>
                                <a:ea typeface="Calibri" panose="020F0502020204030204" pitchFamily="34" charset="0"/>
                                <a:cs typeface="Times New Roman" panose="02020603050405020304" pitchFamily="18" charset="0"/>
                              </a:rPr>
                              <m:t> − </m:t>
                            </m:r>
                            <m:r>
                              <a:rPr lang="en-US" sz="1800" b="1" i="1" kern="100">
                                <a:effectLst/>
                                <a:latin typeface="Cambria Math" panose="02040503050406030204" pitchFamily="18" charset="0"/>
                                <a:ea typeface="Calibri" panose="020F0502020204030204" pitchFamily="34" charset="0"/>
                                <a:cs typeface="Times New Roman" panose="02020603050405020304" pitchFamily="18" charset="0"/>
                              </a:rPr>
                              <m:t>𝟏𝟐</m:t>
                            </m:r>
                          </m:num>
                          <m:den>
                            <m:r>
                              <a:rPr lang="en-US" sz="1800" b="1" i="1" kern="100">
                                <a:effectLst/>
                                <a:latin typeface="Cambria Math" panose="02040503050406030204" pitchFamily="18" charset="0"/>
                                <a:ea typeface="Calibri" panose="020F0502020204030204" pitchFamily="34" charset="0"/>
                                <a:cs typeface="Times New Roman" panose="02020603050405020304" pitchFamily="18" charset="0"/>
                              </a:rPr>
                              <m:t>𝟏𝟑</m:t>
                            </m:r>
                          </m:den>
                        </m:f>
                      </m:e>
                    </m:d>
                  </m:oMath>
                </a14:m>
                <a:r>
                  <a:rPr lang="en-US" sz="1800" b="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10</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60000">
                  <a:lnSpc>
                    <a:spcPct val="107000"/>
                  </a:lnSpc>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Thus, the median is </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30</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 name="TextBox 2">
                <a:extLst>
                  <a:ext uri="{FF2B5EF4-FFF2-40B4-BE49-F238E27FC236}">
                    <a16:creationId xmlns:a16="http://schemas.microsoft.com/office/drawing/2014/main" id="{41817729-A683-983A-9770-1AB804630457}"/>
                  </a:ext>
                </a:extLst>
              </p:cNvPr>
              <p:cNvSpPr txBox="1">
                <a:spLocks noRot="1" noChangeAspect="1" noMove="1" noResize="1" noEditPoints="1" noAdjustHandles="1" noChangeArrowheads="1" noChangeShapeType="1" noTextEdit="1"/>
              </p:cNvSpPr>
              <p:nvPr/>
            </p:nvSpPr>
            <p:spPr>
              <a:xfrm>
                <a:off x="308113" y="447260"/>
                <a:ext cx="8676861" cy="4878708"/>
              </a:xfrm>
              <a:prstGeom prst="rect">
                <a:avLst/>
              </a:prstGeom>
              <a:blipFill>
                <a:blip r:embed="rId2"/>
                <a:stretch>
                  <a:fillRect t="-624"/>
                </a:stretch>
              </a:blipFill>
            </p:spPr>
            <p:txBody>
              <a:bodyPr/>
              <a:lstStyle/>
              <a:p>
                <a:r>
                  <a:rPr lang="en-IN">
                    <a:noFill/>
                  </a:rPr>
                  <a:t> </a:t>
                </a:r>
              </a:p>
            </p:txBody>
          </p:sp>
        </mc:Fallback>
      </mc:AlternateContent>
    </p:spTree>
    <p:extLst>
      <p:ext uri="{BB962C8B-B14F-4D97-AF65-F5344CB8AC3E}">
        <p14:creationId xmlns:p14="http://schemas.microsoft.com/office/powerpoint/2010/main" val="29263786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5419F799-F074-A8A8-4D1E-4450D747B259}"/>
                  </a:ext>
                </a:extLst>
              </p:cNvPr>
              <p:cNvSpPr>
                <a:spLocks noGrp="1"/>
              </p:cNvSpPr>
              <p:nvPr>
                <p:ph type="body" idx="4294967295"/>
              </p:nvPr>
            </p:nvSpPr>
            <p:spPr>
              <a:xfrm>
                <a:off x="0" y="129209"/>
                <a:ext cx="8521700" cy="4439616"/>
              </a:xfrm>
            </p:spPr>
            <p:txBody>
              <a:bodyPr>
                <a:normAutofit fontScale="70000" lnSpcReduction="20000"/>
              </a:bodyPr>
              <a:lstStyle/>
              <a:p>
                <a:pPr marL="360000" indent="0">
                  <a:buNone/>
                </a:pPr>
                <a:r>
                  <a:rPr lang="en-US" sz="2600" b="1" dirty="0">
                    <a:solidFill>
                      <a:srgbClr val="FF0000"/>
                    </a:solidFill>
                    <a:latin typeface="Times New Roman" panose="02020603050405020304" pitchFamily="18" charset="0"/>
                    <a:cs typeface="Times New Roman" panose="02020603050405020304" pitchFamily="18" charset="0"/>
                  </a:rPr>
                  <a:t>Mode</a:t>
                </a:r>
                <a:r>
                  <a:rPr lang="en-US" dirty="0">
                    <a:solidFill>
                      <a:srgbClr val="FF0000"/>
                    </a:solidFill>
                    <a:latin typeface="Times New Roman" panose="02020603050405020304" pitchFamily="18" charset="0"/>
                    <a:cs typeface="Times New Roman" panose="02020603050405020304" pitchFamily="18" charset="0"/>
                  </a:rPr>
                  <a:t> : </a:t>
                </a:r>
                <a:r>
                  <a:rPr lang="en-US" dirty="0">
                    <a:solidFill>
                      <a:schemeClr val="tx1"/>
                    </a:solidFill>
                    <a:latin typeface="Times New Roman" panose="02020603050405020304" pitchFamily="18" charset="0"/>
                    <a:cs typeface="Times New Roman" panose="02020603050405020304" pitchFamily="18" charset="0"/>
                  </a:rPr>
                  <a:t>Value that occurs the most frequently in data set.</a:t>
                </a:r>
              </a:p>
              <a:p>
                <a:pPr marL="360000" indent="0">
                  <a:buNone/>
                </a:pPr>
                <a:r>
                  <a:rPr lang="en-US" dirty="0">
                    <a:solidFill>
                      <a:schemeClr val="tx1"/>
                    </a:solidFill>
                    <a:latin typeface="Times New Roman" panose="02020603050405020304" pitchFamily="18" charset="0"/>
                    <a:cs typeface="Times New Roman" panose="02020603050405020304" pitchFamily="18" charset="0"/>
                  </a:rPr>
                  <a:t>For ungrouped data :</a:t>
                </a:r>
              </a:p>
              <a:p>
                <a:pPr marL="360000" indent="0">
                  <a:buNone/>
                </a:pPr>
                <a:r>
                  <a:rPr lang="en-US" dirty="0">
                    <a:solidFill>
                      <a:schemeClr val="tx1"/>
                    </a:solidFill>
                    <a:latin typeface="Times New Roman" panose="02020603050405020304" pitchFamily="18" charset="0"/>
                    <a:cs typeface="Times New Roman" panose="02020603050405020304" pitchFamily="18" charset="0"/>
                  </a:rPr>
                  <a:t>                   Mode = number that occurs the highest number of times</a:t>
                </a:r>
              </a:p>
              <a:p>
                <a:pPr marL="360000" indent="0">
                  <a:buNone/>
                </a:pPr>
                <a:r>
                  <a:rPr lang="en-US" dirty="0">
                    <a:solidFill>
                      <a:schemeClr val="tx1"/>
                    </a:solidFill>
                    <a:latin typeface="Times New Roman" panose="02020603050405020304" pitchFamily="18" charset="0"/>
                    <a:cs typeface="Times New Roman" panose="02020603050405020304" pitchFamily="18" charset="0"/>
                  </a:rPr>
                  <a:t>For grouped data : </a:t>
                </a:r>
              </a:p>
              <a:p>
                <a:pPr marL="360000" indent="0">
                  <a:buNone/>
                </a:pPr>
                <a:r>
                  <a:rPr lang="en-US" dirty="0">
                    <a:solidFill>
                      <a:schemeClr val="tx1"/>
                    </a:solidFill>
                    <a:latin typeface="Times New Roman" panose="02020603050405020304" pitchFamily="18" charset="0"/>
                    <a:cs typeface="Times New Roman" panose="02020603050405020304" pitchFamily="18" charset="0"/>
                  </a:rPr>
                  <a:t>Step 1: Find the modal class. Modal class is the class with maximum  </a:t>
                </a:r>
              </a:p>
              <a:p>
                <a:pPr marL="360000" indent="0">
                  <a:buNone/>
                </a:pPr>
                <a:r>
                  <a:rPr lang="en-US" dirty="0">
                    <a:solidFill>
                      <a:schemeClr val="tx1"/>
                    </a:solidFill>
                    <a:latin typeface="Times New Roman" panose="02020603050405020304" pitchFamily="18" charset="0"/>
                    <a:cs typeface="Times New Roman" panose="02020603050405020304" pitchFamily="18" charset="0"/>
                  </a:rPr>
                  <a:t>             frequency.</a:t>
                </a:r>
              </a:p>
              <a:p>
                <a:pPr marL="360000" indent="0">
                  <a:buNone/>
                </a:pPr>
                <a:r>
                  <a:rPr lang="en-US" dirty="0">
                    <a:solidFill>
                      <a:schemeClr val="tx1"/>
                    </a:solidFill>
                    <a:latin typeface="Times New Roman" panose="02020603050405020304" pitchFamily="18" charset="0"/>
                    <a:cs typeface="Times New Roman" panose="02020603050405020304" pitchFamily="18" charset="0"/>
                  </a:rPr>
                  <a:t>                   Mode = </a:t>
                </a:r>
                <a14:m>
                  <m:oMath xmlns:m="http://schemas.openxmlformats.org/officeDocument/2006/math">
                    <m:r>
                      <a:rPr lang="en-US" b="0" i="1" smtClean="0">
                        <a:solidFill>
                          <a:schemeClr val="tx1"/>
                        </a:solidFill>
                        <a:latin typeface="Cambria Math" panose="02040503050406030204" pitchFamily="18" charset="0"/>
                      </a:rPr>
                      <m:t>𝐿</m:t>
                    </m:r>
                    <m:r>
                      <a:rPr lang="en-US" b="0" i="1" smtClean="0">
                        <a:solidFill>
                          <a:schemeClr val="tx1"/>
                        </a:solidFill>
                        <a:latin typeface="Cambria Math" panose="02040503050406030204" pitchFamily="18" charset="0"/>
                      </a:rPr>
                      <m:t>+</m:t>
                    </m:r>
                    <m:d>
                      <m:dPr>
                        <m:begChr m:val="["/>
                        <m:endChr m:val="]"/>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𝑓</m:t>
                                </m:r>
                              </m:e>
                              <m:sub>
                                <m:r>
                                  <a:rPr lang="en-US" b="0" i="1" smtClean="0">
                                    <a:solidFill>
                                      <a:schemeClr val="tx1"/>
                                    </a:solidFill>
                                    <a:latin typeface="Cambria Math" panose="02040503050406030204" pitchFamily="18" charset="0"/>
                                  </a:rPr>
                                  <m:t>𝑚</m:t>
                                </m:r>
                              </m:sub>
                            </m:sSub>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𝑓</m:t>
                                </m:r>
                              </m:e>
                              <m:sub>
                                <m:r>
                                  <a:rPr lang="en-IN" b="0" i="1" smtClean="0">
                                    <a:solidFill>
                                      <a:schemeClr val="tx1"/>
                                    </a:solidFill>
                                    <a:latin typeface="Cambria Math" panose="02040503050406030204" pitchFamily="18" charset="0"/>
                                  </a:rPr>
                                  <m:t>1</m:t>
                                </m:r>
                              </m:sub>
                            </m:sSub>
                          </m:num>
                          <m:den>
                            <m:r>
                              <a:rPr lang="en-US" b="0" i="1" smtClean="0">
                                <a:solidFill>
                                  <a:schemeClr val="tx1"/>
                                </a:solidFill>
                                <a:latin typeface="Cambria Math" panose="02040503050406030204" pitchFamily="18" charset="0"/>
                              </a:rPr>
                              <m:t>2</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𝑓</m:t>
                                </m:r>
                              </m:e>
                              <m:sub>
                                <m:r>
                                  <a:rPr lang="en-US" b="0" i="1" smtClean="0">
                                    <a:solidFill>
                                      <a:schemeClr val="tx1"/>
                                    </a:solidFill>
                                    <a:latin typeface="Cambria Math" panose="02040503050406030204" pitchFamily="18" charset="0"/>
                                  </a:rPr>
                                  <m:t>𝑚</m:t>
                                </m:r>
                              </m:sub>
                            </m:sSub>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𝑓</m:t>
                                </m:r>
                              </m:e>
                              <m:sub>
                                <m:r>
                                  <a:rPr lang="en-US" b="0" i="1" smtClean="0">
                                    <a:solidFill>
                                      <a:schemeClr val="tx1"/>
                                    </a:solidFill>
                                    <a:latin typeface="Cambria Math" panose="02040503050406030204" pitchFamily="18" charset="0"/>
                                  </a:rPr>
                                  <m:t>1</m:t>
                                </m:r>
                              </m:sub>
                            </m:sSub>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𝑓</m:t>
                                </m:r>
                              </m:e>
                              <m:sub>
                                <m:r>
                                  <a:rPr lang="en-US" b="0" i="1" smtClean="0">
                                    <a:solidFill>
                                      <a:schemeClr val="tx1"/>
                                    </a:solidFill>
                                    <a:latin typeface="Cambria Math" panose="02040503050406030204" pitchFamily="18" charset="0"/>
                                  </a:rPr>
                                  <m:t>2</m:t>
                                </m:r>
                              </m:sub>
                            </m:sSub>
                          </m:den>
                        </m:f>
                      </m:e>
                    </m:d>
                  </m:oMath>
                </a14:m>
                <a:r>
                  <a:rPr lang="en-US" dirty="0">
                    <a:solidFill>
                      <a:schemeClr val="tx1"/>
                    </a:solidFill>
                    <a:latin typeface="Times New Roman" panose="02020603050405020304" pitchFamily="18" charset="0"/>
                    <a:cs typeface="Times New Roman" panose="02020603050405020304" pitchFamily="18" charset="0"/>
                  </a:rPr>
                  <a:t>*h</a:t>
                </a:r>
              </a:p>
              <a:p>
                <a:pPr marL="360000" indent="0">
                  <a:buNone/>
                </a:pPr>
                <a:r>
                  <a:rPr lang="en-US" dirty="0">
                    <a:solidFill>
                      <a:schemeClr val="tx1"/>
                    </a:solidFill>
                    <a:latin typeface="Times New Roman" panose="02020603050405020304" pitchFamily="18" charset="0"/>
                    <a:cs typeface="Times New Roman" panose="02020603050405020304" pitchFamily="18" charset="0"/>
                  </a:rPr>
                  <a:t>Where,  L = lower limit of the modal class</a:t>
                </a:r>
              </a:p>
              <a:p>
                <a:pPr marL="360000" indent="0">
                  <a:buNone/>
                </a:pPr>
                <a:r>
                  <a:rPr lang="en-US" dirty="0">
                    <a:solidFill>
                      <a:schemeClr val="tx1"/>
                    </a:solidFill>
                    <a:latin typeface="Times New Roman" panose="02020603050405020304" pitchFamily="18" charset="0"/>
                    <a:cs typeface="Times New Roman" panose="02020603050405020304" pitchFamily="18" charset="0"/>
                  </a:rPr>
                  <a:t>              h = class width</a:t>
                </a:r>
              </a:p>
              <a:p>
                <a:pPr marL="360000" indent="0">
                  <a:buNone/>
                </a:pPr>
                <a:r>
                  <a:rPr lang="en-US"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𝑓</m:t>
                        </m:r>
                      </m:e>
                      <m:sub>
                        <m:r>
                          <a:rPr lang="en-US" b="0" i="1" smtClean="0">
                            <a:solidFill>
                              <a:schemeClr val="tx1"/>
                            </a:solidFill>
                            <a:latin typeface="Cambria Math" panose="02040503050406030204" pitchFamily="18" charset="0"/>
                          </a:rPr>
                          <m:t>𝑚</m:t>
                        </m:r>
                      </m:sub>
                    </m:sSub>
                  </m:oMath>
                </a14:m>
                <a:r>
                  <a:rPr lang="en-US" dirty="0">
                    <a:solidFill>
                      <a:schemeClr val="tx1"/>
                    </a:solidFill>
                    <a:latin typeface="Times New Roman" panose="02020603050405020304" pitchFamily="18" charset="0"/>
                    <a:cs typeface="Times New Roman" panose="02020603050405020304" pitchFamily="18" charset="0"/>
                  </a:rPr>
                  <a:t> = frequency of the modal class</a:t>
                </a:r>
              </a:p>
              <a:p>
                <a:pPr marL="360000" indent="0">
                  <a:buNone/>
                </a:pPr>
                <a:r>
                  <a:rPr lang="en-US"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𝑓</m:t>
                        </m:r>
                      </m:e>
                      <m:sub>
                        <m:r>
                          <a:rPr lang="en-US" b="0" i="1" smtClean="0">
                            <a:solidFill>
                              <a:schemeClr val="tx1"/>
                            </a:solidFill>
                            <a:latin typeface="Cambria Math" panose="02040503050406030204" pitchFamily="18" charset="0"/>
                          </a:rPr>
                          <m:t>2</m:t>
                        </m:r>
                      </m:sub>
                    </m:sSub>
                  </m:oMath>
                </a14:m>
                <a:r>
                  <a:rPr lang="en-US" dirty="0">
                    <a:solidFill>
                      <a:schemeClr val="tx1"/>
                    </a:solidFill>
                    <a:latin typeface="Times New Roman" panose="02020603050405020304" pitchFamily="18" charset="0"/>
                    <a:cs typeface="Times New Roman" panose="02020603050405020304" pitchFamily="18" charset="0"/>
                  </a:rPr>
                  <a:t> = frequency of the class succeeding the modal class</a:t>
                </a:r>
              </a:p>
              <a:p>
                <a:pPr marL="360000" indent="0">
                  <a:buNone/>
                </a:pPr>
                <a:r>
                  <a:rPr lang="en-US"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𝑓</m:t>
                        </m:r>
                      </m:e>
                      <m:sub>
                        <m:r>
                          <a:rPr lang="en-US" b="0" i="1" smtClean="0">
                            <a:solidFill>
                              <a:schemeClr val="tx1"/>
                            </a:solidFill>
                            <a:latin typeface="Cambria Math" panose="02040503050406030204" pitchFamily="18" charset="0"/>
                          </a:rPr>
                          <m:t>1</m:t>
                        </m:r>
                      </m:sub>
                    </m:sSub>
                  </m:oMath>
                </a14:m>
                <a:r>
                  <a:rPr lang="en-US" dirty="0">
                    <a:solidFill>
                      <a:schemeClr val="tx1"/>
                    </a:solidFill>
                    <a:latin typeface="Times New Roman" panose="02020603050405020304" pitchFamily="18" charset="0"/>
                    <a:cs typeface="Times New Roman" panose="02020603050405020304" pitchFamily="18" charset="0"/>
                  </a:rPr>
                  <a:t> = frequency of the class preceding the modal class</a:t>
                </a:r>
              </a:p>
              <a:p>
                <a:endParaRPr lang="en-IN" dirty="0"/>
              </a:p>
            </p:txBody>
          </p:sp>
        </mc:Choice>
        <mc:Fallback>
          <p:sp>
            <p:nvSpPr>
              <p:cNvPr id="3" name="Text Placeholder 2">
                <a:extLst>
                  <a:ext uri="{FF2B5EF4-FFF2-40B4-BE49-F238E27FC236}">
                    <a16:creationId xmlns:a16="http://schemas.microsoft.com/office/drawing/2014/main" id="{5419F799-F074-A8A8-4D1E-4450D747B259}"/>
                  </a:ext>
                </a:extLst>
              </p:cNvPr>
              <p:cNvSpPr>
                <a:spLocks noGrp="1" noRot="1" noChangeAspect="1" noMove="1" noResize="1" noEditPoints="1" noAdjustHandles="1" noChangeArrowheads="1" noChangeShapeType="1" noTextEdit="1"/>
              </p:cNvSpPr>
              <p:nvPr>
                <p:ph type="body" idx="4294967295"/>
              </p:nvPr>
            </p:nvSpPr>
            <p:spPr>
              <a:xfrm>
                <a:off x="0" y="129209"/>
                <a:ext cx="8521700" cy="4439616"/>
              </a:xfrm>
              <a:blipFill>
                <a:blip r:embed="rId2"/>
                <a:stretch>
                  <a:fillRect t="-2610"/>
                </a:stretch>
              </a:blipFill>
            </p:spPr>
            <p:txBody>
              <a:bodyPr/>
              <a:lstStyle/>
              <a:p>
                <a:r>
                  <a:rPr lang="en-IN">
                    <a:noFill/>
                  </a:rPr>
                  <a:t> </a:t>
                </a:r>
              </a:p>
            </p:txBody>
          </p:sp>
        </mc:Fallback>
      </mc:AlternateContent>
    </p:spTree>
    <p:extLst>
      <p:ext uri="{BB962C8B-B14F-4D97-AF65-F5344CB8AC3E}">
        <p14:creationId xmlns:p14="http://schemas.microsoft.com/office/powerpoint/2010/main" val="23044494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5D335D-9E4E-1FD5-3A65-C6C051B3DE62}"/>
              </a:ext>
            </a:extLst>
          </p:cNvPr>
          <p:cNvSpPr>
            <a:spLocks noGrp="1"/>
          </p:cNvSpPr>
          <p:nvPr>
            <p:ph type="title"/>
          </p:nvPr>
        </p:nvSpPr>
        <p:spPr>
          <a:xfrm>
            <a:off x="311700" y="89211"/>
            <a:ext cx="8520600" cy="609600"/>
          </a:xfrm>
        </p:spPr>
        <p:txBody>
          <a:bodyPr>
            <a:noAutofit/>
          </a:bodyPr>
          <a:lstStyle/>
          <a:p>
            <a:r>
              <a:rPr lang="en-US" sz="3200" b="1" dirty="0">
                <a:solidFill>
                  <a:srgbClr val="FF0000"/>
                </a:solidFill>
                <a:latin typeface="Times New Roman" panose="02020603050405020304" pitchFamily="18" charset="0"/>
                <a:cs typeface="Times New Roman" panose="02020603050405020304" pitchFamily="18" charset="0"/>
              </a:rPr>
              <a:t>Illustrative example for Ungrouped data </a:t>
            </a:r>
            <a:endParaRPr lang="en-IN" sz="3200" b="1" dirty="0">
              <a:solidFill>
                <a:srgbClr val="FF0000"/>
              </a:solidFill>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137F48AD-12E5-5685-8452-960DDAFF5587}"/>
              </a:ext>
            </a:extLst>
          </p:cNvPr>
          <p:cNvSpPr>
            <a:spLocks noGrp="1"/>
          </p:cNvSpPr>
          <p:nvPr>
            <p:ph type="body" idx="1"/>
          </p:nvPr>
        </p:nvSpPr>
        <p:spPr>
          <a:xfrm>
            <a:off x="311700" y="758282"/>
            <a:ext cx="8520600" cy="4757855"/>
          </a:xfrm>
        </p:spPr>
        <p:txBody>
          <a:bodyPr>
            <a:normAutofit fontScale="55000" lnSpcReduction="20000"/>
          </a:bodyPr>
          <a:lstStyle/>
          <a:p>
            <a:pPr marL="360000" indent="0">
              <a:lnSpc>
                <a:spcPct val="107000"/>
              </a:lnSpc>
              <a:spcAft>
                <a:spcPts val="800"/>
              </a:spcAft>
              <a:buNone/>
            </a:pPr>
            <a:r>
              <a:rPr lang="en-US" sz="3300" b="1" kern="100" dirty="0">
                <a:effectLst/>
                <a:latin typeface="Times New Roman" panose="02020603050405020304" pitchFamily="18" charset="0"/>
                <a:ea typeface="Calibri" panose="020F0502020204030204" pitchFamily="34" charset="0"/>
                <a:cs typeface="Times New Roman" panose="02020603050405020304" pitchFamily="18" charset="0"/>
              </a:rPr>
              <a:t>Example </a:t>
            </a:r>
            <a:endParaRPr lang="en-IN" sz="33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60000" indent="0">
              <a:lnSpc>
                <a:spcPct val="107000"/>
              </a:lnSpc>
              <a:spcAft>
                <a:spcPts val="800"/>
              </a:spcAft>
              <a:buNone/>
            </a:pPr>
            <a:r>
              <a:rPr lang="en-US" sz="3300" b="1" kern="100" dirty="0">
                <a:effectLst/>
                <a:latin typeface="Times New Roman" panose="02020603050405020304" pitchFamily="18" charset="0"/>
                <a:ea typeface="Calibri" panose="020F0502020204030204" pitchFamily="34" charset="0"/>
                <a:cs typeface="Times New Roman" panose="02020603050405020304" pitchFamily="18" charset="0"/>
              </a:rPr>
              <a:t>Data: 5, 8, 7, 8, 10, 8, 9, 7, 5</a:t>
            </a:r>
            <a:endParaRPr lang="en-IN" sz="33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60000" indent="0">
              <a:lnSpc>
                <a:spcPct val="107000"/>
              </a:lnSpc>
              <a:spcAft>
                <a:spcPts val="800"/>
              </a:spcAft>
              <a:buNone/>
            </a:pPr>
            <a:r>
              <a:rPr lang="en-US" sz="33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Step 1:</a:t>
            </a:r>
            <a:r>
              <a:rPr lang="en-US" sz="33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Arrange the data in ascending order (optional).</a:t>
            </a:r>
            <a:endParaRPr lang="en-IN" sz="33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60000" indent="0">
              <a:lnSpc>
                <a:spcPct val="107000"/>
              </a:lnSpc>
              <a:spcAft>
                <a:spcPts val="800"/>
              </a:spcAft>
              <a:buNone/>
            </a:pPr>
            <a:r>
              <a:rPr lang="en-US" sz="33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5,5,7,7,8,8,8,9,10</a:t>
            </a:r>
            <a:endParaRPr lang="en-IN" sz="33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60000" indent="0">
              <a:lnSpc>
                <a:spcPct val="107000"/>
              </a:lnSpc>
              <a:spcAft>
                <a:spcPts val="800"/>
              </a:spcAft>
              <a:buNone/>
            </a:pPr>
            <a:r>
              <a:rPr lang="en-US" sz="33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Step 2:</a:t>
            </a:r>
            <a:r>
              <a:rPr lang="en-US" sz="33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Identify the most frequent value.</a:t>
            </a:r>
            <a:endParaRPr lang="en-IN" sz="33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60000" lvl="0" indent="0">
              <a:lnSpc>
                <a:spcPct val="107000"/>
              </a:lnSpc>
              <a:spcAft>
                <a:spcPts val="800"/>
              </a:spcAft>
              <a:buSzPts val="1000"/>
              <a:buNone/>
              <a:tabLst>
                <a:tab pos="1200150" algn="l"/>
              </a:tabLst>
            </a:pPr>
            <a:r>
              <a:rPr lang="en-US" sz="33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5 appears </a:t>
            </a:r>
            <a:r>
              <a:rPr lang="en-US" sz="33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 times</a:t>
            </a:r>
            <a:r>
              <a:rPr lang="en-US" sz="33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IN" sz="33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60000" lvl="0" indent="0">
              <a:lnSpc>
                <a:spcPct val="107000"/>
              </a:lnSpc>
              <a:spcAft>
                <a:spcPts val="800"/>
              </a:spcAft>
              <a:buSzPts val="1000"/>
              <a:buNone/>
              <a:tabLst>
                <a:tab pos="1200150" algn="l"/>
              </a:tabLst>
            </a:pPr>
            <a:r>
              <a:rPr lang="en-US" sz="33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7 appears </a:t>
            </a:r>
            <a:r>
              <a:rPr lang="en-US" sz="33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 times</a:t>
            </a:r>
            <a:r>
              <a:rPr lang="en-US" sz="33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IN" sz="33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60000" lvl="0" indent="0">
              <a:lnSpc>
                <a:spcPct val="107000"/>
              </a:lnSpc>
              <a:spcAft>
                <a:spcPts val="800"/>
              </a:spcAft>
              <a:buSzPts val="1000"/>
              <a:buNone/>
              <a:tabLst>
                <a:tab pos="1200150" algn="l"/>
              </a:tabLst>
            </a:pPr>
            <a:r>
              <a:rPr lang="en-US" sz="33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8 appears </a:t>
            </a:r>
            <a:r>
              <a:rPr lang="en-US" sz="33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3 times</a:t>
            </a:r>
            <a:r>
              <a:rPr lang="en-US" sz="33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IN" sz="33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60000" lvl="0" indent="0">
              <a:lnSpc>
                <a:spcPct val="107000"/>
              </a:lnSpc>
              <a:spcAft>
                <a:spcPts val="800"/>
              </a:spcAft>
              <a:buSzPts val="1000"/>
              <a:buNone/>
              <a:tabLst>
                <a:tab pos="1200150" algn="l"/>
              </a:tabLst>
            </a:pPr>
            <a:r>
              <a:rPr lang="en-US" sz="33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9 appears </a:t>
            </a:r>
            <a:r>
              <a:rPr lang="en-US" sz="33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 time</a:t>
            </a:r>
            <a:r>
              <a:rPr lang="en-US" sz="33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IN" sz="33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60000" lvl="0" indent="0">
              <a:lnSpc>
                <a:spcPct val="107000"/>
              </a:lnSpc>
              <a:spcAft>
                <a:spcPts val="800"/>
              </a:spcAft>
              <a:buSzPts val="1000"/>
              <a:buNone/>
              <a:tabLst>
                <a:tab pos="1200150" algn="l"/>
              </a:tabLst>
            </a:pPr>
            <a:r>
              <a:rPr lang="en-US" sz="33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10 appears </a:t>
            </a:r>
            <a:r>
              <a:rPr lang="en-US" sz="33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 time</a:t>
            </a:r>
            <a:r>
              <a:rPr lang="en-US" sz="33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p>
          <a:p>
            <a:pPr marL="360000" lvl="0" indent="0">
              <a:lnSpc>
                <a:spcPct val="107000"/>
              </a:lnSpc>
              <a:spcAft>
                <a:spcPts val="800"/>
              </a:spcAft>
              <a:buSzPts val="1000"/>
              <a:buNone/>
              <a:tabLst>
                <a:tab pos="1200150" algn="l"/>
              </a:tabLst>
            </a:pPr>
            <a:r>
              <a:rPr lang="en-US" sz="33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Step 3:</a:t>
            </a:r>
            <a:r>
              <a:rPr lang="en-US" sz="33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The mode is the value with the highest frequency, which is </a:t>
            </a:r>
            <a:r>
              <a:rPr lang="en-US" sz="33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8</a:t>
            </a:r>
            <a:r>
              <a:rPr lang="en-US" sz="33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(appears 3   times).</a:t>
            </a:r>
            <a:endParaRPr lang="en-IN" sz="33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60000" indent="0">
              <a:lnSpc>
                <a:spcPct val="107000"/>
              </a:lnSpc>
              <a:spcAft>
                <a:spcPts val="800"/>
              </a:spcAft>
              <a:buNone/>
            </a:pPr>
            <a:r>
              <a:rPr lang="en-US" sz="33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Thus, the mode of the data is </a:t>
            </a:r>
            <a:r>
              <a:rPr lang="en-US" sz="33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8</a:t>
            </a:r>
            <a:r>
              <a:rPr lang="en-US" sz="33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IN" sz="33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9176926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4BECE-295B-E5AC-81E9-DE6292E5D6E3}"/>
              </a:ext>
            </a:extLst>
          </p:cNvPr>
          <p:cNvSpPr>
            <a:spLocks noGrp="1"/>
          </p:cNvSpPr>
          <p:nvPr>
            <p:ph type="title"/>
          </p:nvPr>
        </p:nvSpPr>
        <p:spPr/>
        <p:txBody>
          <a:bodyPr>
            <a:normAutofit fontScale="90000"/>
          </a:bodyPr>
          <a:lstStyle/>
          <a:p>
            <a:r>
              <a:rPr lang="en-US" sz="36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Conclusion:</a:t>
            </a:r>
            <a:br>
              <a:rPr lang="en-IN" sz="2800"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b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3C8EE5F3-8879-957A-2E39-56FAE90A433F}"/>
              </a:ext>
            </a:extLst>
          </p:cNvPr>
          <p:cNvSpPr>
            <a:spLocks noGrp="1"/>
          </p:cNvSpPr>
          <p:nvPr>
            <p:ph type="body" idx="1"/>
          </p:nvPr>
        </p:nvSpPr>
        <p:spPr/>
        <p:txBody>
          <a:bodyPr/>
          <a:lstStyle/>
          <a:p>
            <a:pPr marL="360000" lvl="0" indent="-342900">
              <a:lnSpc>
                <a:spcPct val="107000"/>
              </a:lnSpc>
              <a:spcAft>
                <a:spcPts val="800"/>
              </a:spcAft>
              <a:buSzPct val="100000"/>
              <a:buFont typeface="Arial" panose="020B0604020202020204" pitchFamily="34" charset="0"/>
              <a:buChar char="•"/>
              <a:tabLst>
                <a:tab pos="457200" algn="l"/>
              </a:tabLst>
            </a:pPr>
            <a:r>
              <a:rPr lang="en-US" sz="2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The </a:t>
            </a:r>
            <a:r>
              <a:rPr lang="en-US" sz="24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mode</a:t>
            </a:r>
            <a:r>
              <a:rPr lang="en-US" sz="2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is the value(s) that appear most frequently in the dataset.</a:t>
            </a:r>
            <a:endParaRPr lang="en-IN" sz="2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60000" lvl="0" indent="-342900">
              <a:lnSpc>
                <a:spcPct val="107000"/>
              </a:lnSpc>
              <a:spcAft>
                <a:spcPts val="800"/>
              </a:spcAft>
              <a:buSzPct val="100000"/>
              <a:buFont typeface="Arial" panose="020B0604020202020204" pitchFamily="34" charset="0"/>
              <a:buChar char="•"/>
              <a:tabLst>
                <a:tab pos="457200" algn="l"/>
              </a:tabLst>
            </a:pPr>
            <a:r>
              <a:rPr lang="en-US" sz="2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If there is one mode, the data is </a:t>
            </a:r>
            <a:r>
              <a:rPr lang="en-US" sz="24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unimodal</a:t>
            </a:r>
            <a:r>
              <a:rPr lang="en-US" sz="2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IN" sz="2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60000" lvl="0" indent="-342900">
              <a:lnSpc>
                <a:spcPct val="107000"/>
              </a:lnSpc>
              <a:spcAft>
                <a:spcPts val="800"/>
              </a:spcAft>
              <a:buSzPct val="100000"/>
              <a:buFont typeface="Arial" panose="020B0604020202020204" pitchFamily="34" charset="0"/>
              <a:buChar char="•"/>
              <a:tabLst>
                <a:tab pos="457200" algn="l"/>
              </a:tabLst>
            </a:pPr>
            <a:r>
              <a:rPr lang="en-US" sz="2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If there are two modes, the data is </a:t>
            </a:r>
            <a:r>
              <a:rPr lang="en-US" sz="24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bimodal</a:t>
            </a:r>
            <a:r>
              <a:rPr lang="en-US" sz="2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IN" sz="2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60000" lvl="0" indent="-342900">
              <a:lnSpc>
                <a:spcPct val="107000"/>
              </a:lnSpc>
              <a:spcAft>
                <a:spcPts val="800"/>
              </a:spcAft>
              <a:buSzPct val="100000"/>
              <a:buFont typeface="Arial" panose="020B0604020202020204" pitchFamily="34" charset="0"/>
              <a:buChar char="•"/>
              <a:tabLst>
                <a:tab pos="457200" algn="l"/>
              </a:tabLst>
            </a:pPr>
            <a:r>
              <a:rPr lang="en-US" sz="2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If there are more than two modes, the data is </a:t>
            </a:r>
            <a:r>
              <a:rPr lang="en-US" sz="24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multimodal</a:t>
            </a:r>
            <a:r>
              <a:rPr lang="en-US" sz="2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IN" sz="2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60000">
              <a:buSzPct val="100000"/>
              <a:buFont typeface="Arial" panose="020B0604020202020204" pitchFamily="34" charset="0"/>
              <a:buChar char="•"/>
            </a:pPr>
            <a:r>
              <a:rPr lang="en-US" sz="2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If no value repeats, there is </a:t>
            </a:r>
            <a:r>
              <a:rPr lang="en-US" sz="24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no mode</a:t>
            </a:r>
            <a:r>
              <a:rPr lang="en-US" sz="1800" kern="100" dirty="0">
                <a:solidFill>
                  <a:schemeClr val="tx1"/>
                </a:solidFill>
                <a:effectLst/>
                <a:latin typeface="Times New Roman" panose="02020603050405020304" pitchFamily="18" charset="0"/>
                <a:ea typeface="Calibri" panose="020F0502020204030204" pitchFamily="34" charset="0"/>
              </a:rPr>
              <a:t>.</a:t>
            </a:r>
            <a:endParaRPr lang="en-IN" dirty="0">
              <a:solidFill>
                <a:schemeClr val="tx1"/>
              </a:solidFill>
            </a:endParaRPr>
          </a:p>
        </p:txBody>
      </p:sp>
    </p:spTree>
    <p:extLst>
      <p:ext uri="{BB962C8B-B14F-4D97-AF65-F5344CB8AC3E}">
        <p14:creationId xmlns:p14="http://schemas.microsoft.com/office/powerpoint/2010/main" val="12275209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CDB9EC0-2AE3-1D72-602C-2F958C37C9B4}"/>
              </a:ext>
            </a:extLst>
          </p:cNvPr>
          <p:cNvSpPr>
            <a:spLocks noGrp="1"/>
          </p:cNvSpPr>
          <p:nvPr>
            <p:ph type="body" idx="4294967295"/>
          </p:nvPr>
        </p:nvSpPr>
        <p:spPr>
          <a:xfrm>
            <a:off x="0" y="208722"/>
            <a:ext cx="8521700" cy="4621695"/>
          </a:xfrm>
        </p:spPr>
        <p:txBody>
          <a:bodyPr>
            <a:normAutofit/>
          </a:bodyPr>
          <a:lstStyle/>
          <a:p>
            <a:pPr marL="114300" indent="0">
              <a:buNone/>
            </a:pPr>
            <a:r>
              <a:rPr lang="en-US" sz="2400" b="1" dirty="0">
                <a:solidFill>
                  <a:srgbClr val="FF0000"/>
                </a:solidFill>
                <a:latin typeface="Times New Roman" panose="02020603050405020304" pitchFamily="18" charset="0"/>
                <a:cs typeface="Times New Roman" panose="02020603050405020304" pitchFamily="18" charset="0"/>
              </a:rPr>
              <a:t>Find mode for the grouped data given below</a:t>
            </a:r>
          </a:p>
          <a:p>
            <a:pPr marL="114300" indent="0">
              <a:buNone/>
            </a:pPr>
            <a:endParaRPr lang="en-IN" sz="2400" b="1" dirty="0">
              <a:solidFill>
                <a:srgbClr val="7030A0"/>
              </a:solidFill>
            </a:endParaRPr>
          </a:p>
        </p:txBody>
      </p:sp>
      <p:pic>
        <p:nvPicPr>
          <p:cNvPr id="4" name="Picture 3">
            <a:extLst>
              <a:ext uri="{FF2B5EF4-FFF2-40B4-BE49-F238E27FC236}">
                <a16:creationId xmlns:a16="http://schemas.microsoft.com/office/drawing/2014/main" id="{6C15614F-D0CD-1A3E-A12A-766D1C6BACD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8906" y="830466"/>
            <a:ext cx="8107886" cy="2715622"/>
          </a:xfrm>
          <a:prstGeom prst="rect">
            <a:avLst/>
          </a:prstGeom>
          <a:noFill/>
          <a:ln>
            <a:noFill/>
          </a:ln>
        </p:spPr>
      </p:pic>
      <p:sp>
        <p:nvSpPr>
          <p:cNvPr id="8" name="TextBox 7">
            <a:extLst>
              <a:ext uri="{FF2B5EF4-FFF2-40B4-BE49-F238E27FC236}">
                <a16:creationId xmlns:a16="http://schemas.microsoft.com/office/drawing/2014/main" id="{21556F96-2DB6-A16E-5E72-A655002D301D}"/>
              </a:ext>
            </a:extLst>
          </p:cNvPr>
          <p:cNvSpPr txBox="1"/>
          <p:nvPr/>
        </p:nvSpPr>
        <p:spPr>
          <a:xfrm>
            <a:off x="178906" y="3086097"/>
            <a:ext cx="5774634" cy="2004588"/>
          </a:xfrm>
          <a:prstGeom prst="rect">
            <a:avLst/>
          </a:prstGeom>
          <a:noFill/>
        </p:spPr>
        <p:txBody>
          <a:bodyPr wrap="square">
            <a:spAutoFit/>
          </a:bodyPr>
          <a:lstStyle/>
          <a:p>
            <a:pPr>
              <a:lnSpc>
                <a:spcPct val="107000"/>
              </a:lnSpc>
              <a:spcAft>
                <a:spcPts val="800"/>
              </a:spcAft>
            </a:pPr>
            <a:endParaRPr lang="en-US" sz="1400" b="1"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endParaRPr lang="en-US" b="1"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1600" b="1" kern="100" dirty="0">
                <a:effectLst/>
                <a:latin typeface="Times New Roman" panose="02020603050405020304" pitchFamily="18" charset="0"/>
                <a:ea typeface="Calibri" panose="020F0502020204030204" pitchFamily="34" charset="0"/>
                <a:cs typeface="Times New Roman" panose="02020603050405020304" pitchFamily="18" charset="0"/>
              </a:rPr>
              <a:t>Step 1:</a:t>
            </a: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 Identify the modal class.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buSzPts val="1000"/>
              <a:tabLst>
                <a:tab pos="457200" algn="l"/>
              </a:tabLst>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The class with the </a:t>
            </a:r>
            <a:r>
              <a:rPr lang="en-US" sz="1600" b="1" kern="100" dirty="0">
                <a:effectLst/>
                <a:latin typeface="Times New Roman" panose="02020603050405020304" pitchFamily="18" charset="0"/>
                <a:ea typeface="Calibri" panose="020F0502020204030204" pitchFamily="34" charset="0"/>
                <a:cs typeface="Times New Roman" panose="02020603050405020304" pitchFamily="18" charset="0"/>
              </a:rPr>
              <a:t>highest frequency</a:t>
            </a: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 is 20-30 with a frequency of 20.</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buSzPts val="1000"/>
              <a:tabLst>
                <a:tab pos="457200" algn="l"/>
              </a:tabLst>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So, </a:t>
            </a:r>
            <a:r>
              <a:rPr lang="en-US" sz="1600" b="1" kern="100" dirty="0">
                <a:effectLst/>
                <a:latin typeface="Times New Roman" panose="02020603050405020304" pitchFamily="18" charset="0"/>
                <a:ea typeface="Calibri" panose="020F0502020204030204" pitchFamily="34" charset="0"/>
                <a:cs typeface="Times New Roman" panose="02020603050405020304" pitchFamily="18" charset="0"/>
              </a:rPr>
              <a:t>20-30 is the modal class</a:t>
            </a: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34022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585B4FC2-5CF2-B214-CAAD-61727CC16832}"/>
                  </a:ext>
                </a:extLst>
              </p:cNvPr>
              <p:cNvSpPr txBox="1"/>
              <p:nvPr/>
            </p:nvSpPr>
            <p:spPr>
              <a:xfrm>
                <a:off x="397565" y="101316"/>
                <a:ext cx="8582883" cy="5080622"/>
              </a:xfrm>
              <a:prstGeom prst="rect">
                <a:avLst/>
              </a:prstGeom>
              <a:noFill/>
            </p:spPr>
            <p:txBody>
              <a:bodyPr wrap="square">
                <a:spAutoFit/>
              </a:bodyPr>
              <a:lstStyle/>
              <a:p>
                <a:pPr>
                  <a:lnSpc>
                    <a:spcPct val="107000"/>
                  </a:lnSpc>
                  <a:spcAft>
                    <a:spcPts val="800"/>
                  </a:spcAft>
                </a:pPr>
                <a:r>
                  <a:rPr lang="en-US" sz="2000" b="1" kern="100" dirty="0">
                    <a:effectLst/>
                    <a:latin typeface="Times New Roman" panose="02020603050405020304" pitchFamily="18" charset="0"/>
                    <a:ea typeface="Calibri" panose="020F0502020204030204" pitchFamily="34" charset="0"/>
                    <a:cs typeface="Times New Roman" panose="02020603050405020304" pitchFamily="18" charset="0"/>
                  </a:rPr>
                  <a:t>Step 2:</a:t>
                </a: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 Use the mode formula.</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Mode = </a:t>
                </a:r>
                <a14:m>
                  <m:oMath xmlns:m="http://schemas.openxmlformats.org/officeDocument/2006/math">
                    <m:r>
                      <a:rPr lang="en-US" sz="2000" i="1" kern="100">
                        <a:effectLst/>
                        <a:latin typeface="Cambria Math" panose="02040503050406030204" pitchFamily="18" charset="0"/>
                        <a:ea typeface="Calibri" panose="020F0502020204030204" pitchFamily="34" charset="0"/>
                        <a:cs typeface="Times New Roman" panose="02020603050405020304" pitchFamily="18" charset="0"/>
                      </a:rPr>
                      <m:t>𝐿</m:t>
                    </m:r>
                    <m:r>
                      <a:rPr lang="en-US" sz="2000" i="1" kern="100">
                        <a:effectLst/>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IN" sz="2000" i="1" kern="100">
                            <a:effectLst/>
                            <a:latin typeface="Cambria Math" panose="02040503050406030204" pitchFamily="18" charset="0"/>
                            <a:ea typeface="Calibri" panose="020F0502020204030204" pitchFamily="34" charset="0"/>
                            <a:cs typeface="Times New Roman" panose="02020603050405020304" pitchFamily="18" charset="0"/>
                          </a:rPr>
                        </m:ctrlPr>
                      </m:dPr>
                      <m:e>
                        <m:f>
                          <m:fPr>
                            <m:ctrlPr>
                              <a:rPr lang="en-IN" sz="2000" i="1" kern="100">
                                <a:effectLst/>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IN" sz="20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000" i="1" kern="100">
                                    <a:effectLst/>
                                    <a:latin typeface="Cambria Math" panose="02040503050406030204" pitchFamily="18" charset="0"/>
                                    <a:ea typeface="Calibri" panose="020F0502020204030204" pitchFamily="34" charset="0"/>
                                    <a:cs typeface="Times New Roman" panose="02020603050405020304" pitchFamily="18" charset="0"/>
                                  </a:rPr>
                                  <m:t>𝑓</m:t>
                                </m:r>
                              </m:e>
                              <m:sub>
                                <m:r>
                                  <a:rPr lang="en-US" sz="2000" i="1" kern="100">
                                    <a:effectLst/>
                                    <a:latin typeface="Cambria Math" panose="02040503050406030204" pitchFamily="18" charset="0"/>
                                    <a:ea typeface="Calibri" panose="020F0502020204030204" pitchFamily="34" charset="0"/>
                                    <a:cs typeface="Times New Roman" panose="02020603050405020304" pitchFamily="18" charset="0"/>
                                  </a:rPr>
                                  <m:t>𝑚</m:t>
                                </m:r>
                              </m:sub>
                            </m:sSub>
                            <m:r>
                              <a:rPr lang="en-US" sz="2000" i="1" kern="10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N" sz="2000" i="1" kern="100"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000" i="1" kern="100">
                                    <a:effectLst/>
                                    <a:latin typeface="Cambria Math" panose="02040503050406030204" pitchFamily="18" charset="0"/>
                                    <a:ea typeface="Calibri" panose="020F0502020204030204" pitchFamily="34" charset="0"/>
                                    <a:cs typeface="Times New Roman" panose="02020603050405020304" pitchFamily="18" charset="0"/>
                                  </a:rPr>
                                  <m:t>𝑓</m:t>
                                </m:r>
                              </m:e>
                              <m:sub>
                                <m:r>
                                  <a:rPr lang="en-IN" sz="2000" b="0" i="1" kern="100" smtClean="0">
                                    <a:effectLst/>
                                    <a:latin typeface="Cambria Math" panose="02040503050406030204" pitchFamily="18" charset="0"/>
                                    <a:ea typeface="Calibri" panose="020F0502020204030204" pitchFamily="34" charset="0"/>
                                    <a:cs typeface="Times New Roman" panose="02020603050405020304" pitchFamily="18" charset="0"/>
                                  </a:rPr>
                                  <m:t>1</m:t>
                                </m:r>
                              </m:sub>
                            </m:sSub>
                          </m:num>
                          <m:den>
                            <m:r>
                              <a:rPr lang="en-US" sz="2000" i="1" kern="100">
                                <a:effectLst/>
                                <a:latin typeface="Cambria Math" panose="02040503050406030204" pitchFamily="18" charset="0"/>
                                <a:ea typeface="Calibri" panose="020F0502020204030204" pitchFamily="34" charset="0"/>
                                <a:cs typeface="Times New Roman" panose="02020603050405020304" pitchFamily="18" charset="0"/>
                              </a:rPr>
                              <m:t>2</m:t>
                            </m:r>
                            <m:sSub>
                              <m:sSubPr>
                                <m:ctrlPr>
                                  <a:rPr lang="en-IN" sz="20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000" i="1" kern="100">
                                    <a:effectLst/>
                                    <a:latin typeface="Cambria Math" panose="02040503050406030204" pitchFamily="18" charset="0"/>
                                    <a:ea typeface="Calibri" panose="020F0502020204030204" pitchFamily="34" charset="0"/>
                                    <a:cs typeface="Times New Roman" panose="02020603050405020304" pitchFamily="18" charset="0"/>
                                  </a:rPr>
                                  <m:t>𝑓</m:t>
                                </m:r>
                              </m:e>
                              <m:sub>
                                <m:r>
                                  <a:rPr lang="en-US" sz="2000" i="1" kern="100">
                                    <a:effectLst/>
                                    <a:latin typeface="Cambria Math" panose="02040503050406030204" pitchFamily="18" charset="0"/>
                                    <a:ea typeface="Calibri" panose="020F0502020204030204" pitchFamily="34" charset="0"/>
                                    <a:cs typeface="Times New Roman" panose="02020603050405020304" pitchFamily="18" charset="0"/>
                                  </a:rPr>
                                  <m:t>𝑚</m:t>
                                </m:r>
                              </m:sub>
                            </m:sSub>
                            <m:r>
                              <a:rPr lang="en-US" sz="2000" i="1" kern="10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N" sz="20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000" i="1" kern="100">
                                    <a:effectLst/>
                                    <a:latin typeface="Cambria Math" panose="02040503050406030204" pitchFamily="18" charset="0"/>
                                    <a:ea typeface="Calibri" panose="020F0502020204030204" pitchFamily="34" charset="0"/>
                                    <a:cs typeface="Times New Roman" panose="02020603050405020304" pitchFamily="18" charset="0"/>
                                  </a:rPr>
                                  <m:t>𝑓</m:t>
                                </m:r>
                              </m:e>
                              <m:sub>
                                <m:r>
                                  <a:rPr lang="en-US" sz="2000" i="1" kern="100">
                                    <a:effectLst/>
                                    <a:latin typeface="Cambria Math" panose="02040503050406030204" pitchFamily="18" charset="0"/>
                                    <a:ea typeface="Calibri" panose="020F0502020204030204" pitchFamily="34" charset="0"/>
                                    <a:cs typeface="Times New Roman" panose="02020603050405020304" pitchFamily="18" charset="0"/>
                                  </a:rPr>
                                  <m:t>1</m:t>
                                </m:r>
                              </m:sub>
                            </m:sSub>
                            <m:r>
                              <a:rPr lang="en-US" sz="2000" i="1" kern="10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N" sz="20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000" i="1" kern="100">
                                    <a:effectLst/>
                                    <a:latin typeface="Cambria Math" panose="02040503050406030204" pitchFamily="18" charset="0"/>
                                    <a:ea typeface="Calibri" panose="020F0502020204030204" pitchFamily="34" charset="0"/>
                                    <a:cs typeface="Times New Roman" panose="02020603050405020304" pitchFamily="18" charset="0"/>
                                  </a:rPr>
                                  <m:t>𝑓</m:t>
                                </m:r>
                              </m:e>
                              <m:sub>
                                <m:r>
                                  <a:rPr lang="en-US" sz="2000" i="1" kern="100">
                                    <a:effectLst/>
                                    <a:latin typeface="Cambria Math" panose="02040503050406030204" pitchFamily="18" charset="0"/>
                                    <a:ea typeface="Calibri" panose="020F0502020204030204" pitchFamily="34" charset="0"/>
                                    <a:cs typeface="Times New Roman" panose="02020603050405020304" pitchFamily="18" charset="0"/>
                                  </a:rPr>
                                  <m:t>2</m:t>
                                </m:r>
                              </m:sub>
                            </m:sSub>
                          </m:den>
                        </m:f>
                      </m:e>
                    </m:d>
                  </m:oMath>
                </a14:m>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*h</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From the data: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spcAft>
                    <a:spcPts val="800"/>
                  </a:spcAft>
                  <a:buSzPts val="1000"/>
                  <a:tabLst>
                    <a:tab pos="457200" algn="l"/>
                  </a:tabLst>
                </a:pPr>
                <a14:m>
                  <m:oMath xmlns:m="http://schemas.openxmlformats.org/officeDocument/2006/math">
                    <m:r>
                      <a:rPr lang="en-US" sz="2000" b="0" i="1" kern="100" smtClean="0">
                        <a:effectLst/>
                        <a:latin typeface="Cambria Math" panose="02040503050406030204" pitchFamily="18" charset="0"/>
                        <a:cs typeface="Times New Roman" panose="02020603050405020304" pitchFamily="18" charset="0"/>
                      </a:rPr>
                      <m:t>𝐿</m:t>
                    </m:r>
                    <m:r>
                      <a:rPr lang="en-US" sz="2000" b="0" i="0" kern="100" smtClean="0">
                        <a:effectLst/>
                        <a:latin typeface="Cambria Math" panose="02040503050406030204" pitchFamily="18" charset="0"/>
                        <a:cs typeface="Times New Roman" panose="02020603050405020304" pitchFamily="18" charset="0"/>
                      </a:rPr>
                      <m:t>=</m:t>
                    </m:r>
                    <m:r>
                      <a:rPr lang="en-US" sz="2000" b="0" i="1" kern="100" smtClean="0">
                        <a:effectLst/>
                        <a:latin typeface="Cambria Math" panose="02040503050406030204" pitchFamily="18" charset="0"/>
                        <a:cs typeface="Times New Roman" panose="02020603050405020304" pitchFamily="18" charset="0"/>
                      </a:rPr>
                      <m:t> </m:t>
                    </m:r>
                  </m:oMath>
                </a14:m>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20 (the lower boundary of the modal class 20-30)</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spcAft>
                    <a:spcPts val="800"/>
                  </a:spcAft>
                  <a:buSzPts val="1000"/>
                  <a:tabLst>
                    <a:tab pos="457200" algn="l"/>
                  </a:tabLst>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a:t>
                </a:r>
                <a14:m>
                  <m:oMath xmlns:m="http://schemas.openxmlformats.org/officeDocument/2006/math">
                    <m:sSub>
                      <m:sSubPr>
                        <m:ctrlPr>
                          <a:rPr lang="en-US" sz="2000" i="1" kern="100" smtClean="0">
                            <a:effectLst/>
                            <a:latin typeface="Cambria Math" panose="02040503050406030204" pitchFamily="18" charset="0"/>
                            <a:cs typeface="Times New Roman" panose="02020603050405020304" pitchFamily="18" charset="0"/>
                          </a:rPr>
                        </m:ctrlPr>
                      </m:sSubPr>
                      <m:e>
                        <m:r>
                          <a:rPr lang="en-US" sz="2000" b="0" i="1" kern="100" smtClean="0">
                            <a:effectLst/>
                            <a:latin typeface="Cambria Math" panose="02040503050406030204" pitchFamily="18" charset="0"/>
                            <a:cs typeface="Times New Roman" panose="02020603050405020304" pitchFamily="18" charset="0"/>
                          </a:rPr>
                          <m:t>𝑓</m:t>
                        </m:r>
                      </m:e>
                      <m:sub>
                        <m:r>
                          <a:rPr lang="en-US" sz="2000" b="0" i="1" kern="100" smtClean="0">
                            <a:effectLst/>
                            <a:latin typeface="Cambria Math" panose="02040503050406030204" pitchFamily="18" charset="0"/>
                            <a:cs typeface="Times New Roman" panose="02020603050405020304" pitchFamily="18" charset="0"/>
                          </a:rPr>
                          <m:t>𝑚</m:t>
                        </m:r>
                      </m:sub>
                    </m:sSub>
                    <m:r>
                      <a:rPr lang="en-US" sz="2000" b="0" i="0" kern="100" smtClean="0">
                        <a:effectLst/>
                        <a:latin typeface="Cambria Math" panose="02040503050406030204" pitchFamily="18" charset="0"/>
                        <a:cs typeface="Times New Roman" panose="02020603050405020304" pitchFamily="18" charset="0"/>
                      </a:rPr>
                      <m:t>=</m:t>
                    </m:r>
                  </m:oMath>
                </a14:m>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20 (frequency of the modal class)</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spcAft>
                    <a:spcPts val="800"/>
                  </a:spcAft>
                  <a:buSzPts val="1000"/>
                  <a:tabLst>
                    <a:tab pos="457200" algn="l"/>
                  </a:tabLst>
                </a:pPr>
                <a14:m>
                  <m:oMath xmlns:m="http://schemas.openxmlformats.org/officeDocument/2006/math">
                    <m:sSub>
                      <m:sSubPr>
                        <m:ctrlPr>
                          <a:rPr lang="en-US" sz="2000" i="1" kern="100" smtClean="0">
                            <a:effectLst/>
                            <a:latin typeface="Cambria Math" panose="02040503050406030204" pitchFamily="18" charset="0"/>
                            <a:cs typeface="Times New Roman" panose="02020603050405020304" pitchFamily="18" charset="0"/>
                          </a:rPr>
                        </m:ctrlPr>
                      </m:sSubPr>
                      <m:e>
                        <m:r>
                          <a:rPr lang="en-US" sz="2000" b="0" i="1" kern="100" smtClean="0">
                            <a:effectLst/>
                            <a:latin typeface="Cambria Math" panose="02040503050406030204" pitchFamily="18" charset="0"/>
                            <a:cs typeface="Times New Roman" panose="02020603050405020304" pitchFamily="18" charset="0"/>
                          </a:rPr>
                          <m:t>𝑓</m:t>
                        </m:r>
                      </m:e>
                      <m:sub>
                        <m:r>
                          <a:rPr lang="en-US" sz="2000" b="0" i="1" kern="100" smtClean="0">
                            <a:effectLst/>
                            <a:latin typeface="Cambria Math" panose="02040503050406030204" pitchFamily="18" charset="0"/>
                            <a:cs typeface="Times New Roman" panose="02020603050405020304" pitchFamily="18" charset="0"/>
                          </a:rPr>
                          <m:t>1</m:t>
                        </m:r>
                      </m:sub>
                    </m:sSub>
                    <m:r>
                      <a:rPr lang="en-US" sz="2000" b="0" i="0" kern="100" smtClean="0">
                        <a:effectLst/>
                        <a:latin typeface="Cambria Math" panose="02040503050406030204" pitchFamily="18" charset="0"/>
                        <a:cs typeface="Times New Roman" panose="02020603050405020304" pitchFamily="18" charset="0"/>
                      </a:rPr>
                      <m:t>=</m:t>
                    </m:r>
                    <m:r>
                      <a:rPr lang="en-US" sz="2000" b="0" i="1" kern="100" smtClean="0">
                        <a:effectLst/>
                        <a:latin typeface="Cambria Math" panose="02040503050406030204" pitchFamily="18" charset="0"/>
                        <a:cs typeface="Times New Roman" panose="02020603050405020304" pitchFamily="18" charset="0"/>
                      </a:rPr>
                      <m:t> </m:t>
                    </m:r>
                  </m:oMath>
                </a14:m>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12 (frequency of the class preceding the modal class, 10-20)</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spcAft>
                    <a:spcPts val="800"/>
                  </a:spcAft>
                  <a:buSzPts val="1000"/>
                  <a:tabLst>
                    <a:tab pos="457200" algn="l"/>
                  </a:tabLst>
                </a:pPr>
                <a14:m>
                  <m:oMath xmlns:m="http://schemas.openxmlformats.org/officeDocument/2006/math">
                    <m:sSub>
                      <m:sSubPr>
                        <m:ctrlPr>
                          <a:rPr lang="en-US" sz="2000" i="1" kern="100" smtClean="0">
                            <a:effectLst/>
                            <a:latin typeface="Cambria Math" panose="02040503050406030204" pitchFamily="18" charset="0"/>
                            <a:cs typeface="Times New Roman" panose="02020603050405020304" pitchFamily="18" charset="0"/>
                          </a:rPr>
                        </m:ctrlPr>
                      </m:sSubPr>
                      <m:e>
                        <m:r>
                          <a:rPr lang="en-US" sz="2000" b="0" i="1" kern="100" smtClean="0">
                            <a:effectLst/>
                            <a:latin typeface="Cambria Math" panose="02040503050406030204" pitchFamily="18" charset="0"/>
                            <a:cs typeface="Times New Roman" panose="02020603050405020304" pitchFamily="18" charset="0"/>
                          </a:rPr>
                          <m:t>𝑓</m:t>
                        </m:r>
                      </m:e>
                      <m:sub>
                        <m:r>
                          <a:rPr lang="en-US" sz="2000" b="0" i="1" kern="100" smtClean="0">
                            <a:effectLst/>
                            <a:latin typeface="Cambria Math" panose="02040503050406030204" pitchFamily="18" charset="0"/>
                            <a:cs typeface="Times New Roman" panose="02020603050405020304" pitchFamily="18" charset="0"/>
                          </a:rPr>
                          <m:t>2</m:t>
                        </m:r>
                      </m:sub>
                    </m:sSub>
                    <m:r>
                      <a:rPr lang="en-US" sz="2000" b="0" i="0" kern="100" smtClean="0">
                        <a:effectLst/>
                        <a:latin typeface="Cambria Math" panose="02040503050406030204" pitchFamily="18" charset="0"/>
                        <a:cs typeface="Times New Roman" panose="02020603050405020304" pitchFamily="18" charset="0"/>
                      </a:rPr>
                      <m:t>=</m:t>
                    </m:r>
                    <m:r>
                      <a:rPr lang="en-US" sz="2000" b="0" i="1" kern="100" smtClean="0">
                        <a:effectLst/>
                        <a:latin typeface="Cambria Math" panose="02040503050406030204" pitchFamily="18" charset="0"/>
                        <a:cs typeface="Times New Roman" panose="02020603050405020304" pitchFamily="18" charset="0"/>
                      </a:rPr>
                      <m:t> </m:t>
                    </m:r>
                  </m:oMath>
                </a14:m>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18 (frequency of the class succeeding the modal class, 30-40)</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spcAft>
                    <a:spcPts val="800"/>
                  </a:spcAft>
                  <a:buSzPts val="1000"/>
                  <a:tabLst>
                    <a:tab pos="457200" algn="l"/>
                  </a:tabLst>
                </a:pPr>
                <a14:m>
                  <m:oMath xmlns:m="http://schemas.openxmlformats.org/officeDocument/2006/math">
                    <m:r>
                      <m:rPr>
                        <m:sty m:val="p"/>
                      </m:rPr>
                      <a:rPr lang="en-US" sz="2000" b="0" i="0" kern="100" smtClean="0">
                        <a:effectLst/>
                        <a:latin typeface="Cambria Math" panose="02040503050406030204" pitchFamily="18" charset="0"/>
                        <a:cs typeface="Times New Roman" panose="02020603050405020304" pitchFamily="18" charset="0"/>
                      </a:rPr>
                      <m:t>h</m:t>
                    </m:r>
                    <m:r>
                      <a:rPr lang="en-US" sz="2000" b="0" i="0" kern="100" smtClean="0">
                        <a:effectLst/>
                        <a:latin typeface="Cambria Math" panose="02040503050406030204" pitchFamily="18" charset="0"/>
                        <a:cs typeface="Times New Roman" panose="02020603050405020304" pitchFamily="18" charset="0"/>
                      </a:rPr>
                      <m:t>=</m:t>
                    </m:r>
                    <m:r>
                      <a:rPr lang="en-US" sz="2000" b="0" i="1" kern="100" smtClean="0">
                        <a:effectLst/>
                        <a:latin typeface="Cambria Math" panose="02040503050406030204" pitchFamily="18" charset="0"/>
                        <a:cs typeface="Times New Roman" panose="02020603050405020304" pitchFamily="18" charset="0"/>
                      </a:rPr>
                      <m:t> </m:t>
                    </m:r>
                  </m:oMath>
                </a14:m>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10 (class width)</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2000" b="1" kern="100" dirty="0">
                    <a:effectLst/>
                    <a:latin typeface="Times New Roman" panose="02020603050405020304" pitchFamily="18" charset="0"/>
                    <a:ea typeface="Calibri" panose="020F0502020204030204" pitchFamily="34" charset="0"/>
                    <a:cs typeface="Times New Roman" panose="02020603050405020304" pitchFamily="18" charset="0"/>
                  </a:rPr>
                  <a:t>Step 3:</a:t>
                </a: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 Apply the formula.</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Mode =  </a:t>
                </a:r>
                <a14:m>
                  <m:oMath xmlns:m="http://schemas.openxmlformats.org/officeDocument/2006/math">
                    <m:r>
                      <a:rPr lang="en-US" sz="2000" i="1" kern="100">
                        <a:effectLst/>
                        <a:latin typeface="Cambria Math" panose="02040503050406030204" pitchFamily="18" charset="0"/>
                        <a:ea typeface="Calibri" panose="020F0502020204030204" pitchFamily="34" charset="0"/>
                        <a:cs typeface="Times New Roman" panose="02020603050405020304" pitchFamily="18" charset="0"/>
                      </a:rPr>
                      <m:t> 20+</m:t>
                    </m:r>
                    <m:d>
                      <m:dPr>
                        <m:begChr m:val="["/>
                        <m:endChr m:val="]"/>
                        <m:ctrlPr>
                          <a:rPr lang="en-IN" sz="2000" i="1" kern="100">
                            <a:effectLst/>
                            <a:latin typeface="Cambria Math" panose="02040503050406030204" pitchFamily="18" charset="0"/>
                            <a:ea typeface="Calibri" panose="020F0502020204030204" pitchFamily="34" charset="0"/>
                            <a:cs typeface="Times New Roman" panose="02020603050405020304" pitchFamily="18" charset="0"/>
                          </a:rPr>
                        </m:ctrlPr>
                      </m:dPr>
                      <m:e>
                        <m:f>
                          <m:fPr>
                            <m:ctrlPr>
                              <a:rPr lang="en-IN" sz="2000" i="1" kern="100">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2000" i="1" kern="100">
                                <a:effectLst/>
                                <a:latin typeface="Cambria Math" panose="02040503050406030204" pitchFamily="18" charset="0"/>
                                <a:ea typeface="Calibri" panose="020F0502020204030204" pitchFamily="34" charset="0"/>
                                <a:cs typeface="Times New Roman" panose="02020603050405020304" pitchFamily="18" charset="0"/>
                              </a:rPr>
                              <m:t>20 − 1</m:t>
                            </m:r>
                            <m:r>
                              <a:rPr lang="en-IN" sz="2000" b="0" i="1" kern="100" smtClean="0">
                                <a:effectLst/>
                                <a:latin typeface="Cambria Math" panose="02040503050406030204" pitchFamily="18" charset="0"/>
                                <a:ea typeface="Calibri" panose="020F0502020204030204" pitchFamily="34" charset="0"/>
                                <a:cs typeface="Times New Roman" panose="02020603050405020304" pitchFamily="18" charset="0"/>
                              </a:rPr>
                              <m:t>2</m:t>
                            </m:r>
                          </m:num>
                          <m:den>
                            <m:r>
                              <a:rPr lang="en-US" sz="2000" i="1" kern="100">
                                <a:effectLst/>
                                <a:latin typeface="Cambria Math" panose="02040503050406030204" pitchFamily="18" charset="0"/>
                                <a:ea typeface="Calibri" panose="020F0502020204030204" pitchFamily="34" charset="0"/>
                                <a:cs typeface="Times New Roman" panose="02020603050405020304" pitchFamily="18" charset="0"/>
                              </a:rPr>
                              <m:t>2∗20−12−18</m:t>
                            </m:r>
                          </m:den>
                        </m:f>
                      </m:e>
                    </m:d>
                  </m:oMath>
                </a14:m>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*10</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Thus, the mode is </a:t>
                </a:r>
                <a:r>
                  <a:rPr lang="en-US" sz="2000" b="1" kern="100" dirty="0">
                    <a:effectLst/>
                    <a:latin typeface="Times New Roman" panose="02020603050405020304" pitchFamily="18" charset="0"/>
                    <a:ea typeface="Calibri" panose="020F0502020204030204" pitchFamily="34" charset="0"/>
                    <a:cs typeface="Times New Roman" panose="02020603050405020304" pitchFamily="18" charset="0"/>
                  </a:rPr>
                  <a:t>28</a:t>
                </a: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mc:Choice>
        <mc:Fallback>
          <p:sp>
            <p:nvSpPr>
              <p:cNvPr id="5" name="TextBox 4">
                <a:extLst>
                  <a:ext uri="{FF2B5EF4-FFF2-40B4-BE49-F238E27FC236}">
                    <a16:creationId xmlns:a16="http://schemas.microsoft.com/office/drawing/2014/main" id="{585B4FC2-5CF2-B214-CAAD-61727CC16832}"/>
                  </a:ext>
                </a:extLst>
              </p:cNvPr>
              <p:cNvSpPr txBox="1">
                <a:spLocks noRot="1" noChangeAspect="1" noMove="1" noResize="1" noEditPoints="1" noAdjustHandles="1" noChangeArrowheads="1" noChangeShapeType="1" noTextEdit="1"/>
              </p:cNvSpPr>
              <p:nvPr/>
            </p:nvSpPr>
            <p:spPr>
              <a:xfrm>
                <a:off x="397565" y="101316"/>
                <a:ext cx="8582883" cy="5080622"/>
              </a:xfrm>
              <a:prstGeom prst="rect">
                <a:avLst/>
              </a:prstGeom>
              <a:blipFill>
                <a:blip r:embed="rId2"/>
                <a:stretch>
                  <a:fillRect l="-710" t="-720" b="-1200"/>
                </a:stretch>
              </a:blipFill>
            </p:spPr>
            <p:txBody>
              <a:bodyPr/>
              <a:lstStyle/>
              <a:p>
                <a:r>
                  <a:rPr lang="en-IN">
                    <a:noFill/>
                  </a:rPr>
                  <a:t> </a:t>
                </a:r>
              </a:p>
            </p:txBody>
          </p:sp>
        </mc:Fallback>
      </mc:AlternateContent>
    </p:spTree>
    <p:extLst>
      <p:ext uri="{BB962C8B-B14F-4D97-AF65-F5344CB8AC3E}">
        <p14:creationId xmlns:p14="http://schemas.microsoft.com/office/powerpoint/2010/main" val="24216483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30"/>
          <p:cNvSpPr txBox="1">
            <a:spLocks noGrp="1"/>
          </p:cNvSpPr>
          <p:nvPr>
            <p:ph type="title" idx="4294967295"/>
          </p:nvPr>
        </p:nvSpPr>
        <p:spPr>
          <a:xfrm>
            <a:off x="0" y="133350"/>
            <a:ext cx="8521700" cy="6000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3600" b="1" dirty="0">
                <a:solidFill>
                  <a:srgbClr val="FF0000"/>
                </a:solidFill>
                <a:latin typeface="Times New Roman" panose="02020603050405020304" pitchFamily="18" charset="0"/>
                <a:cs typeface="Times New Roman" panose="02020603050405020304" pitchFamily="18" charset="0"/>
              </a:rPr>
              <a:t>Measures of Dispersion/Spread</a:t>
            </a:r>
            <a:endParaRPr sz="3600" b="1" dirty="0">
              <a:solidFill>
                <a:srgbClr val="FF0000"/>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5316965E-B498-9D9D-F73C-50A7FCA4FB7E}"/>
              </a:ext>
            </a:extLst>
          </p:cNvPr>
          <p:cNvPicPr>
            <a:picLocks noChangeAspect="1"/>
          </p:cNvPicPr>
          <p:nvPr/>
        </p:nvPicPr>
        <p:blipFill>
          <a:blip r:embed="rId3"/>
          <a:stretch>
            <a:fillRect/>
          </a:stretch>
        </p:blipFill>
        <p:spPr>
          <a:xfrm>
            <a:off x="101600" y="1219200"/>
            <a:ext cx="5486400" cy="3086100"/>
          </a:xfrm>
          <a:prstGeom prst="rect">
            <a:avLst/>
          </a:prstGeom>
        </p:spPr>
      </p:pic>
    </p:spTree>
    <p:extLst>
      <p:ext uri="{BB962C8B-B14F-4D97-AF65-F5344CB8AC3E}">
        <p14:creationId xmlns:p14="http://schemas.microsoft.com/office/powerpoint/2010/main" val="34686626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A4D8641-E45D-0012-1187-F274845C8E18}"/>
              </a:ext>
            </a:extLst>
          </p:cNvPr>
          <p:cNvSpPr txBox="1"/>
          <p:nvPr/>
        </p:nvSpPr>
        <p:spPr>
          <a:xfrm>
            <a:off x="675861" y="636104"/>
            <a:ext cx="7444409" cy="3412729"/>
          </a:xfrm>
          <a:prstGeom prst="rect">
            <a:avLst/>
          </a:prstGeom>
          <a:noFill/>
        </p:spPr>
        <p:txBody>
          <a:bodyPr wrap="square">
            <a:spAutoFit/>
          </a:bodyPr>
          <a:lstStyle/>
          <a:p>
            <a:pPr marL="0" lvl="0" indent="0" algn="l" rtl="0">
              <a:lnSpc>
                <a:spcPct val="150000"/>
              </a:lnSpc>
              <a:spcBef>
                <a:spcPts val="0"/>
              </a:spcBef>
              <a:spcAft>
                <a:spcPts val="0"/>
              </a:spcAft>
              <a:buSzPts val="1800"/>
              <a:buNone/>
            </a:pPr>
            <a:r>
              <a:rPr lang="en-US" sz="1800" b="1" dirty="0">
                <a:solidFill>
                  <a:schemeClr val="dk1"/>
                </a:solidFill>
                <a:latin typeface="Times New Roman" panose="02020603050405020304" pitchFamily="18" charset="0"/>
                <a:cs typeface="Times New Roman" panose="02020603050405020304" pitchFamily="18" charset="0"/>
              </a:rPr>
              <a:t>Range</a:t>
            </a:r>
            <a:r>
              <a:rPr lang="en-US" sz="1800" dirty="0">
                <a:solidFill>
                  <a:schemeClr val="dk1"/>
                </a:solidFill>
                <a:latin typeface="Times New Roman" panose="02020603050405020304" pitchFamily="18" charset="0"/>
                <a:cs typeface="Times New Roman" panose="02020603050405020304" pitchFamily="18" charset="0"/>
              </a:rPr>
              <a:t>: The difference between the maximum and minimum values</a:t>
            </a:r>
          </a:p>
          <a:p>
            <a:pPr marL="0" lvl="0" indent="0" algn="l" rtl="0">
              <a:lnSpc>
                <a:spcPct val="150000"/>
              </a:lnSpc>
              <a:spcBef>
                <a:spcPts val="1200"/>
              </a:spcBef>
              <a:spcAft>
                <a:spcPts val="0"/>
              </a:spcAft>
              <a:buSzPts val="1800"/>
              <a:buNone/>
            </a:pPr>
            <a:r>
              <a:rPr lang="en-US" sz="1800" b="1" dirty="0">
                <a:solidFill>
                  <a:schemeClr val="dk1"/>
                </a:solidFill>
                <a:latin typeface="Times New Roman" panose="02020603050405020304" pitchFamily="18" charset="0"/>
                <a:cs typeface="Times New Roman" panose="02020603050405020304" pitchFamily="18" charset="0"/>
              </a:rPr>
              <a:t>Variance</a:t>
            </a:r>
            <a:r>
              <a:rPr lang="en-US" sz="1800" dirty="0">
                <a:solidFill>
                  <a:schemeClr val="dk1"/>
                </a:solidFill>
                <a:latin typeface="Times New Roman" panose="02020603050405020304" pitchFamily="18" charset="0"/>
                <a:cs typeface="Times New Roman" panose="02020603050405020304" pitchFamily="18" charset="0"/>
              </a:rPr>
              <a:t>: Measures the spread of data points from the mean. It is the average of the squared differences from the mean.</a:t>
            </a:r>
          </a:p>
          <a:p>
            <a:pPr marL="0" lvl="0" indent="0" algn="l" rtl="0">
              <a:lnSpc>
                <a:spcPct val="150000"/>
              </a:lnSpc>
              <a:spcBef>
                <a:spcPts val="1200"/>
              </a:spcBef>
              <a:spcAft>
                <a:spcPts val="0"/>
              </a:spcAft>
              <a:buSzPts val="1800"/>
              <a:buNone/>
            </a:pPr>
            <a:r>
              <a:rPr lang="en-US" sz="1800" b="1" dirty="0">
                <a:solidFill>
                  <a:schemeClr val="dk1"/>
                </a:solidFill>
                <a:latin typeface="Times New Roman" panose="02020603050405020304" pitchFamily="18" charset="0"/>
                <a:cs typeface="Times New Roman" panose="02020603050405020304" pitchFamily="18" charset="0"/>
              </a:rPr>
              <a:t>Standard Deviation</a:t>
            </a:r>
            <a:r>
              <a:rPr lang="en-US" sz="1800" dirty="0">
                <a:solidFill>
                  <a:schemeClr val="dk1"/>
                </a:solidFill>
                <a:latin typeface="Times New Roman" panose="02020603050405020304" pitchFamily="18" charset="0"/>
                <a:cs typeface="Times New Roman" panose="02020603050405020304" pitchFamily="18" charset="0"/>
              </a:rPr>
              <a:t>: The square root of variance, which gives the spread of data points.</a:t>
            </a:r>
          </a:p>
          <a:p>
            <a:pPr marL="0" lvl="0" indent="0" algn="l" rtl="0">
              <a:lnSpc>
                <a:spcPct val="150000"/>
              </a:lnSpc>
              <a:spcBef>
                <a:spcPts val="1200"/>
              </a:spcBef>
              <a:spcAft>
                <a:spcPts val="1200"/>
              </a:spcAft>
              <a:buSzPts val="1800"/>
              <a:buNone/>
            </a:pPr>
            <a:r>
              <a:rPr lang="en-US" sz="1800" b="1" dirty="0">
                <a:solidFill>
                  <a:schemeClr val="dk1"/>
                </a:solidFill>
                <a:latin typeface="Times New Roman" panose="02020603050405020304" pitchFamily="18" charset="0"/>
                <a:cs typeface="Times New Roman" panose="02020603050405020304" pitchFamily="18" charset="0"/>
              </a:rPr>
              <a:t>Coefficient of Variation (CV)</a:t>
            </a:r>
            <a:r>
              <a:rPr lang="en-US" sz="1800" dirty="0">
                <a:solidFill>
                  <a:schemeClr val="dk1"/>
                </a:solidFill>
                <a:latin typeface="Times New Roman" panose="02020603050405020304" pitchFamily="18" charset="0"/>
                <a:cs typeface="Times New Roman" panose="02020603050405020304" pitchFamily="18" charset="0"/>
              </a:rPr>
              <a:t>: A standardized measure of dispersion, calculated as the ratio of the standard deviation to the mean.</a:t>
            </a:r>
          </a:p>
        </p:txBody>
      </p:sp>
    </p:spTree>
    <p:extLst>
      <p:ext uri="{BB962C8B-B14F-4D97-AF65-F5344CB8AC3E}">
        <p14:creationId xmlns:p14="http://schemas.microsoft.com/office/powerpoint/2010/main" val="42260848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7E15B-21D1-4C00-CBE7-590721448B1E}"/>
              </a:ext>
            </a:extLst>
          </p:cNvPr>
          <p:cNvSpPr>
            <a:spLocks noGrp="1"/>
          </p:cNvSpPr>
          <p:nvPr>
            <p:ph type="title"/>
          </p:nvPr>
        </p:nvSpPr>
        <p:spPr>
          <a:xfrm>
            <a:off x="311700" y="445024"/>
            <a:ext cx="8520600" cy="817245"/>
          </a:xfrm>
        </p:spPr>
        <p:txBody>
          <a:bodyPr>
            <a:normAutofit fontScale="90000"/>
          </a:bodyPr>
          <a:lstStyle/>
          <a:p>
            <a:r>
              <a:rPr lang="en" sz="3100" b="1" dirty="0">
                <a:solidFill>
                  <a:srgbClr val="FF0000"/>
                </a:solidFill>
                <a:latin typeface="Times New Roman" panose="02020603050405020304" pitchFamily="18" charset="0"/>
                <a:cs typeface="Times New Roman" panose="02020603050405020304" pitchFamily="18" charset="0"/>
              </a:rPr>
              <a:t>Measures of Dispersion/</a:t>
            </a:r>
            <a:r>
              <a:rPr lang="en-US" sz="3100" b="1" i="0" u="none" dirty="0">
                <a:solidFill>
                  <a:srgbClr val="FF0000"/>
                </a:solidFill>
                <a:latin typeface="Times New Roman" panose="02020603050405020304" pitchFamily="18" charset="0"/>
                <a:ea typeface="Times New Roman"/>
                <a:cs typeface="Times New Roman" panose="02020603050405020304" pitchFamily="18" charset="0"/>
                <a:sym typeface="Times New Roman"/>
              </a:rPr>
              <a:t> Variability Measurement</a:t>
            </a:r>
            <a:br>
              <a:rPr lang="en" sz="2800" b="1" dirty="0">
                <a:solidFill>
                  <a:srgbClr val="FF0000"/>
                </a:solidFill>
                <a:latin typeface="Times New Roman" panose="02020603050405020304" pitchFamily="18" charset="0"/>
                <a:cs typeface="Times New Roman" panose="02020603050405020304" pitchFamily="18" charset="0"/>
              </a:rPr>
            </a:br>
            <a:endParaRPr lang="en-IN"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7F0DE264-81B0-4C57-0104-D46A7BB98A08}"/>
                  </a:ext>
                </a:extLst>
              </p:cNvPr>
              <p:cNvSpPr>
                <a:spLocks noGrp="1"/>
              </p:cNvSpPr>
              <p:nvPr>
                <p:ph type="body" idx="1"/>
              </p:nvPr>
            </p:nvSpPr>
            <p:spPr/>
            <p:txBody>
              <a:bodyPr>
                <a:normAutofit/>
              </a:bodyPr>
              <a:lstStyle/>
              <a:p>
                <a:pPr marL="360000" indent="-457200">
                  <a:lnSpc>
                    <a:spcPct val="120000"/>
                  </a:lnSpc>
                  <a:buFont typeface="Wingdings" panose="05000000000000000000" pitchFamily="2" charset="2"/>
                  <a:buChar char="Ø"/>
                </a:pPr>
                <a:endParaRPr lang="en-US" sz="2500" b="1" dirty="0">
                  <a:solidFill>
                    <a:schemeClr val="tx1"/>
                  </a:solidFill>
                  <a:latin typeface="Times New Roman" panose="02020603050405020304" pitchFamily="18" charset="0"/>
                  <a:cs typeface="Times New Roman" panose="02020603050405020304" pitchFamily="18" charset="0"/>
                </a:endParaRPr>
              </a:p>
              <a:p>
                <a:pPr marL="360000" indent="-457200">
                  <a:lnSpc>
                    <a:spcPct val="120000"/>
                  </a:lnSpc>
                  <a:buClr>
                    <a:srgbClr val="FF0000"/>
                  </a:buClr>
                  <a:buFont typeface="Wingdings" panose="05000000000000000000" pitchFamily="2" charset="2"/>
                  <a:buChar char="Ø"/>
                </a:pPr>
                <a:r>
                  <a:rPr lang="en-US" sz="2500" b="1" dirty="0">
                    <a:solidFill>
                      <a:srgbClr val="FF0000"/>
                    </a:solidFill>
                    <a:latin typeface="Times New Roman" panose="02020603050405020304" pitchFamily="18" charset="0"/>
                    <a:cs typeface="Times New Roman" panose="02020603050405020304" pitchFamily="18" charset="0"/>
                  </a:rPr>
                  <a:t>Range</a:t>
                </a:r>
              </a:p>
              <a:p>
                <a:pPr marL="360000" indent="0">
                  <a:lnSpc>
                    <a:spcPct val="120000"/>
                  </a:lnSpc>
                  <a:buNone/>
                </a:pPr>
                <a:r>
                  <a:rPr lang="en-US" sz="2500" dirty="0">
                    <a:solidFill>
                      <a:schemeClr val="tx1"/>
                    </a:solidFill>
                    <a:latin typeface="Times New Roman" panose="02020603050405020304" pitchFamily="18" charset="0"/>
                    <a:cs typeface="Times New Roman" panose="02020603050405020304" pitchFamily="18" charset="0"/>
                  </a:rPr>
                  <a:t>It is the difference between the highest and lowest class midpoints:</a:t>
                </a:r>
              </a:p>
              <a:p>
                <a:pPr marL="360000" indent="0">
                  <a:lnSpc>
                    <a:spcPct val="120000"/>
                  </a:lnSpc>
                  <a:buNone/>
                </a:pPr>
                <a:r>
                  <a:rPr lang="en-US" sz="2500" dirty="0">
                    <a:solidFill>
                      <a:schemeClr val="tx1"/>
                    </a:solidFill>
                    <a:latin typeface="Times New Roman" panose="02020603050405020304" pitchFamily="18" charset="0"/>
                    <a:cs typeface="Times New Roman" panose="02020603050405020304" pitchFamily="18" charset="0"/>
                  </a:rPr>
                  <a:t>Range =  </a:t>
                </a:r>
                <a14:m>
                  <m:oMath xmlns:m="http://schemas.openxmlformats.org/officeDocument/2006/math">
                    <m:sSub>
                      <m:sSubPr>
                        <m:ctrlPr>
                          <a:rPr lang="en-US" sz="2500" i="1" smtClean="0">
                            <a:solidFill>
                              <a:schemeClr val="tx1"/>
                            </a:solidFill>
                            <a:latin typeface="Cambria Math" panose="02040503050406030204" pitchFamily="18" charset="0"/>
                          </a:rPr>
                        </m:ctrlPr>
                      </m:sSubPr>
                      <m:e>
                        <m:r>
                          <a:rPr lang="en-US" sz="2500" b="0" i="1" smtClean="0">
                            <a:solidFill>
                              <a:schemeClr val="tx1"/>
                            </a:solidFill>
                            <a:latin typeface="Cambria Math" panose="02040503050406030204" pitchFamily="18" charset="0"/>
                          </a:rPr>
                          <m:t>𝑥</m:t>
                        </m:r>
                      </m:e>
                      <m:sub>
                        <m:r>
                          <a:rPr lang="en-US" sz="2500" b="0" i="1" smtClean="0">
                            <a:solidFill>
                              <a:schemeClr val="tx1"/>
                            </a:solidFill>
                            <a:latin typeface="Cambria Math" panose="02040503050406030204" pitchFamily="18" charset="0"/>
                          </a:rPr>
                          <m:t>𝑚𝑎𝑥</m:t>
                        </m:r>
                      </m:sub>
                    </m:sSub>
                    <m:r>
                      <a:rPr lang="en-US" sz="2500" b="0" i="1" smtClean="0">
                        <a:solidFill>
                          <a:schemeClr val="tx1"/>
                        </a:solidFill>
                        <a:latin typeface="Cambria Math" panose="02040503050406030204" pitchFamily="18" charset="0"/>
                      </a:rPr>
                      <m:t> − </m:t>
                    </m:r>
                  </m:oMath>
                </a14:m>
                <a:r>
                  <a:rPr lang="en-US" sz="250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500" i="1">
                            <a:solidFill>
                              <a:schemeClr val="tx1"/>
                            </a:solidFill>
                            <a:latin typeface="Cambria Math" panose="02040503050406030204" pitchFamily="18" charset="0"/>
                          </a:rPr>
                        </m:ctrlPr>
                      </m:sSubPr>
                      <m:e>
                        <m:r>
                          <a:rPr lang="en-US" sz="2500" i="1">
                            <a:solidFill>
                              <a:schemeClr val="tx1"/>
                            </a:solidFill>
                            <a:latin typeface="Cambria Math" panose="02040503050406030204" pitchFamily="18" charset="0"/>
                          </a:rPr>
                          <m:t>𝑥</m:t>
                        </m:r>
                      </m:e>
                      <m:sub>
                        <m:r>
                          <a:rPr lang="en-US" sz="2500" i="1">
                            <a:solidFill>
                              <a:schemeClr val="tx1"/>
                            </a:solidFill>
                            <a:latin typeface="Cambria Math" panose="02040503050406030204" pitchFamily="18" charset="0"/>
                          </a:rPr>
                          <m:t>𝑚</m:t>
                        </m:r>
                        <m:r>
                          <a:rPr lang="en-US" sz="2500" b="0" i="1" smtClean="0">
                            <a:solidFill>
                              <a:schemeClr val="tx1"/>
                            </a:solidFill>
                            <a:latin typeface="Cambria Math" panose="02040503050406030204" pitchFamily="18" charset="0"/>
                          </a:rPr>
                          <m:t>𝑖𝑛</m:t>
                        </m:r>
                      </m:sub>
                    </m:sSub>
                  </m:oMath>
                </a14:m>
                <a:endParaRPr lang="en-US" sz="2500" dirty="0">
                  <a:solidFill>
                    <a:schemeClr val="tx1"/>
                  </a:solidFill>
                  <a:latin typeface="Times New Roman" panose="02020603050405020304" pitchFamily="18" charset="0"/>
                  <a:cs typeface="Times New Roman" panose="02020603050405020304" pitchFamily="18" charset="0"/>
                </a:endParaRPr>
              </a:p>
              <a:p>
                <a:pPr marL="360000" indent="0">
                  <a:lnSpc>
                    <a:spcPct val="120000"/>
                  </a:lnSpc>
                  <a:buNone/>
                </a:pPr>
                <a:endParaRPr lang="en-US" sz="7200" dirty="0">
                  <a:solidFill>
                    <a:schemeClr val="tx1"/>
                  </a:solidFill>
                  <a:latin typeface="Times New Roman" panose="02020603050405020304" pitchFamily="18" charset="0"/>
                  <a:cs typeface="Times New Roman" panose="02020603050405020304" pitchFamily="18" charset="0"/>
                </a:endParaRPr>
              </a:p>
              <a:p>
                <a:pPr marL="360000" indent="0">
                  <a:lnSpc>
                    <a:spcPct val="120000"/>
                  </a:lnSpc>
                  <a:buNone/>
                </a:pPr>
                <a:endParaRPr lang="en-US" sz="7200"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 name="Text Placeholder 2">
                <a:extLst>
                  <a:ext uri="{FF2B5EF4-FFF2-40B4-BE49-F238E27FC236}">
                    <a16:creationId xmlns:a16="http://schemas.microsoft.com/office/drawing/2014/main" id="{7F0DE264-81B0-4C57-0104-D46A7BB98A08}"/>
                  </a:ext>
                </a:extLst>
              </p:cNvPr>
              <p:cNvSpPr>
                <a:spLocks noGrp="1" noRot="1" noChangeAspect="1" noMove="1" noResize="1" noEditPoints="1" noAdjustHandles="1" noChangeArrowheads="1" noChangeShapeType="1" noTextEdit="1"/>
              </p:cNvSpPr>
              <p:nvPr>
                <p:ph type="body" idx="1"/>
              </p:nvPr>
            </p:nvSpPr>
            <p:spPr>
              <a:blipFill>
                <a:blip r:embed="rId2"/>
                <a:stretch>
                  <a:fillRect l="-429"/>
                </a:stretch>
              </a:blipFill>
            </p:spPr>
            <p:txBody>
              <a:bodyPr/>
              <a:lstStyle/>
              <a:p>
                <a:r>
                  <a:rPr lang="en-IN">
                    <a:noFill/>
                  </a:rPr>
                  <a:t> </a:t>
                </a:r>
              </a:p>
            </p:txBody>
          </p:sp>
        </mc:Fallback>
      </mc:AlternateContent>
    </p:spTree>
    <p:extLst>
      <p:ext uri="{BB962C8B-B14F-4D97-AF65-F5344CB8AC3E}">
        <p14:creationId xmlns:p14="http://schemas.microsoft.com/office/powerpoint/2010/main" val="39659931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pic>
        <p:nvPicPr>
          <p:cNvPr id="458" name="Google Shape;458;p50"/>
          <p:cNvPicPr preferRelativeResize="0"/>
          <p:nvPr/>
        </p:nvPicPr>
        <p:blipFill rotWithShape="1">
          <a:blip r:embed="rId3">
            <a:alphaModFix/>
          </a:blip>
          <a:srcRect/>
          <a:stretch/>
        </p:blipFill>
        <p:spPr>
          <a:xfrm>
            <a:off x="914401" y="327991"/>
            <a:ext cx="6997148" cy="4620789"/>
          </a:xfrm>
          <a:prstGeom prst="rect">
            <a:avLst/>
          </a:prstGeom>
          <a:noFill/>
          <a:ln>
            <a:noFill/>
          </a:ln>
        </p:spPr>
      </p:pic>
    </p:spTree>
    <p:extLst>
      <p:ext uri="{BB962C8B-B14F-4D97-AF65-F5344CB8AC3E}">
        <p14:creationId xmlns:p14="http://schemas.microsoft.com/office/powerpoint/2010/main" val="4498237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5D7EDA2-BCC7-F7C7-530D-D07A3DCB33A2}"/>
                  </a:ext>
                </a:extLst>
              </p:cNvPr>
              <p:cNvSpPr txBox="1"/>
              <p:nvPr/>
            </p:nvSpPr>
            <p:spPr>
              <a:xfrm>
                <a:off x="139148" y="198783"/>
                <a:ext cx="8925339" cy="4002634"/>
              </a:xfrm>
              <a:prstGeom prst="rect">
                <a:avLst/>
              </a:prstGeom>
              <a:noFill/>
            </p:spPr>
            <p:txBody>
              <a:bodyPr wrap="square">
                <a:spAutoFit/>
              </a:bodyPr>
              <a:lstStyle/>
              <a:p>
                <a:pPr marL="360000" indent="-457200">
                  <a:lnSpc>
                    <a:spcPct val="120000"/>
                  </a:lnSpc>
                  <a:buClr>
                    <a:srgbClr val="FF0000"/>
                  </a:buClr>
                  <a:buFont typeface="Wingdings" panose="05000000000000000000" pitchFamily="2" charset="2"/>
                  <a:buChar char="Ø"/>
                </a:pPr>
                <a:r>
                  <a:rPr lang="en-US" sz="2400" b="1" dirty="0">
                    <a:solidFill>
                      <a:srgbClr val="FF0000"/>
                    </a:solidFill>
                    <a:latin typeface="Times New Roman" panose="02020603050405020304" pitchFamily="18" charset="0"/>
                    <a:cs typeface="Times New Roman" panose="02020603050405020304" pitchFamily="18" charset="0"/>
                  </a:rPr>
                  <a:t>Standard Deviation (σ)</a:t>
                </a:r>
              </a:p>
              <a:p>
                <a:pPr marL="360000" indent="0">
                  <a:lnSpc>
                    <a:spcPct val="120000"/>
                  </a:lnSpc>
                  <a:buNone/>
                </a:pPr>
                <a:r>
                  <a:rPr lang="en-US" sz="2400" dirty="0">
                    <a:solidFill>
                      <a:schemeClr val="tx1"/>
                    </a:solidFill>
                    <a:latin typeface="Times New Roman" panose="02020603050405020304" pitchFamily="18" charset="0"/>
                    <a:cs typeface="Times New Roman" panose="02020603050405020304" pitchFamily="18" charset="0"/>
                  </a:rPr>
                  <a:t> </a:t>
                </a:r>
                <a:r>
                  <a:rPr lang="en" sz="2400" dirty="0">
                    <a:solidFill>
                      <a:schemeClr val="dk1"/>
                    </a:solidFill>
                    <a:latin typeface="Times New Roman" panose="02020603050405020304" pitchFamily="18" charset="0"/>
                    <a:cs typeface="Times New Roman" panose="02020603050405020304" pitchFamily="18" charset="0"/>
                  </a:rPr>
                  <a:t>The square root of variance, which gives the spread of data points.</a:t>
                </a:r>
                <a:r>
                  <a:rPr lang="en-US" sz="2400" dirty="0">
                    <a:solidFill>
                      <a:schemeClr val="tx1"/>
                    </a:solidFill>
                    <a:latin typeface="Times New Roman" panose="02020603050405020304" pitchFamily="18" charset="0"/>
                    <a:cs typeface="Times New Roman" panose="02020603050405020304" pitchFamily="18" charset="0"/>
                  </a:rPr>
                  <a:t>                 </a:t>
                </a:r>
              </a:p>
              <a:p>
                <a:pPr marL="360000" indent="0">
                  <a:lnSpc>
                    <a:spcPct val="120000"/>
                  </a:lnSpc>
                  <a:buNone/>
                </a:pPr>
                <a:r>
                  <a:rPr lang="en-US" sz="2400" dirty="0">
                    <a:solidFill>
                      <a:schemeClr val="tx1"/>
                    </a:solidFill>
                    <a:latin typeface="Times New Roman" panose="02020603050405020304" pitchFamily="18" charset="0"/>
                    <a:cs typeface="Times New Roman" panose="02020603050405020304" pitchFamily="18" charset="0"/>
                  </a:rPr>
                  <a:t>  S. D.  =  </a:t>
                </a:r>
                <a14:m>
                  <m:oMath xmlns:m="http://schemas.openxmlformats.org/officeDocument/2006/math">
                    <m:rad>
                      <m:radPr>
                        <m:degHide m:val="on"/>
                        <m:ctrlPr>
                          <a:rPr lang="en-US" sz="2400" i="1" smtClean="0">
                            <a:solidFill>
                              <a:schemeClr val="tx1"/>
                            </a:solidFill>
                            <a:latin typeface="Cambria Math" panose="02040503050406030204" pitchFamily="18" charset="0"/>
                            <a:cs typeface="Times New Roman" panose="02020603050405020304" pitchFamily="18" charset="0"/>
                          </a:rPr>
                        </m:ctrlPr>
                      </m:radPr>
                      <m:deg/>
                      <m:e>
                        <m:f>
                          <m:fPr>
                            <m:ctrlPr>
                              <a:rPr lang="en-US" sz="2400" i="1">
                                <a:solidFill>
                                  <a:schemeClr val="tx1"/>
                                </a:solidFill>
                                <a:latin typeface="Cambria Math" panose="02040503050406030204" pitchFamily="18" charset="0"/>
                                <a:cs typeface="Times New Roman" panose="02020603050405020304" pitchFamily="18" charset="0"/>
                              </a:rPr>
                            </m:ctrlPr>
                          </m:fPr>
                          <m:num>
                            <m:nary>
                              <m:naryPr>
                                <m:chr m:val="∑"/>
                                <m:subHide m:val="on"/>
                                <m:supHide m:val="on"/>
                                <m:ctrlPr>
                                  <a:rPr lang="en-US" sz="2400" i="1">
                                    <a:solidFill>
                                      <a:schemeClr val="tx1"/>
                                    </a:solidFill>
                                    <a:latin typeface="Cambria Math" panose="02040503050406030204" pitchFamily="18" charset="0"/>
                                    <a:cs typeface="Times New Roman" panose="02020603050405020304" pitchFamily="18" charset="0"/>
                                  </a:rPr>
                                </m:ctrlPr>
                              </m:naryPr>
                              <m:sub/>
                              <m:sup/>
                              <m:e>
                                <m:sSup>
                                  <m:sSupPr>
                                    <m:ctrlPr>
                                      <a:rPr lang="en-US" sz="2400" i="1">
                                        <a:solidFill>
                                          <a:schemeClr val="tx1"/>
                                        </a:solidFill>
                                        <a:latin typeface="Cambria Math" panose="02040503050406030204" pitchFamily="18" charset="0"/>
                                        <a:cs typeface="Times New Roman" panose="02020603050405020304" pitchFamily="18" charset="0"/>
                                      </a:rPr>
                                    </m:ctrlPr>
                                  </m:sSupPr>
                                  <m:e>
                                    <m:sSub>
                                      <m:sSubPr>
                                        <m:ctrlPr>
                                          <a:rPr lang="en-US" sz="2400" i="1">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𝑓</m:t>
                                        </m:r>
                                      </m:e>
                                      <m:sub>
                                        <m:r>
                                          <a:rPr lang="en-US" sz="2400" b="0" i="1" smtClean="0">
                                            <a:solidFill>
                                              <a:schemeClr val="tx1"/>
                                            </a:solidFill>
                                            <a:latin typeface="Cambria Math" panose="02040503050406030204" pitchFamily="18" charset="0"/>
                                          </a:rPr>
                                          <m:t>𝑖</m:t>
                                        </m:r>
                                      </m:sub>
                                    </m:sSub>
                                    <m:r>
                                      <a:rPr lang="en-US" sz="2400" i="1">
                                        <a:solidFill>
                                          <a:schemeClr val="tx1"/>
                                        </a:solidFill>
                                        <a:latin typeface="Cambria Math" panose="02040503050406030204" pitchFamily="18" charset="0"/>
                                        <a:cs typeface="Times New Roman" panose="02020603050405020304" pitchFamily="18" charset="0"/>
                                      </a:rPr>
                                      <m:t>( </m:t>
                                    </m:r>
                                    <m:r>
                                      <a:rPr lang="en-US" sz="2400" i="1">
                                        <a:solidFill>
                                          <a:schemeClr val="tx1"/>
                                        </a:solidFill>
                                        <a:latin typeface="Cambria Math" panose="02040503050406030204" pitchFamily="18" charset="0"/>
                                        <a:cs typeface="Times New Roman" panose="02020603050405020304" pitchFamily="18" charset="0"/>
                                      </a:rPr>
                                      <m:t>𝑥𝑖</m:t>
                                    </m:r>
                                    <m:r>
                                      <a:rPr lang="en-US" sz="2400" i="1">
                                        <a:solidFill>
                                          <a:schemeClr val="tx1"/>
                                        </a:solidFill>
                                        <a:latin typeface="Cambria Math" panose="02040503050406030204" pitchFamily="18" charset="0"/>
                                        <a:cs typeface="Times New Roman" panose="02020603050405020304" pitchFamily="18" charset="0"/>
                                      </a:rPr>
                                      <m:t>  − </m:t>
                                    </m:r>
                                    <m:r>
                                      <a:rPr lang="en-US" sz="2400" i="1">
                                        <a:solidFill>
                                          <a:schemeClr val="tx1"/>
                                        </a:solidFill>
                                        <a:latin typeface="Cambria Math" panose="02040503050406030204" pitchFamily="18" charset="0"/>
                                        <a:cs typeface="Times New Roman" panose="02020603050405020304" pitchFamily="18" charset="0"/>
                                      </a:rPr>
                                      <m:t>𝜇</m:t>
                                    </m:r>
                                    <m:r>
                                      <a:rPr lang="en-US" sz="2400" i="1">
                                        <a:solidFill>
                                          <a:schemeClr val="tx1"/>
                                        </a:solidFill>
                                        <a:latin typeface="Cambria Math" panose="02040503050406030204" pitchFamily="18" charset="0"/>
                                        <a:cs typeface="Times New Roman" panose="02020603050405020304" pitchFamily="18" charset="0"/>
                                      </a:rPr>
                                      <m:t>)</m:t>
                                    </m:r>
                                  </m:e>
                                  <m:sup>
                                    <m:r>
                                      <a:rPr lang="en-US" sz="2400" i="1">
                                        <a:solidFill>
                                          <a:schemeClr val="tx1"/>
                                        </a:solidFill>
                                        <a:latin typeface="Cambria Math" panose="02040503050406030204" pitchFamily="18" charset="0"/>
                                        <a:cs typeface="Times New Roman" panose="02020603050405020304" pitchFamily="18" charset="0"/>
                                      </a:rPr>
                                      <m:t>2</m:t>
                                    </m:r>
                                  </m:sup>
                                </m:sSup>
                              </m:e>
                            </m:nary>
                          </m:num>
                          <m:den>
                            <m:r>
                              <a:rPr lang="en-US" sz="2400" i="1">
                                <a:solidFill>
                                  <a:schemeClr val="tx1"/>
                                </a:solidFill>
                                <a:latin typeface="Cambria Math" panose="02040503050406030204" pitchFamily="18" charset="0"/>
                              </a:rPr>
                              <m:t>𝑛</m:t>
                            </m:r>
                          </m:den>
                        </m:f>
                      </m:e>
                    </m:rad>
                  </m:oMath>
                </a14:m>
                <a:endParaRPr lang="en-US" sz="2400" b="1" dirty="0">
                  <a:solidFill>
                    <a:schemeClr val="tx1"/>
                  </a:solidFill>
                  <a:latin typeface="Times New Roman" panose="02020603050405020304" pitchFamily="18" charset="0"/>
                  <a:cs typeface="Times New Roman" panose="02020603050405020304" pitchFamily="18" charset="0"/>
                </a:endParaRPr>
              </a:p>
              <a:p>
                <a:pPr marL="360000" indent="0">
                  <a:lnSpc>
                    <a:spcPct val="120000"/>
                  </a:lnSpc>
                  <a:buNone/>
                </a:pPr>
                <a:endParaRPr lang="en-US" sz="2400" b="1" dirty="0">
                  <a:solidFill>
                    <a:schemeClr val="tx1"/>
                  </a:solidFill>
                  <a:latin typeface="Times New Roman" panose="02020603050405020304" pitchFamily="18" charset="0"/>
                  <a:cs typeface="Times New Roman" panose="02020603050405020304" pitchFamily="18" charset="0"/>
                </a:endParaRPr>
              </a:p>
              <a:p>
                <a:pPr marL="360000" indent="-457200">
                  <a:lnSpc>
                    <a:spcPct val="120000"/>
                  </a:lnSpc>
                  <a:buClr>
                    <a:srgbClr val="FF0000"/>
                  </a:buClr>
                  <a:buFont typeface="Wingdings" panose="05000000000000000000" pitchFamily="2" charset="2"/>
                  <a:buChar char="Ø"/>
                </a:pPr>
                <a:r>
                  <a:rPr lang="en-US" sz="2400" b="1" dirty="0">
                    <a:solidFill>
                      <a:srgbClr val="FF0000"/>
                    </a:solidFill>
                    <a:latin typeface="Times New Roman" panose="02020603050405020304" pitchFamily="18" charset="0"/>
                    <a:cs typeface="Times New Roman" panose="02020603050405020304" pitchFamily="18" charset="0"/>
                  </a:rPr>
                  <a:t>Coefficient of Variation:</a:t>
                </a:r>
                <a:r>
                  <a:rPr lang="en" sz="2400" dirty="0">
                    <a:solidFill>
                      <a:srgbClr val="FF0000"/>
                    </a:solidFill>
                    <a:latin typeface="Times New Roman" panose="02020603050405020304" pitchFamily="18" charset="0"/>
                    <a:cs typeface="Times New Roman" panose="02020603050405020304" pitchFamily="18" charset="0"/>
                  </a:rPr>
                  <a:t> </a:t>
                </a:r>
                <a:r>
                  <a:rPr lang="en" sz="2400" dirty="0">
                    <a:solidFill>
                      <a:schemeClr val="dk1"/>
                    </a:solidFill>
                    <a:latin typeface="Times New Roman" panose="02020603050405020304" pitchFamily="18" charset="0"/>
                    <a:cs typeface="Times New Roman" panose="02020603050405020304" pitchFamily="18" charset="0"/>
                  </a:rPr>
                  <a:t>A standardized measure of dispersion, calculated as the ratio of the standard deviation to the mean.</a:t>
                </a:r>
                <a:endParaRPr lang="en-US" sz="2400" b="1" dirty="0">
                  <a:solidFill>
                    <a:schemeClr val="tx1"/>
                  </a:solidFill>
                  <a:latin typeface="Times New Roman" panose="02020603050405020304" pitchFamily="18" charset="0"/>
                  <a:cs typeface="Times New Roman" panose="02020603050405020304" pitchFamily="18" charset="0"/>
                </a:endParaRPr>
              </a:p>
              <a:p>
                <a:pPr marL="360000" indent="0">
                  <a:lnSpc>
                    <a:spcPct val="120000"/>
                  </a:lnSpc>
                  <a:buNone/>
                </a:pPr>
                <a:r>
                  <a:rPr lang="en-US" sz="2400" dirty="0">
                    <a:solidFill>
                      <a:schemeClr val="tx1"/>
                    </a:solidFill>
                    <a:latin typeface="Times New Roman" panose="02020603050405020304" pitchFamily="18" charset="0"/>
                    <a:cs typeface="Times New Roman" panose="02020603050405020304" pitchFamily="18" charset="0"/>
                  </a:rPr>
                  <a:t>  C. V = </a:t>
                </a:r>
                <a14:m>
                  <m:oMath xmlns:m="http://schemas.openxmlformats.org/officeDocument/2006/math">
                    <m:f>
                      <m:fPr>
                        <m:ctrlPr>
                          <a:rPr lang="en-US" sz="2400" i="1" smtClean="0">
                            <a:solidFill>
                              <a:schemeClr val="tx1"/>
                            </a:solidFill>
                            <a:latin typeface="Cambria Math" panose="02040503050406030204" pitchFamily="18" charset="0"/>
                            <a:cs typeface="Times New Roman" panose="02020603050405020304" pitchFamily="18" charset="0"/>
                          </a:rPr>
                        </m:ctrlPr>
                      </m:fPr>
                      <m:num>
                        <m:r>
                          <m:rPr>
                            <m:nor/>
                          </m:rPr>
                          <a:rPr lang="en-US" sz="2400">
                            <a:solidFill>
                              <a:schemeClr val="tx1"/>
                            </a:solidFill>
                            <a:latin typeface="Times New Roman" panose="02020603050405020304" pitchFamily="18" charset="0"/>
                            <a:cs typeface="Times New Roman" panose="02020603050405020304" pitchFamily="18" charset="0"/>
                          </a:rPr>
                          <m:t>Standard</m:t>
                        </m:r>
                        <m:r>
                          <m:rPr>
                            <m:nor/>
                          </m:rPr>
                          <a:rPr lang="en-US" sz="2400">
                            <a:solidFill>
                              <a:schemeClr val="tx1"/>
                            </a:solidFill>
                            <a:latin typeface="Times New Roman" panose="02020603050405020304" pitchFamily="18" charset="0"/>
                            <a:cs typeface="Times New Roman" panose="02020603050405020304" pitchFamily="18" charset="0"/>
                          </a:rPr>
                          <m:t> </m:t>
                        </m:r>
                        <m:r>
                          <m:rPr>
                            <m:nor/>
                          </m:rPr>
                          <a:rPr lang="en-US" sz="2400">
                            <a:solidFill>
                              <a:schemeClr val="tx1"/>
                            </a:solidFill>
                            <a:latin typeface="Times New Roman" panose="02020603050405020304" pitchFamily="18" charset="0"/>
                            <a:cs typeface="Times New Roman" panose="02020603050405020304" pitchFamily="18" charset="0"/>
                          </a:rPr>
                          <m:t>Deviation</m:t>
                        </m:r>
                      </m:num>
                      <m:den>
                        <m:r>
                          <m:rPr>
                            <m:nor/>
                          </m:rPr>
                          <a:rPr lang="el-GR" sz="2400" dirty="0">
                            <a:solidFill>
                              <a:schemeClr val="tx1"/>
                            </a:solidFill>
                            <a:latin typeface="Times New Roman" panose="02020603050405020304" pitchFamily="18" charset="0"/>
                            <a:cs typeface="Times New Roman" panose="02020603050405020304" pitchFamily="18" charset="0"/>
                          </a:rPr>
                          <m:t>μ</m:t>
                        </m:r>
                      </m:den>
                    </m:f>
                  </m:oMath>
                </a14:m>
                <a:r>
                  <a:rPr lang="en-US" sz="2400" dirty="0">
                    <a:solidFill>
                      <a:schemeClr val="tx1"/>
                    </a:solidFill>
                    <a:latin typeface="Times New Roman" panose="02020603050405020304" pitchFamily="18" charset="0"/>
                    <a:cs typeface="Times New Roman" panose="02020603050405020304" pitchFamily="18" charset="0"/>
                  </a:rPr>
                  <a:t>  ×  100</a:t>
                </a:r>
              </a:p>
            </p:txBody>
          </p:sp>
        </mc:Choice>
        <mc:Fallback xmlns="">
          <p:sp>
            <p:nvSpPr>
              <p:cNvPr id="3" name="TextBox 2">
                <a:extLst>
                  <a:ext uri="{FF2B5EF4-FFF2-40B4-BE49-F238E27FC236}">
                    <a16:creationId xmlns:a16="http://schemas.microsoft.com/office/drawing/2014/main" id="{25D7EDA2-BCC7-F7C7-530D-D07A3DCB33A2}"/>
                  </a:ext>
                </a:extLst>
              </p:cNvPr>
              <p:cNvSpPr txBox="1">
                <a:spLocks noRot="1" noChangeAspect="1" noMove="1" noResize="1" noEditPoints="1" noAdjustHandles="1" noChangeArrowheads="1" noChangeShapeType="1" noTextEdit="1"/>
              </p:cNvSpPr>
              <p:nvPr/>
            </p:nvSpPr>
            <p:spPr>
              <a:xfrm>
                <a:off x="139148" y="198783"/>
                <a:ext cx="8925339" cy="4002634"/>
              </a:xfrm>
              <a:prstGeom prst="rect">
                <a:avLst/>
              </a:prstGeom>
              <a:blipFill>
                <a:blip r:embed="rId2"/>
                <a:stretch>
                  <a:fillRect l="-956" t="-305"/>
                </a:stretch>
              </a:blipFill>
            </p:spPr>
            <p:txBody>
              <a:bodyPr/>
              <a:lstStyle/>
              <a:p>
                <a:r>
                  <a:rPr lang="en-IN">
                    <a:noFill/>
                  </a:rPr>
                  <a:t> </a:t>
                </a:r>
              </a:p>
            </p:txBody>
          </p:sp>
        </mc:Fallback>
      </mc:AlternateContent>
    </p:spTree>
    <p:extLst>
      <p:ext uri="{BB962C8B-B14F-4D97-AF65-F5344CB8AC3E}">
        <p14:creationId xmlns:p14="http://schemas.microsoft.com/office/powerpoint/2010/main" val="26928846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8A2AD-8DC2-BEED-9B56-95EABCD1352F}"/>
              </a:ext>
            </a:extLst>
          </p:cNvPr>
          <p:cNvSpPr>
            <a:spLocks noGrp="1"/>
          </p:cNvSpPr>
          <p:nvPr>
            <p:ph type="title" idx="4294967295"/>
          </p:nvPr>
        </p:nvSpPr>
        <p:spPr>
          <a:xfrm>
            <a:off x="0" y="206375"/>
            <a:ext cx="8229600" cy="76200"/>
          </a:xfrm>
        </p:spPr>
        <p:txBody>
          <a:bodyPr>
            <a:normAutofit fontScale="90000"/>
          </a:bodyPr>
          <a:lstStyle/>
          <a:p>
            <a:r>
              <a:rPr lang="en-US" dirty="0"/>
              <a:t>.</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34851909-8F8F-68FC-96C5-A61B562548B6}"/>
                  </a:ext>
                </a:extLst>
              </p:cNvPr>
              <p:cNvSpPr>
                <a:spLocks noGrp="1"/>
              </p:cNvSpPr>
              <p:nvPr>
                <p:ph type="body" idx="4294967295"/>
              </p:nvPr>
            </p:nvSpPr>
            <p:spPr>
              <a:xfrm>
                <a:off x="0" y="282575"/>
                <a:ext cx="9144000" cy="4860925"/>
              </a:xfrm>
            </p:spPr>
            <p:txBody>
              <a:bodyPr>
                <a:normAutofit fontScale="77500" lnSpcReduction="20000"/>
              </a:bodyPr>
              <a:lstStyle/>
              <a:p>
                <a:pPr marL="114300" indent="0">
                  <a:buNone/>
                </a:pPr>
                <a:endParaRPr lang="en-US"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US"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US"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US"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US"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US"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US"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US"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US" dirty="0">
                  <a:solidFill>
                    <a:schemeClr val="tx1"/>
                  </a:solidFill>
                  <a:latin typeface="Times New Roman" panose="02020603050405020304" pitchFamily="18" charset="0"/>
                  <a:cs typeface="Times New Roman" panose="02020603050405020304" pitchFamily="18" charset="0"/>
                </a:endParaRPr>
              </a:p>
              <a:p>
                <a:pPr>
                  <a:buFont typeface="+mj-lt"/>
                  <a:buAutoNum type="arabicPeriod"/>
                </a:pPr>
                <a:r>
                  <a:rPr lang="en-US" dirty="0">
                    <a:solidFill>
                      <a:schemeClr val="tx1"/>
                    </a:solidFill>
                    <a:latin typeface="Times New Roman" panose="02020603050405020304" pitchFamily="18" charset="0"/>
                    <a:cs typeface="Times New Roman" panose="02020603050405020304" pitchFamily="18" charset="0"/>
                  </a:rPr>
                  <a:t>Calculate the mean </a:t>
                </a:r>
                <a:r>
                  <a:rPr lang="el-GR" dirty="0">
                    <a:solidFill>
                      <a:schemeClr val="tx1"/>
                    </a:solidFill>
                    <a:latin typeface="Times New Roman" panose="02020603050405020304" pitchFamily="18" charset="0"/>
                    <a:cs typeface="Times New Roman" panose="02020603050405020304" pitchFamily="18" charset="0"/>
                  </a:rPr>
                  <a:t>μ</a:t>
                </a:r>
                <a:r>
                  <a:rPr lang="en-US" dirty="0">
                    <a:solidFill>
                      <a:schemeClr val="tx1"/>
                    </a:solidFill>
                    <a:latin typeface="Times New Roman" panose="02020603050405020304" pitchFamily="18" charset="0"/>
                    <a:cs typeface="Times New Roman" panose="02020603050405020304" pitchFamily="18" charset="0"/>
                  </a:rPr>
                  <a:t> </a:t>
                </a:r>
                <a:r>
                  <a:rPr lang="el-GR" dirty="0">
                    <a:solidFill>
                      <a:schemeClr val="tx1"/>
                    </a:solidFill>
                    <a:latin typeface="Times New Roman" panose="02020603050405020304" pitchFamily="18" charset="0"/>
                    <a:cs typeface="Times New Roman" panose="02020603050405020304" pitchFamily="18" charset="0"/>
                  </a:rPr>
                  <a:t>=</a:t>
                </a:r>
                <a:r>
                  <a:rPr lang="en-US"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f>
                      <m:fPr>
                        <m:ctrlPr>
                          <a:rPr lang="en-IN" b="1" i="1" kern="10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b="1" i="1" kern="10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𝟒𝟑𝟎</m:t>
                        </m:r>
                      </m:num>
                      <m:den>
                        <m:r>
                          <a:rPr lang="en-US" b="1" i="1" kern="10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𝟐𝟎</m:t>
                        </m:r>
                      </m:den>
                    </m:f>
                  </m:oMath>
                </a14:m>
                <a:r>
                  <a:rPr lang="en-US" dirty="0">
                    <a:solidFill>
                      <a:schemeClr val="tx1"/>
                    </a:solidFill>
                    <a:latin typeface="Times New Roman" panose="02020603050405020304" pitchFamily="18" charset="0"/>
                    <a:cs typeface="Times New Roman" panose="02020603050405020304" pitchFamily="18" charset="0"/>
                  </a:rPr>
                  <a:t>  =  21.5</a:t>
                </a:r>
              </a:p>
              <a:p>
                <a:pPr>
                  <a:buFont typeface="+mj-lt"/>
                  <a:buAutoNum type="arabicPeriod"/>
                </a:pPr>
                <a:r>
                  <a:rPr lang="nn-NO" dirty="0">
                    <a:solidFill>
                      <a:schemeClr val="tx1"/>
                    </a:solidFill>
                    <a:latin typeface="Times New Roman" panose="02020603050405020304" pitchFamily="18" charset="0"/>
                    <a:cs typeface="Times New Roman" panose="02020603050405020304" pitchFamily="18" charset="0"/>
                  </a:rPr>
                  <a:t>Sum   </a:t>
                </a:r>
                <a14:m>
                  <m:oMath xmlns:m="http://schemas.openxmlformats.org/officeDocument/2006/math">
                    <m:nary>
                      <m:naryPr>
                        <m:chr m:val="∑"/>
                        <m:subHide m:val="on"/>
                        <m:supHide m:val="on"/>
                        <m:ctrlPr>
                          <a:rPr lang="en-US" i="1" smtClean="0">
                            <a:solidFill>
                              <a:schemeClr val="tx1"/>
                            </a:solidFill>
                            <a:latin typeface="Cambria Math" panose="02040503050406030204" pitchFamily="18" charset="0"/>
                            <a:cs typeface="Times New Roman" panose="02020603050405020304" pitchFamily="18" charset="0"/>
                          </a:rPr>
                        </m:ctrlPr>
                      </m:naryPr>
                      <m:sub/>
                      <m:sup/>
                      <m:e>
                        <m:sSup>
                          <m:sSupPr>
                            <m:ctrlPr>
                              <a:rPr lang="en-US" i="1" smtClean="0">
                                <a:solidFill>
                                  <a:schemeClr val="tx1"/>
                                </a:solidFill>
                                <a:latin typeface="Cambria Math" panose="02040503050406030204" pitchFamily="18" charset="0"/>
                                <a:cs typeface="Times New Roman" panose="02020603050405020304" pitchFamily="18" charset="0"/>
                              </a:rPr>
                            </m:ctrlPr>
                          </m:sSupPr>
                          <m:e>
                            <m:sSub>
                              <m:sSubPr>
                                <m:ctrlPr>
                                  <a:rPr lang="en-US"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𝑓</m:t>
                                </m:r>
                              </m:e>
                              <m:sub>
                                <m:r>
                                  <a:rPr lang="en-US" b="0" i="1" smtClean="0">
                                    <a:solidFill>
                                      <a:schemeClr val="tx1"/>
                                    </a:solidFill>
                                    <a:latin typeface="Cambria Math" panose="02040503050406030204" pitchFamily="18" charset="0"/>
                                  </a:rPr>
                                  <m:t>𝑖</m:t>
                                </m:r>
                              </m:sub>
                            </m:sSub>
                            <m:r>
                              <a:rPr lang="en-US" i="1">
                                <a:solidFill>
                                  <a:schemeClr val="tx1"/>
                                </a:solidFill>
                                <a:latin typeface="Cambria Math" panose="02040503050406030204" pitchFamily="18" charset="0"/>
                                <a:cs typeface="Times New Roman" panose="02020603050405020304" pitchFamily="18" charset="0"/>
                              </a:rPr>
                              <m:t>( </m:t>
                            </m:r>
                            <m:r>
                              <a:rPr lang="en-US" i="1">
                                <a:solidFill>
                                  <a:schemeClr val="tx1"/>
                                </a:solidFill>
                                <a:latin typeface="Cambria Math" panose="02040503050406030204" pitchFamily="18" charset="0"/>
                                <a:cs typeface="Times New Roman" panose="02020603050405020304" pitchFamily="18" charset="0"/>
                              </a:rPr>
                              <m:t>𝑥𝑖</m:t>
                            </m:r>
                            <m:r>
                              <a:rPr lang="en-US" i="1">
                                <a:solidFill>
                                  <a:schemeClr val="tx1"/>
                                </a:solidFill>
                                <a:latin typeface="Cambria Math" panose="02040503050406030204" pitchFamily="18" charset="0"/>
                                <a:cs typeface="Times New Roman" panose="02020603050405020304" pitchFamily="18" charset="0"/>
                              </a:rPr>
                              <m:t>  − </m:t>
                            </m:r>
                            <m:r>
                              <a:rPr lang="en-US" i="1">
                                <a:solidFill>
                                  <a:schemeClr val="tx1"/>
                                </a:solidFill>
                                <a:latin typeface="Cambria Math" panose="02040503050406030204" pitchFamily="18" charset="0"/>
                                <a:cs typeface="Times New Roman" panose="02020603050405020304" pitchFamily="18" charset="0"/>
                              </a:rPr>
                              <m:t>𝜇</m:t>
                            </m:r>
                            <m:r>
                              <a:rPr lang="en-US" i="1">
                                <a:solidFill>
                                  <a:schemeClr val="tx1"/>
                                </a:solidFill>
                                <a:latin typeface="Cambria Math" panose="02040503050406030204" pitchFamily="18" charset="0"/>
                                <a:cs typeface="Times New Roman" panose="02020603050405020304" pitchFamily="18" charset="0"/>
                              </a:rPr>
                              <m:t>)</m:t>
                            </m:r>
                          </m:e>
                          <m:sup>
                            <m:r>
                              <a:rPr lang="en-US" i="1">
                                <a:solidFill>
                                  <a:schemeClr val="tx1"/>
                                </a:solidFill>
                                <a:latin typeface="Cambria Math" panose="02040503050406030204" pitchFamily="18" charset="0"/>
                                <a:cs typeface="Times New Roman" panose="02020603050405020304" pitchFamily="18" charset="0"/>
                              </a:rPr>
                              <m:t>2</m:t>
                            </m:r>
                          </m:sup>
                        </m:sSup>
                      </m:e>
                    </m:nary>
                  </m:oMath>
                </a14:m>
                <a:r>
                  <a:rPr lang="en-US" dirty="0">
                    <a:solidFill>
                      <a:schemeClr val="tx1"/>
                    </a:solidFill>
                    <a:latin typeface="Times New Roman" panose="02020603050405020304" pitchFamily="18" charset="0"/>
                    <a:cs typeface="Times New Roman" panose="02020603050405020304" pitchFamily="18" charset="0"/>
                  </a:rPr>
                  <a:t> = 3055</a:t>
                </a:r>
              </a:p>
              <a:p>
                <a:pPr>
                  <a:buFont typeface="+mj-lt"/>
                  <a:buAutoNum type="arabicPeriod"/>
                </a:pPr>
                <a:r>
                  <a:rPr lang="en-US" dirty="0">
                    <a:solidFill>
                      <a:schemeClr val="tx1"/>
                    </a:solidFill>
                    <a:latin typeface="Times New Roman" panose="02020603050405020304" pitchFamily="18" charset="0"/>
                    <a:cs typeface="Times New Roman" panose="02020603050405020304" pitchFamily="18" charset="0"/>
                  </a:rPr>
                  <a:t>Standard Deviation = </a:t>
                </a:r>
                <a14:m>
                  <m:oMath xmlns:m="http://schemas.openxmlformats.org/officeDocument/2006/math">
                    <m:rad>
                      <m:radPr>
                        <m:degHide m:val="on"/>
                        <m:ctrlPr>
                          <a:rPr lang="en-US" i="1" smtClean="0">
                            <a:solidFill>
                              <a:schemeClr val="tx1"/>
                            </a:solidFill>
                            <a:latin typeface="Cambria Math" panose="02040503050406030204" pitchFamily="18" charset="0"/>
                          </a:rPr>
                        </m:ctrlPr>
                      </m:radPr>
                      <m:deg/>
                      <m:e>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3055</m:t>
                            </m:r>
                          </m:num>
                          <m:den>
                            <m:r>
                              <a:rPr lang="en-US" b="0" i="1" smtClean="0">
                                <a:solidFill>
                                  <a:schemeClr val="tx1"/>
                                </a:solidFill>
                                <a:latin typeface="Cambria Math" panose="02040503050406030204" pitchFamily="18" charset="0"/>
                              </a:rPr>
                              <m:t>20</m:t>
                            </m:r>
                          </m:den>
                        </m:f>
                      </m:e>
                    </m:rad>
                  </m:oMath>
                </a14:m>
                <a:r>
                  <a:rPr lang="en-US" dirty="0">
                    <a:solidFill>
                      <a:schemeClr val="tx1"/>
                    </a:solidFill>
                    <a:latin typeface="Times New Roman" panose="02020603050405020304" pitchFamily="18" charset="0"/>
                    <a:cs typeface="Times New Roman" panose="02020603050405020304" pitchFamily="18" charset="0"/>
                  </a:rPr>
                  <a:t>  = 12.36</a:t>
                </a:r>
              </a:p>
              <a:p>
                <a:pPr>
                  <a:buFont typeface="+mj-lt"/>
                  <a:buAutoNum type="arabicPeriod"/>
                </a:pPr>
                <a:endParaRPr lang="el-GR"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 name="Text Placeholder 2">
                <a:extLst>
                  <a:ext uri="{FF2B5EF4-FFF2-40B4-BE49-F238E27FC236}">
                    <a16:creationId xmlns:a16="http://schemas.microsoft.com/office/drawing/2014/main" id="{34851909-8F8F-68FC-96C5-A61B562548B6}"/>
                  </a:ext>
                </a:extLst>
              </p:cNvPr>
              <p:cNvSpPr>
                <a:spLocks noGrp="1" noRot="1" noChangeAspect="1" noMove="1" noResize="1" noEditPoints="1" noAdjustHandles="1" noChangeArrowheads="1" noChangeShapeType="1" noTextEdit="1"/>
              </p:cNvSpPr>
              <p:nvPr>
                <p:ph type="body" idx="4294967295"/>
              </p:nvPr>
            </p:nvSpPr>
            <p:spPr>
              <a:xfrm>
                <a:off x="0" y="282575"/>
                <a:ext cx="9144000" cy="4860925"/>
              </a:xfrm>
              <a:blipFill>
                <a:blip r:embed="rId2"/>
                <a:stretch>
                  <a:fillRect l="-733" b="-376"/>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835408D3-6D2B-5CB3-9995-EB550B3BB334}"/>
              </a:ext>
            </a:extLst>
          </p:cNvPr>
          <p:cNvPicPr>
            <a:picLocks noChangeAspect="1"/>
          </p:cNvPicPr>
          <p:nvPr/>
        </p:nvPicPr>
        <p:blipFill>
          <a:blip r:embed="rId3"/>
          <a:stretch>
            <a:fillRect/>
          </a:stretch>
        </p:blipFill>
        <p:spPr>
          <a:xfrm>
            <a:off x="0" y="358775"/>
            <a:ext cx="7834395" cy="2876653"/>
          </a:xfrm>
          <a:prstGeom prst="rect">
            <a:avLst/>
          </a:prstGeom>
        </p:spPr>
      </p:pic>
    </p:spTree>
    <p:extLst>
      <p:ext uri="{BB962C8B-B14F-4D97-AF65-F5344CB8AC3E}">
        <p14:creationId xmlns:p14="http://schemas.microsoft.com/office/powerpoint/2010/main" val="424138364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8A2AD-8DC2-BEED-9B56-95EABCD1352F}"/>
              </a:ext>
            </a:extLst>
          </p:cNvPr>
          <p:cNvSpPr>
            <a:spLocks noGrp="1"/>
          </p:cNvSpPr>
          <p:nvPr>
            <p:ph type="title"/>
          </p:nvPr>
        </p:nvSpPr>
        <p:spPr>
          <a:xfrm>
            <a:off x="457200" y="205978"/>
            <a:ext cx="8229600" cy="76520"/>
          </a:xfrm>
        </p:spPr>
        <p:txBody>
          <a:bodyPr>
            <a:normAutofit fontScale="90000"/>
          </a:bodyPr>
          <a:lstStyle/>
          <a:p>
            <a:r>
              <a:rPr lang="en-US" dirty="0"/>
              <a:t>.</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34851909-8F8F-68FC-96C5-A61B562548B6}"/>
                  </a:ext>
                </a:extLst>
              </p:cNvPr>
              <p:cNvSpPr>
                <a:spLocks noGrp="1"/>
              </p:cNvSpPr>
              <p:nvPr>
                <p:ph type="body" idx="1"/>
              </p:nvPr>
            </p:nvSpPr>
            <p:spPr>
              <a:xfrm>
                <a:off x="0" y="1"/>
                <a:ext cx="9144000" cy="5143500"/>
              </a:xfrm>
            </p:spPr>
            <p:txBody>
              <a:bodyPr>
                <a:normAutofit fontScale="92500" lnSpcReduction="20000"/>
              </a:bodyPr>
              <a:lstStyle/>
              <a:p>
                <a:pPr marL="360000" indent="0">
                  <a:buNone/>
                </a:pPr>
                <a:r>
                  <a:rPr lang="en-US" b="1" dirty="0">
                    <a:solidFill>
                      <a:srgbClr val="FF0000"/>
                    </a:solidFill>
                    <a:latin typeface="Times New Roman" panose="02020603050405020304" pitchFamily="18" charset="0"/>
                    <a:cs typeface="Times New Roman" panose="02020603050405020304" pitchFamily="18" charset="0"/>
                  </a:rPr>
                  <a:t>Example:</a:t>
                </a:r>
              </a:p>
              <a:p>
                <a:pPr marL="360000" indent="0">
                  <a:buNone/>
                </a:pPr>
                <a:r>
                  <a:rPr lang="en-US" dirty="0">
                    <a:solidFill>
                      <a:schemeClr val="tx1"/>
                    </a:solidFill>
                    <a:latin typeface="Times New Roman" panose="02020603050405020304" pitchFamily="18" charset="0"/>
                    <a:cs typeface="Times New Roman" panose="02020603050405020304" pitchFamily="18" charset="0"/>
                  </a:rPr>
                  <a:t>For following grouped data compute mean, variance, standard deviation, coefficient of variation  </a:t>
                </a:r>
              </a:p>
              <a:p>
                <a:pPr marL="360000" indent="0">
                  <a:buNone/>
                </a:pPr>
                <a:endParaRPr lang="en-US" dirty="0">
                  <a:solidFill>
                    <a:schemeClr val="tx1"/>
                  </a:solidFill>
                  <a:latin typeface="Times New Roman" panose="02020603050405020304" pitchFamily="18" charset="0"/>
                  <a:cs typeface="Times New Roman" panose="02020603050405020304" pitchFamily="18" charset="0"/>
                </a:endParaRPr>
              </a:p>
              <a:p>
                <a:pPr marL="360000" indent="0">
                  <a:buNone/>
                </a:pPr>
                <a:endParaRPr lang="en-US" dirty="0">
                  <a:solidFill>
                    <a:schemeClr val="tx1"/>
                  </a:solidFill>
                  <a:latin typeface="Times New Roman" panose="02020603050405020304" pitchFamily="18" charset="0"/>
                  <a:cs typeface="Times New Roman" panose="02020603050405020304" pitchFamily="18" charset="0"/>
                </a:endParaRPr>
              </a:p>
              <a:p>
                <a:pPr marL="360000" indent="0">
                  <a:buNone/>
                </a:pPr>
                <a:endParaRPr lang="en-US" dirty="0">
                  <a:solidFill>
                    <a:schemeClr val="tx1"/>
                  </a:solidFill>
                  <a:latin typeface="Times New Roman" panose="02020603050405020304" pitchFamily="18" charset="0"/>
                  <a:cs typeface="Times New Roman" panose="02020603050405020304" pitchFamily="18" charset="0"/>
                </a:endParaRPr>
              </a:p>
              <a:p>
                <a:pPr marL="360000" indent="0">
                  <a:buNone/>
                </a:pPr>
                <a:endParaRPr lang="en-US" dirty="0">
                  <a:solidFill>
                    <a:schemeClr val="tx1"/>
                  </a:solidFill>
                  <a:latin typeface="Times New Roman" panose="02020603050405020304" pitchFamily="18" charset="0"/>
                  <a:cs typeface="Times New Roman" panose="02020603050405020304" pitchFamily="18" charset="0"/>
                </a:endParaRPr>
              </a:p>
              <a:p>
                <a:pPr marL="360000" indent="0">
                  <a:buNone/>
                </a:pPr>
                <a:endParaRPr lang="en-US" dirty="0">
                  <a:solidFill>
                    <a:schemeClr val="tx1"/>
                  </a:solidFill>
                  <a:latin typeface="Times New Roman" panose="02020603050405020304" pitchFamily="18" charset="0"/>
                  <a:cs typeface="Times New Roman" panose="02020603050405020304" pitchFamily="18" charset="0"/>
                </a:endParaRPr>
              </a:p>
              <a:p>
                <a:pPr marL="360000" indent="0">
                  <a:buNone/>
                </a:pPr>
                <a:endParaRPr lang="en-US" dirty="0">
                  <a:solidFill>
                    <a:schemeClr val="tx1"/>
                  </a:solidFill>
                  <a:latin typeface="Times New Roman" panose="02020603050405020304" pitchFamily="18" charset="0"/>
                  <a:cs typeface="Times New Roman" panose="02020603050405020304" pitchFamily="18" charset="0"/>
                </a:endParaRPr>
              </a:p>
              <a:p>
                <a:pPr marL="360000" indent="0">
                  <a:buNone/>
                </a:pPr>
                <a:endParaRPr lang="en-US" dirty="0">
                  <a:solidFill>
                    <a:schemeClr val="tx1"/>
                  </a:solidFill>
                  <a:latin typeface="Times New Roman" panose="02020603050405020304" pitchFamily="18" charset="0"/>
                  <a:cs typeface="Times New Roman" panose="02020603050405020304" pitchFamily="18" charset="0"/>
                </a:endParaRPr>
              </a:p>
              <a:p>
                <a:pPr marL="360000" indent="0">
                  <a:buNone/>
                </a:pPr>
                <a:r>
                  <a:rPr lang="en-US" b="1" dirty="0">
                    <a:solidFill>
                      <a:schemeClr val="tx1"/>
                    </a:solidFill>
                    <a:latin typeface="Times New Roman" panose="02020603050405020304" pitchFamily="18" charset="0"/>
                    <a:cs typeface="Times New Roman" panose="02020603050405020304" pitchFamily="18" charset="0"/>
                  </a:rPr>
                  <a:t>Step 1: Calculate the midpoints (xi​):</a:t>
                </a:r>
              </a:p>
              <a:p>
                <a:pPr marL="360000" indent="0">
                  <a:buNone/>
                </a:pPr>
                <a:r>
                  <a:rPr lang="en-US" dirty="0">
                    <a:solidFill>
                      <a:schemeClr val="tx1"/>
                    </a:solidFill>
                    <a:latin typeface="Times New Roman" panose="02020603050405020304" pitchFamily="18" charset="0"/>
                    <a:cs typeface="Times New Roman" panose="02020603050405020304" pitchFamily="18" charset="0"/>
                  </a:rPr>
                  <a:t>Midpoint (</a:t>
                </a:r>
                <a14:m>
                  <m:oMath xmlns:m="http://schemas.openxmlformats.org/officeDocument/2006/math">
                    <m:sSub>
                      <m:sSubPr>
                        <m:ctrlPr>
                          <a:rPr lang="en-US" i="1" dirty="0" smtClean="0">
                            <a:solidFill>
                              <a:schemeClr val="tx1"/>
                            </a:solidFill>
                            <a:latin typeface="Cambria Math" panose="02040503050406030204" pitchFamily="18" charset="0"/>
                            <a:cs typeface="Times New Roman" panose="02020603050405020304" pitchFamily="18" charset="0"/>
                          </a:rPr>
                        </m:ctrlPr>
                      </m:sSubPr>
                      <m:e>
                        <m:r>
                          <a:rPr lang="en-US" i="1" dirty="0">
                            <a:solidFill>
                              <a:schemeClr val="tx1"/>
                            </a:solidFill>
                            <a:latin typeface="Cambria Math" panose="02040503050406030204" pitchFamily="18" charset="0"/>
                            <a:cs typeface="Times New Roman" panose="02020603050405020304" pitchFamily="18" charset="0"/>
                          </a:rPr>
                          <m:t>𝑥</m:t>
                        </m:r>
                      </m:e>
                      <m:sub>
                        <m:r>
                          <a:rPr lang="en-US" i="1" dirty="0">
                            <a:solidFill>
                              <a:schemeClr val="tx1"/>
                            </a:solidFill>
                            <a:latin typeface="Cambria Math" panose="02040503050406030204" pitchFamily="18" charset="0"/>
                            <a:cs typeface="Times New Roman" panose="02020603050405020304" pitchFamily="18" charset="0"/>
                          </a:rPr>
                          <m:t>𝑖</m:t>
                        </m:r>
                      </m:sub>
                    </m:sSub>
                  </m:oMath>
                </a14:m>
                <a:r>
                  <a:rPr lang="en-US" dirty="0">
                    <a:solidFill>
                      <a:schemeClr val="tx1"/>
                    </a:solidFill>
                    <a:latin typeface="Times New Roman" panose="02020603050405020304" pitchFamily="18" charset="0"/>
                    <a:cs typeface="Times New Roman" panose="02020603050405020304" pitchFamily="18" charset="0"/>
                  </a:rPr>
                  <a:t>) = </a:t>
                </a:r>
                <a14:m>
                  <m:oMath xmlns:m="http://schemas.openxmlformats.org/officeDocument/2006/math">
                    <m:f>
                      <m:fPr>
                        <m:ctrlPr>
                          <a:rPr lang="en-IN" sz="1800" b="1" i="1" kern="10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fPr>
                      <m:num>
                        <m:r>
                          <m:rPr>
                            <m:nor/>
                          </m:rPr>
                          <a:rPr lang="en-US">
                            <a:solidFill>
                              <a:schemeClr val="tx1"/>
                            </a:solidFill>
                            <a:latin typeface="Times New Roman" panose="02020603050405020304" pitchFamily="18" charset="0"/>
                            <a:cs typeface="Times New Roman" panose="02020603050405020304" pitchFamily="18" charset="0"/>
                          </a:rPr>
                          <m:t>Lower</m:t>
                        </m:r>
                        <m:r>
                          <m:rPr>
                            <m:nor/>
                          </m:rPr>
                          <a:rPr lang="en-US">
                            <a:solidFill>
                              <a:schemeClr val="tx1"/>
                            </a:solidFill>
                            <a:latin typeface="Times New Roman" panose="02020603050405020304" pitchFamily="18" charset="0"/>
                            <a:cs typeface="Times New Roman" panose="02020603050405020304" pitchFamily="18" charset="0"/>
                          </a:rPr>
                          <m:t> </m:t>
                        </m:r>
                        <m:r>
                          <m:rPr>
                            <m:nor/>
                          </m:rPr>
                          <a:rPr lang="en-US">
                            <a:solidFill>
                              <a:schemeClr val="tx1"/>
                            </a:solidFill>
                            <a:latin typeface="Times New Roman" panose="02020603050405020304" pitchFamily="18" charset="0"/>
                            <a:cs typeface="Times New Roman" panose="02020603050405020304" pitchFamily="18" charset="0"/>
                          </a:rPr>
                          <m:t>limit</m:t>
                        </m:r>
                        <m:r>
                          <m:rPr>
                            <m:nor/>
                          </m:rPr>
                          <a:rPr lang="en-US">
                            <a:solidFill>
                              <a:schemeClr val="tx1"/>
                            </a:solidFill>
                            <a:latin typeface="Times New Roman" panose="02020603050405020304" pitchFamily="18" charset="0"/>
                            <a:cs typeface="Times New Roman" panose="02020603050405020304" pitchFamily="18" charset="0"/>
                          </a:rPr>
                          <m:t>+</m:t>
                        </m:r>
                        <m:r>
                          <m:rPr>
                            <m:nor/>
                          </m:rPr>
                          <a:rPr lang="en-US">
                            <a:solidFill>
                              <a:schemeClr val="tx1"/>
                            </a:solidFill>
                            <a:latin typeface="Times New Roman" panose="02020603050405020304" pitchFamily="18" charset="0"/>
                            <a:cs typeface="Times New Roman" panose="02020603050405020304" pitchFamily="18" charset="0"/>
                          </a:rPr>
                          <m:t>Upper</m:t>
                        </m:r>
                        <m:r>
                          <m:rPr>
                            <m:nor/>
                          </m:rPr>
                          <a:rPr lang="en-US">
                            <a:solidFill>
                              <a:schemeClr val="tx1"/>
                            </a:solidFill>
                            <a:latin typeface="Times New Roman" panose="02020603050405020304" pitchFamily="18" charset="0"/>
                            <a:cs typeface="Times New Roman" panose="02020603050405020304" pitchFamily="18" charset="0"/>
                          </a:rPr>
                          <m:t> </m:t>
                        </m:r>
                        <m:r>
                          <m:rPr>
                            <m:nor/>
                          </m:rPr>
                          <a:rPr lang="en-US">
                            <a:solidFill>
                              <a:schemeClr val="tx1"/>
                            </a:solidFill>
                            <a:latin typeface="Times New Roman" panose="02020603050405020304" pitchFamily="18" charset="0"/>
                            <a:cs typeface="Times New Roman" panose="02020603050405020304" pitchFamily="18" charset="0"/>
                          </a:rPr>
                          <m:t>limit</m:t>
                        </m:r>
                      </m:num>
                      <m:den>
                        <m:r>
                          <a:rPr lang="en-US" sz="1800" b="1" i="1" kern="10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𝟐</m:t>
                        </m:r>
                      </m:den>
                    </m:f>
                  </m:oMath>
                </a14:m>
                <a:r>
                  <a:rPr lang="en-US" dirty="0">
                    <a:solidFill>
                      <a:schemeClr val="tx1"/>
                    </a:solidFill>
                    <a:latin typeface="Times New Roman" panose="02020603050405020304" pitchFamily="18" charset="0"/>
                    <a:cs typeface="Times New Roman" panose="02020603050405020304" pitchFamily="18" charset="0"/>
                  </a:rPr>
                  <a:t> </a:t>
                </a:r>
              </a:p>
              <a:p>
                <a:pPr marL="114300" indent="0">
                  <a:buNone/>
                </a:pPr>
                <a:endParaRPr 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 name="Text Placeholder 2">
                <a:extLst>
                  <a:ext uri="{FF2B5EF4-FFF2-40B4-BE49-F238E27FC236}">
                    <a16:creationId xmlns:a16="http://schemas.microsoft.com/office/drawing/2014/main" id="{34851909-8F8F-68FC-96C5-A61B562548B6}"/>
                  </a:ext>
                </a:extLst>
              </p:cNvPr>
              <p:cNvSpPr>
                <a:spLocks noGrp="1" noRot="1" noChangeAspect="1" noMove="1" noResize="1" noEditPoints="1" noAdjustHandles="1" noChangeArrowheads="1" noChangeShapeType="1" noTextEdit="1"/>
              </p:cNvSpPr>
              <p:nvPr>
                <p:ph type="body" idx="1"/>
              </p:nvPr>
            </p:nvSpPr>
            <p:spPr>
              <a:xfrm>
                <a:off x="0" y="1"/>
                <a:ext cx="9144000" cy="5143500"/>
              </a:xfrm>
              <a:blipFill>
                <a:blip r:embed="rId2"/>
                <a:stretch>
                  <a:fillRect t="-3199"/>
                </a:stretch>
              </a:blipFill>
            </p:spPr>
            <p:txBody>
              <a:bodyPr/>
              <a:lstStyle/>
              <a:p>
                <a:r>
                  <a:rPr lang="en-IN">
                    <a:noFill/>
                  </a:rPr>
                  <a:t> </a:t>
                </a:r>
              </a:p>
            </p:txBody>
          </p:sp>
        </mc:Fallback>
      </mc:AlternateContent>
      <p:pic>
        <p:nvPicPr>
          <p:cNvPr id="7" name="Picture 6">
            <a:extLst>
              <a:ext uri="{FF2B5EF4-FFF2-40B4-BE49-F238E27FC236}">
                <a16:creationId xmlns:a16="http://schemas.microsoft.com/office/drawing/2014/main" id="{D3788A4A-B8AA-FD60-0129-FFD0FE81E464}"/>
              </a:ext>
            </a:extLst>
          </p:cNvPr>
          <p:cNvPicPr>
            <a:picLocks noChangeAspect="1"/>
          </p:cNvPicPr>
          <p:nvPr/>
        </p:nvPicPr>
        <p:blipFill>
          <a:blip r:embed="rId3"/>
          <a:stretch>
            <a:fillRect/>
          </a:stretch>
        </p:blipFill>
        <p:spPr>
          <a:xfrm>
            <a:off x="319668" y="1028544"/>
            <a:ext cx="8504663" cy="2593659"/>
          </a:xfrm>
          <a:prstGeom prst="rect">
            <a:avLst/>
          </a:prstGeom>
        </p:spPr>
      </p:pic>
    </p:spTree>
    <p:extLst>
      <p:ext uri="{BB962C8B-B14F-4D97-AF65-F5344CB8AC3E}">
        <p14:creationId xmlns:p14="http://schemas.microsoft.com/office/powerpoint/2010/main" val="32562401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723D84B-B014-F881-DFD7-3BD6E694FBBC}"/>
                  </a:ext>
                </a:extLst>
              </p:cNvPr>
              <p:cNvSpPr>
                <a:spLocks noGrp="1"/>
              </p:cNvSpPr>
              <p:nvPr>
                <p:ph type="body" idx="4294967295"/>
              </p:nvPr>
            </p:nvSpPr>
            <p:spPr>
              <a:xfrm>
                <a:off x="215590" y="2653747"/>
                <a:ext cx="9054549" cy="2663687"/>
              </a:xfrm>
            </p:spPr>
            <p:txBody>
              <a:bodyPr>
                <a:normAutofit fontScale="92500" lnSpcReduction="10000"/>
              </a:bodyPr>
              <a:lstStyle/>
              <a:p>
                <a:pPr marL="360000" indent="0">
                  <a:buNone/>
                </a:pPr>
                <a:r>
                  <a:rPr lang="en-US" b="1" dirty="0">
                    <a:solidFill>
                      <a:schemeClr val="tx1"/>
                    </a:solidFill>
                    <a:latin typeface="Times New Roman" panose="02020603050405020304" pitchFamily="18" charset="0"/>
                    <a:cs typeface="Times New Roman" panose="02020603050405020304" pitchFamily="18" charset="0"/>
                  </a:rPr>
                  <a:t>Step2: </a:t>
                </a:r>
                <a:r>
                  <a:rPr lang="en-US" dirty="0">
                    <a:solidFill>
                      <a:schemeClr val="tx1"/>
                    </a:solidFill>
                    <a:latin typeface="Times New Roman" panose="02020603050405020304" pitchFamily="18" charset="0"/>
                    <a:cs typeface="Times New Roman" panose="02020603050405020304" pitchFamily="18" charset="0"/>
                  </a:rPr>
                  <a:t>Thus,</a:t>
                </a:r>
              </a:p>
              <a:p>
                <a:pPr marL="360000" indent="0">
                  <a:buNone/>
                </a:pPr>
                <a:r>
                  <a:rPr lang="en-US" dirty="0">
                    <a:solidFill>
                      <a:schemeClr val="tx1"/>
                    </a:solidFill>
                    <a:latin typeface="Times New Roman" panose="02020603050405020304" pitchFamily="18" charset="0"/>
                    <a:cs typeface="Times New Roman" panose="02020603050405020304" pitchFamily="18" charset="0"/>
                  </a:rPr>
                  <a:t>mean </a:t>
                </a:r>
                <a:r>
                  <a:rPr lang="el-GR" dirty="0">
                    <a:solidFill>
                      <a:schemeClr val="tx1"/>
                    </a:solidFill>
                    <a:latin typeface="Times New Roman" panose="02020603050405020304" pitchFamily="18" charset="0"/>
                    <a:cs typeface="Times New Roman" panose="02020603050405020304" pitchFamily="18" charset="0"/>
                  </a:rPr>
                  <a:t>μ</a:t>
                </a:r>
                <a:r>
                  <a:rPr lang="en-US" dirty="0">
                    <a:solidFill>
                      <a:schemeClr val="tx1"/>
                    </a:solidFill>
                    <a:latin typeface="Times New Roman" panose="02020603050405020304" pitchFamily="18" charset="0"/>
                    <a:cs typeface="Times New Roman" panose="02020603050405020304" pitchFamily="18" charset="0"/>
                  </a:rPr>
                  <a:t> </a:t>
                </a:r>
                <a:r>
                  <a:rPr lang="el-GR" dirty="0">
                    <a:solidFill>
                      <a:schemeClr val="tx1"/>
                    </a:solidFill>
                    <a:latin typeface="Times New Roman" panose="02020603050405020304" pitchFamily="18" charset="0"/>
                    <a:cs typeface="Times New Roman" panose="02020603050405020304" pitchFamily="18" charset="0"/>
                  </a:rPr>
                  <a:t>=</a:t>
                </a:r>
                <a:r>
                  <a:rPr lang="en-US"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f>
                      <m:fPr>
                        <m:ctrlPr>
                          <a:rPr lang="en-IN" sz="1800" b="1" i="1" kern="10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fPr>
                      <m:num>
                        <m:r>
                          <m:rPr>
                            <m:nor/>
                          </m:rPr>
                          <a:rPr lang="en-US">
                            <a:solidFill>
                              <a:schemeClr val="tx1"/>
                            </a:solidFill>
                            <a:latin typeface="Times New Roman" panose="02020603050405020304" pitchFamily="18" charset="0"/>
                            <a:cs typeface="Times New Roman" panose="02020603050405020304" pitchFamily="18" charset="0"/>
                          </a:rPr>
                          <m:t>(15×3)+(25×5)+(35×7)+(45×2)​</m:t>
                        </m:r>
                      </m:num>
                      <m:den>
                        <m:r>
                          <a:rPr lang="en-US" sz="1800" b="1" i="1" kern="10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𝟏𝟕</m:t>
                        </m:r>
                      </m:den>
                    </m:f>
                  </m:oMath>
                </a14:m>
                <a:r>
                  <a:rPr lang="en-US" dirty="0">
                    <a:solidFill>
                      <a:schemeClr val="tx1"/>
                    </a:solidFill>
                    <a:latin typeface="Times New Roman" panose="02020603050405020304" pitchFamily="18" charset="0"/>
                    <a:cs typeface="Times New Roman" panose="02020603050405020304" pitchFamily="18" charset="0"/>
                  </a:rPr>
                  <a:t> =  29.71</a:t>
                </a:r>
              </a:p>
              <a:p>
                <a:pPr marL="360000" indent="0">
                  <a:buNone/>
                </a:pPr>
                <a:endParaRPr lang="en-US" dirty="0">
                  <a:solidFill>
                    <a:schemeClr val="tx1"/>
                  </a:solidFill>
                  <a:latin typeface="Times New Roman" panose="02020603050405020304" pitchFamily="18" charset="0"/>
                  <a:cs typeface="Times New Roman" panose="02020603050405020304" pitchFamily="18" charset="0"/>
                </a:endParaRPr>
              </a:p>
              <a:p>
                <a:pPr marL="360000" indent="0">
                  <a:buNone/>
                </a:pPr>
                <a:r>
                  <a:rPr lang="en-US" b="1" dirty="0">
                    <a:solidFill>
                      <a:schemeClr val="tx1"/>
                    </a:solidFill>
                    <a:latin typeface="Times New Roman" panose="02020603050405020304" pitchFamily="18" charset="0"/>
                    <a:cs typeface="Times New Roman" panose="02020603050405020304" pitchFamily="18" charset="0"/>
                  </a:rPr>
                  <a:t>Step 3:Calculate the variance, standard deviation , coefficient of variation :</a:t>
                </a:r>
              </a:p>
              <a:p>
                <a:pPr marL="360000" indent="0">
                  <a:buNone/>
                </a:pPr>
                <a:r>
                  <a:rPr lang="en-US" dirty="0">
                    <a:solidFill>
                      <a:schemeClr val="tx1"/>
                    </a:solidFill>
                    <a:latin typeface="Times New Roman" panose="02020603050405020304" pitchFamily="18" charset="0"/>
                    <a:cs typeface="Times New Roman" panose="02020603050405020304" pitchFamily="18" charset="0"/>
                  </a:rPr>
                  <a:t>Now, we  have to calculate : </a:t>
                </a:r>
                <a14:m>
                  <m:oMath xmlns:m="http://schemas.openxmlformats.org/officeDocument/2006/math">
                    <m:nary>
                      <m:naryPr>
                        <m:chr m:val="∑"/>
                        <m:subHide m:val="on"/>
                        <m:supHide m:val="on"/>
                        <m:ctrlPr>
                          <a:rPr lang="en-US" i="1" smtClean="0">
                            <a:solidFill>
                              <a:schemeClr val="tx1"/>
                            </a:solidFill>
                            <a:latin typeface="Cambria Math" panose="02040503050406030204" pitchFamily="18" charset="0"/>
                            <a:cs typeface="Times New Roman" panose="02020603050405020304" pitchFamily="18" charset="0"/>
                          </a:rPr>
                        </m:ctrlPr>
                      </m:naryPr>
                      <m:sub/>
                      <m:sup/>
                      <m:e>
                        <m:sSup>
                          <m:sSupPr>
                            <m:ctrlPr>
                              <a:rPr lang="en-US" i="1" smtClean="0">
                                <a:solidFill>
                                  <a:schemeClr val="tx1"/>
                                </a:solidFill>
                                <a:latin typeface="Cambria Math" panose="02040503050406030204" pitchFamily="18" charset="0"/>
                                <a:cs typeface="Times New Roman" panose="02020603050405020304" pitchFamily="18" charset="0"/>
                              </a:rPr>
                            </m:ctrlPr>
                          </m:sSupPr>
                          <m:e>
                            <m:sSub>
                              <m:sSubPr>
                                <m:ctrlPr>
                                  <a:rPr lang="en-US"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𝑓</m:t>
                                </m:r>
                              </m:e>
                              <m:sub>
                                <m:r>
                                  <a:rPr lang="en-US" b="0" i="1" smtClean="0">
                                    <a:solidFill>
                                      <a:schemeClr val="tx1"/>
                                    </a:solidFill>
                                    <a:latin typeface="Cambria Math" panose="02040503050406030204" pitchFamily="18" charset="0"/>
                                  </a:rPr>
                                  <m:t>𝑖</m:t>
                                </m:r>
                              </m:sub>
                            </m:sSub>
                            <m:r>
                              <a:rPr lang="en-US" i="1">
                                <a:solidFill>
                                  <a:schemeClr val="tx1"/>
                                </a:solidFill>
                                <a:latin typeface="Cambria Math" panose="02040503050406030204" pitchFamily="18" charset="0"/>
                                <a:cs typeface="Times New Roman" panose="02020603050405020304" pitchFamily="18" charset="0"/>
                              </a:rPr>
                              <m:t>( </m:t>
                            </m:r>
                            <m:r>
                              <a:rPr lang="en-US" i="1">
                                <a:solidFill>
                                  <a:schemeClr val="tx1"/>
                                </a:solidFill>
                                <a:latin typeface="Cambria Math" panose="02040503050406030204" pitchFamily="18" charset="0"/>
                                <a:cs typeface="Times New Roman" panose="02020603050405020304" pitchFamily="18" charset="0"/>
                              </a:rPr>
                              <m:t>𝑥𝑖</m:t>
                            </m:r>
                            <m:r>
                              <a:rPr lang="en-US" i="1">
                                <a:solidFill>
                                  <a:schemeClr val="tx1"/>
                                </a:solidFill>
                                <a:latin typeface="Cambria Math" panose="02040503050406030204" pitchFamily="18" charset="0"/>
                                <a:cs typeface="Times New Roman" panose="02020603050405020304" pitchFamily="18" charset="0"/>
                              </a:rPr>
                              <m:t>  − </m:t>
                            </m:r>
                            <m:r>
                              <a:rPr lang="en-US" i="1">
                                <a:solidFill>
                                  <a:schemeClr val="tx1"/>
                                </a:solidFill>
                                <a:latin typeface="Cambria Math" panose="02040503050406030204" pitchFamily="18" charset="0"/>
                                <a:cs typeface="Times New Roman" panose="02020603050405020304" pitchFamily="18" charset="0"/>
                              </a:rPr>
                              <m:t>𝜇</m:t>
                            </m:r>
                            <m:r>
                              <a:rPr lang="en-US" i="1">
                                <a:solidFill>
                                  <a:schemeClr val="tx1"/>
                                </a:solidFill>
                                <a:latin typeface="Cambria Math" panose="02040503050406030204" pitchFamily="18" charset="0"/>
                                <a:cs typeface="Times New Roman" panose="02020603050405020304" pitchFamily="18" charset="0"/>
                              </a:rPr>
                              <m:t>)</m:t>
                            </m:r>
                          </m:e>
                          <m:sup>
                            <m:r>
                              <a:rPr lang="en-US" i="1">
                                <a:solidFill>
                                  <a:schemeClr val="tx1"/>
                                </a:solidFill>
                                <a:latin typeface="Cambria Math" panose="02040503050406030204" pitchFamily="18" charset="0"/>
                                <a:cs typeface="Times New Roman" panose="02020603050405020304" pitchFamily="18" charset="0"/>
                              </a:rPr>
                              <m:t>2</m:t>
                            </m:r>
                          </m:sup>
                        </m:sSup>
                      </m:e>
                    </m:nary>
                  </m:oMath>
                </a14:m>
                <a:endParaRPr lang="en-US"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 name="Text Placeholder 2">
                <a:extLst>
                  <a:ext uri="{FF2B5EF4-FFF2-40B4-BE49-F238E27FC236}">
                    <a16:creationId xmlns:a16="http://schemas.microsoft.com/office/drawing/2014/main" id="{8723D84B-B014-F881-DFD7-3BD6E694FBBC}"/>
                  </a:ext>
                </a:extLst>
              </p:cNvPr>
              <p:cNvSpPr>
                <a:spLocks noGrp="1" noRot="1" noChangeAspect="1" noMove="1" noResize="1" noEditPoints="1" noAdjustHandles="1" noChangeArrowheads="1" noChangeShapeType="1" noTextEdit="1"/>
              </p:cNvSpPr>
              <p:nvPr>
                <p:ph type="body" idx="4294967295"/>
              </p:nvPr>
            </p:nvSpPr>
            <p:spPr>
              <a:xfrm>
                <a:off x="215590" y="2653747"/>
                <a:ext cx="9054549" cy="2663687"/>
              </a:xfrm>
              <a:blipFill>
                <a:blip r:embed="rId2"/>
                <a:stretch>
                  <a:fillRect t="-5034" b="-3661"/>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CF3EBFC7-2941-5F70-B1C0-74E344766EEF}"/>
              </a:ext>
            </a:extLst>
          </p:cNvPr>
          <p:cNvPicPr>
            <a:picLocks noChangeAspect="1"/>
          </p:cNvPicPr>
          <p:nvPr/>
        </p:nvPicPr>
        <p:blipFill>
          <a:blip r:embed="rId3"/>
          <a:stretch>
            <a:fillRect/>
          </a:stretch>
        </p:blipFill>
        <p:spPr>
          <a:xfrm>
            <a:off x="564995" y="182326"/>
            <a:ext cx="8014010" cy="2471421"/>
          </a:xfrm>
          <a:prstGeom prst="rect">
            <a:avLst/>
          </a:prstGeom>
        </p:spPr>
      </p:pic>
    </p:spTree>
    <p:extLst>
      <p:ext uri="{BB962C8B-B14F-4D97-AF65-F5344CB8AC3E}">
        <p14:creationId xmlns:p14="http://schemas.microsoft.com/office/powerpoint/2010/main" val="12626066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2F3903D8-1087-7D88-A39B-7B8BCB17AB78}"/>
                  </a:ext>
                </a:extLst>
              </p:cNvPr>
              <p:cNvSpPr>
                <a:spLocks noGrp="1"/>
              </p:cNvSpPr>
              <p:nvPr>
                <p:ph type="body" idx="1"/>
              </p:nvPr>
            </p:nvSpPr>
            <p:spPr>
              <a:xfrm>
                <a:off x="298174" y="119270"/>
                <a:ext cx="8388626" cy="5024230"/>
              </a:xfrm>
            </p:spPr>
            <p:txBody>
              <a:bodyPr>
                <a:normAutofit fontScale="47500" lnSpcReduction="20000"/>
              </a:bodyPr>
              <a:lstStyle/>
              <a:p>
                <a:pPr marL="360000" indent="0">
                  <a:buNone/>
                </a:pPr>
                <a:endParaRPr lang="en-US" dirty="0">
                  <a:solidFill>
                    <a:schemeClr val="tx1"/>
                  </a:solidFill>
                  <a:latin typeface="Times New Roman" panose="02020603050405020304" pitchFamily="18" charset="0"/>
                  <a:cs typeface="Times New Roman" panose="02020603050405020304" pitchFamily="18" charset="0"/>
                </a:endParaRPr>
              </a:p>
              <a:p>
                <a:pPr marL="360000" indent="0">
                  <a:buNone/>
                </a:pPr>
                <a:endParaRPr lang="en-US" dirty="0">
                  <a:solidFill>
                    <a:schemeClr val="tx1"/>
                  </a:solidFill>
                  <a:latin typeface="Times New Roman" panose="02020603050405020304" pitchFamily="18" charset="0"/>
                  <a:cs typeface="Times New Roman" panose="02020603050405020304" pitchFamily="18" charset="0"/>
                </a:endParaRPr>
              </a:p>
              <a:p>
                <a:pPr marL="360000" indent="0">
                  <a:buNone/>
                </a:pPr>
                <a:endParaRPr lang="en-US" dirty="0">
                  <a:solidFill>
                    <a:schemeClr val="tx1"/>
                  </a:solidFill>
                  <a:latin typeface="Times New Roman" panose="02020603050405020304" pitchFamily="18" charset="0"/>
                  <a:cs typeface="Times New Roman" panose="02020603050405020304" pitchFamily="18" charset="0"/>
                </a:endParaRPr>
              </a:p>
              <a:p>
                <a:pPr marL="360000" indent="0">
                  <a:buNone/>
                </a:pPr>
                <a:endParaRPr lang="en-US" dirty="0">
                  <a:solidFill>
                    <a:schemeClr val="tx1"/>
                  </a:solidFill>
                  <a:latin typeface="Times New Roman" panose="02020603050405020304" pitchFamily="18" charset="0"/>
                  <a:cs typeface="Times New Roman" panose="02020603050405020304" pitchFamily="18" charset="0"/>
                </a:endParaRPr>
              </a:p>
              <a:p>
                <a:pPr marL="360000" indent="0">
                  <a:buNone/>
                </a:pPr>
                <a:endParaRPr lang="en-US" dirty="0">
                  <a:solidFill>
                    <a:schemeClr val="tx1"/>
                  </a:solidFill>
                  <a:latin typeface="Times New Roman" panose="02020603050405020304" pitchFamily="18" charset="0"/>
                  <a:cs typeface="Times New Roman" panose="02020603050405020304" pitchFamily="18" charset="0"/>
                </a:endParaRPr>
              </a:p>
              <a:p>
                <a:pPr marL="360000" indent="0">
                  <a:buNone/>
                </a:pPr>
                <a:r>
                  <a:rPr lang="en-US" dirty="0">
                    <a:solidFill>
                      <a:schemeClr val="tx1"/>
                    </a:solidFill>
                    <a:latin typeface="Times New Roman" panose="02020603050405020304" pitchFamily="18" charset="0"/>
                    <a:cs typeface="Times New Roman" panose="02020603050405020304" pitchFamily="18" charset="0"/>
                  </a:rPr>
                  <a:t>Now,</a:t>
                </a:r>
              </a:p>
              <a:p>
                <a:pPr marL="360000" indent="0">
                  <a:buNone/>
                </a:pPr>
                <a:r>
                  <a:rPr lang="en-US" dirty="0">
                    <a:solidFill>
                      <a:schemeClr val="tx1"/>
                    </a:solidFill>
                    <a:latin typeface="Times New Roman" panose="02020603050405020304" pitchFamily="18" charset="0"/>
                    <a:cs typeface="Times New Roman" panose="02020603050405020304" pitchFamily="18" charset="0"/>
                  </a:rPr>
                  <a:t>Variance = </a:t>
                </a:r>
                <a14:m>
                  <m:oMath xmlns:m="http://schemas.openxmlformats.org/officeDocument/2006/math">
                    <m:f>
                      <m:fPr>
                        <m:ctrlPr>
                          <a:rPr lang="en-US" i="1" smtClean="0">
                            <a:solidFill>
                              <a:schemeClr val="tx1"/>
                            </a:solidFill>
                            <a:latin typeface="Cambria Math" panose="02040503050406030204" pitchFamily="18" charset="0"/>
                            <a:cs typeface="Times New Roman" panose="02020603050405020304" pitchFamily="18" charset="0"/>
                          </a:rPr>
                        </m:ctrlPr>
                      </m:fPr>
                      <m:num>
                        <m:nary>
                          <m:naryPr>
                            <m:chr m:val="∑"/>
                            <m:subHide m:val="on"/>
                            <m:supHide m:val="on"/>
                            <m:ctrlPr>
                              <a:rPr lang="en-US" i="1" smtClean="0">
                                <a:solidFill>
                                  <a:schemeClr val="tx1"/>
                                </a:solidFill>
                                <a:latin typeface="Cambria Math" panose="02040503050406030204" pitchFamily="18" charset="0"/>
                                <a:cs typeface="Times New Roman" panose="02020603050405020304" pitchFamily="18" charset="0"/>
                              </a:rPr>
                            </m:ctrlPr>
                          </m:naryPr>
                          <m:sub/>
                          <m:sup/>
                          <m:e>
                            <m:sSup>
                              <m:sSupPr>
                                <m:ctrlPr>
                                  <a:rPr lang="en-US" i="1" smtClean="0">
                                    <a:solidFill>
                                      <a:schemeClr val="tx1"/>
                                    </a:solidFill>
                                    <a:latin typeface="Cambria Math" panose="02040503050406030204" pitchFamily="18" charset="0"/>
                                    <a:cs typeface="Times New Roman" panose="02020603050405020304" pitchFamily="18" charset="0"/>
                                  </a:rPr>
                                </m:ctrlPr>
                              </m:sSupPr>
                              <m:e>
                                <m:r>
                                  <a:rPr lang="en-US" b="0" i="1" smtClean="0">
                                    <a:solidFill>
                                      <a:schemeClr val="tx1"/>
                                    </a:solidFill>
                                    <a:latin typeface="Cambria Math" panose="02040503050406030204" pitchFamily="18" charset="0"/>
                                    <a:cs typeface="Times New Roman" panose="02020603050405020304" pitchFamily="18" charset="0"/>
                                  </a:rPr>
                                  <m:t>( </m:t>
                                </m:r>
                                <m:r>
                                  <a:rPr lang="en-US" b="0" i="1" smtClean="0">
                                    <a:solidFill>
                                      <a:schemeClr val="tx1"/>
                                    </a:solidFill>
                                    <a:latin typeface="Cambria Math" panose="02040503050406030204" pitchFamily="18" charset="0"/>
                                    <a:cs typeface="Times New Roman" panose="02020603050405020304" pitchFamily="18" charset="0"/>
                                  </a:rPr>
                                  <m:t>𝑥𝑖</m:t>
                                </m:r>
                                <m:r>
                                  <a:rPr lang="en-US" b="0" i="1" smtClean="0">
                                    <a:solidFill>
                                      <a:schemeClr val="tx1"/>
                                    </a:solidFill>
                                    <a:latin typeface="Cambria Math" panose="02040503050406030204" pitchFamily="18" charset="0"/>
                                    <a:cs typeface="Times New Roman" panose="02020603050405020304" pitchFamily="18" charset="0"/>
                                  </a:rPr>
                                  <m:t>  − </m:t>
                                </m:r>
                                <m:r>
                                  <a:rPr lang="en-US" b="0" i="1" smtClean="0">
                                    <a:solidFill>
                                      <a:schemeClr val="tx1"/>
                                    </a:solidFill>
                                    <a:latin typeface="Cambria Math" panose="02040503050406030204" pitchFamily="18" charset="0"/>
                                    <a:cs typeface="Times New Roman" panose="02020603050405020304" pitchFamily="18" charset="0"/>
                                  </a:rPr>
                                  <m:t>𝜇</m:t>
                                </m:r>
                                <m:r>
                                  <a:rPr lang="en-US" b="0" i="1" smtClean="0">
                                    <a:solidFill>
                                      <a:schemeClr val="tx1"/>
                                    </a:solidFill>
                                    <a:latin typeface="Cambria Math" panose="02040503050406030204" pitchFamily="18" charset="0"/>
                                    <a:cs typeface="Times New Roman" panose="02020603050405020304" pitchFamily="18" charset="0"/>
                                  </a:rPr>
                                  <m:t>)</m:t>
                                </m:r>
                              </m:e>
                              <m:sup>
                                <m:r>
                                  <a:rPr lang="en-US" b="0" i="1" smtClean="0">
                                    <a:solidFill>
                                      <a:schemeClr val="tx1"/>
                                    </a:solidFill>
                                    <a:latin typeface="Cambria Math" panose="02040503050406030204" pitchFamily="18" charset="0"/>
                                    <a:cs typeface="Times New Roman" panose="02020603050405020304" pitchFamily="18" charset="0"/>
                                  </a:rPr>
                                  <m:t>2</m:t>
                                </m:r>
                              </m:sup>
                            </m:sSup>
                          </m:e>
                        </m:nary>
                      </m:num>
                      <m:den>
                        <m:nary>
                          <m:naryPr>
                            <m:chr m:val="∑"/>
                            <m:subHide m:val="on"/>
                            <m:supHide m:val="on"/>
                            <m:ctrlPr>
                              <a:rPr lang="en-US" b="0" i="1" smtClean="0">
                                <a:solidFill>
                                  <a:schemeClr val="tx1"/>
                                </a:solidFill>
                                <a:latin typeface="Cambria Math" panose="02040503050406030204" pitchFamily="18" charset="0"/>
                                <a:cs typeface="Times New Roman" panose="02020603050405020304" pitchFamily="18" charset="0"/>
                              </a:rPr>
                            </m:ctrlPr>
                          </m:naryPr>
                          <m:sub/>
                          <m:sup/>
                          <m:e>
                            <m:sSub>
                              <m:sSubPr>
                                <m:ctrlPr>
                                  <a:rPr lang="en-US" b="0" i="1" smtClean="0">
                                    <a:solidFill>
                                      <a:schemeClr val="tx1"/>
                                    </a:solidFill>
                                    <a:latin typeface="Cambria Math" panose="02040503050406030204" pitchFamily="18" charset="0"/>
                                    <a:cs typeface="Times New Roman" panose="02020603050405020304" pitchFamily="18" charset="0"/>
                                  </a:rPr>
                                </m:ctrlPr>
                              </m:sSubPr>
                              <m:e>
                                <m:r>
                                  <a:rPr lang="en-US" b="0" i="1" smtClean="0">
                                    <a:solidFill>
                                      <a:schemeClr val="tx1"/>
                                    </a:solidFill>
                                    <a:latin typeface="Cambria Math" panose="02040503050406030204" pitchFamily="18" charset="0"/>
                                    <a:cs typeface="Times New Roman" panose="02020603050405020304" pitchFamily="18" charset="0"/>
                                  </a:rPr>
                                  <m:t>𝑓</m:t>
                                </m:r>
                              </m:e>
                              <m:sub>
                                <m:r>
                                  <a:rPr lang="en-US" b="0" i="1" smtClean="0">
                                    <a:solidFill>
                                      <a:schemeClr val="tx1"/>
                                    </a:solidFill>
                                    <a:latin typeface="Cambria Math" panose="02040503050406030204" pitchFamily="18" charset="0"/>
                                    <a:cs typeface="Times New Roman" panose="02020603050405020304" pitchFamily="18" charset="0"/>
                                  </a:rPr>
                                  <m:t>𝑖</m:t>
                                </m:r>
                              </m:sub>
                            </m:sSub>
                          </m:e>
                        </m:nary>
                      </m:den>
                    </m:f>
                  </m:oMath>
                </a14:m>
                <a:r>
                  <a:rPr lang="en-US" dirty="0">
                    <a:solidFill>
                      <a:schemeClr val="tx1"/>
                    </a:solidFill>
                    <a:latin typeface="Times New Roman" panose="02020603050405020304" pitchFamily="18" charset="0"/>
                    <a:cs typeface="Times New Roman" panose="02020603050405020304" pitchFamily="18" charset="0"/>
                  </a:rPr>
                  <a:t>  = </a:t>
                </a:r>
                <a14:m>
                  <m:oMath xmlns:m="http://schemas.openxmlformats.org/officeDocument/2006/math">
                    <m:f>
                      <m:fPr>
                        <m:ctrlPr>
                          <a:rPr lang="en-US" i="1">
                            <a:solidFill>
                              <a:schemeClr val="tx1"/>
                            </a:solidFill>
                            <a:latin typeface="Cambria Math" panose="02040503050406030204" pitchFamily="18" charset="0"/>
                            <a:cs typeface="Times New Roman" panose="02020603050405020304" pitchFamily="18" charset="0"/>
                          </a:rPr>
                        </m:ctrlPr>
                      </m:fPr>
                      <m:num>
                        <m:r>
                          <a:rPr lang="en-US" b="0" i="1" smtClean="0">
                            <a:solidFill>
                              <a:schemeClr val="tx1"/>
                            </a:solidFill>
                            <a:latin typeface="Cambria Math" panose="02040503050406030204" pitchFamily="18" charset="0"/>
                            <a:cs typeface="Times New Roman" panose="02020603050405020304" pitchFamily="18" charset="0"/>
                          </a:rPr>
                          <m:t>1423</m:t>
                        </m:r>
                        <m:r>
                          <a:rPr lang="en-US" b="0" i="1" smtClean="0">
                            <a:solidFill>
                              <a:schemeClr val="tx1"/>
                            </a:solidFill>
                            <a:latin typeface="Cambria Math" panose="02040503050406030204" pitchFamily="18" charset="0"/>
                            <a:cs typeface="Times New Roman" panose="02020603050405020304" pitchFamily="18" charset="0"/>
                          </a:rPr>
                          <m:t>.</m:t>
                        </m:r>
                        <m:r>
                          <a:rPr lang="en-US" b="0" i="1" smtClean="0">
                            <a:solidFill>
                              <a:schemeClr val="tx1"/>
                            </a:solidFill>
                            <a:latin typeface="Cambria Math" panose="02040503050406030204" pitchFamily="18" charset="0"/>
                            <a:cs typeface="Times New Roman" panose="02020603050405020304" pitchFamily="18" charset="0"/>
                          </a:rPr>
                          <m:t>46</m:t>
                        </m:r>
                      </m:num>
                      <m:den>
                        <m:r>
                          <m:rPr>
                            <m:nor/>
                          </m:rPr>
                          <a:rPr lang="en-US" b="0" i="0" smtClean="0">
                            <a:solidFill>
                              <a:schemeClr val="tx1"/>
                            </a:solidFill>
                            <a:latin typeface="Times New Roman" panose="02020603050405020304" pitchFamily="18" charset="0"/>
                            <a:cs typeface="Times New Roman" panose="02020603050405020304" pitchFamily="18" charset="0"/>
                          </a:rPr>
                          <m:t>17</m:t>
                        </m:r>
                      </m:den>
                    </m:f>
                  </m:oMath>
                </a14:m>
                <a:r>
                  <a:rPr lang="en-US" dirty="0">
                    <a:solidFill>
                      <a:schemeClr val="tx1"/>
                    </a:solidFill>
                    <a:latin typeface="Times New Roman" panose="02020603050405020304" pitchFamily="18" charset="0"/>
                    <a:cs typeface="Times New Roman" panose="02020603050405020304" pitchFamily="18" charset="0"/>
                  </a:rPr>
                  <a:t>  = 83.73</a:t>
                </a:r>
              </a:p>
              <a:p>
                <a:pPr marL="360000" indent="0">
                  <a:buNone/>
                </a:pPr>
                <a:r>
                  <a:rPr lang="en-US" dirty="0">
                    <a:solidFill>
                      <a:schemeClr val="tx1"/>
                    </a:solidFill>
                    <a:latin typeface="Times New Roman" panose="02020603050405020304" pitchFamily="18" charset="0"/>
                    <a:cs typeface="Times New Roman" panose="02020603050405020304" pitchFamily="18" charset="0"/>
                  </a:rPr>
                  <a:t> S. D.  =  </a:t>
                </a:r>
                <a14:m>
                  <m:oMath xmlns:m="http://schemas.openxmlformats.org/officeDocument/2006/math">
                    <m:rad>
                      <m:radPr>
                        <m:degHide m:val="on"/>
                        <m:ctrlPr>
                          <a:rPr lang="en-US" i="1" smtClean="0">
                            <a:solidFill>
                              <a:schemeClr val="tx1"/>
                            </a:solidFill>
                            <a:latin typeface="Cambria Math" panose="02040503050406030204" pitchFamily="18" charset="0"/>
                            <a:cs typeface="Times New Roman" panose="02020603050405020304" pitchFamily="18" charset="0"/>
                          </a:rPr>
                        </m:ctrlPr>
                      </m:radPr>
                      <m:deg/>
                      <m:e>
                        <m:f>
                          <m:fPr>
                            <m:ctrlPr>
                              <a:rPr lang="en-US" i="1">
                                <a:solidFill>
                                  <a:schemeClr val="tx1"/>
                                </a:solidFill>
                                <a:latin typeface="Cambria Math" panose="02040503050406030204" pitchFamily="18" charset="0"/>
                                <a:cs typeface="Times New Roman" panose="02020603050405020304" pitchFamily="18" charset="0"/>
                              </a:rPr>
                            </m:ctrlPr>
                          </m:fPr>
                          <m:num>
                            <m:nary>
                              <m:naryPr>
                                <m:chr m:val="∑"/>
                                <m:subHide m:val="on"/>
                                <m:supHide m:val="on"/>
                                <m:ctrlPr>
                                  <a:rPr lang="en-US" i="1">
                                    <a:solidFill>
                                      <a:schemeClr val="tx1"/>
                                    </a:solidFill>
                                    <a:latin typeface="Cambria Math" panose="02040503050406030204" pitchFamily="18" charset="0"/>
                                    <a:cs typeface="Times New Roman" panose="02020603050405020304" pitchFamily="18" charset="0"/>
                                  </a:rPr>
                                </m:ctrlPr>
                              </m:naryPr>
                              <m:sub/>
                              <m:sup/>
                              <m:e>
                                <m:sSup>
                                  <m:sSupPr>
                                    <m:ctrlPr>
                                      <a:rPr lang="en-US" i="1">
                                        <a:solidFill>
                                          <a:schemeClr val="tx1"/>
                                        </a:solidFill>
                                        <a:latin typeface="Cambria Math" panose="02040503050406030204" pitchFamily="18" charset="0"/>
                                        <a:cs typeface="Times New Roman" panose="02020603050405020304" pitchFamily="18" charset="0"/>
                                      </a:rPr>
                                    </m:ctrlPr>
                                  </m:sSupPr>
                                  <m:e>
                                    <m:sSub>
                                      <m:sSubPr>
                                        <m:ctrlPr>
                                          <a:rPr lang="en-US" i="1">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𝑓</m:t>
                                        </m:r>
                                      </m:e>
                                      <m:sub>
                                        <m:r>
                                          <a:rPr lang="en-US" b="0" i="1" smtClean="0">
                                            <a:solidFill>
                                              <a:schemeClr val="tx1"/>
                                            </a:solidFill>
                                            <a:latin typeface="Cambria Math" panose="02040503050406030204" pitchFamily="18" charset="0"/>
                                          </a:rPr>
                                          <m:t>𝑖</m:t>
                                        </m:r>
                                      </m:sub>
                                    </m:sSub>
                                    <m:r>
                                      <a:rPr lang="en-US" i="1">
                                        <a:solidFill>
                                          <a:schemeClr val="tx1"/>
                                        </a:solidFill>
                                        <a:latin typeface="Cambria Math" panose="02040503050406030204" pitchFamily="18" charset="0"/>
                                        <a:cs typeface="Times New Roman" panose="02020603050405020304" pitchFamily="18" charset="0"/>
                                      </a:rPr>
                                      <m:t>( </m:t>
                                    </m:r>
                                    <m:r>
                                      <a:rPr lang="en-US" i="1">
                                        <a:solidFill>
                                          <a:schemeClr val="tx1"/>
                                        </a:solidFill>
                                        <a:latin typeface="Cambria Math" panose="02040503050406030204" pitchFamily="18" charset="0"/>
                                        <a:cs typeface="Times New Roman" panose="02020603050405020304" pitchFamily="18" charset="0"/>
                                      </a:rPr>
                                      <m:t>𝑥𝑖</m:t>
                                    </m:r>
                                    <m:r>
                                      <a:rPr lang="en-US" i="1">
                                        <a:solidFill>
                                          <a:schemeClr val="tx1"/>
                                        </a:solidFill>
                                        <a:latin typeface="Cambria Math" panose="02040503050406030204" pitchFamily="18" charset="0"/>
                                        <a:cs typeface="Times New Roman" panose="02020603050405020304" pitchFamily="18" charset="0"/>
                                      </a:rPr>
                                      <m:t>  − </m:t>
                                    </m:r>
                                    <m:r>
                                      <a:rPr lang="en-US" i="1">
                                        <a:solidFill>
                                          <a:schemeClr val="tx1"/>
                                        </a:solidFill>
                                        <a:latin typeface="Cambria Math" panose="02040503050406030204" pitchFamily="18" charset="0"/>
                                        <a:cs typeface="Times New Roman" panose="02020603050405020304" pitchFamily="18" charset="0"/>
                                      </a:rPr>
                                      <m:t>𝜇</m:t>
                                    </m:r>
                                    <m:r>
                                      <a:rPr lang="en-US" i="1">
                                        <a:solidFill>
                                          <a:schemeClr val="tx1"/>
                                        </a:solidFill>
                                        <a:latin typeface="Cambria Math" panose="02040503050406030204" pitchFamily="18" charset="0"/>
                                        <a:cs typeface="Times New Roman" panose="02020603050405020304" pitchFamily="18" charset="0"/>
                                      </a:rPr>
                                      <m:t>)</m:t>
                                    </m:r>
                                  </m:e>
                                  <m:sup>
                                    <m:r>
                                      <a:rPr lang="en-US" i="1">
                                        <a:solidFill>
                                          <a:schemeClr val="tx1"/>
                                        </a:solidFill>
                                        <a:latin typeface="Cambria Math" panose="02040503050406030204" pitchFamily="18" charset="0"/>
                                        <a:cs typeface="Times New Roman" panose="02020603050405020304" pitchFamily="18" charset="0"/>
                                      </a:rPr>
                                      <m:t>2</m:t>
                                    </m:r>
                                  </m:sup>
                                </m:sSup>
                              </m:e>
                            </m:nary>
                          </m:num>
                          <m:den>
                            <m:r>
                              <a:rPr lang="en-US" i="1">
                                <a:solidFill>
                                  <a:schemeClr val="tx1"/>
                                </a:solidFill>
                                <a:latin typeface="Cambria Math" panose="02040503050406030204" pitchFamily="18" charset="0"/>
                              </a:rPr>
                              <m:t>𝑛</m:t>
                            </m:r>
                          </m:den>
                        </m:f>
                      </m:e>
                    </m:rad>
                  </m:oMath>
                </a14:m>
                <a:r>
                  <a:rPr lang="en-US" dirty="0">
                    <a:solidFill>
                      <a:schemeClr val="tx1"/>
                    </a:solidFill>
                    <a:latin typeface="Times New Roman" panose="02020603050405020304" pitchFamily="18" charset="0"/>
                    <a:cs typeface="Times New Roman" panose="02020603050405020304" pitchFamily="18" charset="0"/>
                  </a:rPr>
                  <a:t>     =  </a:t>
                </a:r>
                <a14:m>
                  <m:oMath xmlns:m="http://schemas.openxmlformats.org/officeDocument/2006/math">
                    <m:rad>
                      <m:radPr>
                        <m:degHide m:val="on"/>
                        <m:ctrlPr>
                          <a:rPr lang="en-US" i="1" smtClean="0">
                            <a:solidFill>
                              <a:schemeClr val="tx1"/>
                            </a:solidFill>
                            <a:latin typeface="Cambria Math" panose="02040503050406030204" pitchFamily="18" charset="0"/>
                            <a:cs typeface="Times New Roman" panose="02020603050405020304" pitchFamily="18" charset="0"/>
                          </a:rPr>
                        </m:ctrlPr>
                      </m:radPr>
                      <m:deg/>
                      <m:e>
                        <m:r>
                          <m:rPr>
                            <m:nor/>
                          </m:rPr>
                          <a:rPr lang="en-US" dirty="0">
                            <a:solidFill>
                              <a:schemeClr val="tx1"/>
                            </a:solidFill>
                            <a:latin typeface="Times New Roman" panose="02020603050405020304" pitchFamily="18" charset="0"/>
                            <a:cs typeface="Times New Roman" panose="02020603050405020304" pitchFamily="18" charset="0"/>
                          </a:rPr>
                          <m:t>83.73</m:t>
                        </m:r>
                      </m:e>
                    </m:rad>
                  </m:oMath>
                </a14:m>
                <a:r>
                  <a:rPr lang="en-US" dirty="0">
                    <a:solidFill>
                      <a:schemeClr val="tx1"/>
                    </a:solidFill>
                    <a:latin typeface="Times New Roman" panose="02020603050405020304" pitchFamily="18" charset="0"/>
                    <a:cs typeface="Times New Roman" panose="02020603050405020304" pitchFamily="18" charset="0"/>
                  </a:rPr>
                  <a:t>   =  9.15</a:t>
                </a:r>
              </a:p>
              <a:p>
                <a:pPr marL="360000" indent="0">
                  <a:buNone/>
                </a:pPr>
                <a:r>
                  <a:rPr lang="en-US" dirty="0">
                    <a:solidFill>
                      <a:schemeClr val="tx1"/>
                    </a:solidFill>
                    <a:latin typeface="Times New Roman" panose="02020603050405020304" pitchFamily="18" charset="0"/>
                    <a:cs typeface="Times New Roman" panose="02020603050405020304" pitchFamily="18" charset="0"/>
                  </a:rPr>
                  <a:t> C. V = </a:t>
                </a:r>
                <a14:m>
                  <m:oMath xmlns:m="http://schemas.openxmlformats.org/officeDocument/2006/math">
                    <m:f>
                      <m:fPr>
                        <m:ctrlPr>
                          <a:rPr lang="en-US" i="1" smtClean="0">
                            <a:solidFill>
                              <a:schemeClr val="tx1"/>
                            </a:solidFill>
                            <a:latin typeface="Cambria Math" panose="02040503050406030204" pitchFamily="18" charset="0"/>
                            <a:cs typeface="Times New Roman" panose="02020603050405020304" pitchFamily="18" charset="0"/>
                          </a:rPr>
                        </m:ctrlPr>
                      </m:fPr>
                      <m:num>
                        <m:r>
                          <m:rPr>
                            <m:nor/>
                          </m:rPr>
                          <a:rPr lang="en-US">
                            <a:solidFill>
                              <a:schemeClr val="tx1"/>
                            </a:solidFill>
                            <a:latin typeface="Times New Roman" panose="02020603050405020304" pitchFamily="18" charset="0"/>
                            <a:cs typeface="Times New Roman" panose="02020603050405020304" pitchFamily="18" charset="0"/>
                          </a:rPr>
                          <m:t>Standard</m:t>
                        </m:r>
                        <m:r>
                          <m:rPr>
                            <m:nor/>
                          </m:rPr>
                          <a:rPr lang="en-US">
                            <a:solidFill>
                              <a:schemeClr val="tx1"/>
                            </a:solidFill>
                            <a:latin typeface="Times New Roman" panose="02020603050405020304" pitchFamily="18" charset="0"/>
                            <a:cs typeface="Times New Roman" panose="02020603050405020304" pitchFamily="18" charset="0"/>
                          </a:rPr>
                          <m:t> </m:t>
                        </m:r>
                        <m:r>
                          <m:rPr>
                            <m:nor/>
                          </m:rPr>
                          <a:rPr lang="en-US">
                            <a:solidFill>
                              <a:schemeClr val="tx1"/>
                            </a:solidFill>
                            <a:latin typeface="Times New Roman" panose="02020603050405020304" pitchFamily="18" charset="0"/>
                            <a:cs typeface="Times New Roman" panose="02020603050405020304" pitchFamily="18" charset="0"/>
                          </a:rPr>
                          <m:t>Deviation</m:t>
                        </m:r>
                      </m:num>
                      <m:den>
                        <m:r>
                          <m:rPr>
                            <m:nor/>
                          </m:rPr>
                          <a:rPr lang="el-GR" dirty="0">
                            <a:solidFill>
                              <a:schemeClr val="tx1"/>
                            </a:solidFill>
                            <a:latin typeface="Times New Roman" panose="02020603050405020304" pitchFamily="18" charset="0"/>
                            <a:cs typeface="Times New Roman" panose="02020603050405020304" pitchFamily="18" charset="0"/>
                          </a:rPr>
                          <m:t>μ</m:t>
                        </m:r>
                      </m:den>
                    </m:f>
                  </m:oMath>
                </a14:m>
                <a:r>
                  <a:rPr lang="en-US" dirty="0">
                    <a:solidFill>
                      <a:schemeClr val="tx1"/>
                    </a:solidFill>
                    <a:latin typeface="Times New Roman" panose="02020603050405020304" pitchFamily="18" charset="0"/>
                    <a:cs typeface="Times New Roman" panose="02020603050405020304" pitchFamily="18" charset="0"/>
                  </a:rPr>
                  <a:t>  ×  100 </a:t>
                </a:r>
              </a:p>
              <a:p>
                <a:pPr marL="360000" indent="0">
                  <a:buNone/>
                </a:pPr>
                <a:r>
                  <a:rPr lang="en-US" dirty="0">
                    <a:solidFill>
                      <a:schemeClr val="tx1"/>
                    </a:solidFill>
                    <a:latin typeface="Times New Roman" panose="02020603050405020304" pitchFamily="18" charset="0"/>
                    <a:cs typeface="Times New Roman" panose="02020603050405020304" pitchFamily="18" charset="0"/>
                  </a:rPr>
                  <a:t>               = </a:t>
                </a:r>
                <a14:m>
                  <m:oMath xmlns:m="http://schemas.openxmlformats.org/officeDocument/2006/math">
                    <m:f>
                      <m:fPr>
                        <m:ctrlPr>
                          <a:rPr lang="en-US" i="1" smtClean="0">
                            <a:solidFill>
                              <a:schemeClr val="tx1"/>
                            </a:solidFill>
                            <a:latin typeface="Cambria Math" panose="02040503050406030204" pitchFamily="18" charset="0"/>
                            <a:cs typeface="Times New Roman" panose="02020603050405020304" pitchFamily="18" charset="0"/>
                          </a:rPr>
                        </m:ctrlPr>
                      </m:fPr>
                      <m:num>
                        <m:r>
                          <m:rPr>
                            <m:nor/>
                          </m:rPr>
                          <a:rPr lang="en-US" b="0" i="0" smtClean="0">
                            <a:solidFill>
                              <a:schemeClr val="tx1"/>
                            </a:solidFill>
                            <a:latin typeface="Times New Roman" panose="02020603050405020304" pitchFamily="18" charset="0"/>
                            <a:cs typeface="Times New Roman" panose="02020603050405020304" pitchFamily="18" charset="0"/>
                          </a:rPr>
                          <m:t>9.15</m:t>
                        </m:r>
                      </m:num>
                      <m:den>
                        <m:r>
                          <m:rPr>
                            <m:nor/>
                          </m:rPr>
                          <a:rPr lang="en-US" b="0" i="0" smtClean="0">
                            <a:solidFill>
                              <a:schemeClr val="tx1"/>
                            </a:solidFill>
                            <a:latin typeface="Times New Roman" panose="02020603050405020304" pitchFamily="18" charset="0"/>
                            <a:cs typeface="Times New Roman" panose="02020603050405020304" pitchFamily="18" charset="0"/>
                          </a:rPr>
                          <m:t>29.71</m:t>
                        </m:r>
                      </m:den>
                    </m:f>
                  </m:oMath>
                </a14:m>
                <a:r>
                  <a:rPr lang="en-US" dirty="0">
                    <a:solidFill>
                      <a:schemeClr val="tx1"/>
                    </a:solidFill>
                    <a:latin typeface="Times New Roman" panose="02020603050405020304" pitchFamily="18" charset="0"/>
                    <a:cs typeface="Times New Roman" panose="02020603050405020304" pitchFamily="18" charset="0"/>
                  </a:rPr>
                  <a:t>  ×  100  = 30.79 %</a:t>
                </a:r>
              </a:p>
              <a:p>
                <a:pPr marL="114300" indent="0">
                  <a:buNone/>
                </a:pPr>
                <a:endParaRPr lang="en-US"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US"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US"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US"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US" dirty="0">
                  <a:solidFill>
                    <a:schemeClr val="tx1"/>
                  </a:solidFill>
                  <a:latin typeface="Times New Roman" panose="02020603050405020304" pitchFamily="18" charset="0"/>
                  <a:cs typeface="Times New Roman" panose="02020603050405020304" pitchFamily="18" charset="0"/>
                </a:endParaRPr>
              </a:p>
              <a:p>
                <a:pPr marL="114300" indent="0">
                  <a:buNone/>
                </a:pPr>
                <a:r>
                  <a:rPr lang="en-US" dirty="0">
                    <a:solidFill>
                      <a:schemeClr val="tx1"/>
                    </a:solidFill>
                    <a:latin typeface="Times New Roman" panose="02020603050405020304" pitchFamily="18" charset="0"/>
                    <a:cs typeface="Times New Roman" panose="02020603050405020304" pitchFamily="18" charset="0"/>
                  </a:rPr>
                  <a:t>  </a:t>
                </a:r>
              </a:p>
            </p:txBody>
          </p:sp>
        </mc:Choice>
        <mc:Fallback xmlns="">
          <p:sp>
            <p:nvSpPr>
              <p:cNvPr id="3" name="Text Placeholder 2">
                <a:extLst>
                  <a:ext uri="{FF2B5EF4-FFF2-40B4-BE49-F238E27FC236}">
                    <a16:creationId xmlns:a16="http://schemas.microsoft.com/office/drawing/2014/main" id="{2F3903D8-1087-7D88-A39B-7B8BCB17AB78}"/>
                  </a:ext>
                </a:extLst>
              </p:cNvPr>
              <p:cNvSpPr>
                <a:spLocks noGrp="1" noRot="1" noChangeAspect="1" noMove="1" noResize="1" noEditPoints="1" noAdjustHandles="1" noChangeArrowheads="1" noChangeShapeType="1" noTextEdit="1"/>
              </p:cNvSpPr>
              <p:nvPr>
                <p:ph type="body" idx="1"/>
              </p:nvPr>
            </p:nvSpPr>
            <p:spPr>
              <a:xfrm>
                <a:off x="298174" y="119270"/>
                <a:ext cx="8388626" cy="5024230"/>
              </a:xfrm>
              <a:blipFill>
                <a:blip r:embed="rId2"/>
                <a:stretch>
                  <a:fillRect/>
                </a:stretch>
              </a:blipFill>
            </p:spPr>
            <p:txBody>
              <a:bodyPr/>
              <a:lstStyle/>
              <a:p>
                <a:r>
                  <a:rPr lang="en-IN">
                    <a:noFill/>
                  </a:rPr>
                  <a:t> </a:t>
                </a:r>
              </a:p>
            </p:txBody>
          </p:sp>
        </mc:Fallback>
      </mc:AlternateContent>
      <p:pic>
        <p:nvPicPr>
          <p:cNvPr id="9" name="Picture 8">
            <a:extLst>
              <a:ext uri="{FF2B5EF4-FFF2-40B4-BE49-F238E27FC236}">
                <a16:creationId xmlns:a16="http://schemas.microsoft.com/office/drawing/2014/main" id="{7E00DB13-755D-75B7-08DB-16621AD02132}"/>
              </a:ext>
            </a:extLst>
          </p:cNvPr>
          <p:cNvPicPr>
            <a:picLocks noChangeAspect="1"/>
          </p:cNvPicPr>
          <p:nvPr/>
        </p:nvPicPr>
        <p:blipFill>
          <a:blip r:embed="rId3"/>
          <a:stretch>
            <a:fillRect/>
          </a:stretch>
        </p:blipFill>
        <p:spPr>
          <a:xfrm>
            <a:off x="616226" y="59635"/>
            <a:ext cx="7011008" cy="1836579"/>
          </a:xfrm>
          <a:prstGeom prst="rect">
            <a:avLst/>
          </a:prstGeom>
        </p:spPr>
      </p:pic>
    </p:spTree>
    <p:extLst>
      <p:ext uri="{BB962C8B-B14F-4D97-AF65-F5344CB8AC3E}">
        <p14:creationId xmlns:p14="http://schemas.microsoft.com/office/powerpoint/2010/main" val="365864467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43"/>
          <p:cNvSpPr txBox="1"/>
          <p:nvPr/>
        </p:nvSpPr>
        <p:spPr>
          <a:xfrm>
            <a:off x="188844" y="214416"/>
            <a:ext cx="7494104" cy="4113916"/>
          </a:xfrm>
          <a:prstGeom prst="rect">
            <a:avLst/>
          </a:prstGeom>
          <a:noFill/>
          <a:ln>
            <a:noFill/>
          </a:ln>
        </p:spPr>
        <p:txBody>
          <a:bodyPr spcFirstLastPara="1" wrap="square" lIns="68569" tIns="34275" rIns="68569" bIns="34275" anchor="t" anchorCtr="0">
            <a:spAutoFit/>
          </a:bodyPr>
          <a:lstStyle/>
          <a:p>
            <a:pPr>
              <a:buClr>
                <a:schemeClr val="dk1"/>
              </a:buClr>
              <a:buSzPts val="4000"/>
            </a:pPr>
            <a:r>
              <a:rPr lang="en-US" sz="2000" b="1" i="0" u="none" dirty="0">
                <a:solidFill>
                  <a:srgbClr val="FF0000"/>
                </a:solidFill>
                <a:latin typeface="Times New Roman" panose="02020603050405020304" pitchFamily="18" charset="0"/>
                <a:ea typeface="Times New Roman"/>
                <a:cs typeface="Times New Roman" panose="02020603050405020304" pitchFamily="18" charset="0"/>
                <a:sym typeface="Times New Roman"/>
              </a:rPr>
              <a:t>Shape of Data</a:t>
            </a:r>
          </a:p>
          <a:p>
            <a:pPr>
              <a:buClr>
                <a:schemeClr val="dk1"/>
              </a:buClr>
              <a:buSzPts val="4000"/>
            </a:pPr>
            <a:endParaRPr lang="en-US" sz="1800" b="1" dirty="0">
              <a:solidFill>
                <a:srgbClr val="FF0000"/>
              </a:solidFill>
              <a:latin typeface="Times New Roman" panose="02020603050405020304" pitchFamily="18" charset="0"/>
              <a:cs typeface="Times New Roman" panose="02020603050405020304" pitchFamily="18" charset="0"/>
            </a:endParaRPr>
          </a:p>
          <a:p>
            <a:pPr>
              <a:buClr>
                <a:schemeClr val="dk1"/>
              </a:buClr>
              <a:buSzPts val="4000"/>
            </a:pPr>
            <a:r>
              <a:rPr lang="en-US" sz="1800" b="1" dirty="0">
                <a:solidFill>
                  <a:srgbClr val="FF0000"/>
                </a:solidFill>
                <a:latin typeface="Times New Roman" panose="02020603050405020304" pitchFamily="18" charset="0"/>
                <a:ea typeface="Times New Roman"/>
                <a:cs typeface="Times New Roman" panose="02020603050405020304" pitchFamily="18" charset="0"/>
                <a:sym typeface="Times New Roman"/>
              </a:rPr>
              <a:t>Skewness: </a:t>
            </a:r>
          </a:p>
          <a:p>
            <a:pPr>
              <a:buClr>
                <a:schemeClr val="dk1"/>
              </a:buClr>
              <a:buSzPts val="4000"/>
            </a:pPr>
            <a:r>
              <a:rPr lang="en-US" sz="1800" dirty="0">
                <a:solidFill>
                  <a:schemeClr val="tx1"/>
                </a:solidFill>
                <a:latin typeface="Times New Roman" panose="02020603050405020304" pitchFamily="18" charset="0"/>
                <a:ea typeface="Times New Roman"/>
                <a:cs typeface="Times New Roman" panose="02020603050405020304" pitchFamily="18" charset="0"/>
                <a:sym typeface="Times New Roman"/>
              </a:rPr>
              <a:t>Measures asymmetry of </a:t>
            </a:r>
            <a:r>
              <a:rPr lang="en-US" sz="1800" b="0" i="0" dirty="0">
                <a:solidFill>
                  <a:schemeClr val="tx1"/>
                </a:solidFill>
                <a:effectLst/>
                <a:latin typeface="Times New Roman" panose="02020603050405020304" pitchFamily="18" charset="0"/>
                <a:cs typeface="Times New Roman" panose="02020603050405020304" pitchFamily="18" charset="0"/>
              </a:rPr>
              <a:t>the distribution of values in a data set.</a:t>
            </a:r>
          </a:p>
          <a:p>
            <a:pPr>
              <a:buClr>
                <a:schemeClr val="dk1"/>
              </a:buClr>
              <a:buSzPts val="4000"/>
            </a:pPr>
            <a:endParaRPr lang="en-US" sz="1800" b="0" i="0" dirty="0">
              <a:solidFill>
                <a:schemeClr val="tx1"/>
              </a:solidFill>
              <a:effectLst/>
              <a:latin typeface="Times New Roman" panose="02020603050405020304" pitchFamily="18" charset="0"/>
              <a:cs typeface="Times New Roman" panose="02020603050405020304" pitchFamily="18" charset="0"/>
            </a:endParaRPr>
          </a:p>
          <a:p>
            <a:pPr>
              <a:buClr>
                <a:schemeClr val="dk1"/>
              </a:buClr>
              <a:buSzPts val="4000"/>
            </a:pPr>
            <a:r>
              <a:rPr lang="en-US" sz="1800" b="0" i="0" dirty="0">
                <a:solidFill>
                  <a:schemeClr val="tx1"/>
                </a:solidFill>
                <a:effectLst/>
                <a:latin typeface="Times New Roman" panose="02020603050405020304" pitchFamily="18" charset="0"/>
                <a:cs typeface="Times New Roman" panose="02020603050405020304" pitchFamily="18" charset="0"/>
              </a:rPr>
              <a:t>Skewness helps understand the underlying distribution of data, which is crucial for decision-making, risk assessment, and predicting future trends.</a:t>
            </a:r>
            <a:r>
              <a:rPr lang="en-US" sz="1800" dirty="0">
                <a:solidFill>
                  <a:schemeClr val="tx1"/>
                </a:solidFill>
                <a:latin typeface="Times New Roman" panose="02020603050405020304" pitchFamily="18" charset="0"/>
                <a:ea typeface="Times New Roman"/>
                <a:cs typeface="Times New Roman" panose="02020603050405020304" pitchFamily="18" charset="0"/>
                <a:sym typeface="Times New Roman"/>
              </a:rPr>
              <a:t> </a:t>
            </a:r>
            <a:endParaRPr lang="en-US" sz="1800" dirty="0">
              <a:solidFill>
                <a:schemeClr val="tx1"/>
              </a:solidFill>
              <a:latin typeface="Times New Roman" panose="02020603050405020304" pitchFamily="18" charset="0"/>
              <a:cs typeface="Times New Roman" panose="02020603050405020304" pitchFamily="18" charset="0"/>
            </a:endParaRPr>
          </a:p>
          <a:p>
            <a:pPr>
              <a:buClr>
                <a:schemeClr val="dk1"/>
              </a:buClr>
              <a:buSzPts val="4000"/>
            </a:pPr>
            <a:endParaRPr lang="en-US" sz="1800" dirty="0">
              <a:solidFill>
                <a:schemeClr val="tx1"/>
              </a:solidFill>
              <a:latin typeface="Times New Roman" panose="02020603050405020304" pitchFamily="18" charset="0"/>
              <a:cs typeface="Times New Roman" panose="02020603050405020304" pitchFamily="18" charset="0"/>
            </a:endParaRPr>
          </a:p>
          <a:p>
            <a:pPr>
              <a:buClr>
                <a:schemeClr val="dk1"/>
              </a:buClr>
              <a:buSzPts val="4000"/>
            </a:pPr>
            <a:r>
              <a:rPr lang="en-US" sz="1800" dirty="0">
                <a:solidFill>
                  <a:schemeClr val="tx1"/>
                </a:solidFill>
                <a:latin typeface="Times New Roman" panose="02020603050405020304" pitchFamily="18" charset="0"/>
                <a:cs typeface="Times New Roman" panose="02020603050405020304" pitchFamily="18" charset="0"/>
              </a:rPr>
              <a:t>R</a:t>
            </a:r>
            <a:r>
              <a:rPr lang="en-US" sz="1800" b="0" i="0" dirty="0">
                <a:solidFill>
                  <a:schemeClr val="tx1"/>
                </a:solidFill>
                <a:effectLst/>
                <a:latin typeface="Times New Roman" panose="02020603050405020304" pitchFamily="18" charset="0"/>
                <a:cs typeface="Times New Roman" panose="02020603050405020304" pitchFamily="18" charset="0"/>
              </a:rPr>
              <a:t>elative to the mean:</a:t>
            </a:r>
          </a:p>
          <a:p>
            <a:pPr algn="l" fontAlgn="base"/>
            <a:r>
              <a:rPr lang="en-US" sz="1800" b="0" i="0" dirty="0">
                <a:solidFill>
                  <a:schemeClr val="tx1"/>
                </a:solidFill>
                <a:effectLst/>
                <a:latin typeface="Times New Roman" panose="02020603050405020304" pitchFamily="18" charset="0"/>
                <a:cs typeface="Times New Roman" panose="02020603050405020304" pitchFamily="18" charset="0"/>
              </a:rPr>
              <a:t>If the plot is skewed to the left, it is negatively skewed</a:t>
            </a:r>
            <a:r>
              <a:rPr lang="en-US" sz="1800" dirty="0">
                <a:solidFill>
                  <a:schemeClr val="tx1"/>
                </a:solidFill>
                <a:latin typeface="Times New Roman" panose="02020603050405020304" pitchFamily="18" charset="0"/>
                <a:cs typeface="Times New Roman" panose="02020603050405020304" pitchFamily="18" charset="0"/>
              </a:rPr>
              <a:t>.</a:t>
            </a:r>
            <a:endParaRPr lang="en-US" sz="1800" b="0" i="0" dirty="0">
              <a:solidFill>
                <a:schemeClr val="tx1"/>
              </a:solidFill>
              <a:effectLst/>
              <a:latin typeface="Times New Roman" panose="02020603050405020304" pitchFamily="18" charset="0"/>
              <a:cs typeface="Times New Roman" panose="02020603050405020304" pitchFamily="18" charset="0"/>
            </a:endParaRPr>
          </a:p>
          <a:p>
            <a:pPr algn="l" rtl="0" fontAlgn="base">
              <a:spcAft>
                <a:spcPts val="750"/>
              </a:spcAft>
            </a:pPr>
            <a:r>
              <a:rPr lang="en-US" sz="1800" dirty="0">
                <a:solidFill>
                  <a:schemeClr val="tx1"/>
                </a:solidFill>
                <a:latin typeface="Times New Roman" panose="02020603050405020304" pitchFamily="18" charset="0"/>
                <a:cs typeface="Times New Roman" panose="02020603050405020304" pitchFamily="18" charset="0"/>
              </a:rPr>
              <a:t>I</a:t>
            </a:r>
            <a:r>
              <a:rPr lang="en-US" sz="1800" b="0" i="0" dirty="0">
                <a:solidFill>
                  <a:schemeClr val="tx1"/>
                </a:solidFill>
                <a:effectLst/>
                <a:latin typeface="Times New Roman" panose="02020603050405020304" pitchFamily="18" charset="0"/>
                <a:cs typeface="Times New Roman" panose="02020603050405020304" pitchFamily="18" charset="0"/>
              </a:rPr>
              <a:t>f the plot is skewed to the right, it is positively skewed. </a:t>
            </a:r>
          </a:p>
          <a:p>
            <a:pPr algn="l" rtl="0" fontAlgn="base">
              <a:spcAft>
                <a:spcPts val="750"/>
              </a:spcAft>
            </a:pPr>
            <a:r>
              <a:rPr lang="en-US" sz="1800" b="0" i="0" dirty="0">
                <a:solidFill>
                  <a:schemeClr val="tx1"/>
                </a:solidFill>
                <a:effectLst/>
                <a:latin typeface="Times New Roman" panose="02020603050405020304" pitchFamily="18" charset="0"/>
                <a:cs typeface="Times New Roman" panose="02020603050405020304" pitchFamily="18" charset="0"/>
              </a:rPr>
              <a:t>If the plot is roughly symmetric, it has no skewness.</a:t>
            </a:r>
          </a:p>
          <a:p>
            <a:br>
              <a:rPr lang="en-US" sz="1050" dirty="0">
                <a:solidFill>
                  <a:schemeClr val="tx1"/>
                </a:solidFill>
                <a:latin typeface="Times New Roman" panose="02020603050405020304" pitchFamily="18" charset="0"/>
                <a:cs typeface="Times New Roman" panose="02020603050405020304" pitchFamily="18" charset="0"/>
              </a:rPr>
            </a:br>
            <a:endParaRPr lang="en-IN" sz="1050" dirty="0">
              <a:solidFill>
                <a:schemeClr val="tx1"/>
              </a:solidFill>
              <a:latin typeface="Times New Roman" panose="02020603050405020304" pitchFamily="18" charset="0"/>
              <a:cs typeface="Times New Roman" panose="02020603050405020304" pitchFamily="18" charset="0"/>
            </a:endParaRPr>
          </a:p>
          <a:p>
            <a:pPr>
              <a:buClr>
                <a:schemeClr val="dk1"/>
              </a:buClr>
              <a:buSzPts val="4000"/>
            </a:pPr>
            <a:endParaRPr sz="1050" dirty="0">
              <a:solidFill>
                <a:srgbClr val="B044F2"/>
              </a:solidFill>
            </a:endParaRPr>
          </a:p>
        </p:txBody>
      </p:sp>
    </p:spTree>
    <p:extLst>
      <p:ext uri="{BB962C8B-B14F-4D97-AF65-F5344CB8AC3E}">
        <p14:creationId xmlns:p14="http://schemas.microsoft.com/office/powerpoint/2010/main" val="103971423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diagram of a function&#10;&#10;Description automatically generated">
            <a:extLst>
              <a:ext uri="{FF2B5EF4-FFF2-40B4-BE49-F238E27FC236}">
                <a16:creationId xmlns:a16="http://schemas.microsoft.com/office/drawing/2014/main" id="{C2376BA9-B550-4CD1-AAF4-7AF7BA5799A0}"/>
              </a:ext>
            </a:extLst>
          </p:cNvPr>
          <p:cNvPicPr>
            <a:picLocks noChangeAspect="1"/>
          </p:cNvPicPr>
          <p:nvPr/>
        </p:nvPicPr>
        <p:blipFill>
          <a:blip r:embed="rId2"/>
          <a:stretch>
            <a:fillRect/>
          </a:stretch>
        </p:blipFill>
        <p:spPr>
          <a:xfrm>
            <a:off x="596348" y="885589"/>
            <a:ext cx="7882697" cy="3497568"/>
          </a:xfrm>
          <a:prstGeom prst="rect">
            <a:avLst/>
          </a:prstGeom>
        </p:spPr>
      </p:pic>
    </p:spTree>
    <p:extLst>
      <p:ext uri="{BB962C8B-B14F-4D97-AF65-F5344CB8AC3E}">
        <p14:creationId xmlns:p14="http://schemas.microsoft.com/office/powerpoint/2010/main" val="331010807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1">
                <a:extLst>
                  <a:ext uri="{FF2B5EF4-FFF2-40B4-BE49-F238E27FC236}">
                    <a16:creationId xmlns:a16="http://schemas.microsoft.com/office/drawing/2014/main" id="{D77DD9BC-12BC-1B54-BDA8-47CECF4D1F11}"/>
                  </a:ext>
                </a:extLst>
              </p:cNvPr>
              <p:cNvSpPr>
                <a:spLocks noChangeArrowheads="1"/>
              </p:cNvSpPr>
              <p:nvPr/>
            </p:nvSpPr>
            <p:spPr bwMode="auto">
              <a:xfrm>
                <a:off x="188844" y="576255"/>
                <a:ext cx="7603433" cy="3693319"/>
              </a:xfrm>
              <a:prstGeom prst="rect">
                <a:avLst/>
              </a:prstGeom>
              <a:solidFill>
                <a:srgbClr val="FFFFFF"/>
              </a:solidFill>
              <a:ln>
                <a:noFill/>
              </a:ln>
              <a:effectLst/>
              <a:extLs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Skewness Coefficient</a:t>
                </a: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(Pearson's First Coefficient of Skewness):</a:t>
                </a:r>
                <a:r>
                  <a:rPr kumimoji="0" lang="en-US" altLang="en-US" sz="24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a:t>
                </a: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This is a numerical measure of skewness, which determines the skewness when mean and mode are not equal. </a:t>
                </a: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8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Skewness as per Karl Pearson's Measure denoted by </a:t>
                </a:r>
                <a14:m>
                  <m:oMath xmlns:m="http://schemas.openxmlformats.org/officeDocument/2006/math">
                    <m:sSub>
                      <m:sSubPr>
                        <m:ctrlPr>
                          <a:rPr lang="en-US" sz="1800" i="1" dirty="0" smtClean="0">
                            <a:solidFill>
                              <a:srgbClr val="273239"/>
                            </a:solidFill>
                            <a:effectLst/>
                            <a:latin typeface="Cambria Math" panose="02040503050406030204" pitchFamily="18" charset="0"/>
                            <a:cs typeface="Times New Roman" panose="02020603050405020304" pitchFamily="18" charset="0"/>
                          </a:rPr>
                        </m:ctrlPr>
                      </m:sSubPr>
                      <m:e>
                        <m:r>
                          <m:rPr>
                            <m:sty m:val="p"/>
                          </m:rPr>
                          <a:rPr lang="en-US" sz="1800" b="0" i="0" dirty="0">
                            <a:solidFill>
                              <a:srgbClr val="273239"/>
                            </a:solidFill>
                            <a:latin typeface="Cambria Math" panose="02040503050406030204" pitchFamily="18" charset="0"/>
                            <a:cs typeface="Times New Roman" panose="02020603050405020304" pitchFamily="18" charset="0"/>
                          </a:rPr>
                          <m:t>S</m:t>
                        </m:r>
                      </m:e>
                      <m:sub>
                        <m:r>
                          <m:rPr>
                            <m:sty m:val="p"/>
                          </m:rPr>
                          <a:rPr lang="en-US" sz="1800" b="0" i="0" dirty="0">
                            <a:solidFill>
                              <a:srgbClr val="273239"/>
                            </a:solidFill>
                            <a:latin typeface="Cambria Math" panose="02040503050406030204" pitchFamily="18" charset="0"/>
                            <a:cs typeface="Times New Roman" panose="02020603050405020304" pitchFamily="18" charset="0"/>
                          </a:rPr>
                          <m:t>k</m:t>
                        </m:r>
                      </m:sub>
                    </m:sSub>
                  </m:oMath>
                </a14:m>
                <a:endParaRPr kumimoji="0" lang="en-US" altLang="en-US" sz="18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l" fontAlgn="base">
                  <a:spcAft>
                    <a:spcPts val="1800"/>
                  </a:spcAft>
                  <a:buFont typeface="Arial" panose="020B0604020202020204" pitchFamily="34" charset="0"/>
                  <a:buChar char="•"/>
                </a:pPr>
                <a:r>
                  <a:rPr lang="en-US" sz="1800" b="0" i="0" dirty="0">
                    <a:solidFill>
                      <a:schemeClr val="tx1"/>
                    </a:solidFill>
                    <a:effectLst/>
                    <a:latin typeface="Times New Roman" panose="02020603050405020304" pitchFamily="18" charset="0"/>
                    <a:cs typeface="Times New Roman" panose="02020603050405020304" pitchFamily="18" charset="0"/>
                  </a:rPr>
                  <a:t>If mean is greater than mode, the skewness will consist positive value.</a:t>
                </a:r>
              </a:p>
              <a:p>
                <a:pPr algn="l" fontAlgn="base">
                  <a:spcAft>
                    <a:spcPts val="1800"/>
                  </a:spcAft>
                  <a:buFont typeface="Arial" panose="020B0604020202020204" pitchFamily="34" charset="0"/>
                  <a:buChar char="•"/>
                </a:pPr>
                <a:r>
                  <a:rPr lang="en-US" sz="1800" b="0" i="0" dirty="0">
                    <a:solidFill>
                      <a:schemeClr val="tx1"/>
                    </a:solidFill>
                    <a:effectLst/>
                    <a:latin typeface="Times New Roman" panose="02020603050405020304" pitchFamily="18" charset="0"/>
                    <a:cs typeface="Times New Roman" panose="02020603050405020304" pitchFamily="18" charset="0"/>
                  </a:rPr>
                  <a:t>In case of mean is smaller than mode, the skewness will be a negative value.</a:t>
                </a:r>
              </a:p>
              <a:p>
                <a:pPr algn="l" fontAlgn="base">
                  <a:spcAft>
                    <a:spcPts val="1800"/>
                  </a:spcAft>
                  <a:buFont typeface="Arial" panose="020B0604020202020204" pitchFamily="34" charset="0"/>
                  <a:buChar char="•"/>
                </a:pPr>
                <a:r>
                  <a:rPr lang="en-US" sz="1800" b="0" i="0" dirty="0">
                    <a:solidFill>
                      <a:schemeClr val="tx1"/>
                    </a:solidFill>
                    <a:effectLst/>
                    <a:latin typeface="Times New Roman" panose="02020603050405020304" pitchFamily="18" charset="0"/>
                    <a:cs typeface="Times New Roman" panose="02020603050405020304" pitchFamily="18" charset="0"/>
                  </a:rPr>
                  <a:t>In case of equality of mean and mode, the skewness will be zero.</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mc:Choice>
        <mc:Fallback xmlns="">
          <p:sp>
            <p:nvSpPr>
              <p:cNvPr id="4" name="Rectangle 1">
                <a:extLst>
                  <a:ext uri="{FF2B5EF4-FFF2-40B4-BE49-F238E27FC236}">
                    <a16:creationId xmlns:a16="http://schemas.microsoft.com/office/drawing/2014/main" id="{D77DD9BC-12BC-1B54-BDA8-47CECF4D1F11}"/>
                  </a:ext>
                </a:extLst>
              </p:cNvPr>
              <p:cNvSpPr>
                <a:spLocks noRot="1" noChangeAspect="1" noMove="1" noResize="1" noEditPoints="1" noAdjustHandles="1" noChangeArrowheads="1" noChangeShapeType="1" noTextEdit="1"/>
              </p:cNvSpPr>
              <p:nvPr/>
            </p:nvSpPr>
            <p:spPr bwMode="auto">
              <a:xfrm>
                <a:off x="188844" y="576255"/>
                <a:ext cx="7603433" cy="3693319"/>
              </a:xfrm>
              <a:prstGeom prst="rect">
                <a:avLst/>
              </a:prstGeom>
              <a:blipFill>
                <a:blip r:embed="rId2"/>
                <a:stretch>
                  <a:fillRect l="-2486" t="-2149" b="-3471"/>
                </a:stretch>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p:spTree>
    <p:extLst>
      <p:ext uri="{BB962C8B-B14F-4D97-AF65-F5344CB8AC3E}">
        <p14:creationId xmlns:p14="http://schemas.microsoft.com/office/powerpoint/2010/main" val="31550255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CED84A0-12A8-9BC8-5DCE-CA3658EDBFE1}"/>
                  </a:ext>
                </a:extLst>
              </p:cNvPr>
              <p:cNvSpPr txBox="1"/>
              <p:nvPr/>
            </p:nvSpPr>
            <p:spPr>
              <a:xfrm>
                <a:off x="308113" y="298174"/>
                <a:ext cx="8160026" cy="4055726"/>
              </a:xfrm>
              <a:prstGeom prst="rect">
                <a:avLst/>
              </a:prstGeom>
              <a:noFill/>
            </p:spPr>
            <p:txBody>
              <a:bodyPr wrap="square">
                <a:spAutoFit/>
              </a:bodyPr>
              <a:lstStyle/>
              <a:p>
                <a:pPr algn="l" fontAlgn="base"/>
                <a:r>
                  <a:rPr lang="en-US" sz="1800" b="1" dirty="0">
                    <a:solidFill>
                      <a:srgbClr val="FF0000"/>
                    </a:solidFill>
                    <a:effectLst/>
                    <a:latin typeface="Times New Roman" panose="02020603050405020304" pitchFamily="18" charset="0"/>
                    <a:cs typeface="Times New Roman" panose="02020603050405020304" pitchFamily="18" charset="0"/>
                  </a:rPr>
                  <a:t>Coefficient of Skewness as per Karl Pearson's Measure</a:t>
                </a:r>
              </a:p>
              <a:p>
                <a:pPr marL="457200" indent="-457200" fontAlgn="base">
                  <a:spcAft>
                    <a:spcPts val="750"/>
                  </a:spcAft>
                  <a:buAutoNum type="arabicPeriod"/>
                </a:pPr>
                <a:r>
                  <a:rPr lang="en-US" sz="1800" dirty="0">
                    <a:solidFill>
                      <a:srgbClr val="273239"/>
                    </a:solidFill>
                    <a:effectLst/>
                    <a:latin typeface="Times New Roman" panose="02020603050405020304" pitchFamily="18" charset="0"/>
                    <a:cs typeface="Times New Roman" panose="02020603050405020304" pitchFamily="18" charset="0"/>
                  </a:rPr>
                  <a:t>With respect to Mean and Median: </a:t>
                </a:r>
                <a14:m>
                  <m:oMath xmlns:m="http://schemas.openxmlformats.org/officeDocument/2006/math">
                    <m:sSub>
                      <m:sSubPr>
                        <m:ctrlPr>
                          <a:rPr lang="en-US" sz="1800" i="1" dirty="0" smtClean="0">
                            <a:solidFill>
                              <a:srgbClr val="273239"/>
                            </a:solidFill>
                            <a:effectLst/>
                            <a:latin typeface="Cambria Math" panose="02040503050406030204" pitchFamily="18" charset="0"/>
                            <a:cs typeface="Times New Roman" panose="02020603050405020304" pitchFamily="18" charset="0"/>
                          </a:rPr>
                        </m:ctrlPr>
                      </m:sSubPr>
                      <m:e>
                        <m:r>
                          <m:rPr>
                            <m:sty m:val="p"/>
                          </m:rPr>
                          <a:rPr lang="en-US" sz="1800" b="0" i="0" dirty="0" smtClean="0">
                            <a:solidFill>
                              <a:srgbClr val="273239"/>
                            </a:solidFill>
                            <a:latin typeface="Cambria Math" panose="02040503050406030204" pitchFamily="18" charset="0"/>
                            <a:cs typeface="Times New Roman" panose="02020603050405020304" pitchFamily="18" charset="0"/>
                          </a:rPr>
                          <m:t>S</m:t>
                        </m:r>
                      </m:e>
                      <m:sub>
                        <m:r>
                          <m:rPr>
                            <m:sty m:val="p"/>
                          </m:rPr>
                          <a:rPr lang="en-US" sz="1800" b="0" i="0" dirty="0" smtClean="0">
                            <a:solidFill>
                              <a:srgbClr val="273239"/>
                            </a:solidFill>
                            <a:latin typeface="Cambria Math" panose="02040503050406030204" pitchFamily="18" charset="0"/>
                            <a:cs typeface="Times New Roman" panose="02020603050405020304" pitchFamily="18" charset="0"/>
                          </a:rPr>
                          <m:t>k</m:t>
                        </m:r>
                      </m:sub>
                    </m:sSub>
                    <m:r>
                      <a:rPr lang="en-US" sz="1800" b="0" i="0" dirty="0" smtClean="0">
                        <a:solidFill>
                          <a:srgbClr val="273239"/>
                        </a:solidFill>
                        <a:latin typeface="Cambria Math" panose="02040503050406030204" pitchFamily="18" charset="0"/>
                        <a:cs typeface="Times New Roman" panose="02020603050405020304" pitchFamily="18" charset="0"/>
                      </a:rPr>
                      <m:t>=</m:t>
                    </m:r>
                    <m:f>
                      <m:fPr>
                        <m:ctrlPr>
                          <a:rPr lang="en-US" sz="1800" i="1" dirty="0" smtClean="0">
                            <a:solidFill>
                              <a:srgbClr val="273239"/>
                            </a:solidFill>
                            <a:latin typeface="Cambria Math" panose="02040503050406030204" pitchFamily="18" charset="0"/>
                            <a:cs typeface="Times New Roman" panose="02020603050405020304" pitchFamily="18" charset="0"/>
                          </a:rPr>
                        </m:ctrlPr>
                      </m:fPr>
                      <m:num>
                        <m:r>
                          <a:rPr lang="en-US" sz="1800" b="0" i="0" dirty="0" smtClean="0">
                            <a:solidFill>
                              <a:srgbClr val="273239"/>
                            </a:solidFill>
                            <a:latin typeface="Cambria Math" panose="02040503050406030204" pitchFamily="18" charset="0"/>
                            <a:cs typeface="Times New Roman" panose="02020603050405020304" pitchFamily="18" charset="0"/>
                          </a:rPr>
                          <m:t>3</m:t>
                        </m:r>
                        <m:d>
                          <m:dPr>
                            <m:ctrlPr>
                              <a:rPr lang="en-US" sz="1800" i="1" dirty="0">
                                <a:solidFill>
                                  <a:srgbClr val="273239"/>
                                </a:solidFill>
                                <a:latin typeface="Cambria Math" panose="02040503050406030204" pitchFamily="18" charset="0"/>
                                <a:cs typeface="Times New Roman" panose="02020603050405020304" pitchFamily="18" charset="0"/>
                              </a:rPr>
                            </m:ctrlPr>
                          </m:dPr>
                          <m:e>
                            <m:r>
                              <m:rPr>
                                <m:sty m:val="p"/>
                              </m:rPr>
                              <a:rPr lang="en-US" sz="1800" b="0" i="0" dirty="0" smtClean="0">
                                <a:solidFill>
                                  <a:srgbClr val="273239"/>
                                </a:solidFill>
                                <a:latin typeface="Cambria Math" panose="02040503050406030204" pitchFamily="18" charset="0"/>
                                <a:cs typeface="Times New Roman" panose="02020603050405020304" pitchFamily="18" charset="0"/>
                              </a:rPr>
                              <m:t>Mean</m:t>
                            </m:r>
                            <m:r>
                              <a:rPr lang="en-US" sz="1800" b="0" i="0" dirty="0" smtClean="0">
                                <a:solidFill>
                                  <a:srgbClr val="273239"/>
                                </a:solidFill>
                                <a:latin typeface="Cambria Math" panose="02040503050406030204" pitchFamily="18" charset="0"/>
                                <a:cs typeface="Times New Roman" panose="02020603050405020304" pitchFamily="18" charset="0"/>
                              </a:rPr>
                              <m:t>−</m:t>
                            </m:r>
                            <m:r>
                              <m:rPr>
                                <m:sty m:val="p"/>
                              </m:rPr>
                              <a:rPr lang="en-US" sz="1800" b="0" i="0" dirty="0" smtClean="0">
                                <a:solidFill>
                                  <a:srgbClr val="273239"/>
                                </a:solidFill>
                                <a:latin typeface="Cambria Math" panose="02040503050406030204" pitchFamily="18" charset="0"/>
                                <a:cs typeface="Times New Roman" panose="02020603050405020304" pitchFamily="18" charset="0"/>
                              </a:rPr>
                              <m:t>Median</m:t>
                            </m:r>
                          </m:e>
                        </m:d>
                        <m:r>
                          <m:rPr>
                            <m:nor/>
                          </m:rPr>
                          <a:rPr lang="en-US" sz="1800" dirty="0">
                            <a:solidFill>
                              <a:srgbClr val="273239"/>
                            </a:solidFill>
                            <a:latin typeface="Times New Roman" panose="02020603050405020304" pitchFamily="18" charset="0"/>
                            <a:cs typeface="Times New Roman" panose="02020603050405020304" pitchFamily="18" charset="0"/>
                          </a:rPr>
                          <m:t> </m:t>
                        </m:r>
                      </m:num>
                      <m:den>
                        <m:r>
                          <m:rPr>
                            <m:sty m:val="p"/>
                          </m:rPr>
                          <a:rPr lang="en-US" sz="1800" b="0" i="0" dirty="0" smtClean="0">
                            <a:solidFill>
                              <a:srgbClr val="273239"/>
                            </a:solidFill>
                            <a:latin typeface="Cambria Math" panose="02040503050406030204" pitchFamily="18" charset="0"/>
                            <a:ea typeface="Cambria Math" panose="02040503050406030204" pitchFamily="18" charset="0"/>
                            <a:cs typeface="Times New Roman" panose="02020603050405020304" pitchFamily="18" charset="0"/>
                          </a:rPr>
                          <m:t>σ</m:t>
                        </m:r>
                      </m:den>
                    </m:f>
                  </m:oMath>
                </a14:m>
                <a:endParaRPr lang="en-US" sz="1800" dirty="0">
                  <a:solidFill>
                    <a:srgbClr val="273239"/>
                  </a:solidFill>
                  <a:effectLst/>
                  <a:latin typeface="Times New Roman" panose="02020603050405020304" pitchFamily="18" charset="0"/>
                  <a:cs typeface="Times New Roman" panose="02020603050405020304" pitchFamily="18" charset="0"/>
                </a:endParaRPr>
              </a:p>
              <a:p>
                <a:pPr marL="457200" indent="-457200" fontAlgn="base">
                  <a:spcAft>
                    <a:spcPts val="750"/>
                  </a:spcAft>
                  <a:buAutoNum type="arabicPeriod"/>
                </a:pPr>
                <a:r>
                  <a:rPr lang="en-US" sz="1800" dirty="0">
                    <a:solidFill>
                      <a:srgbClr val="273239"/>
                    </a:solidFill>
                    <a:effectLst/>
                    <a:latin typeface="Times New Roman" panose="02020603050405020304" pitchFamily="18" charset="0"/>
                    <a:cs typeface="Times New Roman" panose="02020603050405020304" pitchFamily="18" charset="0"/>
                  </a:rPr>
                  <a:t>With respect to Mean and Mode:  </a:t>
                </a:r>
                <a14:m>
                  <m:oMath xmlns:m="http://schemas.openxmlformats.org/officeDocument/2006/math">
                    <m:sSub>
                      <m:sSubPr>
                        <m:ctrlPr>
                          <a:rPr lang="en-US" sz="1800" i="1" dirty="0" smtClean="0">
                            <a:solidFill>
                              <a:srgbClr val="273239"/>
                            </a:solidFill>
                            <a:effectLst/>
                            <a:latin typeface="Cambria Math" panose="02040503050406030204" pitchFamily="18" charset="0"/>
                            <a:cs typeface="Times New Roman" panose="02020603050405020304" pitchFamily="18" charset="0"/>
                          </a:rPr>
                        </m:ctrlPr>
                      </m:sSubPr>
                      <m:e>
                        <m:r>
                          <m:rPr>
                            <m:sty m:val="p"/>
                          </m:rPr>
                          <a:rPr lang="en-US" sz="1800" b="0" i="0" dirty="0" smtClean="0">
                            <a:solidFill>
                              <a:srgbClr val="273239"/>
                            </a:solidFill>
                            <a:latin typeface="Cambria Math" panose="02040503050406030204" pitchFamily="18" charset="0"/>
                            <a:cs typeface="Times New Roman" panose="02020603050405020304" pitchFamily="18" charset="0"/>
                          </a:rPr>
                          <m:t>S</m:t>
                        </m:r>
                      </m:e>
                      <m:sub>
                        <m:r>
                          <m:rPr>
                            <m:sty m:val="p"/>
                          </m:rPr>
                          <a:rPr lang="en-US" sz="1800" b="0" i="0" dirty="0" smtClean="0">
                            <a:solidFill>
                              <a:srgbClr val="273239"/>
                            </a:solidFill>
                            <a:latin typeface="Cambria Math" panose="02040503050406030204" pitchFamily="18" charset="0"/>
                            <a:cs typeface="Times New Roman" panose="02020603050405020304" pitchFamily="18" charset="0"/>
                          </a:rPr>
                          <m:t>k</m:t>
                        </m:r>
                      </m:sub>
                    </m:sSub>
                    <m:r>
                      <a:rPr lang="en-US" sz="1800" b="0" i="0" dirty="0" smtClean="0">
                        <a:solidFill>
                          <a:srgbClr val="273239"/>
                        </a:solidFill>
                        <a:latin typeface="Cambria Math" panose="02040503050406030204" pitchFamily="18" charset="0"/>
                        <a:cs typeface="Times New Roman" panose="02020603050405020304" pitchFamily="18" charset="0"/>
                      </a:rPr>
                      <m:t>=</m:t>
                    </m:r>
                    <m:f>
                      <m:fPr>
                        <m:ctrlPr>
                          <a:rPr lang="en-US" sz="1800" i="1" dirty="0" smtClean="0">
                            <a:solidFill>
                              <a:srgbClr val="273239"/>
                            </a:solidFill>
                            <a:latin typeface="Cambria Math" panose="02040503050406030204" pitchFamily="18" charset="0"/>
                            <a:cs typeface="Times New Roman" panose="02020603050405020304" pitchFamily="18" charset="0"/>
                          </a:rPr>
                        </m:ctrlPr>
                      </m:fPr>
                      <m:num>
                        <m:r>
                          <m:rPr>
                            <m:sty m:val="p"/>
                          </m:rPr>
                          <a:rPr lang="en-US" sz="1800" b="0" i="0" dirty="0" smtClean="0">
                            <a:solidFill>
                              <a:srgbClr val="273239"/>
                            </a:solidFill>
                            <a:latin typeface="Cambria Math" panose="02040503050406030204" pitchFamily="18" charset="0"/>
                            <a:cs typeface="Times New Roman" panose="02020603050405020304" pitchFamily="18" charset="0"/>
                          </a:rPr>
                          <m:t>Mean</m:t>
                        </m:r>
                        <m:r>
                          <a:rPr lang="en-US" sz="1800" b="0" i="0" dirty="0" smtClean="0">
                            <a:solidFill>
                              <a:srgbClr val="273239"/>
                            </a:solidFill>
                            <a:latin typeface="Cambria Math" panose="02040503050406030204" pitchFamily="18" charset="0"/>
                            <a:cs typeface="Times New Roman" panose="02020603050405020304" pitchFamily="18" charset="0"/>
                          </a:rPr>
                          <m:t>−</m:t>
                        </m:r>
                        <m:r>
                          <m:rPr>
                            <m:sty m:val="p"/>
                          </m:rPr>
                          <a:rPr lang="en-US" sz="1800" b="0" i="0" dirty="0" smtClean="0">
                            <a:solidFill>
                              <a:srgbClr val="273239"/>
                            </a:solidFill>
                            <a:latin typeface="Cambria Math" panose="02040503050406030204" pitchFamily="18" charset="0"/>
                            <a:cs typeface="Times New Roman" panose="02020603050405020304" pitchFamily="18" charset="0"/>
                          </a:rPr>
                          <m:t>Mode</m:t>
                        </m:r>
                      </m:num>
                      <m:den>
                        <m:r>
                          <m:rPr>
                            <m:sty m:val="p"/>
                          </m:rPr>
                          <a:rPr lang="en-US" sz="1800" b="0" i="0" dirty="0" smtClean="0">
                            <a:solidFill>
                              <a:srgbClr val="273239"/>
                            </a:solidFill>
                            <a:latin typeface="Cambria Math" panose="02040503050406030204" pitchFamily="18" charset="0"/>
                            <a:ea typeface="Cambria Math" panose="02040503050406030204" pitchFamily="18" charset="0"/>
                            <a:cs typeface="Times New Roman" panose="02020603050405020304" pitchFamily="18" charset="0"/>
                          </a:rPr>
                          <m:t>σ</m:t>
                        </m:r>
                      </m:den>
                    </m:f>
                  </m:oMath>
                </a14:m>
                <a:endParaRPr lang="en-US" sz="1800" dirty="0">
                  <a:solidFill>
                    <a:srgbClr val="273239"/>
                  </a:solidFill>
                  <a:effectLst/>
                  <a:latin typeface="Times New Roman" panose="02020603050405020304" pitchFamily="18" charset="0"/>
                  <a:cs typeface="Times New Roman" panose="02020603050405020304" pitchFamily="18" charset="0"/>
                </a:endParaRPr>
              </a:p>
              <a:p>
                <a:pPr algn="l" fontAlgn="base">
                  <a:spcAft>
                    <a:spcPts val="1800"/>
                  </a:spcAft>
                  <a:buFont typeface="Arial" panose="020B0604020202020204" pitchFamily="34" charset="0"/>
                  <a:buChar char="•"/>
                </a:pPr>
                <a:r>
                  <a:rPr lang="en-US" sz="1800" b="0" dirty="0">
                    <a:solidFill>
                      <a:srgbClr val="273239"/>
                    </a:solidFill>
                    <a:effectLst/>
                    <a:latin typeface="Times New Roman" panose="02020603050405020304" pitchFamily="18" charset="0"/>
                    <a:cs typeface="Times New Roman" panose="02020603050405020304" pitchFamily="18" charset="0"/>
                  </a:rPr>
                  <a:t>If </a:t>
                </a:r>
                <a:r>
                  <a:rPr lang="en-US" sz="1800" b="0" dirty="0" err="1">
                    <a:solidFill>
                      <a:srgbClr val="273239"/>
                    </a:solidFill>
                    <a:effectLst/>
                    <a:latin typeface="Times New Roman" panose="02020603050405020304" pitchFamily="18" charset="0"/>
                    <a:cs typeface="Times New Roman" panose="02020603050405020304" pitchFamily="18" charset="0"/>
                  </a:rPr>
                  <a:t>S</a:t>
                </a:r>
                <a:r>
                  <a:rPr lang="en-US" sz="1800" b="0" baseline="-25000" dirty="0" err="1">
                    <a:solidFill>
                      <a:srgbClr val="273239"/>
                    </a:solidFill>
                    <a:effectLst/>
                    <a:latin typeface="Times New Roman" panose="02020603050405020304" pitchFamily="18" charset="0"/>
                    <a:cs typeface="Times New Roman" panose="02020603050405020304" pitchFamily="18" charset="0"/>
                  </a:rPr>
                  <a:t>k</a:t>
                </a:r>
                <a:r>
                  <a:rPr lang="en-US" sz="1800" b="0" dirty="0">
                    <a:solidFill>
                      <a:srgbClr val="273239"/>
                    </a:solidFill>
                    <a:effectLst/>
                    <a:latin typeface="Times New Roman" panose="02020603050405020304" pitchFamily="18" charset="0"/>
                    <a:cs typeface="Times New Roman" panose="02020603050405020304" pitchFamily="18" charset="0"/>
                  </a:rPr>
                  <a:t> = 0, it indicates a perfectly symmetric distribution where the data is evenly balanced on both sides of the mean.</a:t>
                </a:r>
              </a:p>
              <a:p>
                <a:pPr algn="l" fontAlgn="base">
                  <a:spcAft>
                    <a:spcPts val="1800"/>
                  </a:spcAft>
                  <a:buFont typeface="Arial" panose="020B0604020202020204" pitchFamily="34" charset="0"/>
                  <a:buChar char="•"/>
                </a:pPr>
                <a:r>
                  <a:rPr lang="en-US" sz="1800" b="0" dirty="0">
                    <a:solidFill>
                      <a:srgbClr val="273239"/>
                    </a:solidFill>
                    <a:effectLst/>
                    <a:latin typeface="Times New Roman" panose="02020603050405020304" pitchFamily="18" charset="0"/>
                    <a:cs typeface="Times New Roman" panose="02020603050405020304" pitchFamily="18" charset="0"/>
                  </a:rPr>
                  <a:t>If </a:t>
                </a:r>
                <a:r>
                  <a:rPr lang="en-US" sz="1800" b="0" dirty="0" err="1">
                    <a:solidFill>
                      <a:srgbClr val="273239"/>
                    </a:solidFill>
                    <a:effectLst/>
                    <a:latin typeface="Times New Roman" panose="02020603050405020304" pitchFamily="18" charset="0"/>
                    <a:cs typeface="Times New Roman" panose="02020603050405020304" pitchFamily="18" charset="0"/>
                  </a:rPr>
                  <a:t>S</a:t>
                </a:r>
                <a:r>
                  <a:rPr lang="en-US" sz="1800" b="0" baseline="-25000" dirty="0" err="1">
                    <a:solidFill>
                      <a:srgbClr val="273239"/>
                    </a:solidFill>
                    <a:effectLst/>
                    <a:latin typeface="Times New Roman" panose="02020603050405020304" pitchFamily="18" charset="0"/>
                    <a:cs typeface="Times New Roman" panose="02020603050405020304" pitchFamily="18" charset="0"/>
                  </a:rPr>
                  <a:t>k</a:t>
                </a:r>
                <a:r>
                  <a:rPr lang="en-US" sz="1800" b="0" dirty="0">
                    <a:solidFill>
                      <a:srgbClr val="273239"/>
                    </a:solidFill>
                    <a:effectLst/>
                    <a:latin typeface="Times New Roman" panose="02020603050405020304" pitchFamily="18" charset="0"/>
                    <a:cs typeface="Times New Roman" panose="02020603050405020304" pitchFamily="18" charset="0"/>
                  </a:rPr>
                  <a:t> &gt; 0, it suggests a positively skewed distribution where the tail on the right side is longer or fatter, and most data points are concentrated on the left side of the mean.</a:t>
                </a:r>
              </a:p>
              <a:p>
                <a:pPr algn="l" fontAlgn="base">
                  <a:spcAft>
                    <a:spcPts val="1800"/>
                  </a:spcAft>
                  <a:buFont typeface="Arial" panose="020B0604020202020204" pitchFamily="34" charset="0"/>
                  <a:buChar char="•"/>
                </a:pPr>
                <a:r>
                  <a:rPr lang="en-US" sz="1800" b="0" dirty="0">
                    <a:solidFill>
                      <a:srgbClr val="273239"/>
                    </a:solidFill>
                    <a:effectLst/>
                    <a:latin typeface="Times New Roman" panose="02020603050405020304" pitchFamily="18" charset="0"/>
                    <a:cs typeface="Times New Roman" panose="02020603050405020304" pitchFamily="18" charset="0"/>
                  </a:rPr>
                  <a:t>If </a:t>
                </a:r>
                <a:r>
                  <a:rPr lang="en-US" sz="1800" b="0" dirty="0" err="1">
                    <a:solidFill>
                      <a:srgbClr val="273239"/>
                    </a:solidFill>
                    <a:effectLst/>
                    <a:latin typeface="Times New Roman" panose="02020603050405020304" pitchFamily="18" charset="0"/>
                    <a:cs typeface="Times New Roman" panose="02020603050405020304" pitchFamily="18" charset="0"/>
                  </a:rPr>
                  <a:t>S</a:t>
                </a:r>
                <a:r>
                  <a:rPr lang="en-US" sz="1800" b="0" baseline="-25000" dirty="0" err="1">
                    <a:solidFill>
                      <a:srgbClr val="273239"/>
                    </a:solidFill>
                    <a:effectLst/>
                    <a:latin typeface="Times New Roman" panose="02020603050405020304" pitchFamily="18" charset="0"/>
                    <a:cs typeface="Times New Roman" panose="02020603050405020304" pitchFamily="18" charset="0"/>
                  </a:rPr>
                  <a:t>k</a:t>
                </a:r>
                <a:r>
                  <a:rPr lang="en-US" sz="1800" b="0" dirty="0">
                    <a:solidFill>
                      <a:srgbClr val="273239"/>
                    </a:solidFill>
                    <a:effectLst/>
                    <a:latin typeface="Times New Roman" panose="02020603050405020304" pitchFamily="18" charset="0"/>
                    <a:cs typeface="Times New Roman" panose="02020603050405020304" pitchFamily="18" charset="0"/>
                  </a:rPr>
                  <a:t> &lt; 0, it indicates a negatively skewed distribution where the tail on the left side is longer or fatter, and most data points are concentrated on the right side of the mean.</a:t>
                </a:r>
                <a:endParaRPr lang="en-US" sz="1800" dirty="0">
                  <a:solidFill>
                    <a:srgbClr val="273239"/>
                  </a:solidFill>
                  <a:latin typeface="Times New Roman" panose="02020603050405020304" pitchFamily="18" charset="0"/>
                  <a:cs typeface="Times New Roman" panose="02020603050405020304" pitchFamily="18" charset="0"/>
                </a:endParaRPr>
              </a:p>
              <a:p>
                <a:pPr fontAlgn="base">
                  <a:spcAft>
                    <a:spcPts val="750"/>
                  </a:spcAft>
                </a:pPr>
                <a:endParaRPr lang="en-US" sz="2000" dirty="0">
                  <a:solidFill>
                    <a:srgbClr val="273239"/>
                  </a:solidFill>
                  <a:effectLst/>
                  <a:latin typeface="Times New Roman" panose="02020603050405020304" pitchFamily="18"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DCED84A0-12A8-9BC8-5DCE-CA3658EDBFE1}"/>
                  </a:ext>
                </a:extLst>
              </p:cNvPr>
              <p:cNvSpPr txBox="1">
                <a:spLocks noRot="1" noChangeAspect="1" noMove="1" noResize="1" noEditPoints="1" noAdjustHandles="1" noChangeArrowheads="1" noChangeShapeType="1" noTextEdit="1"/>
              </p:cNvSpPr>
              <p:nvPr/>
            </p:nvSpPr>
            <p:spPr>
              <a:xfrm>
                <a:off x="308113" y="298174"/>
                <a:ext cx="8160026" cy="4055726"/>
              </a:xfrm>
              <a:prstGeom prst="rect">
                <a:avLst/>
              </a:prstGeom>
              <a:blipFill>
                <a:blip r:embed="rId2"/>
                <a:stretch>
                  <a:fillRect l="-673" t="-902" r="-897"/>
                </a:stretch>
              </a:blipFill>
            </p:spPr>
            <p:txBody>
              <a:bodyPr/>
              <a:lstStyle/>
              <a:p>
                <a:r>
                  <a:rPr lang="en-IN">
                    <a:noFill/>
                  </a:rPr>
                  <a:t> </a:t>
                </a:r>
              </a:p>
            </p:txBody>
          </p:sp>
        </mc:Fallback>
      </mc:AlternateContent>
    </p:spTree>
    <p:extLst>
      <p:ext uri="{BB962C8B-B14F-4D97-AF65-F5344CB8AC3E}">
        <p14:creationId xmlns:p14="http://schemas.microsoft.com/office/powerpoint/2010/main" val="117994501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DC61400-C369-079E-939E-EF864A23D2D5}"/>
                  </a:ext>
                </a:extLst>
              </p:cNvPr>
              <p:cNvSpPr txBox="1"/>
              <p:nvPr/>
            </p:nvSpPr>
            <p:spPr>
              <a:xfrm>
                <a:off x="382657" y="149042"/>
                <a:ext cx="7280413" cy="4905958"/>
              </a:xfrm>
              <a:prstGeom prst="rect">
                <a:avLst/>
              </a:prstGeom>
              <a:noFill/>
            </p:spPr>
            <p:txBody>
              <a:bodyPr wrap="square">
                <a:spAutoFit/>
              </a:bodyPr>
              <a:lstStyle/>
              <a:p>
                <a:pPr algn="l" fontAlgn="base">
                  <a:spcBef>
                    <a:spcPts val="1800"/>
                  </a:spcBef>
                  <a:spcAft>
                    <a:spcPts val="1800"/>
                  </a:spcAft>
                </a:pPr>
                <a:r>
                  <a:rPr lang="en-US" sz="2000" b="1" i="0" dirty="0">
                    <a:solidFill>
                      <a:srgbClr val="FF0000"/>
                    </a:solidFill>
                    <a:effectLst/>
                    <a:latin typeface="Times New Roman" panose="02020603050405020304" pitchFamily="18" charset="0"/>
                    <a:cs typeface="Times New Roman" panose="02020603050405020304" pitchFamily="18" charset="0"/>
                  </a:rPr>
                  <a:t>Example:</a:t>
                </a:r>
              </a:p>
              <a:p>
                <a:pPr algn="l" rtl="0" fontAlgn="base">
                  <a:spcAft>
                    <a:spcPts val="750"/>
                  </a:spcAft>
                </a:pPr>
                <a:r>
                  <a:rPr lang="en-US" b="0" i="0" dirty="0">
                    <a:solidFill>
                      <a:srgbClr val="273239"/>
                    </a:solidFill>
                    <a:effectLst/>
                    <a:latin typeface="Times New Roman" panose="02020603050405020304" pitchFamily="18" charset="0"/>
                    <a:cs typeface="Times New Roman" panose="02020603050405020304" pitchFamily="18" charset="0"/>
                  </a:rPr>
                  <a:t>Calculate Pearson's skewness coefficient for a dataset of exam scores: 85, 88, 92, 94, 96, 98, 100, 100, 100, 100.</a:t>
                </a:r>
              </a:p>
              <a:p>
                <a:pPr algn="l" fontAlgn="base"/>
                <a:r>
                  <a:rPr lang="en-US" b="1" i="0" dirty="0">
                    <a:solidFill>
                      <a:srgbClr val="273239"/>
                    </a:solidFill>
                    <a:effectLst/>
                    <a:latin typeface="Times New Roman" panose="02020603050405020304" pitchFamily="18" charset="0"/>
                    <a:cs typeface="Times New Roman" panose="02020603050405020304" pitchFamily="18" charset="0"/>
                  </a:rPr>
                  <a:t>Solution:</a:t>
                </a:r>
              </a:p>
              <a:p>
                <a:pPr algn="l" rtl="0" fontAlgn="base">
                  <a:spcAft>
                    <a:spcPts val="750"/>
                  </a:spcAft>
                </a:pPr>
                <a:r>
                  <a:rPr lang="en-US" b="1" i="0" dirty="0">
                    <a:solidFill>
                      <a:srgbClr val="273239"/>
                    </a:solidFill>
                    <a:effectLst/>
                    <a:latin typeface="Times New Roman" panose="02020603050405020304" pitchFamily="18" charset="0"/>
                    <a:cs typeface="Times New Roman" panose="02020603050405020304" pitchFamily="18" charset="0"/>
                  </a:rPr>
                  <a:t>Step 1: </a:t>
                </a:r>
                <a:r>
                  <a:rPr lang="en-US" b="0" i="0" dirty="0">
                    <a:solidFill>
                      <a:srgbClr val="273239"/>
                    </a:solidFill>
                    <a:effectLst/>
                    <a:latin typeface="Times New Roman" panose="02020603050405020304" pitchFamily="18" charset="0"/>
                    <a:cs typeface="Times New Roman" panose="02020603050405020304" pitchFamily="18" charset="0"/>
                  </a:rPr>
                  <a:t>Calculation of Mean</a:t>
                </a:r>
              </a:p>
              <a:p>
                <a:pPr algn="l" rtl="0" fontAlgn="base">
                  <a:spcAft>
                    <a:spcPts val="750"/>
                  </a:spcAft>
                </a:pPr>
                <a14:m>
                  <m:oMathPara xmlns:m="http://schemas.openxmlformats.org/officeDocument/2006/math">
                    <m:oMathParaPr>
                      <m:jc m:val="centerGroup"/>
                    </m:oMathParaPr>
                    <m:oMath xmlns:m="http://schemas.openxmlformats.org/officeDocument/2006/math">
                      <m:r>
                        <a:rPr lang="en-US" b="0" i="1" dirty="0" smtClean="0">
                          <a:solidFill>
                            <a:srgbClr val="273239"/>
                          </a:solidFill>
                          <a:effectLst/>
                          <a:latin typeface="Cambria Math" panose="02040503050406030204" pitchFamily="18" charset="0"/>
                          <a:cs typeface="Times New Roman" panose="02020603050405020304" pitchFamily="18" charset="0"/>
                        </a:rPr>
                        <m:t>𝑀𝑒𝑎𝑛</m:t>
                      </m:r>
                      <m:r>
                        <a:rPr lang="en-US" b="0" i="1" dirty="0" smtClean="0">
                          <a:solidFill>
                            <a:srgbClr val="273239"/>
                          </a:solidFill>
                          <a:effectLst/>
                          <a:latin typeface="Cambria Math" panose="02040503050406030204" pitchFamily="18" charset="0"/>
                          <a:cs typeface="Times New Roman" panose="02020603050405020304" pitchFamily="18" charset="0"/>
                        </a:rPr>
                        <m:t>=(</m:t>
                      </m:r>
                      <m:r>
                        <a:rPr lang="en-US" b="0" i="1" dirty="0" smtClean="0">
                          <a:solidFill>
                            <a:srgbClr val="273239"/>
                          </a:solidFill>
                          <a:effectLst/>
                          <a:latin typeface="Cambria Math" panose="02040503050406030204" pitchFamily="18" charset="0"/>
                          <a:cs typeface="Times New Roman" panose="02020603050405020304" pitchFamily="18" charset="0"/>
                        </a:rPr>
                        <m:t>85</m:t>
                      </m:r>
                      <m:r>
                        <a:rPr lang="en-US" b="0" i="1" dirty="0" smtClean="0">
                          <a:solidFill>
                            <a:srgbClr val="273239"/>
                          </a:solidFill>
                          <a:effectLst/>
                          <a:latin typeface="Cambria Math" panose="02040503050406030204" pitchFamily="18" charset="0"/>
                          <a:cs typeface="Times New Roman" panose="02020603050405020304" pitchFamily="18" charset="0"/>
                        </a:rPr>
                        <m:t>+</m:t>
                      </m:r>
                      <m:r>
                        <a:rPr lang="en-US" b="0" i="1" dirty="0" smtClean="0">
                          <a:solidFill>
                            <a:srgbClr val="273239"/>
                          </a:solidFill>
                          <a:effectLst/>
                          <a:latin typeface="Cambria Math" panose="02040503050406030204" pitchFamily="18" charset="0"/>
                          <a:cs typeface="Times New Roman" panose="02020603050405020304" pitchFamily="18" charset="0"/>
                        </a:rPr>
                        <m:t>88</m:t>
                      </m:r>
                      <m:r>
                        <a:rPr lang="en-US" b="0" i="1" dirty="0" smtClean="0">
                          <a:solidFill>
                            <a:srgbClr val="273239"/>
                          </a:solidFill>
                          <a:effectLst/>
                          <a:latin typeface="Cambria Math" panose="02040503050406030204" pitchFamily="18" charset="0"/>
                          <a:cs typeface="Times New Roman" panose="02020603050405020304" pitchFamily="18" charset="0"/>
                        </a:rPr>
                        <m:t>+</m:t>
                      </m:r>
                      <m:r>
                        <a:rPr lang="en-US" b="0" i="1" dirty="0" smtClean="0">
                          <a:solidFill>
                            <a:srgbClr val="273239"/>
                          </a:solidFill>
                          <a:effectLst/>
                          <a:latin typeface="Cambria Math" panose="02040503050406030204" pitchFamily="18" charset="0"/>
                          <a:cs typeface="Times New Roman" panose="02020603050405020304" pitchFamily="18" charset="0"/>
                        </a:rPr>
                        <m:t>92</m:t>
                      </m:r>
                      <m:r>
                        <a:rPr lang="en-US" b="0" i="1" dirty="0" smtClean="0">
                          <a:solidFill>
                            <a:srgbClr val="273239"/>
                          </a:solidFill>
                          <a:effectLst/>
                          <a:latin typeface="Cambria Math" panose="02040503050406030204" pitchFamily="18" charset="0"/>
                          <a:cs typeface="Times New Roman" panose="02020603050405020304" pitchFamily="18" charset="0"/>
                        </a:rPr>
                        <m:t>+</m:t>
                      </m:r>
                      <m:r>
                        <a:rPr lang="en-US" b="0" i="1" dirty="0" smtClean="0">
                          <a:solidFill>
                            <a:srgbClr val="273239"/>
                          </a:solidFill>
                          <a:effectLst/>
                          <a:latin typeface="Cambria Math" panose="02040503050406030204" pitchFamily="18" charset="0"/>
                          <a:cs typeface="Times New Roman" panose="02020603050405020304" pitchFamily="18" charset="0"/>
                        </a:rPr>
                        <m:t>94</m:t>
                      </m:r>
                      <m:r>
                        <a:rPr lang="en-US" b="0" i="1" dirty="0" smtClean="0">
                          <a:solidFill>
                            <a:srgbClr val="273239"/>
                          </a:solidFill>
                          <a:effectLst/>
                          <a:latin typeface="Cambria Math" panose="02040503050406030204" pitchFamily="18" charset="0"/>
                          <a:cs typeface="Times New Roman" panose="02020603050405020304" pitchFamily="18" charset="0"/>
                        </a:rPr>
                        <m:t>+</m:t>
                      </m:r>
                      <m:r>
                        <a:rPr lang="en-US" b="0" i="1" dirty="0" smtClean="0">
                          <a:solidFill>
                            <a:srgbClr val="273239"/>
                          </a:solidFill>
                          <a:effectLst/>
                          <a:latin typeface="Cambria Math" panose="02040503050406030204" pitchFamily="18" charset="0"/>
                          <a:cs typeface="Times New Roman" panose="02020603050405020304" pitchFamily="18" charset="0"/>
                        </a:rPr>
                        <m:t>96</m:t>
                      </m:r>
                      <m:r>
                        <a:rPr lang="en-US" b="0" i="1" dirty="0" smtClean="0">
                          <a:solidFill>
                            <a:srgbClr val="273239"/>
                          </a:solidFill>
                          <a:effectLst/>
                          <a:latin typeface="Cambria Math" panose="02040503050406030204" pitchFamily="18" charset="0"/>
                          <a:cs typeface="Times New Roman" panose="02020603050405020304" pitchFamily="18" charset="0"/>
                        </a:rPr>
                        <m:t>+</m:t>
                      </m:r>
                      <m:r>
                        <a:rPr lang="en-US" b="0" i="1" dirty="0" smtClean="0">
                          <a:solidFill>
                            <a:srgbClr val="273239"/>
                          </a:solidFill>
                          <a:effectLst/>
                          <a:latin typeface="Cambria Math" panose="02040503050406030204" pitchFamily="18" charset="0"/>
                          <a:cs typeface="Times New Roman" panose="02020603050405020304" pitchFamily="18" charset="0"/>
                        </a:rPr>
                        <m:t>98</m:t>
                      </m:r>
                      <m:r>
                        <a:rPr lang="en-US" b="0" i="1" dirty="0" smtClean="0">
                          <a:solidFill>
                            <a:srgbClr val="273239"/>
                          </a:solidFill>
                          <a:effectLst/>
                          <a:latin typeface="Cambria Math" panose="02040503050406030204" pitchFamily="18" charset="0"/>
                          <a:cs typeface="Times New Roman" panose="02020603050405020304" pitchFamily="18" charset="0"/>
                        </a:rPr>
                        <m:t>+</m:t>
                      </m:r>
                      <m:r>
                        <a:rPr lang="en-US" b="0" i="1" dirty="0" smtClean="0">
                          <a:solidFill>
                            <a:srgbClr val="273239"/>
                          </a:solidFill>
                          <a:effectLst/>
                          <a:latin typeface="Cambria Math" panose="02040503050406030204" pitchFamily="18" charset="0"/>
                          <a:cs typeface="Times New Roman" panose="02020603050405020304" pitchFamily="18" charset="0"/>
                        </a:rPr>
                        <m:t>100</m:t>
                      </m:r>
                      <m:r>
                        <a:rPr lang="en-US" b="0" i="1" dirty="0" smtClean="0">
                          <a:solidFill>
                            <a:srgbClr val="273239"/>
                          </a:solidFill>
                          <a:effectLst/>
                          <a:latin typeface="Cambria Math" panose="02040503050406030204" pitchFamily="18" charset="0"/>
                          <a:cs typeface="Times New Roman" panose="02020603050405020304" pitchFamily="18" charset="0"/>
                        </a:rPr>
                        <m:t>+</m:t>
                      </m:r>
                      <m:r>
                        <a:rPr lang="en-US" b="0" i="1" dirty="0" smtClean="0">
                          <a:solidFill>
                            <a:srgbClr val="273239"/>
                          </a:solidFill>
                          <a:effectLst/>
                          <a:latin typeface="Cambria Math" panose="02040503050406030204" pitchFamily="18" charset="0"/>
                          <a:cs typeface="Times New Roman" panose="02020603050405020304" pitchFamily="18" charset="0"/>
                        </a:rPr>
                        <m:t>100</m:t>
                      </m:r>
                      <m:r>
                        <a:rPr lang="en-US" b="0" i="1" dirty="0" smtClean="0">
                          <a:solidFill>
                            <a:srgbClr val="273239"/>
                          </a:solidFill>
                          <a:effectLst/>
                          <a:latin typeface="Cambria Math" panose="02040503050406030204" pitchFamily="18" charset="0"/>
                          <a:cs typeface="Times New Roman" panose="02020603050405020304" pitchFamily="18" charset="0"/>
                        </a:rPr>
                        <m:t>+</m:t>
                      </m:r>
                      <m:r>
                        <a:rPr lang="en-US" b="0" i="1" dirty="0" smtClean="0">
                          <a:solidFill>
                            <a:srgbClr val="273239"/>
                          </a:solidFill>
                          <a:effectLst/>
                          <a:latin typeface="Cambria Math" panose="02040503050406030204" pitchFamily="18" charset="0"/>
                          <a:cs typeface="Times New Roman" panose="02020603050405020304" pitchFamily="18" charset="0"/>
                        </a:rPr>
                        <m:t>100</m:t>
                      </m:r>
                      <m:r>
                        <a:rPr lang="en-US" b="0" i="1" dirty="0" smtClean="0">
                          <a:solidFill>
                            <a:srgbClr val="273239"/>
                          </a:solidFill>
                          <a:effectLst/>
                          <a:latin typeface="Cambria Math" panose="02040503050406030204" pitchFamily="18" charset="0"/>
                          <a:cs typeface="Times New Roman" panose="02020603050405020304" pitchFamily="18" charset="0"/>
                        </a:rPr>
                        <m:t>+</m:t>
                      </m:r>
                      <m:r>
                        <a:rPr lang="en-US" b="0" i="1" dirty="0" smtClean="0">
                          <a:solidFill>
                            <a:srgbClr val="273239"/>
                          </a:solidFill>
                          <a:effectLst/>
                          <a:latin typeface="Cambria Math" panose="02040503050406030204" pitchFamily="18" charset="0"/>
                          <a:cs typeface="Times New Roman" panose="02020603050405020304" pitchFamily="18" charset="0"/>
                        </a:rPr>
                        <m:t>100</m:t>
                      </m:r>
                      <m:r>
                        <a:rPr lang="en-US" b="0" i="1" dirty="0" smtClean="0">
                          <a:solidFill>
                            <a:srgbClr val="273239"/>
                          </a:solidFill>
                          <a:effectLst/>
                          <a:latin typeface="Cambria Math" panose="02040503050406030204" pitchFamily="18" charset="0"/>
                          <a:cs typeface="Times New Roman" panose="02020603050405020304" pitchFamily="18" charset="0"/>
                        </a:rPr>
                        <m:t>)/</m:t>
                      </m:r>
                      <m:r>
                        <a:rPr lang="en-US" b="0" i="1" dirty="0" smtClean="0">
                          <a:solidFill>
                            <a:srgbClr val="273239"/>
                          </a:solidFill>
                          <a:effectLst/>
                          <a:latin typeface="Cambria Math" panose="02040503050406030204" pitchFamily="18" charset="0"/>
                          <a:cs typeface="Times New Roman" panose="02020603050405020304" pitchFamily="18" charset="0"/>
                        </a:rPr>
                        <m:t>10</m:t>
                      </m:r>
                      <m:r>
                        <a:rPr lang="en-US" b="0" i="1" dirty="0" smtClean="0">
                          <a:solidFill>
                            <a:srgbClr val="273239"/>
                          </a:solidFill>
                          <a:effectLst/>
                          <a:latin typeface="Cambria Math" panose="02040503050406030204" pitchFamily="18" charset="0"/>
                          <a:cs typeface="Times New Roman" panose="02020603050405020304" pitchFamily="18" charset="0"/>
                        </a:rPr>
                        <m:t>=</m:t>
                      </m:r>
                      <m:r>
                        <a:rPr lang="en-US" b="0" i="1" dirty="0" smtClean="0">
                          <a:solidFill>
                            <a:srgbClr val="273239"/>
                          </a:solidFill>
                          <a:effectLst/>
                          <a:latin typeface="Cambria Math" panose="02040503050406030204" pitchFamily="18" charset="0"/>
                          <a:cs typeface="Times New Roman" panose="02020603050405020304" pitchFamily="18" charset="0"/>
                        </a:rPr>
                        <m:t>953</m:t>
                      </m:r>
                      <m:r>
                        <a:rPr lang="en-US" b="0" i="1" dirty="0" smtClean="0">
                          <a:solidFill>
                            <a:srgbClr val="273239"/>
                          </a:solidFill>
                          <a:effectLst/>
                          <a:latin typeface="Cambria Math" panose="02040503050406030204" pitchFamily="18" charset="0"/>
                          <a:cs typeface="Times New Roman" panose="02020603050405020304" pitchFamily="18" charset="0"/>
                        </a:rPr>
                        <m:t>/</m:t>
                      </m:r>
                      <m:r>
                        <a:rPr lang="en-US" b="0" i="1" dirty="0" smtClean="0">
                          <a:solidFill>
                            <a:srgbClr val="273239"/>
                          </a:solidFill>
                          <a:effectLst/>
                          <a:latin typeface="Cambria Math" panose="02040503050406030204" pitchFamily="18" charset="0"/>
                          <a:cs typeface="Times New Roman" panose="02020603050405020304" pitchFamily="18" charset="0"/>
                        </a:rPr>
                        <m:t>10</m:t>
                      </m:r>
                      <m:r>
                        <a:rPr lang="en-US" b="0" i="1" dirty="0" smtClean="0">
                          <a:solidFill>
                            <a:srgbClr val="273239"/>
                          </a:solidFill>
                          <a:effectLst/>
                          <a:latin typeface="Cambria Math" panose="02040503050406030204" pitchFamily="18" charset="0"/>
                          <a:cs typeface="Times New Roman" panose="02020603050405020304" pitchFamily="18" charset="0"/>
                        </a:rPr>
                        <m:t>=</m:t>
                      </m:r>
                      <m:r>
                        <a:rPr lang="en-US" b="0" i="1" dirty="0" smtClean="0">
                          <a:solidFill>
                            <a:srgbClr val="273239"/>
                          </a:solidFill>
                          <a:effectLst/>
                          <a:latin typeface="Cambria Math" panose="02040503050406030204" pitchFamily="18" charset="0"/>
                          <a:cs typeface="Times New Roman" panose="02020603050405020304" pitchFamily="18" charset="0"/>
                        </a:rPr>
                        <m:t>95</m:t>
                      </m:r>
                      <m:r>
                        <a:rPr lang="en-US" b="0" i="1" dirty="0" smtClean="0">
                          <a:solidFill>
                            <a:srgbClr val="273239"/>
                          </a:solidFill>
                          <a:effectLst/>
                          <a:latin typeface="Cambria Math" panose="02040503050406030204" pitchFamily="18" charset="0"/>
                          <a:cs typeface="Times New Roman" panose="02020603050405020304" pitchFamily="18" charset="0"/>
                        </a:rPr>
                        <m:t>.</m:t>
                      </m:r>
                      <m:r>
                        <a:rPr lang="en-US" b="0" i="1" dirty="0" smtClean="0">
                          <a:solidFill>
                            <a:srgbClr val="273239"/>
                          </a:solidFill>
                          <a:effectLst/>
                          <a:latin typeface="Cambria Math" panose="02040503050406030204" pitchFamily="18" charset="0"/>
                          <a:cs typeface="Times New Roman" panose="02020603050405020304" pitchFamily="18" charset="0"/>
                        </a:rPr>
                        <m:t>3</m:t>
                      </m:r>
                    </m:oMath>
                  </m:oMathPara>
                </a14:m>
                <a:endParaRPr lang="en-US" dirty="0">
                  <a:solidFill>
                    <a:srgbClr val="273239"/>
                  </a:solidFill>
                  <a:latin typeface="Times New Roman" panose="02020603050405020304" pitchFamily="18" charset="0"/>
                  <a:cs typeface="Times New Roman" panose="02020603050405020304" pitchFamily="18" charset="0"/>
                </a:endParaRPr>
              </a:p>
              <a:p>
                <a:pPr algn="l" rtl="0" fontAlgn="base">
                  <a:spcAft>
                    <a:spcPts val="750"/>
                  </a:spcAft>
                </a:pPr>
                <a:r>
                  <a:rPr lang="en-US" b="1" i="0" dirty="0">
                    <a:solidFill>
                      <a:srgbClr val="273239"/>
                    </a:solidFill>
                    <a:effectLst/>
                    <a:latin typeface="Times New Roman" panose="02020603050405020304" pitchFamily="18" charset="0"/>
                    <a:cs typeface="Times New Roman" panose="02020603050405020304" pitchFamily="18" charset="0"/>
                  </a:rPr>
                  <a:t>                Mean = 95.3</a:t>
                </a:r>
                <a:endParaRPr lang="en-US" b="0" i="0" dirty="0">
                  <a:solidFill>
                    <a:srgbClr val="273239"/>
                  </a:solidFill>
                  <a:effectLst/>
                  <a:latin typeface="Times New Roman" panose="02020603050405020304" pitchFamily="18" charset="0"/>
                  <a:cs typeface="Times New Roman" panose="02020603050405020304" pitchFamily="18" charset="0"/>
                </a:endParaRPr>
              </a:p>
              <a:p>
                <a:pPr algn="l" rtl="0" fontAlgn="base">
                  <a:spcAft>
                    <a:spcPts val="750"/>
                  </a:spcAft>
                </a:pPr>
                <a:r>
                  <a:rPr lang="en-US" b="1" i="0" dirty="0">
                    <a:solidFill>
                      <a:srgbClr val="273239"/>
                    </a:solidFill>
                    <a:effectLst/>
                    <a:latin typeface="Times New Roman" panose="02020603050405020304" pitchFamily="18" charset="0"/>
                    <a:cs typeface="Times New Roman" panose="02020603050405020304" pitchFamily="18" charset="0"/>
                  </a:rPr>
                  <a:t>Step 2:</a:t>
                </a:r>
                <a:r>
                  <a:rPr lang="en-US" b="0" i="0" dirty="0">
                    <a:solidFill>
                      <a:srgbClr val="273239"/>
                    </a:solidFill>
                    <a:effectLst/>
                    <a:latin typeface="Times New Roman" panose="02020603050405020304" pitchFamily="18" charset="0"/>
                    <a:cs typeface="Times New Roman" panose="02020603050405020304" pitchFamily="18" charset="0"/>
                  </a:rPr>
                  <a:t> Calculation of Median</a:t>
                </a:r>
              </a:p>
              <a:p>
                <a:pPr algn="l" rtl="0" fontAlgn="base">
                  <a:spcAft>
                    <a:spcPts val="750"/>
                  </a:spcAft>
                </a:pPr>
                <a:r>
                  <a:rPr lang="en-US" b="0" i="0" dirty="0">
                    <a:solidFill>
                      <a:srgbClr val="273239"/>
                    </a:solidFill>
                    <a:effectLst/>
                    <a:latin typeface="Times New Roman" panose="02020603050405020304" pitchFamily="18" charset="0"/>
                    <a:cs typeface="Times New Roman" panose="02020603050405020304" pitchFamily="18" charset="0"/>
                  </a:rPr>
                  <a:t>Since there are 10 data points, the median is the average of the 5th and 6th values when sorted in ascending order:</a:t>
                </a:r>
              </a:p>
              <a:p>
                <a:pPr algn="l" rtl="0" fontAlgn="base">
                  <a:spcAft>
                    <a:spcPts val="750"/>
                  </a:spcAft>
                </a:pPr>
                <a:r>
                  <a:rPr lang="en-US" dirty="0">
                    <a:solidFill>
                      <a:srgbClr val="273239"/>
                    </a:solidFill>
                    <a:cs typeface="Times New Roman" panose="02020603050405020304" pitchFamily="18" charset="0"/>
                  </a:rPr>
                  <a:t>	</a:t>
                </a:r>
                <a14:m>
                  <m:oMath xmlns:m="http://schemas.openxmlformats.org/officeDocument/2006/math">
                    <m:r>
                      <a:rPr lang="en-US" b="0" i="1" dirty="0" smtClean="0">
                        <a:solidFill>
                          <a:srgbClr val="273239"/>
                        </a:solidFill>
                        <a:effectLst/>
                        <a:latin typeface="Cambria Math" panose="02040503050406030204" pitchFamily="18" charset="0"/>
                        <a:cs typeface="Times New Roman" panose="02020603050405020304" pitchFamily="18" charset="0"/>
                      </a:rPr>
                      <m:t>𝑀𝑒𝑑𝑖𝑎𝑛</m:t>
                    </m:r>
                    <m:r>
                      <a:rPr lang="en-US" b="0" i="1" dirty="0" smtClean="0">
                        <a:solidFill>
                          <a:srgbClr val="273239"/>
                        </a:solidFill>
                        <a:effectLst/>
                        <a:latin typeface="Cambria Math" panose="02040503050406030204" pitchFamily="18" charset="0"/>
                        <a:cs typeface="Times New Roman" panose="02020603050405020304" pitchFamily="18" charset="0"/>
                      </a:rPr>
                      <m:t>=(</m:t>
                    </m:r>
                    <m:r>
                      <a:rPr lang="en-US" b="0" i="1" dirty="0" smtClean="0">
                        <a:solidFill>
                          <a:srgbClr val="273239"/>
                        </a:solidFill>
                        <a:effectLst/>
                        <a:latin typeface="Cambria Math" panose="02040503050406030204" pitchFamily="18" charset="0"/>
                        <a:cs typeface="Times New Roman" panose="02020603050405020304" pitchFamily="18" charset="0"/>
                      </a:rPr>
                      <m:t>96</m:t>
                    </m:r>
                    <m:r>
                      <a:rPr lang="en-US" b="0" i="1" dirty="0" smtClean="0">
                        <a:solidFill>
                          <a:srgbClr val="273239"/>
                        </a:solidFill>
                        <a:effectLst/>
                        <a:latin typeface="Cambria Math" panose="02040503050406030204" pitchFamily="18" charset="0"/>
                        <a:cs typeface="Times New Roman" panose="02020603050405020304" pitchFamily="18" charset="0"/>
                      </a:rPr>
                      <m:t>+</m:t>
                    </m:r>
                    <m:r>
                      <a:rPr lang="en-US" b="0" i="1" dirty="0" smtClean="0">
                        <a:solidFill>
                          <a:srgbClr val="273239"/>
                        </a:solidFill>
                        <a:effectLst/>
                        <a:latin typeface="Cambria Math" panose="02040503050406030204" pitchFamily="18" charset="0"/>
                        <a:cs typeface="Times New Roman" panose="02020603050405020304" pitchFamily="18" charset="0"/>
                      </a:rPr>
                      <m:t>98</m:t>
                    </m:r>
                    <m:r>
                      <a:rPr lang="en-US" b="0" i="1" dirty="0" smtClean="0">
                        <a:solidFill>
                          <a:srgbClr val="273239"/>
                        </a:solidFill>
                        <a:effectLst/>
                        <a:latin typeface="Cambria Math" panose="02040503050406030204" pitchFamily="18" charset="0"/>
                        <a:cs typeface="Times New Roman" panose="02020603050405020304" pitchFamily="18" charset="0"/>
                      </a:rPr>
                      <m:t>)/</m:t>
                    </m:r>
                    <m:r>
                      <a:rPr lang="en-US" b="0" i="1" dirty="0" smtClean="0">
                        <a:solidFill>
                          <a:srgbClr val="273239"/>
                        </a:solidFill>
                        <a:effectLst/>
                        <a:latin typeface="Cambria Math" panose="02040503050406030204" pitchFamily="18" charset="0"/>
                        <a:cs typeface="Times New Roman" panose="02020603050405020304" pitchFamily="18" charset="0"/>
                      </a:rPr>
                      <m:t>2</m:t>
                    </m:r>
                    <m:r>
                      <a:rPr lang="en-US" b="0" i="1" dirty="0" smtClean="0">
                        <a:solidFill>
                          <a:srgbClr val="273239"/>
                        </a:solidFill>
                        <a:effectLst/>
                        <a:latin typeface="Cambria Math" panose="02040503050406030204" pitchFamily="18" charset="0"/>
                        <a:cs typeface="Times New Roman" panose="02020603050405020304" pitchFamily="18" charset="0"/>
                      </a:rPr>
                      <m:t>=</m:t>
                    </m:r>
                    <m:r>
                      <a:rPr lang="en-US" b="0" i="1" dirty="0" smtClean="0">
                        <a:solidFill>
                          <a:srgbClr val="273239"/>
                        </a:solidFill>
                        <a:effectLst/>
                        <a:latin typeface="Cambria Math" panose="02040503050406030204" pitchFamily="18" charset="0"/>
                        <a:cs typeface="Times New Roman" panose="02020603050405020304" pitchFamily="18" charset="0"/>
                      </a:rPr>
                      <m:t>194</m:t>
                    </m:r>
                    <m:r>
                      <a:rPr lang="en-US" b="0" i="1" dirty="0" smtClean="0">
                        <a:solidFill>
                          <a:srgbClr val="273239"/>
                        </a:solidFill>
                        <a:effectLst/>
                        <a:latin typeface="Cambria Math" panose="02040503050406030204" pitchFamily="18" charset="0"/>
                        <a:cs typeface="Times New Roman" panose="02020603050405020304" pitchFamily="18" charset="0"/>
                      </a:rPr>
                      <m:t>/</m:t>
                    </m:r>
                    <m:r>
                      <a:rPr lang="en-US" b="0" i="1" dirty="0" smtClean="0">
                        <a:solidFill>
                          <a:srgbClr val="273239"/>
                        </a:solidFill>
                        <a:effectLst/>
                        <a:latin typeface="Cambria Math" panose="02040503050406030204" pitchFamily="18" charset="0"/>
                        <a:cs typeface="Times New Roman" panose="02020603050405020304" pitchFamily="18" charset="0"/>
                      </a:rPr>
                      <m:t>2</m:t>
                    </m:r>
                    <m:r>
                      <a:rPr lang="en-US" b="0" i="1" dirty="0" smtClean="0">
                        <a:solidFill>
                          <a:srgbClr val="273239"/>
                        </a:solidFill>
                        <a:effectLst/>
                        <a:latin typeface="Cambria Math" panose="02040503050406030204" pitchFamily="18" charset="0"/>
                        <a:cs typeface="Times New Roman" panose="02020603050405020304" pitchFamily="18" charset="0"/>
                      </a:rPr>
                      <m:t>=</m:t>
                    </m:r>
                    <m:r>
                      <a:rPr lang="en-US" b="0" i="1" dirty="0" smtClean="0">
                        <a:solidFill>
                          <a:srgbClr val="273239"/>
                        </a:solidFill>
                        <a:effectLst/>
                        <a:latin typeface="Cambria Math" panose="02040503050406030204" pitchFamily="18" charset="0"/>
                        <a:cs typeface="Times New Roman" panose="02020603050405020304" pitchFamily="18" charset="0"/>
                      </a:rPr>
                      <m:t>97</m:t>
                    </m:r>
                  </m:oMath>
                </a14:m>
                <a:endParaRPr lang="en-US" b="0" i="0" dirty="0">
                  <a:solidFill>
                    <a:srgbClr val="273239"/>
                  </a:solidFill>
                  <a:effectLst/>
                  <a:latin typeface="Times New Roman" panose="02020603050405020304" pitchFamily="18" charset="0"/>
                  <a:cs typeface="Times New Roman" panose="02020603050405020304" pitchFamily="18" charset="0"/>
                </a:endParaRPr>
              </a:p>
              <a:p>
                <a:pPr algn="l" rtl="0" fontAlgn="base">
                  <a:spcAft>
                    <a:spcPts val="750"/>
                  </a:spcAft>
                </a:pPr>
                <a:r>
                  <a:rPr lang="en-US" b="1" i="0" dirty="0">
                    <a:solidFill>
                      <a:srgbClr val="273239"/>
                    </a:solidFill>
                    <a:effectLst/>
                    <a:latin typeface="Times New Roman" panose="02020603050405020304" pitchFamily="18" charset="0"/>
                    <a:cs typeface="Times New Roman" panose="02020603050405020304" pitchFamily="18" charset="0"/>
                  </a:rPr>
                  <a:t>                  Median = 97</a:t>
                </a:r>
              </a:p>
              <a:p>
                <a:pPr algn="l" rtl="0" fontAlgn="base">
                  <a:spcAft>
                    <a:spcPts val="750"/>
                  </a:spcAft>
                </a:pPr>
                <a:r>
                  <a:rPr lang="en-US" sz="1400" b="1" i="0" dirty="0">
                    <a:solidFill>
                      <a:srgbClr val="273239"/>
                    </a:solidFill>
                    <a:effectLst/>
                    <a:latin typeface="Times New Roman" panose="02020603050405020304" pitchFamily="18" charset="0"/>
                    <a:cs typeface="Times New Roman" panose="02020603050405020304" pitchFamily="18" charset="0"/>
                  </a:rPr>
                  <a:t>Step 3: </a:t>
                </a:r>
                <a:r>
                  <a:rPr lang="en-US" sz="1400" b="0" i="0" dirty="0">
                    <a:solidFill>
                      <a:srgbClr val="273239"/>
                    </a:solidFill>
                    <a:effectLst/>
                    <a:latin typeface="Times New Roman" panose="02020603050405020304" pitchFamily="18" charset="0"/>
                    <a:cs typeface="Times New Roman" panose="02020603050405020304" pitchFamily="18" charset="0"/>
                  </a:rPr>
                  <a:t>Calculation of standard deviation.</a:t>
                </a:r>
              </a:p>
              <a:p>
                <a:pPr fontAlgn="base">
                  <a:spcAft>
                    <a:spcPts val="750"/>
                  </a:spcAft>
                </a:pPr>
                <a14:m>
                  <m:oMathPara xmlns:m="http://schemas.openxmlformats.org/officeDocument/2006/math">
                    <m:oMathParaPr>
                      <m:jc m:val="centerGroup"/>
                    </m:oMathParaPr>
                    <m:oMath xmlns:m="http://schemas.openxmlformats.org/officeDocument/2006/math">
                      <m:sSup>
                        <m:sSupPr>
                          <m:ctrlPr>
                            <a:rPr lang="en-US" sz="1400" b="0" i="1" dirty="0" smtClean="0">
                              <a:solidFill>
                                <a:srgbClr val="273239"/>
                              </a:solidFill>
                              <a:effectLst/>
                              <a:latin typeface="Cambria Math" panose="02040503050406030204" pitchFamily="18" charset="0"/>
                            </a:rPr>
                          </m:ctrlPr>
                        </m:sSupPr>
                        <m:e>
                          <m:r>
                            <a:rPr lang="en-US" sz="1400" i="1" dirty="0">
                              <a:solidFill>
                                <a:srgbClr val="273239"/>
                              </a:solidFill>
                              <a:latin typeface="Cambria Math" panose="02040503050406030204" pitchFamily="18" charset="0"/>
                            </a:rPr>
                            <m:t>𝜎</m:t>
                          </m:r>
                        </m:e>
                        <m:sup>
                          <m:r>
                            <a:rPr lang="en-US" sz="1400" i="1" dirty="0">
                              <a:solidFill>
                                <a:srgbClr val="273239"/>
                              </a:solidFill>
                              <a:latin typeface="Cambria Math" panose="02040503050406030204" pitchFamily="18" charset="0"/>
                            </a:rPr>
                            <m:t>2</m:t>
                          </m:r>
                        </m:sup>
                      </m:sSup>
                      <m:r>
                        <a:rPr lang="en-US" sz="1400" b="0" i="1" dirty="0" smtClean="0">
                          <a:solidFill>
                            <a:srgbClr val="273239"/>
                          </a:solidFill>
                          <a:effectLst/>
                          <a:latin typeface="Cambria Math" panose="02040503050406030204" pitchFamily="18" charset="0"/>
                        </a:rPr>
                        <m:t>=</m:t>
                      </m:r>
                      <m:r>
                        <m:rPr>
                          <m:sty m:val="p"/>
                        </m:rPr>
                        <a:rPr lang="en-US" sz="1400" b="0" i="0" dirty="0" smtClean="0">
                          <a:solidFill>
                            <a:srgbClr val="273239"/>
                          </a:solidFill>
                          <a:effectLst/>
                          <a:latin typeface="Cambria Math" panose="02040503050406030204" pitchFamily="18" charset="0"/>
                        </a:rPr>
                        <m:t>Σ</m:t>
                      </m:r>
                      <m:sSup>
                        <m:sSupPr>
                          <m:ctrlPr>
                            <a:rPr lang="en-US" sz="1400" b="0" i="1" dirty="0" smtClean="0">
                              <a:solidFill>
                                <a:srgbClr val="273239"/>
                              </a:solidFill>
                              <a:effectLst/>
                              <a:latin typeface="Cambria Math" panose="02040503050406030204" pitchFamily="18" charset="0"/>
                            </a:rPr>
                          </m:ctrlPr>
                        </m:sSupPr>
                        <m:e>
                          <m:d>
                            <m:dPr>
                              <m:ctrlPr>
                                <a:rPr lang="en-US" sz="1400" i="1" dirty="0">
                                  <a:solidFill>
                                    <a:srgbClr val="273239"/>
                                  </a:solidFill>
                                  <a:latin typeface="Cambria Math" panose="02040503050406030204" pitchFamily="18" charset="0"/>
                                </a:rPr>
                              </m:ctrlPr>
                            </m:dPr>
                            <m:e>
                              <m:r>
                                <a:rPr lang="en-US" sz="1400" i="1" dirty="0">
                                  <a:solidFill>
                                    <a:srgbClr val="273239"/>
                                  </a:solidFill>
                                  <a:latin typeface="Cambria Math" panose="02040503050406030204" pitchFamily="18" charset="0"/>
                                </a:rPr>
                                <m:t>𝑥𝑖</m:t>
                              </m:r>
                              <m:r>
                                <a:rPr lang="en-US" sz="1400" i="1" dirty="0">
                                  <a:solidFill>
                                    <a:srgbClr val="273239"/>
                                  </a:solidFill>
                                  <a:latin typeface="Cambria Math" panose="02040503050406030204" pitchFamily="18" charset="0"/>
                                </a:rPr>
                                <m:t>−</m:t>
                              </m:r>
                              <m:r>
                                <a:rPr lang="en-US" sz="1400" i="1" dirty="0">
                                  <a:solidFill>
                                    <a:srgbClr val="273239"/>
                                  </a:solidFill>
                                  <a:latin typeface="Cambria Math" panose="02040503050406030204" pitchFamily="18" charset="0"/>
                                </a:rPr>
                                <m:t>𝜇</m:t>
                              </m:r>
                            </m:e>
                          </m:d>
                        </m:e>
                        <m:sup>
                          <m:r>
                            <a:rPr lang="en-US" sz="1400" b="0" i="1" dirty="0" smtClean="0">
                              <a:solidFill>
                                <a:srgbClr val="273239"/>
                              </a:solidFill>
                              <a:effectLst/>
                              <a:latin typeface="Cambria Math" panose="02040503050406030204" pitchFamily="18" charset="0"/>
                            </a:rPr>
                            <m:t>2</m:t>
                          </m:r>
                        </m:sup>
                      </m:sSup>
                      <m:r>
                        <a:rPr lang="en-US" sz="1400" b="0" i="1" dirty="0" smtClean="0">
                          <a:solidFill>
                            <a:srgbClr val="273239"/>
                          </a:solidFill>
                          <a:effectLst/>
                          <a:latin typeface="Cambria Math" panose="02040503050406030204" pitchFamily="18" charset="0"/>
                        </a:rPr>
                        <m:t>/</m:t>
                      </m:r>
                      <m:r>
                        <a:rPr lang="en-US" sz="1400" b="0" i="1" dirty="0" smtClean="0">
                          <a:solidFill>
                            <a:srgbClr val="273239"/>
                          </a:solidFill>
                          <a:effectLst/>
                          <a:latin typeface="Cambria Math" panose="02040503050406030204" pitchFamily="18" charset="0"/>
                        </a:rPr>
                        <m:t>𝑁</m:t>
                      </m:r>
                      <m:r>
                        <a:rPr lang="en-US" sz="1400" b="0" i="1" dirty="0" smtClean="0">
                          <a:solidFill>
                            <a:srgbClr val="273239"/>
                          </a:solidFill>
                          <a:effectLst/>
                          <a:latin typeface="Cambria Math" panose="02040503050406030204" pitchFamily="18" charset="0"/>
                        </a:rPr>
                        <m:t>=</m:t>
                      </m:r>
                      <m:f>
                        <m:fPr>
                          <m:ctrlPr>
                            <a:rPr lang="en-US" sz="1400" b="0" i="1" dirty="0" smtClean="0">
                              <a:solidFill>
                                <a:srgbClr val="273239"/>
                              </a:solidFill>
                              <a:effectLst/>
                              <a:latin typeface="Cambria Math" panose="02040503050406030204" pitchFamily="18" charset="0"/>
                            </a:rPr>
                          </m:ctrlPr>
                        </m:fPr>
                        <m:num>
                          <m:sSup>
                            <m:sSupPr>
                              <m:ctrlPr>
                                <a:rPr lang="en-US" sz="1400" i="1" dirty="0">
                                  <a:solidFill>
                                    <a:srgbClr val="273239"/>
                                  </a:solidFill>
                                  <a:latin typeface="Cambria Math" panose="02040503050406030204" pitchFamily="18" charset="0"/>
                                </a:rPr>
                              </m:ctrlPr>
                            </m:sSupPr>
                            <m:e>
                              <m:r>
                                <a:rPr lang="en-US" sz="1400" i="1" dirty="0">
                                  <a:solidFill>
                                    <a:srgbClr val="273239"/>
                                  </a:solidFill>
                                  <a:latin typeface="Cambria Math" panose="02040503050406030204" pitchFamily="18" charset="0"/>
                                </a:rPr>
                                <m:t>(</m:t>
                              </m:r>
                              <m:r>
                                <a:rPr lang="en-US" sz="1400" i="1" dirty="0">
                                  <a:solidFill>
                                    <a:srgbClr val="273239"/>
                                  </a:solidFill>
                                  <a:latin typeface="Cambria Math" panose="02040503050406030204" pitchFamily="18" charset="0"/>
                                </a:rPr>
                                <m:t>85</m:t>
                              </m:r>
                              <m:r>
                                <a:rPr lang="en-US" sz="1400" i="1" dirty="0">
                                  <a:solidFill>
                                    <a:srgbClr val="273239"/>
                                  </a:solidFill>
                                  <a:latin typeface="Cambria Math" panose="02040503050406030204" pitchFamily="18" charset="0"/>
                                </a:rPr>
                                <m:t>−</m:t>
                              </m:r>
                              <m:r>
                                <a:rPr lang="en-US" sz="1400" i="1" dirty="0">
                                  <a:solidFill>
                                    <a:srgbClr val="273239"/>
                                  </a:solidFill>
                                  <a:latin typeface="Cambria Math" panose="02040503050406030204" pitchFamily="18" charset="0"/>
                                </a:rPr>
                                <m:t>95</m:t>
                              </m:r>
                              <m:r>
                                <a:rPr lang="en-US" sz="1400" i="1" dirty="0">
                                  <a:solidFill>
                                    <a:srgbClr val="273239"/>
                                  </a:solidFill>
                                  <a:latin typeface="Cambria Math" panose="02040503050406030204" pitchFamily="18" charset="0"/>
                                </a:rPr>
                                <m:t>.</m:t>
                              </m:r>
                              <m:r>
                                <a:rPr lang="en-US" sz="1400" i="1" dirty="0">
                                  <a:solidFill>
                                    <a:srgbClr val="273239"/>
                                  </a:solidFill>
                                  <a:latin typeface="Cambria Math" panose="02040503050406030204" pitchFamily="18" charset="0"/>
                                </a:rPr>
                                <m:t>3</m:t>
                              </m:r>
                              <m:r>
                                <a:rPr lang="en-US" sz="1400" i="1" dirty="0">
                                  <a:solidFill>
                                    <a:srgbClr val="273239"/>
                                  </a:solidFill>
                                  <a:latin typeface="Cambria Math" panose="02040503050406030204" pitchFamily="18" charset="0"/>
                                </a:rPr>
                                <m:t>)</m:t>
                              </m:r>
                            </m:e>
                            <m:sup>
                              <m:r>
                                <a:rPr lang="en-US" sz="1400" i="1" dirty="0">
                                  <a:solidFill>
                                    <a:srgbClr val="273239"/>
                                  </a:solidFill>
                                  <a:latin typeface="Cambria Math" panose="02040503050406030204" pitchFamily="18" charset="0"/>
                                </a:rPr>
                                <m:t>2</m:t>
                              </m:r>
                            </m:sup>
                          </m:sSup>
                          <m:r>
                            <a:rPr lang="en-US" sz="1400" i="1" dirty="0">
                              <a:solidFill>
                                <a:srgbClr val="273239"/>
                              </a:solidFill>
                              <a:latin typeface="Cambria Math" panose="02040503050406030204" pitchFamily="18" charset="0"/>
                            </a:rPr>
                            <m:t>+…+</m:t>
                          </m:r>
                          <m:sSup>
                            <m:sSupPr>
                              <m:ctrlPr>
                                <a:rPr lang="en-US" sz="1400" i="1" dirty="0">
                                  <a:solidFill>
                                    <a:srgbClr val="273239"/>
                                  </a:solidFill>
                                  <a:latin typeface="Cambria Math" panose="02040503050406030204" pitchFamily="18" charset="0"/>
                                </a:rPr>
                              </m:ctrlPr>
                            </m:sSupPr>
                            <m:e>
                              <m:r>
                                <a:rPr lang="en-US" sz="1400" i="1" dirty="0">
                                  <a:solidFill>
                                    <a:srgbClr val="273239"/>
                                  </a:solidFill>
                                  <a:latin typeface="Cambria Math" panose="02040503050406030204" pitchFamily="18" charset="0"/>
                                </a:rPr>
                                <m:t>(</m:t>
                              </m:r>
                              <m:r>
                                <a:rPr lang="en-US" sz="1400" i="1" dirty="0">
                                  <a:solidFill>
                                    <a:srgbClr val="273239"/>
                                  </a:solidFill>
                                  <a:latin typeface="Cambria Math" panose="02040503050406030204" pitchFamily="18" charset="0"/>
                                </a:rPr>
                                <m:t>100</m:t>
                              </m:r>
                              <m:r>
                                <a:rPr lang="en-US" sz="1400" i="1" dirty="0">
                                  <a:solidFill>
                                    <a:srgbClr val="273239"/>
                                  </a:solidFill>
                                  <a:latin typeface="Cambria Math" panose="02040503050406030204" pitchFamily="18" charset="0"/>
                                </a:rPr>
                                <m:t>−</m:t>
                              </m:r>
                              <m:r>
                                <a:rPr lang="en-US" sz="1400" i="1" dirty="0">
                                  <a:solidFill>
                                    <a:srgbClr val="273239"/>
                                  </a:solidFill>
                                  <a:latin typeface="Cambria Math" panose="02040503050406030204" pitchFamily="18" charset="0"/>
                                </a:rPr>
                                <m:t>95</m:t>
                              </m:r>
                              <m:r>
                                <a:rPr lang="en-US" sz="1400" i="1" dirty="0">
                                  <a:solidFill>
                                    <a:srgbClr val="273239"/>
                                  </a:solidFill>
                                  <a:latin typeface="Cambria Math" panose="02040503050406030204" pitchFamily="18" charset="0"/>
                                </a:rPr>
                                <m:t>.</m:t>
                              </m:r>
                              <m:r>
                                <a:rPr lang="en-US" sz="1400" i="1" dirty="0">
                                  <a:solidFill>
                                    <a:srgbClr val="273239"/>
                                  </a:solidFill>
                                  <a:latin typeface="Cambria Math" panose="02040503050406030204" pitchFamily="18" charset="0"/>
                                </a:rPr>
                                <m:t>3</m:t>
                              </m:r>
                              <m:r>
                                <a:rPr lang="en-US" sz="1400" i="1" dirty="0">
                                  <a:solidFill>
                                    <a:srgbClr val="273239"/>
                                  </a:solidFill>
                                  <a:latin typeface="Cambria Math" panose="02040503050406030204" pitchFamily="18" charset="0"/>
                                </a:rPr>
                                <m:t>)</m:t>
                              </m:r>
                            </m:e>
                            <m:sup>
                              <m:r>
                                <a:rPr lang="en-US" sz="1400" i="1" dirty="0">
                                  <a:solidFill>
                                    <a:srgbClr val="273239"/>
                                  </a:solidFill>
                                  <a:latin typeface="Cambria Math" panose="02040503050406030204" pitchFamily="18" charset="0"/>
                                </a:rPr>
                                <m:t>2</m:t>
                              </m:r>
                            </m:sup>
                          </m:sSup>
                        </m:num>
                        <m:den>
                          <m:r>
                            <a:rPr lang="en-US" sz="1400" b="0" i="1" dirty="0" smtClean="0">
                              <a:solidFill>
                                <a:srgbClr val="273239"/>
                              </a:solidFill>
                              <a:effectLst/>
                              <a:latin typeface="Cambria Math" panose="02040503050406030204" pitchFamily="18" charset="0"/>
                            </a:rPr>
                            <m:t>10</m:t>
                          </m:r>
                        </m:den>
                      </m:f>
                      <m:r>
                        <a:rPr lang="en-US" sz="1400" b="0" i="1" dirty="0" smtClean="0">
                          <a:solidFill>
                            <a:srgbClr val="273239"/>
                          </a:solidFill>
                          <a:effectLst/>
                          <a:latin typeface="Cambria Math" panose="02040503050406030204" pitchFamily="18" charset="0"/>
                        </a:rPr>
                        <m:t>=</m:t>
                      </m:r>
                      <m:r>
                        <a:rPr lang="en-US" sz="1400" b="0" i="1" dirty="0" smtClean="0">
                          <a:solidFill>
                            <a:srgbClr val="273239"/>
                          </a:solidFill>
                          <a:effectLst/>
                          <a:latin typeface="Cambria Math" panose="02040503050406030204" pitchFamily="18" charset="0"/>
                        </a:rPr>
                        <m:t>26</m:t>
                      </m:r>
                      <m:r>
                        <a:rPr lang="en-US" sz="1400" b="0" i="1" dirty="0" smtClean="0">
                          <a:solidFill>
                            <a:srgbClr val="273239"/>
                          </a:solidFill>
                          <a:effectLst/>
                          <a:latin typeface="Cambria Math" panose="02040503050406030204" pitchFamily="18" charset="0"/>
                        </a:rPr>
                        <m:t>.</m:t>
                      </m:r>
                      <m:r>
                        <a:rPr lang="en-US" sz="1400" b="0" i="1" dirty="0" smtClean="0">
                          <a:solidFill>
                            <a:srgbClr val="273239"/>
                          </a:solidFill>
                          <a:effectLst/>
                          <a:latin typeface="Cambria Math" panose="02040503050406030204" pitchFamily="18" charset="0"/>
                        </a:rPr>
                        <m:t>81</m:t>
                      </m:r>
                    </m:oMath>
                  </m:oMathPara>
                </a14:m>
                <a:endParaRPr lang="en-US" sz="1400" b="0" i="0" dirty="0">
                  <a:solidFill>
                    <a:srgbClr val="273239"/>
                  </a:solidFill>
                  <a:effectLst/>
                  <a:latin typeface="Times New Roman" panose="02020603050405020304" pitchFamily="18" charset="0"/>
                  <a:cs typeface="Times New Roman" panose="02020603050405020304" pitchFamily="18" charset="0"/>
                </a:endParaRPr>
              </a:p>
              <a:p>
                <a:pPr fontAlgn="base">
                  <a:spcAft>
                    <a:spcPts val="750"/>
                  </a:spcAft>
                </a:pPr>
                <a:r>
                  <a:rPr lang="en-US" sz="1400" b="0" i="0" dirty="0">
                    <a:solidFill>
                      <a:srgbClr val="273239"/>
                    </a:solidFill>
                    <a:effectLst/>
                    <a:latin typeface="Times New Roman" panose="02020603050405020304" pitchFamily="18" charset="0"/>
                    <a:cs typeface="Times New Roman" panose="02020603050405020304" pitchFamily="18" charset="0"/>
                  </a:rPr>
                  <a:t>Thus, </a:t>
                </a:r>
                <a14:m>
                  <m:oMath xmlns:m="http://schemas.openxmlformats.org/officeDocument/2006/math">
                    <m:r>
                      <a:rPr lang="en-US" sz="1400" b="0" i="1" dirty="0" smtClean="0">
                        <a:solidFill>
                          <a:srgbClr val="273239"/>
                        </a:solidFill>
                        <a:effectLst/>
                        <a:latin typeface="Cambria Math" panose="02040503050406030204" pitchFamily="18" charset="0"/>
                      </a:rPr>
                      <m:t>𝜎</m:t>
                    </m:r>
                    <m:r>
                      <a:rPr lang="en-US" sz="1400" b="0" i="1" dirty="0" smtClean="0">
                        <a:solidFill>
                          <a:srgbClr val="273239"/>
                        </a:solidFill>
                        <a:effectLst/>
                        <a:latin typeface="Cambria Math" panose="02040503050406030204" pitchFamily="18" charset="0"/>
                      </a:rPr>
                      <m:t>=√</m:t>
                    </m:r>
                    <m:r>
                      <a:rPr lang="en-US" sz="1400" b="0" i="1" dirty="0" smtClean="0">
                        <a:solidFill>
                          <a:srgbClr val="273239"/>
                        </a:solidFill>
                        <a:effectLst/>
                        <a:latin typeface="Cambria Math" panose="02040503050406030204" pitchFamily="18" charset="0"/>
                      </a:rPr>
                      <m:t>26</m:t>
                    </m:r>
                    <m:r>
                      <a:rPr lang="en-US" sz="1400" b="0" i="1" dirty="0" smtClean="0">
                        <a:solidFill>
                          <a:srgbClr val="273239"/>
                        </a:solidFill>
                        <a:effectLst/>
                        <a:latin typeface="Cambria Math" panose="02040503050406030204" pitchFamily="18" charset="0"/>
                      </a:rPr>
                      <m:t>.</m:t>
                    </m:r>
                    <m:r>
                      <a:rPr lang="en-US" sz="1400" b="0" i="1" dirty="0" smtClean="0">
                        <a:solidFill>
                          <a:srgbClr val="273239"/>
                        </a:solidFill>
                        <a:effectLst/>
                        <a:latin typeface="Cambria Math" panose="02040503050406030204" pitchFamily="18" charset="0"/>
                      </a:rPr>
                      <m:t>81</m:t>
                    </m:r>
                  </m:oMath>
                </a14:m>
                <a:r>
                  <a:rPr lang="en-US" dirty="0">
                    <a:solidFill>
                      <a:srgbClr val="273239"/>
                    </a:solidFill>
                    <a:latin typeface="Times New Roman" panose="02020603050405020304" pitchFamily="18" charset="0"/>
                    <a:cs typeface="Times New Roman" panose="02020603050405020304" pitchFamily="18" charset="0"/>
                  </a:rPr>
                  <a:t> ~5.</a:t>
                </a:r>
                <a:endParaRPr lang="en-US" sz="1400" b="0" i="0" dirty="0">
                  <a:solidFill>
                    <a:srgbClr val="273239"/>
                  </a:solidFill>
                  <a:effectLst/>
                  <a:latin typeface="Times New Roman" panose="02020603050405020304" pitchFamily="18"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7DC61400-C369-079E-939E-EF864A23D2D5}"/>
                  </a:ext>
                </a:extLst>
              </p:cNvPr>
              <p:cNvSpPr txBox="1">
                <a:spLocks noRot="1" noChangeAspect="1" noMove="1" noResize="1" noEditPoints="1" noAdjustHandles="1" noChangeArrowheads="1" noChangeShapeType="1" noTextEdit="1"/>
              </p:cNvSpPr>
              <p:nvPr/>
            </p:nvSpPr>
            <p:spPr>
              <a:xfrm>
                <a:off x="382657" y="149042"/>
                <a:ext cx="7280413" cy="4905958"/>
              </a:xfrm>
              <a:prstGeom prst="rect">
                <a:avLst/>
              </a:prstGeom>
              <a:blipFill>
                <a:blip r:embed="rId2"/>
                <a:stretch>
                  <a:fillRect l="-921" t="-621" b="-373"/>
                </a:stretch>
              </a:blipFill>
            </p:spPr>
            <p:txBody>
              <a:bodyPr/>
              <a:lstStyle/>
              <a:p>
                <a:r>
                  <a:rPr lang="en-IN">
                    <a:noFill/>
                  </a:rPr>
                  <a:t> </a:t>
                </a:r>
              </a:p>
            </p:txBody>
          </p:sp>
        </mc:Fallback>
      </mc:AlternateContent>
    </p:spTree>
    <p:extLst>
      <p:ext uri="{BB962C8B-B14F-4D97-AF65-F5344CB8AC3E}">
        <p14:creationId xmlns:p14="http://schemas.microsoft.com/office/powerpoint/2010/main" val="225548728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C7ADD12-6407-ACD6-8160-6427DA3C260A}"/>
              </a:ext>
            </a:extLst>
          </p:cNvPr>
          <p:cNvSpPr txBox="1"/>
          <p:nvPr/>
        </p:nvSpPr>
        <p:spPr>
          <a:xfrm>
            <a:off x="159027" y="0"/>
            <a:ext cx="8279296" cy="4360168"/>
          </a:xfrm>
          <a:prstGeom prst="rect">
            <a:avLst/>
          </a:prstGeom>
          <a:noFill/>
        </p:spPr>
        <p:txBody>
          <a:bodyPr wrap="square">
            <a:spAutoFit/>
          </a:bodyPr>
          <a:lstStyle/>
          <a:p>
            <a:pPr algn="l" rtl="0" fontAlgn="base">
              <a:spcAft>
                <a:spcPts val="750"/>
              </a:spcAft>
            </a:pPr>
            <a:r>
              <a:rPr lang="en-US" sz="1600" b="1" i="0" dirty="0">
                <a:solidFill>
                  <a:srgbClr val="273239"/>
                </a:solidFill>
                <a:effectLst/>
                <a:latin typeface="Times New Roman" panose="02020603050405020304" pitchFamily="18" charset="0"/>
                <a:cs typeface="Times New Roman" panose="02020603050405020304" pitchFamily="18" charset="0"/>
              </a:rPr>
              <a:t>Step 4:</a:t>
            </a:r>
            <a:r>
              <a:rPr lang="en-US" sz="1600" b="0" i="0" dirty="0">
                <a:solidFill>
                  <a:srgbClr val="273239"/>
                </a:solidFill>
                <a:effectLst/>
                <a:latin typeface="Times New Roman" panose="02020603050405020304" pitchFamily="18" charset="0"/>
                <a:cs typeface="Times New Roman" panose="02020603050405020304" pitchFamily="18" charset="0"/>
              </a:rPr>
              <a:t> Calculation of mode</a:t>
            </a:r>
          </a:p>
          <a:p>
            <a:pPr algn="l" rtl="0" fontAlgn="base">
              <a:spcAft>
                <a:spcPts val="750"/>
              </a:spcAft>
            </a:pPr>
            <a:r>
              <a:rPr lang="en-US" sz="1600" b="0" i="0" dirty="0">
                <a:solidFill>
                  <a:srgbClr val="273239"/>
                </a:solidFill>
                <a:effectLst/>
                <a:latin typeface="Times New Roman" panose="02020603050405020304" pitchFamily="18" charset="0"/>
                <a:cs typeface="Times New Roman" panose="02020603050405020304" pitchFamily="18" charset="0"/>
              </a:rPr>
              <a:t>It is clear from the data set that 100 is the most frequently occurring value in the data. Hence, mode of given data is 100.</a:t>
            </a:r>
          </a:p>
          <a:p>
            <a:pPr algn="l" rtl="0" fontAlgn="base">
              <a:spcAft>
                <a:spcPts val="750"/>
              </a:spcAft>
            </a:pPr>
            <a:r>
              <a:rPr lang="en-US" sz="1600" b="1" i="0" dirty="0">
                <a:solidFill>
                  <a:srgbClr val="273239"/>
                </a:solidFill>
                <a:effectLst/>
                <a:latin typeface="Times New Roman" panose="02020603050405020304" pitchFamily="18" charset="0"/>
                <a:cs typeface="Times New Roman" panose="02020603050405020304" pitchFamily="18" charset="0"/>
              </a:rPr>
              <a:t>Step 5:</a:t>
            </a:r>
            <a:r>
              <a:rPr lang="en-US" sz="1600" b="0" i="0" dirty="0">
                <a:solidFill>
                  <a:srgbClr val="273239"/>
                </a:solidFill>
                <a:effectLst/>
                <a:latin typeface="Times New Roman" panose="02020603050405020304" pitchFamily="18" charset="0"/>
                <a:cs typeface="Times New Roman" panose="02020603050405020304" pitchFamily="18" charset="0"/>
              </a:rPr>
              <a:t> Substitute the values in the formulae</a:t>
            </a:r>
          </a:p>
          <a:p>
            <a:pPr algn="l" fontAlgn="base"/>
            <a:r>
              <a:rPr lang="en-US" sz="1600" i="0" dirty="0">
                <a:solidFill>
                  <a:srgbClr val="273239"/>
                </a:solidFill>
                <a:effectLst/>
                <a:latin typeface="Times New Roman" panose="02020603050405020304" pitchFamily="18" charset="0"/>
                <a:cs typeface="Times New Roman" panose="02020603050405020304" pitchFamily="18" charset="0"/>
              </a:rPr>
              <a:t>A. With respect to Mean and Median</a:t>
            </a:r>
          </a:p>
          <a:p>
            <a:pPr algn="l" rtl="0" fontAlgn="base">
              <a:spcAft>
                <a:spcPts val="750"/>
              </a:spcAft>
            </a:pPr>
            <a:r>
              <a:rPr lang="en-US" sz="1600" i="0" dirty="0" err="1">
                <a:solidFill>
                  <a:srgbClr val="273239"/>
                </a:solidFill>
                <a:effectLst/>
                <a:latin typeface="Times New Roman" panose="02020603050405020304" pitchFamily="18" charset="0"/>
                <a:cs typeface="Times New Roman" panose="02020603050405020304" pitchFamily="18" charset="0"/>
              </a:rPr>
              <a:t>S</a:t>
            </a:r>
            <a:r>
              <a:rPr lang="en-US" sz="1600" i="0" baseline="-25000" dirty="0" err="1">
                <a:solidFill>
                  <a:srgbClr val="273239"/>
                </a:solidFill>
                <a:effectLst/>
                <a:latin typeface="Times New Roman" panose="02020603050405020304" pitchFamily="18" charset="0"/>
                <a:cs typeface="Times New Roman" panose="02020603050405020304" pitchFamily="18" charset="0"/>
              </a:rPr>
              <a:t>k</a:t>
            </a:r>
            <a:r>
              <a:rPr lang="en-US" sz="1600" i="0" dirty="0">
                <a:solidFill>
                  <a:srgbClr val="273239"/>
                </a:solidFill>
                <a:effectLst/>
                <a:latin typeface="Times New Roman" panose="02020603050405020304" pitchFamily="18" charset="0"/>
                <a:cs typeface="Times New Roman" panose="02020603050405020304" pitchFamily="18" charset="0"/>
              </a:rPr>
              <a:t> = -1.02</a:t>
            </a:r>
          </a:p>
          <a:p>
            <a:pPr algn="l" fontAlgn="base"/>
            <a:r>
              <a:rPr lang="en-US" sz="1600" i="0" dirty="0">
                <a:solidFill>
                  <a:srgbClr val="273239"/>
                </a:solidFill>
                <a:effectLst/>
                <a:latin typeface="Times New Roman" panose="02020603050405020304" pitchFamily="18" charset="0"/>
                <a:cs typeface="Times New Roman" panose="02020603050405020304" pitchFamily="18" charset="0"/>
              </a:rPr>
              <a:t>B. With respect to Mean and Mode</a:t>
            </a:r>
          </a:p>
          <a:p>
            <a:pPr algn="l" rtl="0" fontAlgn="base">
              <a:spcAft>
                <a:spcPts val="750"/>
              </a:spcAft>
            </a:pPr>
            <a:r>
              <a:rPr lang="en-US" sz="1600" i="0" dirty="0" err="1">
                <a:solidFill>
                  <a:srgbClr val="273239"/>
                </a:solidFill>
                <a:effectLst/>
                <a:latin typeface="Times New Roman" panose="02020603050405020304" pitchFamily="18" charset="0"/>
                <a:cs typeface="Times New Roman" panose="02020603050405020304" pitchFamily="18" charset="0"/>
              </a:rPr>
              <a:t>S</a:t>
            </a:r>
            <a:r>
              <a:rPr lang="en-US" sz="1600" i="0" baseline="-25000" dirty="0" err="1">
                <a:solidFill>
                  <a:srgbClr val="273239"/>
                </a:solidFill>
                <a:effectLst/>
                <a:latin typeface="Times New Roman" panose="02020603050405020304" pitchFamily="18" charset="0"/>
                <a:cs typeface="Times New Roman" panose="02020603050405020304" pitchFamily="18" charset="0"/>
              </a:rPr>
              <a:t>k</a:t>
            </a:r>
            <a:r>
              <a:rPr lang="en-US" sz="1600" i="0" dirty="0">
                <a:solidFill>
                  <a:srgbClr val="273239"/>
                </a:solidFill>
                <a:effectLst/>
                <a:latin typeface="Times New Roman" panose="02020603050405020304" pitchFamily="18" charset="0"/>
                <a:cs typeface="Times New Roman" panose="02020603050405020304" pitchFamily="18" charset="0"/>
              </a:rPr>
              <a:t> = -0.94</a:t>
            </a:r>
          </a:p>
          <a:p>
            <a:pPr algn="l" rtl="0" fontAlgn="base">
              <a:spcAft>
                <a:spcPts val="750"/>
              </a:spcAft>
            </a:pPr>
            <a:endParaRPr lang="en-US" sz="1600" i="0" dirty="0">
              <a:solidFill>
                <a:srgbClr val="273239"/>
              </a:solidFill>
              <a:effectLst/>
              <a:latin typeface="Times New Roman" panose="02020603050405020304" pitchFamily="18" charset="0"/>
              <a:cs typeface="Times New Roman" panose="02020603050405020304" pitchFamily="18" charset="0"/>
            </a:endParaRPr>
          </a:p>
          <a:p>
            <a:pPr algn="l" rtl="0" fontAlgn="base">
              <a:spcAft>
                <a:spcPts val="750"/>
              </a:spcAft>
            </a:pPr>
            <a:r>
              <a:rPr lang="en-US" sz="1600" b="1" i="0" dirty="0">
                <a:solidFill>
                  <a:srgbClr val="273239"/>
                </a:solidFill>
                <a:effectLst/>
                <a:latin typeface="Times New Roman" panose="02020603050405020304" pitchFamily="18" charset="0"/>
                <a:cs typeface="Times New Roman" panose="02020603050405020304" pitchFamily="18" charset="0"/>
              </a:rPr>
              <a:t>Interpretation:</a:t>
            </a:r>
            <a:r>
              <a:rPr lang="en-US" sz="1600" b="0" i="0" dirty="0">
                <a:solidFill>
                  <a:srgbClr val="273239"/>
                </a:solidFill>
                <a:effectLst/>
                <a:latin typeface="Times New Roman" panose="02020603050405020304" pitchFamily="18" charset="0"/>
                <a:cs typeface="Times New Roman" panose="02020603050405020304" pitchFamily="18" charset="0"/>
              </a:rPr>
              <a:t> </a:t>
            </a:r>
          </a:p>
          <a:p>
            <a:pPr algn="l" rtl="0" fontAlgn="base">
              <a:spcAft>
                <a:spcPts val="750"/>
              </a:spcAft>
            </a:pPr>
            <a:r>
              <a:rPr lang="en-US" sz="1600" b="0" i="0" dirty="0">
                <a:solidFill>
                  <a:srgbClr val="273239"/>
                </a:solidFill>
                <a:effectLst/>
                <a:latin typeface="Times New Roman" panose="02020603050405020304" pitchFamily="18" charset="0"/>
                <a:cs typeface="Times New Roman" panose="02020603050405020304" pitchFamily="18" charset="0"/>
              </a:rPr>
              <a:t>The skewness coefficient is negative, indicating a slight negative skewness in the distribution of exam scores. </a:t>
            </a:r>
          </a:p>
          <a:p>
            <a:pPr algn="l" rtl="0" fontAlgn="base">
              <a:spcAft>
                <a:spcPts val="750"/>
              </a:spcAft>
            </a:pPr>
            <a:r>
              <a:rPr lang="en-US" sz="1600" b="0" i="0" dirty="0">
                <a:solidFill>
                  <a:srgbClr val="273239"/>
                </a:solidFill>
                <a:effectLst/>
                <a:latin typeface="Times New Roman" panose="02020603050405020304" pitchFamily="18" charset="0"/>
                <a:cs typeface="Times New Roman" panose="02020603050405020304" pitchFamily="18" charset="0"/>
              </a:rPr>
              <a:t>This means that the tail of the distribution is slightly longer on the left side, and most of the scores are concentrated on the right side of the mean.</a:t>
            </a:r>
          </a:p>
        </p:txBody>
      </p:sp>
    </p:spTree>
    <p:extLst>
      <p:ext uri="{BB962C8B-B14F-4D97-AF65-F5344CB8AC3E}">
        <p14:creationId xmlns:p14="http://schemas.microsoft.com/office/powerpoint/2010/main" val="141978368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F4E7C19-1B12-6AA5-D09D-0404BE14BA71}"/>
                  </a:ext>
                </a:extLst>
              </p:cNvPr>
              <p:cNvSpPr txBox="1"/>
              <p:nvPr/>
            </p:nvSpPr>
            <p:spPr>
              <a:xfrm>
                <a:off x="79513" y="89452"/>
                <a:ext cx="8984974" cy="4700454"/>
              </a:xfrm>
              <a:prstGeom prst="rect">
                <a:avLst/>
              </a:prstGeom>
              <a:noFill/>
            </p:spPr>
            <p:txBody>
              <a:bodyPr wrap="square">
                <a:spAutoFit/>
              </a:bodyPr>
              <a:lstStyle/>
              <a:p>
                <a:pPr algn="l" fontAlgn="base"/>
                <a:r>
                  <a:rPr lang="en-US" sz="2000" b="1" i="0" dirty="0">
                    <a:solidFill>
                      <a:srgbClr val="FF0000"/>
                    </a:solidFill>
                    <a:effectLst/>
                    <a:latin typeface="Times New Roman" panose="02020603050405020304" pitchFamily="18" charset="0"/>
                    <a:cs typeface="Times New Roman" panose="02020603050405020304" pitchFamily="18" charset="0"/>
                  </a:rPr>
                  <a:t>Bowley's Measure:</a:t>
                </a:r>
              </a:p>
              <a:p>
                <a:pPr algn="l" fontAlgn="base"/>
                <a:endParaRPr lang="en-US" sz="1600" b="1" i="0" dirty="0">
                  <a:solidFill>
                    <a:srgbClr val="FF0000"/>
                  </a:solidFill>
                  <a:effectLst/>
                  <a:latin typeface="Times New Roman" panose="02020603050405020304" pitchFamily="18" charset="0"/>
                  <a:cs typeface="Times New Roman" panose="02020603050405020304" pitchFamily="18" charset="0"/>
                </a:endParaRPr>
              </a:p>
              <a:p>
                <a:pPr algn="l" rtl="0" fontAlgn="base">
                  <a:spcAft>
                    <a:spcPts val="750"/>
                  </a:spcAft>
                </a:pPr>
                <a:r>
                  <a:rPr lang="en-US" sz="1600" b="0" dirty="0">
                    <a:solidFill>
                      <a:srgbClr val="273239"/>
                    </a:solidFill>
                    <a:effectLst/>
                    <a:latin typeface="Times New Roman" panose="02020603050405020304" pitchFamily="18" charset="0"/>
                    <a:cs typeface="Times New Roman" panose="02020603050405020304" pitchFamily="18" charset="0"/>
                  </a:rPr>
                  <a:t>Bowley's Skewness Coefficient, named after the British economist </a:t>
                </a:r>
                <a:r>
                  <a:rPr lang="en-US" sz="1600" b="1" dirty="0">
                    <a:solidFill>
                      <a:srgbClr val="273239"/>
                    </a:solidFill>
                    <a:effectLst/>
                    <a:latin typeface="Times New Roman" panose="02020603050405020304" pitchFamily="18" charset="0"/>
                    <a:cs typeface="Times New Roman" panose="02020603050405020304" pitchFamily="18" charset="0"/>
                  </a:rPr>
                  <a:t>Arthur Lyon Bowley</a:t>
                </a:r>
                <a:r>
                  <a:rPr lang="en-US" sz="1600" b="0" dirty="0">
                    <a:solidFill>
                      <a:srgbClr val="273239"/>
                    </a:solidFill>
                    <a:effectLst/>
                    <a:latin typeface="Times New Roman" panose="02020603050405020304" pitchFamily="18" charset="0"/>
                    <a:cs typeface="Times New Roman" panose="02020603050405020304" pitchFamily="18" charset="0"/>
                  </a:rPr>
                  <a:t>, is a </a:t>
                </a:r>
                <a:r>
                  <a:rPr lang="en-US" sz="1600" dirty="0">
                    <a:solidFill>
                      <a:srgbClr val="FF0000"/>
                    </a:solidFill>
                    <a:effectLst/>
                    <a:latin typeface="Times New Roman" panose="02020603050405020304" pitchFamily="18" charset="0"/>
                    <a:cs typeface="Times New Roman" panose="02020603050405020304" pitchFamily="18" charset="0"/>
                  </a:rPr>
                  <a:t>statistical measure used to assess the skewness or asymmetry in a probability distribution</a:t>
                </a:r>
                <a:r>
                  <a:rPr lang="en-US" sz="1600" b="0" dirty="0">
                    <a:solidFill>
                      <a:srgbClr val="273239"/>
                    </a:solidFill>
                    <a:effectLst/>
                    <a:latin typeface="Times New Roman" panose="02020603050405020304" pitchFamily="18" charset="0"/>
                    <a:cs typeface="Times New Roman" panose="02020603050405020304" pitchFamily="18" charset="0"/>
                  </a:rPr>
                  <a:t>. </a:t>
                </a:r>
              </a:p>
              <a:p>
                <a:pPr algn="l" rtl="0" fontAlgn="base">
                  <a:spcAft>
                    <a:spcPts val="750"/>
                  </a:spcAft>
                </a:pPr>
                <a:r>
                  <a:rPr lang="en-US" sz="1600" b="0" dirty="0">
                    <a:solidFill>
                      <a:srgbClr val="273239"/>
                    </a:solidFill>
                    <a:effectLst/>
                    <a:latin typeface="Times New Roman" panose="02020603050405020304" pitchFamily="18" charset="0"/>
                    <a:cs typeface="Times New Roman" panose="02020603050405020304" pitchFamily="18" charset="0"/>
                  </a:rPr>
                  <a:t>Unlike some other skewness measures that rely on moments or deviations from the mean, Bowley's Skewness Coefficient is based on quartiles. </a:t>
                </a:r>
              </a:p>
              <a:p>
                <a:pPr algn="l" rtl="0" fontAlgn="base">
                  <a:spcAft>
                    <a:spcPts val="750"/>
                  </a:spcAft>
                </a:pPr>
                <a:r>
                  <a:rPr lang="en-US" sz="1600" b="0" dirty="0">
                    <a:solidFill>
                      <a:srgbClr val="273239"/>
                    </a:solidFill>
                    <a:effectLst/>
                    <a:latin typeface="Times New Roman" panose="02020603050405020304" pitchFamily="18" charset="0"/>
                    <a:cs typeface="Times New Roman" panose="02020603050405020304" pitchFamily="18" charset="0"/>
                  </a:rPr>
                  <a:t>This coefficient provides a simple and intuitive way to understand the direction and magnitude of skewness in a dataset.</a:t>
                </a:r>
              </a:p>
              <a:p>
                <a:pPr algn="l" rtl="0" fontAlgn="base">
                  <a:spcAft>
                    <a:spcPts val="750"/>
                  </a:spcAft>
                </a:pPr>
                <a:r>
                  <a:rPr lang="en-US" sz="1600" b="0" dirty="0">
                    <a:solidFill>
                      <a:srgbClr val="273239"/>
                    </a:solidFill>
                    <a:effectLst/>
                    <a:latin typeface="Times New Roman" panose="02020603050405020304" pitchFamily="18" charset="0"/>
                    <a:cs typeface="Times New Roman" panose="02020603050405020304" pitchFamily="18" charset="0"/>
                  </a:rPr>
                  <a:t> It is especially useful when dealing with data that may not follow a normal distribution or when a robust measure of skewness is require</a:t>
                </a:r>
              </a:p>
              <a:p>
                <a:pPr fontAlgn="base">
                  <a:spcAft>
                    <a:spcPts val="750"/>
                  </a:spcAft>
                </a:pPr>
                <a14:m>
                  <m:oMathPara xmlns:m="http://schemas.openxmlformats.org/officeDocument/2006/math">
                    <m:oMathParaPr>
                      <m:jc m:val="centerGroup"/>
                    </m:oMathParaPr>
                    <m:oMath xmlns:m="http://schemas.openxmlformats.org/officeDocument/2006/math">
                      <m:r>
                        <m:rPr>
                          <m:sty m:val="p"/>
                        </m:rPr>
                        <a:rPr lang="en-US" sz="1600" b="0" i="0" dirty="0" smtClean="0">
                          <a:solidFill>
                            <a:srgbClr val="273239"/>
                          </a:solidFill>
                          <a:effectLst/>
                          <a:latin typeface="Cambria Math" panose="02040503050406030204" pitchFamily="18" charset="0"/>
                        </a:rPr>
                        <m:t>B</m:t>
                      </m:r>
                      <m:r>
                        <a:rPr lang="en-US" sz="1600" b="0" i="0" dirty="0" smtClean="0">
                          <a:solidFill>
                            <a:srgbClr val="273239"/>
                          </a:solidFill>
                          <a:effectLst/>
                          <a:latin typeface="Cambria Math" panose="02040503050406030204" pitchFamily="18" charset="0"/>
                        </a:rPr>
                        <m:t> = </m:t>
                      </m:r>
                      <m:f>
                        <m:fPr>
                          <m:ctrlPr>
                            <a:rPr lang="en-US" sz="1600" b="0" i="1" dirty="0" smtClean="0">
                              <a:solidFill>
                                <a:srgbClr val="273239"/>
                              </a:solidFill>
                              <a:effectLst/>
                              <a:latin typeface="Cambria Math" panose="02040503050406030204" pitchFamily="18" charset="0"/>
                            </a:rPr>
                          </m:ctrlPr>
                        </m:fPr>
                        <m:num>
                          <m:sSub>
                            <m:sSubPr>
                              <m:ctrlPr>
                                <a:rPr lang="en-US" sz="1600" b="0" i="1" dirty="0" smtClean="0">
                                  <a:solidFill>
                                    <a:srgbClr val="273239"/>
                                  </a:solidFill>
                                  <a:effectLst/>
                                  <a:latin typeface="Cambria Math" panose="02040503050406030204" pitchFamily="18" charset="0"/>
                                </a:rPr>
                              </m:ctrlPr>
                            </m:sSubPr>
                            <m:e>
                              <m:r>
                                <m:rPr>
                                  <m:sty m:val="p"/>
                                </m:rPr>
                                <a:rPr lang="en-US" sz="1600" dirty="0">
                                  <a:solidFill>
                                    <a:srgbClr val="273239"/>
                                  </a:solidFill>
                                  <a:latin typeface="Cambria Math" panose="02040503050406030204" pitchFamily="18" charset="0"/>
                                </a:rPr>
                                <m:t>Q</m:t>
                              </m:r>
                            </m:e>
                            <m:sub>
                              <m:r>
                                <a:rPr lang="en-US" sz="1600" b="0" i="1" dirty="0" smtClean="0">
                                  <a:solidFill>
                                    <a:srgbClr val="273239"/>
                                  </a:solidFill>
                                  <a:effectLst/>
                                  <a:latin typeface="Cambria Math" panose="02040503050406030204" pitchFamily="18" charset="0"/>
                                </a:rPr>
                                <m:t>1</m:t>
                              </m:r>
                            </m:sub>
                          </m:sSub>
                          <m:r>
                            <a:rPr lang="en-US" sz="1600" i="0" dirty="0" smtClean="0">
                              <a:solidFill>
                                <a:srgbClr val="273239"/>
                              </a:solidFill>
                              <a:latin typeface="Cambria Math" panose="02040503050406030204" pitchFamily="18" charset="0"/>
                            </a:rPr>
                            <m:t>+</m:t>
                          </m:r>
                          <m:sSub>
                            <m:sSubPr>
                              <m:ctrlPr>
                                <a:rPr lang="en-US" sz="1600" i="1" dirty="0">
                                  <a:solidFill>
                                    <a:srgbClr val="273239"/>
                                  </a:solidFill>
                                  <a:latin typeface="Cambria Math" panose="02040503050406030204" pitchFamily="18" charset="0"/>
                                </a:rPr>
                              </m:ctrlPr>
                            </m:sSubPr>
                            <m:e>
                              <m:r>
                                <m:rPr>
                                  <m:sty m:val="p"/>
                                </m:rPr>
                                <a:rPr lang="en-US" sz="1600" dirty="0">
                                  <a:solidFill>
                                    <a:srgbClr val="273239"/>
                                  </a:solidFill>
                                  <a:latin typeface="Cambria Math" panose="02040503050406030204" pitchFamily="18" charset="0"/>
                                </a:rPr>
                                <m:t>Q</m:t>
                              </m:r>
                            </m:e>
                            <m:sub>
                              <m:r>
                                <a:rPr lang="en-US" sz="1600" b="0" i="1" dirty="0" smtClean="0">
                                  <a:solidFill>
                                    <a:srgbClr val="273239"/>
                                  </a:solidFill>
                                  <a:latin typeface="Cambria Math" panose="02040503050406030204" pitchFamily="18" charset="0"/>
                                </a:rPr>
                                <m:t>3</m:t>
                              </m:r>
                            </m:sub>
                          </m:sSub>
                          <m:r>
                            <a:rPr lang="en-US" sz="1600" i="0" dirty="0" smtClean="0">
                              <a:solidFill>
                                <a:srgbClr val="273239"/>
                              </a:solidFill>
                              <a:latin typeface="Cambria Math" panose="02040503050406030204" pitchFamily="18" charset="0"/>
                            </a:rPr>
                            <m:t>−</m:t>
                          </m:r>
                          <m:sSub>
                            <m:sSubPr>
                              <m:ctrlPr>
                                <a:rPr lang="en-US" sz="1600" i="1" dirty="0">
                                  <a:solidFill>
                                    <a:srgbClr val="273239"/>
                                  </a:solidFill>
                                  <a:latin typeface="Cambria Math" panose="02040503050406030204" pitchFamily="18" charset="0"/>
                                </a:rPr>
                              </m:ctrlPr>
                            </m:sSubPr>
                            <m:e>
                              <m:r>
                                <a:rPr lang="en-US" sz="1600" b="0" i="0" dirty="0" smtClean="0">
                                  <a:solidFill>
                                    <a:srgbClr val="273239"/>
                                  </a:solidFill>
                                  <a:latin typeface="Cambria Math" panose="02040503050406030204" pitchFamily="18" charset="0"/>
                                </a:rPr>
                                <m:t>2</m:t>
                              </m:r>
                              <m:r>
                                <m:rPr>
                                  <m:sty m:val="p"/>
                                </m:rPr>
                                <a:rPr lang="en-US" sz="1600" dirty="0">
                                  <a:solidFill>
                                    <a:srgbClr val="273239"/>
                                  </a:solidFill>
                                  <a:latin typeface="Cambria Math" panose="02040503050406030204" pitchFamily="18" charset="0"/>
                                </a:rPr>
                                <m:t>Q</m:t>
                              </m:r>
                            </m:e>
                            <m:sub>
                              <m:r>
                                <a:rPr lang="en-US" sz="1600" b="0" i="1" dirty="0" smtClean="0">
                                  <a:solidFill>
                                    <a:srgbClr val="273239"/>
                                  </a:solidFill>
                                  <a:latin typeface="Cambria Math" panose="02040503050406030204" pitchFamily="18" charset="0"/>
                                </a:rPr>
                                <m:t>2</m:t>
                              </m:r>
                            </m:sub>
                          </m:sSub>
                        </m:num>
                        <m:den>
                          <m:sSub>
                            <m:sSubPr>
                              <m:ctrlPr>
                                <a:rPr lang="en-US" sz="1600" i="1" dirty="0">
                                  <a:solidFill>
                                    <a:srgbClr val="273239"/>
                                  </a:solidFill>
                                  <a:latin typeface="Cambria Math" panose="02040503050406030204" pitchFamily="18" charset="0"/>
                                </a:rPr>
                              </m:ctrlPr>
                            </m:sSubPr>
                            <m:e>
                              <m:r>
                                <m:rPr>
                                  <m:sty m:val="p"/>
                                </m:rPr>
                                <a:rPr lang="en-US" sz="1600" dirty="0">
                                  <a:solidFill>
                                    <a:srgbClr val="273239"/>
                                  </a:solidFill>
                                  <a:latin typeface="Cambria Math" panose="02040503050406030204" pitchFamily="18" charset="0"/>
                                </a:rPr>
                                <m:t>Q</m:t>
                              </m:r>
                            </m:e>
                            <m:sub>
                              <m:r>
                                <a:rPr lang="en-US" sz="1600" b="0" i="1" dirty="0" smtClean="0">
                                  <a:solidFill>
                                    <a:srgbClr val="273239"/>
                                  </a:solidFill>
                                  <a:latin typeface="Cambria Math" panose="02040503050406030204" pitchFamily="18" charset="0"/>
                                </a:rPr>
                                <m:t>3</m:t>
                              </m:r>
                            </m:sub>
                          </m:sSub>
                          <m:r>
                            <a:rPr lang="en-US" sz="1600" i="0" dirty="0" smtClean="0">
                              <a:solidFill>
                                <a:srgbClr val="273239"/>
                              </a:solidFill>
                              <a:latin typeface="Cambria Math" panose="02040503050406030204" pitchFamily="18" charset="0"/>
                            </a:rPr>
                            <m:t>−</m:t>
                          </m:r>
                          <m:sSub>
                            <m:sSubPr>
                              <m:ctrlPr>
                                <a:rPr lang="en-US" sz="1600" i="1" dirty="0">
                                  <a:solidFill>
                                    <a:srgbClr val="273239"/>
                                  </a:solidFill>
                                  <a:latin typeface="Cambria Math" panose="02040503050406030204" pitchFamily="18" charset="0"/>
                                </a:rPr>
                              </m:ctrlPr>
                            </m:sSubPr>
                            <m:e>
                              <m:r>
                                <m:rPr>
                                  <m:sty m:val="p"/>
                                </m:rPr>
                                <a:rPr lang="en-US" sz="1600" dirty="0">
                                  <a:solidFill>
                                    <a:srgbClr val="273239"/>
                                  </a:solidFill>
                                  <a:latin typeface="Cambria Math" panose="02040503050406030204" pitchFamily="18" charset="0"/>
                                </a:rPr>
                                <m:t>Q</m:t>
                              </m:r>
                            </m:e>
                            <m:sub>
                              <m:r>
                                <a:rPr lang="en-US" sz="1600" b="0" i="1" dirty="0" smtClean="0">
                                  <a:solidFill>
                                    <a:srgbClr val="273239"/>
                                  </a:solidFill>
                                  <a:latin typeface="Cambria Math" panose="02040503050406030204" pitchFamily="18" charset="0"/>
                                </a:rPr>
                                <m:t>1</m:t>
                              </m:r>
                            </m:sub>
                          </m:sSub>
                        </m:den>
                      </m:f>
                    </m:oMath>
                  </m:oMathPara>
                </a14:m>
                <a:endParaRPr lang="en-US" sz="1600" b="0" dirty="0">
                  <a:solidFill>
                    <a:srgbClr val="273239"/>
                  </a:solidFill>
                  <a:effectLst/>
                  <a:latin typeface="Times New Roman" panose="02020603050405020304" pitchFamily="18" charset="0"/>
                  <a:cs typeface="Times New Roman" panose="02020603050405020304" pitchFamily="18" charset="0"/>
                </a:endParaRPr>
              </a:p>
              <a:p>
                <a:pPr marL="285750" indent="-285750" fontAlgn="base">
                  <a:spcAft>
                    <a:spcPts val="750"/>
                  </a:spcAft>
                  <a:buFont typeface="Arial" panose="020B0604020202020204" pitchFamily="34" charset="0"/>
                  <a:buChar char="•"/>
                </a:pPr>
                <a:r>
                  <a:rPr lang="en-US" sz="1600" b="0" dirty="0">
                    <a:solidFill>
                      <a:srgbClr val="273239"/>
                    </a:solidFill>
                    <a:effectLst/>
                    <a:latin typeface="Times New Roman" panose="02020603050405020304" pitchFamily="18" charset="0"/>
                    <a:cs typeface="Times New Roman" panose="02020603050405020304" pitchFamily="18" charset="0"/>
                  </a:rPr>
                  <a:t>Q</a:t>
                </a:r>
                <a:r>
                  <a:rPr lang="en-US" sz="1600" b="0" baseline="-25000" dirty="0">
                    <a:solidFill>
                      <a:srgbClr val="273239"/>
                    </a:solidFill>
                    <a:effectLst/>
                    <a:latin typeface="Times New Roman" panose="02020603050405020304" pitchFamily="18" charset="0"/>
                    <a:cs typeface="Times New Roman" panose="02020603050405020304" pitchFamily="18" charset="0"/>
                  </a:rPr>
                  <a:t>1</a:t>
                </a:r>
                <a:r>
                  <a:rPr lang="en-US" sz="1600" b="0" dirty="0">
                    <a:solidFill>
                      <a:srgbClr val="273239"/>
                    </a:solidFill>
                    <a:effectLst/>
                    <a:latin typeface="Times New Roman" panose="02020603050405020304" pitchFamily="18" charset="0"/>
                    <a:cs typeface="Times New Roman" panose="02020603050405020304" pitchFamily="18" charset="0"/>
                  </a:rPr>
                  <a:t> is the first quartile (25th percentile),</a:t>
                </a:r>
              </a:p>
              <a:p>
                <a:pPr algn="l" fontAlgn="base">
                  <a:spcAft>
                    <a:spcPts val="1800"/>
                  </a:spcAft>
                  <a:buFont typeface="Arial" panose="020B0604020202020204" pitchFamily="34" charset="0"/>
                  <a:buChar char="•"/>
                </a:pPr>
                <a:r>
                  <a:rPr lang="en-US" sz="1600" b="0" dirty="0">
                    <a:solidFill>
                      <a:srgbClr val="273239"/>
                    </a:solidFill>
                    <a:effectLst/>
                    <a:latin typeface="Times New Roman" panose="02020603050405020304" pitchFamily="18" charset="0"/>
                    <a:cs typeface="Times New Roman" panose="02020603050405020304" pitchFamily="18" charset="0"/>
                  </a:rPr>
                  <a:t>    Q</a:t>
                </a:r>
                <a:r>
                  <a:rPr lang="en-US" sz="1600" b="0" baseline="-25000" dirty="0">
                    <a:solidFill>
                      <a:srgbClr val="273239"/>
                    </a:solidFill>
                    <a:effectLst/>
                    <a:latin typeface="Times New Roman" panose="02020603050405020304" pitchFamily="18" charset="0"/>
                    <a:cs typeface="Times New Roman" panose="02020603050405020304" pitchFamily="18" charset="0"/>
                  </a:rPr>
                  <a:t>2</a:t>
                </a:r>
                <a:r>
                  <a:rPr lang="en-US" sz="1600" b="0" dirty="0">
                    <a:solidFill>
                      <a:srgbClr val="273239"/>
                    </a:solidFill>
                    <a:effectLst/>
                    <a:latin typeface="Times New Roman" panose="02020603050405020304" pitchFamily="18" charset="0"/>
                    <a:cs typeface="Times New Roman" panose="02020603050405020304" pitchFamily="18" charset="0"/>
                  </a:rPr>
                  <a:t> is the second quartile (50th percentile, or median), and</a:t>
                </a:r>
              </a:p>
              <a:p>
                <a:pPr algn="l" fontAlgn="base">
                  <a:spcAft>
                    <a:spcPts val="1800"/>
                  </a:spcAft>
                  <a:buFont typeface="Arial" panose="020B0604020202020204" pitchFamily="34" charset="0"/>
                  <a:buChar char="•"/>
                </a:pPr>
                <a:r>
                  <a:rPr lang="en-US" sz="1600" b="0" dirty="0">
                    <a:solidFill>
                      <a:srgbClr val="273239"/>
                    </a:solidFill>
                    <a:effectLst/>
                    <a:latin typeface="Times New Roman" panose="02020603050405020304" pitchFamily="18" charset="0"/>
                    <a:cs typeface="Times New Roman" panose="02020603050405020304" pitchFamily="18" charset="0"/>
                  </a:rPr>
                  <a:t>    Q</a:t>
                </a:r>
                <a:r>
                  <a:rPr lang="en-US" sz="1600" b="0" baseline="-25000" dirty="0">
                    <a:solidFill>
                      <a:srgbClr val="273239"/>
                    </a:solidFill>
                    <a:effectLst/>
                    <a:latin typeface="Times New Roman" panose="02020603050405020304" pitchFamily="18" charset="0"/>
                    <a:cs typeface="Times New Roman" panose="02020603050405020304" pitchFamily="18" charset="0"/>
                  </a:rPr>
                  <a:t>3</a:t>
                </a:r>
                <a:r>
                  <a:rPr lang="en-US" sz="1600" b="0" dirty="0">
                    <a:solidFill>
                      <a:srgbClr val="273239"/>
                    </a:solidFill>
                    <a:effectLst/>
                    <a:latin typeface="Times New Roman" panose="02020603050405020304" pitchFamily="18" charset="0"/>
                    <a:cs typeface="Times New Roman" panose="02020603050405020304" pitchFamily="18" charset="0"/>
                  </a:rPr>
                  <a:t> is the third quartile (75th percentile).</a:t>
                </a:r>
              </a:p>
            </p:txBody>
          </p:sp>
        </mc:Choice>
        <mc:Fallback xmlns="">
          <p:sp>
            <p:nvSpPr>
              <p:cNvPr id="5" name="TextBox 4">
                <a:extLst>
                  <a:ext uri="{FF2B5EF4-FFF2-40B4-BE49-F238E27FC236}">
                    <a16:creationId xmlns:a16="http://schemas.microsoft.com/office/drawing/2014/main" id="{0F4E7C19-1B12-6AA5-D09D-0404BE14BA71}"/>
                  </a:ext>
                </a:extLst>
              </p:cNvPr>
              <p:cNvSpPr txBox="1">
                <a:spLocks noRot="1" noChangeAspect="1" noMove="1" noResize="1" noEditPoints="1" noAdjustHandles="1" noChangeArrowheads="1" noChangeShapeType="1" noTextEdit="1"/>
              </p:cNvSpPr>
              <p:nvPr/>
            </p:nvSpPr>
            <p:spPr>
              <a:xfrm>
                <a:off x="79513" y="89452"/>
                <a:ext cx="8984974" cy="4700454"/>
              </a:xfrm>
              <a:prstGeom prst="rect">
                <a:avLst/>
              </a:prstGeom>
              <a:blipFill>
                <a:blip r:embed="rId2"/>
                <a:stretch>
                  <a:fillRect l="-678" t="-778" r="-543" b="-908"/>
                </a:stretch>
              </a:blipFill>
            </p:spPr>
            <p:txBody>
              <a:bodyPr/>
              <a:lstStyle/>
              <a:p>
                <a:r>
                  <a:rPr lang="en-IN">
                    <a:noFill/>
                  </a:rPr>
                  <a:t> </a:t>
                </a:r>
              </a:p>
            </p:txBody>
          </p:sp>
        </mc:Fallback>
      </mc:AlternateContent>
    </p:spTree>
    <p:extLst>
      <p:ext uri="{BB962C8B-B14F-4D97-AF65-F5344CB8AC3E}">
        <p14:creationId xmlns:p14="http://schemas.microsoft.com/office/powerpoint/2010/main" val="409683393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126002F-224D-3C8A-E4E5-2E1198902415}"/>
              </a:ext>
            </a:extLst>
          </p:cNvPr>
          <p:cNvSpPr txBox="1"/>
          <p:nvPr/>
        </p:nvSpPr>
        <p:spPr>
          <a:xfrm>
            <a:off x="288235" y="626165"/>
            <a:ext cx="6569765" cy="3046988"/>
          </a:xfrm>
          <a:prstGeom prst="rect">
            <a:avLst/>
          </a:prstGeom>
          <a:noFill/>
        </p:spPr>
        <p:txBody>
          <a:bodyPr wrap="square">
            <a:spAutoFit/>
          </a:bodyPr>
          <a:lstStyle/>
          <a:p>
            <a:pPr algn="l" fontAlgn="base"/>
            <a:r>
              <a:rPr lang="en-US" sz="1800" b="1" dirty="0">
                <a:solidFill>
                  <a:srgbClr val="273239"/>
                </a:solidFill>
                <a:effectLst/>
                <a:latin typeface="Times New Roman" panose="02020603050405020304" pitchFamily="18" charset="0"/>
                <a:cs typeface="Times New Roman" panose="02020603050405020304" pitchFamily="18" charset="0"/>
              </a:rPr>
              <a:t>Coefficient of Bowley's Measure</a:t>
            </a:r>
          </a:p>
          <a:p>
            <a:pPr algn="l" fontAlgn="base">
              <a:spcAft>
                <a:spcPts val="1800"/>
              </a:spcAft>
              <a:buFont typeface="Arial" panose="020B0604020202020204" pitchFamily="34" charset="0"/>
              <a:buChar char="•"/>
            </a:pPr>
            <a:r>
              <a:rPr lang="en-US" sz="1800" b="0" dirty="0">
                <a:solidFill>
                  <a:srgbClr val="273239"/>
                </a:solidFill>
                <a:effectLst/>
                <a:latin typeface="Times New Roman" panose="02020603050405020304" pitchFamily="18" charset="0"/>
                <a:cs typeface="Times New Roman" panose="02020603050405020304" pitchFamily="18" charset="0"/>
              </a:rPr>
              <a:t>If B = 0, the distribution is perfectly symmetric about the mean (no skewness).</a:t>
            </a:r>
          </a:p>
          <a:p>
            <a:pPr algn="l" fontAlgn="base">
              <a:spcAft>
                <a:spcPts val="1800"/>
              </a:spcAft>
              <a:buFont typeface="Arial" panose="020B0604020202020204" pitchFamily="34" charset="0"/>
              <a:buChar char="•"/>
            </a:pPr>
            <a:r>
              <a:rPr lang="en-US" sz="1800" b="0" dirty="0">
                <a:solidFill>
                  <a:srgbClr val="273239"/>
                </a:solidFill>
                <a:effectLst/>
                <a:latin typeface="Times New Roman" panose="02020603050405020304" pitchFamily="18" charset="0"/>
                <a:cs typeface="Times New Roman" panose="02020603050405020304" pitchFamily="18" charset="0"/>
              </a:rPr>
              <a:t>If B &lt; 0, the distribution is negatively skewed (left-skewed), meaning the tail on the left side of the distribution is longer or heavier.</a:t>
            </a:r>
          </a:p>
          <a:p>
            <a:pPr algn="l" fontAlgn="base">
              <a:spcAft>
                <a:spcPts val="1800"/>
              </a:spcAft>
              <a:buFont typeface="Arial" panose="020B0604020202020204" pitchFamily="34" charset="0"/>
              <a:buChar char="•"/>
            </a:pPr>
            <a:r>
              <a:rPr lang="en-US" sz="1800" b="0" dirty="0">
                <a:solidFill>
                  <a:srgbClr val="273239"/>
                </a:solidFill>
                <a:effectLst/>
                <a:latin typeface="Times New Roman" panose="02020603050405020304" pitchFamily="18" charset="0"/>
                <a:cs typeface="Times New Roman" panose="02020603050405020304" pitchFamily="18" charset="0"/>
              </a:rPr>
              <a:t>If B &gt; 0, the distribution is positively skewed (right-skewed), indicating that the tail on the right side of the distribution is longer or heavier.</a:t>
            </a:r>
          </a:p>
        </p:txBody>
      </p:sp>
    </p:spTree>
    <p:extLst>
      <p:ext uri="{BB962C8B-B14F-4D97-AF65-F5344CB8AC3E}">
        <p14:creationId xmlns:p14="http://schemas.microsoft.com/office/powerpoint/2010/main" val="10953221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3EB6C02-622E-85DB-0FEF-D529F17C686F}"/>
              </a:ext>
            </a:extLst>
          </p:cNvPr>
          <p:cNvSpPr>
            <a:spLocks noGrp="1"/>
          </p:cNvSpPr>
          <p:nvPr>
            <p:ph type="ctrTitle"/>
          </p:nvPr>
        </p:nvSpPr>
        <p:spPr/>
        <p:txBody>
          <a:bodyPr>
            <a:normAutofit/>
          </a:bodyPr>
          <a:lstStyle/>
          <a:p>
            <a:r>
              <a:rPr lang="en-US" sz="2800" dirty="0">
                <a:latin typeface="Times New Roman" panose="02020603050405020304" pitchFamily="18" charset="0"/>
                <a:cs typeface="Times New Roman" panose="02020603050405020304" pitchFamily="18" charset="0"/>
              </a:rPr>
              <a:t>Examples of </a:t>
            </a:r>
            <a:r>
              <a:rPr lang="en-US" sz="2800" dirty="0">
                <a:solidFill>
                  <a:srgbClr val="273239"/>
                </a:solidFill>
                <a:effectLst/>
                <a:latin typeface="Times New Roman" panose="02020603050405020304" pitchFamily="18" charset="0"/>
                <a:cs typeface="Times New Roman" panose="02020603050405020304" pitchFamily="18" charset="0"/>
              </a:rPr>
              <a:t>Bowley's Measure</a:t>
            </a:r>
            <a:br>
              <a:rPr lang="en-US" sz="2800" dirty="0">
                <a:solidFill>
                  <a:srgbClr val="273239"/>
                </a:solidFill>
                <a:effectLst/>
                <a:latin typeface="Times New Roman" panose="02020603050405020304" pitchFamily="18" charset="0"/>
                <a:cs typeface="Times New Roman" panose="02020603050405020304" pitchFamily="18" charset="0"/>
              </a:rPr>
            </a:br>
            <a:r>
              <a:rPr lang="en-US" sz="2800" dirty="0">
                <a:solidFill>
                  <a:srgbClr val="273239"/>
                </a:solidFill>
                <a:effectLst/>
                <a:latin typeface="Times New Roman" panose="02020603050405020304" pitchFamily="18" charset="0"/>
                <a:cs typeface="Times New Roman" panose="02020603050405020304" pitchFamily="18" charset="0"/>
              </a:rPr>
              <a:t>solved </a:t>
            </a:r>
            <a:r>
              <a:rPr lang="en-US" sz="2800" dirty="0">
                <a:latin typeface="Times New Roman" panose="02020603050405020304" pitchFamily="18" charset="0"/>
                <a:cs typeface="Times New Roman" panose="02020603050405020304" pitchFamily="18" charset="0"/>
              </a:rPr>
              <a:t>after quartile introduction </a:t>
            </a:r>
            <a:endParaRPr lang="en-IN" sz="2800" dirty="0">
              <a:latin typeface="Times New Roman" panose="02020603050405020304" pitchFamily="18" charset="0"/>
              <a:cs typeface="Times New Roman" panose="02020603050405020304" pitchFamily="18" charset="0"/>
            </a:endParaRPr>
          </a:p>
        </p:txBody>
      </p:sp>
      <p:sp>
        <p:nvSpPr>
          <p:cNvPr id="5" name="Subtitle 4">
            <a:extLst>
              <a:ext uri="{FF2B5EF4-FFF2-40B4-BE49-F238E27FC236}">
                <a16:creationId xmlns:a16="http://schemas.microsoft.com/office/drawing/2014/main" id="{B080CE89-6DB9-B027-8B5B-85C95E5F5C25}"/>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420326040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g2f8667aba1d_4_51"/>
          <p:cNvSpPr txBox="1"/>
          <p:nvPr/>
        </p:nvSpPr>
        <p:spPr>
          <a:xfrm>
            <a:off x="213139" y="187326"/>
            <a:ext cx="8537162" cy="2308284"/>
          </a:xfrm>
          <a:prstGeom prst="rect">
            <a:avLst/>
          </a:prstGeom>
          <a:noFill/>
          <a:ln>
            <a:noFill/>
          </a:ln>
        </p:spPr>
        <p:txBody>
          <a:bodyPr spcFirstLastPara="1" wrap="square" lIns="91425" tIns="45700" rIns="91425" bIns="45700" anchor="t" anchorCtr="0">
            <a:spAutoFit/>
          </a:bodyPr>
          <a:lstStyle/>
          <a:p>
            <a:pPr>
              <a:buClr>
                <a:schemeClr val="dk1"/>
              </a:buClr>
              <a:buSzPts val="4000"/>
            </a:pPr>
            <a:r>
              <a:rPr lang="en-IN" sz="3600" b="1" i="0" u="none" dirty="0">
                <a:solidFill>
                  <a:srgbClr val="FF0000"/>
                </a:solidFill>
                <a:latin typeface="Times New Roman"/>
                <a:ea typeface="Times New Roman"/>
                <a:cs typeface="Times New Roman"/>
                <a:sym typeface="Times New Roman"/>
              </a:rPr>
              <a:t>Kurtosis</a:t>
            </a:r>
            <a:r>
              <a:rPr lang="en-IN" sz="3600" dirty="0">
                <a:solidFill>
                  <a:srgbClr val="FF0000"/>
                </a:solidFill>
                <a:latin typeface="Times New Roman" panose="02020603050405020304" pitchFamily="18" charset="0"/>
                <a:cs typeface="Times New Roman" panose="02020603050405020304" pitchFamily="18" charset="0"/>
              </a:rPr>
              <a:t>: </a:t>
            </a:r>
          </a:p>
          <a:p>
            <a:pPr>
              <a:buClr>
                <a:schemeClr val="dk1"/>
              </a:buClr>
              <a:buSzPts val="4000"/>
            </a:pPr>
            <a:r>
              <a:rPr lang="en-IN" sz="3600" dirty="0">
                <a:solidFill>
                  <a:schemeClr val="dk1"/>
                </a:solidFill>
                <a:latin typeface="Times New Roman" panose="02020603050405020304" pitchFamily="18" charset="0"/>
                <a:ea typeface="Times New Roman"/>
                <a:cs typeface="Times New Roman" panose="02020603050405020304" pitchFamily="18" charset="0"/>
                <a:sym typeface="Times New Roman"/>
              </a:rPr>
              <a:t>measures degree of </a:t>
            </a:r>
            <a:r>
              <a:rPr lang="en-IN" sz="3600" dirty="0" err="1">
                <a:solidFill>
                  <a:schemeClr val="dk1"/>
                </a:solidFill>
                <a:latin typeface="Times New Roman" panose="02020603050405020304" pitchFamily="18" charset="0"/>
                <a:ea typeface="Times New Roman"/>
                <a:cs typeface="Times New Roman" panose="02020603050405020304" pitchFamily="18" charset="0"/>
                <a:sym typeface="Times New Roman"/>
              </a:rPr>
              <a:t>peakedness</a:t>
            </a:r>
            <a:r>
              <a:rPr lang="en-IN" sz="3600" dirty="0">
                <a:solidFill>
                  <a:schemeClr val="dk1"/>
                </a:solidFill>
                <a:latin typeface="Times New Roman" panose="02020603050405020304" pitchFamily="18" charset="0"/>
                <a:ea typeface="Times New Roman"/>
                <a:cs typeface="Times New Roman" panose="02020603050405020304" pitchFamily="18" charset="0"/>
                <a:sym typeface="Times New Roman"/>
              </a:rPr>
              <a:t> of the distribution </a:t>
            </a:r>
          </a:p>
          <a:p>
            <a:pPr marL="0" marR="0" lvl="0" indent="0" algn="l" rtl="0">
              <a:lnSpc>
                <a:spcPct val="100000"/>
              </a:lnSpc>
              <a:spcBef>
                <a:spcPts val="0"/>
              </a:spcBef>
              <a:spcAft>
                <a:spcPts val="0"/>
              </a:spcAft>
              <a:buClr>
                <a:schemeClr val="dk1"/>
              </a:buClr>
              <a:buSzPts val="4000"/>
              <a:buFont typeface="Times New Roman"/>
              <a:buNone/>
            </a:pPr>
            <a:endParaRPr lang="en-IN" sz="3600" b="1" dirty="0">
              <a:solidFill>
                <a:srgbClr val="FF0000"/>
              </a:solidFill>
            </a:endParaRPr>
          </a:p>
        </p:txBody>
      </p:sp>
      <p:sp>
        <p:nvSpPr>
          <p:cNvPr id="358" name="Google Shape;358;g2f8667aba1d_4_51"/>
          <p:cNvSpPr txBox="1"/>
          <p:nvPr/>
        </p:nvSpPr>
        <p:spPr>
          <a:xfrm>
            <a:off x="2153064" y="214313"/>
            <a:ext cx="58119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800"/>
              <a:buFont typeface="Times New Roman"/>
              <a:buNone/>
            </a:pPr>
            <a:endParaRPr/>
          </a:p>
        </p:txBody>
      </p:sp>
      <p:pic>
        <p:nvPicPr>
          <p:cNvPr id="3" name="Picture 2">
            <a:extLst>
              <a:ext uri="{FF2B5EF4-FFF2-40B4-BE49-F238E27FC236}">
                <a16:creationId xmlns:a16="http://schemas.microsoft.com/office/drawing/2014/main" id="{7A2FBF30-30DA-6179-6000-1345C8B748B6}"/>
              </a:ext>
            </a:extLst>
          </p:cNvPr>
          <p:cNvPicPr>
            <a:picLocks noChangeAspect="1"/>
          </p:cNvPicPr>
          <p:nvPr/>
        </p:nvPicPr>
        <p:blipFill>
          <a:blip r:embed="rId3"/>
          <a:stretch>
            <a:fillRect/>
          </a:stretch>
        </p:blipFill>
        <p:spPr>
          <a:xfrm>
            <a:off x="1866900" y="1795670"/>
            <a:ext cx="5499100" cy="3347830"/>
          </a:xfrm>
          <a:prstGeom prst="rect">
            <a:avLst/>
          </a:prstGeom>
        </p:spPr>
      </p:pic>
    </p:spTree>
    <p:extLst>
      <p:ext uri="{BB962C8B-B14F-4D97-AF65-F5344CB8AC3E}">
        <p14:creationId xmlns:p14="http://schemas.microsoft.com/office/powerpoint/2010/main" val="159687994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32"/>
          <p:cNvSpPr txBox="1">
            <a:spLocks noGrp="1"/>
          </p:cNvSpPr>
          <p:nvPr>
            <p:ph type="title"/>
          </p:nvPr>
        </p:nvSpPr>
        <p:spPr>
          <a:xfrm>
            <a:off x="311700" y="69325"/>
            <a:ext cx="8520600" cy="715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400"/>
              </a:spcAft>
              <a:buClr>
                <a:schemeClr val="dk1"/>
              </a:buClr>
              <a:buSzPts val="1100"/>
              <a:buFont typeface="Arial"/>
              <a:buNone/>
            </a:pPr>
            <a:r>
              <a:rPr lang="en" sz="3600" b="1" dirty="0">
                <a:solidFill>
                  <a:srgbClr val="FF0000"/>
                </a:solidFill>
                <a:latin typeface="Times New Roman" panose="02020603050405020304" pitchFamily="18" charset="0"/>
                <a:cs typeface="Times New Roman" panose="02020603050405020304" pitchFamily="18" charset="0"/>
              </a:rPr>
              <a:t>Kurtosis</a:t>
            </a:r>
            <a:endParaRPr sz="36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52" name="Google Shape;352;p32"/>
              <p:cNvSpPr txBox="1">
                <a:spLocks noGrp="1"/>
              </p:cNvSpPr>
              <p:nvPr>
                <p:ph type="body" idx="1"/>
              </p:nvPr>
            </p:nvSpPr>
            <p:spPr>
              <a:xfrm>
                <a:off x="311700" y="974035"/>
                <a:ext cx="8520600" cy="4169490"/>
              </a:xfrm>
              <a:prstGeom prst="rect">
                <a:avLst/>
              </a:prstGeom>
              <a:noFill/>
              <a:ln>
                <a:noFill/>
              </a:ln>
            </p:spPr>
            <p:txBody>
              <a:bodyPr spcFirstLastPara="1" wrap="square" lIns="91425" tIns="91425" rIns="91425" bIns="91425" anchor="t" anchorCtr="0">
                <a:normAutofit/>
              </a:bodyPr>
              <a:lstStyle/>
              <a:p>
                <a:pPr marL="82550" lvl="0" indent="0">
                  <a:spcBef>
                    <a:spcPts val="1200"/>
                  </a:spcBef>
                  <a:buClr>
                    <a:schemeClr val="dk1"/>
                  </a:buClr>
                  <a:buSzPts val="2300"/>
                  <a:buNone/>
                </a:pPr>
                <a:r>
                  <a:rPr lang="en-IN" sz="2400" dirty="0">
                    <a:solidFill>
                      <a:schemeClr val="dk1"/>
                    </a:solidFill>
                    <a:latin typeface="Times New Roman" panose="02020603050405020304" pitchFamily="18" charset="0"/>
                    <a:cs typeface="Times New Roman" panose="02020603050405020304" pitchFamily="18" charset="0"/>
                    <a:sym typeface="Times New Roman"/>
                  </a:rPr>
                  <a:t>Measure is denoted by </a:t>
                </a:r>
                <a14:m>
                  <m:oMath xmlns:m="http://schemas.openxmlformats.org/officeDocument/2006/math">
                    <m:sSub>
                      <m:sSubPr>
                        <m:ctrlPr>
                          <a:rPr lang="ar-AE" sz="2400" i="1" smtClean="0">
                            <a:solidFill>
                              <a:schemeClr val="dk1"/>
                            </a:solidFill>
                            <a:latin typeface="Cambria Math" panose="02040503050406030204" pitchFamily="18" charset="0"/>
                            <a:cs typeface="Times New Roman" panose="02020603050405020304" pitchFamily="18" charset="0"/>
                            <a:sym typeface="Times New Roman"/>
                          </a:rPr>
                        </m:ctrlPr>
                      </m:sSubPr>
                      <m:e>
                        <m:r>
                          <m:rPr>
                            <m:nor/>
                          </m:rPr>
                          <a:rPr lang="el-GR" sz="2400" dirty="0">
                            <a:solidFill>
                              <a:schemeClr val="dk1"/>
                            </a:solidFill>
                            <a:latin typeface="Times New Roman" panose="02020603050405020304" pitchFamily="18" charset="0"/>
                            <a:cs typeface="Times New Roman" panose="02020603050405020304" pitchFamily="18" charset="0"/>
                            <a:sym typeface="Times New Roman"/>
                          </a:rPr>
                          <m:t>β</m:t>
                        </m:r>
                      </m:e>
                      <m:sub>
                        <m:r>
                          <a:rPr lang="ar-AE" sz="2400" b="0" i="1" smtClean="0">
                            <a:solidFill>
                              <a:schemeClr val="dk1"/>
                            </a:solidFill>
                            <a:latin typeface="Cambria Math" panose="02040503050406030204" pitchFamily="18" charset="0"/>
                            <a:cs typeface="Times New Roman" panose="02020603050405020304" pitchFamily="18" charset="0"/>
                            <a:sym typeface="Times New Roman"/>
                          </a:rPr>
                          <m:t>2</m:t>
                        </m:r>
                      </m:sub>
                    </m:sSub>
                  </m:oMath>
                </a14:m>
                <a:endParaRPr lang="ar-AE" sz="2400" dirty="0">
                  <a:solidFill>
                    <a:schemeClr val="dk1"/>
                  </a:solidFill>
                  <a:latin typeface="Times New Roman" panose="02020603050405020304" pitchFamily="18" charset="0"/>
                  <a:cs typeface="Times New Roman" panose="02020603050405020304" pitchFamily="18" charset="0"/>
                </a:endParaRPr>
              </a:p>
              <a:p>
                <a:pPr marL="539750" lvl="1" indent="0" algn="l" rtl="0">
                  <a:lnSpc>
                    <a:spcPct val="115000"/>
                  </a:lnSpc>
                  <a:spcBef>
                    <a:spcPts val="0"/>
                  </a:spcBef>
                  <a:spcAft>
                    <a:spcPts val="0"/>
                  </a:spcAft>
                  <a:buClr>
                    <a:schemeClr val="dk1"/>
                  </a:buClr>
                  <a:buSzPts val="2300"/>
                  <a:buNone/>
                </a:pPr>
                <a:r>
                  <a:rPr lang="en-IN" sz="2400" b="1" dirty="0">
                    <a:solidFill>
                      <a:schemeClr val="dk1"/>
                    </a:solidFill>
                    <a:latin typeface="Times New Roman" panose="02020603050405020304" pitchFamily="18" charset="0"/>
                    <a:cs typeface="Times New Roman" panose="02020603050405020304" pitchFamily="18" charset="0"/>
                  </a:rPr>
                  <a:t>Leptokurtic</a:t>
                </a:r>
                <a:r>
                  <a:rPr lang="en-IN" sz="2400" dirty="0">
                    <a:solidFill>
                      <a:schemeClr val="dk1"/>
                    </a:solidFill>
                    <a:latin typeface="Times New Roman" panose="02020603050405020304" pitchFamily="18" charset="0"/>
                    <a:cs typeface="Times New Roman" panose="02020603050405020304" pitchFamily="18" charset="0"/>
                  </a:rPr>
                  <a:t>: A distribution with heavy tails and a sharp peak (</a:t>
                </a:r>
                <a14:m>
                  <m:oMath xmlns:m="http://schemas.openxmlformats.org/officeDocument/2006/math">
                    <m:sSub>
                      <m:sSubPr>
                        <m:ctrlPr>
                          <a:rPr lang="ar-AE" sz="2400" i="1" smtClean="0">
                            <a:solidFill>
                              <a:schemeClr val="dk1"/>
                            </a:solidFill>
                            <a:latin typeface="Cambria Math" panose="02040503050406030204" pitchFamily="18" charset="0"/>
                            <a:cs typeface="Times New Roman" panose="02020603050405020304" pitchFamily="18" charset="0"/>
                            <a:sym typeface="Times New Roman"/>
                          </a:rPr>
                        </m:ctrlPr>
                      </m:sSubPr>
                      <m:e>
                        <m:r>
                          <m:rPr>
                            <m:nor/>
                          </m:rPr>
                          <a:rPr lang="el-GR" sz="2400" dirty="0">
                            <a:solidFill>
                              <a:schemeClr val="dk1"/>
                            </a:solidFill>
                            <a:latin typeface="Times New Roman" panose="02020603050405020304" pitchFamily="18" charset="0"/>
                            <a:cs typeface="Times New Roman" panose="02020603050405020304" pitchFamily="18" charset="0"/>
                            <a:sym typeface="Times New Roman"/>
                          </a:rPr>
                          <m:t>β</m:t>
                        </m:r>
                      </m:e>
                      <m:sub>
                        <m:r>
                          <a:rPr lang="ar-AE" sz="2400" b="0" i="1" smtClean="0">
                            <a:solidFill>
                              <a:schemeClr val="dk1"/>
                            </a:solidFill>
                            <a:latin typeface="Cambria Math" panose="02040503050406030204" pitchFamily="18" charset="0"/>
                            <a:cs typeface="Times New Roman" panose="02020603050405020304" pitchFamily="18" charset="0"/>
                            <a:sym typeface="Times New Roman"/>
                          </a:rPr>
                          <m:t>2</m:t>
                        </m:r>
                      </m:sub>
                    </m:sSub>
                  </m:oMath>
                </a14:m>
                <a:r>
                  <a:rPr lang="en-IN" sz="2400" dirty="0">
                    <a:solidFill>
                      <a:schemeClr val="dk1"/>
                    </a:solidFill>
                    <a:latin typeface="Times New Roman" panose="02020603050405020304" pitchFamily="18" charset="0"/>
                    <a:cs typeface="Times New Roman" panose="02020603050405020304" pitchFamily="18" charset="0"/>
                  </a:rPr>
                  <a:t> &gt; 3).</a:t>
                </a:r>
                <a:r>
                  <a:rPr lang="en-IN" sz="2400" dirty="0">
                    <a:solidFill>
                      <a:srgbClr val="FF0000"/>
                    </a:solidFill>
                    <a:latin typeface="Times New Roman" panose="02020603050405020304" pitchFamily="18" charset="0"/>
                    <a:cs typeface="Times New Roman" panose="02020603050405020304" pitchFamily="18" charset="0"/>
                  </a:rPr>
                  <a:t> Curve is Peaked </a:t>
                </a:r>
              </a:p>
              <a:p>
                <a:pPr marL="539750" lvl="1" indent="0" algn="l" rtl="0">
                  <a:lnSpc>
                    <a:spcPct val="115000"/>
                  </a:lnSpc>
                  <a:spcBef>
                    <a:spcPts val="0"/>
                  </a:spcBef>
                  <a:spcAft>
                    <a:spcPts val="0"/>
                  </a:spcAft>
                  <a:buClr>
                    <a:schemeClr val="dk1"/>
                  </a:buClr>
                  <a:buSzPts val="2300"/>
                  <a:buNone/>
                </a:pPr>
                <a:r>
                  <a:rPr lang="en-IN" sz="2400" b="1" dirty="0">
                    <a:solidFill>
                      <a:schemeClr val="dk1"/>
                    </a:solidFill>
                    <a:latin typeface="Times New Roman" panose="02020603050405020304" pitchFamily="18" charset="0"/>
                    <a:cs typeface="Times New Roman" panose="02020603050405020304" pitchFamily="18" charset="0"/>
                  </a:rPr>
                  <a:t>Platykurtic</a:t>
                </a:r>
                <a:r>
                  <a:rPr lang="en-IN" sz="2400" dirty="0">
                    <a:solidFill>
                      <a:schemeClr val="dk1"/>
                    </a:solidFill>
                    <a:latin typeface="Times New Roman" panose="02020603050405020304" pitchFamily="18" charset="0"/>
                    <a:cs typeface="Times New Roman" panose="02020603050405020304" pitchFamily="18" charset="0"/>
                  </a:rPr>
                  <a:t>: A distribution with light tails and a flatter peak (</a:t>
                </a:r>
                <a14:m>
                  <m:oMath xmlns:m="http://schemas.openxmlformats.org/officeDocument/2006/math">
                    <m:sSub>
                      <m:sSubPr>
                        <m:ctrlPr>
                          <a:rPr lang="ar-AE" sz="2400" i="1" smtClean="0">
                            <a:solidFill>
                              <a:schemeClr val="dk1"/>
                            </a:solidFill>
                            <a:latin typeface="Cambria Math" panose="02040503050406030204" pitchFamily="18" charset="0"/>
                            <a:cs typeface="Times New Roman" panose="02020603050405020304" pitchFamily="18" charset="0"/>
                            <a:sym typeface="Times New Roman"/>
                          </a:rPr>
                        </m:ctrlPr>
                      </m:sSubPr>
                      <m:e>
                        <m:r>
                          <m:rPr>
                            <m:nor/>
                          </m:rPr>
                          <a:rPr lang="el-GR" sz="2400" dirty="0">
                            <a:solidFill>
                              <a:schemeClr val="dk1"/>
                            </a:solidFill>
                            <a:latin typeface="Times New Roman" panose="02020603050405020304" pitchFamily="18" charset="0"/>
                            <a:cs typeface="Times New Roman" panose="02020603050405020304" pitchFamily="18" charset="0"/>
                            <a:sym typeface="Times New Roman"/>
                          </a:rPr>
                          <m:t>β</m:t>
                        </m:r>
                      </m:e>
                      <m:sub>
                        <m:r>
                          <a:rPr lang="ar-AE" sz="2400" b="0" i="1" smtClean="0">
                            <a:solidFill>
                              <a:schemeClr val="dk1"/>
                            </a:solidFill>
                            <a:latin typeface="Cambria Math" panose="02040503050406030204" pitchFamily="18" charset="0"/>
                            <a:cs typeface="Times New Roman" panose="02020603050405020304" pitchFamily="18" charset="0"/>
                            <a:sym typeface="Times New Roman"/>
                          </a:rPr>
                          <m:t>2</m:t>
                        </m:r>
                      </m:sub>
                    </m:sSub>
                  </m:oMath>
                </a14:m>
                <a:r>
                  <a:rPr lang="en-IN" sz="2400" dirty="0">
                    <a:solidFill>
                      <a:schemeClr val="dk1"/>
                    </a:solidFill>
                    <a:latin typeface="Times New Roman" panose="02020603050405020304" pitchFamily="18" charset="0"/>
                    <a:cs typeface="Times New Roman" panose="02020603050405020304" pitchFamily="18" charset="0"/>
                  </a:rPr>
                  <a:t> &lt; 3).</a:t>
                </a:r>
                <a:r>
                  <a:rPr lang="en-IN" sz="2400" dirty="0">
                    <a:solidFill>
                      <a:srgbClr val="FF0000"/>
                    </a:solidFill>
                    <a:latin typeface="Times New Roman" panose="02020603050405020304" pitchFamily="18" charset="0"/>
                    <a:cs typeface="Times New Roman" panose="02020603050405020304" pitchFamily="18" charset="0"/>
                  </a:rPr>
                  <a:t> Curve is Flat topped</a:t>
                </a:r>
                <a:endParaRPr lang="en-IN" sz="2400" dirty="0">
                  <a:solidFill>
                    <a:schemeClr val="dk1"/>
                  </a:solidFill>
                  <a:latin typeface="Times New Roman" panose="02020603050405020304" pitchFamily="18" charset="0"/>
                  <a:cs typeface="Times New Roman" panose="02020603050405020304" pitchFamily="18" charset="0"/>
                </a:endParaRPr>
              </a:p>
              <a:p>
                <a:pPr marL="539750" lvl="1" indent="0" algn="l" rtl="0">
                  <a:lnSpc>
                    <a:spcPct val="115000"/>
                  </a:lnSpc>
                  <a:spcBef>
                    <a:spcPts val="0"/>
                  </a:spcBef>
                  <a:spcAft>
                    <a:spcPts val="0"/>
                  </a:spcAft>
                  <a:buClr>
                    <a:schemeClr val="dk1"/>
                  </a:buClr>
                  <a:buSzPts val="2300"/>
                  <a:buNone/>
                </a:pPr>
                <a:r>
                  <a:rPr lang="en-IN" sz="2400" b="1" dirty="0">
                    <a:solidFill>
                      <a:schemeClr val="dk1"/>
                    </a:solidFill>
                    <a:latin typeface="Times New Roman" panose="02020603050405020304" pitchFamily="18" charset="0"/>
                    <a:cs typeface="Times New Roman" panose="02020603050405020304" pitchFamily="18" charset="0"/>
                  </a:rPr>
                  <a:t>Mesokurtic</a:t>
                </a:r>
                <a:r>
                  <a:rPr lang="en-IN" sz="2400" dirty="0">
                    <a:solidFill>
                      <a:schemeClr val="dk1"/>
                    </a:solidFill>
                    <a:latin typeface="Times New Roman" panose="02020603050405020304" pitchFamily="18" charset="0"/>
                    <a:cs typeface="Times New Roman" panose="02020603050405020304" pitchFamily="18" charset="0"/>
                  </a:rPr>
                  <a:t>: A normal distribution (</a:t>
                </a:r>
                <a14:m>
                  <m:oMath xmlns:m="http://schemas.openxmlformats.org/officeDocument/2006/math">
                    <m:sSub>
                      <m:sSubPr>
                        <m:ctrlPr>
                          <a:rPr lang="ar-AE" sz="2400" i="1" smtClean="0">
                            <a:solidFill>
                              <a:schemeClr val="dk1"/>
                            </a:solidFill>
                            <a:latin typeface="Cambria Math" panose="02040503050406030204" pitchFamily="18" charset="0"/>
                            <a:cs typeface="Times New Roman" panose="02020603050405020304" pitchFamily="18" charset="0"/>
                            <a:sym typeface="Times New Roman"/>
                          </a:rPr>
                        </m:ctrlPr>
                      </m:sSubPr>
                      <m:e>
                        <m:r>
                          <m:rPr>
                            <m:nor/>
                          </m:rPr>
                          <a:rPr lang="el-GR" sz="2400" dirty="0">
                            <a:solidFill>
                              <a:schemeClr val="dk1"/>
                            </a:solidFill>
                            <a:latin typeface="Times New Roman" panose="02020603050405020304" pitchFamily="18" charset="0"/>
                            <a:cs typeface="Times New Roman" panose="02020603050405020304" pitchFamily="18" charset="0"/>
                            <a:sym typeface="Times New Roman"/>
                          </a:rPr>
                          <m:t>β</m:t>
                        </m:r>
                      </m:e>
                      <m:sub>
                        <m:r>
                          <a:rPr lang="ar-AE" sz="2400" b="0" i="1" smtClean="0">
                            <a:solidFill>
                              <a:schemeClr val="dk1"/>
                            </a:solidFill>
                            <a:latin typeface="Cambria Math" panose="02040503050406030204" pitchFamily="18" charset="0"/>
                            <a:cs typeface="Times New Roman" panose="02020603050405020304" pitchFamily="18" charset="0"/>
                            <a:sym typeface="Times New Roman"/>
                          </a:rPr>
                          <m:t>2</m:t>
                        </m:r>
                      </m:sub>
                    </m:sSub>
                  </m:oMath>
                </a14:m>
                <a:r>
                  <a:rPr lang="en-IN" sz="2400" dirty="0">
                    <a:solidFill>
                      <a:schemeClr val="dk1"/>
                    </a:solidFill>
                    <a:latin typeface="Times New Roman" panose="02020603050405020304" pitchFamily="18" charset="0"/>
                    <a:cs typeface="Times New Roman" panose="02020603050405020304" pitchFamily="18" charset="0"/>
                  </a:rPr>
                  <a:t> = 3).</a:t>
                </a:r>
                <a:r>
                  <a:rPr lang="en-IN" sz="2400" dirty="0">
                    <a:solidFill>
                      <a:srgbClr val="FF0000"/>
                    </a:solidFill>
                    <a:latin typeface="Times New Roman" panose="02020603050405020304" pitchFamily="18" charset="0"/>
                    <a:cs typeface="Times New Roman" panose="02020603050405020304" pitchFamily="18" charset="0"/>
                  </a:rPr>
                  <a:t> Curve is Normal</a:t>
                </a:r>
                <a:endParaRPr sz="2400"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352" name="Google Shape;352;p32"/>
              <p:cNvSpPr txBox="1">
                <a:spLocks noGrp="1" noRot="1" noChangeAspect="1" noMove="1" noResize="1" noEditPoints="1" noAdjustHandles="1" noChangeArrowheads="1" noChangeShapeType="1" noTextEdit="1"/>
              </p:cNvSpPr>
              <p:nvPr>
                <p:ph type="body" idx="1"/>
              </p:nvPr>
            </p:nvSpPr>
            <p:spPr>
              <a:xfrm>
                <a:off x="311700" y="974035"/>
                <a:ext cx="8520600" cy="4169490"/>
              </a:xfrm>
              <a:prstGeom prst="rect">
                <a:avLst/>
              </a:prstGeom>
              <a:blipFill>
                <a:blip r:embed="rId3"/>
                <a:stretch>
                  <a:fillRect l="-72"/>
                </a:stretch>
              </a:blipFill>
              <a:ln>
                <a:noFill/>
              </a:ln>
            </p:spPr>
            <p:txBody>
              <a:bodyPr/>
              <a:lstStyle/>
              <a:p>
                <a:r>
                  <a:rPr lang="en-IN">
                    <a:noFill/>
                  </a:rPr>
                  <a:t> </a:t>
                </a:r>
              </a:p>
            </p:txBody>
          </p:sp>
        </mc:Fallback>
      </mc:AlternateContent>
    </p:spTree>
    <p:extLst>
      <p:ext uri="{BB962C8B-B14F-4D97-AF65-F5344CB8AC3E}">
        <p14:creationId xmlns:p14="http://schemas.microsoft.com/office/powerpoint/2010/main" val="215930403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37BEAF3-314C-A349-9109-250C3272CB73}"/>
              </a:ext>
            </a:extLst>
          </p:cNvPr>
          <p:cNvSpPr>
            <a:spLocks noGrp="1"/>
          </p:cNvSpPr>
          <p:nvPr>
            <p:ph type="ctrTitle"/>
          </p:nvPr>
        </p:nvSpPr>
        <p:spPr>
          <a:xfrm>
            <a:off x="311708" y="377687"/>
            <a:ext cx="8520600" cy="705678"/>
          </a:xfrm>
        </p:spPr>
        <p:txBody>
          <a:bodyPr>
            <a:noAutofit/>
          </a:bodyPr>
          <a:lstStyle/>
          <a:p>
            <a:r>
              <a:rPr lang="en-US" sz="3600" b="1" dirty="0">
                <a:solidFill>
                  <a:srgbClr val="FF0000"/>
                </a:solidFill>
                <a:latin typeface="Times New Roman" panose="02020603050405020304" pitchFamily="18" charset="0"/>
                <a:cs typeface="Times New Roman" panose="02020603050405020304" pitchFamily="18" charset="0"/>
              </a:rPr>
              <a:t>Moments</a:t>
            </a:r>
            <a:endParaRPr lang="en-IN" sz="3600" b="1" dirty="0">
              <a:solidFill>
                <a:srgbClr val="FF0000"/>
              </a:solidFill>
              <a:latin typeface="Times New Roman" panose="02020603050405020304" pitchFamily="18" charset="0"/>
              <a:cs typeface="Times New Roman" panose="02020603050405020304" pitchFamily="18" charset="0"/>
            </a:endParaRPr>
          </a:p>
        </p:txBody>
      </p:sp>
      <p:sp>
        <p:nvSpPr>
          <p:cNvPr id="2" name="Subtitle 1">
            <a:extLst>
              <a:ext uri="{FF2B5EF4-FFF2-40B4-BE49-F238E27FC236}">
                <a16:creationId xmlns:a16="http://schemas.microsoft.com/office/drawing/2014/main" id="{B4D2935E-CF26-D948-458E-7C6F5817C6F2}"/>
              </a:ext>
            </a:extLst>
          </p:cNvPr>
          <p:cNvSpPr>
            <a:spLocks noGrp="1"/>
          </p:cNvSpPr>
          <p:nvPr>
            <p:ph type="subTitle" idx="1"/>
          </p:nvPr>
        </p:nvSpPr>
        <p:spPr>
          <a:xfrm>
            <a:off x="407504" y="1560444"/>
            <a:ext cx="8319053" cy="3130826"/>
          </a:xfrm>
        </p:spPr>
        <p:txBody>
          <a:bodyPr>
            <a:normAutofit/>
          </a:bodyPr>
          <a:lstStyle/>
          <a:p>
            <a:r>
              <a:rPr lang="en-US" sz="2800" dirty="0">
                <a:solidFill>
                  <a:schemeClr val="tx1"/>
                </a:solidFill>
                <a:latin typeface="Times New Roman" panose="02020603050405020304" pitchFamily="18" charset="0"/>
                <a:cs typeface="Times New Roman" panose="02020603050405020304" pitchFamily="18" charset="0"/>
              </a:rPr>
              <a:t>Moments are statistical measures that give certain characteristics of the distribution.</a:t>
            </a:r>
          </a:p>
          <a:p>
            <a:r>
              <a:rPr lang="en-US" dirty="0">
                <a:solidFill>
                  <a:schemeClr val="tx1"/>
                </a:solidFill>
                <a:latin typeface="Times New Roman" panose="02020603050405020304" pitchFamily="18" charset="0"/>
                <a:cs typeface="Times New Roman" panose="02020603050405020304" pitchFamily="18" charset="0"/>
              </a:rPr>
              <a:t>The Four moments in statistics are……….</a:t>
            </a:r>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IN" dirty="0">
              <a:solidFill>
                <a:schemeClr val="tx1"/>
              </a:solidFill>
            </a:endParaRPr>
          </a:p>
        </p:txBody>
      </p:sp>
    </p:spTree>
    <p:extLst>
      <p:ext uri="{BB962C8B-B14F-4D97-AF65-F5344CB8AC3E}">
        <p14:creationId xmlns:p14="http://schemas.microsoft.com/office/powerpoint/2010/main" val="345862708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39"/>
          <p:cNvSpPr txBox="1">
            <a:spLocks noGrp="1"/>
          </p:cNvSpPr>
          <p:nvPr>
            <p:ph type="title" idx="4294967295"/>
          </p:nvPr>
        </p:nvSpPr>
        <p:spPr>
          <a:xfrm>
            <a:off x="0" y="0"/>
            <a:ext cx="8521700" cy="684213"/>
          </a:xfrm>
          <a:prstGeom prst="rect">
            <a:avLst/>
          </a:prstGeom>
          <a:noFill/>
          <a:ln>
            <a:noFill/>
          </a:ln>
        </p:spPr>
        <p:txBody>
          <a:bodyPr spcFirstLastPara="1" wrap="square" lIns="91425" tIns="91425" rIns="91425" bIns="91425" anchor="t" anchorCtr="0">
            <a:noAutofit/>
          </a:bodyPr>
          <a:lstStyle/>
          <a:p>
            <a:pPr>
              <a:buSzPct val="111111"/>
            </a:pPr>
            <a:r>
              <a:rPr lang="en-US" sz="20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Formulae to calculate Moments about the Mean:</a:t>
            </a:r>
            <a:br>
              <a:rPr lang="en-IN" sz="1800" dirty="0">
                <a:latin typeface="Times New Roman" panose="02020603050405020304" pitchFamily="18" charset="0"/>
                <a:cs typeface="Times New Roman" panose="02020603050405020304" pitchFamily="18" charset="0"/>
              </a:rPr>
            </a:br>
            <a:br>
              <a:rPr lang="en-IN" sz="3200"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br>
            <a:endParaRPr sz="3200"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79" name="Google Shape;379;p39"/>
              <p:cNvSpPr txBox="1">
                <a:spLocks noGrp="1"/>
              </p:cNvSpPr>
              <p:nvPr>
                <p:ph type="body" idx="4294967295"/>
              </p:nvPr>
            </p:nvSpPr>
            <p:spPr>
              <a:xfrm>
                <a:off x="258416" y="775252"/>
                <a:ext cx="8263283" cy="4309511"/>
              </a:xfrm>
              <a:prstGeom prst="rect">
                <a:avLst/>
              </a:prstGeom>
              <a:noFill/>
              <a:ln>
                <a:noFill/>
              </a:ln>
            </p:spPr>
            <p:txBody>
              <a:bodyPr spcFirstLastPara="1" wrap="square" lIns="91425" tIns="91425" rIns="91425" bIns="91425" anchor="t" anchorCtr="0">
                <a:normAutofit fontScale="47500" lnSpcReduction="20000"/>
              </a:bodyPr>
              <a:lstStyle/>
              <a:p>
                <a:pPr marL="0" lvl="0" indent="0">
                  <a:lnSpc>
                    <a:spcPct val="107000"/>
                  </a:lnSpc>
                  <a:spcAft>
                    <a:spcPts val="800"/>
                  </a:spcAft>
                  <a:buNone/>
                  <a:tabLst>
                    <a:tab pos="457200" algn="l"/>
                  </a:tabLst>
                </a:pPr>
                <a:endParaRPr lang="en-US" sz="26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lvl="0" indent="0">
                  <a:lnSpc>
                    <a:spcPct val="107000"/>
                  </a:lnSpc>
                  <a:spcAft>
                    <a:spcPts val="800"/>
                  </a:spcAft>
                  <a:buNone/>
                  <a:tabLst>
                    <a:tab pos="457200" algn="l"/>
                  </a:tabLst>
                </a:pPr>
                <a:r>
                  <a:rPr lang="en-US" sz="26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First Moment (about the mean)</a:t>
                </a:r>
                <a:r>
                  <a:rPr lang="en-US" sz="26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μ</a:t>
                </a:r>
                <a:r>
                  <a:rPr lang="en-US" sz="2600" kern="100" baseline="-25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a:t>
                </a:r>
                <a:r>
                  <a:rPr lang="en-US" sz="26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0 (since it's always zero)</a:t>
                </a:r>
              </a:p>
              <a:p>
                <a:pPr marL="0" lvl="0" indent="0">
                  <a:lnSpc>
                    <a:spcPct val="107000"/>
                  </a:lnSpc>
                  <a:spcAft>
                    <a:spcPts val="800"/>
                  </a:spcAft>
                  <a:buNone/>
                  <a:tabLst>
                    <a:tab pos="457200" algn="l"/>
                  </a:tabLst>
                </a:pPr>
                <a:endParaRPr lang="en-IN" sz="26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lvl="0" indent="0">
                  <a:lnSpc>
                    <a:spcPct val="107000"/>
                  </a:lnSpc>
                  <a:spcAft>
                    <a:spcPts val="800"/>
                  </a:spcAft>
                  <a:buNone/>
                  <a:tabLst>
                    <a:tab pos="457200" algn="l"/>
                  </a:tabLst>
                </a:pPr>
                <a:r>
                  <a:rPr lang="en-US" sz="26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Second Moment (about the mean)</a:t>
                </a:r>
                <a:r>
                  <a:rPr lang="en-US" sz="26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μ</a:t>
                </a:r>
                <a:r>
                  <a:rPr lang="en-US" sz="2600" kern="100" baseline="-25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a:t>
                </a:r>
                <a:r>
                  <a:rPr lang="en-US" sz="26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(variance) </a:t>
                </a:r>
                <a:endParaRPr lang="en-IN" sz="26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114300" indent="0">
                  <a:lnSpc>
                    <a:spcPct val="107000"/>
                  </a:lnSpc>
                  <a:spcAft>
                    <a:spcPts val="800"/>
                  </a:spcAft>
                  <a:buNone/>
                </a:pPr>
                <a14:m>
                  <m:oMathPara xmlns:m="http://schemas.openxmlformats.org/officeDocument/2006/math">
                    <m:oMathParaPr>
                      <m:jc m:val="centerGroup"/>
                    </m:oMathParaPr>
                    <m:oMath xmlns:m="http://schemas.openxmlformats.org/officeDocument/2006/math">
                      <m:sSub>
                        <m:sSubPr>
                          <m:ctrlPr>
                            <a:rPr lang="en-IN" sz="2600"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600"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𝜇</m:t>
                          </m:r>
                        </m:e>
                        <m:sub>
                          <m:r>
                            <a:rPr lang="en-US" sz="2600"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sub>
                      </m:sSub>
                      <m:r>
                        <a:rPr lang="en-US" sz="2600"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IN" sz="2600"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fPr>
                        <m:num>
                          <m:nary>
                            <m:naryPr>
                              <m:chr m:val="∑"/>
                              <m:limLoc m:val="undOvr"/>
                              <m:subHide m:val="on"/>
                              <m:supHide m:val="on"/>
                              <m:ctrlPr>
                                <a:rPr lang="en-IN" sz="2600"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naryPr>
                            <m:sub/>
                            <m:sup/>
                            <m:e>
                              <m:sSup>
                                <m:sSupPr>
                                  <m:ctrlPr>
                                    <a:rPr lang="en-IN" sz="2600"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2600"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𝑓</m:t>
                                  </m:r>
                                  <m:r>
                                    <a:rPr lang="en-US" sz="2600"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2600"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𝑥</m:t>
                                  </m:r>
                                  <m:r>
                                    <a:rPr lang="en-US" sz="2600"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IN" sz="2600"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2600"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𝑥</m:t>
                                      </m:r>
                                    </m:e>
                                  </m:acc>
                                  <m:r>
                                    <a:rPr lang="en-US" sz="2600"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e>
                                <m:sup>
                                  <m:r>
                                    <a:rPr lang="en-US" sz="2600"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sup>
                              </m:sSup>
                            </m:e>
                          </m:nary>
                        </m:num>
                        <m:den>
                          <m:r>
                            <a:rPr lang="en-US" sz="2600"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𝑁</m:t>
                          </m:r>
                        </m:den>
                      </m:f>
                    </m:oMath>
                  </m:oMathPara>
                </a14:m>
                <a:endParaRPr lang="en-IN" sz="26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lvl="0" indent="0">
                  <a:lnSpc>
                    <a:spcPct val="107000"/>
                  </a:lnSpc>
                  <a:spcAft>
                    <a:spcPts val="800"/>
                  </a:spcAft>
                  <a:buNone/>
                  <a:tabLst>
                    <a:tab pos="457200" algn="l"/>
                  </a:tabLst>
                </a:pPr>
                <a:r>
                  <a:rPr lang="en-US" sz="26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Third Moment (about the mean)</a:t>
                </a:r>
                <a:r>
                  <a:rPr lang="en-US" sz="26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μ</a:t>
                </a:r>
                <a:r>
                  <a:rPr lang="en-US" sz="2600" kern="100" baseline="-25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3</a:t>
                </a:r>
                <a:r>
                  <a:rPr lang="en-US" sz="26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(skewness) </a:t>
                </a:r>
                <a:endParaRPr lang="en-IN" sz="26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114300" indent="0">
                  <a:buNone/>
                </a:pPr>
                <a14:m>
                  <m:oMathPara xmlns:m="http://schemas.openxmlformats.org/officeDocument/2006/math">
                    <m:oMathParaPr>
                      <m:jc m:val="centerGroup"/>
                    </m:oMathParaPr>
                    <m:oMath xmlns:m="http://schemas.openxmlformats.org/officeDocument/2006/math">
                      <m:sSub>
                        <m:sSubPr>
                          <m:ctrlPr>
                            <a:rPr lang="en-IN" sz="2600" i="1">
                              <a:solidFill>
                                <a:schemeClr val="tx1"/>
                              </a:solidFill>
                              <a:effectLst/>
                              <a:latin typeface="Cambria Math" panose="02040503050406030204" pitchFamily="18" charset="0"/>
                              <a:ea typeface="Times New Roman" panose="02020603050405020304" pitchFamily="18" charset="0"/>
                            </a:rPr>
                          </m:ctrlPr>
                        </m:sSubPr>
                        <m:e>
                          <m:r>
                            <a:rPr lang="en-US" sz="2600" i="1">
                              <a:solidFill>
                                <a:schemeClr val="tx1"/>
                              </a:solidFill>
                              <a:effectLst/>
                              <a:latin typeface="Cambria Math" panose="02040503050406030204" pitchFamily="18" charset="0"/>
                              <a:ea typeface="Times New Roman" panose="02020603050405020304" pitchFamily="18" charset="0"/>
                            </a:rPr>
                            <m:t>𝜇</m:t>
                          </m:r>
                        </m:e>
                        <m:sub>
                          <m:r>
                            <a:rPr lang="en-US" sz="2600" i="1">
                              <a:solidFill>
                                <a:schemeClr val="tx1"/>
                              </a:solidFill>
                              <a:effectLst/>
                              <a:latin typeface="Cambria Math" panose="02040503050406030204" pitchFamily="18" charset="0"/>
                              <a:ea typeface="Times New Roman" panose="02020603050405020304" pitchFamily="18" charset="0"/>
                            </a:rPr>
                            <m:t>3</m:t>
                          </m:r>
                        </m:sub>
                      </m:sSub>
                      <m:r>
                        <a:rPr lang="en-US" sz="2600" i="1">
                          <a:solidFill>
                            <a:schemeClr val="tx1"/>
                          </a:solidFill>
                          <a:effectLst/>
                          <a:latin typeface="Cambria Math" panose="02040503050406030204" pitchFamily="18" charset="0"/>
                          <a:ea typeface="Times New Roman" panose="02020603050405020304" pitchFamily="18" charset="0"/>
                        </a:rPr>
                        <m:t>=</m:t>
                      </m:r>
                      <m:f>
                        <m:fPr>
                          <m:ctrlPr>
                            <a:rPr lang="en-IN" sz="2600" i="1">
                              <a:solidFill>
                                <a:schemeClr val="tx1"/>
                              </a:solidFill>
                              <a:effectLst/>
                              <a:latin typeface="Cambria Math" panose="02040503050406030204" pitchFamily="18" charset="0"/>
                              <a:ea typeface="Times New Roman" panose="02020603050405020304" pitchFamily="18" charset="0"/>
                            </a:rPr>
                          </m:ctrlPr>
                        </m:fPr>
                        <m:num>
                          <m:nary>
                            <m:naryPr>
                              <m:chr m:val="∑"/>
                              <m:limLoc m:val="undOvr"/>
                              <m:subHide m:val="on"/>
                              <m:supHide m:val="on"/>
                              <m:ctrlPr>
                                <a:rPr lang="en-IN" sz="2600" i="1">
                                  <a:solidFill>
                                    <a:schemeClr val="tx1"/>
                                  </a:solidFill>
                                  <a:effectLst/>
                                  <a:latin typeface="Cambria Math" panose="02040503050406030204" pitchFamily="18" charset="0"/>
                                  <a:ea typeface="Times New Roman" panose="02020603050405020304" pitchFamily="18" charset="0"/>
                                </a:rPr>
                              </m:ctrlPr>
                            </m:naryPr>
                            <m:sub/>
                            <m:sup/>
                            <m:e>
                              <m:sSup>
                                <m:sSupPr>
                                  <m:ctrlPr>
                                    <a:rPr lang="en-IN" sz="2600" i="1">
                                      <a:solidFill>
                                        <a:schemeClr val="tx1"/>
                                      </a:solidFill>
                                      <a:effectLst/>
                                      <a:latin typeface="Cambria Math" panose="02040503050406030204" pitchFamily="18" charset="0"/>
                                      <a:ea typeface="Times New Roman" panose="02020603050405020304" pitchFamily="18" charset="0"/>
                                    </a:rPr>
                                  </m:ctrlPr>
                                </m:sSupPr>
                                <m:e>
                                  <m:r>
                                    <a:rPr lang="en-US" sz="2600" i="1">
                                      <a:solidFill>
                                        <a:schemeClr val="tx1"/>
                                      </a:solidFill>
                                      <a:effectLst/>
                                      <a:latin typeface="Cambria Math" panose="02040503050406030204" pitchFamily="18" charset="0"/>
                                      <a:ea typeface="Times New Roman" panose="02020603050405020304" pitchFamily="18" charset="0"/>
                                    </a:rPr>
                                    <m:t>𝑓</m:t>
                                  </m:r>
                                  <m:r>
                                    <a:rPr lang="en-US" sz="2600" i="1">
                                      <a:solidFill>
                                        <a:schemeClr val="tx1"/>
                                      </a:solidFill>
                                      <a:effectLst/>
                                      <a:latin typeface="Cambria Math" panose="02040503050406030204" pitchFamily="18" charset="0"/>
                                      <a:ea typeface="Times New Roman" panose="02020603050405020304" pitchFamily="18" charset="0"/>
                                    </a:rPr>
                                    <m:t>(</m:t>
                                  </m:r>
                                  <m:r>
                                    <a:rPr lang="en-US" sz="2600" i="1">
                                      <a:solidFill>
                                        <a:schemeClr val="tx1"/>
                                      </a:solidFill>
                                      <a:effectLst/>
                                      <a:latin typeface="Cambria Math" panose="02040503050406030204" pitchFamily="18" charset="0"/>
                                      <a:ea typeface="Times New Roman" panose="02020603050405020304" pitchFamily="18" charset="0"/>
                                    </a:rPr>
                                    <m:t>𝑥</m:t>
                                  </m:r>
                                  <m:r>
                                    <a:rPr lang="en-US" sz="2600" i="1">
                                      <a:solidFill>
                                        <a:schemeClr val="tx1"/>
                                      </a:solidFill>
                                      <a:effectLst/>
                                      <a:latin typeface="Cambria Math" panose="02040503050406030204" pitchFamily="18" charset="0"/>
                                      <a:ea typeface="Times New Roman" panose="02020603050405020304" pitchFamily="18" charset="0"/>
                                    </a:rPr>
                                    <m:t>−</m:t>
                                  </m:r>
                                  <m:acc>
                                    <m:accPr>
                                      <m:chr m:val="̅"/>
                                      <m:ctrlPr>
                                        <a:rPr lang="en-IN" sz="2600" i="1">
                                          <a:solidFill>
                                            <a:schemeClr val="tx1"/>
                                          </a:solidFill>
                                          <a:effectLst/>
                                          <a:latin typeface="Cambria Math" panose="02040503050406030204" pitchFamily="18" charset="0"/>
                                          <a:ea typeface="Times New Roman" panose="02020603050405020304" pitchFamily="18" charset="0"/>
                                        </a:rPr>
                                      </m:ctrlPr>
                                    </m:accPr>
                                    <m:e>
                                      <m:r>
                                        <a:rPr lang="en-US" sz="2600" i="1">
                                          <a:solidFill>
                                            <a:schemeClr val="tx1"/>
                                          </a:solidFill>
                                          <a:effectLst/>
                                          <a:latin typeface="Cambria Math" panose="02040503050406030204" pitchFamily="18" charset="0"/>
                                          <a:ea typeface="Times New Roman" panose="02020603050405020304" pitchFamily="18" charset="0"/>
                                        </a:rPr>
                                        <m:t>𝑥</m:t>
                                      </m:r>
                                    </m:e>
                                  </m:acc>
                                  <m:r>
                                    <a:rPr lang="en-US" sz="2600" i="1">
                                      <a:solidFill>
                                        <a:schemeClr val="tx1"/>
                                      </a:solidFill>
                                      <a:effectLst/>
                                      <a:latin typeface="Cambria Math" panose="02040503050406030204" pitchFamily="18" charset="0"/>
                                      <a:ea typeface="Times New Roman" panose="02020603050405020304" pitchFamily="18" charset="0"/>
                                    </a:rPr>
                                    <m:t>)</m:t>
                                  </m:r>
                                </m:e>
                                <m:sup>
                                  <m:r>
                                    <a:rPr lang="en-US" sz="2600" i="1">
                                      <a:solidFill>
                                        <a:schemeClr val="tx1"/>
                                      </a:solidFill>
                                      <a:effectLst/>
                                      <a:latin typeface="Cambria Math" panose="02040503050406030204" pitchFamily="18" charset="0"/>
                                      <a:ea typeface="Times New Roman" panose="02020603050405020304" pitchFamily="18" charset="0"/>
                                    </a:rPr>
                                    <m:t>3</m:t>
                                  </m:r>
                                </m:sup>
                              </m:sSup>
                            </m:e>
                          </m:nary>
                        </m:num>
                        <m:den>
                          <m:r>
                            <a:rPr lang="en-US" sz="2600" i="1">
                              <a:solidFill>
                                <a:schemeClr val="tx1"/>
                              </a:solidFill>
                              <a:effectLst/>
                              <a:latin typeface="Cambria Math" panose="02040503050406030204" pitchFamily="18" charset="0"/>
                              <a:ea typeface="Times New Roman" panose="02020603050405020304" pitchFamily="18" charset="0"/>
                            </a:rPr>
                            <m:t>𝑁</m:t>
                          </m:r>
                        </m:den>
                      </m:f>
                    </m:oMath>
                  </m:oMathPara>
                </a14:m>
                <a:endParaRPr lang="en-IN" sz="2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114300" indent="0">
                  <a:buNone/>
                </a:pPr>
                <a:r>
                  <a:rPr lang="en-US" sz="2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a:lnSpc>
                    <a:spcPct val="107000"/>
                  </a:lnSpc>
                  <a:spcAft>
                    <a:spcPts val="800"/>
                  </a:spcAft>
                  <a:buNone/>
                  <a:tabLst>
                    <a:tab pos="457200" algn="l"/>
                  </a:tabLst>
                </a:pPr>
                <a:r>
                  <a:rPr lang="en-US" sz="26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Fourth Moment (about the mean)</a:t>
                </a:r>
                <a:r>
                  <a:rPr lang="en-US" sz="26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μ</a:t>
                </a:r>
                <a:r>
                  <a:rPr lang="en-US" sz="2600" kern="100" baseline="-25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4 </a:t>
                </a:r>
                <a:r>
                  <a:rPr lang="en-US" sz="26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(kurtosis)</a:t>
                </a:r>
                <a:endParaRPr lang="en-IN" sz="26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14:m>
                  <m:oMathPara xmlns:m="http://schemas.openxmlformats.org/officeDocument/2006/math">
                    <m:oMathParaPr>
                      <m:jc m:val="centerGroup"/>
                    </m:oMathParaPr>
                    <m:oMath xmlns:m="http://schemas.openxmlformats.org/officeDocument/2006/math">
                      <m:sSub>
                        <m:sSubPr>
                          <m:ctrlPr>
                            <a:rPr lang="en-IN" sz="2600"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600"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𝜇</m:t>
                          </m:r>
                        </m:e>
                        <m:sub>
                          <m:r>
                            <a:rPr lang="en-US" sz="2600"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4</m:t>
                          </m:r>
                        </m:sub>
                      </m:sSub>
                      <m:r>
                        <a:rPr lang="en-US" sz="2600"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IN" sz="2600"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fPr>
                        <m:num>
                          <m:nary>
                            <m:naryPr>
                              <m:chr m:val="∑"/>
                              <m:limLoc m:val="undOvr"/>
                              <m:subHide m:val="on"/>
                              <m:supHide m:val="on"/>
                              <m:ctrlPr>
                                <a:rPr lang="en-IN" sz="2600"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naryPr>
                            <m:sub/>
                            <m:sup/>
                            <m:e>
                              <m:sSup>
                                <m:sSupPr>
                                  <m:ctrlPr>
                                    <a:rPr lang="en-IN" sz="2600"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2600"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𝑓</m:t>
                                  </m:r>
                                  <m:r>
                                    <a:rPr lang="en-US" sz="2600"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2600"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𝑥</m:t>
                                  </m:r>
                                  <m:r>
                                    <a:rPr lang="en-US" sz="2600"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IN" sz="2600"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2600"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𝑥</m:t>
                                      </m:r>
                                    </m:e>
                                  </m:acc>
                                  <m:r>
                                    <a:rPr lang="en-US" sz="2600"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e>
                                <m:sup>
                                  <m:r>
                                    <a:rPr lang="en-US" sz="2600"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4</m:t>
                                  </m:r>
                                </m:sup>
                              </m:sSup>
                            </m:e>
                          </m:nary>
                        </m:num>
                        <m:den>
                          <m:r>
                            <a:rPr lang="en-US" sz="2600"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𝑁</m:t>
                          </m:r>
                        </m:den>
                      </m:f>
                    </m:oMath>
                  </m:oMathPara>
                </a14:m>
                <a:endParaRPr lang="en-IN" sz="26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p:txBody>
          </p:sp>
        </mc:Choice>
        <mc:Fallback xmlns="">
          <p:sp>
            <p:nvSpPr>
              <p:cNvPr id="379" name="Google Shape;379;p39"/>
              <p:cNvSpPr txBox="1">
                <a:spLocks noGrp="1" noRot="1" noChangeAspect="1" noMove="1" noResize="1" noEditPoints="1" noAdjustHandles="1" noChangeArrowheads="1" noChangeShapeType="1" noTextEdit="1"/>
              </p:cNvSpPr>
              <p:nvPr>
                <p:ph type="body" idx="4294967295"/>
              </p:nvPr>
            </p:nvSpPr>
            <p:spPr>
              <a:xfrm>
                <a:off x="258416" y="775252"/>
                <a:ext cx="8263283" cy="4309511"/>
              </a:xfrm>
              <a:prstGeom prst="rect">
                <a:avLst/>
              </a:prstGeom>
              <a:blipFill>
                <a:blip r:embed="rId3"/>
                <a:stretch>
                  <a:fillRect/>
                </a:stretch>
              </a:blipFill>
              <a:ln>
                <a:noFill/>
              </a:ln>
            </p:spPr>
            <p:txBody>
              <a:bodyPr/>
              <a:lstStyle/>
              <a:p>
                <a:r>
                  <a:rPr lang="en-IN">
                    <a:noFill/>
                  </a:rPr>
                  <a:t> </a:t>
                </a:r>
              </a:p>
            </p:txBody>
          </p:sp>
        </mc:Fallback>
      </mc:AlternateContent>
    </p:spTree>
    <p:extLst>
      <p:ext uri="{BB962C8B-B14F-4D97-AF65-F5344CB8AC3E}">
        <p14:creationId xmlns:p14="http://schemas.microsoft.com/office/powerpoint/2010/main" val="20002343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40"/>
          <p:cNvSpPr txBox="1">
            <a:spLocks noGrp="1"/>
          </p:cNvSpPr>
          <p:nvPr>
            <p:ph type="title"/>
          </p:nvPr>
        </p:nvSpPr>
        <p:spPr>
          <a:xfrm>
            <a:off x="311700" y="0"/>
            <a:ext cx="8520600" cy="728545"/>
          </a:xfrm>
          <a:prstGeom prst="rect">
            <a:avLst/>
          </a:prstGeom>
          <a:noFill/>
          <a:ln>
            <a:noFill/>
          </a:ln>
        </p:spPr>
        <p:txBody>
          <a:bodyPr spcFirstLastPara="1" wrap="square" lIns="91425" tIns="91425" rIns="91425" bIns="91425" anchor="t" anchorCtr="0">
            <a:noAutofit/>
          </a:bodyPr>
          <a:lstStyle/>
          <a:p>
            <a:pPr>
              <a:buSzPct val="111111"/>
            </a:pPr>
            <a:r>
              <a:rPr lang="en-US" sz="32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The Coefficient of kurtosis:</a:t>
            </a:r>
            <a:br>
              <a:rPr lang="en-US" sz="32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br>
            <a:br>
              <a:rPr lang="en-IN" sz="3200" kern="100" dirty="0">
                <a:solidFill>
                  <a:srgbClr val="B044F2"/>
                </a:solidFill>
                <a:effectLst/>
                <a:latin typeface="Calibri" panose="020F0502020204030204" pitchFamily="34" charset="0"/>
                <a:ea typeface="Calibri" panose="020F0502020204030204" pitchFamily="34" charset="0"/>
                <a:cs typeface="Times New Roman" panose="02020603050405020304" pitchFamily="18" charset="0"/>
              </a:rPr>
            </a:br>
            <a:endParaRPr sz="3200" dirty="0">
              <a:solidFill>
                <a:srgbClr val="B044F2"/>
              </a:solidFill>
            </a:endParaRPr>
          </a:p>
        </p:txBody>
      </p:sp>
      <mc:AlternateContent xmlns:mc="http://schemas.openxmlformats.org/markup-compatibility/2006" xmlns:a14="http://schemas.microsoft.com/office/drawing/2010/main">
        <mc:Choice Requires="a14">
          <p:sp>
            <p:nvSpPr>
              <p:cNvPr id="385" name="Google Shape;385;p40"/>
              <p:cNvSpPr txBox="1">
                <a:spLocks noGrp="1"/>
              </p:cNvSpPr>
              <p:nvPr>
                <p:ph type="body" idx="1"/>
              </p:nvPr>
            </p:nvSpPr>
            <p:spPr>
              <a:xfrm>
                <a:off x="311700" y="619215"/>
                <a:ext cx="8520600" cy="4720683"/>
              </a:xfrm>
              <a:prstGeom prst="rect">
                <a:avLst/>
              </a:prstGeom>
              <a:noFill/>
              <a:ln>
                <a:noFill/>
              </a:ln>
            </p:spPr>
            <p:txBody>
              <a:bodyPr spcFirstLastPara="1" wrap="square" lIns="91425" tIns="91425" rIns="91425" bIns="91425" anchor="t" anchorCtr="0">
                <a:normAutofit fontScale="32500" lnSpcReduction="20000"/>
              </a:bodyPr>
              <a:lstStyle/>
              <a:p>
                <a:pPr marL="0" indent="0">
                  <a:lnSpc>
                    <a:spcPct val="107000"/>
                  </a:lnSpc>
                  <a:spcAft>
                    <a:spcPts val="800"/>
                  </a:spcAft>
                  <a:buNone/>
                </a:pPr>
                <a:r>
                  <a:rPr lang="en-US" sz="55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To calculate </a:t>
                </a:r>
                <a:r>
                  <a:rPr lang="en-US" sz="55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β1 (Beta 1)</a:t>
                </a:r>
                <a:r>
                  <a:rPr lang="en-US" sz="55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and </a:t>
                </a:r>
                <a:r>
                  <a:rPr lang="en-US" sz="55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β2 (Beta 2)</a:t>
                </a:r>
                <a:r>
                  <a:rPr lang="en-US" sz="55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for grouped data using a tabular form, we need to first understand what these measures represent:</a:t>
                </a:r>
                <a:endParaRPr lang="en-IN" sz="55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lvl="0" indent="0">
                  <a:lnSpc>
                    <a:spcPct val="107000"/>
                  </a:lnSpc>
                  <a:spcAft>
                    <a:spcPts val="800"/>
                  </a:spcAft>
                  <a:buSzPts val="1000"/>
                  <a:buNone/>
                  <a:tabLst>
                    <a:tab pos="457200" algn="l"/>
                  </a:tabLst>
                </a:pPr>
                <a:r>
                  <a:rPr lang="en-US" sz="55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β1</a:t>
                </a:r>
                <a:r>
                  <a:rPr lang="en-US" sz="55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5500" dirty="0">
                    <a:solidFill>
                      <a:schemeClr val="tx1"/>
                    </a:solidFill>
                    <a:latin typeface="Times New Roman" panose="02020603050405020304" pitchFamily="18" charset="0"/>
                    <a:cs typeface="Times New Roman" panose="02020603050405020304" pitchFamily="18" charset="0"/>
                  </a:rPr>
                  <a:t>used as measure of skewness </a:t>
                </a:r>
                <a:r>
                  <a:rPr lang="en-US" sz="55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of the distribution.</a:t>
                </a:r>
                <a:endParaRPr lang="en-IN" sz="55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lvl="0" indent="0">
                  <a:lnSpc>
                    <a:spcPct val="107000"/>
                  </a:lnSpc>
                  <a:spcAft>
                    <a:spcPts val="800"/>
                  </a:spcAft>
                  <a:buSzPts val="1000"/>
                  <a:buNone/>
                  <a:tabLst>
                    <a:tab pos="457200" algn="l"/>
                  </a:tabLst>
                </a:pPr>
                <a:r>
                  <a:rPr lang="en-US" sz="55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β2</a:t>
                </a:r>
                <a:r>
                  <a:rPr lang="en-US" sz="55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5500" dirty="0">
                    <a:solidFill>
                      <a:schemeClr val="tx1"/>
                    </a:solidFill>
                    <a:latin typeface="Times New Roman" panose="02020603050405020304" pitchFamily="18" charset="0"/>
                    <a:cs typeface="Times New Roman" panose="02020603050405020304" pitchFamily="18" charset="0"/>
                  </a:rPr>
                  <a:t>measures kurtosis </a:t>
                </a:r>
                <a:r>
                  <a:rPr lang="en-US" sz="55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(the "</a:t>
                </a:r>
                <a:r>
                  <a:rPr lang="en-US" sz="550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tailedness</a:t>
                </a:r>
                <a:r>
                  <a:rPr lang="en-US" sz="55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of the distribution).</a:t>
                </a:r>
                <a:endParaRPr lang="en-IN" sz="55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55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Formula:</a:t>
                </a:r>
                <a:endParaRPr lang="en-IN" sz="55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lvl="0" indent="0">
                  <a:lnSpc>
                    <a:spcPct val="107000"/>
                  </a:lnSpc>
                  <a:spcAft>
                    <a:spcPts val="800"/>
                  </a:spcAft>
                  <a:buNone/>
                  <a:tabLst>
                    <a:tab pos="457200" algn="l"/>
                  </a:tabLst>
                </a:pPr>
                <a:r>
                  <a:rPr lang="en-IN" sz="55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sSub>
                      <m:sSubPr>
                        <m:ctrlPr>
                          <a:rPr lang="en-IN" sz="5500"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5500"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𝜷</m:t>
                        </m:r>
                      </m:e>
                      <m:sub>
                        <m:r>
                          <a:rPr lang="en-US" sz="5500"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𝟏</m:t>
                        </m:r>
                      </m:sub>
                    </m:sSub>
                    <m:r>
                      <a:rPr lang="en-US" sz="5500"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IN" sz="5500"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en-IN" sz="5500"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pPr>
                          <m:e>
                            <m:sSub>
                              <m:sSubPr>
                                <m:ctrlPr>
                                  <a:rPr lang="en-IN" sz="5500"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5500"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𝝁</m:t>
                                </m:r>
                              </m:e>
                              <m:sub>
                                <m:r>
                                  <a:rPr lang="en-US" sz="5500"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𝟑</m:t>
                                </m:r>
                              </m:sub>
                            </m:sSub>
                          </m:e>
                          <m:sup>
                            <m:r>
                              <a:rPr lang="en-US" sz="5500"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𝟐</m:t>
                            </m:r>
                          </m:sup>
                        </m:sSup>
                      </m:num>
                      <m:den>
                        <m:sSup>
                          <m:sSupPr>
                            <m:ctrlPr>
                              <a:rPr lang="en-IN" sz="5500"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pPr>
                          <m:e>
                            <m:sSub>
                              <m:sSubPr>
                                <m:ctrlPr>
                                  <a:rPr lang="en-IN" sz="5500"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5500"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𝝁</m:t>
                                </m:r>
                              </m:e>
                              <m:sub>
                                <m:r>
                                  <a:rPr lang="en-US" sz="5500"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𝟐</m:t>
                                </m:r>
                              </m:sub>
                            </m:sSub>
                          </m:e>
                          <m:sup>
                            <m:r>
                              <a:rPr lang="en-US" sz="5500"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𝟑</m:t>
                            </m:r>
                          </m:sup>
                        </m:sSup>
                      </m:den>
                    </m:f>
                  </m:oMath>
                </a14:m>
                <a:endParaRPr lang="en-IN" sz="55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571500" indent="0">
                  <a:lnSpc>
                    <a:spcPct val="107000"/>
                  </a:lnSpc>
                  <a:spcAft>
                    <a:spcPts val="800"/>
                  </a:spcAft>
                  <a:buNone/>
                </a:pPr>
                <a:r>
                  <a:rPr lang="en-US" sz="55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Where :   μ</a:t>
                </a:r>
                <a:r>
                  <a:rPr lang="en-US" sz="5500" kern="100" baseline="-25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a:t>
                </a:r>
                <a:r>
                  <a:rPr lang="en-US" sz="55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is the second central moment (variance).</a:t>
                </a:r>
                <a:endParaRPr lang="en-IN" sz="55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571500" indent="0">
                  <a:lnSpc>
                    <a:spcPct val="107000"/>
                  </a:lnSpc>
                  <a:spcAft>
                    <a:spcPts val="800"/>
                  </a:spcAft>
                  <a:buNone/>
                </a:pPr>
                <a:r>
                  <a:rPr lang="en-US" sz="55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μ</a:t>
                </a:r>
                <a:r>
                  <a:rPr lang="en-US" sz="5500" kern="100" baseline="-25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3</a:t>
                </a:r>
                <a:r>
                  <a:rPr lang="en-US" sz="55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is the third central moment (used to measure skewness).</a:t>
                </a:r>
                <a:r>
                  <a:rPr lang="en-IN" sz="55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a:t>
                </a:r>
              </a:p>
              <a:p>
                <a:pPr marL="571500" indent="0">
                  <a:lnSpc>
                    <a:spcPct val="107000"/>
                  </a:lnSpc>
                  <a:spcAft>
                    <a:spcPts val="800"/>
                  </a:spcAft>
                  <a:buNone/>
                </a:pPr>
                <a:r>
                  <a:rPr lang="en-IN" sz="55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sSub>
                      <m:sSubPr>
                        <m:ctrlPr>
                          <a:rPr lang="en-IN" sz="5500"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5500"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𝜷</m:t>
                        </m:r>
                      </m:e>
                      <m:sub>
                        <m:r>
                          <a:rPr lang="en-US" sz="5500"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𝟐</m:t>
                        </m:r>
                      </m:sub>
                    </m:sSub>
                    <m:r>
                      <a:rPr lang="en-US" sz="5500"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IN" sz="5500"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IN" sz="5500"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5500"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𝝁</m:t>
                            </m:r>
                          </m:e>
                          <m:sub>
                            <m:r>
                              <a:rPr lang="en-US" sz="5500"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𝟒</m:t>
                            </m:r>
                          </m:sub>
                        </m:sSub>
                      </m:num>
                      <m:den>
                        <m:sSup>
                          <m:sSupPr>
                            <m:ctrlPr>
                              <a:rPr lang="en-IN" sz="5500"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pPr>
                          <m:e>
                            <m:sSub>
                              <m:sSubPr>
                                <m:ctrlPr>
                                  <a:rPr lang="en-IN" sz="5500"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5500"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𝝁</m:t>
                                </m:r>
                              </m:e>
                              <m:sub>
                                <m:r>
                                  <a:rPr lang="en-US" sz="5500"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𝟐</m:t>
                                </m:r>
                              </m:sub>
                            </m:sSub>
                          </m:e>
                          <m:sup>
                            <m:r>
                              <a:rPr lang="en-US" sz="5500" b="1"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𝟐</m:t>
                            </m:r>
                          </m:sup>
                        </m:sSup>
                      </m:den>
                    </m:f>
                  </m:oMath>
                </a14:m>
                <a:endParaRPr lang="en-IN" sz="55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571500" indent="0">
                  <a:lnSpc>
                    <a:spcPct val="107000"/>
                  </a:lnSpc>
                  <a:spcAft>
                    <a:spcPts val="800"/>
                  </a:spcAft>
                  <a:buNone/>
                </a:pPr>
                <a:r>
                  <a:rPr lang="en-US" sz="55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Where: μ</a:t>
                </a:r>
                <a:r>
                  <a:rPr lang="en-US" sz="5500" kern="100" baseline="-25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a:t>
                </a:r>
                <a:r>
                  <a:rPr lang="en-US" sz="55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is the second central moment.</a:t>
                </a:r>
                <a:endParaRPr lang="en-IN" sz="55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571500" indent="0">
                  <a:lnSpc>
                    <a:spcPct val="107000"/>
                  </a:lnSpc>
                  <a:spcAft>
                    <a:spcPts val="800"/>
                  </a:spcAft>
                  <a:buNone/>
                </a:pPr>
                <a:r>
                  <a:rPr lang="en-US" sz="55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μ</a:t>
                </a:r>
                <a:r>
                  <a:rPr lang="en-US" sz="5500" kern="100" baseline="-25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4</a:t>
                </a:r>
                <a:r>
                  <a:rPr lang="en-US" sz="55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is the fourth central moment (used to measure kurtosis).</a:t>
                </a:r>
                <a:endParaRPr lang="en-IN" sz="55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endParaRPr lang="en-IN" sz="4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lvl="0" indent="0" algn="l" rtl="0">
                  <a:lnSpc>
                    <a:spcPct val="115000"/>
                  </a:lnSpc>
                  <a:spcBef>
                    <a:spcPts val="0"/>
                  </a:spcBef>
                  <a:spcAft>
                    <a:spcPts val="1200"/>
                  </a:spcAft>
                  <a:buSzPts val="1800"/>
                  <a:buNone/>
                </a:pPr>
                <a:endParaRPr dirty="0"/>
              </a:p>
            </p:txBody>
          </p:sp>
        </mc:Choice>
        <mc:Fallback xmlns="">
          <p:sp>
            <p:nvSpPr>
              <p:cNvPr id="385" name="Google Shape;385;p40"/>
              <p:cNvSpPr txBox="1">
                <a:spLocks noGrp="1" noRot="1" noChangeAspect="1" noMove="1" noResize="1" noEditPoints="1" noAdjustHandles="1" noChangeArrowheads="1" noChangeShapeType="1" noTextEdit="1"/>
              </p:cNvSpPr>
              <p:nvPr>
                <p:ph type="body" idx="1"/>
              </p:nvPr>
            </p:nvSpPr>
            <p:spPr>
              <a:xfrm>
                <a:off x="311700" y="619215"/>
                <a:ext cx="8520600" cy="4720683"/>
              </a:xfrm>
              <a:prstGeom prst="rect">
                <a:avLst/>
              </a:prstGeom>
              <a:blipFill>
                <a:blip r:embed="rId3"/>
                <a:stretch>
                  <a:fillRect l="-572" t="-517" r="-930"/>
                </a:stretch>
              </a:blipFill>
              <a:ln>
                <a:noFill/>
              </a:ln>
            </p:spPr>
            <p:txBody>
              <a:bodyPr/>
              <a:lstStyle/>
              <a:p>
                <a:r>
                  <a:rPr lang="en-IN">
                    <a:noFill/>
                  </a:rPr>
                  <a:t> </a:t>
                </a:r>
              </a:p>
            </p:txBody>
          </p:sp>
        </mc:Fallback>
      </mc:AlternateContent>
    </p:spTree>
    <p:extLst>
      <p:ext uri="{BB962C8B-B14F-4D97-AF65-F5344CB8AC3E}">
        <p14:creationId xmlns:p14="http://schemas.microsoft.com/office/powerpoint/2010/main" val="185973085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C8EAE24-CA12-EA75-A139-43B830020217}"/>
                  </a:ext>
                </a:extLst>
              </p:cNvPr>
              <p:cNvSpPr txBox="1"/>
              <p:nvPr/>
            </p:nvSpPr>
            <p:spPr>
              <a:xfrm>
                <a:off x="318051" y="69575"/>
                <a:ext cx="7911547" cy="2912977"/>
              </a:xfrm>
              <a:prstGeom prst="rect">
                <a:avLst/>
              </a:prstGeom>
              <a:noFill/>
            </p:spPr>
            <p:txBody>
              <a:bodyPr wrap="square">
                <a:spAutoFit/>
              </a:bodyPr>
              <a:lstStyle/>
              <a:p>
                <a:pPr marL="228600">
                  <a:lnSpc>
                    <a:spcPct val="107000"/>
                  </a:lnSpc>
                  <a:spcAft>
                    <a:spcPts val="800"/>
                  </a:spcAft>
                </a:pPr>
                <a:r>
                  <a:rPr lang="en-US" sz="28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Steps to Calculate β</a:t>
                </a:r>
                <a:r>
                  <a:rPr lang="en-US" sz="2800" b="1" kern="100" baseline="-250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1</a:t>
                </a:r>
                <a:r>
                  <a:rPr lang="en-US" sz="28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and β</a:t>
                </a:r>
                <a:r>
                  <a:rPr lang="en-US" sz="2800" b="1" kern="100" baseline="-250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2</a:t>
                </a:r>
                <a:r>
                  <a:rPr lang="en-US" sz="28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IN" sz="28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Calculate the Mean.</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Calculate the Deviations (</a:t>
                </a:r>
                <a14:m>
                  <m:oMath xmlns:m="http://schemas.openxmlformats.org/officeDocument/2006/math">
                    <m:r>
                      <a:rPr lang="en-US" sz="2400" b="0" i="1" kern="100" smtClean="0">
                        <a:effectLst/>
                        <a:latin typeface="Cambria Math" panose="02040503050406030204" pitchFamily="18" charset="0"/>
                        <a:ea typeface="Calibri" panose="020F0502020204030204" pitchFamily="34" charset="0"/>
                        <a:cs typeface="Times New Roman" panose="02020603050405020304" pitchFamily="18" charset="0"/>
                      </a:rPr>
                      <m:t>𝑥</m:t>
                    </m:r>
                    <m:r>
                      <a:rPr lang="en-US" sz="2400" b="0" i="1" kern="100" smtClean="0">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IN" sz="2400" i="1" kern="100">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2400" b="0" i="1" kern="100" smtClean="0">
                            <a:effectLst/>
                            <a:latin typeface="Cambria Math" panose="02040503050406030204" pitchFamily="18" charset="0"/>
                            <a:ea typeface="Calibri" panose="020F0502020204030204" pitchFamily="34" charset="0"/>
                            <a:cs typeface="Times New Roman" panose="02020603050405020304" pitchFamily="18" charset="0"/>
                          </a:rPr>
                          <m:t>𝑥</m:t>
                        </m:r>
                      </m:e>
                    </m:acc>
                  </m:oMath>
                </a14:m>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Calculate the Second, Third, and Fourth Central Moments: μ</a:t>
                </a:r>
                <a:r>
                  <a:rPr lang="en-US" sz="2400" kern="100" baseline="-25000" dirty="0">
                    <a:effectLst/>
                    <a:latin typeface="Times New Roman" panose="02020603050405020304" pitchFamily="18" charset="0"/>
                    <a:ea typeface="Calibri" panose="020F0502020204030204" pitchFamily="34" charset="0"/>
                    <a:cs typeface="Times New Roman" panose="02020603050405020304" pitchFamily="18" charset="0"/>
                  </a:rPr>
                  <a:t>2</a:t>
                </a: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 μ</a:t>
                </a:r>
                <a:r>
                  <a:rPr lang="en-US" sz="2400" kern="100" baseline="-25000" dirty="0">
                    <a:effectLst/>
                    <a:latin typeface="Times New Roman" panose="02020603050405020304" pitchFamily="18" charset="0"/>
                    <a:ea typeface="Calibri" panose="020F0502020204030204" pitchFamily="34" charset="0"/>
                    <a:cs typeface="Times New Roman" panose="02020603050405020304" pitchFamily="18" charset="0"/>
                  </a:rPr>
                  <a:t>3</a:t>
                </a: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 μ</a:t>
                </a:r>
                <a:r>
                  <a:rPr lang="en-US" sz="2400" kern="100" baseline="-25000" dirty="0">
                    <a:effectLst/>
                    <a:latin typeface="Times New Roman" panose="02020603050405020304" pitchFamily="18" charset="0"/>
                    <a:ea typeface="Calibri" panose="020F0502020204030204" pitchFamily="34" charset="0"/>
                    <a:cs typeface="Times New Roman" panose="02020603050405020304" pitchFamily="18" charset="0"/>
                  </a:rPr>
                  <a:t>4</a:t>
                </a: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Calculate β</a:t>
                </a:r>
                <a:r>
                  <a:rPr lang="en-US" sz="2400" kern="100" baseline="-25000" dirty="0">
                    <a:effectLst/>
                    <a:latin typeface="Times New Roman" panose="02020603050405020304" pitchFamily="18" charset="0"/>
                    <a:ea typeface="Calibri" panose="020F0502020204030204" pitchFamily="34" charset="0"/>
                    <a:cs typeface="Times New Roman" panose="02020603050405020304" pitchFamily="18" charset="0"/>
                  </a:rPr>
                  <a:t>1</a:t>
                </a: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 and β</a:t>
                </a:r>
                <a:r>
                  <a:rPr lang="en-US" sz="2400" kern="100" baseline="-25000" dirty="0">
                    <a:effectLst/>
                    <a:latin typeface="Times New Roman" panose="02020603050405020304" pitchFamily="18" charset="0"/>
                    <a:ea typeface="Calibri" panose="020F0502020204030204" pitchFamily="34" charset="0"/>
                    <a:cs typeface="Times New Roman" panose="02020603050405020304" pitchFamily="18" charset="0"/>
                  </a:rPr>
                  <a:t>2</a:t>
                </a: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mc:Choice>
        <mc:Fallback xmlns="">
          <p:sp>
            <p:nvSpPr>
              <p:cNvPr id="3" name="TextBox 2">
                <a:extLst>
                  <a:ext uri="{FF2B5EF4-FFF2-40B4-BE49-F238E27FC236}">
                    <a16:creationId xmlns:a16="http://schemas.microsoft.com/office/drawing/2014/main" id="{8C8EAE24-CA12-EA75-A139-43B830020217}"/>
                  </a:ext>
                </a:extLst>
              </p:cNvPr>
              <p:cNvSpPr txBox="1">
                <a:spLocks noRot="1" noChangeAspect="1" noMove="1" noResize="1" noEditPoints="1" noAdjustHandles="1" noChangeArrowheads="1" noChangeShapeType="1" noTextEdit="1"/>
              </p:cNvSpPr>
              <p:nvPr/>
            </p:nvSpPr>
            <p:spPr>
              <a:xfrm>
                <a:off x="318051" y="69575"/>
                <a:ext cx="7911547" cy="2912977"/>
              </a:xfrm>
              <a:prstGeom prst="rect">
                <a:avLst/>
              </a:prstGeom>
              <a:blipFill>
                <a:blip r:embed="rId3"/>
                <a:stretch>
                  <a:fillRect l="-1002" t="-2092" b="-3975"/>
                </a:stretch>
              </a:blipFill>
            </p:spPr>
            <p:txBody>
              <a:bodyPr/>
              <a:lstStyle/>
              <a:p>
                <a:r>
                  <a:rPr lang="en-IN">
                    <a:noFill/>
                  </a:rPr>
                  <a:t> </a:t>
                </a:r>
              </a:p>
            </p:txBody>
          </p:sp>
        </mc:Fallback>
      </mc:AlternateContent>
      <p:pic>
        <p:nvPicPr>
          <p:cNvPr id="2" name="Picture 1">
            <a:extLst>
              <a:ext uri="{FF2B5EF4-FFF2-40B4-BE49-F238E27FC236}">
                <a16:creationId xmlns:a16="http://schemas.microsoft.com/office/drawing/2014/main" id="{5F019DE1-C166-C30F-FC70-C7C47B981691}"/>
              </a:ext>
            </a:extLst>
          </p:cNvPr>
          <p:cNvPicPr>
            <a:picLocks noChangeAspect="1"/>
          </p:cNvPicPr>
          <p:nvPr/>
        </p:nvPicPr>
        <p:blipFill>
          <a:blip r:embed="rId4"/>
          <a:stretch>
            <a:fillRect/>
          </a:stretch>
        </p:blipFill>
        <p:spPr>
          <a:xfrm>
            <a:off x="526775" y="3180520"/>
            <a:ext cx="6051433" cy="1381539"/>
          </a:xfrm>
          <a:prstGeom prst="rect">
            <a:avLst/>
          </a:prstGeom>
        </p:spPr>
      </p:pic>
    </p:spTree>
    <p:extLst>
      <p:ext uri="{BB962C8B-B14F-4D97-AF65-F5344CB8AC3E}">
        <p14:creationId xmlns:p14="http://schemas.microsoft.com/office/powerpoint/2010/main" val="285865201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pic>
        <p:nvPicPr>
          <p:cNvPr id="2" name="Picture 1">
            <a:extLst>
              <a:ext uri="{FF2B5EF4-FFF2-40B4-BE49-F238E27FC236}">
                <a16:creationId xmlns:a16="http://schemas.microsoft.com/office/drawing/2014/main" id="{3E75524E-9295-B13F-3225-90E1FF5822E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8261" y="0"/>
            <a:ext cx="5943600" cy="2057400"/>
          </a:xfrm>
          <a:prstGeom prst="rect">
            <a:avLst/>
          </a:prstGeom>
          <a:noFill/>
          <a:ln>
            <a:noFill/>
          </a:ln>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DFAB134-BDCA-4578-5DCC-B9C571C122F1}"/>
                  </a:ext>
                </a:extLst>
              </p:cNvPr>
              <p:cNvSpPr txBox="1"/>
              <p:nvPr/>
            </p:nvSpPr>
            <p:spPr>
              <a:xfrm>
                <a:off x="318052" y="2135660"/>
                <a:ext cx="6539948" cy="644600"/>
              </a:xfrm>
              <a:prstGeom prst="rect">
                <a:avLst/>
              </a:prstGeom>
              <a:noFill/>
            </p:spPr>
            <p:txBody>
              <a:bodyPr wrap="square">
                <a:spAutoFit/>
              </a:bodyPr>
              <a:lstStyle/>
              <a:p>
                <a:pPr>
                  <a:lnSpc>
                    <a:spcPct val="107000"/>
                  </a:lnSpc>
                  <a:spcAft>
                    <a:spcPts val="800"/>
                  </a:spcAft>
                </a:pPr>
                <a:r>
                  <a:rPr lang="en-US" sz="1400" b="1" kern="100" dirty="0">
                    <a:effectLst/>
                    <a:latin typeface="Times New Roman" panose="02020603050405020304" pitchFamily="18" charset="0"/>
                    <a:ea typeface="Calibri" panose="020F0502020204030204" pitchFamily="34" charset="0"/>
                    <a:cs typeface="Times New Roman" panose="02020603050405020304" pitchFamily="18" charset="0"/>
                  </a:rPr>
                  <a:t>Step 1: Calculate the Mean (</a:t>
                </a:r>
                <a14:m>
                  <m:oMath xmlns:m="http://schemas.openxmlformats.org/officeDocument/2006/math">
                    <m:acc>
                      <m:accPr>
                        <m:chr m:val="̅"/>
                        <m:ctrlPr>
                          <a:rPr lang="en-IN" sz="1400" i="1" kern="100">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1400" i="1" kern="100">
                            <a:effectLst/>
                            <a:latin typeface="Cambria Math" panose="02040503050406030204" pitchFamily="18" charset="0"/>
                            <a:ea typeface="Calibri" panose="020F0502020204030204" pitchFamily="34" charset="0"/>
                            <a:cs typeface="Times New Roman" panose="02020603050405020304" pitchFamily="18" charset="0"/>
                          </a:rPr>
                          <m:t>𝑥</m:t>
                        </m:r>
                      </m:e>
                    </m:acc>
                  </m:oMath>
                </a14:m>
                <a:r>
                  <a:rPr lang="en-US" sz="1400" b="1"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First, calculate the mid-point for each class and use that to find the mean.</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4" name="TextBox 3">
                <a:extLst>
                  <a:ext uri="{FF2B5EF4-FFF2-40B4-BE49-F238E27FC236}">
                    <a16:creationId xmlns:a16="http://schemas.microsoft.com/office/drawing/2014/main" id="{8DFAB134-BDCA-4578-5DCC-B9C571C122F1}"/>
                  </a:ext>
                </a:extLst>
              </p:cNvPr>
              <p:cNvSpPr txBox="1">
                <a:spLocks noRot="1" noChangeAspect="1" noMove="1" noResize="1" noEditPoints="1" noAdjustHandles="1" noChangeArrowheads="1" noChangeShapeType="1" noTextEdit="1"/>
              </p:cNvSpPr>
              <p:nvPr/>
            </p:nvSpPr>
            <p:spPr>
              <a:xfrm>
                <a:off x="318052" y="2135660"/>
                <a:ext cx="6539948" cy="644600"/>
              </a:xfrm>
              <a:prstGeom prst="rect">
                <a:avLst/>
              </a:prstGeom>
              <a:blipFill>
                <a:blip r:embed="rId4"/>
                <a:stretch>
                  <a:fillRect l="-280" t="-943" b="-8491"/>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ADE8DCE6-5AA7-3469-8B88-385C6808CEE1}"/>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58261" y="2780260"/>
            <a:ext cx="6457950" cy="2152650"/>
          </a:xfrm>
          <a:prstGeom prst="rect">
            <a:avLst/>
          </a:prstGeom>
          <a:noFill/>
          <a:ln>
            <a:noFill/>
          </a:ln>
        </p:spPr>
      </p:pic>
    </p:spTree>
    <p:extLst>
      <p:ext uri="{BB962C8B-B14F-4D97-AF65-F5344CB8AC3E}">
        <p14:creationId xmlns:p14="http://schemas.microsoft.com/office/powerpoint/2010/main" val="204868997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62A49C1-FB37-6CB7-8D2A-16ED47D58D85}"/>
                  </a:ext>
                </a:extLst>
              </p:cNvPr>
              <p:cNvSpPr txBox="1"/>
              <p:nvPr/>
            </p:nvSpPr>
            <p:spPr>
              <a:xfrm>
                <a:off x="288235" y="178905"/>
                <a:ext cx="6569765" cy="2434641"/>
              </a:xfrm>
              <a:prstGeom prst="rect">
                <a:avLst/>
              </a:prstGeom>
              <a:noFill/>
            </p:spPr>
            <p:txBody>
              <a:bodyPr wrap="square">
                <a:spAutoFit/>
              </a:bodyPr>
              <a:lstStyle/>
              <a:p>
                <a:pPr marL="914400">
                  <a:lnSpc>
                    <a:spcPct val="107000"/>
                  </a:lnSpc>
                  <a:spcAft>
                    <a:spcPts val="800"/>
                  </a:spcAft>
                </a:pPr>
                <a14:m>
                  <m:oMathPara xmlns:m="http://schemas.openxmlformats.org/officeDocument/2006/math">
                    <m:oMathParaPr>
                      <m:jc m:val="centerGroup"/>
                    </m:oMathParaPr>
                    <m:oMath xmlns:m="http://schemas.openxmlformats.org/officeDocument/2006/math">
                      <m:r>
                        <a:rPr lang="en-US" sz="1400" i="1" kern="100" dirty="0" smtClean="0">
                          <a:effectLst/>
                          <a:latin typeface="Cambria Math" panose="02040503050406030204" pitchFamily="18" charset="0"/>
                          <a:ea typeface="Calibri" panose="020F0502020204030204" pitchFamily="34" charset="0"/>
                          <a:cs typeface="Times New Roman" panose="02020603050405020304" pitchFamily="18" charset="0"/>
                        </a:rPr>
                        <m:t>𝑁</m:t>
                      </m:r>
                      <m:r>
                        <a:rPr lang="en-US" sz="1400" i="1" kern="100" dirty="0" smtClean="0">
                          <a:effectLst/>
                          <a:latin typeface="Cambria Math" panose="02040503050406030204" pitchFamily="18" charset="0"/>
                          <a:ea typeface="Calibri" panose="020F0502020204030204" pitchFamily="34" charset="0"/>
                          <a:cs typeface="Times New Roman" panose="02020603050405020304" pitchFamily="18" charset="0"/>
                        </a:rPr>
                        <m:t>=4+6+8+5+3=26</m:t>
                      </m:r>
                    </m:oMath>
                  </m:oMathPara>
                </a14:m>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914400">
                  <a:lnSpc>
                    <a:spcPct val="107000"/>
                  </a:lnSpc>
                  <a:spcAft>
                    <a:spcPts val="800"/>
                  </a:spcAft>
                </a:pP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r>
                      <a:rPr lang="en-US" sz="1400" i="1" kern="100"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US" sz="1400" i="1" kern="100" dirty="0" err="1">
                        <a:effectLst/>
                        <a:latin typeface="Cambria Math" panose="02040503050406030204" pitchFamily="18" charset="0"/>
                        <a:ea typeface="Calibri" panose="020F0502020204030204" pitchFamily="34" charset="0"/>
                        <a:cs typeface="Times New Roman" panose="02020603050405020304" pitchFamily="18" charset="0"/>
                      </a:rPr>
                      <m:t>𝑓</m:t>
                    </m:r>
                    <m:r>
                      <a:rPr lang="en-US" sz="1400" i="1" kern="100" dirty="0" err="1">
                        <a:effectLst/>
                        <a:latin typeface="Cambria Math" panose="02040503050406030204" pitchFamily="18" charset="0"/>
                        <a:ea typeface="Calibri" panose="020F0502020204030204" pitchFamily="34" charset="0"/>
                        <a:cs typeface="Cambria Math" panose="02040503050406030204" pitchFamily="18" charset="0"/>
                      </a:rPr>
                      <m:t>⋅</m:t>
                    </m:r>
                    <m:r>
                      <a:rPr lang="en-US" sz="1400" i="1" kern="100" dirty="0" err="1">
                        <a:effectLst/>
                        <a:latin typeface="Cambria Math" panose="02040503050406030204" pitchFamily="18" charset="0"/>
                        <a:ea typeface="Calibri" panose="020F0502020204030204" pitchFamily="34" charset="0"/>
                        <a:cs typeface="Times New Roman" panose="02020603050405020304" pitchFamily="18" charset="0"/>
                      </a:rPr>
                      <m:t>𝑥</m:t>
                    </m:r>
                    <m:r>
                      <a:rPr lang="en-US" sz="1400" i="1" kern="100" dirty="0">
                        <a:effectLst/>
                        <a:latin typeface="Cambria Math" panose="02040503050406030204" pitchFamily="18" charset="0"/>
                        <a:ea typeface="Calibri" panose="020F0502020204030204" pitchFamily="34" charset="0"/>
                        <a:cs typeface="Times New Roman" panose="02020603050405020304" pitchFamily="18" charset="0"/>
                      </a:rPr>
                      <m:t>=20+90+200+175+135=620</m:t>
                    </m:r>
                  </m:oMath>
                </a14:m>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acc>
                      <m:accPr>
                        <m:chr m:val="̅"/>
                        <m:ctrlPr>
                          <a:rPr lang="en-IN" sz="1600" b="1"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US" sz="1600" b="1"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𝒙</m:t>
                        </m:r>
                      </m:e>
                    </m:acc>
                    <m:r>
                      <a:rPr lang="en-US" sz="1600" b="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IN" sz="1600" b="1"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nary>
                          <m:naryPr>
                            <m:chr m:val="∑"/>
                            <m:subHide m:val="on"/>
                            <m:supHide m:val="on"/>
                            <m:ctrlPr>
                              <a:rPr lang="en-IN" sz="1600" b="1"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naryPr>
                          <m:sub/>
                          <m:sup/>
                          <m:e>
                            <m:sSub>
                              <m:sSubPr>
                                <m:ctrlPr>
                                  <a:rPr lang="en-IN" sz="1600" b="1"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b="1"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𝒇</m:t>
                                </m:r>
                              </m:e>
                              <m:sub>
                                <m:r>
                                  <a:rPr lang="en-US" sz="1600" b="1"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𝒊</m:t>
                                </m:r>
                              </m:sub>
                            </m:sSub>
                            <m:sSub>
                              <m:sSubPr>
                                <m:ctrlPr>
                                  <a:rPr lang="en-IN" sz="1600" b="1"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b="1"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𝒙</m:t>
                                </m:r>
                              </m:e>
                              <m:sub>
                                <m:r>
                                  <a:rPr lang="en-US" sz="1600" b="1"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𝒊</m:t>
                                </m:r>
                              </m:sub>
                            </m:sSub>
                          </m:e>
                        </m:nary>
                      </m:num>
                      <m:den>
                        <m:nary>
                          <m:naryPr>
                            <m:chr m:val="∑"/>
                            <m:subHide m:val="on"/>
                            <m:supHide m:val="on"/>
                            <m:ctrlPr>
                              <a:rPr lang="en-IN" sz="1600" b="1"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naryPr>
                          <m:sub/>
                          <m:sup/>
                          <m:e>
                            <m:sSub>
                              <m:sSubPr>
                                <m:ctrlPr>
                                  <a:rPr lang="en-IN" sz="1600" b="1"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b="1"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𝒇</m:t>
                                </m:r>
                              </m:e>
                              <m:sub>
                                <m:r>
                                  <a:rPr lang="en-US" sz="1600" b="1"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𝒊</m:t>
                                </m:r>
                              </m:sub>
                            </m:sSub>
                          </m:e>
                        </m:nary>
                      </m:den>
                    </m:f>
                  </m:oMath>
                </a14:m>
                <a:r>
                  <a:rPr lang="en-US" sz="1600" b="1" kern="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r>
                      <a:rPr lang="en-US" sz="1600" b="1"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f>
                      <m:fPr>
                        <m:ctrlPr>
                          <a:rPr lang="en-IN" sz="1600" b="1"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600" b="1"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𝟔𝟐𝟎</m:t>
                        </m:r>
                      </m:num>
                      <m:den>
                        <m:r>
                          <a:rPr lang="en-US" sz="1600" b="1"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𝟐𝟔</m:t>
                        </m:r>
                      </m:den>
                    </m:f>
                  </m:oMath>
                </a14:m>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600" b="1" kern="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acc>
                      <m:accPr>
                        <m:chr m:val="̅"/>
                        <m:ctrlPr>
                          <a:rPr lang="en-IN" sz="1600" b="1" i="1" kern="12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US" sz="1600" b="1" i="1" kern="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𝒙</m:t>
                        </m:r>
                      </m:e>
                    </m:acc>
                    <m:r>
                      <a:rPr lang="en-US" sz="1600" b="1" i="0" kern="1200"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oMath>
                </a14:m>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23.85</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400" b="1" kern="100" dirty="0">
                    <a:effectLst/>
                    <a:latin typeface="Times New Roman" panose="02020603050405020304" pitchFamily="18" charset="0"/>
                    <a:ea typeface="Calibri" panose="020F0502020204030204" pitchFamily="34" charset="0"/>
                    <a:cs typeface="Times New Roman" panose="02020603050405020304" pitchFamily="18" charset="0"/>
                  </a:rPr>
                  <a:t>Step 2: Calculate the Deviations (</a:t>
                </a:r>
                <a14:m>
                  <m:oMath xmlns:m="http://schemas.openxmlformats.org/officeDocument/2006/math">
                    <m:r>
                      <a:rPr lang="en-US" sz="1400" i="1" kern="100">
                        <a:effectLst/>
                        <a:latin typeface="Cambria Math" panose="02040503050406030204" pitchFamily="18" charset="0"/>
                        <a:ea typeface="Calibri" panose="020F0502020204030204" pitchFamily="34" charset="0"/>
                        <a:cs typeface="Times New Roman" panose="02020603050405020304" pitchFamily="18" charset="0"/>
                      </a:rPr>
                      <m:t>𝑥</m:t>
                    </m:r>
                    <m:r>
                      <a:rPr lang="en-US" sz="1400" i="1" kern="100">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IN" sz="1400" i="1" kern="100">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1400" i="1" kern="100">
                            <a:effectLst/>
                            <a:latin typeface="Cambria Math" panose="02040503050406030204" pitchFamily="18" charset="0"/>
                            <a:ea typeface="Calibri" panose="020F0502020204030204" pitchFamily="34" charset="0"/>
                            <a:cs typeface="Times New Roman" panose="02020603050405020304" pitchFamily="18" charset="0"/>
                          </a:rPr>
                          <m:t>𝑥</m:t>
                        </m:r>
                      </m:e>
                    </m:acc>
                  </m:oMath>
                </a14:m>
                <a:r>
                  <a:rPr lang="en-US" sz="1400" b="1" kern="100" dirty="0">
                    <a:effectLst/>
                    <a:latin typeface="Times New Roman" panose="02020603050405020304" pitchFamily="18" charset="0"/>
                    <a:ea typeface="Calibri" panose="020F0502020204030204" pitchFamily="34" charset="0"/>
                    <a:cs typeface="Times New Roman" panose="02020603050405020304" pitchFamily="18" charset="0"/>
                  </a:rPr>
                  <a:t>) and Powers</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Now, we calculate the deviation from the mean (</a:t>
                </a:r>
                <a14:m>
                  <m:oMath xmlns:m="http://schemas.openxmlformats.org/officeDocument/2006/math">
                    <m:r>
                      <a:rPr lang="en-US" sz="1400" i="1" kern="100">
                        <a:effectLst/>
                        <a:latin typeface="Cambria Math" panose="02040503050406030204" pitchFamily="18" charset="0"/>
                        <a:ea typeface="Calibri" panose="020F0502020204030204" pitchFamily="34" charset="0"/>
                        <a:cs typeface="Times New Roman" panose="02020603050405020304" pitchFamily="18" charset="0"/>
                      </a:rPr>
                      <m:t>𝑥</m:t>
                    </m:r>
                    <m:r>
                      <a:rPr lang="en-US" sz="1400" i="1" kern="100">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IN" sz="1400" i="1" kern="100">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1400" i="1" kern="100">
                            <a:effectLst/>
                            <a:latin typeface="Cambria Math" panose="02040503050406030204" pitchFamily="18" charset="0"/>
                            <a:ea typeface="Calibri" panose="020F0502020204030204" pitchFamily="34" charset="0"/>
                            <a:cs typeface="Times New Roman" panose="02020603050405020304" pitchFamily="18" charset="0"/>
                          </a:rPr>
                          <m:t>𝑥</m:t>
                        </m:r>
                      </m:e>
                    </m:acc>
                  </m:oMath>
                </a14:m>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 and the higher powers of deviations.</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A62A49C1-FB37-6CB7-8D2A-16ED47D58D85}"/>
                  </a:ext>
                </a:extLst>
              </p:cNvPr>
              <p:cNvSpPr txBox="1">
                <a:spLocks noRot="1" noChangeAspect="1" noMove="1" noResize="1" noEditPoints="1" noAdjustHandles="1" noChangeArrowheads="1" noChangeShapeType="1" noTextEdit="1"/>
              </p:cNvSpPr>
              <p:nvPr/>
            </p:nvSpPr>
            <p:spPr>
              <a:xfrm>
                <a:off x="288235" y="178905"/>
                <a:ext cx="6569765" cy="2434641"/>
              </a:xfrm>
              <a:prstGeom prst="rect">
                <a:avLst/>
              </a:prstGeom>
              <a:blipFill>
                <a:blip r:embed="rId2"/>
                <a:stretch>
                  <a:fillRect l="-278" b="-1500"/>
                </a:stretch>
              </a:blipFill>
            </p:spPr>
            <p:txBody>
              <a:bodyPr/>
              <a:lstStyle/>
              <a:p>
                <a:r>
                  <a:rPr lang="en-IN">
                    <a:noFill/>
                  </a:rPr>
                  <a:t> </a:t>
                </a:r>
              </a:p>
            </p:txBody>
          </p:sp>
        </mc:Fallback>
      </mc:AlternateContent>
      <p:pic>
        <p:nvPicPr>
          <p:cNvPr id="8" name="Picture 7">
            <a:extLst>
              <a:ext uri="{FF2B5EF4-FFF2-40B4-BE49-F238E27FC236}">
                <a16:creationId xmlns:a16="http://schemas.microsoft.com/office/drawing/2014/main" id="{7493F9CD-EC11-CB50-D849-046809805DC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1741" y="2620979"/>
            <a:ext cx="7083701" cy="2343615"/>
          </a:xfrm>
          <a:prstGeom prst="rect">
            <a:avLst/>
          </a:prstGeom>
          <a:noFill/>
          <a:ln>
            <a:noFill/>
          </a:ln>
        </p:spPr>
      </p:pic>
    </p:spTree>
    <p:extLst>
      <p:ext uri="{BB962C8B-B14F-4D97-AF65-F5344CB8AC3E}">
        <p14:creationId xmlns:p14="http://schemas.microsoft.com/office/powerpoint/2010/main" val="226647019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B40D44D-A5ED-1B9E-8639-629831970B17}"/>
                  </a:ext>
                </a:extLst>
              </p:cNvPr>
              <p:cNvSpPr txBox="1"/>
              <p:nvPr/>
            </p:nvSpPr>
            <p:spPr>
              <a:xfrm>
                <a:off x="0" y="0"/>
                <a:ext cx="9144000" cy="5290872"/>
              </a:xfrm>
              <a:prstGeom prst="rect">
                <a:avLst/>
              </a:prstGeom>
              <a:noFill/>
            </p:spPr>
            <p:txBody>
              <a:bodyPr wrap="square">
                <a:spAutoFit/>
              </a:bodyPr>
              <a:lstStyle/>
              <a:p>
                <a:pPr>
                  <a:lnSpc>
                    <a:spcPct val="107000"/>
                  </a:lnSpc>
                  <a:spcAft>
                    <a:spcPts val="800"/>
                  </a:spcAft>
                </a:pPr>
                <a:r>
                  <a:rPr lang="en-US" sz="1600" b="1" kern="100" dirty="0">
                    <a:effectLst/>
                    <a:latin typeface="Times New Roman" panose="02020603050405020304" pitchFamily="18" charset="0"/>
                    <a:ea typeface="Calibri" panose="020F0502020204030204" pitchFamily="34" charset="0"/>
                    <a:cs typeface="Times New Roman" panose="02020603050405020304" pitchFamily="18" charset="0"/>
                  </a:rPr>
                  <a:t>Step 3: Calculate the Moments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600" b="1" kern="100" dirty="0">
                    <a:effectLst/>
                    <a:latin typeface="Times New Roman" panose="02020603050405020304" pitchFamily="18" charset="0"/>
                    <a:ea typeface="Calibri" panose="020F0502020204030204" pitchFamily="34" charset="0"/>
                    <a:cs typeface="Times New Roman" panose="02020603050405020304" pitchFamily="18" charset="0"/>
                  </a:rPr>
                  <a:t>First Moment (about the mean) (μ</a:t>
                </a:r>
                <a:r>
                  <a:rPr lang="en-US" sz="1600" b="1" kern="100" baseline="-25000" dirty="0">
                    <a:effectLst/>
                    <a:latin typeface="Times New Roman" panose="02020603050405020304" pitchFamily="18" charset="0"/>
                    <a:ea typeface="Calibri" panose="020F0502020204030204" pitchFamily="34" charset="0"/>
                    <a:cs typeface="Times New Roman" panose="02020603050405020304" pitchFamily="18" charset="0"/>
                  </a:rPr>
                  <a:t>1</a:t>
                </a:r>
                <a:r>
                  <a:rPr lang="en-US" sz="1600" b="1"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buSzPts val="1000"/>
                  <a:tabLst>
                    <a:tab pos="457200" algn="l"/>
                  </a:tabLst>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The first moment is always </a:t>
                </a:r>
                <a:r>
                  <a:rPr lang="en-US" sz="1600" b="1" kern="100" dirty="0">
                    <a:effectLst/>
                    <a:latin typeface="Times New Roman" panose="02020603050405020304" pitchFamily="18" charset="0"/>
                    <a:ea typeface="Calibri" panose="020F0502020204030204" pitchFamily="34" charset="0"/>
                    <a:cs typeface="Times New Roman" panose="02020603050405020304" pitchFamily="18" charset="0"/>
                  </a:rPr>
                  <a:t>0</a:t>
                </a: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 since it measures the mean of deviations from the mean.</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μ</a:t>
                </a:r>
                <a:r>
                  <a:rPr lang="en-US" sz="1600" kern="100" baseline="-25000" dirty="0">
                    <a:effectLst/>
                    <a:latin typeface="Times New Roman" panose="02020603050405020304" pitchFamily="18" charset="0"/>
                    <a:ea typeface="Calibri" panose="020F0502020204030204" pitchFamily="34" charset="0"/>
                    <a:cs typeface="Times New Roman" panose="02020603050405020304" pitchFamily="18" charset="0"/>
                  </a:rPr>
                  <a:t>1</a:t>
                </a: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​=0</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600" b="1" kern="100" dirty="0">
                    <a:effectLst/>
                    <a:latin typeface="Times New Roman" panose="02020603050405020304" pitchFamily="18" charset="0"/>
                    <a:ea typeface="Calibri" panose="020F0502020204030204" pitchFamily="34" charset="0"/>
                    <a:cs typeface="Times New Roman" panose="02020603050405020304" pitchFamily="18" charset="0"/>
                  </a:rPr>
                  <a:t>Second Moment (about the mean) (μ</a:t>
                </a:r>
                <a:r>
                  <a:rPr lang="en-US" sz="1600" b="1" kern="100" baseline="-25000" dirty="0">
                    <a:effectLst/>
                    <a:latin typeface="Times New Roman" panose="02020603050405020304" pitchFamily="18" charset="0"/>
                    <a:ea typeface="Calibri" panose="020F0502020204030204" pitchFamily="34" charset="0"/>
                    <a:cs typeface="Times New Roman" panose="02020603050405020304" pitchFamily="18" charset="0"/>
                  </a:rPr>
                  <a:t>2</a:t>
                </a:r>
                <a:r>
                  <a:rPr lang="en-US" sz="1600" b="1"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buSzPts val="1000"/>
                  <a:tabLst>
                    <a:tab pos="457200" algn="l"/>
                  </a:tabLst>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This is equivalent to the </a:t>
                </a:r>
                <a:r>
                  <a:rPr lang="en-US" sz="1600" b="1" kern="100" dirty="0">
                    <a:effectLst/>
                    <a:latin typeface="Times New Roman" panose="02020603050405020304" pitchFamily="18" charset="0"/>
                    <a:ea typeface="Calibri" panose="020F0502020204030204" pitchFamily="34" charset="0"/>
                    <a:cs typeface="Times New Roman" panose="02020603050405020304" pitchFamily="18" charset="0"/>
                  </a:rPr>
                  <a:t>variance</a:t>
                </a: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sSub>
                      <m:sSubPr>
                        <m:ctrlPr>
                          <a:rPr lang="en-IN" sz="16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𝜇</m:t>
                        </m:r>
                      </m:e>
                      <m:sub>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2</m:t>
                        </m:r>
                      </m:sub>
                    </m:sSub>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m:t>
                    </m:r>
                    <m:f>
                      <m:fPr>
                        <m:ctrlPr>
                          <a:rPr lang="en-IN" sz="1600" i="1" kern="100">
                            <a:effectLst/>
                            <a:latin typeface="Cambria Math" panose="02040503050406030204" pitchFamily="18" charset="0"/>
                            <a:ea typeface="Calibri" panose="020F0502020204030204" pitchFamily="34" charset="0"/>
                            <a:cs typeface="Times New Roman" panose="02020603050405020304" pitchFamily="18" charset="0"/>
                          </a:rPr>
                        </m:ctrlPr>
                      </m:fPr>
                      <m:num>
                        <m:nary>
                          <m:naryPr>
                            <m:chr m:val="∑"/>
                            <m:limLoc m:val="undOvr"/>
                            <m:subHide m:val="on"/>
                            <m:supHide m:val="on"/>
                            <m:ctrlPr>
                              <a:rPr lang="en-IN" sz="1600" i="1" kern="100">
                                <a:effectLst/>
                                <a:latin typeface="Cambria Math" panose="02040503050406030204" pitchFamily="18" charset="0"/>
                                <a:ea typeface="Calibri" panose="020F0502020204030204" pitchFamily="34" charset="0"/>
                                <a:cs typeface="Times New Roman" panose="02020603050405020304" pitchFamily="18" charset="0"/>
                              </a:rPr>
                            </m:ctrlPr>
                          </m:naryPr>
                          <m:sub/>
                          <m:sup/>
                          <m:e>
                            <m:sSup>
                              <m:sSupPr>
                                <m:ctrlPr>
                                  <a:rPr lang="en-IN" sz="1600" i="1" kern="100">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𝑓</m:t>
                                </m:r>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m:t>
                                </m:r>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𝑥</m:t>
                                </m:r>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IN" sz="1600" i="1" kern="100">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𝑥</m:t>
                                    </m:r>
                                  </m:e>
                                </m:acc>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m:t>
                                </m:r>
                              </m:e>
                              <m:sup>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2</m:t>
                                </m:r>
                              </m:sup>
                            </m:sSup>
                          </m:e>
                        </m:nary>
                      </m:num>
                      <m:den>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𝑁</m:t>
                        </m:r>
                      </m:den>
                    </m:f>
                  </m:oMath>
                </a14:m>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 = </a:t>
                </a:r>
                <a14:m>
                  <m:oMath xmlns:m="http://schemas.openxmlformats.org/officeDocument/2006/math">
                    <m:f>
                      <m:fPr>
                        <m:ctrlPr>
                          <a:rPr lang="en-IN" sz="1600" i="1" kern="100">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3865</m:t>
                        </m:r>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m:t>
                        </m:r>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27</m:t>
                        </m:r>
                        <m:r>
                          <a:rPr lang="en-US" sz="1600" b="1" i="1" kern="100">
                            <a:effectLst/>
                            <a:latin typeface="Cambria Math" panose="02040503050406030204" pitchFamily="18" charset="0"/>
                            <a:ea typeface="Calibri" panose="020F0502020204030204" pitchFamily="34" charset="0"/>
                            <a:cs typeface="Times New Roman" panose="02020603050405020304" pitchFamily="18" charset="0"/>
                          </a:rPr>
                          <m:t>​</m:t>
                        </m:r>
                      </m:num>
                      <m:den>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26</m:t>
                        </m:r>
                      </m:den>
                    </m:f>
                  </m:oMath>
                </a14:m>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                  ​=148.66</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600" b="1" kern="100" dirty="0">
                    <a:effectLst/>
                    <a:latin typeface="Times New Roman" panose="02020603050405020304" pitchFamily="18" charset="0"/>
                    <a:ea typeface="Calibri" panose="020F0502020204030204" pitchFamily="34" charset="0"/>
                    <a:cs typeface="Times New Roman" panose="02020603050405020304" pitchFamily="18" charset="0"/>
                  </a:rPr>
                  <a:t>Third Moment (about the mean) (μ</a:t>
                </a:r>
                <a:r>
                  <a:rPr lang="en-US" sz="1600" b="1" kern="100" baseline="-25000" dirty="0">
                    <a:effectLst/>
                    <a:latin typeface="Times New Roman" panose="02020603050405020304" pitchFamily="18" charset="0"/>
                    <a:ea typeface="Calibri" panose="020F0502020204030204" pitchFamily="34" charset="0"/>
                    <a:cs typeface="Times New Roman" panose="02020603050405020304" pitchFamily="18" charset="0"/>
                  </a:rPr>
                  <a:t>3</a:t>
                </a:r>
                <a:r>
                  <a:rPr lang="en-US" sz="1600" b="1"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buSzPts val="1000"/>
                  <a:tabLst>
                    <a:tab pos="457200" algn="l"/>
                  </a:tabLst>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This helps measure </a:t>
                </a:r>
                <a:r>
                  <a:rPr lang="en-US" sz="1600" b="1" kern="100" dirty="0">
                    <a:effectLst/>
                    <a:latin typeface="Times New Roman" panose="02020603050405020304" pitchFamily="18" charset="0"/>
                    <a:ea typeface="Calibri" panose="020F0502020204030204" pitchFamily="34" charset="0"/>
                    <a:cs typeface="Times New Roman" panose="02020603050405020304" pitchFamily="18" charset="0"/>
                  </a:rPr>
                  <a:t>skewness</a:t>
                </a: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 If the value is positive, the distribution is right-skewed; if negative, it is left-skewed.</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 xmlns:m="http://schemas.openxmlformats.org/officeDocument/2006/math">
                    <m:sSub>
                      <m:sSubPr>
                        <m:ctrlPr>
                          <a:rPr lang="en-IN" sz="16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𝜇</m:t>
                        </m:r>
                      </m:e>
                      <m:sub>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3</m:t>
                        </m:r>
                      </m:sub>
                    </m:sSub>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m:t>
                    </m:r>
                    <m:f>
                      <m:fPr>
                        <m:ctrlPr>
                          <a:rPr lang="en-IN" sz="1600" i="1" kern="100">
                            <a:effectLst/>
                            <a:latin typeface="Cambria Math" panose="02040503050406030204" pitchFamily="18" charset="0"/>
                            <a:ea typeface="Calibri" panose="020F0502020204030204" pitchFamily="34" charset="0"/>
                            <a:cs typeface="Times New Roman" panose="02020603050405020304" pitchFamily="18" charset="0"/>
                          </a:rPr>
                        </m:ctrlPr>
                      </m:fPr>
                      <m:num>
                        <m:nary>
                          <m:naryPr>
                            <m:chr m:val="∑"/>
                            <m:limLoc m:val="undOvr"/>
                            <m:subHide m:val="on"/>
                            <m:supHide m:val="on"/>
                            <m:ctrlPr>
                              <a:rPr lang="en-IN" sz="1600" i="1" kern="100">
                                <a:effectLst/>
                                <a:latin typeface="Cambria Math" panose="02040503050406030204" pitchFamily="18" charset="0"/>
                                <a:ea typeface="Calibri" panose="020F0502020204030204" pitchFamily="34" charset="0"/>
                                <a:cs typeface="Times New Roman" panose="02020603050405020304" pitchFamily="18" charset="0"/>
                              </a:rPr>
                            </m:ctrlPr>
                          </m:naryPr>
                          <m:sub/>
                          <m:sup/>
                          <m:e>
                            <m:sSup>
                              <m:sSupPr>
                                <m:ctrlPr>
                                  <a:rPr lang="en-IN" sz="1600" i="1" kern="100">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𝑓</m:t>
                                </m:r>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m:t>
                                </m:r>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𝑥</m:t>
                                </m:r>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IN" sz="1600" i="1" kern="100">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𝑥</m:t>
                                    </m:r>
                                  </m:e>
                                </m:acc>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m:t>
                                </m:r>
                              </m:e>
                              <m:sup>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3</m:t>
                                </m:r>
                              </m:sup>
                            </m:sSup>
                          </m:e>
                        </m:nary>
                      </m:num>
                      <m:den>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𝑁</m:t>
                        </m:r>
                      </m:den>
                    </m:f>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m:t>
                    </m:r>
                  </m:oMath>
                </a14:m>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f>
                      <m:fPr>
                        <m:ctrlPr>
                          <a:rPr lang="en-IN" sz="1600" i="1" kern="100">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m:t>
                        </m:r>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87512</m:t>
                        </m:r>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m:t>
                        </m:r>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81</m:t>
                        </m:r>
                        <m:r>
                          <a:rPr lang="en-US" sz="1600" b="1" i="1" kern="100">
                            <a:effectLst/>
                            <a:latin typeface="Cambria Math" panose="02040503050406030204" pitchFamily="18" charset="0"/>
                            <a:ea typeface="Calibri" panose="020F0502020204030204" pitchFamily="34" charset="0"/>
                            <a:cs typeface="Times New Roman" panose="02020603050405020304" pitchFamily="18" charset="0"/>
                          </a:rPr>
                          <m:t>​</m:t>
                        </m:r>
                      </m:num>
                      <m:den>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26</m:t>
                        </m:r>
                      </m:den>
                    </m:f>
                  </m:oMath>
                </a14:m>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                ​=−3365.11</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buSzPts val="1000"/>
                  <a:tabLst>
                    <a:tab pos="457200" algn="l"/>
                  </a:tabLst>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The negative value indicates that the distribution is </a:t>
                </a:r>
                <a:r>
                  <a:rPr lang="en-US" sz="1600" b="1" kern="100" dirty="0">
                    <a:effectLst/>
                    <a:latin typeface="Times New Roman" panose="02020603050405020304" pitchFamily="18" charset="0"/>
                    <a:ea typeface="Calibri" panose="020F0502020204030204" pitchFamily="34" charset="0"/>
                    <a:cs typeface="Times New Roman" panose="02020603050405020304" pitchFamily="18" charset="0"/>
                  </a:rPr>
                  <a:t>left-skewed</a:t>
                </a: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2B40D44D-A5ED-1B9E-8639-629831970B17}"/>
                  </a:ext>
                </a:extLst>
              </p:cNvPr>
              <p:cNvSpPr txBox="1">
                <a:spLocks noRot="1" noChangeAspect="1" noMove="1" noResize="1" noEditPoints="1" noAdjustHandles="1" noChangeArrowheads="1" noChangeShapeType="1" noTextEdit="1"/>
              </p:cNvSpPr>
              <p:nvPr/>
            </p:nvSpPr>
            <p:spPr>
              <a:xfrm>
                <a:off x="0" y="0"/>
                <a:ext cx="9144000" cy="5290872"/>
              </a:xfrm>
              <a:prstGeom prst="rect">
                <a:avLst/>
              </a:prstGeom>
              <a:blipFill>
                <a:blip r:embed="rId2"/>
                <a:stretch>
                  <a:fillRect l="-333" t="-346" b="-461"/>
                </a:stretch>
              </a:blipFill>
            </p:spPr>
            <p:txBody>
              <a:bodyPr/>
              <a:lstStyle/>
              <a:p>
                <a:r>
                  <a:rPr lang="en-IN">
                    <a:noFill/>
                  </a:rPr>
                  <a:t> </a:t>
                </a:r>
              </a:p>
            </p:txBody>
          </p:sp>
        </mc:Fallback>
      </mc:AlternateContent>
    </p:spTree>
    <p:extLst>
      <p:ext uri="{BB962C8B-B14F-4D97-AF65-F5344CB8AC3E}">
        <p14:creationId xmlns:p14="http://schemas.microsoft.com/office/powerpoint/2010/main" val="239860387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3C36067-76EF-34BB-754B-5770FA8F9D40}"/>
                  </a:ext>
                </a:extLst>
              </p:cNvPr>
              <p:cNvSpPr txBox="1"/>
              <p:nvPr/>
            </p:nvSpPr>
            <p:spPr>
              <a:xfrm>
                <a:off x="0" y="-253270"/>
                <a:ext cx="9144000" cy="5283882"/>
              </a:xfrm>
              <a:prstGeom prst="rect">
                <a:avLst/>
              </a:prstGeom>
              <a:noFill/>
            </p:spPr>
            <p:txBody>
              <a:bodyPr wrap="square">
                <a:spAutoFit/>
              </a:bodyPr>
              <a:lstStyle/>
              <a:p>
                <a:pPr>
                  <a:lnSpc>
                    <a:spcPct val="107000"/>
                  </a:lnSpc>
                  <a:spcAft>
                    <a:spcPts val="800"/>
                  </a:spcAft>
                </a:pPr>
                <a:endParaRPr lang="en-US" sz="1700" b="1"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1700" b="1" kern="100" dirty="0">
                    <a:effectLst/>
                    <a:latin typeface="Times New Roman" panose="02020603050405020304" pitchFamily="18" charset="0"/>
                    <a:ea typeface="Calibri" panose="020F0502020204030204" pitchFamily="34" charset="0"/>
                    <a:cs typeface="Times New Roman" panose="02020603050405020304" pitchFamily="18" charset="0"/>
                  </a:rPr>
                  <a:t>Fourth Moment (about the mean) (μ</a:t>
                </a:r>
                <a:r>
                  <a:rPr lang="en-US" sz="1700" b="1" kern="100" baseline="-25000" dirty="0">
                    <a:effectLst/>
                    <a:latin typeface="Times New Roman" panose="02020603050405020304" pitchFamily="18" charset="0"/>
                    <a:ea typeface="Calibri" panose="020F0502020204030204" pitchFamily="34" charset="0"/>
                    <a:cs typeface="Times New Roman" panose="02020603050405020304" pitchFamily="18" charset="0"/>
                  </a:rPr>
                  <a:t>4</a:t>
                </a:r>
                <a:r>
                  <a:rPr lang="en-US" sz="1700" b="1"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buSzPts val="1000"/>
                  <a:tabLst>
                    <a:tab pos="457200" algn="l"/>
                  </a:tabLst>
                </a:pPr>
                <a:r>
                  <a:rPr lang="en-US" sz="1700" kern="100" dirty="0">
                    <a:effectLst/>
                    <a:latin typeface="Times New Roman" panose="02020603050405020304" pitchFamily="18" charset="0"/>
                    <a:ea typeface="Calibri" panose="020F0502020204030204" pitchFamily="34" charset="0"/>
                    <a:cs typeface="Times New Roman" panose="02020603050405020304" pitchFamily="18" charset="0"/>
                  </a:rPr>
                  <a:t>This measures </a:t>
                </a:r>
                <a:r>
                  <a:rPr lang="en-US" sz="1700" b="1" kern="100" dirty="0">
                    <a:effectLst/>
                    <a:latin typeface="Times New Roman" panose="02020603050405020304" pitchFamily="18" charset="0"/>
                    <a:ea typeface="Calibri" panose="020F0502020204030204" pitchFamily="34" charset="0"/>
                    <a:cs typeface="Times New Roman" panose="02020603050405020304" pitchFamily="18" charset="0"/>
                  </a:rPr>
                  <a:t>kurtosis</a:t>
                </a:r>
                <a:r>
                  <a:rPr lang="en-US" sz="17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700" kern="100" dirty="0" err="1">
                    <a:effectLst/>
                    <a:latin typeface="Times New Roman" panose="02020603050405020304" pitchFamily="18" charset="0"/>
                    <a:ea typeface="Calibri" panose="020F0502020204030204" pitchFamily="34" charset="0"/>
                    <a:cs typeface="Times New Roman" panose="02020603050405020304" pitchFamily="18" charset="0"/>
                  </a:rPr>
                  <a:t>tailedness</a:t>
                </a:r>
                <a:r>
                  <a:rPr lang="en-US" sz="1700" kern="100" dirty="0">
                    <a:effectLst/>
                    <a:latin typeface="Times New Roman" panose="02020603050405020304" pitchFamily="18" charset="0"/>
                    <a:ea typeface="Calibri" panose="020F0502020204030204" pitchFamily="34" charset="0"/>
                    <a:cs typeface="Times New Roman" panose="02020603050405020304" pitchFamily="18" charset="0"/>
                  </a:rPr>
                  <a:t>). If the value is high, the distribution has heavier tails.</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nSpc>
                    <a:spcPct val="107000"/>
                  </a:lnSpc>
                  <a:spcAft>
                    <a:spcPts val="800"/>
                  </a:spcAft>
                </a:pPr>
                <a:r>
                  <a:rPr lang="en-US" sz="1700" kern="100" dirty="0">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sSub>
                      <m:sSubPr>
                        <m:ctrlPr>
                          <a:rPr lang="en-IN" sz="17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𝜇</m:t>
                        </m:r>
                      </m:e>
                      <m:sub>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4</m:t>
                        </m:r>
                      </m:sub>
                    </m:sSub>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m:t>
                    </m:r>
                    <m:f>
                      <m:fPr>
                        <m:ctrlPr>
                          <a:rPr lang="en-IN" sz="1700" i="1" kern="100">
                            <a:effectLst/>
                            <a:latin typeface="Cambria Math" panose="02040503050406030204" pitchFamily="18" charset="0"/>
                            <a:ea typeface="Calibri" panose="020F0502020204030204" pitchFamily="34" charset="0"/>
                            <a:cs typeface="Times New Roman" panose="02020603050405020304" pitchFamily="18" charset="0"/>
                          </a:rPr>
                        </m:ctrlPr>
                      </m:fPr>
                      <m:num>
                        <m:nary>
                          <m:naryPr>
                            <m:chr m:val="∑"/>
                            <m:limLoc m:val="undOvr"/>
                            <m:subHide m:val="on"/>
                            <m:supHide m:val="on"/>
                            <m:ctrlPr>
                              <a:rPr lang="en-IN" sz="1700" i="1" kern="100">
                                <a:effectLst/>
                                <a:latin typeface="Cambria Math" panose="02040503050406030204" pitchFamily="18" charset="0"/>
                                <a:ea typeface="Calibri" panose="020F0502020204030204" pitchFamily="34" charset="0"/>
                                <a:cs typeface="Times New Roman" panose="02020603050405020304" pitchFamily="18" charset="0"/>
                              </a:rPr>
                            </m:ctrlPr>
                          </m:naryPr>
                          <m:sub/>
                          <m:sup/>
                          <m:e>
                            <m:sSup>
                              <m:sSupPr>
                                <m:ctrlPr>
                                  <a:rPr lang="en-IN" sz="1700" i="1" kern="100">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𝑓</m:t>
                                </m:r>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m:t>
                                </m:r>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𝑥</m:t>
                                </m:r>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IN" sz="1700" i="1" kern="100">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𝑥</m:t>
                                    </m:r>
                                  </m:e>
                                </m:acc>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m:t>
                                </m:r>
                              </m:e>
                              <m:sup>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4</m:t>
                                </m:r>
                              </m:sup>
                            </m:sSup>
                          </m:e>
                        </m:nary>
                      </m:num>
                      <m:den>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𝑁</m:t>
                        </m:r>
                      </m:den>
                    </m:f>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 </m:t>
                    </m:r>
                  </m:oMath>
                </a14:m>
                <a:r>
                  <a:rPr lang="en-US" sz="1700" kern="100" dirty="0">
                    <a:effectLst/>
                    <a:latin typeface="Calibri" panose="020F0502020204030204" pitchFamily="34" charset="0"/>
                    <a:ea typeface="Calibri" panose="020F0502020204030204" pitchFamily="34" charset="0"/>
                    <a:cs typeface="Times New Roman" panose="02020603050405020304" pitchFamily="18" charset="0"/>
                  </a:rPr>
                  <a:t>= </a:t>
                </a:r>
                <a14:m>
                  <m:oMath xmlns:m="http://schemas.openxmlformats.org/officeDocument/2006/math">
                    <m:f>
                      <m:fPr>
                        <m:ctrlPr>
                          <a:rPr lang="en-IN" sz="1700" i="1" kern="100">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1212789</m:t>
                        </m:r>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m:t>
                        </m:r>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89</m:t>
                        </m:r>
                        <m:r>
                          <a:rPr lang="en-US" sz="1700" b="1" i="1" kern="100">
                            <a:effectLst/>
                            <a:latin typeface="Cambria Math" panose="02040503050406030204" pitchFamily="18" charset="0"/>
                            <a:ea typeface="Calibri" panose="020F0502020204030204" pitchFamily="34" charset="0"/>
                            <a:cs typeface="Times New Roman" panose="02020603050405020304" pitchFamily="18" charset="0"/>
                          </a:rPr>
                          <m:t>​</m:t>
                        </m:r>
                      </m:num>
                      <m:den>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26</m:t>
                        </m:r>
                      </m:den>
                    </m:f>
                  </m:oMath>
                </a14:m>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700" kern="100" dirty="0">
                    <a:effectLst/>
                    <a:latin typeface="Times New Roman" panose="02020603050405020304" pitchFamily="18" charset="0"/>
                    <a:ea typeface="Calibri" panose="020F0502020204030204" pitchFamily="34" charset="0"/>
                    <a:cs typeface="Times New Roman" panose="02020603050405020304" pitchFamily="18" charset="0"/>
                  </a:rPr>
                  <a:t>​	     =46645.76</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700" b="1" kern="100" dirty="0">
                    <a:effectLst/>
                    <a:latin typeface="Times New Roman" panose="02020603050405020304" pitchFamily="18" charset="0"/>
                    <a:ea typeface="Calibri" panose="020F0502020204030204" pitchFamily="34" charset="0"/>
                    <a:cs typeface="Times New Roman" panose="02020603050405020304" pitchFamily="18" charset="0"/>
                  </a:rPr>
                  <a:t>The formula for β</a:t>
                </a:r>
                <a:r>
                  <a:rPr lang="en-US" sz="1700" b="1" kern="100" baseline="-25000" dirty="0">
                    <a:effectLst/>
                    <a:latin typeface="Times New Roman" panose="02020603050405020304" pitchFamily="18" charset="0"/>
                    <a:ea typeface="Calibri" panose="020F0502020204030204" pitchFamily="34" charset="0"/>
                    <a:cs typeface="Times New Roman" panose="02020603050405020304" pitchFamily="18" charset="0"/>
                  </a:rPr>
                  <a:t>1</a:t>
                </a:r>
                <a:r>
                  <a:rPr lang="en-US" sz="1700" b="1" kern="100" dirty="0">
                    <a:effectLst/>
                    <a:latin typeface="Times New Roman" panose="02020603050405020304" pitchFamily="18" charset="0"/>
                    <a:ea typeface="Calibri" panose="020F0502020204030204" pitchFamily="34" charset="0"/>
                    <a:cs typeface="Times New Roman" panose="02020603050405020304" pitchFamily="18" charset="0"/>
                  </a:rPr>
                  <a:t> is:</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nSpc>
                    <a:spcPct val="107000"/>
                  </a:lnSpc>
                  <a:spcAft>
                    <a:spcPts val="800"/>
                  </a:spcAft>
                </a:pPr>
                <a:r>
                  <a:rPr lang="en-IN" sz="1700" kern="100" dirty="0">
                    <a:effectLst/>
                    <a:ea typeface="Calibri" panose="020F0502020204030204" pitchFamily="34" charset="0"/>
                    <a:cs typeface="Times New Roman" panose="02020603050405020304" pitchFamily="18" charset="0"/>
                  </a:rPr>
                  <a:t>	              </a:t>
                </a:r>
                <a14:m>
                  <m:oMath xmlns:m="http://schemas.openxmlformats.org/officeDocument/2006/math">
                    <m:sSub>
                      <m:sSubPr>
                        <m:ctrlPr>
                          <a:rPr lang="en-IN" sz="17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𝛽</m:t>
                        </m:r>
                      </m:e>
                      <m:sub>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1</m:t>
                        </m:r>
                      </m:sub>
                    </m:sSub>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m:t>
                    </m:r>
                    <m:f>
                      <m:fPr>
                        <m:ctrlPr>
                          <a:rPr lang="en-IN" sz="1700" i="1" kern="100">
                            <a:effectLst/>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en-IN" sz="1700" i="1" kern="100">
                                <a:effectLst/>
                                <a:latin typeface="Cambria Math" panose="02040503050406030204" pitchFamily="18" charset="0"/>
                                <a:ea typeface="Calibri" panose="020F0502020204030204" pitchFamily="34" charset="0"/>
                                <a:cs typeface="Times New Roman" panose="02020603050405020304" pitchFamily="18" charset="0"/>
                              </a:rPr>
                            </m:ctrlPr>
                          </m:sSupPr>
                          <m:e>
                            <m:sSub>
                              <m:sSubPr>
                                <m:ctrlPr>
                                  <a:rPr lang="en-IN" sz="17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𝜇</m:t>
                                </m:r>
                              </m:e>
                              <m:sub>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3</m:t>
                                </m:r>
                              </m:sub>
                            </m:sSub>
                          </m:e>
                          <m:sup>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2</m:t>
                            </m:r>
                          </m:sup>
                        </m:sSup>
                      </m:num>
                      <m:den>
                        <m:sSup>
                          <m:sSupPr>
                            <m:ctrlPr>
                              <a:rPr lang="en-IN" sz="1700" i="1" kern="100">
                                <a:effectLst/>
                                <a:latin typeface="Cambria Math" panose="02040503050406030204" pitchFamily="18" charset="0"/>
                                <a:ea typeface="Calibri" panose="020F0502020204030204" pitchFamily="34" charset="0"/>
                                <a:cs typeface="Times New Roman" panose="02020603050405020304" pitchFamily="18" charset="0"/>
                              </a:rPr>
                            </m:ctrlPr>
                          </m:sSupPr>
                          <m:e>
                            <m:sSub>
                              <m:sSubPr>
                                <m:ctrlPr>
                                  <a:rPr lang="en-IN" sz="17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𝜇</m:t>
                                </m:r>
                              </m:e>
                              <m:sub>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2</m:t>
                                </m:r>
                              </m:sub>
                            </m:sSub>
                          </m:e>
                          <m:sup>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3</m:t>
                            </m:r>
                          </m:sup>
                        </m:sSup>
                      </m:den>
                    </m:f>
                  </m:oMath>
                </a14:m>
                <a:endParaRPr lang="en-US" sz="1700" i="1" kern="100" dirty="0">
                  <a:effectLst/>
                  <a:latin typeface="Cambria Math" panose="02040503050406030204" pitchFamily="18" charset="0"/>
                  <a:ea typeface="Calibri" panose="020F0502020204030204" pitchFamily="34" charset="0"/>
                  <a:cs typeface="Times New Roman" panose="02020603050405020304" pitchFamily="18" charset="0"/>
                </a:endParaRPr>
              </a:p>
              <a:p>
                <a:pPr marL="228600">
                  <a:lnSpc>
                    <a:spcPct val="107000"/>
                  </a:lnSpc>
                  <a:spcAft>
                    <a:spcPts val="800"/>
                  </a:spcAft>
                </a:pPr>
                <a:r>
                  <a:rPr lang="en-IN" sz="1700" kern="100" dirty="0">
                    <a:effectLst/>
                    <a:ea typeface="Calibri" panose="020F0502020204030204" pitchFamily="34" charset="0"/>
                    <a:cs typeface="Times New Roman" panose="02020603050405020304" pitchFamily="18" charset="0"/>
                  </a:rPr>
                  <a:t>                         </a:t>
                </a:r>
                <a14:m>
                  <m:oMath xmlns:m="http://schemas.openxmlformats.org/officeDocument/2006/math">
                    <m:sSub>
                      <m:sSubPr>
                        <m:ctrlPr>
                          <a:rPr lang="en-IN" sz="17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𝛽</m:t>
                        </m:r>
                      </m:e>
                      <m:sub>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1</m:t>
                        </m:r>
                      </m:sub>
                    </m:sSub>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m:t>
                    </m:r>
                    <m:f>
                      <m:fPr>
                        <m:ctrlPr>
                          <a:rPr lang="en-IN" sz="1700" i="1" kern="100">
                            <a:effectLst/>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en-IN" sz="1700" i="1" kern="100">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m:t>
                            </m:r>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3365</m:t>
                            </m:r>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m:t>
                            </m:r>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11</m:t>
                            </m:r>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m:t>
                            </m:r>
                          </m:e>
                          <m:sup>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2</m:t>
                            </m:r>
                          </m:sup>
                        </m:sSup>
                      </m:num>
                      <m:den>
                        <m:sSup>
                          <m:sSupPr>
                            <m:ctrlPr>
                              <a:rPr lang="en-IN" sz="1700" i="1" kern="100">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m:t>
                            </m:r>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148</m:t>
                            </m:r>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m:t>
                            </m:r>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66</m:t>
                            </m:r>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m:t>
                            </m:r>
                          </m:e>
                          <m:sup>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3</m:t>
                            </m:r>
                          </m:sup>
                        </m:sSup>
                      </m:den>
                    </m:f>
                  </m:oMath>
                </a14:m>
                <a:r>
                  <a:rPr lang="en-US" sz="1700" kern="100" dirty="0">
                    <a:effectLst/>
                    <a:latin typeface="Times New Roman" panose="02020603050405020304" pitchFamily="18" charset="0"/>
                    <a:ea typeface="Calibri" panose="020F0502020204030204" pitchFamily="34" charset="0"/>
                    <a:cs typeface="Times New Roman" panose="02020603050405020304" pitchFamily="18" charset="0"/>
                  </a:rPr>
                  <a:t>= 3.45</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700" b="1" kern="100" dirty="0">
                    <a:effectLst/>
                    <a:latin typeface="Times New Roman" panose="02020603050405020304" pitchFamily="18" charset="0"/>
                    <a:ea typeface="Calibri" panose="020F0502020204030204" pitchFamily="34" charset="0"/>
                    <a:cs typeface="Times New Roman" panose="02020603050405020304" pitchFamily="18" charset="0"/>
                  </a:rPr>
                  <a:t>The formula for β</a:t>
                </a:r>
                <a:r>
                  <a:rPr lang="en-US" sz="1700" b="1" kern="100" baseline="-25000" dirty="0">
                    <a:effectLst/>
                    <a:latin typeface="Times New Roman" panose="02020603050405020304" pitchFamily="18" charset="0"/>
                    <a:ea typeface="Calibri" panose="020F0502020204030204" pitchFamily="34" charset="0"/>
                    <a:cs typeface="Times New Roman" panose="02020603050405020304" pitchFamily="18" charset="0"/>
                  </a:rPr>
                  <a:t>2</a:t>
                </a:r>
                <a:r>
                  <a:rPr lang="en-US" sz="1700" b="1" kern="100" dirty="0">
                    <a:effectLst/>
                    <a:latin typeface="Times New Roman" panose="02020603050405020304" pitchFamily="18" charset="0"/>
                    <a:ea typeface="Calibri" panose="020F0502020204030204" pitchFamily="34" charset="0"/>
                    <a:cs typeface="Times New Roman" panose="02020603050405020304" pitchFamily="18" charset="0"/>
                  </a:rPr>
                  <a:t> is:</a:t>
                </a:r>
                <a:r>
                  <a:rPr lang="en-IN" sz="1700" kern="100" dirty="0">
                    <a:latin typeface="Calibri" panose="020F0502020204030204" pitchFamily="34" charset="0"/>
                    <a:ea typeface="Calibri" panose="020F0502020204030204" pitchFamily="34" charset="0"/>
                    <a:cs typeface="Times New Roman" panose="02020603050405020304" pitchFamily="18" charset="0"/>
                  </a:rPr>
                  <a:t> </a:t>
                </a:r>
                <a14:m>
                  <m:oMath xmlns:m="http://schemas.openxmlformats.org/officeDocument/2006/math">
                    <m:sSub>
                      <m:sSubPr>
                        <m:ctrlPr>
                          <a:rPr lang="en-IN" sz="17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𝛽</m:t>
                        </m:r>
                      </m:e>
                      <m:sub>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2</m:t>
                        </m:r>
                      </m:sub>
                    </m:sSub>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m:t>
                    </m:r>
                    <m:f>
                      <m:fPr>
                        <m:ctrlPr>
                          <a:rPr lang="en-IN" sz="1700" i="1" kern="100">
                            <a:effectLst/>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IN" sz="17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𝜇</m:t>
                            </m:r>
                          </m:e>
                          <m:sub>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4</m:t>
                            </m:r>
                          </m:sub>
                        </m:sSub>
                      </m:num>
                      <m:den>
                        <m:sSup>
                          <m:sSupPr>
                            <m:ctrlPr>
                              <a:rPr lang="en-IN" sz="1700" i="1" kern="100">
                                <a:effectLst/>
                                <a:latin typeface="Cambria Math" panose="02040503050406030204" pitchFamily="18" charset="0"/>
                                <a:ea typeface="Calibri" panose="020F0502020204030204" pitchFamily="34" charset="0"/>
                                <a:cs typeface="Times New Roman" panose="02020603050405020304" pitchFamily="18" charset="0"/>
                              </a:rPr>
                            </m:ctrlPr>
                          </m:sSupPr>
                          <m:e>
                            <m:sSub>
                              <m:sSubPr>
                                <m:ctrlPr>
                                  <a:rPr lang="en-IN" sz="17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𝜇</m:t>
                                </m:r>
                              </m:e>
                              <m:sub>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2</m:t>
                                </m:r>
                              </m:sub>
                            </m:sSub>
                          </m:e>
                          <m:sup>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2</m:t>
                            </m:r>
                          </m:sup>
                        </m:sSup>
                      </m:den>
                    </m:f>
                  </m:oMath>
                </a14:m>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 xmlns:m="http://schemas.openxmlformats.org/officeDocument/2006/math">
                    <m:sSub>
                      <m:sSubPr>
                        <m:ctrlPr>
                          <a:rPr lang="en-IN" sz="17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700" b="0" i="1" kern="100"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𝛽</m:t>
                        </m:r>
                      </m:e>
                      <m:sub>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2</m:t>
                        </m:r>
                      </m:sub>
                    </m:sSub>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m:t>
                    </m:r>
                    <m:f>
                      <m:fPr>
                        <m:ctrlPr>
                          <a:rPr lang="en-IN" sz="1700" i="1" kern="100">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46645</m:t>
                        </m:r>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m:t>
                        </m:r>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76</m:t>
                        </m:r>
                      </m:num>
                      <m:den>
                        <m:sSup>
                          <m:sSupPr>
                            <m:ctrlPr>
                              <a:rPr lang="en-IN" sz="1700" i="1" kern="100">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m:t>
                            </m:r>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148</m:t>
                            </m:r>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m:t>
                            </m:r>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66</m:t>
                            </m:r>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m:t>
                            </m:r>
                          </m:e>
                          <m:sup>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2</m:t>
                            </m:r>
                          </m:sup>
                        </m:sSup>
                      </m:den>
                    </m:f>
                  </m:oMath>
                </a14:m>
                <a:r>
                  <a:rPr lang="en-US" sz="1700" kern="100" dirty="0">
                    <a:effectLst/>
                    <a:latin typeface="Times New Roman" panose="02020603050405020304" pitchFamily="18" charset="0"/>
                    <a:ea typeface="Calibri" panose="020F0502020204030204" pitchFamily="34" charset="0"/>
                    <a:cs typeface="Times New Roman" panose="02020603050405020304" pitchFamily="18" charset="0"/>
                  </a:rPr>
                  <a:t>= 2.11</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700" kern="100" dirty="0">
                    <a:effectLst/>
                    <a:latin typeface="Times New Roman" panose="02020603050405020304" pitchFamily="18" charset="0"/>
                    <a:ea typeface="Calibri" panose="020F0502020204030204" pitchFamily="34" charset="0"/>
                    <a:cs typeface="Times New Roman" panose="02020603050405020304" pitchFamily="18" charset="0"/>
                  </a:rPr>
                  <a:t>So, </a:t>
                </a:r>
                <a:r>
                  <a:rPr lang="en-US" sz="1700" b="1" kern="100" dirty="0">
                    <a:effectLst/>
                    <a:latin typeface="Times New Roman" panose="02020603050405020304" pitchFamily="18" charset="0"/>
                    <a:ea typeface="Calibri" panose="020F0502020204030204" pitchFamily="34" charset="0"/>
                    <a:cs typeface="Times New Roman" panose="02020603050405020304" pitchFamily="18" charset="0"/>
                  </a:rPr>
                  <a:t>β</a:t>
                </a:r>
                <a:r>
                  <a:rPr lang="en-US" sz="1700" b="1" kern="100" baseline="-25000" dirty="0">
                    <a:effectLst/>
                    <a:latin typeface="Times New Roman" panose="02020603050405020304" pitchFamily="18" charset="0"/>
                    <a:ea typeface="Calibri" panose="020F0502020204030204" pitchFamily="34" charset="0"/>
                    <a:cs typeface="Times New Roman" panose="02020603050405020304" pitchFamily="18" charset="0"/>
                  </a:rPr>
                  <a:t>2</a:t>
                </a:r>
                <a:r>
                  <a:rPr lang="en-US" sz="1700" b="1" kern="100" dirty="0">
                    <a:effectLst/>
                    <a:latin typeface="Times New Roman" panose="02020603050405020304" pitchFamily="18" charset="0"/>
                    <a:ea typeface="Calibri" panose="020F0502020204030204" pitchFamily="34" charset="0"/>
                    <a:cs typeface="Times New Roman" panose="02020603050405020304" pitchFamily="18" charset="0"/>
                  </a:rPr>
                  <a:t> = 2.11</a:t>
                </a:r>
                <a:r>
                  <a:rPr lang="en-US" sz="1700" kern="100" dirty="0">
                    <a:effectLst/>
                    <a:latin typeface="Times New Roman" panose="02020603050405020304" pitchFamily="18" charset="0"/>
                    <a:ea typeface="Calibri" panose="020F0502020204030204" pitchFamily="34" charset="0"/>
                    <a:cs typeface="Times New Roman" panose="02020603050405020304" pitchFamily="18" charset="0"/>
                  </a:rPr>
                  <a:t>, indicating that the distribution is </a:t>
                </a:r>
                <a:r>
                  <a:rPr lang="en-US" sz="1700" b="1" kern="100" dirty="0">
                    <a:effectLst/>
                    <a:latin typeface="Times New Roman" panose="02020603050405020304" pitchFamily="18" charset="0"/>
                    <a:ea typeface="Calibri" panose="020F0502020204030204" pitchFamily="34" charset="0"/>
                    <a:cs typeface="Times New Roman" panose="02020603050405020304" pitchFamily="18" charset="0"/>
                  </a:rPr>
                  <a:t>platykurtic</a:t>
                </a:r>
                <a:r>
                  <a:rPr lang="en-US" sz="1700" kern="100" dirty="0">
                    <a:effectLst/>
                    <a:latin typeface="Times New Roman" panose="02020603050405020304" pitchFamily="18" charset="0"/>
                    <a:ea typeface="Calibri" panose="020F0502020204030204" pitchFamily="34" charset="0"/>
                    <a:cs typeface="Times New Roman" panose="02020603050405020304" pitchFamily="18" charset="0"/>
                  </a:rPr>
                  <a:t> (flatter than a normal distribution, since β</a:t>
                </a:r>
                <a:r>
                  <a:rPr lang="en-US" sz="1700" kern="100" baseline="-25000" dirty="0">
                    <a:effectLst/>
                    <a:latin typeface="Times New Roman" panose="02020603050405020304" pitchFamily="18" charset="0"/>
                    <a:ea typeface="Calibri" panose="020F0502020204030204" pitchFamily="34" charset="0"/>
                    <a:cs typeface="Times New Roman" panose="02020603050405020304" pitchFamily="18" charset="0"/>
                  </a:rPr>
                  <a:t>2</a:t>
                </a:r>
                <a:r>
                  <a:rPr lang="en-US" sz="1700" kern="100" dirty="0">
                    <a:effectLst/>
                    <a:latin typeface="Times New Roman" panose="02020603050405020304" pitchFamily="18" charset="0"/>
                    <a:ea typeface="Calibri" panose="020F0502020204030204" pitchFamily="34" charset="0"/>
                    <a:cs typeface="Times New Roman" panose="02020603050405020304" pitchFamily="18" charset="0"/>
                  </a:rPr>
                  <a:t> is less than 3).</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9" name="TextBox 8">
                <a:extLst>
                  <a:ext uri="{FF2B5EF4-FFF2-40B4-BE49-F238E27FC236}">
                    <a16:creationId xmlns:a16="http://schemas.microsoft.com/office/drawing/2014/main" id="{23C36067-76EF-34BB-754B-5770FA8F9D40}"/>
                  </a:ext>
                </a:extLst>
              </p:cNvPr>
              <p:cNvSpPr txBox="1">
                <a:spLocks noRot="1" noChangeAspect="1" noMove="1" noResize="1" noEditPoints="1" noAdjustHandles="1" noChangeArrowheads="1" noChangeShapeType="1" noTextEdit="1"/>
              </p:cNvSpPr>
              <p:nvPr/>
            </p:nvSpPr>
            <p:spPr>
              <a:xfrm>
                <a:off x="0" y="-253270"/>
                <a:ext cx="9144000" cy="5283882"/>
              </a:xfrm>
              <a:prstGeom prst="rect">
                <a:avLst/>
              </a:prstGeom>
              <a:blipFill>
                <a:blip r:embed="rId2"/>
                <a:stretch>
                  <a:fillRect l="-400" b="-577"/>
                </a:stretch>
              </a:blipFill>
            </p:spPr>
            <p:txBody>
              <a:bodyPr/>
              <a:lstStyle/>
              <a:p>
                <a:r>
                  <a:rPr lang="en-US">
                    <a:noFill/>
                  </a:rPr>
                  <a:t> </a:t>
                </a:r>
              </a:p>
            </p:txBody>
          </p:sp>
        </mc:Fallback>
      </mc:AlternateContent>
    </p:spTree>
    <p:extLst>
      <p:ext uri="{BB962C8B-B14F-4D97-AF65-F5344CB8AC3E}">
        <p14:creationId xmlns:p14="http://schemas.microsoft.com/office/powerpoint/2010/main" val="175861990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33"/>
          <p:cNvSpPr txBox="1">
            <a:spLocks noGrp="1"/>
          </p:cNvSpPr>
          <p:nvPr>
            <p:ph type="title" idx="4294967295"/>
          </p:nvPr>
        </p:nvSpPr>
        <p:spPr>
          <a:xfrm>
            <a:off x="298174" y="265594"/>
            <a:ext cx="7951304" cy="4554884"/>
          </a:xfrm>
          <a:prstGeom prst="rect">
            <a:avLst/>
          </a:prstGeom>
          <a:noFill/>
          <a:ln>
            <a:noFill/>
          </a:ln>
        </p:spPr>
        <p:txBody>
          <a:bodyPr spcFirstLastPara="1" wrap="square" lIns="91425" tIns="91425" rIns="91425" bIns="91425" anchor="t" anchorCtr="0">
            <a:noAutofit/>
          </a:bodyPr>
          <a:lstStyle/>
          <a:p>
            <a:pPr>
              <a:lnSpc>
                <a:spcPct val="115000"/>
              </a:lnSpc>
              <a:spcBef>
                <a:spcPts val="1400"/>
              </a:spcBef>
              <a:spcAft>
                <a:spcPts val="400"/>
              </a:spcAft>
              <a:buSzPts val="1100"/>
            </a:pPr>
            <a:r>
              <a:rPr lang="en" sz="3400" b="1" dirty="0">
                <a:solidFill>
                  <a:srgbClr val="FF0000"/>
                </a:solidFill>
                <a:latin typeface="Times New Roman" panose="02020603050405020304" pitchFamily="18" charset="0"/>
                <a:cs typeface="Times New Roman" panose="02020603050405020304" pitchFamily="18" charset="0"/>
              </a:rPr>
              <a:t>Quartiles, Deciles, Percentiles</a:t>
            </a:r>
            <a:br>
              <a:rPr lang="en" sz="3400" b="1" dirty="0">
                <a:solidFill>
                  <a:srgbClr val="FF0000"/>
                </a:solidFill>
                <a:latin typeface="Times New Roman" panose="02020603050405020304" pitchFamily="18" charset="0"/>
                <a:cs typeface="Times New Roman" panose="02020603050405020304" pitchFamily="18" charset="0"/>
              </a:rPr>
            </a:br>
            <a:r>
              <a:rPr lang="en-US" sz="1800" b="0" i="0" dirty="0">
                <a:solidFill>
                  <a:schemeClr val="tx1"/>
                </a:solidFill>
                <a:effectLst/>
                <a:latin typeface="Times New Roman" panose="02020603050405020304" pitchFamily="18" charset="0"/>
                <a:cs typeface="Times New Roman" panose="02020603050405020304" pitchFamily="18" charset="0"/>
              </a:rPr>
              <a:t>Partition values are statistical measures that divide a dataset into equal parts.</a:t>
            </a:r>
            <a:br>
              <a:rPr lang="en-US" sz="1800" b="0" i="0" dirty="0">
                <a:solidFill>
                  <a:schemeClr val="tx1"/>
                </a:solidFill>
                <a:effectLst/>
                <a:latin typeface="Times New Roman" panose="02020603050405020304" pitchFamily="18" charset="0"/>
                <a:cs typeface="Times New Roman" panose="02020603050405020304" pitchFamily="18" charset="0"/>
              </a:rPr>
            </a:br>
            <a:br>
              <a:rPr lang="en-US" sz="1800" b="0" i="0" dirty="0">
                <a:solidFill>
                  <a:schemeClr val="tx1"/>
                </a:solidFill>
                <a:effectLst/>
                <a:latin typeface="Times New Roman" panose="02020603050405020304" pitchFamily="18" charset="0"/>
                <a:cs typeface="Times New Roman" panose="02020603050405020304" pitchFamily="18" charset="0"/>
              </a:rPr>
            </a:br>
            <a:r>
              <a:rPr lang="en-US" sz="1800" b="0" i="0" dirty="0">
                <a:solidFill>
                  <a:schemeClr val="tx1"/>
                </a:solidFill>
                <a:effectLst/>
                <a:latin typeface="Times New Roman" panose="02020603050405020304" pitchFamily="18" charset="0"/>
                <a:cs typeface="Times New Roman" panose="02020603050405020304" pitchFamily="18" charset="0"/>
              </a:rPr>
              <a:t>They help in understanding the distribution and spread of data by indicating where certain percentages of the data fall. </a:t>
            </a:r>
            <a:br>
              <a:rPr lang="en-US" sz="1800" b="0" i="0" dirty="0">
                <a:solidFill>
                  <a:schemeClr val="tx1"/>
                </a:solidFill>
                <a:effectLst/>
                <a:latin typeface="Times New Roman" panose="02020603050405020304" pitchFamily="18" charset="0"/>
                <a:cs typeface="Times New Roman" panose="02020603050405020304" pitchFamily="18" charset="0"/>
              </a:rPr>
            </a:br>
            <a:br>
              <a:rPr lang="en-US" sz="1800" b="0" i="0" dirty="0">
                <a:solidFill>
                  <a:schemeClr val="tx1"/>
                </a:solidFill>
                <a:effectLst/>
                <a:latin typeface="Times New Roman" panose="02020603050405020304" pitchFamily="18" charset="0"/>
                <a:cs typeface="Times New Roman" panose="02020603050405020304" pitchFamily="18" charset="0"/>
              </a:rPr>
            </a:br>
            <a:r>
              <a:rPr lang="en-US" sz="1800" b="0" i="0" dirty="0">
                <a:solidFill>
                  <a:schemeClr val="tx1"/>
                </a:solidFill>
                <a:effectLst/>
                <a:latin typeface="Times New Roman" panose="02020603050405020304" pitchFamily="18" charset="0"/>
                <a:cs typeface="Times New Roman" panose="02020603050405020304" pitchFamily="18" charset="0"/>
              </a:rPr>
              <a:t>There are several ways to divide an observation when required.</a:t>
            </a:r>
            <a:br>
              <a:rPr lang="en-US" sz="1800" b="0" i="0" dirty="0">
                <a:solidFill>
                  <a:schemeClr val="tx1"/>
                </a:solidFill>
                <a:effectLst/>
                <a:latin typeface="Times New Roman" panose="02020603050405020304" pitchFamily="18" charset="0"/>
                <a:cs typeface="Times New Roman" panose="02020603050405020304" pitchFamily="18" charset="0"/>
              </a:rPr>
            </a:br>
            <a:r>
              <a:rPr lang="en-US" sz="1800" b="0" i="0" dirty="0">
                <a:solidFill>
                  <a:schemeClr val="tx1"/>
                </a:solidFill>
                <a:effectLst/>
                <a:latin typeface="Times New Roman" panose="02020603050405020304" pitchFamily="18" charset="0"/>
                <a:cs typeface="Times New Roman" panose="02020603050405020304" pitchFamily="18" charset="0"/>
              </a:rPr>
              <a:t> </a:t>
            </a:r>
            <a:br>
              <a:rPr lang="en-US" sz="1800" b="0" i="0" dirty="0">
                <a:solidFill>
                  <a:schemeClr val="tx1"/>
                </a:solidFill>
                <a:effectLst/>
                <a:latin typeface="Times New Roman" panose="02020603050405020304" pitchFamily="18" charset="0"/>
                <a:cs typeface="Times New Roman" panose="02020603050405020304" pitchFamily="18" charset="0"/>
              </a:rPr>
            </a:br>
            <a:r>
              <a:rPr lang="en-US" sz="1800" b="0" i="0" dirty="0">
                <a:solidFill>
                  <a:schemeClr val="tx1"/>
                </a:solidFill>
                <a:effectLst/>
                <a:latin typeface="Times New Roman" panose="02020603050405020304" pitchFamily="18" charset="0"/>
                <a:cs typeface="Times New Roman" panose="02020603050405020304" pitchFamily="18" charset="0"/>
              </a:rPr>
              <a:t>The most used partition values are quartiles, deciles, and percentiles.</a:t>
            </a:r>
            <a:br>
              <a:rPr lang="en-US" sz="1800" b="0" i="0" dirty="0">
                <a:solidFill>
                  <a:schemeClr val="tx1"/>
                </a:solidFill>
                <a:effectLst/>
                <a:latin typeface="Times New Roman" panose="02020603050405020304" pitchFamily="18" charset="0"/>
                <a:cs typeface="Times New Roman" panose="02020603050405020304" pitchFamily="18" charset="0"/>
              </a:rPr>
            </a:br>
            <a:br>
              <a:rPr lang="en-US" sz="1800" b="0" i="0" dirty="0">
                <a:solidFill>
                  <a:schemeClr val="tx1"/>
                </a:solidFill>
                <a:effectLst/>
                <a:latin typeface="Times New Roman" panose="02020603050405020304" pitchFamily="18" charset="0"/>
                <a:cs typeface="Times New Roman" panose="02020603050405020304" pitchFamily="18" charset="0"/>
              </a:rPr>
            </a:br>
            <a:r>
              <a:rPr lang="en-US" sz="1800" b="0" i="0" dirty="0">
                <a:solidFill>
                  <a:schemeClr val="tx1"/>
                </a:solidFill>
                <a:effectLst/>
                <a:latin typeface="Times New Roman" panose="02020603050405020304" pitchFamily="18" charset="0"/>
                <a:cs typeface="Times New Roman" panose="02020603050405020304" pitchFamily="18" charset="0"/>
              </a:rPr>
              <a:t>To divide the observation into two equally sized parts, the median can be used.</a:t>
            </a:r>
            <a:br>
              <a:rPr lang="en-US" sz="1800" b="0" i="0" dirty="0">
                <a:solidFill>
                  <a:schemeClr val="tx1"/>
                </a:solidFill>
                <a:effectLst/>
                <a:latin typeface="Times New Roman" panose="02020603050405020304" pitchFamily="18" charset="0"/>
                <a:cs typeface="Times New Roman" panose="02020603050405020304" pitchFamily="18" charset="0"/>
              </a:rPr>
            </a:br>
            <a:br>
              <a:rPr lang="en-US" sz="1800" b="0" i="0" dirty="0">
                <a:solidFill>
                  <a:schemeClr val="tx1"/>
                </a:solidFill>
                <a:effectLst/>
                <a:latin typeface="Times New Roman" panose="02020603050405020304" pitchFamily="18" charset="0"/>
                <a:cs typeface="Times New Roman" panose="02020603050405020304" pitchFamily="18" charset="0"/>
              </a:rPr>
            </a:br>
            <a:br>
              <a:rPr lang="en-IN" sz="1800" dirty="0">
                <a:solidFill>
                  <a:schemeClr val="tx1"/>
                </a:solidFill>
                <a:latin typeface="Times New Roman" panose="02020603050405020304" pitchFamily="18" charset="0"/>
                <a:cs typeface="Times New Roman" panose="02020603050405020304" pitchFamily="18" charset="0"/>
              </a:rPr>
            </a:br>
            <a:endParaRPr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255871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ADD07-9388-BEEC-BAB0-E5A423840F75}"/>
              </a:ext>
            </a:extLst>
          </p:cNvPr>
          <p:cNvSpPr>
            <a:spLocks noGrp="1"/>
          </p:cNvSpPr>
          <p:nvPr>
            <p:ph type="title"/>
          </p:nvPr>
        </p:nvSpPr>
        <p:spPr>
          <a:xfrm>
            <a:off x="311700" y="0"/>
            <a:ext cx="8520600" cy="574625"/>
          </a:xfrm>
        </p:spPr>
        <p:txBody>
          <a:bodyPr>
            <a:noAutofit/>
          </a:bodyPr>
          <a:lstStyle/>
          <a:p>
            <a:r>
              <a:rPr lang="en-US" sz="32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Quartiles:</a:t>
            </a:r>
            <a:endParaRPr lang="en-IN" sz="3200"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D87AABD6-D086-5118-70DC-2BDCC84884E8}"/>
                  </a:ext>
                </a:extLst>
              </p:cNvPr>
              <p:cNvSpPr>
                <a:spLocks noGrp="1"/>
              </p:cNvSpPr>
              <p:nvPr>
                <p:ph type="body" idx="1"/>
              </p:nvPr>
            </p:nvSpPr>
            <p:spPr>
              <a:xfrm>
                <a:off x="311699" y="574624"/>
                <a:ext cx="8663335" cy="4355185"/>
              </a:xfrm>
            </p:spPr>
            <p:txBody>
              <a:bodyPr>
                <a:noAutofit/>
              </a:bodyPr>
              <a:lstStyle/>
              <a:p>
                <a:pPr marL="114300" indent="0">
                  <a:buNone/>
                </a:pPr>
                <a:r>
                  <a:rPr lang="en-US" b="0" i="0" dirty="0">
                    <a:solidFill>
                      <a:schemeClr val="tx1"/>
                    </a:solidFill>
                    <a:effectLst/>
                    <a:latin typeface="Times New Roman" panose="02020603050405020304" pitchFamily="18" charset="0"/>
                    <a:cs typeface="Times New Roman" panose="02020603050405020304" pitchFamily="18" charset="0"/>
                  </a:rPr>
                  <a:t>A </a:t>
                </a:r>
                <a:r>
                  <a:rPr lang="en-US" b="1" i="0" dirty="0">
                    <a:solidFill>
                      <a:schemeClr val="tx1"/>
                    </a:solidFill>
                    <a:effectLst/>
                    <a:latin typeface="Times New Roman" panose="02020603050405020304" pitchFamily="18" charset="0"/>
                    <a:cs typeface="Times New Roman" panose="02020603050405020304" pitchFamily="18" charset="0"/>
                  </a:rPr>
                  <a:t>quartile</a:t>
                </a:r>
                <a:r>
                  <a:rPr lang="en-US" b="0" i="0" dirty="0">
                    <a:solidFill>
                      <a:schemeClr val="tx1"/>
                    </a:solidFill>
                    <a:effectLst/>
                    <a:latin typeface="Times New Roman" panose="02020603050405020304" pitchFamily="18" charset="0"/>
                    <a:cs typeface="Times New Roman" panose="02020603050405020304" pitchFamily="18" charset="0"/>
                  </a:rPr>
                  <a:t> is a set of values that divides a dataset into four equal parts. </a:t>
                </a:r>
              </a:p>
              <a:p>
                <a:pPr marL="114300" indent="0">
                  <a:buNone/>
                </a:pPr>
                <a:r>
                  <a:rPr lang="en-US" b="0" i="0" dirty="0">
                    <a:solidFill>
                      <a:schemeClr val="tx1"/>
                    </a:solidFill>
                    <a:effectLst/>
                    <a:latin typeface="Times New Roman" panose="02020603050405020304" pitchFamily="18" charset="0"/>
                    <a:cs typeface="Times New Roman" panose="02020603050405020304" pitchFamily="18" charset="0"/>
                  </a:rPr>
                  <a:t>The first quartile, second quartile, and third quartile are the three basic quartile categories. </a:t>
                </a:r>
              </a:p>
              <a:p>
                <a:pPr marL="114300" indent="0">
                  <a:buNone/>
                </a:pPr>
                <a:r>
                  <a:rPr lang="en-US" b="0" i="0" dirty="0">
                    <a:solidFill>
                      <a:schemeClr val="tx1"/>
                    </a:solidFill>
                    <a:effectLst/>
                    <a:latin typeface="Times New Roman" panose="02020603050405020304" pitchFamily="18" charset="0"/>
                    <a:cs typeface="Times New Roman" panose="02020603050405020304" pitchFamily="18" charset="0"/>
                  </a:rPr>
                  <a:t>The lower quartile/first quartile and is denoted by the letter </a:t>
                </a:r>
                <a:r>
                  <a:rPr lang="en-US" b="1" i="0" dirty="0">
                    <a:solidFill>
                      <a:schemeClr val="tx1"/>
                    </a:solidFill>
                    <a:effectLst/>
                    <a:latin typeface="Times New Roman" panose="02020603050405020304" pitchFamily="18" charset="0"/>
                    <a:cs typeface="Times New Roman" panose="02020603050405020304" pitchFamily="18" charset="0"/>
                  </a:rPr>
                  <a:t>Q</a:t>
                </a:r>
                <a:r>
                  <a:rPr lang="en-US" b="1" i="0" baseline="-25000" dirty="0">
                    <a:solidFill>
                      <a:schemeClr val="tx1"/>
                    </a:solidFill>
                    <a:effectLst/>
                    <a:latin typeface="Times New Roman" panose="02020603050405020304" pitchFamily="18" charset="0"/>
                    <a:cs typeface="Times New Roman" panose="02020603050405020304" pitchFamily="18" charset="0"/>
                  </a:rPr>
                  <a:t>1</a:t>
                </a:r>
                <a:r>
                  <a:rPr lang="en-US" b="0" i="0" dirty="0">
                    <a:solidFill>
                      <a:schemeClr val="tx1"/>
                    </a:solidFill>
                    <a:effectLst/>
                    <a:latin typeface="Times New Roman" panose="02020603050405020304" pitchFamily="18" charset="0"/>
                    <a:cs typeface="Times New Roman" panose="02020603050405020304" pitchFamily="18" charset="0"/>
                  </a:rPr>
                  <a:t>. </a:t>
                </a:r>
              </a:p>
              <a:p>
                <a:pPr marL="114300" indent="0">
                  <a:buNone/>
                </a:pPr>
                <a:r>
                  <a:rPr lang="en-US" b="0" i="0" dirty="0">
                    <a:solidFill>
                      <a:schemeClr val="tx1"/>
                    </a:solidFill>
                    <a:effectLst/>
                    <a:latin typeface="Times New Roman" panose="02020603050405020304" pitchFamily="18" charset="0"/>
                    <a:cs typeface="Times New Roman" panose="02020603050405020304" pitchFamily="18" charset="0"/>
                  </a:rPr>
                  <a:t>The median/second quartile and is denoted by the letter </a:t>
                </a:r>
                <a:r>
                  <a:rPr lang="en-US" b="1" i="0" dirty="0">
                    <a:solidFill>
                      <a:schemeClr val="tx1"/>
                    </a:solidFill>
                    <a:effectLst/>
                    <a:latin typeface="Times New Roman" panose="02020603050405020304" pitchFamily="18" charset="0"/>
                    <a:cs typeface="Times New Roman" panose="02020603050405020304" pitchFamily="18" charset="0"/>
                  </a:rPr>
                  <a:t>Q</a:t>
                </a:r>
                <a:r>
                  <a:rPr lang="en-US" b="1" i="0" baseline="-25000" dirty="0">
                    <a:solidFill>
                      <a:schemeClr val="tx1"/>
                    </a:solidFill>
                    <a:effectLst/>
                    <a:latin typeface="Times New Roman" panose="02020603050405020304" pitchFamily="18" charset="0"/>
                    <a:cs typeface="Times New Roman" panose="02020603050405020304" pitchFamily="18" charset="0"/>
                  </a:rPr>
                  <a:t>2</a:t>
                </a:r>
                <a:r>
                  <a:rPr lang="en-US" b="0" i="0" dirty="0">
                    <a:solidFill>
                      <a:schemeClr val="tx1"/>
                    </a:solidFill>
                    <a:effectLst/>
                    <a:latin typeface="Times New Roman" panose="02020603050405020304" pitchFamily="18" charset="0"/>
                    <a:cs typeface="Times New Roman" panose="02020603050405020304" pitchFamily="18" charset="0"/>
                  </a:rPr>
                  <a:t>. </a:t>
                </a:r>
              </a:p>
              <a:p>
                <a:pPr marL="114300" indent="0">
                  <a:buNone/>
                </a:pPr>
                <a:r>
                  <a:rPr lang="en-US" b="0" i="0" dirty="0">
                    <a:solidFill>
                      <a:schemeClr val="tx1"/>
                    </a:solidFill>
                    <a:effectLst/>
                    <a:latin typeface="Times New Roman" panose="02020603050405020304" pitchFamily="18" charset="0"/>
                    <a:cs typeface="Times New Roman" panose="02020603050405020304" pitchFamily="18" charset="0"/>
                  </a:rPr>
                  <a:t>The third quartile/upper quartile and is denoted by the letter </a:t>
                </a:r>
                <a:r>
                  <a:rPr lang="en-US" b="1" i="0" dirty="0">
                    <a:solidFill>
                      <a:schemeClr val="tx1"/>
                    </a:solidFill>
                    <a:effectLst/>
                    <a:latin typeface="Times New Roman" panose="02020603050405020304" pitchFamily="18" charset="0"/>
                    <a:cs typeface="Times New Roman" panose="02020603050405020304" pitchFamily="18" charset="0"/>
                  </a:rPr>
                  <a:t>Q</a:t>
                </a:r>
                <a:r>
                  <a:rPr lang="en-US" b="1" i="0" baseline="-25000" dirty="0">
                    <a:solidFill>
                      <a:schemeClr val="tx1"/>
                    </a:solidFill>
                    <a:effectLst/>
                    <a:latin typeface="Times New Roman" panose="02020603050405020304" pitchFamily="18" charset="0"/>
                    <a:cs typeface="Times New Roman" panose="02020603050405020304" pitchFamily="18" charset="0"/>
                  </a:rPr>
                  <a:t>3</a:t>
                </a:r>
                <a:r>
                  <a:rPr lang="en-US" b="0" i="0" dirty="0">
                    <a:solidFill>
                      <a:schemeClr val="tx1"/>
                    </a:solidFill>
                    <a:effectLst/>
                    <a:latin typeface="Times New Roman" panose="02020603050405020304" pitchFamily="18" charset="0"/>
                    <a:cs typeface="Times New Roman" panose="02020603050405020304" pitchFamily="18" charset="0"/>
                  </a:rPr>
                  <a:t>.</a:t>
                </a:r>
                <a:r>
                  <a:rPr lang="en-US" b="0" dirty="0">
                    <a:solidFill>
                      <a:srgbClr val="273239"/>
                    </a:solidFill>
                    <a:effectLst/>
                  </a:rPr>
                  <a:t>	            </a:t>
                </a:r>
              </a:p>
              <a:p>
                <a:pPr marL="114300" indent="0">
                  <a:buNone/>
                </a:pPr>
                <a:r>
                  <a:rPr lang="en-US" b="0" dirty="0">
                    <a:solidFill>
                      <a:schemeClr val="tx1"/>
                    </a:solidFill>
                    <a:effectLst/>
                  </a:rPr>
                  <a:t> </a:t>
                </a:r>
                <a14:m>
                  <m:oMath xmlns:m="http://schemas.openxmlformats.org/officeDocument/2006/math">
                    <m:sSub>
                      <m:sSubPr>
                        <m:ctrlPr>
                          <a:rPr lang="en-US" b="0" i="1" dirty="0" smtClean="0">
                            <a:solidFill>
                              <a:schemeClr val="tx1"/>
                            </a:solidFill>
                            <a:effectLst/>
                            <a:latin typeface="Cambria Math" panose="02040503050406030204" pitchFamily="18" charset="0"/>
                          </a:rPr>
                        </m:ctrlPr>
                      </m:sSubPr>
                      <m:e>
                        <m:r>
                          <a:rPr lang="en-US" b="0" i="1" dirty="0" smtClean="0">
                            <a:solidFill>
                              <a:schemeClr val="tx1"/>
                            </a:solidFill>
                            <a:effectLst/>
                            <a:latin typeface="Cambria Math" panose="02040503050406030204" pitchFamily="18" charset="0"/>
                          </a:rPr>
                          <m:t>𝑄</m:t>
                        </m:r>
                      </m:e>
                      <m:sub>
                        <m:r>
                          <a:rPr lang="en-US" b="0" i="1" dirty="0" smtClean="0">
                            <a:solidFill>
                              <a:schemeClr val="tx1"/>
                            </a:solidFill>
                            <a:effectLst/>
                            <a:latin typeface="Cambria Math" panose="02040503050406030204" pitchFamily="18" charset="0"/>
                          </a:rPr>
                          <m:t>1</m:t>
                        </m:r>
                      </m:sub>
                    </m:sSub>
                    <m:r>
                      <a:rPr lang="en-US" b="0" i="1" dirty="0" smtClean="0">
                        <a:solidFill>
                          <a:schemeClr val="tx1"/>
                        </a:solidFill>
                        <a:effectLst/>
                        <a:latin typeface="Cambria Math" panose="02040503050406030204" pitchFamily="18" charset="0"/>
                      </a:rPr>
                      <m:t>=</m:t>
                    </m:r>
                    <m:sSup>
                      <m:sSupPr>
                        <m:ctrlPr>
                          <a:rPr lang="en-US" b="0" i="1" dirty="0" smtClean="0">
                            <a:solidFill>
                              <a:schemeClr val="tx1"/>
                            </a:solidFill>
                            <a:effectLst/>
                            <a:latin typeface="Cambria Math" panose="02040503050406030204" pitchFamily="18" charset="0"/>
                          </a:rPr>
                        </m:ctrlPr>
                      </m:sSupPr>
                      <m:e>
                        <m:d>
                          <m:dPr>
                            <m:begChr m:val="["/>
                            <m:endChr m:val="]"/>
                            <m:ctrlPr>
                              <a:rPr lang="en-US" i="1" dirty="0">
                                <a:solidFill>
                                  <a:schemeClr val="tx1"/>
                                </a:solidFill>
                                <a:latin typeface="Cambria Math" panose="02040503050406030204" pitchFamily="18" charset="0"/>
                              </a:rPr>
                            </m:ctrlPr>
                          </m:dPr>
                          <m:e>
                            <m:f>
                              <m:fPr>
                                <m:ctrlPr>
                                  <a:rPr lang="en-US" i="1" dirty="0">
                                    <a:solidFill>
                                      <a:schemeClr val="tx1"/>
                                    </a:solidFill>
                                    <a:latin typeface="Cambria Math" panose="02040503050406030204" pitchFamily="18" charset="0"/>
                                  </a:rPr>
                                </m:ctrlPr>
                              </m:fPr>
                              <m:num>
                                <m:r>
                                  <a:rPr lang="en-US" i="1" dirty="0">
                                    <a:solidFill>
                                      <a:schemeClr val="tx1"/>
                                    </a:solidFill>
                                    <a:latin typeface="Cambria Math" panose="02040503050406030204" pitchFamily="18" charset="0"/>
                                  </a:rPr>
                                  <m:t>𝑁</m:t>
                                </m:r>
                                <m:r>
                                  <a:rPr lang="en-US" i="1" dirty="0">
                                    <a:solidFill>
                                      <a:schemeClr val="tx1"/>
                                    </a:solidFill>
                                    <a:latin typeface="Cambria Math" panose="02040503050406030204" pitchFamily="18" charset="0"/>
                                  </a:rPr>
                                  <m:t>+</m:t>
                                </m:r>
                                <m:r>
                                  <a:rPr lang="en-US" i="1" dirty="0">
                                    <a:solidFill>
                                      <a:schemeClr val="tx1"/>
                                    </a:solidFill>
                                    <a:latin typeface="Cambria Math" panose="02040503050406030204" pitchFamily="18" charset="0"/>
                                  </a:rPr>
                                  <m:t>1</m:t>
                                </m:r>
                              </m:num>
                              <m:den>
                                <m:r>
                                  <a:rPr lang="en-US" i="1" dirty="0">
                                    <a:solidFill>
                                      <a:schemeClr val="tx1"/>
                                    </a:solidFill>
                                    <a:latin typeface="Cambria Math" panose="02040503050406030204" pitchFamily="18" charset="0"/>
                                  </a:rPr>
                                  <m:t>4</m:t>
                                </m:r>
                              </m:den>
                            </m:f>
                          </m:e>
                        </m:d>
                      </m:e>
                      <m:sup>
                        <m:r>
                          <a:rPr lang="en-US" b="0" i="1" dirty="0" smtClean="0">
                            <a:solidFill>
                              <a:schemeClr val="tx1"/>
                            </a:solidFill>
                            <a:effectLst/>
                            <a:latin typeface="Cambria Math" panose="02040503050406030204" pitchFamily="18" charset="0"/>
                          </a:rPr>
                          <m:t>𝑡</m:t>
                        </m:r>
                        <m:r>
                          <a:rPr lang="en-US" b="0" i="1" dirty="0" smtClean="0">
                            <a:solidFill>
                              <a:schemeClr val="tx1"/>
                            </a:solidFill>
                            <a:effectLst/>
                            <a:latin typeface="Cambria Math" panose="02040503050406030204" pitchFamily="18" charset="0"/>
                          </a:rPr>
                          <m:t>h</m:t>
                        </m:r>
                      </m:sup>
                    </m:sSup>
                  </m:oMath>
                </a14:m>
                <a:r>
                  <a:rPr lang="en-US" b="0" i="1" dirty="0">
                    <a:solidFill>
                      <a:schemeClr val="tx1"/>
                    </a:solidFill>
                    <a:effectLst/>
                    <a:latin typeface="Times New Roman" panose="02020603050405020304" pitchFamily="18" charset="0"/>
                    <a:cs typeface="Times New Roman" panose="02020603050405020304" pitchFamily="18" charset="0"/>
                  </a:rPr>
                  <a:t> item</a:t>
                </a:r>
                <a:r>
                  <a:rPr lang="en-US" dirty="0">
                    <a:solidFill>
                      <a:schemeClr val="tx1"/>
                    </a:solidFill>
                    <a:latin typeface="Times New Roman" panose="02020603050405020304" pitchFamily="18" charset="0"/>
                    <a:cs typeface="Times New Roman" panose="02020603050405020304" pitchFamily="18" charset="0"/>
                  </a:rPr>
                  <a:t>		</a:t>
                </a:r>
                <a:endParaRPr lang="en-US" i="1" dirty="0">
                  <a:solidFill>
                    <a:schemeClr val="tx1"/>
                  </a:solidFill>
                  <a:latin typeface="Times New Roman" panose="02020603050405020304" pitchFamily="18" charset="0"/>
                  <a:cs typeface="Times New Roman" panose="02020603050405020304" pitchFamily="18" charset="0"/>
                </a:endParaRPr>
              </a:p>
              <a:p>
                <a:pPr marL="114300" indent="0">
                  <a:buNone/>
                </a:pPr>
                <a:r>
                  <a:rPr lang="en-US" i="1"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i="1" dirty="0">
                            <a:solidFill>
                              <a:schemeClr val="tx1"/>
                            </a:solidFill>
                            <a:latin typeface="Cambria Math" panose="02040503050406030204" pitchFamily="18" charset="0"/>
                          </a:rPr>
                        </m:ctrlPr>
                      </m:sSubPr>
                      <m:e>
                        <m:r>
                          <a:rPr lang="en-US" i="1" dirty="0">
                            <a:solidFill>
                              <a:schemeClr val="tx1"/>
                            </a:solidFill>
                            <a:latin typeface="Cambria Math" panose="02040503050406030204" pitchFamily="18" charset="0"/>
                          </a:rPr>
                          <m:t>𝑄</m:t>
                        </m:r>
                      </m:e>
                      <m:sub>
                        <m:r>
                          <a:rPr lang="en-US" b="0" i="1" dirty="0" smtClean="0">
                            <a:solidFill>
                              <a:schemeClr val="tx1"/>
                            </a:solidFill>
                            <a:latin typeface="Cambria Math" panose="02040503050406030204" pitchFamily="18" charset="0"/>
                          </a:rPr>
                          <m:t>2</m:t>
                        </m:r>
                      </m:sub>
                    </m:sSub>
                    <m:r>
                      <a:rPr lang="en-US" i="1" dirty="0">
                        <a:solidFill>
                          <a:schemeClr val="tx1"/>
                        </a:solidFill>
                        <a:latin typeface="Cambria Math" panose="02040503050406030204" pitchFamily="18" charset="0"/>
                      </a:rPr>
                      <m:t> </m:t>
                    </m:r>
                    <m:r>
                      <a:rPr lang="en-US" b="0" i="1" dirty="0" smtClean="0">
                        <a:solidFill>
                          <a:schemeClr val="tx1"/>
                        </a:solidFill>
                        <a:effectLst/>
                        <a:latin typeface="Cambria Math" panose="02040503050406030204" pitchFamily="18" charset="0"/>
                      </a:rPr>
                      <m:t>=</m:t>
                    </m:r>
                    <m:sSup>
                      <m:sSupPr>
                        <m:ctrlPr>
                          <a:rPr lang="en-US" i="1" dirty="0">
                            <a:solidFill>
                              <a:schemeClr val="tx1"/>
                            </a:solidFill>
                            <a:latin typeface="Cambria Math" panose="02040503050406030204" pitchFamily="18" charset="0"/>
                          </a:rPr>
                        </m:ctrlPr>
                      </m:sSupPr>
                      <m:e>
                        <m:d>
                          <m:dPr>
                            <m:begChr m:val="["/>
                            <m:endChr m:val="]"/>
                            <m:ctrlPr>
                              <a:rPr lang="en-US" i="1" dirty="0">
                                <a:solidFill>
                                  <a:schemeClr val="tx1"/>
                                </a:solidFill>
                                <a:latin typeface="Cambria Math" panose="02040503050406030204" pitchFamily="18" charset="0"/>
                              </a:rPr>
                            </m:ctrlPr>
                          </m:dPr>
                          <m:e>
                            <m:f>
                              <m:fPr>
                                <m:ctrlPr>
                                  <a:rPr lang="en-US" i="1" dirty="0">
                                    <a:solidFill>
                                      <a:schemeClr val="tx1"/>
                                    </a:solidFill>
                                    <a:latin typeface="Cambria Math" panose="02040503050406030204" pitchFamily="18" charset="0"/>
                                  </a:rPr>
                                </m:ctrlPr>
                              </m:fPr>
                              <m:num>
                                <m:r>
                                  <a:rPr lang="en-US" b="0" i="1" dirty="0" smtClean="0">
                                    <a:solidFill>
                                      <a:schemeClr val="tx1"/>
                                    </a:solidFill>
                                    <a:latin typeface="Cambria Math" panose="02040503050406030204" pitchFamily="18" charset="0"/>
                                  </a:rPr>
                                  <m:t>2</m:t>
                                </m:r>
                                <m:r>
                                  <a:rPr lang="en-US" b="0" i="1" dirty="0" smtClean="0">
                                    <a:solidFill>
                                      <a:schemeClr val="tx1"/>
                                    </a:solidFill>
                                    <a:latin typeface="Cambria Math" panose="02040503050406030204" pitchFamily="18" charset="0"/>
                                  </a:rPr>
                                  <m:t>(</m:t>
                                </m:r>
                                <m:r>
                                  <a:rPr lang="en-US" i="1" dirty="0">
                                    <a:solidFill>
                                      <a:schemeClr val="tx1"/>
                                    </a:solidFill>
                                    <a:latin typeface="Cambria Math" panose="02040503050406030204" pitchFamily="18" charset="0"/>
                                  </a:rPr>
                                  <m:t>𝑁</m:t>
                                </m:r>
                                <m:r>
                                  <a:rPr lang="en-US" i="1" dirty="0">
                                    <a:solidFill>
                                      <a:schemeClr val="tx1"/>
                                    </a:solidFill>
                                    <a:latin typeface="Cambria Math" panose="02040503050406030204" pitchFamily="18" charset="0"/>
                                  </a:rPr>
                                  <m:t>+</m:t>
                                </m:r>
                                <m:r>
                                  <a:rPr lang="en-US" i="1" dirty="0">
                                    <a:solidFill>
                                      <a:schemeClr val="tx1"/>
                                    </a:solidFill>
                                    <a:latin typeface="Cambria Math" panose="02040503050406030204" pitchFamily="18" charset="0"/>
                                  </a:rPr>
                                  <m:t>1</m:t>
                                </m:r>
                                <m:r>
                                  <a:rPr lang="en-US" b="0" i="1" dirty="0" smtClean="0">
                                    <a:solidFill>
                                      <a:schemeClr val="tx1"/>
                                    </a:solidFill>
                                    <a:latin typeface="Cambria Math" panose="02040503050406030204" pitchFamily="18" charset="0"/>
                                  </a:rPr>
                                  <m:t>)</m:t>
                                </m:r>
                              </m:num>
                              <m:den>
                                <m:r>
                                  <a:rPr lang="en-US" i="1" dirty="0">
                                    <a:solidFill>
                                      <a:schemeClr val="tx1"/>
                                    </a:solidFill>
                                    <a:latin typeface="Cambria Math" panose="02040503050406030204" pitchFamily="18" charset="0"/>
                                  </a:rPr>
                                  <m:t>4</m:t>
                                </m:r>
                              </m:den>
                            </m:f>
                          </m:e>
                        </m:d>
                      </m:e>
                      <m:sup>
                        <m:r>
                          <a:rPr lang="en-US" i="1" dirty="0">
                            <a:solidFill>
                              <a:schemeClr val="tx1"/>
                            </a:solidFill>
                            <a:latin typeface="Cambria Math" panose="02040503050406030204" pitchFamily="18" charset="0"/>
                          </a:rPr>
                          <m:t>𝑡</m:t>
                        </m:r>
                        <m:r>
                          <a:rPr lang="en-US" i="1" dirty="0">
                            <a:solidFill>
                              <a:schemeClr val="tx1"/>
                            </a:solidFill>
                            <a:latin typeface="Cambria Math" panose="02040503050406030204" pitchFamily="18" charset="0"/>
                          </a:rPr>
                          <m:t>h</m:t>
                        </m:r>
                      </m:sup>
                    </m:sSup>
                    <m:r>
                      <m:rPr>
                        <m:nor/>
                      </m:rPr>
                      <a:rPr lang="en-US" i="1" dirty="0">
                        <a:solidFill>
                          <a:schemeClr val="tx1"/>
                        </a:solidFill>
                        <a:latin typeface="Times New Roman" panose="02020603050405020304" pitchFamily="18" charset="0"/>
                        <a:cs typeface="Times New Roman" panose="02020603050405020304" pitchFamily="18" charset="0"/>
                      </a:rPr>
                      <m:t>item</m:t>
                    </m:r>
                  </m:oMath>
                </a14:m>
                <a:endParaRPr lang="en-US" b="0" i="1" dirty="0">
                  <a:solidFill>
                    <a:schemeClr val="tx1"/>
                  </a:solidFill>
                  <a:effectLst/>
                  <a:latin typeface="Times New Roman" panose="02020603050405020304" pitchFamily="18" charset="0"/>
                  <a:cs typeface="Times New Roman" panose="02020603050405020304" pitchFamily="18" charset="0"/>
                </a:endParaRPr>
              </a:p>
              <a:p>
                <a:pPr marL="114300" indent="0" fontAlgn="base">
                  <a:spcAft>
                    <a:spcPts val="750"/>
                  </a:spcAft>
                  <a:buNone/>
                </a:pPr>
                <a:r>
                  <a:rPr lang="en-US" dirty="0">
                    <a:solidFill>
                      <a:schemeClr val="tx1"/>
                    </a:solidFill>
                  </a:rPr>
                  <a:t> </a:t>
                </a:r>
                <a14:m>
                  <m:oMath xmlns:m="http://schemas.openxmlformats.org/officeDocument/2006/math">
                    <m:sSub>
                      <m:sSubPr>
                        <m:ctrlPr>
                          <a:rPr lang="en-US" i="1" dirty="0">
                            <a:solidFill>
                              <a:schemeClr val="tx1"/>
                            </a:solidFill>
                            <a:latin typeface="Cambria Math" panose="02040503050406030204" pitchFamily="18" charset="0"/>
                          </a:rPr>
                        </m:ctrlPr>
                      </m:sSubPr>
                      <m:e>
                        <m:r>
                          <a:rPr lang="en-US" i="1" dirty="0">
                            <a:solidFill>
                              <a:schemeClr val="tx1"/>
                            </a:solidFill>
                            <a:latin typeface="Cambria Math" panose="02040503050406030204" pitchFamily="18" charset="0"/>
                          </a:rPr>
                          <m:t>𝑄</m:t>
                        </m:r>
                      </m:e>
                      <m:sub>
                        <m:r>
                          <a:rPr lang="en-US" b="0" i="1" dirty="0" smtClean="0">
                            <a:solidFill>
                              <a:schemeClr val="tx1"/>
                            </a:solidFill>
                            <a:latin typeface="Cambria Math" panose="02040503050406030204" pitchFamily="18" charset="0"/>
                          </a:rPr>
                          <m:t>3</m:t>
                        </m:r>
                      </m:sub>
                    </m:sSub>
                    <m:r>
                      <a:rPr lang="en-US" b="0" i="1" dirty="0" smtClean="0">
                        <a:solidFill>
                          <a:schemeClr val="tx1"/>
                        </a:solidFill>
                        <a:effectLst/>
                        <a:latin typeface="Cambria Math" panose="02040503050406030204" pitchFamily="18" charset="0"/>
                      </a:rPr>
                      <m:t>=</m:t>
                    </m:r>
                    <m:sSup>
                      <m:sSupPr>
                        <m:ctrlPr>
                          <a:rPr lang="en-US" i="1" dirty="0">
                            <a:solidFill>
                              <a:schemeClr val="tx1"/>
                            </a:solidFill>
                            <a:latin typeface="Cambria Math" panose="02040503050406030204" pitchFamily="18" charset="0"/>
                          </a:rPr>
                        </m:ctrlPr>
                      </m:sSupPr>
                      <m:e>
                        <m:d>
                          <m:dPr>
                            <m:begChr m:val="["/>
                            <m:endChr m:val="]"/>
                            <m:ctrlPr>
                              <a:rPr lang="en-US" i="1" dirty="0">
                                <a:solidFill>
                                  <a:schemeClr val="tx1"/>
                                </a:solidFill>
                                <a:latin typeface="Cambria Math" panose="02040503050406030204" pitchFamily="18" charset="0"/>
                              </a:rPr>
                            </m:ctrlPr>
                          </m:dPr>
                          <m:e>
                            <m:f>
                              <m:fPr>
                                <m:ctrlPr>
                                  <a:rPr lang="en-US" i="1" dirty="0">
                                    <a:solidFill>
                                      <a:schemeClr val="tx1"/>
                                    </a:solidFill>
                                    <a:latin typeface="Cambria Math" panose="02040503050406030204" pitchFamily="18" charset="0"/>
                                  </a:rPr>
                                </m:ctrlPr>
                              </m:fPr>
                              <m:num>
                                <m:r>
                                  <a:rPr lang="en-US" b="0" i="1" dirty="0" smtClean="0">
                                    <a:solidFill>
                                      <a:schemeClr val="tx1"/>
                                    </a:solidFill>
                                    <a:latin typeface="Cambria Math" panose="02040503050406030204" pitchFamily="18" charset="0"/>
                                  </a:rPr>
                                  <m:t>3</m:t>
                                </m:r>
                                <m:r>
                                  <a:rPr lang="en-US" i="1" dirty="0">
                                    <a:solidFill>
                                      <a:schemeClr val="tx1"/>
                                    </a:solidFill>
                                    <a:latin typeface="Cambria Math" panose="02040503050406030204" pitchFamily="18" charset="0"/>
                                  </a:rPr>
                                  <m:t>(</m:t>
                                </m:r>
                                <m:r>
                                  <a:rPr lang="en-US" i="1" dirty="0">
                                    <a:solidFill>
                                      <a:schemeClr val="tx1"/>
                                    </a:solidFill>
                                    <a:latin typeface="Cambria Math" panose="02040503050406030204" pitchFamily="18" charset="0"/>
                                  </a:rPr>
                                  <m:t>𝑁</m:t>
                                </m:r>
                                <m:r>
                                  <a:rPr lang="en-US" i="1" dirty="0">
                                    <a:solidFill>
                                      <a:schemeClr val="tx1"/>
                                    </a:solidFill>
                                    <a:latin typeface="Cambria Math" panose="02040503050406030204" pitchFamily="18" charset="0"/>
                                  </a:rPr>
                                  <m:t>+</m:t>
                                </m:r>
                                <m:r>
                                  <a:rPr lang="en-US" i="1" dirty="0">
                                    <a:solidFill>
                                      <a:schemeClr val="tx1"/>
                                    </a:solidFill>
                                    <a:latin typeface="Cambria Math" panose="02040503050406030204" pitchFamily="18" charset="0"/>
                                  </a:rPr>
                                  <m:t>1</m:t>
                                </m:r>
                                <m:r>
                                  <a:rPr lang="en-US" i="1" dirty="0">
                                    <a:solidFill>
                                      <a:schemeClr val="tx1"/>
                                    </a:solidFill>
                                    <a:latin typeface="Cambria Math" panose="02040503050406030204" pitchFamily="18" charset="0"/>
                                  </a:rPr>
                                  <m:t>)</m:t>
                                </m:r>
                              </m:num>
                              <m:den>
                                <m:r>
                                  <a:rPr lang="en-US" i="1" dirty="0">
                                    <a:solidFill>
                                      <a:schemeClr val="tx1"/>
                                    </a:solidFill>
                                    <a:latin typeface="Cambria Math" panose="02040503050406030204" pitchFamily="18" charset="0"/>
                                  </a:rPr>
                                  <m:t>4</m:t>
                                </m:r>
                              </m:den>
                            </m:f>
                          </m:e>
                        </m:d>
                      </m:e>
                      <m:sup>
                        <m:r>
                          <a:rPr lang="en-US" i="1" dirty="0">
                            <a:solidFill>
                              <a:schemeClr val="tx1"/>
                            </a:solidFill>
                            <a:latin typeface="Cambria Math" panose="02040503050406030204" pitchFamily="18" charset="0"/>
                          </a:rPr>
                          <m:t>𝑡</m:t>
                        </m:r>
                        <m:r>
                          <a:rPr lang="en-US" i="1" dirty="0">
                            <a:solidFill>
                              <a:schemeClr val="tx1"/>
                            </a:solidFill>
                            <a:latin typeface="Cambria Math" panose="02040503050406030204" pitchFamily="18" charset="0"/>
                          </a:rPr>
                          <m:t>h</m:t>
                        </m:r>
                      </m:sup>
                    </m:sSup>
                    <m:r>
                      <m:rPr>
                        <m:nor/>
                      </m:rPr>
                      <a:rPr lang="en-US" i="1" dirty="0">
                        <a:solidFill>
                          <a:schemeClr val="tx1"/>
                        </a:solidFill>
                        <a:latin typeface="Times New Roman" panose="02020603050405020304" pitchFamily="18" charset="0"/>
                        <a:cs typeface="Times New Roman" panose="02020603050405020304" pitchFamily="18" charset="0"/>
                      </a:rPr>
                      <m:t>item</m:t>
                    </m:r>
                  </m:oMath>
                </a14:m>
                <a:endParaRPr lang="en-US" b="0" i="1" dirty="0">
                  <a:solidFill>
                    <a:schemeClr val="tx1"/>
                  </a:solidFill>
                  <a:effectLst/>
                  <a:latin typeface="Times New Roman" panose="02020603050405020304" pitchFamily="18" charset="0"/>
                  <a:cs typeface="Times New Roman" panose="02020603050405020304" pitchFamily="18" charset="0"/>
                </a:endParaRPr>
              </a:p>
              <a:p>
                <a:pPr marL="114300" indent="0" rtl="0" fontAlgn="base">
                  <a:spcAft>
                    <a:spcPts val="750"/>
                  </a:spcAft>
                  <a:buNone/>
                </a:pPr>
                <a:r>
                  <a:rPr lang="en-US" b="0" dirty="0">
                    <a:solidFill>
                      <a:schemeClr val="tx1"/>
                    </a:solidFill>
                    <a:effectLst/>
                    <a:latin typeface="Times New Roman" panose="02020603050405020304" pitchFamily="18" charset="0"/>
                    <a:cs typeface="Times New Roman" panose="02020603050405020304" pitchFamily="18" charset="0"/>
                  </a:rPr>
                  <a:t>where, N is the total number of observations</a:t>
                </a:r>
              </a:p>
              <a:p>
                <a:pPr marL="114300" indent="0" rtl="0" fontAlgn="base">
                  <a:spcAft>
                    <a:spcPts val="750"/>
                  </a:spcAft>
                  <a:buNone/>
                </a:pPr>
                <a:endParaRPr lang="en-US" dirty="0">
                  <a:solidFill>
                    <a:schemeClr val="tx1"/>
                  </a:solidFill>
                  <a:latin typeface="Times New Roman" panose="02020603050405020304" pitchFamily="18" charset="0"/>
                  <a:cs typeface="Times New Roman" panose="02020603050405020304" pitchFamily="18" charset="0"/>
                </a:endParaRPr>
              </a:p>
              <a:p>
                <a:pPr marL="114300" indent="0" rtl="0" fontAlgn="base">
                  <a:spcAft>
                    <a:spcPts val="750"/>
                  </a:spcAft>
                  <a:buNone/>
                </a:pPr>
                <a:endParaRPr lang="en-US"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p:txBody>
          </p:sp>
        </mc:Choice>
        <mc:Fallback xmlns="">
          <p:sp>
            <p:nvSpPr>
              <p:cNvPr id="3" name="Text Placeholder 2">
                <a:extLst>
                  <a:ext uri="{FF2B5EF4-FFF2-40B4-BE49-F238E27FC236}">
                    <a16:creationId xmlns:a16="http://schemas.microsoft.com/office/drawing/2014/main" id="{D87AABD6-D086-5118-70DC-2BDCC84884E8}"/>
                  </a:ext>
                </a:extLst>
              </p:cNvPr>
              <p:cNvSpPr>
                <a:spLocks noGrp="1" noRot="1" noChangeAspect="1" noMove="1" noResize="1" noEditPoints="1" noAdjustHandles="1" noChangeArrowheads="1" noChangeShapeType="1" noTextEdit="1"/>
              </p:cNvSpPr>
              <p:nvPr>
                <p:ph type="body" idx="1"/>
              </p:nvPr>
            </p:nvSpPr>
            <p:spPr>
              <a:xfrm>
                <a:off x="311699" y="574624"/>
                <a:ext cx="8663335" cy="4355185"/>
              </a:xfrm>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42771722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4E35537-2471-DA69-CB9C-C896C05D8722}"/>
                  </a:ext>
                </a:extLst>
              </p:cNvPr>
              <p:cNvSpPr txBox="1"/>
              <p:nvPr/>
            </p:nvSpPr>
            <p:spPr>
              <a:xfrm>
                <a:off x="0" y="636105"/>
                <a:ext cx="8965095" cy="4132606"/>
              </a:xfrm>
              <a:prstGeom prst="rect">
                <a:avLst/>
              </a:prstGeom>
              <a:noFill/>
            </p:spPr>
            <p:txBody>
              <a:bodyPr wrap="square">
                <a:spAutoFit/>
              </a:bodyPr>
              <a:lstStyle/>
              <a:p>
                <a:pPr algn="l" fontAlgn="base"/>
                <a:r>
                  <a:rPr lang="en-US" sz="1800" b="1" i="0" dirty="0">
                    <a:solidFill>
                      <a:srgbClr val="273239"/>
                    </a:solidFill>
                    <a:effectLst/>
                    <a:latin typeface="Times New Roman" panose="02020603050405020304" pitchFamily="18" charset="0"/>
                    <a:cs typeface="Times New Roman" panose="02020603050405020304" pitchFamily="18" charset="0"/>
                  </a:rPr>
                  <a:t>Example 1: </a:t>
                </a:r>
              </a:p>
              <a:p>
                <a:pPr algn="just" rtl="0" fontAlgn="base">
                  <a:spcAft>
                    <a:spcPts val="750"/>
                  </a:spcAft>
                </a:pPr>
                <a:r>
                  <a:rPr lang="en-US" sz="1800" b="0" i="0" dirty="0">
                    <a:solidFill>
                      <a:srgbClr val="273239"/>
                    </a:solidFill>
                    <a:effectLst/>
                    <a:latin typeface="Times New Roman" panose="02020603050405020304" pitchFamily="18" charset="0"/>
                    <a:cs typeface="Times New Roman" panose="02020603050405020304" pitchFamily="18" charset="0"/>
                  </a:rPr>
                  <a:t>Calculate the lower and upper quartiles of the following weights in the family: 25, 17, 32, 11, 40, 35, 13, 5, and 46.</a:t>
                </a:r>
              </a:p>
              <a:p>
                <a:pPr algn="l" fontAlgn="base"/>
                <a:r>
                  <a:rPr lang="en-US" sz="1800" b="1" i="0" dirty="0">
                    <a:solidFill>
                      <a:srgbClr val="273239"/>
                    </a:solidFill>
                    <a:effectLst/>
                    <a:latin typeface="Times New Roman" panose="02020603050405020304" pitchFamily="18" charset="0"/>
                    <a:cs typeface="Times New Roman" panose="02020603050405020304" pitchFamily="18" charset="0"/>
                  </a:rPr>
                  <a:t>Solution: </a:t>
                </a:r>
              </a:p>
              <a:p>
                <a:pPr algn="l" rtl="0" fontAlgn="base">
                  <a:spcAft>
                    <a:spcPts val="750"/>
                  </a:spcAft>
                </a:pPr>
                <a:r>
                  <a:rPr lang="en-US" sz="1800" b="0" i="0" dirty="0">
                    <a:solidFill>
                      <a:srgbClr val="273239"/>
                    </a:solidFill>
                    <a:effectLst/>
                    <a:latin typeface="Times New Roman" panose="02020603050405020304" pitchFamily="18" charset="0"/>
                    <a:cs typeface="Times New Roman" panose="02020603050405020304" pitchFamily="18" charset="0"/>
                  </a:rPr>
                  <a:t>First, organize the numbers in ascending order.</a:t>
                </a:r>
              </a:p>
              <a:p>
                <a:pPr algn="l" fontAlgn="base">
                  <a:spcAft>
                    <a:spcPts val="750"/>
                  </a:spcAft>
                </a:pPr>
                <a:r>
                  <a:rPr lang="en-US" sz="1800" b="0" i="0" dirty="0">
                    <a:solidFill>
                      <a:srgbClr val="273239"/>
                    </a:solidFill>
                    <a:effectLst/>
                    <a:latin typeface="Times New Roman" panose="02020603050405020304" pitchFamily="18" charset="0"/>
                    <a:cs typeface="Times New Roman" panose="02020603050405020304" pitchFamily="18" charset="0"/>
                  </a:rPr>
                  <a:t>5, 11, 13, 17, 25, 32, 35, 40, 46</a:t>
                </a:r>
              </a:p>
              <a:p>
                <a:pPr fontAlgn="base">
                  <a:spcAft>
                    <a:spcPts val="750"/>
                  </a:spcAft>
                </a:pPr>
                <a:r>
                  <a:rPr lang="en-US" sz="1800" dirty="0">
                    <a:solidFill>
                      <a:srgbClr val="273239"/>
                    </a:solidFill>
                    <a:latin typeface="Times New Roman" panose="02020603050405020304" pitchFamily="18" charset="0"/>
                    <a:cs typeface="Times New Roman" panose="02020603050405020304" pitchFamily="18" charset="0"/>
                  </a:rPr>
                  <a:t>As per the quartile formula;</a:t>
                </a:r>
                <a:r>
                  <a:rPr lang="en-US" sz="1800" b="0" dirty="0">
                    <a:solidFill>
                      <a:schemeClr val="tx1"/>
                    </a:solidFill>
                    <a:effectLst/>
                  </a:rPr>
                  <a:t> </a:t>
                </a:r>
                <a14:m>
                  <m:oMath xmlns:m="http://schemas.openxmlformats.org/officeDocument/2006/math">
                    <m:sSub>
                      <m:sSubPr>
                        <m:ctrlPr>
                          <a:rPr lang="en-US" sz="1800" b="0" i="1" dirty="0" smtClean="0">
                            <a:solidFill>
                              <a:schemeClr val="tx1"/>
                            </a:solidFill>
                            <a:effectLst/>
                            <a:latin typeface="Cambria Math" panose="02040503050406030204" pitchFamily="18" charset="0"/>
                          </a:rPr>
                        </m:ctrlPr>
                      </m:sSubPr>
                      <m:e>
                        <m:r>
                          <a:rPr lang="en-US" sz="1800" b="0" i="1" dirty="0" smtClean="0">
                            <a:solidFill>
                              <a:schemeClr val="tx1"/>
                            </a:solidFill>
                            <a:effectLst/>
                            <a:latin typeface="Cambria Math" panose="02040503050406030204" pitchFamily="18" charset="0"/>
                          </a:rPr>
                          <m:t>𝑄</m:t>
                        </m:r>
                      </m:e>
                      <m:sub>
                        <m:r>
                          <a:rPr lang="en-US" sz="1800" b="0" i="1" dirty="0" smtClean="0">
                            <a:solidFill>
                              <a:schemeClr val="tx1"/>
                            </a:solidFill>
                            <a:effectLst/>
                            <a:latin typeface="Cambria Math" panose="02040503050406030204" pitchFamily="18" charset="0"/>
                          </a:rPr>
                          <m:t>1</m:t>
                        </m:r>
                      </m:sub>
                    </m:sSub>
                    <m:r>
                      <a:rPr lang="en-US" sz="1800" b="0" i="1" dirty="0" smtClean="0">
                        <a:solidFill>
                          <a:schemeClr val="tx1"/>
                        </a:solidFill>
                        <a:effectLst/>
                        <a:latin typeface="Cambria Math" panose="02040503050406030204" pitchFamily="18" charset="0"/>
                      </a:rPr>
                      <m:t>=</m:t>
                    </m:r>
                    <m:sSup>
                      <m:sSupPr>
                        <m:ctrlPr>
                          <a:rPr lang="en-US" sz="1800" i="1" dirty="0">
                            <a:solidFill>
                              <a:schemeClr val="tx1"/>
                            </a:solidFill>
                            <a:latin typeface="Cambria Math" panose="02040503050406030204" pitchFamily="18" charset="0"/>
                          </a:rPr>
                        </m:ctrlPr>
                      </m:sSupPr>
                      <m:e>
                        <m:d>
                          <m:dPr>
                            <m:begChr m:val="["/>
                            <m:endChr m:val="]"/>
                            <m:ctrlPr>
                              <a:rPr lang="en-US" sz="1800" i="1" dirty="0">
                                <a:solidFill>
                                  <a:schemeClr val="tx1"/>
                                </a:solidFill>
                                <a:latin typeface="Cambria Math" panose="02040503050406030204" pitchFamily="18" charset="0"/>
                              </a:rPr>
                            </m:ctrlPr>
                          </m:dPr>
                          <m:e>
                            <m:f>
                              <m:fPr>
                                <m:ctrlPr>
                                  <a:rPr lang="en-US" sz="1800" i="1" dirty="0">
                                    <a:solidFill>
                                      <a:schemeClr val="tx1"/>
                                    </a:solidFill>
                                    <a:latin typeface="Cambria Math" panose="02040503050406030204" pitchFamily="18" charset="0"/>
                                  </a:rPr>
                                </m:ctrlPr>
                              </m:fPr>
                              <m:num>
                                <m:r>
                                  <a:rPr lang="en-US" sz="1800" i="1" dirty="0">
                                    <a:solidFill>
                                      <a:schemeClr val="tx1"/>
                                    </a:solidFill>
                                    <a:latin typeface="Cambria Math" panose="02040503050406030204" pitchFamily="18" charset="0"/>
                                  </a:rPr>
                                  <m:t>𝑁</m:t>
                                </m:r>
                                <m:r>
                                  <a:rPr lang="en-US" sz="1800" i="1" dirty="0">
                                    <a:solidFill>
                                      <a:schemeClr val="tx1"/>
                                    </a:solidFill>
                                    <a:latin typeface="Cambria Math" panose="02040503050406030204" pitchFamily="18" charset="0"/>
                                  </a:rPr>
                                  <m:t>+1</m:t>
                                </m:r>
                              </m:num>
                              <m:den>
                                <m:r>
                                  <a:rPr lang="en-US" sz="1800" i="1" dirty="0">
                                    <a:solidFill>
                                      <a:schemeClr val="tx1"/>
                                    </a:solidFill>
                                    <a:latin typeface="Cambria Math" panose="02040503050406030204" pitchFamily="18" charset="0"/>
                                  </a:rPr>
                                  <m:t>4</m:t>
                                </m:r>
                              </m:den>
                            </m:f>
                          </m:e>
                        </m:d>
                      </m:e>
                      <m:sup>
                        <m:r>
                          <a:rPr lang="en-US" sz="1800" i="1" dirty="0">
                            <a:solidFill>
                              <a:schemeClr val="tx1"/>
                            </a:solidFill>
                            <a:latin typeface="Cambria Math" panose="02040503050406030204" pitchFamily="18" charset="0"/>
                          </a:rPr>
                          <m:t>𝑡h</m:t>
                        </m:r>
                      </m:sup>
                    </m:sSup>
                  </m:oMath>
                </a14:m>
                <a:r>
                  <a:rPr lang="en-US" sz="1800" b="0" dirty="0">
                    <a:solidFill>
                      <a:schemeClr val="tx1"/>
                    </a:solidFill>
                    <a:effectLst/>
                    <a:latin typeface="Times New Roman" panose="02020603050405020304" pitchFamily="18" charset="0"/>
                    <a:cs typeface="Times New Roman" panose="02020603050405020304" pitchFamily="18" charset="0"/>
                  </a:rPr>
                  <a:t>item</a:t>
                </a:r>
                <a:r>
                  <a:rPr lang="en-US" sz="1800" dirty="0">
                    <a:solidFill>
                      <a:schemeClr val="tx1"/>
                    </a:solidFill>
                    <a:latin typeface="Times New Roman" panose="02020603050405020304" pitchFamily="18" charset="0"/>
                    <a:cs typeface="Times New Roman" panose="02020603050405020304" pitchFamily="18" charset="0"/>
                  </a:rPr>
                  <a:t> and </a:t>
                </a:r>
                <a:r>
                  <a:rPr lang="en-US" sz="1800" dirty="0">
                    <a:solidFill>
                      <a:schemeClr val="tx1"/>
                    </a:solidFill>
                  </a:rPr>
                  <a:t> </a:t>
                </a:r>
                <a14:m>
                  <m:oMath xmlns:m="http://schemas.openxmlformats.org/officeDocument/2006/math">
                    <m:sSub>
                      <m:sSubPr>
                        <m:ctrlPr>
                          <a:rPr lang="en-US" sz="1800" i="1" dirty="0">
                            <a:solidFill>
                              <a:schemeClr val="tx1"/>
                            </a:solidFill>
                            <a:latin typeface="Cambria Math" panose="02040503050406030204" pitchFamily="18" charset="0"/>
                          </a:rPr>
                        </m:ctrlPr>
                      </m:sSubPr>
                      <m:e>
                        <m:r>
                          <m:rPr>
                            <m:sty m:val="p"/>
                          </m:rPr>
                          <a:rPr lang="en-US" sz="1800" i="0" dirty="0">
                            <a:solidFill>
                              <a:schemeClr val="tx1"/>
                            </a:solidFill>
                            <a:latin typeface="Cambria Math" panose="02040503050406030204" pitchFamily="18" charset="0"/>
                          </a:rPr>
                          <m:t>Q</m:t>
                        </m:r>
                      </m:e>
                      <m:sub>
                        <m:r>
                          <a:rPr lang="en-US" sz="1800" b="0" i="0" dirty="0" smtClean="0">
                            <a:solidFill>
                              <a:schemeClr val="tx1"/>
                            </a:solidFill>
                            <a:latin typeface="Cambria Math" panose="02040503050406030204" pitchFamily="18" charset="0"/>
                          </a:rPr>
                          <m:t>3</m:t>
                        </m:r>
                      </m:sub>
                    </m:sSub>
                    <m:r>
                      <a:rPr lang="en-US" sz="1800" b="0" i="0" dirty="0" smtClean="0">
                        <a:solidFill>
                          <a:schemeClr val="tx1"/>
                        </a:solidFill>
                        <a:effectLst/>
                        <a:latin typeface="Cambria Math" panose="02040503050406030204" pitchFamily="18" charset="0"/>
                      </a:rPr>
                      <m:t>=</m:t>
                    </m:r>
                    <m:sSup>
                      <m:sSupPr>
                        <m:ctrlPr>
                          <a:rPr lang="en-US" sz="1800" b="0" i="1" dirty="0" smtClean="0">
                            <a:solidFill>
                              <a:schemeClr val="tx1"/>
                            </a:solidFill>
                            <a:effectLst/>
                            <a:latin typeface="Cambria Math" panose="02040503050406030204" pitchFamily="18" charset="0"/>
                          </a:rPr>
                        </m:ctrlPr>
                      </m:sSupPr>
                      <m:e>
                        <m:d>
                          <m:dPr>
                            <m:begChr m:val="["/>
                            <m:endChr m:val="]"/>
                            <m:ctrlPr>
                              <a:rPr lang="en-US" sz="1800" b="0" i="1" dirty="0" smtClean="0">
                                <a:solidFill>
                                  <a:schemeClr val="tx1"/>
                                </a:solidFill>
                                <a:effectLst/>
                                <a:latin typeface="Cambria Math" panose="02040503050406030204" pitchFamily="18" charset="0"/>
                              </a:rPr>
                            </m:ctrlPr>
                          </m:dPr>
                          <m:e>
                            <m:f>
                              <m:fPr>
                                <m:ctrlPr>
                                  <a:rPr lang="en-US" sz="1800" i="1" dirty="0">
                                    <a:solidFill>
                                      <a:schemeClr val="tx1"/>
                                    </a:solidFill>
                                    <a:latin typeface="Cambria Math" panose="02040503050406030204" pitchFamily="18" charset="0"/>
                                  </a:rPr>
                                </m:ctrlPr>
                              </m:fPr>
                              <m:num>
                                <m:r>
                                  <a:rPr lang="en-US" sz="1800" i="0" dirty="0">
                                    <a:solidFill>
                                      <a:schemeClr val="tx1"/>
                                    </a:solidFill>
                                    <a:latin typeface="Cambria Math" panose="02040503050406030204" pitchFamily="18" charset="0"/>
                                  </a:rPr>
                                  <m:t>3(</m:t>
                                </m:r>
                                <m:r>
                                  <m:rPr>
                                    <m:sty m:val="p"/>
                                  </m:rPr>
                                  <a:rPr lang="en-US" sz="1800" i="0" dirty="0">
                                    <a:solidFill>
                                      <a:schemeClr val="tx1"/>
                                    </a:solidFill>
                                    <a:latin typeface="Cambria Math" panose="02040503050406030204" pitchFamily="18" charset="0"/>
                                  </a:rPr>
                                  <m:t>N</m:t>
                                </m:r>
                                <m:r>
                                  <a:rPr lang="en-US" sz="1800" i="0" dirty="0">
                                    <a:solidFill>
                                      <a:schemeClr val="tx1"/>
                                    </a:solidFill>
                                    <a:latin typeface="Cambria Math" panose="02040503050406030204" pitchFamily="18" charset="0"/>
                                  </a:rPr>
                                  <m:t>+1)</m:t>
                                </m:r>
                              </m:num>
                              <m:den>
                                <m:r>
                                  <a:rPr lang="en-US" sz="1800" i="0" dirty="0">
                                    <a:solidFill>
                                      <a:schemeClr val="tx1"/>
                                    </a:solidFill>
                                    <a:latin typeface="Cambria Math" panose="02040503050406030204" pitchFamily="18" charset="0"/>
                                  </a:rPr>
                                  <m:t>4</m:t>
                                </m:r>
                              </m:den>
                            </m:f>
                          </m:e>
                        </m:d>
                      </m:e>
                      <m:sup>
                        <m:r>
                          <m:rPr>
                            <m:sty m:val="p"/>
                          </m:rPr>
                          <a:rPr lang="en-US" sz="1800" b="0" i="0" dirty="0" smtClean="0">
                            <a:solidFill>
                              <a:schemeClr val="tx1"/>
                            </a:solidFill>
                            <a:effectLst/>
                            <a:latin typeface="Cambria Math" panose="02040503050406030204" pitchFamily="18" charset="0"/>
                          </a:rPr>
                          <m:t>th</m:t>
                        </m:r>
                      </m:sup>
                    </m:sSup>
                    <m:r>
                      <m:rPr>
                        <m:nor/>
                      </m:rPr>
                      <a:rPr lang="en-US" sz="1800" dirty="0">
                        <a:solidFill>
                          <a:schemeClr val="tx1"/>
                        </a:solidFill>
                        <a:latin typeface="Times New Roman" panose="02020603050405020304" pitchFamily="18" charset="0"/>
                        <a:cs typeface="Times New Roman" panose="02020603050405020304" pitchFamily="18" charset="0"/>
                      </a:rPr>
                      <m:t> </m:t>
                    </m:r>
                    <m:r>
                      <m:rPr>
                        <m:nor/>
                      </m:rPr>
                      <a:rPr lang="en-US" sz="1800" dirty="0">
                        <a:solidFill>
                          <a:schemeClr val="tx1"/>
                        </a:solidFill>
                        <a:latin typeface="Times New Roman" panose="02020603050405020304" pitchFamily="18" charset="0"/>
                        <a:cs typeface="Times New Roman" panose="02020603050405020304" pitchFamily="18" charset="0"/>
                      </a:rPr>
                      <m:t>item</m:t>
                    </m:r>
                  </m:oMath>
                </a14:m>
                <a:endParaRPr lang="en-US" sz="1800" dirty="0">
                  <a:solidFill>
                    <a:schemeClr val="tx1"/>
                  </a:solidFill>
                  <a:latin typeface="Times New Roman" panose="02020603050405020304" pitchFamily="18" charset="0"/>
                  <a:cs typeface="Times New Roman" panose="02020603050405020304" pitchFamily="18" charset="0"/>
                </a:endParaRPr>
              </a:p>
              <a:p>
                <a:pPr algn="l" fontAlgn="base">
                  <a:spcAft>
                    <a:spcPts val="750"/>
                  </a:spcAft>
                </a:pPr>
                <a:endParaRPr lang="en-US" sz="1800" dirty="0">
                  <a:solidFill>
                    <a:srgbClr val="273239"/>
                  </a:solidFill>
                  <a:latin typeface="Times New Roman" panose="02020603050405020304" pitchFamily="18" charset="0"/>
                  <a:cs typeface="Times New Roman" panose="02020603050405020304" pitchFamily="18" charset="0"/>
                </a:endParaRPr>
              </a:p>
              <a:p>
                <a:r>
                  <a:rPr lang="en-IN" sz="1800" i="0" dirty="0">
                    <a:solidFill>
                      <a:srgbClr val="273239"/>
                    </a:solidFill>
                    <a:effectLst/>
                    <a:latin typeface="Times New Roman" panose="02020603050405020304" pitchFamily="18" charset="0"/>
                    <a:cs typeface="Times New Roman" panose="02020603050405020304" pitchFamily="18" charset="0"/>
                  </a:rPr>
                  <a:t>Q</a:t>
                </a:r>
                <a:r>
                  <a:rPr lang="en-IN" sz="1800" i="0" baseline="-25000" dirty="0">
                    <a:solidFill>
                      <a:srgbClr val="273239"/>
                    </a:solidFill>
                    <a:effectLst/>
                    <a:latin typeface="Times New Roman" panose="02020603050405020304" pitchFamily="18" charset="0"/>
                    <a:cs typeface="Times New Roman" panose="02020603050405020304" pitchFamily="18" charset="0"/>
                  </a:rPr>
                  <a:t>1</a:t>
                </a:r>
                <a:r>
                  <a:rPr lang="en-IN" sz="1800" i="0" dirty="0">
                    <a:solidFill>
                      <a:srgbClr val="273239"/>
                    </a:solidFill>
                    <a:effectLst/>
                    <a:latin typeface="Times New Roman" panose="02020603050405020304" pitchFamily="18" charset="0"/>
                    <a:cs typeface="Times New Roman" panose="02020603050405020304" pitchFamily="18" charset="0"/>
                  </a:rPr>
                  <a:t> = 2.5</a:t>
                </a:r>
                <a:r>
                  <a:rPr lang="en-IN" sz="1800" i="0" baseline="30000" dirty="0">
                    <a:solidFill>
                      <a:srgbClr val="273239"/>
                    </a:solidFill>
                    <a:effectLst/>
                    <a:latin typeface="Times New Roman" panose="02020603050405020304" pitchFamily="18" charset="0"/>
                    <a:cs typeface="Times New Roman" panose="02020603050405020304" pitchFamily="18" charset="0"/>
                  </a:rPr>
                  <a:t>th</a:t>
                </a:r>
                <a:r>
                  <a:rPr lang="en-IN" sz="1800" i="0" dirty="0">
                    <a:solidFill>
                      <a:srgbClr val="273239"/>
                    </a:solidFill>
                    <a:effectLst/>
                    <a:latin typeface="Times New Roman" panose="02020603050405020304" pitchFamily="18" charset="0"/>
                    <a:cs typeface="Times New Roman" panose="02020603050405020304" pitchFamily="18" charset="0"/>
                  </a:rPr>
                  <a:t> term              </a:t>
                </a:r>
              </a:p>
              <a:p>
                <a:r>
                  <a:rPr lang="en-IN" sz="1800" i="0" dirty="0">
                    <a:solidFill>
                      <a:srgbClr val="273239"/>
                    </a:solidFill>
                    <a:effectLst/>
                    <a:latin typeface="Times New Roman" panose="02020603050405020304" pitchFamily="18" charset="0"/>
                    <a:cs typeface="Times New Roman" panose="02020603050405020304" pitchFamily="18" charset="0"/>
                  </a:rPr>
                  <a:t>Q</a:t>
                </a:r>
                <a:r>
                  <a:rPr lang="en-IN" sz="1800" i="0" baseline="-25000" dirty="0">
                    <a:solidFill>
                      <a:srgbClr val="273239"/>
                    </a:solidFill>
                    <a:effectLst/>
                    <a:latin typeface="Times New Roman" panose="02020603050405020304" pitchFamily="18" charset="0"/>
                    <a:cs typeface="Times New Roman" panose="02020603050405020304" pitchFamily="18" charset="0"/>
                  </a:rPr>
                  <a:t>1 </a:t>
                </a:r>
                <a:r>
                  <a:rPr lang="en-IN" sz="1800" i="0" dirty="0">
                    <a:solidFill>
                      <a:srgbClr val="273239"/>
                    </a:solidFill>
                    <a:effectLst/>
                    <a:latin typeface="Times New Roman" panose="02020603050405020304" pitchFamily="18" charset="0"/>
                    <a:cs typeface="Times New Roman" panose="02020603050405020304" pitchFamily="18" charset="0"/>
                  </a:rPr>
                  <a:t>= 12</a:t>
                </a:r>
                <a:r>
                  <a:rPr lang="en-IN" sz="1800" dirty="0">
                    <a:solidFill>
                      <a:srgbClr val="273239"/>
                    </a:solidFill>
                    <a:latin typeface="Times New Roman" panose="02020603050405020304" pitchFamily="18" charset="0"/>
                    <a:cs typeface="Times New Roman" panose="02020603050405020304" pitchFamily="18" charset="0"/>
                  </a:rPr>
                  <a:t>	</a:t>
                </a:r>
              </a:p>
              <a:p>
                <a:r>
                  <a:rPr lang="en-IN" sz="1800" i="0" dirty="0">
                    <a:solidFill>
                      <a:srgbClr val="273239"/>
                    </a:solidFill>
                    <a:effectLst/>
                    <a:latin typeface="Times New Roman" panose="02020603050405020304" pitchFamily="18" charset="0"/>
                    <a:cs typeface="Times New Roman" panose="02020603050405020304" pitchFamily="18" charset="0"/>
                  </a:rPr>
                  <a:t>Q</a:t>
                </a:r>
                <a:r>
                  <a:rPr lang="en-IN" sz="1800" i="0" baseline="-25000" dirty="0">
                    <a:solidFill>
                      <a:srgbClr val="273239"/>
                    </a:solidFill>
                    <a:effectLst/>
                    <a:latin typeface="Times New Roman" panose="02020603050405020304" pitchFamily="18" charset="0"/>
                    <a:cs typeface="Times New Roman" panose="02020603050405020304" pitchFamily="18" charset="0"/>
                  </a:rPr>
                  <a:t>3</a:t>
                </a:r>
                <a:r>
                  <a:rPr lang="en-IN" sz="1800" i="0" dirty="0">
                    <a:solidFill>
                      <a:srgbClr val="273239"/>
                    </a:solidFill>
                    <a:effectLst/>
                    <a:latin typeface="Times New Roman" panose="02020603050405020304" pitchFamily="18" charset="0"/>
                    <a:cs typeface="Times New Roman" panose="02020603050405020304" pitchFamily="18" charset="0"/>
                  </a:rPr>
                  <a:t> = 7.5</a:t>
                </a:r>
                <a:r>
                  <a:rPr lang="en-IN" sz="1800" i="0" baseline="30000" dirty="0">
                    <a:solidFill>
                      <a:srgbClr val="273239"/>
                    </a:solidFill>
                    <a:effectLst/>
                    <a:latin typeface="Times New Roman" panose="02020603050405020304" pitchFamily="18" charset="0"/>
                    <a:cs typeface="Times New Roman" panose="02020603050405020304" pitchFamily="18" charset="0"/>
                  </a:rPr>
                  <a:t>th</a:t>
                </a:r>
                <a:r>
                  <a:rPr lang="en-IN" sz="1800" i="0" dirty="0">
                    <a:solidFill>
                      <a:srgbClr val="273239"/>
                    </a:solidFill>
                    <a:effectLst/>
                    <a:latin typeface="Times New Roman" panose="02020603050405020304" pitchFamily="18" charset="0"/>
                    <a:cs typeface="Times New Roman" panose="02020603050405020304" pitchFamily="18" charset="0"/>
                  </a:rPr>
                  <a:t> item</a:t>
                </a:r>
                <a:endParaRPr lang="en-IN" sz="1800" dirty="0">
                  <a:solidFill>
                    <a:srgbClr val="273239"/>
                  </a:solidFill>
                  <a:effectLst/>
                  <a:latin typeface="Times New Roman" panose="02020603050405020304" pitchFamily="18" charset="0"/>
                  <a:cs typeface="Times New Roman" panose="02020603050405020304" pitchFamily="18" charset="0"/>
                </a:endParaRPr>
              </a:p>
              <a:p>
                <a:r>
                  <a:rPr lang="en-IN" sz="1800" i="0" dirty="0">
                    <a:solidFill>
                      <a:srgbClr val="273239"/>
                    </a:solidFill>
                    <a:effectLst/>
                    <a:latin typeface="Times New Roman" panose="02020603050405020304" pitchFamily="18" charset="0"/>
                    <a:cs typeface="Times New Roman" panose="02020603050405020304" pitchFamily="18" charset="0"/>
                  </a:rPr>
                  <a:t>Q</a:t>
                </a:r>
                <a:r>
                  <a:rPr lang="en-IN" sz="1800" i="0" baseline="-25000" dirty="0">
                    <a:solidFill>
                      <a:srgbClr val="273239"/>
                    </a:solidFill>
                    <a:effectLst/>
                    <a:latin typeface="Times New Roman" panose="02020603050405020304" pitchFamily="18" charset="0"/>
                    <a:cs typeface="Times New Roman" panose="02020603050405020304" pitchFamily="18" charset="0"/>
                  </a:rPr>
                  <a:t>3</a:t>
                </a:r>
                <a:r>
                  <a:rPr lang="en-IN" sz="1800" i="0" dirty="0">
                    <a:solidFill>
                      <a:srgbClr val="273239"/>
                    </a:solidFill>
                    <a:effectLst/>
                    <a:latin typeface="Times New Roman" panose="02020603050405020304" pitchFamily="18" charset="0"/>
                    <a:cs typeface="Times New Roman" panose="02020603050405020304" pitchFamily="18" charset="0"/>
                  </a:rPr>
                  <a:t> = 37.5</a:t>
                </a:r>
                <a:endParaRPr lang="en-US" sz="1800" dirty="0">
                  <a:solidFill>
                    <a:schemeClr val="tx1"/>
                  </a:solidFill>
                  <a:effectLst/>
                  <a:latin typeface="Times New Roman" panose="02020603050405020304" pitchFamily="18"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E4E35537-2471-DA69-CB9C-C896C05D8722}"/>
                  </a:ext>
                </a:extLst>
              </p:cNvPr>
              <p:cNvSpPr txBox="1">
                <a:spLocks noRot="1" noChangeAspect="1" noMove="1" noResize="1" noEditPoints="1" noAdjustHandles="1" noChangeArrowheads="1" noChangeShapeType="1" noTextEdit="1"/>
              </p:cNvSpPr>
              <p:nvPr/>
            </p:nvSpPr>
            <p:spPr>
              <a:xfrm>
                <a:off x="0" y="636105"/>
                <a:ext cx="8965095" cy="4132606"/>
              </a:xfrm>
              <a:prstGeom prst="rect">
                <a:avLst/>
              </a:prstGeom>
              <a:blipFill>
                <a:blip r:embed="rId2"/>
                <a:stretch>
                  <a:fillRect l="-544" t="-737" r="-544" b="-1475"/>
                </a:stretch>
              </a:blipFill>
            </p:spPr>
            <p:txBody>
              <a:bodyPr/>
              <a:lstStyle/>
              <a:p>
                <a:r>
                  <a:rPr lang="en-IN">
                    <a:noFill/>
                  </a:rPr>
                  <a:t> </a:t>
                </a:r>
              </a:p>
            </p:txBody>
          </p:sp>
        </mc:Fallback>
      </mc:AlternateContent>
    </p:spTree>
    <p:extLst>
      <p:ext uri="{BB962C8B-B14F-4D97-AF65-F5344CB8AC3E}">
        <p14:creationId xmlns:p14="http://schemas.microsoft.com/office/powerpoint/2010/main" val="45461446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8C6DD71-5C8A-0963-4EBA-B861B04329E9}"/>
              </a:ext>
            </a:extLst>
          </p:cNvPr>
          <p:cNvSpPr txBox="1"/>
          <p:nvPr/>
        </p:nvSpPr>
        <p:spPr>
          <a:xfrm>
            <a:off x="129210" y="188843"/>
            <a:ext cx="8925338" cy="4770537"/>
          </a:xfrm>
          <a:prstGeom prst="rect">
            <a:avLst/>
          </a:prstGeom>
          <a:noFill/>
        </p:spPr>
        <p:txBody>
          <a:bodyPr wrap="square">
            <a:spAutoFit/>
          </a:bodyPr>
          <a:lstStyle/>
          <a:p>
            <a:pPr algn="l" fontAlgn="base"/>
            <a:r>
              <a:rPr lang="en-US" sz="1600" b="1" i="0" dirty="0">
                <a:solidFill>
                  <a:srgbClr val="273239"/>
                </a:solidFill>
                <a:effectLst/>
                <a:latin typeface="Times New Roman" panose="02020603050405020304" pitchFamily="18" charset="0"/>
                <a:cs typeface="Times New Roman" panose="02020603050405020304" pitchFamily="18" charset="0"/>
              </a:rPr>
              <a:t>Example 2:</a:t>
            </a:r>
          </a:p>
          <a:p>
            <a:pPr algn="just" rtl="0" fontAlgn="base">
              <a:spcAft>
                <a:spcPts val="750"/>
              </a:spcAft>
            </a:pPr>
            <a:r>
              <a:rPr lang="en-US" sz="1600" b="0" i="0" dirty="0">
                <a:solidFill>
                  <a:srgbClr val="273239"/>
                </a:solidFill>
                <a:effectLst/>
                <a:latin typeface="Times New Roman" panose="02020603050405020304" pitchFamily="18" charset="0"/>
                <a:cs typeface="Times New Roman" panose="02020603050405020304" pitchFamily="18" charset="0"/>
              </a:rPr>
              <a:t>Calculate Q1 and Q3 for the data related</a:t>
            </a:r>
          </a:p>
          <a:p>
            <a:pPr algn="just" rtl="0" fontAlgn="base">
              <a:spcAft>
                <a:spcPts val="750"/>
              </a:spcAft>
            </a:pPr>
            <a:r>
              <a:rPr lang="en-US" sz="1600" b="0" i="0" dirty="0">
                <a:solidFill>
                  <a:srgbClr val="273239"/>
                </a:solidFill>
                <a:effectLst/>
                <a:latin typeface="Times New Roman" panose="02020603050405020304" pitchFamily="18" charset="0"/>
                <a:cs typeface="Times New Roman" panose="02020603050405020304" pitchFamily="18" charset="0"/>
              </a:rPr>
              <a:t>to the age in years of 99 members in a housing society.</a:t>
            </a:r>
          </a:p>
          <a:p>
            <a:pPr algn="just" rtl="0" fontAlgn="base">
              <a:spcAft>
                <a:spcPts val="750"/>
              </a:spcAft>
            </a:pPr>
            <a:r>
              <a:rPr lang="en-US" sz="1600" b="1" dirty="0">
                <a:solidFill>
                  <a:srgbClr val="273239"/>
                </a:solidFill>
                <a:latin typeface="Times New Roman" panose="02020603050405020304" pitchFamily="18" charset="0"/>
                <a:cs typeface="Times New Roman" panose="02020603050405020304" pitchFamily="18" charset="0"/>
              </a:rPr>
              <a:t>Solution:</a:t>
            </a:r>
          </a:p>
          <a:p>
            <a:pPr algn="just" rtl="0" fontAlgn="base">
              <a:spcAft>
                <a:spcPts val="750"/>
              </a:spcAft>
            </a:pPr>
            <a:endParaRPr lang="en-US" sz="1600" dirty="0">
              <a:solidFill>
                <a:srgbClr val="273239"/>
              </a:solidFill>
              <a:latin typeface="Times New Roman" panose="02020603050405020304" pitchFamily="18" charset="0"/>
              <a:cs typeface="Times New Roman" panose="02020603050405020304" pitchFamily="18" charset="0"/>
            </a:endParaRPr>
          </a:p>
          <a:p>
            <a:pPr algn="just" rtl="0" fontAlgn="base">
              <a:spcAft>
                <a:spcPts val="750"/>
              </a:spcAft>
            </a:pPr>
            <a:endParaRPr lang="en-US" sz="1600" dirty="0">
              <a:solidFill>
                <a:srgbClr val="273239"/>
              </a:solidFill>
              <a:latin typeface="Times New Roman" panose="02020603050405020304" pitchFamily="18" charset="0"/>
              <a:cs typeface="Times New Roman" panose="02020603050405020304" pitchFamily="18" charset="0"/>
            </a:endParaRPr>
          </a:p>
          <a:p>
            <a:pPr algn="just" rtl="0" fontAlgn="base">
              <a:spcAft>
                <a:spcPts val="750"/>
              </a:spcAft>
            </a:pPr>
            <a:endParaRPr lang="en-US" sz="1600" dirty="0">
              <a:solidFill>
                <a:srgbClr val="273239"/>
              </a:solidFill>
              <a:latin typeface="Times New Roman" panose="02020603050405020304" pitchFamily="18" charset="0"/>
              <a:cs typeface="Times New Roman" panose="02020603050405020304" pitchFamily="18" charset="0"/>
            </a:endParaRPr>
          </a:p>
          <a:p>
            <a:pPr algn="just" rtl="0" fontAlgn="base">
              <a:spcAft>
                <a:spcPts val="750"/>
              </a:spcAft>
            </a:pPr>
            <a:endParaRPr lang="en-US" sz="1600" dirty="0">
              <a:solidFill>
                <a:srgbClr val="273239"/>
              </a:solidFill>
              <a:latin typeface="Times New Roman" panose="02020603050405020304" pitchFamily="18" charset="0"/>
              <a:cs typeface="Times New Roman" panose="02020603050405020304" pitchFamily="18" charset="0"/>
            </a:endParaRPr>
          </a:p>
          <a:p>
            <a:pPr algn="just" rtl="0" fontAlgn="base">
              <a:spcAft>
                <a:spcPts val="750"/>
              </a:spcAft>
            </a:pPr>
            <a:endParaRPr lang="en-US" sz="1600" dirty="0">
              <a:solidFill>
                <a:srgbClr val="273239"/>
              </a:solidFill>
              <a:latin typeface="Times New Roman" panose="02020603050405020304" pitchFamily="18" charset="0"/>
              <a:cs typeface="Times New Roman" panose="02020603050405020304" pitchFamily="18" charset="0"/>
            </a:endParaRPr>
          </a:p>
          <a:p>
            <a:pPr algn="just" rtl="0" fontAlgn="base">
              <a:spcAft>
                <a:spcPts val="750"/>
              </a:spcAft>
            </a:pPr>
            <a:endParaRPr lang="en-US" sz="1600" dirty="0">
              <a:solidFill>
                <a:srgbClr val="273239"/>
              </a:solidFill>
              <a:latin typeface="Times New Roman" panose="02020603050405020304" pitchFamily="18" charset="0"/>
              <a:cs typeface="Times New Roman" panose="02020603050405020304" pitchFamily="18" charset="0"/>
            </a:endParaRPr>
          </a:p>
          <a:p>
            <a:pPr algn="just" rtl="0" fontAlgn="base">
              <a:spcAft>
                <a:spcPts val="750"/>
              </a:spcAft>
            </a:pPr>
            <a:endParaRPr lang="en-US" sz="1600" dirty="0">
              <a:solidFill>
                <a:srgbClr val="273239"/>
              </a:solidFill>
              <a:latin typeface="Times New Roman" panose="02020603050405020304" pitchFamily="18" charset="0"/>
              <a:cs typeface="Times New Roman" panose="02020603050405020304" pitchFamily="18" charset="0"/>
            </a:endParaRPr>
          </a:p>
          <a:p>
            <a:pPr algn="just" rtl="0" fontAlgn="base">
              <a:spcAft>
                <a:spcPts val="750"/>
              </a:spcAft>
            </a:pPr>
            <a:r>
              <a:rPr lang="en-IN" sz="1600" b="0" i="0" dirty="0">
                <a:solidFill>
                  <a:srgbClr val="273239"/>
                </a:solidFill>
                <a:effectLst/>
                <a:latin typeface="Times New Roman" panose="02020603050405020304" pitchFamily="18" charset="0"/>
                <a:cs typeface="Times New Roman" panose="02020603050405020304" pitchFamily="18" charset="0"/>
              </a:rPr>
              <a:t>Q</a:t>
            </a:r>
            <a:r>
              <a:rPr lang="en-IN" sz="1600" b="0" i="0" baseline="-25000" dirty="0">
                <a:solidFill>
                  <a:srgbClr val="273239"/>
                </a:solidFill>
                <a:effectLst/>
                <a:latin typeface="Times New Roman" panose="02020603050405020304" pitchFamily="18" charset="0"/>
                <a:cs typeface="Times New Roman" panose="02020603050405020304" pitchFamily="18" charset="0"/>
              </a:rPr>
              <a:t>1</a:t>
            </a:r>
            <a:r>
              <a:rPr lang="en-IN" sz="1600" b="0" i="0" dirty="0">
                <a:solidFill>
                  <a:srgbClr val="273239"/>
                </a:solidFill>
                <a:effectLst/>
                <a:latin typeface="Times New Roman" panose="02020603050405020304" pitchFamily="18" charset="0"/>
                <a:cs typeface="Times New Roman" panose="02020603050405020304" pitchFamily="18" charset="0"/>
              </a:rPr>
              <a:t> = 25</a:t>
            </a:r>
            <a:r>
              <a:rPr lang="en-IN" sz="1600" b="0" i="0" baseline="30000" dirty="0">
                <a:solidFill>
                  <a:srgbClr val="273239"/>
                </a:solidFill>
                <a:effectLst/>
                <a:latin typeface="Times New Roman" panose="02020603050405020304" pitchFamily="18" charset="0"/>
                <a:cs typeface="Times New Roman" panose="02020603050405020304" pitchFamily="18" charset="0"/>
              </a:rPr>
              <a:t>th</a:t>
            </a:r>
            <a:r>
              <a:rPr lang="en-IN" sz="1600" b="0" i="0" dirty="0">
                <a:solidFill>
                  <a:srgbClr val="273239"/>
                </a:solidFill>
                <a:effectLst/>
                <a:latin typeface="Times New Roman" panose="02020603050405020304" pitchFamily="18" charset="0"/>
                <a:cs typeface="Times New Roman" panose="02020603050405020304" pitchFamily="18" charset="0"/>
              </a:rPr>
              <a:t> item, Q</a:t>
            </a:r>
            <a:r>
              <a:rPr lang="en-IN" sz="1600" b="0" i="0" baseline="-25000" dirty="0">
                <a:solidFill>
                  <a:srgbClr val="273239"/>
                </a:solidFill>
                <a:effectLst/>
                <a:latin typeface="Times New Roman" panose="02020603050405020304" pitchFamily="18" charset="0"/>
                <a:cs typeface="Times New Roman" panose="02020603050405020304" pitchFamily="18" charset="0"/>
              </a:rPr>
              <a:t>3</a:t>
            </a:r>
            <a:r>
              <a:rPr lang="en-IN" sz="1600" b="0" i="0" dirty="0">
                <a:solidFill>
                  <a:srgbClr val="273239"/>
                </a:solidFill>
                <a:effectLst/>
                <a:latin typeface="Times New Roman" panose="02020603050405020304" pitchFamily="18" charset="0"/>
                <a:cs typeface="Times New Roman" panose="02020603050405020304" pitchFamily="18" charset="0"/>
              </a:rPr>
              <a:t> = 75</a:t>
            </a:r>
            <a:r>
              <a:rPr lang="en-IN" sz="1600" b="0" i="0" baseline="30000" dirty="0">
                <a:solidFill>
                  <a:srgbClr val="273239"/>
                </a:solidFill>
                <a:effectLst/>
                <a:latin typeface="Times New Roman" panose="02020603050405020304" pitchFamily="18" charset="0"/>
                <a:cs typeface="Times New Roman" panose="02020603050405020304" pitchFamily="18" charset="0"/>
              </a:rPr>
              <a:t>th</a:t>
            </a:r>
            <a:r>
              <a:rPr lang="en-IN" sz="1600" b="0" i="0" dirty="0">
                <a:solidFill>
                  <a:srgbClr val="273239"/>
                </a:solidFill>
                <a:effectLst/>
                <a:latin typeface="Times New Roman" panose="02020603050405020304" pitchFamily="18" charset="0"/>
                <a:cs typeface="Times New Roman" panose="02020603050405020304" pitchFamily="18" charset="0"/>
              </a:rPr>
              <a:t> item</a:t>
            </a:r>
          </a:p>
          <a:p>
            <a:pPr algn="just" rtl="0" fontAlgn="base">
              <a:spcAft>
                <a:spcPts val="750"/>
              </a:spcAft>
            </a:pPr>
            <a:r>
              <a:rPr lang="en-US" sz="1600" b="0" i="0" dirty="0">
                <a:solidFill>
                  <a:srgbClr val="273239"/>
                </a:solidFill>
                <a:effectLst/>
                <a:latin typeface="Times New Roman" panose="02020603050405020304" pitchFamily="18" charset="0"/>
                <a:cs typeface="Times New Roman" panose="02020603050405020304" pitchFamily="18" charset="0"/>
              </a:rPr>
              <a:t>Now, the 25</a:t>
            </a:r>
            <a:r>
              <a:rPr lang="en-US" sz="1600" b="0" i="0" baseline="30000" dirty="0">
                <a:solidFill>
                  <a:srgbClr val="273239"/>
                </a:solidFill>
                <a:effectLst/>
                <a:latin typeface="Times New Roman" panose="02020603050405020304" pitchFamily="18" charset="0"/>
                <a:cs typeface="Times New Roman" panose="02020603050405020304" pitchFamily="18" charset="0"/>
              </a:rPr>
              <a:t>th</a:t>
            </a:r>
            <a:r>
              <a:rPr lang="en-US" sz="1600" b="0" i="0" dirty="0">
                <a:solidFill>
                  <a:srgbClr val="273239"/>
                </a:solidFill>
                <a:effectLst/>
                <a:latin typeface="Times New Roman" panose="02020603050405020304" pitchFamily="18" charset="0"/>
                <a:cs typeface="Times New Roman" panose="02020603050405020304" pitchFamily="18" charset="0"/>
              </a:rPr>
              <a:t> item falls under the cumulative frequency of 25 and the age against this </a:t>
            </a:r>
            <a:r>
              <a:rPr lang="en-US" sz="1600" b="0" i="0" dirty="0" err="1">
                <a:solidFill>
                  <a:srgbClr val="273239"/>
                </a:solidFill>
                <a:effectLst/>
                <a:latin typeface="Times New Roman" panose="02020603050405020304" pitchFamily="18" charset="0"/>
                <a:cs typeface="Times New Roman" panose="02020603050405020304" pitchFamily="18" charset="0"/>
              </a:rPr>
              <a:t>cf</a:t>
            </a:r>
            <a:r>
              <a:rPr lang="en-US" sz="1600" b="0" i="0" dirty="0">
                <a:solidFill>
                  <a:srgbClr val="273239"/>
                </a:solidFill>
                <a:effectLst/>
                <a:latin typeface="Times New Roman" panose="02020603050405020304" pitchFamily="18" charset="0"/>
                <a:cs typeface="Times New Roman" panose="02020603050405020304" pitchFamily="18" charset="0"/>
              </a:rPr>
              <a:t> value is 18.</a:t>
            </a:r>
            <a:endParaRPr lang="en-IN" sz="1600" dirty="0">
              <a:solidFill>
                <a:srgbClr val="273239"/>
              </a:solidFill>
              <a:latin typeface="Times New Roman" panose="02020603050405020304" pitchFamily="18" charset="0"/>
              <a:cs typeface="Times New Roman" panose="02020603050405020304" pitchFamily="18" charset="0"/>
            </a:endParaRPr>
          </a:p>
          <a:p>
            <a:pPr algn="just" rtl="0" fontAlgn="base">
              <a:spcAft>
                <a:spcPts val="750"/>
              </a:spcAft>
            </a:pPr>
            <a:r>
              <a:rPr lang="en-US" sz="1600" b="0" i="0" dirty="0">
                <a:solidFill>
                  <a:srgbClr val="273239"/>
                </a:solidFill>
                <a:effectLst/>
                <a:latin typeface="Times New Roman" panose="02020603050405020304" pitchFamily="18" charset="0"/>
                <a:cs typeface="Times New Roman" panose="02020603050405020304" pitchFamily="18" charset="0"/>
              </a:rPr>
              <a:t>Now, the 75</a:t>
            </a:r>
            <a:r>
              <a:rPr lang="en-US" sz="1600" b="0" i="0" baseline="30000" dirty="0">
                <a:solidFill>
                  <a:srgbClr val="273239"/>
                </a:solidFill>
                <a:effectLst/>
                <a:latin typeface="Times New Roman" panose="02020603050405020304" pitchFamily="18" charset="0"/>
                <a:cs typeface="Times New Roman" panose="02020603050405020304" pitchFamily="18" charset="0"/>
              </a:rPr>
              <a:t>th</a:t>
            </a:r>
            <a:r>
              <a:rPr lang="en-US" sz="1600" b="0" i="0" dirty="0">
                <a:solidFill>
                  <a:srgbClr val="273239"/>
                </a:solidFill>
                <a:effectLst/>
                <a:latin typeface="Times New Roman" panose="02020603050405020304" pitchFamily="18" charset="0"/>
                <a:cs typeface="Times New Roman" panose="02020603050405020304" pitchFamily="18" charset="0"/>
              </a:rPr>
              <a:t> item falls under the cumulative frequency of 85 and the age against this </a:t>
            </a:r>
            <a:r>
              <a:rPr lang="en-US" sz="1600" b="0" i="0" dirty="0" err="1">
                <a:solidFill>
                  <a:srgbClr val="273239"/>
                </a:solidFill>
                <a:effectLst/>
                <a:latin typeface="Times New Roman" panose="02020603050405020304" pitchFamily="18" charset="0"/>
                <a:cs typeface="Times New Roman" panose="02020603050405020304" pitchFamily="18" charset="0"/>
              </a:rPr>
              <a:t>cf</a:t>
            </a:r>
            <a:r>
              <a:rPr lang="en-US" sz="1600" b="0" i="0" dirty="0">
                <a:solidFill>
                  <a:srgbClr val="273239"/>
                </a:solidFill>
                <a:effectLst/>
                <a:latin typeface="Times New Roman" panose="02020603050405020304" pitchFamily="18" charset="0"/>
                <a:cs typeface="Times New Roman" panose="02020603050405020304" pitchFamily="18" charset="0"/>
              </a:rPr>
              <a:t> value is 40.</a:t>
            </a:r>
            <a:endParaRPr lang="en-US" sz="1600" dirty="0">
              <a:solidFill>
                <a:srgbClr val="273239"/>
              </a:solidFill>
              <a:latin typeface="Times New Roman" panose="02020603050405020304" pitchFamily="18" charset="0"/>
              <a:cs typeface="Times New Roman" panose="02020603050405020304" pitchFamily="18" charset="0"/>
            </a:endParaRPr>
          </a:p>
        </p:txBody>
      </p:sp>
      <p:pic>
        <p:nvPicPr>
          <p:cNvPr id="7" name="Picture 2" descr="Quartile">
            <a:extLst>
              <a:ext uri="{FF2B5EF4-FFF2-40B4-BE49-F238E27FC236}">
                <a16:creationId xmlns:a16="http://schemas.microsoft.com/office/drawing/2014/main" id="{72246894-FCF4-9A2E-66BE-790BE09F4D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48544" y="188843"/>
            <a:ext cx="2457450" cy="223837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Quartile">
            <a:extLst>
              <a:ext uri="{FF2B5EF4-FFF2-40B4-BE49-F238E27FC236}">
                <a16:creationId xmlns:a16="http://schemas.microsoft.com/office/drawing/2014/main" id="{5EB61D9D-1B2B-57AA-EF1D-50A96CC3BE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7746" y="1417257"/>
            <a:ext cx="4276725" cy="2308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565402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A90CF00-0EB5-AD3F-DB1B-1D26C90894F5}"/>
                  </a:ext>
                </a:extLst>
              </p:cNvPr>
              <p:cNvSpPr txBox="1"/>
              <p:nvPr/>
            </p:nvSpPr>
            <p:spPr>
              <a:xfrm>
                <a:off x="79513" y="176072"/>
                <a:ext cx="8776252" cy="4818435"/>
              </a:xfrm>
              <a:prstGeom prst="rect">
                <a:avLst/>
              </a:prstGeom>
              <a:noFill/>
            </p:spPr>
            <p:txBody>
              <a:bodyPr wrap="square">
                <a:spAutoFit/>
              </a:bodyPr>
              <a:lstStyle/>
              <a:p>
                <a:pPr algn="l" fontAlgn="base">
                  <a:spcBef>
                    <a:spcPts val="1800"/>
                  </a:spcBef>
                  <a:spcAft>
                    <a:spcPts val="1800"/>
                  </a:spcAft>
                </a:pPr>
                <a:r>
                  <a:rPr lang="en-US" sz="1800" b="1" i="0" dirty="0">
                    <a:solidFill>
                      <a:schemeClr val="tx1"/>
                    </a:solidFill>
                    <a:effectLst/>
                    <a:latin typeface="Times New Roman" panose="02020603050405020304" pitchFamily="18" charset="0"/>
                    <a:cs typeface="Times New Roman" panose="02020603050405020304" pitchFamily="18" charset="0"/>
                  </a:rPr>
                  <a:t>Example 3:</a:t>
                </a:r>
                <a:r>
                  <a:rPr lang="en-US" sz="1800" b="1" dirty="0">
                    <a:solidFill>
                      <a:schemeClr val="tx1"/>
                    </a:solidFill>
                    <a:latin typeface="Times New Roman" panose="02020603050405020304" pitchFamily="18" charset="0"/>
                    <a:cs typeface="Times New Roman" panose="02020603050405020304" pitchFamily="18" charset="0"/>
                  </a:rPr>
                  <a:t>(</a:t>
                </a:r>
                <a:r>
                  <a:rPr lang="en-US" sz="1800" b="1" i="0" dirty="0">
                    <a:solidFill>
                      <a:schemeClr val="tx1"/>
                    </a:solidFill>
                    <a:effectLst/>
                    <a:latin typeface="Times New Roman" panose="02020603050405020304" pitchFamily="18" charset="0"/>
                    <a:cs typeface="Times New Roman" panose="02020603050405020304" pitchFamily="18" charset="0"/>
                  </a:rPr>
                  <a:t>Bowley’s Coefficient of Skewness):</a:t>
                </a:r>
              </a:p>
              <a:p>
                <a:pPr algn="l" rtl="0" fontAlgn="base">
                  <a:spcAft>
                    <a:spcPts val="750"/>
                  </a:spcAft>
                </a:pPr>
                <a:r>
                  <a:rPr lang="en-US" sz="1600" b="0" i="0" dirty="0">
                    <a:solidFill>
                      <a:srgbClr val="273239"/>
                    </a:solidFill>
                    <a:effectLst/>
                    <a:latin typeface="Times New Roman" panose="02020603050405020304" pitchFamily="18" charset="0"/>
                    <a:cs typeface="Times New Roman" panose="02020603050405020304" pitchFamily="18" charset="0"/>
                  </a:rPr>
                  <a:t>Calculate Bowley's Measure of Skewness for the following dataset representing the ages of a group of people in a sample: 20, 24, 28, 32, 35, 40, 42, 45, 50.</a:t>
                </a:r>
              </a:p>
              <a:p>
                <a:pPr algn="l" fontAlgn="base"/>
                <a:r>
                  <a:rPr lang="en-US" sz="1600" i="0" dirty="0">
                    <a:solidFill>
                      <a:srgbClr val="273239"/>
                    </a:solidFill>
                    <a:effectLst/>
                    <a:latin typeface="Times New Roman" panose="02020603050405020304" pitchFamily="18" charset="0"/>
                    <a:cs typeface="Times New Roman" panose="02020603050405020304" pitchFamily="18" charset="0"/>
                  </a:rPr>
                  <a:t>Solution: Calculate the median (Q</a:t>
                </a:r>
                <a:r>
                  <a:rPr lang="en-US" sz="1600" i="0" baseline="-25000" dirty="0">
                    <a:solidFill>
                      <a:srgbClr val="273239"/>
                    </a:solidFill>
                    <a:effectLst/>
                    <a:latin typeface="Times New Roman" panose="02020603050405020304" pitchFamily="18" charset="0"/>
                    <a:cs typeface="Times New Roman" panose="02020603050405020304" pitchFamily="18" charset="0"/>
                  </a:rPr>
                  <a:t>2</a:t>
                </a:r>
                <a:r>
                  <a:rPr lang="en-US" sz="1600" i="0" dirty="0">
                    <a:solidFill>
                      <a:srgbClr val="273239"/>
                    </a:solidFill>
                    <a:effectLst/>
                    <a:latin typeface="Times New Roman" panose="02020603050405020304" pitchFamily="18" charset="0"/>
                    <a:cs typeface="Times New Roman" panose="02020603050405020304" pitchFamily="18" charset="0"/>
                  </a:rPr>
                  <a:t>)</a:t>
                </a:r>
              </a:p>
              <a:p>
                <a:pPr algn="l" rtl="0" fontAlgn="base">
                  <a:spcAft>
                    <a:spcPts val="750"/>
                  </a:spcAft>
                </a:pPr>
                <a:r>
                  <a:rPr lang="en-US" sz="1600" i="0" dirty="0">
                    <a:solidFill>
                      <a:srgbClr val="273239"/>
                    </a:solidFill>
                    <a:effectLst/>
                    <a:latin typeface="Times New Roman" panose="02020603050405020304" pitchFamily="18" charset="0"/>
                    <a:cs typeface="Times New Roman" panose="02020603050405020304" pitchFamily="18" charset="0"/>
                  </a:rPr>
                  <a:t>Q</a:t>
                </a:r>
                <a:r>
                  <a:rPr lang="en-US" sz="1600" i="0" baseline="-25000" dirty="0">
                    <a:solidFill>
                      <a:srgbClr val="273239"/>
                    </a:solidFill>
                    <a:effectLst/>
                    <a:latin typeface="Times New Roman" panose="02020603050405020304" pitchFamily="18" charset="0"/>
                    <a:cs typeface="Times New Roman" panose="02020603050405020304" pitchFamily="18" charset="0"/>
                  </a:rPr>
                  <a:t>2</a:t>
                </a:r>
                <a:r>
                  <a:rPr lang="en-US" sz="1600" i="0" dirty="0">
                    <a:solidFill>
                      <a:srgbClr val="273239"/>
                    </a:solidFill>
                    <a:effectLst/>
                    <a:latin typeface="Times New Roman" panose="02020603050405020304" pitchFamily="18" charset="0"/>
                    <a:cs typeface="Times New Roman" panose="02020603050405020304" pitchFamily="18" charset="0"/>
                  </a:rPr>
                  <a:t>= 35 (the middle value)</a:t>
                </a:r>
              </a:p>
              <a:p>
                <a:pPr algn="l" rtl="0" fontAlgn="base">
                  <a:spcAft>
                    <a:spcPts val="750"/>
                  </a:spcAft>
                </a:pPr>
                <a:r>
                  <a:rPr lang="en-US" sz="1600" i="0" dirty="0">
                    <a:solidFill>
                      <a:srgbClr val="273239"/>
                    </a:solidFill>
                    <a:effectLst/>
                    <a:latin typeface="Times New Roman" panose="02020603050405020304" pitchFamily="18" charset="0"/>
                    <a:cs typeface="Times New Roman" panose="02020603050405020304" pitchFamily="18" charset="0"/>
                  </a:rPr>
                  <a:t>Now, first quartile (Q</a:t>
                </a:r>
                <a:r>
                  <a:rPr lang="en-US" sz="1600" i="0" baseline="-25000" dirty="0">
                    <a:solidFill>
                      <a:srgbClr val="273239"/>
                    </a:solidFill>
                    <a:effectLst/>
                    <a:latin typeface="Times New Roman" panose="02020603050405020304" pitchFamily="18" charset="0"/>
                    <a:cs typeface="Times New Roman" panose="02020603050405020304" pitchFamily="18" charset="0"/>
                  </a:rPr>
                  <a:t>1</a:t>
                </a:r>
                <a:r>
                  <a:rPr lang="en-US" sz="1600" i="0" dirty="0">
                    <a:solidFill>
                      <a:srgbClr val="273239"/>
                    </a:solidFill>
                    <a:effectLst/>
                    <a:latin typeface="Times New Roman" panose="02020603050405020304" pitchFamily="18" charset="0"/>
                    <a:cs typeface="Times New Roman" panose="02020603050405020304" pitchFamily="18" charset="0"/>
                  </a:rPr>
                  <a:t>)</a:t>
                </a:r>
              </a:p>
              <a:p>
                <a:pPr algn="l" rtl="0" fontAlgn="base">
                  <a:spcAft>
                    <a:spcPts val="750"/>
                  </a:spcAft>
                </a:pPr>
                <a:r>
                  <a:rPr lang="en-US" sz="1600" i="0" dirty="0">
                    <a:solidFill>
                      <a:srgbClr val="273239"/>
                    </a:solidFill>
                    <a:effectLst/>
                    <a:latin typeface="Times New Roman" panose="02020603050405020304" pitchFamily="18" charset="0"/>
                    <a:cs typeface="Times New Roman" panose="02020603050405020304" pitchFamily="18" charset="0"/>
                  </a:rPr>
                  <a:t>Q</a:t>
                </a:r>
                <a:r>
                  <a:rPr lang="en-US" sz="1600" i="0" baseline="-25000" dirty="0">
                    <a:solidFill>
                      <a:srgbClr val="273239"/>
                    </a:solidFill>
                    <a:effectLst/>
                    <a:latin typeface="Times New Roman" panose="02020603050405020304" pitchFamily="18" charset="0"/>
                    <a:cs typeface="Times New Roman" panose="02020603050405020304" pitchFamily="18" charset="0"/>
                  </a:rPr>
                  <a:t>1</a:t>
                </a:r>
                <a:r>
                  <a:rPr lang="en-US" sz="1600" i="0" dirty="0">
                    <a:solidFill>
                      <a:srgbClr val="273239"/>
                    </a:solidFill>
                    <a:effectLst/>
                    <a:latin typeface="Times New Roman" panose="02020603050405020304" pitchFamily="18" charset="0"/>
                    <a:cs typeface="Times New Roman" panose="02020603050405020304" pitchFamily="18" charset="0"/>
                  </a:rPr>
                  <a:t> = 26</a:t>
                </a:r>
              </a:p>
              <a:p>
                <a:pPr algn="l" rtl="0" fontAlgn="base">
                  <a:spcAft>
                    <a:spcPts val="750"/>
                  </a:spcAft>
                </a:pPr>
                <a:r>
                  <a:rPr lang="en-US" sz="1600" i="0" dirty="0">
                    <a:solidFill>
                      <a:srgbClr val="273239"/>
                    </a:solidFill>
                    <a:effectLst/>
                    <a:latin typeface="Times New Roman" panose="02020603050405020304" pitchFamily="18" charset="0"/>
                    <a:cs typeface="Times New Roman" panose="02020603050405020304" pitchFamily="18" charset="0"/>
                  </a:rPr>
                  <a:t>third quartile (Q</a:t>
                </a:r>
                <a:r>
                  <a:rPr lang="en-US" sz="1600" i="0" baseline="-25000" dirty="0">
                    <a:solidFill>
                      <a:srgbClr val="273239"/>
                    </a:solidFill>
                    <a:effectLst/>
                    <a:latin typeface="Times New Roman" panose="02020603050405020304" pitchFamily="18" charset="0"/>
                    <a:cs typeface="Times New Roman" panose="02020603050405020304" pitchFamily="18" charset="0"/>
                  </a:rPr>
                  <a:t>3</a:t>
                </a:r>
                <a:r>
                  <a:rPr lang="en-US" sz="1600" i="0" dirty="0">
                    <a:solidFill>
                      <a:srgbClr val="273239"/>
                    </a:solidFill>
                    <a:effectLst/>
                    <a:latin typeface="Times New Roman" panose="02020603050405020304" pitchFamily="18" charset="0"/>
                    <a:cs typeface="Times New Roman" panose="02020603050405020304" pitchFamily="18" charset="0"/>
                  </a:rPr>
                  <a:t>)</a:t>
                </a:r>
              </a:p>
              <a:p>
                <a:pPr algn="l" rtl="0" fontAlgn="base">
                  <a:spcAft>
                    <a:spcPts val="750"/>
                  </a:spcAft>
                </a:pPr>
                <a:r>
                  <a:rPr lang="en-US" sz="1600" i="0" dirty="0">
                    <a:solidFill>
                      <a:srgbClr val="273239"/>
                    </a:solidFill>
                    <a:effectLst/>
                    <a:latin typeface="Times New Roman" panose="02020603050405020304" pitchFamily="18" charset="0"/>
                    <a:cs typeface="Times New Roman" panose="02020603050405020304" pitchFamily="18" charset="0"/>
                  </a:rPr>
                  <a:t>Q</a:t>
                </a:r>
                <a:r>
                  <a:rPr lang="en-US" sz="1600" i="0" baseline="-25000" dirty="0">
                    <a:solidFill>
                      <a:srgbClr val="273239"/>
                    </a:solidFill>
                    <a:effectLst/>
                    <a:latin typeface="Times New Roman" panose="02020603050405020304" pitchFamily="18" charset="0"/>
                    <a:cs typeface="Times New Roman" panose="02020603050405020304" pitchFamily="18" charset="0"/>
                  </a:rPr>
                  <a:t>3</a:t>
                </a:r>
                <a:r>
                  <a:rPr lang="en-US" sz="1600" i="0" dirty="0">
                    <a:solidFill>
                      <a:srgbClr val="273239"/>
                    </a:solidFill>
                    <a:effectLst/>
                    <a:latin typeface="Times New Roman" panose="02020603050405020304" pitchFamily="18" charset="0"/>
                    <a:cs typeface="Times New Roman" panose="02020603050405020304" pitchFamily="18" charset="0"/>
                  </a:rPr>
                  <a:t> = 43.5</a:t>
                </a:r>
                <a:endParaRPr lang="en-US" sz="1600" dirty="0">
                  <a:solidFill>
                    <a:srgbClr val="273239"/>
                  </a:solidFill>
                  <a:latin typeface="Times New Roman" panose="02020603050405020304" pitchFamily="18" charset="0"/>
                  <a:cs typeface="Times New Roman" panose="02020603050405020304" pitchFamily="18" charset="0"/>
                </a:endParaRPr>
              </a:p>
              <a:p>
                <a:pPr algn="l" rtl="0" fontAlgn="base">
                  <a:spcAft>
                    <a:spcPts val="750"/>
                  </a:spcAft>
                </a:pPr>
                <a:r>
                  <a:rPr lang="en-US" sz="1600" i="0" dirty="0">
                    <a:solidFill>
                      <a:srgbClr val="273239"/>
                    </a:solidFill>
                    <a:effectLst/>
                    <a:latin typeface="Times New Roman" panose="02020603050405020304" pitchFamily="18" charset="0"/>
                    <a:cs typeface="Times New Roman" panose="02020603050405020304" pitchFamily="18" charset="0"/>
                  </a:rPr>
                  <a:t>Substitute the above values in the formula</a:t>
                </a:r>
                <a:r>
                  <a:rPr lang="en-US" sz="1600" dirty="0">
                    <a:solidFill>
                      <a:srgbClr val="273239"/>
                    </a:solidFill>
                    <a:effectLst/>
                    <a:latin typeface="Times New Roman" panose="02020603050405020304" pitchFamily="18" charset="0"/>
                    <a:cs typeface="Times New Roman" panose="02020603050405020304" pitchFamily="18" charset="0"/>
                  </a:rPr>
                  <a:t> </a:t>
                </a:r>
                <a14:m>
                  <m:oMath xmlns:m="http://schemas.openxmlformats.org/officeDocument/2006/math">
                    <m:r>
                      <m:rPr>
                        <m:sty m:val="p"/>
                      </m:rPr>
                      <a:rPr lang="en-US" sz="1600" b="0" i="0" dirty="0" smtClean="0">
                        <a:solidFill>
                          <a:srgbClr val="273239"/>
                        </a:solidFill>
                        <a:effectLst/>
                        <a:latin typeface="Cambria Math" panose="02040503050406030204" pitchFamily="18" charset="0"/>
                      </a:rPr>
                      <m:t>B</m:t>
                    </m:r>
                    <m:r>
                      <a:rPr lang="en-US" sz="1600" b="0" i="0" dirty="0" smtClean="0">
                        <a:solidFill>
                          <a:srgbClr val="273239"/>
                        </a:solidFill>
                        <a:effectLst/>
                        <a:latin typeface="Cambria Math" panose="02040503050406030204" pitchFamily="18" charset="0"/>
                      </a:rPr>
                      <m:t> = </m:t>
                    </m:r>
                    <m:f>
                      <m:fPr>
                        <m:ctrlPr>
                          <a:rPr lang="en-US" sz="1600" i="1" dirty="0" smtClean="0">
                            <a:solidFill>
                              <a:srgbClr val="273239"/>
                            </a:solidFill>
                            <a:effectLst/>
                            <a:latin typeface="Cambria Math" panose="02040503050406030204" pitchFamily="18" charset="0"/>
                          </a:rPr>
                        </m:ctrlPr>
                      </m:fPr>
                      <m:num>
                        <m:sSub>
                          <m:sSubPr>
                            <m:ctrlPr>
                              <a:rPr lang="en-US" sz="1600" i="1" dirty="0" smtClean="0">
                                <a:solidFill>
                                  <a:srgbClr val="273239"/>
                                </a:solidFill>
                                <a:effectLst/>
                                <a:latin typeface="Cambria Math" panose="02040503050406030204" pitchFamily="18" charset="0"/>
                              </a:rPr>
                            </m:ctrlPr>
                          </m:sSubPr>
                          <m:e>
                            <m:r>
                              <a:rPr lang="en-US" sz="1600" b="0" i="1" dirty="0" smtClean="0">
                                <a:solidFill>
                                  <a:srgbClr val="273239"/>
                                </a:solidFill>
                                <a:latin typeface="Cambria Math" panose="02040503050406030204" pitchFamily="18" charset="0"/>
                              </a:rPr>
                              <m:t>𝑄</m:t>
                            </m:r>
                          </m:e>
                          <m:sub>
                            <m:r>
                              <a:rPr lang="en-US" sz="1600" b="0" i="1" dirty="0" smtClean="0">
                                <a:solidFill>
                                  <a:srgbClr val="273239"/>
                                </a:solidFill>
                                <a:effectLst/>
                                <a:latin typeface="Cambria Math" panose="02040503050406030204" pitchFamily="18" charset="0"/>
                              </a:rPr>
                              <m:t>1</m:t>
                            </m:r>
                          </m:sub>
                        </m:sSub>
                        <m:r>
                          <a:rPr lang="en-US" sz="1600" b="0" i="0" dirty="0" smtClean="0">
                            <a:solidFill>
                              <a:srgbClr val="273239"/>
                            </a:solidFill>
                            <a:latin typeface="Cambria Math" panose="02040503050406030204" pitchFamily="18" charset="0"/>
                          </a:rPr>
                          <m:t>+</m:t>
                        </m:r>
                        <m:sSub>
                          <m:sSubPr>
                            <m:ctrlPr>
                              <a:rPr lang="en-US" sz="1600" i="1" dirty="0">
                                <a:solidFill>
                                  <a:srgbClr val="273239"/>
                                </a:solidFill>
                                <a:latin typeface="Cambria Math" panose="02040503050406030204" pitchFamily="18" charset="0"/>
                              </a:rPr>
                            </m:ctrlPr>
                          </m:sSubPr>
                          <m:e>
                            <m:r>
                              <a:rPr lang="en-US" sz="1600" b="0" i="1" dirty="0" smtClean="0">
                                <a:solidFill>
                                  <a:srgbClr val="273239"/>
                                </a:solidFill>
                                <a:latin typeface="Cambria Math" panose="02040503050406030204" pitchFamily="18" charset="0"/>
                              </a:rPr>
                              <m:t>𝑄</m:t>
                            </m:r>
                          </m:e>
                          <m:sub>
                            <m:r>
                              <a:rPr lang="en-US" sz="1600" b="0" i="1" dirty="0" smtClean="0">
                                <a:solidFill>
                                  <a:srgbClr val="273239"/>
                                </a:solidFill>
                                <a:latin typeface="Cambria Math" panose="02040503050406030204" pitchFamily="18" charset="0"/>
                              </a:rPr>
                              <m:t>3</m:t>
                            </m:r>
                          </m:sub>
                        </m:sSub>
                        <m:r>
                          <a:rPr lang="en-US" sz="1600" b="0" i="0" dirty="0" smtClean="0">
                            <a:solidFill>
                              <a:srgbClr val="273239"/>
                            </a:solidFill>
                            <a:latin typeface="Cambria Math" panose="02040503050406030204" pitchFamily="18" charset="0"/>
                          </a:rPr>
                          <m:t>−</m:t>
                        </m:r>
                        <m:sSub>
                          <m:sSubPr>
                            <m:ctrlPr>
                              <a:rPr lang="en-US" sz="1600" i="1" dirty="0">
                                <a:solidFill>
                                  <a:srgbClr val="273239"/>
                                </a:solidFill>
                                <a:latin typeface="Cambria Math" panose="02040503050406030204" pitchFamily="18" charset="0"/>
                              </a:rPr>
                            </m:ctrlPr>
                          </m:sSubPr>
                          <m:e>
                            <m:r>
                              <a:rPr lang="en-US" sz="1600" b="0" i="0" dirty="0" smtClean="0">
                                <a:solidFill>
                                  <a:srgbClr val="273239"/>
                                </a:solidFill>
                                <a:latin typeface="Cambria Math" panose="02040503050406030204" pitchFamily="18" charset="0"/>
                              </a:rPr>
                              <m:t>2</m:t>
                            </m:r>
                            <m:r>
                              <a:rPr lang="en-US" sz="1600" b="0" i="1" dirty="0" smtClean="0">
                                <a:solidFill>
                                  <a:srgbClr val="273239"/>
                                </a:solidFill>
                                <a:latin typeface="Cambria Math" panose="02040503050406030204" pitchFamily="18" charset="0"/>
                              </a:rPr>
                              <m:t>𝑄</m:t>
                            </m:r>
                          </m:e>
                          <m:sub>
                            <m:r>
                              <a:rPr lang="en-US" sz="1600" b="0" i="1" dirty="0" smtClean="0">
                                <a:solidFill>
                                  <a:srgbClr val="273239"/>
                                </a:solidFill>
                                <a:latin typeface="Cambria Math" panose="02040503050406030204" pitchFamily="18" charset="0"/>
                              </a:rPr>
                              <m:t>2</m:t>
                            </m:r>
                          </m:sub>
                        </m:sSub>
                      </m:num>
                      <m:den>
                        <m:sSub>
                          <m:sSubPr>
                            <m:ctrlPr>
                              <a:rPr lang="en-US" sz="1600" i="1" dirty="0">
                                <a:solidFill>
                                  <a:srgbClr val="273239"/>
                                </a:solidFill>
                                <a:latin typeface="Cambria Math" panose="02040503050406030204" pitchFamily="18" charset="0"/>
                              </a:rPr>
                            </m:ctrlPr>
                          </m:sSubPr>
                          <m:e>
                            <m:r>
                              <a:rPr lang="en-US" sz="1600" b="0" i="1" dirty="0" smtClean="0">
                                <a:solidFill>
                                  <a:srgbClr val="273239"/>
                                </a:solidFill>
                                <a:latin typeface="Cambria Math" panose="02040503050406030204" pitchFamily="18" charset="0"/>
                              </a:rPr>
                              <m:t>𝑄</m:t>
                            </m:r>
                          </m:e>
                          <m:sub>
                            <m:r>
                              <a:rPr lang="en-US" sz="1600" b="0" i="1" dirty="0" smtClean="0">
                                <a:solidFill>
                                  <a:srgbClr val="273239"/>
                                </a:solidFill>
                                <a:latin typeface="Cambria Math" panose="02040503050406030204" pitchFamily="18" charset="0"/>
                              </a:rPr>
                              <m:t>3</m:t>
                            </m:r>
                          </m:sub>
                        </m:sSub>
                        <m:r>
                          <a:rPr lang="en-US" sz="1600" b="0" i="0" dirty="0" smtClean="0">
                            <a:solidFill>
                              <a:srgbClr val="273239"/>
                            </a:solidFill>
                            <a:latin typeface="Cambria Math" panose="02040503050406030204" pitchFamily="18" charset="0"/>
                          </a:rPr>
                          <m:t>−</m:t>
                        </m:r>
                        <m:sSub>
                          <m:sSubPr>
                            <m:ctrlPr>
                              <a:rPr lang="en-US" sz="1600" i="1" dirty="0">
                                <a:solidFill>
                                  <a:srgbClr val="273239"/>
                                </a:solidFill>
                                <a:latin typeface="Cambria Math" panose="02040503050406030204" pitchFamily="18" charset="0"/>
                              </a:rPr>
                            </m:ctrlPr>
                          </m:sSubPr>
                          <m:e>
                            <m:r>
                              <a:rPr lang="en-US" sz="1600" b="0" i="1" dirty="0" smtClean="0">
                                <a:solidFill>
                                  <a:srgbClr val="273239"/>
                                </a:solidFill>
                                <a:latin typeface="Cambria Math" panose="02040503050406030204" pitchFamily="18" charset="0"/>
                              </a:rPr>
                              <m:t>𝑄</m:t>
                            </m:r>
                          </m:e>
                          <m:sub>
                            <m:r>
                              <a:rPr lang="en-US" sz="1600" b="0" i="1" dirty="0" smtClean="0">
                                <a:solidFill>
                                  <a:srgbClr val="273239"/>
                                </a:solidFill>
                                <a:latin typeface="Cambria Math" panose="02040503050406030204" pitchFamily="18" charset="0"/>
                              </a:rPr>
                              <m:t>1</m:t>
                            </m:r>
                          </m:sub>
                        </m:sSub>
                      </m:den>
                    </m:f>
                  </m:oMath>
                </a14:m>
                <a:endParaRPr lang="en-US" sz="1600" i="0" dirty="0">
                  <a:solidFill>
                    <a:srgbClr val="273239"/>
                  </a:solidFill>
                  <a:effectLst/>
                  <a:latin typeface="Times New Roman" panose="02020603050405020304" pitchFamily="18" charset="0"/>
                  <a:cs typeface="Times New Roman" panose="02020603050405020304" pitchFamily="18" charset="0"/>
                </a:endParaRPr>
              </a:p>
              <a:p>
                <a:pPr algn="l" rtl="0" fontAlgn="base">
                  <a:spcAft>
                    <a:spcPts val="750"/>
                  </a:spcAft>
                </a:pPr>
                <a:r>
                  <a:rPr lang="en-US" sz="1600" i="0" dirty="0">
                    <a:solidFill>
                      <a:srgbClr val="273239"/>
                    </a:solidFill>
                    <a:effectLst/>
                    <a:latin typeface="Times New Roman" panose="02020603050405020304" pitchFamily="18" charset="0"/>
                    <a:cs typeface="Times New Roman" panose="02020603050405020304" pitchFamily="18" charset="0"/>
                  </a:rPr>
                  <a:t>B = -0.02</a:t>
                </a:r>
                <a:r>
                  <a:rPr lang="en-US" sz="2000" b="0" i="0" dirty="0">
                    <a:solidFill>
                      <a:srgbClr val="273239"/>
                    </a:solidFill>
                    <a:effectLst/>
                    <a:latin typeface="Nunito" pitchFamily="2" charset="0"/>
                  </a:rPr>
                  <a:t> </a:t>
                </a:r>
              </a:p>
              <a:p>
                <a:pPr algn="l" rtl="0" fontAlgn="base">
                  <a:spcAft>
                    <a:spcPts val="750"/>
                  </a:spcAft>
                </a:pPr>
                <a:r>
                  <a:rPr lang="en-US" sz="1600" b="0" i="0" dirty="0">
                    <a:solidFill>
                      <a:srgbClr val="273239"/>
                    </a:solidFill>
                    <a:effectLst/>
                    <a:latin typeface="Times New Roman" panose="02020603050405020304" pitchFamily="18" charset="0"/>
                    <a:cs typeface="Times New Roman" panose="02020603050405020304" pitchFamily="18" charset="0"/>
                  </a:rPr>
                  <a:t>Since B is negative (B &lt; 0), the distribution is negatively skewed (left-skewed). This means that the tail of the distribution is longer on the left side, indicating that there may be outliers or high values on the right side of the data.</a:t>
                </a:r>
                <a:endParaRPr lang="en-US" sz="1600" i="0" dirty="0">
                  <a:solidFill>
                    <a:srgbClr val="273239"/>
                  </a:solidFill>
                  <a:effectLst/>
                  <a:latin typeface="Times New Roman" panose="02020603050405020304" pitchFamily="18"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2A90CF00-0EB5-AD3F-DB1B-1D26C90894F5}"/>
                  </a:ext>
                </a:extLst>
              </p:cNvPr>
              <p:cNvSpPr txBox="1">
                <a:spLocks noRot="1" noChangeAspect="1" noMove="1" noResize="1" noEditPoints="1" noAdjustHandles="1" noChangeArrowheads="1" noChangeShapeType="1" noTextEdit="1"/>
              </p:cNvSpPr>
              <p:nvPr/>
            </p:nvSpPr>
            <p:spPr>
              <a:xfrm>
                <a:off x="79513" y="176072"/>
                <a:ext cx="8776252" cy="4818435"/>
              </a:xfrm>
              <a:prstGeom prst="rect">
                <a:avLst/>
              </a:prstGeom>
              <a:blipFill>
                <a:blip r:embed="rId2"/>
                <a:stretch>
                  <a:fillRect l="-556" t="-759" b="-759"/>
                </a:stretch>
              </a:blipFill>
            </p:spPr>
            <p:txBody>
              <a:bodyPr/>
              <a:lstStyle/>
              <a:p>
                <a:r>
                  <a:rPr lang="en-IN">
                    <a:noFill/>
                  </a:rPr>
                  <a:t> </a:t>
                </a:r>
              </a:p>
            </p:txBody>
          </p:sp>
        </mc:Fallback>
      </mc:AlternateContent>
    </p:spTree>
    <p:extLst>
      <p:ext uri="{BB962C8B-B14F-4D97-AF65-F5344CB8AC3E}">
        <p14:creationId xmlns:p14="http://schemas.microsoft.com/office/powerpoint/2010/main" val="218910341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60943AC-CD08-52A4-BF84-41F535BE2E92}"/>
                  </a:ext>
                </a:extLst>
              </p:cNvPr>
              <p:cNvSpPr txBox="1"/>
              <p:nvPr/>
            </p:nvSpPr>
            <p:spPr>
              <a:xfrm>
                <a:off x="79513" y="248479"/>
                <a:ext cx="8746435" cy="5307094"/>
              </a:xfrm>
              <a:prstGeom prst="rect">
                <a:avLst/>
              </a:prstGeom>
              <a:noFill/>
            </p:spPr>
            <p:txBody>
              <a:bodyPr wrap="square">
                <a:spAutoFit/>
              </a:bodyPr>
              <a:lstStyle/>
              <a:p>
                <a:r>
                  <a:rPr lang="en-US" sz="2400" b="1" dirty="0">
                    <a:solidFill>
                      <a:srgbClr val="FF0000"/>
                    </a:solidFill>
                    <a:effectLst/>
                    <a:latin typeface="Times New Roman" panose="02020603050405020304" pitchFamily="18" charset="0"/>
                    <a:cs typeface="Times New Roman" panose="02020603050405020304" pitchFamily="18" charset="0"/>
                  </a:rPr>
                  <a:t>Deciles:</a:t>
                </a:r>
              </a:p>
              <a:p>
                <a:r>
                  <a:rPr lang="en-US" sz="1800" b="0" i="0" dirty="0">
                    <a:solidFill>
                      <a:schemeClr val="tx1"/>
                    </a:solidFill>
                    <a:effectLst/>
                    <a:latin typeface="Times New Roman" panose="02020603050405020304" pitchFamily="18" charset="0"/>
                    <a:cs typeface="Times New Roman" panose="02020603050405020304" pitchFamily="18" charset="0"/>
                  </a:rPr>
                  <a:t>The formulas for calculating deciles are:</a:t>
                </a:r>
                <a:endParaRPr lang="en-US" sz="1800" b="1" dirty="0">
                  <a:solidFill>
                    <a:schemeClr val="tx1"/>
                  </a:solidFill>
                  <a:latin typeface="Times New Roman" panose="02020603050405020304" pitchFamily="18" charset="0"/>
                  <a:cs typeface="Times New Roman" panose="02020603050405020304" pitchFamily="18" charset="0"/>
                </a:endParaRPr>
              </a:p>
              <a:p>
                <a:r>
                  <a:rPr lang="en-US" sz="1800" b="0" dirty="0">
                    <a:solidFill>
                      <a:srgbClr val="273239"/>
                    </a:solidFill>
                    <a:effectLst/>
                    <a:latin typeface="Times New Roman" panose="02020603050405020304" pitchFamily="18" charset="0"/>
                    <a:cs typeface="Times New Roman" panose="02020603050405020304" pitchFamily="18" charset="0"/>
                  </a:rPr>
                  <a:t>The deciles involve dividing a dataset into ten equal parts based on numerical values. There are therefore nine deciles altogether. Deciles are represented as follows: D</a:t>
                </a:r>
                <a:r>
                  <a:rPr lang="en-US" sz="1800" b="0" baseline="-25000" dirty="0">
                    <a:solidFill>
                      <a:srgbClr val="273239"/>
                    </a:solidFill>
                    <a:effectLst/>
                    <a:latin typeface="Times New Roman" panose="02020603050405020304" pitchFamily="18" charset="0"/>
                    <a:cs typeface="Times New Roman" panose="02020603050405020304" pitchFamily="18" charset="0"/>
                  </a:rPr>
                  <a:t>1</a:t>
                </a:r>
                <a:r>
                  <a:rPr lang="en-US" sz="1800" b="0" dirty="0">
                    <a:solidFill>
                      <a:srgbClr val="273239"/>
                    </a:solidFill>
                    <a:effectLst/>
                    <a:latin typeface="Times New Roman" panose="02020603050405020304" pitchFamily="18" charset="0"/>
                    <a:cs typeface="Times New Roman" panose="02020603050405020304" pitchFamily="18" charset="0"/>
                  </a:rPr>
                  <a:t>, D</a:t>
                </a:r>
                <a:r>
                  <a:rPr lang="en-US" sz="1800" b="0" baseline="-25000" dirty="0">
                    <a:solidFill>
                      <a:srgbClr val="273239"/>
                    </a:solidFill>
                    <a:effectLst/>
                    <a:latin typeface="Times New Roman" panose="02020603050405020304" pitchFamily="18" charset="0"/>
                    <a:cs typeface="Times New Roman" panose="02020603050405020304" pitchFamily="18" charset="0"/>
                  </a:rPr>
                  <a:t>2</a:t>
                </a:r>
                <a:r>
                  <a:rPr lang="en-US" sz="1800" b="0" dirty="0">
                    <a:solidFill>
                      <a:srgbClr val="273239"/>
                    </a:solidFill>
                    <a:effectLst/>
                    <a:latin typeface="Times New Roman" panose="02020603050405020304" pitchFamily="18" charset="0"/>
                    <a:cs typeface="Times New Roman" panose="02020603050405020304" pitchFamily="18" charset="0"/>
                  </a:rPr>
                  <a:t>, D</a:t>
                </a:r>
                <a:r>
                  <a:rPr lang="en-US" sz="1800" b="0" baseline="-25000" dirty="0">
                    <a:solidFill>
                      <a:srgbClr val="273239"/>
                    </a:solidFill>
                    <a:effectLst/>
                    <a:latin typeface="Times New Roman" panose="02020603050405020304" pitchFamily="18" charset="0"/>
                    <a:cs typeface="Times New Roman" panose="02020603050405020304" pitchFamily="18" charset="0"/>
                  </a:rPr>
                  <a:t>3</a:t>
                </a:r>
                <a:r>
                  <a:rPr lang="en-US" sz="1800" b="0" dirty="0">
                    <a:solidFill>
                      <a:srgbClr val="273239"/>
                    </a:solidFill>
                    <a:effectLst/>
                    <a:latin typeface="Times New Roman" panose="02020603050405020304" pitchFamily="18" charset="0"/>
                    <a:cs typeface="Times New Roman" panose="02020603050405020304" pitchFamily="18" charset="0"/>
                  </a:rPr>
                  <a:t>, D</a:t>
                </a:r>
                <a:r>
                  <a:rPr lang="en-US" sz="1800" b="0" baseline="-25000" dirty="0">
                    <a:solidFill>
                      <a:srgbClr val="273239"/>
                    </a:solidFill>
                    <a:effectLst/>
                    <a:latin typeface="Times New Roman" panose="02020603050405020304" pitchFamily="18" charset="0"/>
                    <a:cs typeface="Times New Roman" panose="02020603050405020304" pitchFamily="18" charset="0"/>
                  </a:rPr>
                  <a:t>4</a:t>
                </a:r>
                <a:r>
                  <a:rPr lang="en-US" sz="1800" b="0" dirty="0">
                    <a:solidFill>
                      <a:srgbClr val="273239"/>
                    </a:solidFill>
                    <a:effectLst/>
                    <a:latin typeface="Times New Roman" panose="02020603050405020304" pitchFamily="18" charset="0"/>
                    <a:cs typeface="Times New Roman" panose="02020603050405020304" pitchFamily="18" charset="0"/>
                  </a:rPr>
                  <a:t>,…………,</a:t>
                </a:r>
              </a:p>
              <a:p>
                <a:r>
                  <a:rPr lang="en-US" sz="1800" b="0" dirty="0">
                    <a:solidFill>
                      <a:srgbClr val="273239"/>
                    </a:solidFill>
                    <a:effectLst/>
                    <a:latin typeface="Times New Roman" panose="02020603050405020304" pitchFamily="18" charset="0"/>
                    <a:cs typeface="Times New Roman" panose="02020603050405020304" pitchFamily="18" charset="0"/>
                  </a:rPr>
                  <a:t>A decile is used to group big data sets in descriptive statistics either from highest to lowest values or vice versa</a:t>
                </a:r>
              </a:p>
              <a:p>
                <a:endParaRPr lang="en-US" sz="1800" b="0" dirty="0">
                  <a:solidFill>
                    <a:srgbClr val="273239"/>
                  </a:solidFill>
                  <a:effectLst/>
                  <a:latin typeface="Times New Roman" panose="02020603050405020304" pitchFamily="18" charset="0"/>
                  <a:cs typeface="Times New Roman" panose="02020603050405020304" pitchFamily="18" charset="0"/>
                </a:endParaRPr>
              </a:p>
              <a:p>
                <a14:m>
                  <m:oMath xmlns:m="http://schemas.openxmlformats.org/officeDocument/2006/math">
                    <m:sSub>
                      <m:sSubPr>
                        <m:ctrlPr>
                          <a:rPr lang="en-US" sz="1800" b="0" i="1" dirty="0" smtClean="0">
                            <a:solidFill>
                              <a:schemeClr val="tx1"/>
                            </a:solidFill>
                            <a:effectLst/>
                            <a:latin typeface="Cambria Math" panose="02040503050406030204" pitchFamily="18" charset="0"/>
                          </a:rPr>
                        </m:ctrlPr>
                      </m:sSubPr>
                      <m:e>
                        <m:r>
                          <m:rPr>
                            <m:sty m:val="p"/>
                          </m:rPr>
                          <a:rPr lang="en-US" sz="1800" b="0" i="0" dirty="0" smtClean="0">
                            <a:solidFill>
                              <a:schemeClr val="tx1"/>
                            </a:solidFill>
                            <a:effectLst/>
                            <a:latin typeface="Cambria Math" panose="02040503050406030204" pitchFamily="18" charset="0"/>
                          </a:rPr>
                          <m:t>D</m:t>
                        </m:r>
                      </m:e>
                      <m:sub>
                        <m:r>
                          <a:rPr lang="en-US" sz="1800" b="0" i="0" dirty="0" smtClean="0">
                            <a:solidFill>
                              <a:schemeClr val="tx1"/>
                            </a:solidFill>
                            <a:effectLst/>
                            <a:latin typeface="Cambria Math" panose="02040503050406030204" pitchFamily="18" charset="0"/>
                          </a:rPr>
                          <m:t>1</m:t>
                        </m:r>
                      </m:sub>
                    </m:sSub>
                    <m:r>
                      <a:rPr lang="en-US" sz="1800" b="0" i="0" dirty="0" smtClean="0">
                        <a:solidFill>
                          <a:schemeClr val="tx1"/>
                        </a:solidFill>
                        <a:effectLst/>
                        <a:latin typeface="Cambria Math" panose="02040503050406030204" pitchFamily="18" charset="0"/>
                      </a:rPr>
                      <m:t>=</m:t>
                    </m:r>
                    <m:sSup>
                      <m:sSupPr>
                        <m:ctrlPr>
                          <a:rPr lang="en-US" sz="1800" i="1" dirty="0">
                            <a:solidFill>
                              <a:schemeClr val="tx1"/>
                            </a:solidFill>
                            <a:latin typeface="Cambria Math" panose="02040503050406030204" pitchFamily="18" charset="0"/>
                          </a:rPr>
                        </m:ctrlPr>
                      </m:sSupPr>
                      <m:e>
                        <m:d>
                          <m:dPr>
                            <m:begChr m:val="["/>
                            <m:endChr m:val="]"/>
                            <m:ctrlPr>
                              <a:rPr lang="en-US" sz="1800" i="1" dirty="0">
                                <a:solidFill>
                                  <a:schemeClr val="tx1"/>
                                </a:solidFill>
                                <a:latin typeface="Cambria Math" panose="02040503050406030204" pitchFamily="18" charset="0"/>
                              </a:rPr>
                            </m:ctrlPr>
                          </m:dPr>
                          <m:e>
                            <m:f>
                              <m:fPr>
                                <m:ctrlPr>
                                  <a:rPr lang="en-US" sz="1800" i="1" dirty="0">
                                    <a:solidFill>
                                      <a:schemeClr val="tx1"/>
                                    </a:solidFill>
                                    <a:latin typeface="Cambria Math" panose="02040503050406030204" pitchFamily="18" charset="0"/>
                                  </a:rPr>
                                </m:ctrlPr>
                              </m:fPr>
                              <m:num>
                                <m:r>
                                  <a:rPr lang="en-US" sz="1800" i="1" dirty="0">
                                    <a:solidFill>
                                      <a:schemeClr val="tx1"/>
                                    </a:solidFill>
                                    <a:latin typeface="Cambria Math" panose="02040503050406030204" pitchFamily="18" charset="0"/>
                                  </a:rPr>
                                  <m:t>𝑁</m:t>
                                </m:r>
                                <m:r>
                                  <a:rPr lang="en-US" sz="1800" i="1" dirty="0">
                                    <a:solidFill>
                                      <a:schemeClr val="tx1"/>
                                    </a:solidFill>
                                    <a:latin typeface="Cambria Math" panose="02040503050406030204" pitchFamily="18" charset="0"/>
                                  </a:rPr>
                                  <m:t>+</m:t>
                                </m:r>
                                <m:r>
                                  <a:rPr lang="en-US" sz="1800" i="1" dirty="0">
                                    <a:solidFill>
                                      <a:schemeClr val="tx1"/>
                                    </a:solidFill>
                                    <a:latin typeface="Cambria Math" panose="02040503050406030204" pitchFamily="18" charset="0"/>
                                  </a:rPr>
                                  <m:t>1</m:t>
                                </m:r>
                              </m:num>
                              <m:den>
                                <m:r>
                                  <a:rPr lang="en-US" sz="1800" b="0" i="1" dirty="0" smtClean="0">
                                    <a:solidFill>
                                      <a:schemeClr val="tx1"/>
                                    </a:solidFill>
                                    <a:latin typeface="Cambria Math" panose="02040503050406030204" pitchFamily="18" charset="0"/>
                                  </a:rPr>
                                  <m:t>10</m:t>
                                </m:r>
                              </m:den>
                            </m:f>
                          </m:e>
                        </m:d>
                      </m:e>
                      <m:sup>
                        <m:r>
                          <a:rPr lang="en-US" sz="1800" i="1" dirty="0">
                            <a:solidFill>
                              <a:schemeClr val="tx1"/>
                            </a:solidFill>
                            <a:latin typeface="Cambria Math" panose="02040503050406030204" pitchFamily="18" charset="0"/>
                          </a:rPr>
                          <m:t>𝑡</m:t>
                        </m:r>
                        <m:r>
                          <a:rPr lang="en-US" sz="1800" i="1" dirty="0">
                            <a:solidFill>
                              <a:schemeClr val="tx1"/>
                            </a:solidFill>
                            <a:latin typeface="Cambria Math" panose="02040503050406030204" pitchFamily="18" charset="0"/>
                          </a:rPr>
                          <m:t>h</m:t>
                        </m:r>
                      </m:sup>
                    </m:sSup>
                  </m:oMath>
                </a14:m>
                <a:r>
                  <a:rPr lang="en-US" sz="1800" b="0" dirty="0">
                    <a:solidFill>
                      <a:schemeClr val="tx1"/>
                    </a:solidFill>
                    <a:effectLst/>
                    <a:latin typeface="Times New Roman" panose="02020603050405020304" pitchFamily="18" charset="0"/>
                    <a:cs typeface="Times New Roman" panose="02020603050405020304" pitchFamily="18" charset="0"/>
                  </a:rPr>
                  <a:t>item</a:t>
                </a:r>
                <a:r>
                  <a:rPr lang="en-US" sz="1800" dirty="0">
                    <a:solidFill>
                      <a:schemeClr val="tx1"/>
                    </a:solidFill>
                    <a:latin typeface="Times New Roman" panose="02020603050405020304" pitchFamily="18" charset="0"/>
                    <a:cs typeface="Times New Roman" panose="02020603050405020304" pitchFamily="18" charset="0"/>
                  </a:rPr>
                  <a:t>		</a:t>
                </a:r>
              </a:p>
              <a:p>
                <a14:m>
                  <m:oMath xmlns:m="http://schemas.openxmlformats.org/officeDocument/2006/math">
                    <m:sSub>
                      <m:sSubPr>
                        <m:ctrlPr>
                          <a:rPr lang="en-US" sz="1800" i="1" dirty="0">
                            <a:solidFill>
                              <a:schemeClr val="tx1"/>
                            </a:solidFill>
                            <a:latin typeface="Cambria Math" panose="02040503050406030204" pitchFamily="18" charset="0"/>
                          </a:rPr>
                        </m:ctrlPr>
                      </m:sSubPr>
                      <m:e>
                        <m:r>
                          <m:rPr>
                            <m:sty m:val="p"/>
                          </m:rPr>
                          <a:rPr lang="en-US" sz="1800" b="0" i="0" dirty="0" smtClean="0">
                            <a:solidFill>
                              <a:schemeClr val="tx1"/>
                            </a:solidFill>
                            <a:latin typeface="Cambria Math" panose="02040503050406030204" pitchFamily="18" charset="0"/>
                          </a:rPr>
                          <m:t>D</m:t>
                        </m:r>
                      </m:e>
                      <m:sub>
                        <m:r>
                          <a:rPr lang="en-US" sz="1800" b="0" i="0" dirty="0" smtClean="0">
                            <a:solidFill>
                              <a:schemeClr val="tx1"/>
                            </a:solidFill>
                            <a:latin typeface="Cambria Math" panose="02040503050406030204" pitchFamily="18" charset="0"/>
                          </a:rPr>
                          <m:t>2</m:t>
                        </m:r>
                      </m:sub>
                    </m:sSub>
                    <m:r>
                      <a:rPr lang="en-US" sz="1800" i="0" dirty="0" smtClean="0">
                        <a:solidFill>
                          <a:schemeClr val="tx1"/>
                        </a:solidFill>
                        <a:latin typeface="Cambria Math" panose="02040503050406030204" pitchFamily="18" charset="0"/>
                      </a:rPr>
                      <m:t> </m:t>
                    </m:r>
                    <m:r>
                      <a:rPr lang="en-US" sz="1800" b="0" i="0" dirty="0" smtClean="0">
                        <a:solidFill>
                          <a:schemeClr val="tx1"/>
                        </a:solidFill>
                        <a:effectLst/>
                        <a:latin typeface="Cambria Math" panose="02040503050406030204" pitchFamily="18" charset="0"/>
                      </a:rPr>
                      <m:t>=</m:t>
                    </m:r>
                    <m:sSup>
                      <m:sSupPr>
                        <m:ctrlPr>
                          <a:rPr lang="en-US" sz="1800" i="1" dirty="0">
                            <a:solidFill>
                              <a:schemeClr val="tx1"/>
                            </a:solidFill>
                            <a:latin typeface="Cambria Math" panose="02040503050406030204" pitchFamily="18" charset="0"/>
                          </a:rPr>
                        </m:ctrlPr>
                      </m:sSupPr>
                      <m:e>
                        <m:d>
                          <m:dPr>
                            <m:begChr m:val="["/>
                            <m:endChr m:val="]"/>
                            <m:ctrlPr>
                              <a:rPr lang="en-US" sz="1800" i="1" dirty="0">
                                <a:solidFill>
                                  <a:schemeClr val="tx1"/>
                                </a:solidFill>
                                <a:latin typeface="Cambria Math" panose="02040503050406030204" pitchFamily="18" charset="0"/>
                              </a:rPr>
                            </m:ctrlPr>
                          </m:dPr>
                          <m:e>
                            <m:f>
                              <m:fPr>
                                <m:ctrlPr>
                                  <a:rPr lang="en-US" sz="1800" i="1" dirty="0">
                                    <a:solidFill>
                                      <a:schemeClr val="tx1"/>
                                    </a:solidFill>
                                    <a:latin typeface="Cambria Math" panose="02040503050406030204" pitchFamily="18" charset="0"/>
                                  </a:rPr>
                                </m:ctrlPr>
                              </m:fPr>
                              <m:num>
                                <m:r>
                                  <a:rPr lang="en-US" sz="1800" b="0" i="1" dirty="0" smtClean="0">
                                    <a:solidFill>
                                      <a:schemeClr val="tx1"/>
                                    </a:solidFill>
                                    <a:latin typeface="Cambria Math" panose="02040503050406030204" pitchFamily="18" charset="0"/>
                                  </a:rPr>
                                  <m:t>2</m:t>
                                </m:r>
                                <m:r>
                                  <a:rPr lang="en-US" sz="1800" b="0" i="1" dirty="0" smtClean="0">
                                    <a:solidFill>
                                      <a:schemeClr val="tx1"/>
                                    </a:solidFill>
                                    <a:latin typeface="Cambria Math" panose="02040503050406030204" pitchFamily="18" charset="0"/>
                                  </a:rPr>
                                  <m:t>(</m:t>
                                </m:r>
                                <m:r>
                                  <a:rPr lang="en-US" sz="1800" i="1" dirty="0">
                                    <a:solidFill>
                                      <a:schemeClr val="tx1"/>
                                    </a:solidFill>
                                    <a:latin typeface="Cambria Math" panose="02040503050406030204" pitchFamily="18" charset="0"/>
                                  </a:rPr>
                                  <m:t>𝑁</m:t>
                                </m:r>
                                <m:r>
                                  <a:rPr lang="en-US" sz="1800" i="1" dirty="0">
                                    <a:solidFill>
                                      <a:schemeClr val="tx1"/>
                                    </a:solidFill>
                                    <a:latin typeface="Cambria Math" panose="02040503050406030204" pitchFamily="18" charset="0"/>
                                  </a:rPr>
                                  <m:t>+</m:t>
                                </m:r>
                                <m:r>
                                  <a:rPr lang="en-US" sz="1800" i="1" dirty="0">
                                    <a:solidFill>
                                      <a:schemeClr val="tx1"/>
                                    </a:solidFill>
                                    <a:latin typeface="Cambria Math" panose="02040503050406030204" pitchFamily="18" charset="0"/>
                                  </a:rPr>
                                  <m:t>1</m:t>
                                </m:r>
                                <m:r>
                                  <a:rPr lang="en-US" sz="1800" i="1" dirty="0">
                                    <a:solidFill>
                                      <a:schemeClr val="tx1"/>
                                    </a:solidFill>
                                    <a:latin typeface="Cambria Math" panose="02040503050406030204" pitchFamily="18" charset="0"/>
                                  </a:rPr>
                                  <m:t>)</m:t>
                                </m:r>
                              </m:num>
                              <m:den>
                                <m:r>
                                  <a:rPr lang="en-US" sz="1800" b="0" i="1" dirty="0" smtClean="0">
                                    <a:solidFill>
                                      <a:schemeClr val="tx1"/>
                                    </a:solidFill>
                                    <a:latin typeface="Cambria Math" panose="02040503050406030204" pitchFamily="18" charset="0"/>
                                  </a:rPr>
                                  <m:t>10</m:t>
                                </m:r>
                              </m:den>
                            </m:f>
                          </m:e>
                        </m:d>
                      </m:e>
                      <m:sup>
                        <m:r>
                          <a:rPr lang="en-US" sz="1800" i="1" dirty="0">
                            <a:solidFill>
                              <a:schemeClr val="tx1"/>
                            </a:solidFill>
                            <a:latin typeface="Cambria Math" panose="02040503050406030204" pitchFamily="18" charset="0"/>
                          </a:rPr>
                          <m:t>𝑡</m:t>
                        </m:r>
                        <m:r>
                          <a:rPr lang="en-US" sz="1800" i="1" dirty="0">
                            <a:solidFill>
                              <a:schemeClr val="tx1"/>
                            </a:solidFill>
                            <a:latin typeface="Cambria Math" panose="02040503050406030204" pitchFamily="18" charset="0"/>
                          </a:rPr>
                          <m:t>h</m:t>
                        </m:r>
                      </m:sup>
                    </m:sSup>
                    <m:r>
                      <m:rPr>
                        <m:nor/>
                      </m:rPr>
                      <a:rPr lang="en-US" sz="1800" dirty="0">
                        <a:solidFill>
                          <a:schemeClr val="tx1"/>
                        </a:solidFill>
                        <a:latin typeface="Times New Roman" panose="02020603050405020304" pitchFamily="18" charset="0"/>
                        <a:cs typeface="Times New Roman" panose="02020603050405020304" pitchFamily="18" charset="0"/>
                      </a:rPr>
                      <m:t>item</m:t>
                    </m:r>
                  </m:oMath>
                </a14:m>
                <a:r>
                  <a:rPr lang="en-US" sz="1800" b="0" dirty="0">
                    <a:solidFill>
                      <a:schemeClr val="tx1"/>
                    </a:solidFill>
                    <a:effectLst/>
                    <a:latin typeface="Times New Roman" panose="02020603050405020304" pitchFamily="18" charset="0"/>
                    <a:cs typeface="Times New Roman" panose="02020603050405020304" pitchFamily="18" charset="0"/>
                  </a:rPr>
                  <a:t> and so on….</a:t>
                </a:r>
                <a:endParaRPr lang="en-US" sz="1800" dirty="0">
                  <a:solidFill>
                    <a:schemeClr val="tx1"/>
                  </a:solidFill>
                  <a:latin typeface="Times New Roman" panose="02020603050405020304" pitchFamily="18" charset="0"/>
                  <a:cs typeface="Times New Roman" panose="02020603050405020304" pitchFamily="18" charset="0"/>
                </a:endParaRPr>
              </a:p>
              <a:p>
                <a:r>
                  <a:rPr lang="en-US" sz="180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1800" i="1" dirty="0" smtClean="0">
                            <a:solidFill>
                              <a:schemeClr val="tx1"/>
                            </a:solidFill>
                            <a:latin typeface="Cambria Math" panose="02040503050406030204" pitchFamily="18" charset="0"/>
                          </a:rPr>
                        </m:ctrlPr>
                      </m:sSubPr>
                      <m:e>
                        <m:r>
                          <m:rPr>
                            <m:sty m:val="p"/>
                          </m:rPr>
                          <a:rPr lang="en-US" sz="1800" b="0" i="0" dirty="0" smtClean="0">
                            <a:solidFill>
                              <a:schemeClr val="tx1"/>
                            </a:solidFill>
                            <a:latin typeface="Cambria Math" panose="02040503050406030204" pitchFamily="18" charset="0"/>
                          </a:rPr>
                          <m:t>D</m:t>
                        </m:r>
                      </m:e>
                      <m:sub>
                        <m:r>
                          <a:rPr lang="en-US" sz="1800" b="0" i="0" dirty="0" smtClean="0">
                            <a:solidFill>
                              <a:schemeClr val="tx1"/>
                            </a:solidFill>
                            <a:latin typeface="Cambria Math" panose="02040503050406030204" pitchFamily="18" charset="0"/>
                          </a:rPr>
                          <m:t>9</m:t>
                        </m:r>
                      </m:sub>
                    </m:sSub>
                    <m:r>
                      <a:rPr lang="en-US" sz="1800" b="0" i="0" dirty="0" smtClean="0">
                        <a:solidFill>
                          <a:schemeClr val="tx1"/>
                        </a:solidFill>
                        <a:effectLst/>
                        <a:latin typeface="Cambria Math" panose="02040503050406030204" pitchFamily="18" charset="0"/>
                      </a:rPr>
                      <m:t>=</m:t>
                    </m:r>
                    <m:sSup>
                      <m:sSupPr>
                        <m:ctrlPr>
                          <a:rPr lang="en-US" sz="1800" i="1" dirty="0">
                            <a:solidFill>
                              <a:schemeClr val="tx1"/>
                            </a:solidFill>
                            <a:latin typeface="Cambria Math" panose="02040503050406030204" pitchFamily="18" charset="0"/>
                          </a:rPr>
                        </m:ctrlPr>
                      </m:sSupPr>
                      <m:e>
                        <m:d>
                          <m:dPr>
                            <m:begChr m:val="["/>
                            <m:endChr m:val="]"/>
                            <m:ctrlPr>
                              <a:rPr lang="en-US" sz="1800" i="1" dirty="0">
                                <a:solidFill>
                                  <a:schemeClr val="tx1"/>
                                </a:solidFill>
                                <a:latin typeface="Cambria Math" panose="02040503050406030204" pitchFamily="18" charset="0"/>
                              </a:rPr>
                            </m:ctrlPr>
                          </m:dPr>
                          <m:e>
                            <m:f>
                              <m:fPr>
                                <m:ctrlPr>
                                  <a:rPr lang="en-US" sz="1800" i="1" dirty="0">
                                    <a:solidFill>
                                      <a:schemeClr val="tx1"/>
                                    </a:solidFill>
                                    <a:latin typeface="Cambria Math" panose="02040503050406030204" pitchFamily="18" charset="0"/>
                                  </a:rPr>
                                </m:ctrlPr>
                              </m:fPr>
                              <m:num>
                                <m:r>
                                  <a:rPr lang="en-US" sz="1800" b="0" i="1" dirty="0" smtClean="0">
                                    <a:solidFill>
                                      <a:schemeClr val="tx1"/>
                                    </a:solidFill>
                                    <a:latin typeface="Cambria Math" panose="02040503050406030204" pitchFamily="18" charset="0"/>
                                  </a:rPr>
                                  <m:t>9</m:t>
                                </m:r>
                                <m:r>
                                  <a:rPr lang="en-US" sz="1800" i="1" dirty="0">
                                    <a:solidFill>
                                      <a:schemeClr val="tx1"/>
                                    </a:solidFill>
                                    <a:latin typeface="Cambria Math" panose="02040503050406030204" pitchFamily="18" charset="0"/>
                                  </a:rPr>
                                  <m:t>(</m:t>
                                </m:r>
                                <m:r>
                                  <a:rPr lang="en-US" sz="1800" i="1" dirty="0">
                                    <a:solidFill>
                                      <a:schemeClr val="tx1"/>
                                    </a:solidFill>
                                    <a:latin typeface="Cambria Math" panose="02040503050406030204" pitchFamily="18" charset="0"/>
                                  </a:rPr>
                                  <m:t>𝑁</m:t>
                                </m:r>
                                <m:r>
                                  <a:rPr lang="en-US" sz="1800" i="1" dirty="0">
                                    <a:solidFill>
                                      <a:schemeClr val="tx1"/>
                                    </a:solidFill>
                                    <a:latin typeface="Cambria Math" panose="02040503050406030204" pitchFamily="18" charset="0"/>
                                  </a:rPr>
                                  <m:t>+</m:t>
                                </m:r>
                                <m:r>
                                  <a:rPr lang="en-US" sz="1800" i="1" dirty="0">
                                    <a:solidFill>
                                      <a:schemeClr val="tx1"/>
                                    </a:solidFill>
                                    <a:latin typeface="Cambria Math" panose="02040503050406030204" pitchFamily="18" charset="0"/>
                                  </a:rPr>
                                  <m:t>1</m:t>
                                </m:r>
                                <m:r>
                                  <a:rPr lang="en-US" sz="1800" i="1" dirty="0">
                                    <a:solidFill>
                                      <a:schemeClr val="tx1"/>
                                    </a:solidFill>
                                    <a:latin typeface="Cambria Math" panose="02040503050406030204" pitchFamily="18" charset="0"/>
                                  </a:rPr>
                                  <m:t>)</m:t>
                                </m:r>
                              </m:num>
                              <m:den>
                                <m:r>
                                  <a:rPr lang="en-US" sz="1800" i="1" dirty="0">
                                    <a:solidFill>
                                      <a:schemeClr val="tx1"/>
                                    </a:solidFill>
                                    <a:latin typeface="Cambria Math" panose="02040503050406030204" pitchFamily="18" charset="0"/>
                                  </a:rPr>
                                  <m:t>10</m:t>
                                </m:r>
                              </m:den>
                            </m:f>
                          </m:e>
                        </m:d>
                      </m:e>
                      <m:sup>
                        <m:r>
                          <a:rPr lang="en-US" sz="1800" i="1" dirty="0">
                            <a:solidFill>
                              <a:schemeClr val="tx1"/>
                            </a:solidFill>
                            <a:latin typeface="Cambria Math" panose="02040503050406030204" pitchFamily="18" charset="0"/>
                          </a:rPr>
                          <m:t>𝑡</m:t>
                        </m:r>
                        <m:r>
                          <a:rPr lang="en-US" sz="1800" i="1" dirty="0">
                            <a:solidFill>
                              <a:schemeClr val="tx1"/>
                            </a:solidFill>
                            <a:latin typeface="Cambria Math" panose="02040503050406030204" pitchFamily="18" charset="0"/>
                          </a:rPr>
                          <m:t>h</m:t>
                        </m:r>
                      </m:sup>
                    </m:sSup>
                    <m:r>
                      <m:rPr>
                        <m:nor/>
                      </m:rPr>
                      <a:rPr lang="en-US" sz="1800" dirty="0">
                        <a:solidFill>
                          <a:schemeClr val="tx1"/>
                        </a:solidFill>
                        <a:latin typeface="Times New Roman" panose="02020603050405020304" pitchFamily="18" charset="0"/>
                        <a:cs typeface="Times New Roman" panose="02020603050405020304" pitchFamily="18" charset="0"/>
                      </a:rPr>
                      <m:t>item</m:t>
                    </m:r>
                  </m:oMath>
                </a14:m>
                <a:endParaRPr lang="en-US" sz="1800" b="0" dirty="0">
                  <a:solidFill>
                    <a:schemeClr val="tx1"/>
                  </a:solidFill>
                  <a:effectLst/>
                  <a:latin typeface="Times New Roman" panose="02020603050405020304" pitchFamily="18" charset="0"/>
                  <a:cs typeface="Times New Roman" panose="02020603050405020304" pitchFamily="18" charset="0"/>
                </a:endParaRPr>
              </a:p>
              <a:p>
                <a:endParaRPr lang="en-US" sz="1800" b="0" dirty="0">
                  <a:solidFill>
                    <a:schemeClr val="tx1"/>
                  </a:solidFill>
                  <a:effectLst/>
                  <a:latin typeface="Times New Roman" panose="02020603050405020304" pitchFamily="18" charset="0"/>
                  <a:cs typeface="Times New Roman" panose="02020603050405020304" pitchFamily="18" charset="0"/>
                </a:endParaRPr>
              </a:p>
              <a:p>
                <a:pPr algn="just" rtl="0" fontAlgn="base">
                  <a:spcAft>
                    <a:spcPts val="750"/>
                  </a:spcAft>
                </a:pPr>
                <a:r>
                  <a:rPr lang="en-US" sz="1800" b="0" dirty="0">
                    <a:solidFill>
                      <a:srgbClr val="273239"/>
                    </a:solidFill>
                    <a:effectLst/>
                    <a:latin typeface="Times New Roman" panose="02020603050405020304" pitchFamily="18" charset="0"/>
                    <a:cs typeface="Times New Roman" panose="02020603050405020304" pitchFamily="18" charset="0"/>
                  </a:rPr>
                  <a:t>Where, N is the total number of observations, D</a:t>
                </a:r>
                <a:r>
                  <a:rPr lang="en-US" sz="1800" b="0" baseline="-25000" dirty="0">
                    <a:solidFill>
                      <a:srgbClr val="273239"/>
                    </a:solidFill>
                    <a:effectLst/>
                    <a:latin typeface="Times New Roman" panose="02020603050405020304" pitchFamily="18" charset="0"/>
                    <a:cs typeface="Times New Roman" panose="02020603050405020304" pitchFamily="18" charset="0"/>
                  </a:rPr>
                  <a:t>1</a:t>
                </a:r>
                <a:r>
                  <a:rPr lang="en-US" sz="1800" b="0" dirty="0">
                    <a:solidFill>
                      <a:srgbClr val="273239"/>
                    </a:solidFill>
                    <a:effectLst/>
                    <a:latin typeface="Times New Roman" panose="02020603050405020304" pitchFamily="18" charset="0"/>
                    <a:cs typeface="Times New Roman" panose="02020603050405020304" pitchFamily="18" charset="0"/>
                  </a:rPr>
                  <a:t> is First Decile, D</a:t>
                </a:r>
                <a:r>
                  <a:rPr lang="en-US" sz="1800" b="0" baseline="-25000" dirty="0">
                    <a:solidFill>
                      <a:srgbClr val="273239"/>
                    </a:solidFill>
                    <a:effectLst/>
                    <a:latin typeface="Times New Roman" panose="02020603050405020304" pitchFamily="18" charset="0"/>
                    <a:cs typeface="Times New Roman" panose="02020603050405020304" pitchFamily="18" charset="0"/>
                  </a:rPr>
                  <a:t>2</a:t>
                </a:r>
                <a:r>
                  <a:rPr lang="en-US" sz="1800" b="0" dirty="0">
                    <a:solidFill>
                      <a:srgbClr val="273239"/>
                    </a:solidFill>
                    <a:effectLst/>
                    <a:latin typeface="Times New Roman" panose="02020603050405020304" pitchFamily="18" charset="0"/>
                    <a:cs typeface="Times New Roman" panose="02020603050405020304" pitchFamily="18" charset="0"/>
                  </a:rPr>
                  <a:t> is Second Decile,……….D</a:t>
                </a:r>
                <a:r>
                  <a:rPr lang="en-US" sz="1800" b="0" baseline="-25000" dirty="0">
                    <a:solidFill>
                      <a:srgbClr val="273239"/>
                    </a:solidFill>
                    <a:effectLst/>
                    <a:latin typeface="Times New Roman" panose="02020603050405020304" pitchFamily="18" charset="0"/>
                    <a:cs typeface="Times New Roman" panose="02020603050405020304" pitchFamily="18" charset="0"/>
                  </a:rPr>
                  <a:t>9</a:t>
                </a:r>
                <a:r>
                  <a:rPr lang="en-US" sz="1800" b="0" dirty="0">
                    <a:solidFill>
                      <a:srgbClr val="273239"/>
                    </a:solidFill>
                    <a:effectLst/>
                    <a:latin typeface="Times New Roman" panose="02020603050405020304" pitchFamily="18" charset="0"/>
                    <a:cs typeface="Times New Roman" panose="02020603050405020304" pitchFamily="18" charset="0"/>
                  </a:rPr>
                  <a:t> is Ninth Decile.</a:t>
                </a:r>
              </a:p>
              <a:p>
                <a:br>
                  <a:rPr lang="en-US" sz="1800" i="1" dirty="0">
                    <a:latin typeface="Times New Roman" panose="02020603050405020304" pitchFamily="18" charset="0"/>
                    <a:cs typeface="Times New Roman" panose="02020603050405020304" pitchFamily="18" charset="0"/>
                  </a:rPr>
                </a:br>
                <a:endParaRPr lang="en-IN" sz="1800" i="1" dirty="0">
                  <a:latin typeface="Times New Roman" panose="02020603050405020304" pitchFamily="18"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E60943AC-CD08-52A4-BF84-41F535BE2E92}"/>
                  </a:ext>
                </a:extLst>
              </p:cNvPr>
              <p:cNvSpPr txBox="1">
                <a:spLocks noRot="1" noChangeAspect="1" noMove="1" noResize="1" noEditPoints="1" noAdjustHandles="1" noChangeArrowheads="1" noChangeShapeType="1" noTextEdit="1"/>
              </p:cNvSpPr>
              <p:nvPr/>
            </p:nvSpPr>
            <p:spPr>
              <a:xfrm>
                <a:off x="79513" y="248479"/>
                <a:ext cx="8746435" cy="5307094"/>
              </a:xfrm>
              <a:prstGeom prst="rect">
                <a:avLst/>
              </a:prstGeom>
              <a:blipFill>
                <a:blip r:embed="rId2"/>
                <a:stretch>
                  <a:fillRect l="-1045" t="-920" r="-627"/>
                </a:stretch>
              </a:blipFill>
            </p:spPr>
            <p:txBody>
              <a:bodyPr/>
              <a:lstStyle/>
              <a:p>
                <a:r>
                  <a:rPr lang="en-IN">
                    <a:noFill/>
                  </a:rPr>
                  <a:t> </a:t>
                </a:r>
              </a:p>
            </p:txBody>
          </p:sp>
        </mc:Fallback>
      </mc:AlternateContent>
    </p:spTree>
    <p:extLst>
      <p:ext uri="{BB962C8B-B14F-4D97-AF65-F5344CB8AC3E}">
        <p14:creationId xmlns:p14="http://schemas.microsoft.com/office/powerpoint/2010/main" val="377687853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50170EE-4A74-F1DE-619C-19EFD984D88E}"/>
                  </a:ext>
                </a:extLst>
              </p:cNvPr>
              <p:cNvSpPr txBox="1"/>
              <p:nvPr/>
            </p:nvSpPr>
            <p:spPr>
              <a:xfrm>
                <a:off x="248478" y="208721"/>
                <a:ext cx="6768548" cy="4423775"/>
              </a:xfrm>
              <a:prstGeom prst="rect">
                <a:avLst/>
              </a:prstGeom>
              <a:noFill/>
            </p:spPr>
            <p:txBody>
              <a:bodyPr wrap="square">
                <a:spAutoFit/>
              </a:bodyPr>
              <a:lstStyle/>
              <a:p>
                <a:pPr algn="l" fontAlgn="base"/>
                <a:r>
                  <a:rPr lang="en-US" sz="1800" b="1" i="0" dirty="0">
                    <a:solidFill>
                      <a:srgbClr val="273239"/>
                    </a:solidFill>
                    <a:effectLst/>
                    <a:latin typeface="Times New Roman" panose="02020603050405020304" pitchFamily="18" charset="0"/>
                    <a:cs typeface="Times New Roman" panose="02020603050405020304" pitchFamily="18" charset="0"/>
                  </a:rPr>
                  <a:t>Example : </a:t>
                </a:r>
              </a:p>
              <a:p>
                <a:pPr algn="l" fontAlgn="base"/>
                <a:endParaRPr lang="en-US" sz="1800" b="1" i="0" dirty="0">
                  <a:solidFill>
                    <a:srgbClr val="273239"/>
                  </a:solidFill>
                  <a:effectLst/>
                  <a:latin typeface="Times New Roman" panose="02020603050405020304" pitchFamily="18" charset="0"/>
                  <a:cs typeface="Times New Roman" panose="02020603050405020304" pitchFamily="18" charset="0"/>
                </a:endParaRPr>
              </a:p>
              <a:p>
                <a:pPr algn="just" rtl="0" fontAlgn="base">
                  <a:spcAft>
                    <a:spcPts val="750"/>
                  </a:spcAft>
                </a:pPr>
                <a:r>
                  <a:rPr lang="en-US" sz="1800" b="0" i="0" dirty="0">
                    <a:solidFill>
                      <a:srgbClr val="273239"/>
                    </a:solidFill>
                    <a:effectLst/>
                    <a:latin typeface="Times New Roman" panose="02020603050405020304" pitchFamily="18" charset="0"/>
                    <a:cs typeface="Times New Roman" panose="02020603050405020304" pitchFamily="18" charset="0"/>
                  </a:rPr>
                  <a:t>Calculate the D</a:t>
                </a:r>
                <a:r>
                  <a:rPr lang="en-US" sz="1800" b="0" i="0" baseline="-25000" dirty="0">
                    <a:solidFill>
                      <a:srgbClr val="273239"/>
                    </a:solidFill>
                    <a:effectLst/>
                    <a:latin typeface="Times New Roman" panose="02020603050405020304" pitchFamily="18" charset="0"/>
                    <a:cs typeface="Times New Roman" panose="02020603050405020304" pitchFamily="18" charset="0"/>
                  </a:rPr>
                  <a:t>1</a:t>
                </a:r>
                <a:r>
                  <a:rPr lang="en-US" sz="1800" b="0" i="0" dirty="0">
                    <a:solidFill>
                      <a:srgbClr val="273239"/>
                    </a:solidFill>
                    <a:effectLst/>
                    <a:latin typeface="Times New Roman" panose="02020603050405020304" pitchFamily="18" charset="0"/>
                    <a:cs typeface="Times New Roman" panose="02020603050405020304" pitchFamily="18" charset="0"/>
                  </a:rPr>
                  <a:t>, D</a:t>
                </a:r>
                <a:r>
                  <a:rPr lang="en-US" sz="1800" b="0" i="0" baseline="-25000" dirty="0">
                    <a:solidFill>
                      <a:srgbClr val="273239"/>
                    </a:solidFill>
                    <a:effectLst/>
                    <a:latin typeface="Times New Roman" panose="02020603050405020304" pitchFamily="18" charset="0"/>
                    <a:cs typeface="Times New Roman" panose="02020603050405020304" pitchFamily="18" charset="0"/>
                  </a:rPr>
                  <a:t>5</a:t>
                </a:r>
                <a:r>
                  <a:rPr lang="en-US" sz="1800" b="0" i="0" dirty="0">
                    <a:solidFill>
                      <a:srgbClr val="273239"/>
                    </a:solidFill>
                    <a:effectLst/>
                    <a:latin typeface="Times New Roman" panose="02020603050405020304" pitchFamily="18" charset="0"/>
                    <a:cs typeface="Times New Roman" panose="02020603050405020304" pitchFamily="18" charset="0"/>
                  </a:rPr>
                  <a:t> from the following weights in a family:</a:t>
                </a:r>
              </a:p>
              <a:p>
                <a:pPr algn="just" rtl="0" fontAlgn="base">
                  <a:spcAft>
                    <a:spcPts val="750"/>
                  </a:spcAft>
                </a:pPr>
                <a:r>
                  <a:rPr lang="en-US" sz="1800" b="0" i="0" dirty="0">
                    <a:solidFill>
                      <a:srgbClr val="273239"/>
                    </a:solidFill>
                    <a:effectLst/>
                    <a:latin typeface="Times New Roman" panose="02020603050405020304" pitchFamily="18" charset="0"/>
                    <a:cs typeface="Times New Roman" panose="02020603050405020304" pitchFamily="18" charset="0"/>
                  </a:rPr>
                  <a:t> 25, 17, 32, 11, 40, 35, 13, 5, and 46.</a:t>
                </a:r>
              </a:p>
              <a:p>
                <a:pPr algn="l" fontAlgn="base"/>
                <a:r>
                  <a:rPr lang="en-US" sz="1800" b="1" i="0" dirty="0">
                    <a:solidFill>
                      <a:srgbClr val="273239"/>
                    </a:solidFill>
                    <a:effectLst/>
                    <a:latin typeface="Times New Roman" panose="02020603050405020304" pitchFamily="18" charset="0"/>
                    <a:cs typeface="Times New Roman" panose="02020603050405020304" pitchFamily="18" charset="0"/>
                  </a:rPr>
                  <a:t>Solution: </a:t>
                </a:r>
              </a:p>
              <a:p>
                <a:pPr algn="l" rtl="0" fontAlgn="base">
                  <a:spcAft>
                    <a:spcPts val="750"/>
                  </a:spcAft>
                </a:pPr>
                <a:r>
                  <a:rPr lang="en-US" sz="1800" b="0" i="0" dirty="0">
                    <a:solidFill>
                      <a:srgbClr val="273239"/>
                    </a:solidFill>
                    <a:effectLst/>
                    <a:latin typeface="Times New Roman" panose="02020603050405020304" pitchFamily="18" charset="0"/>
                    <a:cs typeface="Times New Roman" panose="02020603050405020304" pitchFamily="18" charset="0"/>
                  </a:rPr>
                  <a:t>First, organize the numbers in ascending order.</a:t>
                </a:r>
              </a:p>
              <a:p>
                <a:pPr algn="l" fontAlgn="base">
                  <a:spcAft>
                    <a:spcPts val="750"/>
                  </a:spcAft>
                </a:pPr>
                <a:r>
                  <a:rPr lang="en-US" sz="1800" b="0" i="0" dirty="0">
                    <a:solidFill>
                      <a:srgbClr val="273239"/>
                    </a:solidFill>
                    <a:effectLst/>
                    <a:latin typeface="Times New Roman" panose="02020603050405020304" pitchFamily="18" charset="0"/>
                    <a:cs typeface="Times New Roman" panose="02020603050405020304" pitchFamily="18" charset="0"/>
                  </a:rPr>
                  <a:t>5, 11, 13, 17, 25, 32, 35, 40, 46</a:t>
                </a:r>
              </a:p>
              <a:p>
                <a:pPr algn="l" fontAlgn="base">
                  <a:spcAft>
                    <a:spcPts val="750"/>
                  </a:spcAft>
                </a:pPr>
                <a:r>
                  <a:rPr lang="en-US" sz="1800" b="0" i="0" dirty="0">
                    <a:solidFill>
                      <a:srgbClr val="273239"/>
                    </a:solidFill>
                    <a:effectLst/>
                    <a:latin typeface="Times New Roman" panose="02020603050405020304" pitchFamily="18" charset="0"/>
                    <a:cs typeface="Times New Roman" panose="02020603050405020304" pitchFamily="18" charset="0"/>
                  </a:rPr>
                  <a:t>Here N=9</a:t>
                </a:r>
              </a:p>
              <a:p>
                <a14:m>
                  <m:oMath xmlns:m="http://schemas.openxmlformats.org/officeDocument/2006/math">
                    <m:r>
                      <a:rPr lang="en-US" sz="1800" b="0" i="1" dirty="0" smtClean="0">
                        <a:solidFill>
                          <a:schemeClr val="tx1"/>
                        </a:solidFill>
                        <a:effectLst/>
                        <a:latin typeface="Cambria Math" panose="02040503050406030204" pitchFamily="18" charset="0"/>
                      </a:rPr>
                      <m:t> </m:t>
                    </m:r>
                    <m:sSub>
                      <m:sSubPr>
                        <m:ctrlPr>
                          <a:rPr lang="en-US" sz="1800" b="0" i="1" dirty="0" smtClean="0">
                            <a:solidFill>
                              <a:schemeClr val="tx1"/>
                            </a:solidFill>
                            <a:effectLst/>
                            <a:latin typeface="Cambria Math" panose="02040503050406030204" pitchFamily="18" charset="0"/>
                          </a:rPr>
                        </m:ctrlPr>
                      </m:sSubPr>
                      <m:e>
                        <m:r>
                          <a:rPr lang="en-US" sz="1800" b="0" i="0" dirty="0" smtClean="0">
                            <a:solidFill>
                              <a:schemeClr val="tx1"/>
                            </a:solidFill>
                            <a:effectLst/>
                            <a:latin typeface="Cambria Math" panose="02040503050406030204" pitchFamily="18" charset="0"/>
                          </a:rPr>
                          <m:t> </m:t>
                        </m:r>
                        <m:r>
                          <m:rPr>
                            <m:sty m:val="p"/>
                          </m:rPr>
                          <a:rPr lang="en-US" sz="1800" b="0" i="0" dirty="0" smtClean="0">
                            <a:solidFill>
                              <a:schemeClr val="tx1"/>
                            </a:solidFill>
                            <a:effectLst/>
                            <a:latin typeface="Cambria Math" panose="02040503050406030204" pitchFamily="18" charset="0"/>
                          </a:rPr>
                          <m:t>D</m:t>
                        </m:r>
                      </m:e>
                      <m:sub>
                        <m:r>
                          <a:rPr lang="en-US" sz="1800" b="0" i="0" dirty="0" smtClean="0">
                            <a:solidFill>
                              <a:schemeClr val="tx1"/>
                            </a:solidFill>
                            <a:effectLst/>
                            <a:latin typeface="Cambria Math" panose="02040503050406030204" pitchFamily="18" charset="0"/>
                          </a:rPr>
                          <m:t>1</m:t>
                        </m:r>
                      </m:sub>
                    </m:sSub>
                    <m:r>
                      <a:rPr lang="en-US" sz="1800" b="0" i="0" dirty="0" smtClean="0">
                        <a:solidFill>
                          <a:schemeClr val="tx1"/>
                        </a:solidFill>
                        <a:effectLst/>
                        <a:latin typeface="Cambria Math" panose="02040503050406030204" pitchFamily="18" charset="0"/>
                      </a:rPr>
                      <m:t>=</m:t>
                    </m:r>
                    <m:sSup>
                      <m:sSupPr>
                        <m:ctrlPr>
                          <a:rPr lang="en-US" sz="1800" i="1" dirty="0">
                            <a:solidFill>
                              <a:schemeClr val="tx1"/>
                            </a:solidFill>
                            <a:latin typeface="Cambria Math" panose="02040503050406030204" pitchFamily="18" charset="0"/>
                          </a:rPr>
                        </m:ctrlPr>
                      </m:sSupPr>
                      <m:e>
                        <m:d>
                          <m:dPr>
                            <m:begChr m:val="["/>
                            <m:endChr m:val="]"/>
                            <m:ctrlPr>
                              <a:rPr lang="en-US" sz="1800" i="1" dirty="0">
                                <a:solidFill>
                                  <a:schemeClr val="tx1"/>
                                </a:solidFill>
                                <a:latin typeface="Cambria Math" panose="02040503050406030204" pitchFamily="18" charset="0"/>
                              </a:rPr>
                            </m:ctrlPr>
                          </m:dPr>
                          <m:e>
                            <m:f>
                              <m:fPr>
                                <m:ctrlPr>
                                  <a:rPr lang="en-US" sz="1800" i="1" dirty="0">
                                    <a:solidFill>
                                      <a:schemeClr val="tx1"/>
                                    </a:solidFill>
                                    <a:latin typeface="Cambria Math" panose="02040503050406030204" pitchFamily="18" charset="0"/>
                                  </a:rPr>
                                </m:ctrlPr>
                              </m:fPr>
                              <m:num>
                                <m:r>
                                  <a:rPr lang="en-US" sz="1800" i="1" dirty="0">
                                    <a:solidFill>
                                      <a:schemeClr val="tx1"/>
                                    </a:solidFill>
                                    <a:latin typeface="Cambria Math" panose="02040503050406030204" pitchFamily="18" charset="0"/>
                                  </a:rPr>
                                  <m:t>𝑁</m:t>
                                </m:r>
                                <m:r>
                                  <a:rPr lang="en-US" sz="1800" i="1" dirty="0">
                                    <a:solidFill>
                                      <a:schemeClr val="tx1"/>
                                    </a:solidFill>
                                    <a:latin typeface="Cambria Math" panose="02040503050406030204" pitchFamily="18" charset="0"/>
                                  </a:rPr>
                                  <m:t>+</m:t>
                                </m:r>
                                <m:r>
                                  <a:rPr lang="en-US" sz="1800" i="1" dirty="0">
                                    <a:solidFill>
                                      <a:schemeClr val="tx1"/>
                                    </a:solidFill>
                                    <a:latin typeface="Cambria Math" panose="02040503050406030204" pitchFamily="18" charset="0"/>
                                  </a:rPr>
                                  <m:t>1</m:t>
                                </m:r>
                              </m:num>
                              <m:den>
                                <m:r>
                                  <a:rPr lang="en-US" sz="1800" b="0" i="1" dirty="0" smtClean="0">
                                    <a:solidFill>
                                      <a:schemeClr val="tx1"/>
                                    </a:solidFill>
                                    <a:latin typeface="Cambria Math" panose="02040503050406030204" pitchFamily="18" charset="0"/>
                                  </a:rPr>
                                  <m:t>10</m:t>
                                </m:r>
                              </m:den>
                            </m:f>
                          </m:e>
                        </m:d>
                      </m:e>
                      <m:sup>
                        <m:r>
                          <a:rPr lang="en-US" sz="1800" i="1" dirty="0">
                            <a:solidFill>
                              <a:schemeClr val="tx1"/>
                            </a:solidFill>
                            <a:latin typeface="Cambria Math" panose="02040503050406030204" pitchFamily="18" charset="0"/>
                          </a:rPr>
                          <m:t>𝑡</m:t>
                        </m:r>
                        <m:r>
                          <a:rPr lang="en-US" sz="1800" i="1" dirty="0">
                            <a:solidFill>
                              <a:schemeClr val="tx1"/>
                            </a:solidFill>
                            <a:latin typeface="Cambria Math" panose="02040503050406030204" pitchFamily="18" charset="0"/>
                          </a:rPr>
                          <m:t>h</m:t>
                        </m:r>
                      </m:sup>
                    </m:sSup>
                  </m:oMath>
                </a14:m>
                <a:r>
                  <a:rPr lang="en-US" sz="1800" b="0" dirty="0">
                    <a:solidFill>
                      <a:schemeClr val="tx1"/>
                    </a:solidFill>
                    <a:effectLst/>
                    <a:latin typeface="Times New Roman" panose="02020603050405020304" pitchFamily="18" charset="0"/>
                    <a:cs typeface="Times New Roman" panose="02020603050405020304" pitchFamily="18" charset="0"/>
                  </a:rPr>
                  <a:t>item</a:t>
                </a:r>
                <a:r>
                  <a:rPr lang="en-US" sz="1800" dirty="0">
                    <a:solidFill>
                      <a:schemeClr val="tx1"/>
                    </a:solidFill>
                    <a:latin typeface="Times New Roman" panose="02020603050405020304" pitchFamily="18" charset="0"/>
                    <a:cs typeface="Times New Roman" panose="02020603050405020304" pitchFamily="18" charset="0"/>
                  </a:rPr>
                  <a:t>		</a:t>
                </a:r>
              </a:p>
              <a:p>
                <a:r>
                  <a:rPr lang="en-US" sz="180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1800" i="1" dirty="0">
                            <a:solidFill>
                              <a:schemeClr val="tx1"/>
                            </a:solidFill>
                            <a:latin typeface="Cambria Math" panose="02040503050406030204" pitchFamily="18" charset="0"/>
                          </a:rPr>
                        </m:ctrlPr>
                      </m:sSubPr>
                      <m:e>
                        <m:r>
                          <m:rPr>
                            <m:sty m:val="p"/>
                          </m:rPr>
                          <a:rPr lang="en-US" sz="1800" b="0" i="0" dirty="0" smtClean="0">
                            <a:solidFill>
                              <a:schemeClr val="tx1"/>
                            </a:solidFill>
                            <a:latin typeface="Cambria Math" panose="02040503050406030204" pitchFamily="18" charset="0"/>
                          </a:rPr>
                          <m:t>D</m:t>
                        </m:r>
                      </m:e>
                      <m:sub>
                        <m:r>
                          <a:rPr lang="en-US" sz="1800" b="0" i="0" dirty="0" smtClean="0">
                            <a:solidFill>
                              <a:schemeClr val="tx1"/>
                            </a:solidFill>
                            <a:latin typeface="Cambria Math" panose="02040503050406030204" pitchFamily="18" charset="0"/>
                          </a:rPr>
                          <m:t>5</m:t>
                        </m:r>
                      </m:sub>
                    </m:sSub>
                    <m:r>
                      <a:rPr lang="en-US" sz="1800" i="0" dirty="0" smtClean="0">
                        <a:solidFill>
                          <a:schemeClr val="tx1"/>
                        </a:solidFill>
                        <a:latin typeface="Cambria Math" panose="02040503050406030204" pitchFamily="18" charset="0"/>
                      </a:rPr>
                      <m:t> </m:t>
                    </m:r>
                    <m:r>
                      <a:rPr lang="en-US" sz="1800" b="0" i="0" dirty="0" smtClean="0">
                        <a:solidFill>
                          <a:schemeClr val="tx1"/>
                        </a:solidFill>
                        <a:effectLst/>
                        <a:latin typeface="Cambria Math" panose="02040503050406030204" pitchFamily="18" charset="0"/>
                      </a:rPr>
                      <m:t>=</m:t>
                    </m:r>
                    <m:sSup>
                      <m:sSupPr>
                        <m:ctrlPr>
                          <a:rPr lang="en-US" sz="1800" i="1" dirty="0">
                            <a:solidFill>
                              <a:schemeClr val="tx1"/>
                            </a:solidFill>
                            <a:latin typeface="Cambria Math" panose="02040503050406030204" pitchFamily="18" charset="0"/>
                          </a:rPr>
                        </m:ctrlPr>
                      </m:sSupPr>
                      <m:e>
                        <m:d>
                          <m:dPr>
                            <m:begChr m:val="["/>
                            <m:endChr m:val="]"/>
                            <m:ctrlPr>
                              <a:rPr lang="en-US" sz="1800" i="1" dirty="0">
                                <a:solidFill>
                                  <a:schemeClr val="tx1"/>
                                </a:solidFill>
                                <a:latin typeface="Cambria Math" panose="02040503050406030204" pitchFamily="18" charset="0"/>
                              </a:rPr>
                            </m:ctrlPr>
                          </m:dPr>
                          <m:e>
                            <m:f>
                              <m:fPr>
                                <m:ctrlPr>
                                  <a:rPr lang="en-US" sz="1800" i="1" dirty="0">
                                    <a:solidFill>
                                      <a:schemeClr val="tx1"/>
                                    </a:solidFill>
                                    <a:latin typeface="Cambria Math" panose="02040503050406030204" pitchFamily="18" charset="0"/>
                                  </a:rPr>
                                </m:ctrlPr>
                              </m:fPr>
                              <m:num>
                                <m:r>
                                  <a:rPr lang="en-US" sz="1800" b="0" i="1" dirty="0" smtClean="0">
                                    <a:solidFill>
                                      <a:schemeClr val="tx1"/>
                                    </a:solidFill>
                                    <a:latin typeface="Cambria Math" panose="02040503050406030204" pitchFamily="18" charset="0"/>
                                  </a:rPr>
                                  <m:t>2</m:t>
                                </m:r>
                                <m:r>
                                  <a:rPr lang="en-US" sz="1800" b="0" i="1" dirty="0" smtClean="0">
                                    <a:solidFill>
                                      <a:schemeClr val="tx1"/>
                                    </a:solidFill>
                                    <a:latin typeface="Cambria Math" panose="02040503050406030204" pitchFamily="18" charset="0"/>
                                  </a:rPr>
                                  <m:t>(</m:t>
                                </m:r>
                                <m:r>
                                  <a:rPr lang="en-US" sz="1800" i="1" dirty="0">
                                    <a:solidFill>
                                      <a:schemeClr val="tx1"/>
                                    </a:solidFill>
                                    <a:latin typeface="Cambria Math" panose="02040503050406030204" pitchFamily="18" charset="0"/>
                                  </a:rPr>
                                  <m:t>𝑁</m:t>
                                </m:r>
                                <m:r>
                                  <a:rPr lang="en-US" sz="1800" i="1" dirty="0">
                                    <a:solidFill>
                                      <a:schemeClr val="tx1"/>
                                    </a:solidFill>
                                    <a:latin typeface="Cambria Math" panose="02040503050406030204" pitchFamily="18" charset="0"/>
                                  </a:rPr>
                                  <m:t>+</m:t>
                                </m:r>
                                <m:r>
                                  <a:rPr lang="en-US" sz="1800" i="1" dirty="0">
                                    <a:solidFill>
                                      <a:schemeClr val="tx1"/>
                                    </a:solidFill>
                                    <a:latin typeface="Cambria Math" panose="02040503050406030204" pitchFamily="18" charset="0"/>
                                  </a:rPr>
                                  <m:t>1</m:t>
                                </m:r>
                                <m:r>
                                  <a:rPr lang="en-US" sz="1800" i="1" dirty="0">
                                    <a:solidFill>
                                      <a:schemeClr val="tx1"/>
                                    </a:solidFill>
                                    <a:latin typeface="Cambria Math" panose="02040503050406030204" pitchFamily="18" charset="0"/>
                                  </a:rPr>
                                  <m:t>)</m:t>
                                </m:r>
                              </m:num>
                              <m:den>
                                <m:r>
                                  <a:rPr lang="en-US" sz="1800" b="0" i="1" dirty="0" smtClean="0">
                                    <a:solidFill>
                                      <a:schemeClr val="tx1"/>
                                    </a:solidFill>
                                    <a:latin typeface="Cambria Math" panose="02040503050406030204" pitchFamily="18" charset="0"/>
                                  </a:rPr>
                                  <m:t>10</m:t>
                                </m:r>
                              </m:den>
                            </m:f>
                          </m:e>
                        </m:d>
                      </m:e>
                      <m:sup>
                        <m:r>
                          <a:rPr lang="en-US" sz="1800" i="1" dirty="0">
                            <a:solidFill>
                              <a:schemeClr val="tx1"/>
                            </a:solidFill>
                            <a:latin typeface="Cambria Math" panose="02040503050406030204" pitchFamily="18" charset="0"/>
                          </a:rPr>
                          <m:t>𝑡</m:t>
                        </m:r>
                        <m:r>
                          <a:rPr lang="en-US" sz="1800" i="1" dirty="0">
                            <a:solidFill>
                              <a:schemeClr val="tx1"/>
                            </a:solidFill>
                            <a:latin typeface="Cambria Math" panose="02040503050406030204" pitchFamily="18" charset="0"/>
                          </a:rPr>
                          <m:t>h</m:t>
                        </m:r>
                      </m:sup>
                    </m:sSup>
                  </m:oMath>
                </a14:m>
                <a:endParaRPr lang="en-US" sz="1800" b="0" i="0" dirty="0">
                  <a:solidFill>
                    <a:srgbClr val="273239"/>
                  </a:solidFill>
                  <a:effectLst/>
                  <a:latin typeface="Times New Roman" panose="02020603050405020304" pitchFamily="18" charset="0"/>
                  <a:cs typeface="Times New Roman" panose="02020603050405020304" pitchFamily="18" charset="0"/>
                </a:endParaRPr>
              </a:p>
              <a:p>
                <a:pPr algn="l" rtl="0" fontAlgn="base">
                  <a:spcAft>
                    <a:spcPts val="750"/>
                  </a:spcAft>
                </a:pPr>
                <a:r>
                  <a:rPr lang="en-US" sz="1800" b="1" i="0" dirty="0">
                    <a:solidFill>
                      <a:srgbClr val="273239"/>
                    </a:solidFill>
                    <a:effectLst/>
                    <a:latin typeface="Times New Roman" panose="02020603050405020304" pitchFamily="18" charset="0"/>
                    <a:cs typeface="Times New Roman" panose="02020603050405020304" pitchFamily="18" charset="0"/>
                  </a:rPr>
                  <a:t> D</a:t>
                </a:r>
                <a:r>
                  <a:rPr lang="en-US" sz="1800" b="1" i="0" baseline="-25000" dirty="0">
                    <a:solidFill>
                      <a:srgbClr val="273239"/>
                    </a:solidFill>
                    <a:effectLst/>
                    <a:latin typeface="Times New Roman" panose="02020603050405020304" pitchFamily="18" charset="0"/>
                    <a:cs typeface="Times New Roman" panose="02020603050405020304" pitchFamily="18" charset="0"/>
                  </a:rPr>
                  <a:t>1</a:t>
                </a:r>
                <a:r>
                  <a:rPr lang="en-US" sz="1800" b="1" i="0" dirty="0">
                    <a:solidFill>
                      <a:srgbClr val="273239"/>
                    </a:solidFill>
                    <a:effectLst/>
                    <a:latin typeface="Times New Roman" panose="02020603050405020304" pitchFamily="18" charset="0"/>
                    <a:cs typeface="Times New Roman" panose="02020603050405020304" pitchFamily="18" charset="0"/>
                  </a:rPr>
                  <a:t> = 1</a:t>
                </a:r>
                <a:r>
                  <a:rPr lang="en-US" sz="1800" b="1" i="0" baseline="30000" dirty="0">
                    <a:solidFill>
                      <a:srgbClr val="273239"/>
                    </a:solidFill>
                    <a:effectLst/>
                    <a:latin typeface="Times New Roman" panose="02020603050405020304" pitchFamily="18" charset="0"/>
                    <a:cs typeface="Times New Roman" panose="02020603050405020304" pitchFamily="18" charset="0"/>
                  </a:rPr>
                  <a:t>st</a:t>
                </a:r>
                <a:r>
                  <a:rPr lang="en-US" sz="1800" b="1" i="0" dirty="0">
                    <a:solidFill>
                      <a:srgbClr val="273239"/>
                    </a:solidFill>
                    <a:effectLst/>
                    <a:latin typeface="Times New Roman" panose="02020603050405020304" pitchFamily="18" charset="0"/>
                    <a:cs typeface="Times New Roman" panose="02020603050405020304" pitchFamily="18" charset="0"/>
                  </a:rPr>
                  <a:t> item = 5</a:t>
                </a:r>
                <a:endParaRPr lang="en-US" sz="1800" b="0" i="0" dirty="0">
                  <a:solidFill>
                    <a:srgbClr val="273239"/>
                  </a:solidFill>
                  <a:effectLst/>
                  <a:latin typeface="Times New Roman" panose="02020603050405020304" pitchFamily="18" charset="0"/>
                  <a:cs typeface="Times New Roman" panose="02020603050405020304" pitchFamily="18" charset="0"/>
                </a:endParaRPr>
              </a:p>
              <a:p>
                <a:pPr algn="l" rtl="0" fontAlgn="base">
                  <a:spcAft>
                    <a:spcPts val="750"/>
                  </a:spcAft>
                </a:pPr>
                <a:r>
                  <a:rPr lang="en-US" sz="1800" b="1" i="0" dirty="0">
                    <a:solidFill>
                      <a:srgbClr val="273239"/>
                    </a:solidFill>
                    <a:effectLst/>
                    <a:latin typeface="Times New Roman" panose="02020603050405020304" pitchFamily="18" charset="0"/>
                    <a:cs typeface="Times New Roman" panose="02020603050405020304" pitchFamily="18" charset="0"/>
                  </a:rPr>
                  <a:t> D</a:t>
                </a:r>
                <a:r>
                  <a:rPr lang="en-US" sz="1800" b="1" i="0" baseline="-25000" dirty="0">
                    <a:solidFill>
                      <a:srgbClr val="273239"/>
                    </a:solidFill>
                    <a:effectLst/>
                    <a:latin typeface="Times New Roman" panose="02020603050405020304" pitchFamily="18" charset="0"/>
                    <a:cs typeface="Times New Roman" panose="02020603050405020304" pitchFamily="18" charset="0"/>
                  </a:rPr>
                  <a:t>5</a:t>
                </a:r>
                <a:r>
                  <a:rPr lang="en-US" sz="1800" b="1" i="0" dirty="0">
                    <a:solidFill>
                      <a:srgbClr val="273239"/>
                    </a:solidFill>
                    <a:effectLst/>
                    <a:latin typeface="Times New Roman" panose="02020603050405020304" pitchFamily="18" charset="0"/>
                    <a:cs typeface="Times New Roman" panose="02020603050405020304" pitchFamily="18" charset="0"/>
                  </a:rPr>
                  <a:t> = 5</a:t>
                </a:r>
                <a:r>
                  <a:rPr lang="en-US" sz="1800" b="1" i="0" baseline="30000" dirty="0">
                    <a:solidFill>
                      <a:srgbClr val="273239"/>
                    </a:solidFill>
                    <a:effectLst/>
                    <a:latin typeface="Times New Roman" panose="02020603050405020304" pitchFamily="18" charset="0"/>
                    <a:cs typeface="Times New Roman" panose="02020603050405020304" pitchFamily="18" charset="0"/>
                  </a:rPr>
                  <a:t>th</a:t>
                </a:r>
                <a:r>
                  <a:rPr lang="en-US" sz="1800" b="1" i="0" dirty="0">
                    <a:solidFill>
                      <a:srgbClr val="273239"/>
                    </a:solidFill>
                    <a:effectLst/>
                    <a:latin typeface="Times New Roman" panose="02020603050405020304" pitchFamily="18" charset="0"/>
                    <a:cs typeface="Times New Roman" panose="02020603050405020304" pitchFamily="18" charset="0"/>
                  </a:rPr>
                  <a:t> item = 25</a:t>
                </a:r>
                <a:endParaRPr lang="en-US" sz="1800" b="0" i="0" dirty="0">
                  <a:solidFill>
                    <a:srgbClr val="273239"/>
                  </a:solidFill>
                  <a:effectLst/>
                  <a:latin typeface="Times New Roman" panose="02020603050405020304" pitchFamily="18"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050170EE-4A74-F1DE-619C-19EFD984D88E}"/>
                  </a:ext>
                </a:extLst>
              </p:cNvPr>
              <p:cNvSpPr txBox="1">
                <a:spLocks noRot="1" noChangeAspect="1" noMove="1" noResize="1" noEditPoints="1" noAdjustHandles="1" noChangeArrowheads="1" noChangeShapeType="1" noTextEdit="1"/>
              </p:cNvSpPr>
              <p:nvPr/>
            </p:nvSpPr>
            <p:spPr>
              <a:xfrm>
                <a:off x="248478" y="208721"/>
                <a:ext cx="6768548" cy="4423775"/>
              </a:xfrm>
              <a:prstGeom prst="rect">
                <a:avLst/>
              </a:prstGeom>
              <a:blipFill>
                <a:blip r:embed="rId2"/>
                <a:stretch>
                  <a:fillRect l="-811" t="-689" b="-1240"/>
                </a:stretch>
              </a:blipFill>
            </p:spPr>
            <p:txBody>
              <a:bodyPr/>
              <a:lstStyle/>
              <a:p>
                <a:r>
                  <a:rPr lang="en-IN">
                    <a:noFill/>
                  </a:rPr>
                  <a:t> </a:t>
                </a:r>
              </a:p>
            </p:txBody>
          </p:sp>
        </mc:Fallback>
      </mc:AlternateContent>
    </p:spTree>
    <p:extLst>
      <p:ext uri="{BB962C8B-B14F-4D97-AF65-F5344CB8AC3E}">
        <p14:creationId xmlns:p14="http://schemas.microsoft.com/office/powerpoint/2010/main" val="240444158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F47AA6E-7E33-7D5E-5DBC-D106FA5073A4}"/>
                  </a:ext>
                </a:extLst>
              </p:cNvPr>
              <p:cNvSpPr txBox="1"/>
              <p:nvPr/>
            </p:nvSpPr>
            <p:spPr>
              <a:xfrm>
                <a:off x="89451" y="119270"/>
                <a:ext cx="8895523" cy="4824911"/>
              </a:xfrm>
              <a:prstGeom prst="rect">
                <a:avLst/>
              </a:prstGeom>
              <a:noFill/>
            </p:spPr>
            <p:txBody>
              <a:bodyPr wrap="square">
                <a:spAutoFit/>
              </a:bodyPr>
              <a:lstStyle/>
              <a:p>
                <a:pPr algn="l" fontAlgn="base"/>
                <a:r>
                  <a:rPr lang="en-US" sz="2400" b="1" i="0" dirty="0">
                    <a:solidFill>
                      <a:srgbClr val="FF0000"/>
                    </a:solidFill>
                    <a:effectLst/>
                    <a:latin typeface="Times New Roman" panose="02020603050405020304" pitchFamily="18" charset="0"/>
                    <a:cs typeface="Times New Roman" panose="02020603050405020304" pitchFamily="18" charset="0"/>
                  </a:rPr>
                  <a:t>Percentiles</a:t>
                </a:r>
              </a:p>
              <a:p>
                <a:pPr algn="just" rtl="0" fontAlgn="base">
                  <a:spcAft>
                    <a:spcPts val="750"/>
                  </a:spcAft>
                </a:pPr>
                <a:r>
                  <a:rPr lang="en-US" sz="1800" b="0" i="0" dirty="0">
                    <a:solidFill>
                      <a:srgbClr val="273239"/>
                    </a:solidFill>
                    <a:effectLst/>
                    <a:latin typeface="Times New Roman" panose="02020603050405020304" pitchFamily="18" charset="0"/>
                    <a:cs typeface="Times New Roman" panose="02020603050405020304" pitchFamily="18" charset="0"/>
                  </a:rPr>
                  <a:t>Centiles is another term for percentiles. </a:t>
                </a:r>
              </a:p>
              <a:p>
                <a:pPr algn="just" rtl="0" fontAlgn="base">
                  <a:spcAft>
                    <a:spcPts val="750"/>
                  </a:spcAft>
                </a:pPr>
                <a:r>
                  <a:rPr lang="en-US" sz="1800" b="0" i="0" dirty="0">
                    <a:solidFill>
                      <a:srgbClr val="273239"/>
                    </a:solidFill>
                    <a:effectLst/>
                    <a:latin typeface="Times New Roman" panose="02020603050405020304" pitchFamily="18" charset="0"/>
                    <a:cs typeface="Times New Roman" panose="02020603050405020304" pitchFamily="18" charset="0"/>
                  </a:rPr>
                  <a:t>Any given observation is essentially divided into a total of 100 equal parts by a centile or percentile. </a:t>
                </a:r>
              </a:p>
              <a:p>
                <a:pPr algn="just" rtl="0" fontAlgn="base">
                  <a:spcAft>
                    <a:spcPts val="750"/>
                  </a:spcAft>
                </a:pPr>
                <a:r>
                  <a:rPr lang="en-US" sz="1800" b="0" i="0" dirty="0">
                    <a:solidFill>
                      <a:srgbClr val="273239"/>
                    </a:solidFill>
                    <a:effectLst/>
                    <a:latin typeface="Times New Roman" panose="02020603050405020304" pitchFamily="18" charset="0"/>
                    <a:cs typeface="Times New Roman" panose="02020603050405020304" pitchFamily="18" charset="0"/>
                  </a:rPr>
                  <a:t>These percentiles or centiles are represented as P</a:t>
                </a:r>
                <a:r>
                  <a:rPr lang="en-US" sz="1800" b="0" i="0" baseline="-25000" dirty="0">
                    <a:solidFill>
                      <a:srgbClr val="273239"/>
                    </a:solidFill>
                    <a:effectLst/>
                    <a:latin typeface="Times New Roman" panose="02020603050405020304" pitchFamily="18" charset="0"/>
                    <a:cs typeface="Times New Roman" panose="02020603050405020304" pitchFamily="18" charset="0"/>
                  </a:rPr>
                  <a:t>1</a:t>
                </a:r>
                <a:r>
                  <a:rPr lang="en-US" sz="1800" b="0" i="0" dirty="0">
                    <a:solidFill>
                      <a:srgbClr val="273239"/>
                    </a:solidFill>
                    <a:effectLst/>
                    <a:latin typeface="Times New Roman" panose="02020603050405020304" pitchFamily="18" charset="0"/>
                    <a:cs typeface="Times New Roman" panose="02020603050405020304" pitchFamily="18" charset="0"/>
                  </a:rPr>
                  <a:t>, P</a:t>
                </a:r>
                <a:r>
                  <a:rPr lang="en-US" sz="1800" b="0" i="0" baseline="-25000" dirty="0">
                    <a:solidFill>
                      <a:srgbClr val="273239"/>
                    </a:solidFill>
                    <a:effectLst/>
                    <a:latin typeface="Times New Roman" panose="02020603050405020304" pitchFamily="18" charset="0"/>
                    <a:cs typeface="Times New Roman" panose="02020603050405020304" pitchFamily="18" charset="0"/>
                  </a:rPr>
                  <a:t>2</a:t>
                </a:r>
                <a:r>
                  <a:rPr lang="en-US" sz="1800" b="0" i="0" dirty="0">
                    <a:solidFill>
                      <a:srgbClr val="273239"/>
                    </a:solidFill>
                    <a:effectLst/>
                    <a:latin typeface="Times New Roman" panose="02020603050405020304" pitchFamily="18" charset="0"/>
                    <a:cs typeface="Times New Roman" panose="02020603050405020304" pitchFamily="18" charset="0"/>
                  </a:rPr>
                  <a:t>, P</a:t>
                </a:r>
                <a:r>
                  <a:rPr lang="en-US" sz="1800" b="0" i="0" baseline="-25000" dirty="0">
                    <a:solidFill>
                      <a:srgbClr val="273239"/>
                    </a:solidFill>
                    <a:effectLst/>
                    <a:latin typeface="Times New Roman" panose="02020603050405020304" pitchFamily="18" charset="0"/>
                    <a:cs typeface="Times New Roman" panose="02020603050405020304" pitchFamily="18" charset="0"/>
                  </a:rPr>
                  <a:t>3</a:t>
                </a:r>
                <a:r>
                  <a:rPr lang="en-US" sz="1800" b="0" i="0" dirty="0">
                    <a:solidFill>
                      <a:srgbClr val="273239"/>
                    </a:solidFill>
                    <a:effectLst/>
                    <a:latin typeface="Times New Roman" panose="02020603050405020304" pitchFamily="18" charset="0"/>
                    <a:cs typeface="Times New Roman" panose="02020603050405020304" pitchFamily="18" charset="0"/>
                  </a:rPr>
                  <a:t>, P</a:t>
                </a:r>
                <a:r>
                  <a:rPr lang="en-US" sz="1800" b="0" i="0" baseline="-25000" dirty="0">
                    <a:solidFill>
                      <a:srgbClr val="273239"/>
                    </a:solidFill>
                    <a:effectLst/>
                    <a:latin typeface="Times New Roman" panose="02020603050405020304" pitchFamily="18" charset="0"/>
                    <a:cs typeface="Times New Roman" panose="02020603050405020304" pitchFamily="18" charset="0"/>
                  </a:rPr>
                  <a:t>4</a:t>
                </a:r>
                <a:r>
                  <a:rPr lang="en-US" sz="1800" b="0" i="0" dirty="0">
                    <a:solidFill>
                      <a:srgbClr val="273239"/>
                    </a:solidFill>
                    <a:effectLst/>
                    <a:latin typeface="Times New Roman" panose="02020603050405020304" pitchFamily="18" charset="0"/>
                    <a:cs typeface="Times New Roman" panose="02020603050405020304" pitchFamily="18" charset="0"/>
                  </a:rPr>
                  <a:t>,……….P</a:t>
                </a:r>
                <a:r>
                  <a:rPr lang="en-US" sz="1800" b="0" i="0" baseline="-25000" dirty="0">
                    <a:solidFill>
                      <a:srgbClr val="273239"/>
                    </a:solidFill>
                    <a:effectLst/>
                    <a:latin typeface="Times New Roman" panose="02020603050405020304" pitchFamily="18" charset="0"/>
                    <a:cs typeface="Times New Roman" panose="02020603050405020304" pitchFamily="18" charset="0"/>
                  </a:rPr>
                  <a:t>99</a:t>
                </a:r>
                <a:r>
                  <a:rPr lang="en-US" sz="1800" b="0" i="0" dirty="0">
                    <a:solidFill>
                      <a:srgbClr val="273239"/>
                    </a:solidFill>
                    <a:effectLst/>
                    <a:latin typeface="Times New Roman" panose="02020603050405020304" pitchFamily="18" charset="0"/>
                    <a:cs typeface="Times New Roman" panose="02020603050405020304" pitchFamily="18" charset="0"/>
                  </a:rPr>
                  <a:t>. </a:t>
                </a:r>
              </a:p>
              <a:p>
                <a:pPr algn="just" rtl="0" fontAlgn="base">
                  <a:spcAft>
                    <a:spcPts val="750"/>
                  </a:spcAft>
                </a:pPr>
                <a:r>
                  <a:rPr lang="en-US" sz="1800" b="0" i="0" dirty="0">
                    <a:solidFill>
                      <a:srgbClr val="273239"/>
                    </a:solidFill>
                    <a:effectLst/>
                    <a:latin typeface="Times New Roman" panose="02020603050405020304" pitchFamily="18" charset="0"/>
                    <a:cs typeface="Times New Roman" panose="02020603050405020304" pitchFamily="18" charset="0"/>
                  </a:rPr>
                  <a:t>P</a:t>
                </a:r>
                <a:r>
                  <a:rPr lang="en-US" sz="1800" b="0" i="0" baseline="-25000" dirty="0">
                    <a:solidFill>
                      <a:srgbClr val="273239"/>
                    </a:solidFill>
                    <a:effectLst/>
                    <a:latin typeface="Times New Roman" panose="02020603050405020304" pitchFamily="18" charset="0"/>
                    <a:cs typeface="Times New Roman" panose="02020603050405020304" pitchFamily="18" charset="0"/>
                  </a:rPr>
                  <a:t>1</a:t>
                </a:r>
                <a:r>
                  <a:rPr lang="en-US" sz="1800" b="0" i="0" dirty="0">
                    <a:solidFill>
                      <a:srgbClr val="273239"/>
                    </a:solidFill>
                    <a:effectLst/>
                    <a:latin typeface="Times New Roman" panose="02020603050405020304" pitchFamily="18" charset="0"/>
                    <a:cs typeface="Times New Roman" panose="02020603050405020304" pitchFamily="18" charset="0"/>
                  </a:rPr>
                  <a:t> is a typical value of peaks for which 1/100 of any given data is either less than P</a:t>
                </a:r>
                <a:r>
                  <a:rPr lang="en-US" sz="1800" b="0" i="0" baseline="-25000" dirty="0">
                    <a:solidFill>
                      <a:srgbClr val="273239"/>
                    </a:solidFill>
                    <a:effectLst/>
                    <a:latin typeface="Times New Roman" panose="02020603050405020304" pitchFamily="18" charset="0"/>
                    <a:cs typeface="Times New Roman" panose="02020603050405020304" pitchFamily="18" charset="0"/>
                  </a:rPr>
                  <a:t>1</a:t>
                </a:r>
                <a:r>
                  <a:rPr lang="en-US" sz="1800" b="0" i="0" dirty="0">
                    <a:solidFill>
                      <a:srgbClr val="273239"/>
                    </a:solidFill>
                    <a:effectLst/>
                    <a:latin typeface="Times New Roman" panose="02020603050405020304" pitchFamily="18" charset="0"/>
                    <a:cs typeface="Times New Roman" panose="02020603050405020304" pitchFamily="18" charset="0"/>
                  </a:rPr>
                  <a:t> or equal to P</a:t>
                </a:r>
                <a:r>
                  <a:rPr lang="en-US" sz="1800" b="0" i="0" baseline="-25000" dirty="0">
                    <a:solidFill>
                      <a:srgbClr val="273239"/>
                    </a:solidFill>
                    <a:effectLst/>
                    <a:latin typeface="Times New Roman" panose="02020603050405020304" pitchFamily="18" charset="0"/>
                    <a:cs typeface="Times New Roman" panose="02020603050405020304" pitchFamily="18" charset="0"/>
                  </a:rPr>
                  <a:t>1</a:t>
                </a:r>
                <a:r>
                  <a:rPr lang="en-US" sz="1800" b="0" i="0" dirty="0">
                    <a:solidFill>
                      <a:srgbClr val="273239"/>
                    </a:solidFill>
                    <a:effectLst/>
                    <a:latin typeface="Times New Roman" panose="02020603050405020304" pitchFamily="18" charset="0"/>
                    <a:cs typeface="Times New Roman" panose="02020603050405020304" pitchFamily="18" charset="0"/>
                  </a:rPr>
                  <a:t>.</a:t>
                </a:r>
              </a:p>
              <a:p>
                <a14:m>
                  <m:oMath xmlns:m="http://schemas.openxmlformats.org/officeDocument/2006/math">
                    <m:sSub>
                      <m:sSubPr>
                        <m:ctrlPr>
                          <a:rPr lang="en-US" sz="1800" b="0" i="1" dirty="0" smtClean="0">
                            <a:solidFill>
                              <a:schemeClr val="tx1"/>
                            </a:solidFill>
                            <a:effectLst/>
                            <a:latin typeface="Cambria Math" panose="02040503050406030204" pitchFamily="18" charset="0"/>
                          </a:rPr>
                        </m:ctrlPr>
                      </m:sSubPr>
                      <m:e>
                        <m:r>
                          <m:rPr>
                            <m:sty m:val="p"/>
                          </m:rPr>
                          <a:rPr lang="en-US" sz="1800" b="0" i="0" dirty="0" smtClean="0">
                            <a:solidFill>
                              <a:schemeClr val="tx1"/>
                            </a:solidFill>
                            <a:effectLst/>
                            <a:latin typeface="Cambria Math" panose="02040503050406030204" pitchFamily="18" charset="0"/>
                          </a:rPr>
                          <m:t>P</m:t>
                        </m:r>
                      </m:e>
                      <m:sub>
                        <m:r>
                          <a:rPr lang="en-US" sz="1800" b="0" i="0" dirty="0" smtClean="0">
                            <a:solidFill>
                              <a:schemeClr val="tx1"/>
                            </a:solidFill>
                            <a:effectLst/>
                            <a:latin typeface="Cambria Math" panose="02040503050406030204" pitchFamily="18" charset="0"/>
                          </a:rPr>
                          <m:t>1</m:t>
                        </m:r>
                      </m:sub>
                    </m:sSub>
                    <m:r>
                      <a:rPr lang="en-US" sz="1800" b="0" i="0" dirty="0" smtClean="0">
                        <a:solidFill>
                          <a:schemeClr val="tx1"/>
                        </a:solidFill>
                        <a:effectLst/>
                        <a:latin typeface="Cambria Math" panose="02040503050406030204" pitchFamily="18" charset="0"/>
                      </a:rPr>
                      <m:t>=</m:t>
                    </m:r>
                    <m:sSup>
                      <m:sSupPr>
                        <m:ctrlPr>
                          <a:rPr lang="en-US" sz="1800" i="1" dirty="0">
                            <a:solidFill>
                              <a:schemeClr val="tx1"/>
                            </a:solidFill>
                            <a:latin typeface="Cambria Math" panose="02040503050406030204" pitchFamily="18" charset="0"/>
                          </a:rPr>
                        </m:ctrlPr>
                      </m:sSupPr>
                      <m:e>
                        <m:d>
                          <m:dPr>
                            <m:begChr m:val="["/>
                            <m:endChr m:val="]"/>
                            <m:ctrlPr>
                              <a:rPr lang="en-US" sz="1800" i="1" dirty="0">
                                <a:solidFill>
                                  <a:schemeClr val="tx1"/>
                                </a:solidFill>
                                <a:latin typeface="Cambria Math" panose="02040503050406030204" pitchFamily="18" charset="0"/>
                              </a:rPr>
                            </m:ctrlPr>
                          </m:dPr>
                          <m:e>
                            <m:f>
                              <m:fPr>
                                <m:ctrlPr>
                                  <a:rPr lang="en-US" sz="1800" i="1" dirty="0">
                                    <a:solidFill>
                                      <a:schemeClr val="tx1"/>
                                    </a:solidFill>
                                    <a:latin typeface="Cambria Math" panose="02040503050406030204" pitchFamily="18" charset="0"/>
                                  </a:rPr>
                                </m:ctrlPr>
                              </m:fPr>
                              <m:num>
                                <m:r>
                                  <a:rPr lang="en-US" sz="1800" i="1" dirty="0">
                                    <a:solidFill>
                                      <a:schemeClr val="tx1"/>
                                    </a:solidFill>
                                    <a:latin typeface="Cambria Math" panose="02040503050406030204" pitchFamily="18" charset="0"/>
                                  </a:rPr>
                                  <m:t>𝑁</m:t>
                                </m:r>
                                <m:r>
                                  <a:rPr lang="en-US" sz="1800" i="1" dirty="0">
                                    <a:solidFill>
                                      <a:schemeClr val="tx1"/>
                                    </a:solidFill>
                                    <a:latin typeface="Cambria Math" panose="02040503050406030204" pitchFamily="18" charset="0"/>
                                  </a:rPr>
                                  <m:t>+1</m:t>
                                </m:r>
                              </m:num>
                              <m:den>
                                <m:r>
                                  <a:rPr lang="en-US" sz="1800" i="1" dirty="0">
                                    <a:solidFill>
                                      <a:schemeClr val="tx1"/>
                                    </a:solidFill>
                                    <a:latin typeface="Cambria Math" panose="02040503050406030204" pitchFamily="18" charset="0"/>
                                  </a:rPr>
                                  <m:t>10</m:t>
                                </m:r>
                                <m:r>
                                  <a:rPr lang="en-US" sz="1800" b="0" i="1" dirty="0" smtClean="0">
                                    <a:solidFill>
                                      <a:schemeClr val="tx1"/>
                                    </a:solidFill>
                                    <a:latin typeface="Cambria Math" panose="02040503050406030204" pitchFamily="18" charset="0"/>
                                  </a:rPr>
                                  <m:t>0</m:t>
                                </m:r>
                              </m:den>
                            </m:f>
                          </m:e>
                        </m:d>
                      </m:e>
                      <m:sup>
                        <m:r>
                          <a:rPr lang="en-US" sz="1800" i="1" dirty="0">
                            <a:solidFill>
                              <a:schemeClr val="tx1"/>
                            </a:solidFill>
                            <a:latin typeface="Cambria Math" panose="02040503050406030204" pitchFamily="18" charset="0"/>
                          </a:rPr>
                          <m:t>𝑡h</m:t>
                        </m:r>
                      </m:sup>
                    </m:sSup>
                  </m:oMath>
                </a14:m>
                <a:r>
                  <a:rPr lang="en-US" sz="1800" b="0" dirty="0">
                    <a:solidFill>
                      <a:schemeClr val="tx1"/>
                    </a:solidFill>
                    <a:effectLst/>
                    <a:latin typeface="Times New Roman" panose="02020603050405020304" pitchFamily="18" charset="0"/>
                    <a:cs typeface="Times New Roman" panose="02020603050405020304" pitchFamily="18" charset="0"/>
                  </a:rPr>
                  <a:t>item</a:t>
                </a:r>
                <a:r>
                  <a:rPr lang="en-US" sz="1800" dirty="0">
                    <a:solidFill>
                      <a:schemeClr val="tx1"/>
                    </a:solidFill>
                    <a:latin typeface="Times New Roman" panose="02020603050405020304" pitchFamily="18" charset="0"/>
                    <a:cs typeface="Times New Roman" panose="02020603050405020304" pitchFamily="18" charset="0"/>
                  </a:rPr>
                  <a:t>		</a:t>
                </a:r>
              </a:p>
              <a:p>
                <a14:m>
                  <m:oMath xmlns:m="http://schemas.openxmlformats.org/officeDocument/2006/math">
                    <m:sSub>
                      <m:sSubPr>
                        <m:ctrlPr>
                          <a:rPr lang="en-US" sz="1800" i="1" dirty="0">
                            <a:solidFill>
                              <a:schemeClr val="tx1"/>
                            </a:solidFill>
                            <a:latin typeface="Cambria Math" panose="02040503050406030204" pitchFamily="18" charset="0"/>
                          </a:rPr>
                        </m:ctrlPr>
                      </m:sSubPr>
                      <m:e>
                        <m:r>
                          <m:rPr>
                            <m:sty m:val="p"/>
                          </m:rPr>
                          <a:rPr lang="en-US" sz="1800" b="0" i="0" dirty="0" smtClean="0">
                            <a:solidFill>
                              <a:schemeClr val="tx1"/>
                            </a:solidFill>
                            <a:latin typeface="Cambria Math" panose="02040503050406030204" pitchFamily="18" charset="0"/>
                          </a:rPr>
                          <m:t>P</m:t>
                        </m:r>
                      </m:e>
                      <m:sub>
                        <m:r>
                          <a:rPr lang="en-US" sz="1800" b="0" i="0" dirty="0" smtClean="0">
                            <a:solidFill>
                              <a:schemeClr val="tx1"/>
                            </a:solidFill>
                            <a:latin typeface="Cambria Math" panose="02040503050406030204" pitchFamily="18" charset="0"/>
                          </a:rPr>
                          <m:t>2</m:t>
                        </m:r>
                      </m:sub>
                    </m:sSub>
                    <m:r>
                      <a:rPr lang="en-US" sz="1800" i="0" dirty="0" smtClean="0">
                        <a:solidFill>
                          <a:schemeClr val="tx1"/>
                        </a:solidFill>
                        <a:latin typeface="Cambria Math" panose="02040503050406030204" pitchFamily="18" charset="0"/>
                      </a:rPr>
                      <m:t> </m:t>
                    </m:r>
                    <m:r>
                      <a:rPr lang="en-US" sz="1800" b="0" i="0" dirty="0" smtClean="0">
                        <a:solidFill>
                          <a:schemeClr val="tx1"/>
                        </a:solidFill>
                        <a:effectLst/>
                        <a:latin typeface="Cambria Math" panose="02040503050406030204" pitchFamily="18" charset="0"/>
                      </a:rPr>
                      <m:t>=</m:t>
                    </m:r>
                    <m:sSup>
                      <m:sSupPr>
                        <m:ctrlPr>
                          <a:rPr lang="en-US" sz="1800" i="1" dirty="0">
                            <a:solidFill>
                              <a:schemeClr val="tx1"/>
                            </a:solidFill>
                            <a:latin typeface="Cambria Math" panose="02040503050406030204" pitchFamily="18" charset="0"/>
                          </a:rPr>
                        </m:ctrlPr>
                      </m:sSupPr>
                      <m:e>
                        <m:d>
                          <m:dPr>
                            <m:begChr m:val="["/>
                            <m:endChr m:val="]"/>
                            <m:ctrlPr>
                              <a:rPr lang="en-US" sz="1800" i="1" dirty="0">
                                <a:solidFill>
                                  <a:schemeClr val="tx1"/>
                                </a:solidFill>
                                <a:latin typeface="Cambria Math" panose="02040503050406030204" pitchFamily="18" charset="0"/>
                              </a:rPr>
                            </m:ctrlPr>
                          </m:dPr>
                          <m:e>
                            <m:f>
                              <m:fPr>
                                <m:ctrlPr>
                                  <a:rPr lang="en-US" sz="1800" i="1" dirty="0">
                                    <a:solidFill>
                                      <a:schemeClr val="tx1"/>
                                    </a:solidFill>
                                    <a:latin typeface="Cambria Math" panose="02040503050406030204" pitchFamily="18" charset="0"/>
                                  </a:rPr>
                                </m:ctrlPr>
                              </m:fPr>
                              <m:num>
                                <m:r>
                                  <a:rPr lang="en-US" sz="1800" i="1" dirty="0">
                                    <a:solidFill>
                                      <a:schemeClr val="tx1"/>
                                    </a:solidFill>
                                    <a:latin typeface="Cambria Math" panose="02040503050406030204" pitchFamily="18" charset="0"/>
                                  </a:rPr>
                                  <m:t>2(</m:t>
                                </m:r>
                                <m:r>
                                  <a:rPr lang="en-US" sz="1800" i="1" dirty="0">
                                    <a:solidFill>
                                      <a:schemeClr val="tx1"/>
                                    </a:solidFill>
                                    <a:latin typeface="Cambria Math" panose="02040503050406030204" pitchFamily="18" charset="0"/>
                                  </a:rPr>
                                  <m:t>𝑁</m:t>
                                </m:r>
                                <m:r>
                                  <a:rPr lang="en-US" sz="1800" i="1" dirty="0">
                                    <a:solidFill>
                                      <a:schemeClr val="tx1"/>
                                    </a:solidFill>
                                    <a:latin typeface="Cambria Math" panose="02040503050406030204" pitchFamily="18" charset="0"/>
                                  </a:rPr>
                                  <m:t>+1)</m:t>
                                </m:r>
                              </m:num>
                              <m:den>
                                <m:r>
                                  <a:rPr lang="en-US" sz="1800" i="1" dirty="0">
                                    <a:solidFill>
                                      <a:schemeClr val="tx1"/>
                                    </a:solidFill>
                                    <a:latin typeface="Cambria Math" panose="02040503050406030204" pitchFamily="18" charset="0"/>
                                  </a:rPr>
                                  <m:t>10</m:t>
                                </m:r>
                                <m:r>
                                  <a:rPr lang="en-US" sz="1800" b="0" i="1" dirty="0" smtClean="0">
                                    <a:solidFill>
                                      <a:schemeClr val="tx1"/>
                                    </a:solidFill>
                                    <a:latin typeface="Cambria Math" panose="02040503050406030204" pitchFamily="18" charset="0"/>
                                  </a:rPr>
                                  <m:t>0</m:t>
                                </m:r>
                              </m:den>
                            </m:f>
                          </m:e>
                        </m:d>
                      </m:e>
                      <m:sup>
                        <m:r>
                          <a:rPr lang="en-US" sz="1800" i="1" dirty="0">
                            <a:solidFill>
                              <a:schemeClr val="tx1"/>
                            </a:solidFill>
                            <a:latin typeface="Cambria Math" panose="02040503050406030204" pitchFamily="18" charset="0"/>
                          </a:rPr>
                          <m:t>𝑡h</m:t>
                        </m:r>
                      </m:sup>
                    </m:sSup>
                    <m:r>
                      <m:rPr>
                        <m:nor/>
                      </m:rPr>
                      <a:rPr lang="en-US" sz="1800" dirty="0">
                        <a:solidFill>
                          <a:schemeClr val="tx1"/>
                        </a:solidFill>
                        <a:latin typeface="Times New Roman" panose="02020603050405020304" pitchFamily="18" charset="0"/>
                        <a:cs typeface="Times New Roman" panose="02020603050405020304" pitchFamily="18" charset="0"/>
                      </a:rPr>
                      <m:t>item</m:t>
                    </m:r>
                  </m:oMath>
                </a14:m>
                <a:r>
                  <a:rPr lang="en-US" sz="1800" b="0" dirty="0">
                    <a:solidFill>
                      <a:schemeClr val="tx1"/>
                    </a:solidFill>
                    <a:effectLst/>
                    <a:latin typeface="Times New Roman" panose="02020603050405020304" pitchFamily="18" charset="0"/>
                    <a:cs typeface="Times New Roman" panose="02020603050405020304" pitchFamily="18" charset="0"/>
                  </a:rPr>
                  <a:t> and so on….</a:t>
                </a:r>
                <a:endParaRPr lang="en-US" sz="1800" dirty="0">
                  <a:solidFill>
                    <a:schemeClr val="tx1"/>
                  </a:solidFill>
                  <a:latin typeface="Times New Roman" panose="02020603050405020304" pitchFamily="18" charset="0"/>
                  <a:cs typeface="Times New Roman" panose="02020603050405020304" pitchFamily="18" charset="0"/>
                </a:endParaRPr>
              </a:p>
              <a:p>
                <a:r>
                  <a:rPr lang="en-US" sz="180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1800" i="1" dirty="0" smtClean="0">
                            <a:solidFill>
                              <a:schemeClr val="tx1"/>
                            </a:solidFill>
                            <a:latin typeface="Cambria Math" panose="02040503050406030204" pitchFamily="18" charset="0"/>
                          </a:rPr>
                        </m:ctrlPr>
                      </m:sSubPr>
                      <m:e>
                        <m:r>
                          <m:rPr>
                            <m:sty m:val="p"/>
                          </m:rPr>
                          <a:rPr lang="en-US" sz="1800" b="0" i="0" dirty="0" smtClean="0">
                            <a:solidFill>
                              <a:schemeClr val="tx1"/>
                            </a:solidFill>
                            <a:latin typeface="Cambria Math" panose="02040503050406030204" pitchFamily="18" charset="0"/>
                          </a:rPr>
                          <m:t>P</m:t>
                        </m:r>
                      </m:e>
                      <m:sub>
                        <m:r>
                          <a:rPr lang="en-US" sz="1800" b="0" i="0" dirty="0" smtClean="0">
                            <a:solidFill>
                              <a:schemeClr val="tx1"/>
                            </a:solidFill>
                            <a:latin typeface="Cambria Math" panose="02040503050406030204" pitchFamily="18" charset="0"/>
                          </a:rPr>
                          <m:t>99</m:t>
                        </m:r>
                      </m:sub>
                    </m:sSub>
                    <m:r>
                      <a:rPr lang="en-US" sz="1800" b="0" i="0" dirty="0" smtClean="0">
                        <a:solidFill>
                          <a:schemeClr val="tx1"/>
                        </a:solidFill>
                        <a:effectLst/>
                        <a:latin typeface="Cambria Math" panose="02040503050406030204" pitchFamily="18" charset="0"/>
                      </a:rPr>
                      <m:t>=</m:t>
                    </m:r>
                    <m:sSup>
                      <m:sSupPr>
                        <m:ctrlPr>
                          <a:rPr lang="en-US" sz="1800" i="1" dirty="0">
                            <a:solidFill>
                              <a:schemeClr val="tx1"/>
                            </a:solidFill>
                            <a:latin typeface="Cambria Math" panose="02040503050406030204" pitchFamily="18" charset="0"/>
                          </a:rPr>
                        </m:ctrlPr>
                      </m:sSupPr>
                      <m:e>
                        <m:d>
                          <m:dPr>
                            <m:begChr m:val="["/>
                            <m:endChr m:val="]"/>
                            <m:ctrlPr>
                              <a:rPr lang="en-US" sz="1800" i="1" dirty="0">
                                <a:solidFill>
                                  <a:schemeClr val="tx1"/>
                                </a:solidFill>
                                <a:latin typeface="Cambria Math" panose="02040503050406030204" pitchFamily="18" charset="0"/>
                              </a:rPr>
                            </m:ctrlPr>
                          </m:dPr>
                          <m:e>
                            <m:f>
                              <m:fPr>
                                <m:ctrlPr>
                                  <a:rPr lang="en-US" sz="1800" i="1" dirty="0">
                                    <a:solidFill>
                                      <a:schemeClr val="tx1"/>
                                    </a:solidFill>
                                    <a:latin typeface="Cambria Math" panose="02040503050406030204" pitchFamily="18" charset="0"/>
                                  </a:rPr>
                                </m:ctrlPr>
                              </m:fPr>
                              <m:num>
                                <m:r>
                                  <a:rPr lang="en-US" sz="1800" b="0" i="1" dirty="0" smtClean="0">
                                    <a:solidFill>
                                      <a:schemeClr val="tx1"/>
                                    </a:solidFill>
                                    <a:latin typeface="Cambria Math" panose="02040503050406030204" pitchFamily="18" charset="0"/>
                                  </a:rPr>
                                  <m:t>99</m:t>
                                </m:r>
                                <m:r>
                                  <a:rPr lang="en-US" sz="1800" i="1" dirty="0">
                                    <a:solidFill>
                                      <a:schemeClr val="tx1"/>
                                    </a:solidFill>
                                    <a:latin typeface="Cambria Math" panose="02040503050406030204" pitchFamily="18" charset="0"/>
                                  </a:rPr>
                                  <m:t>(</m:t>
                                </m:r>
                                <m:r>
                                  <a:rPr lang="en-US" sz="1800" i="1" dirty="0">
                                    <a:solidFill>
                                      <a:schemeClr val="tx1"/>
                                    </a:solidFill>
                                    <a:latin typeface="Cambria Math" panose="02040503050406030204" pitchFamily="18" charset="0"/>
                                  </a:rPr>
                                  <m:t>𝑁</m:t>
                                </m:r>
                                <m:r>
                                  <a:rPr lang="en-US" sz="1800" i="1" dirty="0">
                                    <a:solidFill>
                                      <a:schemeClr val="tx1"/>
                                    </a:solidFill>
                                    <a:latin typeface="Cambria Math" panose="02040503050406030204" pitchFamily="18" charset="0"/>
                                  </a:rPr>
                                  <m:t>+1)</m:t>
                                </m:r>
                              </m:num>
                              <m:den>
                                <m:r>
                                  <a:rPr lang="en-US" sz="1800" i="1" dirty="0">
                                    <a:solidFill>
                                      <a:schemeClr val="tx1"/>
                                    </a:solidFill>
                                    <a:latin typeface="Cambria Math" panose="02040503050406030204" pitchFamily="18" charset="0"/>
                                  </a:rPr>
                                  <m:t>10</m:t>
                                </m:r>
                                <m:r>
                                  <a:rPr lang="en-US" sz="1800" b="0" i="1" dirty="0" smtClean="0">
                                    <a:solidFill>
                                      <a:schemeClr val="tx1"/>
                                    </a:solidFill>
                                    <a:latin typeface="Cambria Math" panose="02040503050406030204" pitchFamily="18" charset="0"/>
                                  </a:rPr>
                                  <m:t>0</m:t>
                                </m:r>
                              </m:den>
                            </m:f>
                          </m:e>
                        </m:d>
                      </m:e>
                      <m:sup>
                        <m:r>
                          <a:rPr lang="en-US" sz="1800" i="1" dirty="0">
                            <a:solidFill>
                              <a:schemeClr val="tx1"/>
                            </a:solidFill>
                            <a:latin typeface="Cambria Math" panose="02040503050406030204" pitchFamily="18" charset="0"/>
                          </a:rPr>
                          <m:t>𝑡h</m:t>
                        </m:r>
                      </m:sup>
                    </m:sSup>
                    <m:r>
                      <m:rPr>
                        <m:nor/>
                      </m:rPr>
                      <a:rPr lang="en-US" sz="1800" dirty="0">
                        <a:solidFill>
                          <a:schemeClr val="tx1"/>
                        </a:solidFill>
                        <a:latin typeface="Times New Roman" panose="02020603050405020304" pitchFamily="18" charset="0"/>
                        <a:cs typeface="Times New Roman" panose="02020603050405020304" pitchFamily="18" charset="0"/>
                      </a:rPr>
                      <m:t>item</m:t>
                    </m:r>
                  </m:oMath>
                </a14:m>
                <a:endParaRPr lang="en-US" sz="1800" b="0" dirty="0">
                  <a:solidFill>
                    <a:schemeClr val="tx1"/>
                  </a:solidFill>
                  <a:effectLst/>
                  <a:latin typeface="Times New Roman" panose="02020603050405020304" pitchFamily="18" charset="0"/>
                  <a:cs typeface="Times New Roman" panose="02020603050405020304" pitchFamily="18" charset="0"/>
                </a:endParaRPr>
              </a:p>
              <a:p>
                <a:pPr algn="just" rtl="0" fontAlgn="base">
                  <a:spcAft>
                    <a:spcPts val="750"/>
                  </a:spcAft>
                </a:pPr>
                <a:r>
                  <a:rPr lang="en-US" sz="1600" b="0" dirty="0">
                    <a:solidFill>
                      <a:srgbClr val="273239"/>
                    </a:solidFill>
                    <a:effectLst/>
                    <a:latin typeface="Times New Roman" panose="02020603050405020304" pitchFamily="18" charset="0"/>
                    <a:cs typeface="Times New Roman" panose="02020603050405020304" pitchFamily="18" charset="0"/>
                  </a:rPr>
                  <a:t>Where, N is the total number of observations, P</a:t>
                </a:r>
                <a:r>
                  <a:rPr lang="en-US" sz="1600" b="0" baseline="-25000" dirty="0">
                    <a:solidFill>
                      <a:srgbClr val="273239"/>
                    </a:solidFill>
                    <a:effectLst/>
                    <a:latin typeface="Times New Roman" panose="02020603050405020304" pitchFamily="18" charset="0"/>
                    <a:cs typeface="Times New Roman" panose="02020603050405020304" pitchFamily="18" charset="0"/>
                  </a:rPr>
                  <a:t>1</a:t>
                </a:r>
                <a:r>
                  <a:rPr lang="en-US" sz="1600" b="0" dirty="0">
                    <a:solidFill>
                      <a:srgbClr val="273239"/>
                    </a:solidFill>
                    <a:effectLst/>
                    <a:latin typeface="Times New Roman" panose="02020603050405020304" pitchFamily="18" charset="0"/>
                    <a:cs typeface="Times New Roman" panose="02020603050405020304" pitchFamily="18" charset="0"/>
                  </a:rPr>
                  <a:t> is First Percentile, P</a:t>
                </a:r>
                <a:r>
                  <a:rPr lang="en-US" sz="1600" b="0" baseline="-25000" dirty="0">
                    <a:solidFill>
                      <a:srgbClr val="273239"/>
                    </a:solidFill>
                    <a:effectLst/>
                    <a:latin typeface="Times New Roman" panose="02020603050405020304" pitchFamily="18" charset="0"/>
                    <a:cs typeface="Times New Roman" panose="02020603050405020304" pitchFamily="18" charset="0"/>
                  </a:rPr>
                  <a:t>2</a:t>
                </a:r>
                <a:r>
                  <a:rPr lang="en-US" sz="1600" b="0" dirty="0">
                    <a:solidFill>
                      <a:srgbClr val="273239"/>
                    </a:solidFill>
                    <a:effectLst/>
                    <a:latin typeface="Times New Roman" panose="02020603050405020304" pitchFamily="18" charset="0"/>
                    <a:cs typeface="Times New Roman" panose="02020603050405020304" pitchFamily="18" charset="0"/>
                  </a:rPr>
                  <a:t> is Second Percentile, P</a:t>
                </a:r>
                <a:r>
                  <a:rPr lang="en-US" sz="1600" b="0" baseline="-25000" dirty="0">
                    <a:solidFill>
                      <a:srgbClr val="273239"/>
                    </a:solidFill>
                    <a:effectLst/>
                    <a:latin typeface="Times New Roman" panose="02020603050405020304" pitchFamily="18" charset="0"/>
                    <a:cs typeface="Times New Roman" panose="02020603050405020304" pitchFamily="18" charset="0"/>
                  </a:rPr>
                  <a:t>3</a:t>
                </a:r>
                <a:r>
                  <a:rPr lang="en-US" sz="1600" b="0" dirty="0">
                    <a:solidFill>
                      <a:srgbClr val="273239"/>
                    </a:solidFill>
                    <a:effectLst/>
                    <a:latin typeface="Times New Roman" panose="02020603050405020304" pitchFamily="18" charset="0"/>
                    <a:cs typeface="Times New Roman" panose="02020603050405020304" pitchFamily="18" charset="0"/>
                  </a:rPr>
                  <a:t> is Third Percentile, ……….P</a:t>
                </a:r>
                <a:r>
                  <a:rPr lang="en-US" sz="1600" b="0" baseline="-25000" dirty="0">
                    <a:solidFill>
                      <a:srgbClr val="273239"/>
                    </a:solidFill>
                    <a:effectLst/>
                    <a:latin typeface="Times New Roman" panose="02020603050405020304" pitchFamily="18" charset="0"/>
                    <a:cs typeface="Times New Roman" panose="02020603050405020304" pitchFamily="18" charset="0"/>
                  </a:rPr>
                  <a:t>99</a:t>
                </a:r>
                <a:r>
                  <a:rPr lang="en-US" sz="1600" b="0" dirty="0">
                    <a:solidFill>
                      <a:srgbClr val="273239"/>
                    </a:solidFill>
                    <a:effectLst/>
                    <a:latin typeface="Times New Roman" panose="02020603050405020304" pitchFamily="18" charset="0"/>
                    <a:cs typeface="Times New Roman" panose="02020603050405020304" pitchFamily="18" charset="0"/>
                  </a:rPr>
                  <a:t> is Ninety Ninth Percentile.</a:t>
                </a:r>
              </a:p>
              <a:p>
                <a:pPr algn="just" rtl="0" fontAlgn="base">
                  <a:spcAft>
                    <a:spcPts val="750"/>
                  </a:spcAft>
                </a:pPr>
                <a:endParaRPr lang="en-US" sz="1800" b="0" i="0" dirty="0">
                  <a:solidFill>
                    <a:srgbClr val="273239"/>
                  </a:solidFill>
                  <a:effectLst/>
                  <a:latin typeface="Times New Roman" panose="02020603050405020304" pitchFamily="18"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BF47AA6E-7E33-7D5E-5DBC-D106FA5073A4}"/>
                  </a:ext>
                </a:extLst>
              </p:cNvPr>
              <p:cNvSpPr txBox="1">
                <a:spLocks noRot="1" noChangeAspect="1" noMove="1" noResize="1" noEditPoints="1" noAdjustHandles="1" noChangeArrowheads="1" noChangeShapeType="1" noTextEdit="1"/>
              </p:cNvSpPr>
              <p:nvPr/>
            </p:nvSpPr>
            <p:spPr>
              <a:xfrm>
                <a:off x="89451" y="119270"/>
                <a:ext cx="8895523" cy="4824911"/>
              </a:xfrm>
              <a:prstGeom prst="rect">
                <a:avLst/>
              </a:prstGeom>
              <a:blipFill>
                <a:blip r:embed="rId2"/>
                <a:stretch>
                  <a:fillRect l="-1097" t="-1011" r="-548"/>
                </a:stretch>
              </a:blipFill>
            </p:spPr>
            <p:txBody>
              <a:bodyPr/>
              <a:lstStyle/>
              <a:p>
                <a:r>
                  <a:rPr lang="en-IN">
                    <a:noFill/>
                  </a:rPr>
                  <a:t> </a:t>
                </a:r>
              </a:p>
            </p:txBody>
          </p:sp>
        </mc:Fallback>
      </mc:AlternateContent>
    </p:spTree>
    <p:extLst>
      <p:ext uri="{BB962C8B-B14F-4D97-AF65-F5344CB8AC3E}">
        <p14:creationId xmlns:p14="http://schemas.microsoft.com/office/powerpoint/2010/main" val="391765193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8D8103A-7033-A433-75A0-34250B473D99}"/>
              </a:ext>
            </a:extLst>
          </p:cNvPr>
          <p:cNvSpPr txBox="1"/>
          <p:nvPr/>
        </p:nvSpPr>
        <p:spPr>
          <a:xfrm>
            <a:off x="162081" y="218258"/>
            <a:ext cx="8842771" cy="923330"/>
          </a:xfrm>
          <a:prstGeom prst="rect">
            <a:avLst/>
          </a:prstGeom>
          <a:noFill/>
        </p:spPr>
        <p:txBody>
          <a:bodyPr wrap="square">
            <a:spAutoFit/>
          </a:bodyPr>
          <a:lstStyle/>
          <a:p>
            <a:r>
              <a:rPr lang="en-US" sz="1800" b="0" i="0" dirty="0">
                <a:solidFill>
                  <a:srgbClr val="273239"/>
                </a:solidFill>
                <a:effectLst/>
                <a:latin typeface="Times New Roman" panose="02020603050405020304" pitchFamily="18" charset="0"/>
                <a:cs typeface="Times New Roman" panose="02020603050405020304" pitchFamily="18" charset="0"/>
              </a:rPr>
              <a:t>Example:</a:t>
            </a:r>
          </a:p>
          <a:p>
            <a:r>
              <a:rPr lang="en-US" sz="1800" b="0" i="0" dirty="0">
                <a:solidFill>
                  <a:srgbClr val="273239"/>
                </a:solidFill>
                <a:effectLst/>
                <a:latin typeface="Times New Roman" panose="02020603050405020304" pitchFamily="18" charset="0"/>
                <a:cs typeface="Times New Roman" panose="02020603050405020304" pitchFamily="18" charset="0"/>
              </a:rPr>
              <a:t>Calculate P</a:t>
            </a:r>
            <a:r>
              <a:rPr lang="en-US" sz="1800" b="0" i="0" baseline="-25000" dirty="0">
                <a:solidFill>
                  <a:srgbClr val="273239"/>
                </a:solidFill>
                <a:effectLst/>
                <a:latin typeface="Times New Roman" panose="02020603050405020304" pitchFamily="18" charset="0"/>
                <a:cs typeface="Times New Roman" panose="02020603050405020304" pitchFamily="18" charset="0"/>
              </a:rPr>
              <a:t>10</a:t>
            </a:r>
            <a:r>
              <a:rPr lang="en-US" sz="1800" b="0" i="0" dirty="0">
                <a:solidFill>
                  <a:srgbClr val="273239"/>
                </a:solidFill>
                <a:effectLst/>
                <a:latin typeface="Times New Roman" panose="02020603050405020304" pitchFamily="18" charset="0"/>
                <a:cs typeface="Times New Roman" panose="02020603050405020304" pitchFamily="18" charset="0"/>
              </a:rPr>
              <a:t> and P</a:t>
            </a:r>
            <a:r>
              <a:rPr lang="en-US" sz="1800" b="0" i="0" baseline="-25000" dirty="0">
                <a:solidFill>
                  <a:srgbClr val="273239"/>
                </a:solidFill>
                <a:effectLst/>
                <a:latin typeface="Times New Roman" panose="02020603050405020304" pitchFamily="18" charset="0"/>
                <a:cs typeface="Times New Roman" panose="02020603050405020304" pitchFamily="18" charset="0"/>
              </a:rPr>
              <a:t>75</a:t>
            </a:r>
            <a:r>
              <a:rPr lang="en-US" sz="1800" b="0" i="0" dirty="0">
                <a:solidFill>
                  <a:srgbClr val="273239"/>
                </a:solidFill>
                <a:effectLst/>
                <a:latin typeface="Times New Roman" panose="02020603050405020304" pitchFamily="18" charset="0"/>
                <a:cs typeface="Times New Roman" panose="02020603050405020304" pitchFamily="18" charset="0"/>
              </a:rPr>
              <a:t> for the data related to the age (in years) of 99 members in a housing society.</a:t>
            </a:r>
            <a:endParaRPr lang="en-US" sz="1800" dirty="0">
              <a:solidFill>
                <a:srgbClr val="273239"/>
              </a:solidFill>
              <a:latin typeface="Times New Roman" panose="02020603050405020304" pitchFamily="18" charset="0"/>
              <a:cs typeface="Times New Roman" panose="02020603050405020304" pitchFamily="18" charset="0"/>
            </a:endParaRPr>
          </a:p>
        </p:txBody>
      </p:sp>
      <p:pic>
        <p:nvPicPr>
          <p:cNvPr id="3078" name="Picture 6" descr="Lightbox">
            <a:extLst>
              <a:ext uri="{FF2B5EF4-FFF2-40B4-BE49-F238E27FC236}">
                <a16:creationId xmlns:a16="http://schemas.microsoft.com/office/drawing/2014/main" id="{9367136C-3D46-0328-5959-636C60D0D7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8650" y="1299903"/>
            <a:ext cx="3168237" cy="25436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237943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36500-792E-E7BB-229A-CA780C6D634B}"/>
              </a:ext>
            </a:extLst>
          </p:cNvPr>
          <p:cNvSpPr txBox="1"/>
          <p:nvPr/>
        </p:nvSpPr>
        <p:spPr>
          <a:xfrm>
            <a:off x="198783" y="130596"/>
            <a:ext cx="8746434" cy="4750018"/>
          </a:xfrm>
          <a:prstGeom prst="rect">
            <a:avLst/>
          </a:prstGeom>
          <a:noFill/>
        </p:spPr>
        <p:txBody>
          <a:bodyPr wrap="square">
            <a:spAutoFit/>
          </a:bodyPr>
          <a:lstStyle/>
          <a:p>
            <a:r>
              <a:rPr lang="en-US" sz="1600" dirty="0">
                <a:solidFill>
                  <a:srgbClr val="273239"/>
                </a:solidFill>
                <a:latin typeface="Times New Roman" panose="02020603050405020304" pitchFamily="18" charset="0"/>
                <a:cs typeface="Times New Roman" panose="02020603050405020304" pitchFamily="18" charset="0"/>
              </a:rPr>
              <a:t>Solution:</a:t>
            </a:r>
          </a:p>
          <a:p>
            <a:endParaRPr lang="en-US" sz="1600" dirty="0">
              <a:solidFill>
                <a:srgbClr val="273239"/>
              </a:solidFill>
              <a:latin typeface="Times New Roman" panose="02020603050405020304" pitchFamily="18" charset="0"/>
              <a:cs typeface="Times New Roman" panose="02020603050405020304" pitchFamily="18" charset="0"/>
            </a:endParaRPr>
          </a:p>
          <a:p>
            <a:endParaRPr lang="en-US" sz="1600" dirty="0">
              <a:solidFill>
                <a:srgbClr val="273239"/>
              </a:solidFill>
              <a:latin typeface="Times New Roman" panose="02020603050405020304" pitchFamily="18" charset="0"/>
              <a:cs typeface="Times New Roman" panose="02020603050405020304" pitchFamily="18" charset="0"/>
            </a:endParaRPr>
          </a:p>
          <a:p>
            <a:endParaRPr lang="en-US" sz="1600" dirty="0">
              <a:solidFill>
                <a:srgbClr val="273239"/>
              </a:solidFill>
              <a:latin typeface="Times New Roman" panose="02020603050405020304" pitchFamily="18" charset="0"/>
              <a:cs typeface="Times New Roman" panose="02020603050405020304" pitchFamily="18" charset="0"/>
            </a:endParaRPr>
          </a:p>
          <a:p>
            <a:endParaRPr lang="en-US" sz="1600" dirty="0">
              <a:solidFill>
                <a:srgbClr val="273239"/>
              </a:solidFill>
              <a:latin typeface="Times New Roman" panose="02020603050405020304" pitchFamily="18" charset="0"/>
              <a:cs typeface="Times New Roman" panose="02020603050405020304" pitchFamily="18" charset="0"/>
            </a:endParaRPr>
          </a:p>
          <a:p>
            <a:endParaRPr lang="en-US" sz="1600" dirty="0">
              <a:solidFill>
                <a:srgbClr val="273239"/>
              </a:solidFill>
              <a:latin typeface="Times New Roman" panose="02020603050405020304" pitchFamily="18" charset="0"/>
              <a:cs typeface="Times New Roman" panose="02020603050405020304" pitchFamily="18" charset="0"/>
            </a:endParaRPr>
          </a:p>
          <a:p>
            <a:endParaRPr lang="en-US" sz="1600" dirty="0">
              <a:solidFill>
                <a:srgbClr val="273239"/>
              </a:solidFill>
              <a:latin typeface="Times New Roman" panose="02020603050405020304" pitchFamily="18" charset="0"/>
              <a:cs typeface="Times New Roman" panose="02020603050405020304" pitchFamily="18" charset="0"/>
            </a:endParaRPr>
          </a:p>
          <a:p>
            <a:r>
              <a:rPr lang="en-US" sz="1600" dirty="0">
                <a:solidFill>
                  <a:srgbClr val="273239"/>
                </a:solidFill>
                <a:latin typeface="Times New Roman" panose="02020603050405020304" pitchFamily="18" charset="0"/>
                <a:cs typeface="Times New Roman" panose="02020603050405020304" pitchFamily="18" charset="0"/>
              </a:rPr>
              <a:t>                                                                              </a:t>
            </a:r>
          </a:p>
          <a:p>
            <a:pPr algn="l" rtl="0" fontAlgn="base">
              <a:spcAft>
                <a:spcPts val="750"/>
              </a:spcAft>
            </a:pPr>
            <a:endParaRPr lang="en-US" sz="1600" dirty="0">
              <a:solidFill>
                <a:srgbClr val="273239"/>
              </a:solidFill>
              <a:latin typeface="Times New Roman" panose="02020603050405020304" pitchFamily="18" charset="0"/>
              <a:cs typeface="Times New Roman" panose="02020603050405020304" pitchFamily="18" charset="0"/>
            </a:endParaRPr>
          </a:p>
          <a:p>
            <a:pPr algn="l" rtl="0" fontAlgn="base">
              <a:spcAft>
                <a:spcPts val="750"/>
              </a:spcAft>
            </a:pPr>
            <a:endParaRPr lang="en-US" sz="1600" b="0" i="0" dirty="0">
              <a:solidFill>
                <a:srgbClr val="273239"/>
              </a:solidFill>
              <a:effectLst/>
              <a:latin typeface="Times New Roman" panose="02020603050405020304" pitchFamily="18" charset="0"/>
              <a:cs typeface="Times New Roman" panose="02020603050405020304" pitchFamily="18" charset="0"/>
            </a:endParaRPr>
          </a:p>
          <a:p>
            <a:pPr algn="l" rtl="0" fontAlgn="base">
              <a:spcAft>
                <a:spcPts val="750"/>
              </a:spcAft>
            </a:pPr>
            <a:r>
              <a:rPr lang="en-US" sz="1600" b="0" i="0" dirty="0">
                <a:solidFill>
                  <a:srgbClr val="273239"/>
                </a:solidFill>
                <a:effectLst/>
                <a:latin typeface="Times New Roman" panose="02020603050405020304" pitchFamily="18" charset="0"/>
                <a:cs typeface="Times New Roman" panose="02020603050405020304" pitchFamily="18" charset="0"/>
              </a:rPr>
              <a:t>P</a:t>
            </a:r>
            <a:r>
              <a:rPr lang="en-US" sz="1600" b="0" i="0" baseline="-25000" dirty="0">
                <a:solidFill>
                  <a:srgbClr val="273239"/>
                </a:solidFill>
                <a:effectLst/>
                <a:latin typeface="Times New Roman" panose="02020603050405020304" pitchFamily="18" charset="0"/>
                <a:cs typeface="Times New Roman" panose="02020603050405020304" pitchFamily="18" charset="0"/>
              </a:rPr>
              <a:t>10</a:t>
            </a:r>
            <a:r>
              <a:rPr lang="en-US" sz="1600" b="0" i="0" dirty="0">
                <a:solidFill>
                  <a:srgbClr val="273239"/>
                </a:solidFill>
                <a:effectLst/>
                <a:latin typeface="Times New Roman" panose="02020603050405020304" pitchFamily="18" charset="0"/>
                <a:cs typeface="Times New Roman" panose="02020603050405020304" pitchFamily="18" charset="0"/>
              </a:rPr>
              <a:t> = 10</a:t>
            </a:r>
            <a:r>
              <a:rPr lang="en-US" sz="1600" b="0" i="0" baseline="30000" dirty="0">
                <a:solidFill>
                  <a:srgbClr val="273239"/>
                </a:solidFill>
                <a:effectLst/>
                <a:latin typeface="Times New Roman" panose="02020603050405020304" pitchFamily="18" charset="0"/>
                <a:cs typeface="Times New Roman" panose="02020603050405020304" pitchFamily="18" charset="0"/>
              </a:rPr>
              <a:t>th</a:t>
            </a:r>
            <a:r>
              <a:rPr lang="en-US" sz="1600" b="0" i="0" dirty="0">
                <a:solidFill>
                  <a:srgbClr val="273239"/>
                </a:solidFill>
                <a:effectLst/>
                <a:latin typeface="Times New Roman" panose="02020603050405020304" pitchFamily="18" charset="0"/>
                <a:cs typeface="Times New Roman" panose="02020603050405020304" pitchFamily="18" charset="0"/>
              </a:rPr>
              <a:t> item</a:t>
            </a:r>
          </a:p>
          <a:p>
            <a:pPr algn="l" rtl="0" fontAlgn="base">
              <a:spcAft>
                <a:spcPts val="750"/>
              </a:spcAft>
            </a:pPr>
            <a:r>
              <a:rPr lang="en-US" sz="1600" b="0" i="0" dirty="0">
                <a:solidFill>
                  <a:srgbClr val="273239"/>
                </a:solidFill>
                <a:effectLst/>
                <a:latin typeface="Times New Roman" panose="02020603050405020304" pitchFamily="18" charset="0"/>
                <a:cs typeface="Times New Roman" panose="02020603050405020304" pitchFamily="18" charset="0"/>
              </a:rPr>
              <a:t>Now, the 10</a:t>
            </a:r>
            <a:r>
              <a:rPr lang="en-US" sz="1600" b="0" i="0" baseline="30000" dirty="0">
                <a:solidFill>
                  <a:srgbClr val="273239"/>
                </a:solidFill>
                <a:effectLst/>
                <a:latin typeface="Times New Roman" panose="02020603050405020304" pitchFamily="18" charset="0"/>
                <a:cs typeface="Times New Roman" panose="02020603050405020304" pitchFamily="18" charset="0"/>
              </a:rPr>
              <a:t>th</a:t>
            </a:r>
            <a:r>
              <a:rPr lang="en-US" sz="1600" b="0" i="0" dirty="0">
                <a:solidFill>
                  <a:srgbClr val="273239"/>
                </a:solidFill>
                <a:effectLst/>
                <a:latin typeface="Times New Roman" panose="02020603050405020304" pitchFamily="18" charset="0"/>
                <a:cs typeface="Times New Roman" panose="02020603050405020304" pitchFamily="18" charset="0"/>
              </a:rPr>
              <a:t> item falls under the cumulative frequency of 20 and the age against this </a:t>
            </a:r>
            <a:r>
              <a:rPr lang="en-US" sz="1600" b="0" i="0" dirty="0" err="1">
                <a:solidFill>
                  <a:srgbClr val="273239"/>
                </a:solidFill>
                <a:effectLst/>
                <a:latin typeface="Times New Roman" panose="02020603050405020304" pitchFamily="18" charset="0"/>
                <a:cs typeface="Times New Roman" panose="02020603050405020304" pitchFamily="18" charset="0"/>
              </a:rPr>
              <a:t>cf</a:t>
            </a:r>
            <a:r>
              <a:rPr lang="en-US" sz="1600" b="0" i="0" dirty="0">
                <a:solidFill>
                  <a:srgbClr val="273239"/>
                </a:solidFill>
                <a:effectLst/>
                <a:latin typeface="Times New Roman" panose="02020603050405020304" pitchFamily="18" charset="0"/>
                <a:cs typeface="Times New Roman" panose="02020603050405020304" pitchFamily="18" charset="0"/>
              </a:rPr>
              <a:t> value is 10.</a:t>
            </a:r>
          </a:p>
          <a:p>
            <a:pPr algn="l" rtl="0" fontAlgn="base">
              <a:spcAft>
                <a:spcPts val="750"/>
              </a:spcAft>
            </a:pPr>
            <a:r>
              <a:rPr lang="en-US" sz="1600" b="1" i="0" dirty="0">
                <a:solidFill>
                  <a:srgbClr val="273239"/>
                </a:solidFill>
                <a:effectLst/>
                <a:latin typeface="Times New Roman" panose="02020603050405020304" pitchFamily="18" charset="0"/>
                <a:cs typeface="Times New Roman" panose="02020603050405020304" pitchFamily="18" charset="0"/>
              </a:rPr>
              <a:t>P</a:t>
            </a:r>
            <a:r>
              <a:rPr lang="en-US" sz="1600" b="1" i="0" baseline="-25000" dirty="0">
                <a:solidFill>
                  <a:srgbClr val="273239"/>
                </a:solidFill>
                <a:effectLst/>
                <a:latin typeface="Times New Roman" panose="02020603050405020304" pitchFamily="18" charset="0"/>
                <a:cs typeface="Times New Roman" panose="02020603050405020304" pitchFamily="18" charset="0"/>
              </a:rPr>
              <a:t>10</a:t>
            </a:r>
            <a:r>
              <a:rPr lang="en-US" sz="1600" b="1" i="0" dirty="0">
                <a:solidFill>
                  <a:srgbClr val="273239"/>
                </a:solidFill>
                <a:effectLst/>
                <a:latin typeface="Times New Roman" panose="02020603050405020304" pitchFamily="18" charset="0"/>
                <a:cs typeface="Times New Roman" panose="02020603050405020304" pitchFamily="18" charset="0"/>
              </a:rPr>
              <a:t> = 10 years</a:t>
            </a:r>
            <a:endParaRPr lang="en-US" sz="1600" b="0" i="0" dirty="0">
              <a:solidFill>
                <a:srgbClr val="273239"/>
              </a:solidFill>
              <a:effectLst/>
              <a:latin typeface="Times New Roman" panose="02020603050405020304" pitchFamily="18" charset="0"/>
              <a:cs typeface="Times New Roman" panose="02020603050405020304" pitchFamily="18" charset="0"/>
            </a:endParaRPr>
          </a:p>
          <a:p>
            <a:pPr algn="l" rtl="0" fontAlgn="base">
              <a:spcAft>
                <a:spcPts val="750"/>
              </a:spcAft>
            </a:pPr>
            <a:r>
              <a:rPr lang="en-US" sz="1600" b="0" i="0" dirty="0">
                <a:solidFill>
                  <a:srgbClr val="273239"/>
                </a:solidFill>
                <a:effectLst/>
                <a:latin typeface="Times New Roman" panose="02020603050405020304" pitchFamily="18" charset="0"/>
                <a:cs typeface="Times New Roman" panose="02020603050405020304" pitchFamily="18" charset="0"/>
              </a:rPr>
              <a:t>P</a:t>
            </a:r>
            <a:r>
              <a:rPr lang="en-US" sz="1600" b="0" i="0" baseline="-25000" dirty="0">
                <a:solidFill>
                  <a:srgbClr val="273239"/>
                </a:solidFill>
                <a:effectLst/>
                <a:latin typeface="Times New Roman" panose="02020603050405020304" pitchFamily="18" charset="0"/>
                <a:cs typeface="Times New Roman" panose="02020603050405020304" pitchFamily="18" charset="0"/>
              </a:rPr>
              <a:t>75</a:t>
            </a:r>
            <a:r>
              <a:rPr lang="en-US" sz="1600" b="0" i="0" dirty="0">
                <a:solidFill>
                  <a:srgbClr val="273239"/>
                </a:solidFill>
                <a:effectLst/>
                <a:latin typeface="Times New Roman" panose="02020603050405020304" pitchFamily="18" charset="0"/>
                <a:cs typeface="Times New Roman" panose="02020603050405020304" pitchFamily="18" charset="0"/>
              </a:rPr>
              <a:t> = 75</a:t>
            </a:r>
            <a:r>
              <a:rPr lang="en-US" sz="1600" b="0" i="0" baseline="30000" dirty="0">
                <a:solidFill>
                  <a:srgbClr val="273239"/>
                </a:solidFill>
                <a:effectLst/>
                <a:latin typeface="Times New Roman" panose="02020603050405020304" pitchFamily="18" charset="0"/>
                <a:cs typeface="Times New Roman" panose="02020603050405020304" pitchFamily="18" charset="0"/>
              </a:rPr>
              <a:t>th</a:t>
            </a:r>
            <a:r>
              <a:rPr lang="en-US" sz="1600" b="0" i="0" dirty="0">
                <a:solidFill>
                  <a:srgbClr val="273239"/>
                </a:solidFill>
                <a:effectLst/>
                <a:latin typeface="Times New Roman" panose="02020603050405020304" pitchFamily="18" charset="0"/>
                <a:cs typeface="Times New Roman" panose="02020603050405020304" pitchFamily="18" charset="0"/>
              </a:rPr>
              <a:t> item</a:t>
            </a:r>
          </a:p>
          <a:p>
            <a:pPr algn="just" rtl="0" fontAlgn="base">
              <a:spcAft>
                <a:spcPts val="750"/>
              </a:spcAft>
            </a:pPr>
            <a:r>
              <a:rPr lang="en-US" sz="1600" b="0" i="0" dirty="0">
                <a:solidFill>
                  <a:srgbClr val="273239"/>
                </a:solidFill>
                <a:effectLst/>
                <a:latin typeface="Times New Roman" panose="02020603050405020304" pitchFamily="18" charset="0"/>
                <a:cs typeface="Times New Roman" panose="02020603050405020304" pitchFamily="18" charset="0"/>
              </a:rPr>
              <a:t>Now, the 75</a:t>
            </a:r>
            <a:r>
              <a:rPr lang="en-US" sz="1600" b="0" i="0" baseline="30000" dirty="0">
                <a:solidFill>
                  <a:srgbClr val="273239"/>
                </a:solidFill>
                <a:effectLst/>
                <a:latin typeface="Times New Roman" panose="02020603050405020304" pitchFamily="18" charset="0"/>
                <a:cs typeface="Times New Roman" panose="02020603050405020304" pitchFamily="18" charset="0"/>
              </a:rPr>
              <a:t>th</a:t>
            </a:r>
            <a:r>
              <a:rPr lang="en-US" sz="1600" b="0" i="0" dirty="0">
                <a:solidFill>
                  <a:srgbClr val="273239"/>
                </a:solidFill>
                <a:effectLst/>
                <a:latin typeface="Times New Roman" panose="02020603050405020304" pitchFamily="18" charset="0"/>
                <a:cs typeface="Times New Roman" panose="02020603050405020304" pitchFamily="18" charset="0"/>
              </a:rPr>
              <a:t> item falls under the cumulative frequency of 85 and the age against this </a:t>
            </a:r>
            <a:r>
              <a:rPr lang="en-US" sz="1600" b="0" i="0" dirty="0" err="1">
                <a:solidFill>
                  <a:srgbClr val="273239"/>
                </a:solidFill>
                <a:effectLst/>
                <a:latin typeface="Times New Roman" panose="02020603050405020304" pitchFamily="18" charset="0"/>
                <a:cs typeface="Times New Roman" panose="02020603050405020304" pitchFamily="18" charset="0"/>
              </a:rPr>
              <a:t>cf</a:t>
            </a:r>
            <a:r>
              <a:rPr lang="en-US" sz="1600" b="0" i="0" dirty="0">
                <a:solidFill>
                  <a:srgbClr val="273239"/>
                </a:solidFill>
                <a:effectLst/>
                <a:latin typeface="Times New Roman" panose="02020603050405020304" pitchFamily="18" charset="0"/>
                <a:cs typeface="Times New Roman" panose="02020603050405020304" pitchFamily="18" charset="0"/>
              </a:rPr>
              <a:t> value is 40.</a:t>
            </a:r>
          </a:p>
          <a:p>
            <a:pPr algn="l" rtl="0" fontAlgn="base">
              <a:spcAft>
                <a:spcPts val="750"/>
              </a:spcAft>
            </a:pPr>
            <a:r>
              <a:rPr lang="en-US" sz="1600" b="1" i="0" dirty="0">
                <a:solidFill>
                  <a:srgbClr val="273239"/>
                </a:solidFill>
                <a:effectLst/>
                <a:latin typeface="Times New Roman" panose="02020603050405020304" pitchFamily="18" charset="0"/>
                <a:cs typeface="Times New Roman" panose="02020603050405020304" pitchFamily="18" charset="0"/>
              </a:rPr>
              <a:t>P</a:t>
            </a:r>
            <a:r>
              <a:rPr lang="en-US" sz="1600" b="1" i="0" baseline="-25000" dirty="0">
                <a:solidFill>
                  <a:srgbClr val="273239"/>
                </a:solidFill>
                <a:effectLst/>
                <a:latin typeface="Times New Roman" panose="02020603050405020304" pitchFamily="18" charset="0"/>
                <a:cs typeface="Times New Roman" panose="02020603050405020304" pitchFamily="18" charset="0"/>
              </a:rPr>
              <a:t>75 </a:t>
            </a:r>
            <a:r>
              <a:rPr lang="en-US" sz="1600" b="1" i="0" dirty="0">
                <a:solidFill>
                  <a:srgbClr val="273239"/>
                </a:solidFill>
                <a:effectLst/>
                <a:latin typeface="Times New Roman" panose="02020603050405020304" pitchFamily="18" charset="0"/>
                <a:cs typeface="Times New Roman" panose="02020603050405020304" pitchFamily="18" charset="0"/>
              </a:rPr>
              <a:t>= 40 years</a:t>
            </a:r>
            <a:endParaRPr lang="en-US" sz="1600" b="0" i="0" dirty="0">
              <a:solidFill>
                <a:srgbClr val="273239"/>
              </a:solidFill>
              <a:effectLst/>
              <a:latin typeface="Times New Roman" panose="02020603050405020304" pitchFamily="18" charset="0"/>
              <a:cs typeface="Times New Roman" panose="02020603050405020304" pitchFamily="18" charset="0"/>
            </a:endParaRPr>
          </a:p>
        </p:txBody>
      </p:sp>
      <p:pic>
        <p:nvPicPr>
          <p:cNvPr id="3082" name="Picture 10" descr="Percentiles">
            <a:extLst>
              <a:ext uri="{FF2B5EF4-FFF2-40B4-BE49-F238E27FC236}">
                <a16:creationId xmlns:a16="http://schemas.microsoft.com/office/drawing/2014/main" id="{106EE1BC-4754-4751-A28F-1DC3E1B205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2026" y="407504"/>
            <a:ext cx="4959626" cy="24591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640948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9143771" cy="51390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1013"/>
          </a:p>
        </p:txBody>
      </p:sp>
      <p:sp>
        <p:nvSpPr>
          <p:cNvPr id="15" name="Rectangle 14">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9" y="0"/>
            <a:ext cx="914377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1013"/>
          </a:p>
        </p:txBody>
      </p:sp>
      <p:sp>
        <p:nvSpPr>
          <p:cNvPr id="6" name="Title 5">
            <a:extLst>
              <a:ext uri="{FF2B5EF4-FFF2-40B4-BE49-F238E27FC236}">
                <a16:creationId xmlns:a16="http://schemas.microsoft.com/office/drawing/2014/main" id="{F7CF0DBA-A9A4-A51B-45C3-26346C064E89}"/>
              </a:ext>
            </a:extLst>
          </p:cNvPr>
          <p:cNvSpPr>
            <a:spLocks noGrp="1"/>
          </p:cNvSpPr>
          <p:nvPr>
            <p:ph type="title" idx="4294967295"/>
          </p:nvPr>
        </p:nvSpPr>
        <p:spPr>
          <a:xfrm>
            <a:off x="4675817" y="1602685"/>
            <a:ext cx="4212831" cy="1274693"/>
          </a:xfrm>
        </p:spPr>
        <p:txBody>
          <a:bodyPr vert="horz" lIns="68580" tIns="34290" rIns="68580" bIns="34290" rtlCol="0" anchor="t">
            <a:norm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l" rtl="0">
              <a:lnSpc>
                <a:spcPct val="100000"/>
              </a:lnSpc>
              <a:spcBef>
                <a:spcPts val="0"/>
              </a:spcBef>
              <a:spcAft>
                <a:spcPts val="0"/>
              </a:spcAft>
              <a:buClr>
                <a:schemeClr val="dk1"/>
              </a:buClr>
              <a:buSzPts val="4000"/>
              <a:buFont typeface="Calibri"/>
              <a:buNone/>
            </a:pPr>
            <a:r>
              <a:rPr lang="en-IN" sz="3200" b="1" i="0" u="none" dirty="0">
                <a:solidFill>
                  <a:srgbClr val="FF0000"/>
                </a:solidFill>
                <a:latin typeface="Times New Roman" panose="02020603050405020304" pitchFamily="18" charset="0"/>
                <a:cs typeface="Times New Roman" panose="02020603050405020304" pitchFamily="18" charset="0"/>
              </a:rPr>
              <a:t>Data Visualization</a:t>
            </a:r>
            <a:endParaRPr lang="en-IN" sz="3200" dirty="0">
              <a:solidFill>
                <a:srgbClr val="FF0000"/>
              </a:solidFill>
              <a:latin typeface="Times New Roman" panose="02020603050405020304" pitchFamily="18" charset="0"/>
              <a:cs typeface="Times New Roman" panose="02020603050405020304" pitchFamily="18" charset="0"/>
            </a:endParaRPr>
          </a:p>
        </p:txBody>
      </p:sp>
      <p:pic>
        <p:nvPicPr>
          <p:cNvPr id="10" name="Graphic 9" descr="Bar chart">
            <a:extLst>
              <a:ext uri="{FF2B5EF4-FFF2-40B4-BE49-F238E27FC236}">
                <a16:creationId xmlns:a16="http://schemas.microsoft.com/office/drawing/2014/main" id="{998CBD09-87DB-831C-0F6D-FF88B4D38D3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5353" y="1361490"/>
            <a:ext cx="3106320" cy="310632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7" name="Group 16">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89" y="-4482"/>
            <a:ext cx="4679006" cy="5147984"/>
            <a:chOff x="305" y="-5977"/>
            <a:chExt cx="6238675" cy="6863979"/>
          </a:xfrm>
        </p:grpSpPr>
        <p:sp>
          <p:nvSpPr>
            <p:cNvPr id="18" name="Freeform: Shape 17">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1013" dirty="0"/>
            </a:p>
          </p:txBody>
        </p:sp>
        <p:sp>
          <p:nvSpPr>
            <p:cNvPr id="19" name="Freeform: Shape 18">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1013" dirty="0"/>
            </a:p>
          </p:txBody>
        </p:sp>
        <p:sp>
          <p:nvSpPr>
            <p:cNvPr id="20" name="Freeform: Shape 19">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1013" dirty="0"/>
            </a:p>
          </p:txBody>
        </p:sp>
      </p:grpSp>
    </p:spTree>
    <p:extLst>
      <p:ext uri="{BB962C8B-B14F-4D97-AF65-F5344CB8AC3E}">
        <p14:creationId xmlns:p14="http://schemas.microsoft.com/office/powerpoint/2010/main" val="324513867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descr="Difference Between Histogram And Bar Graph">
            <a:extLst>
              <a:ext uri="{FF2B5EF4-FFF2-40B4-BE49-F238E27FC236}">
                <a16:creationId xmlns:a16="http://schemas.microsoft.com/office/drawing/2014/main" id="{D4497599-8086-4A11-6461-A927C8200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8325" y="609600"/>
            <a:ext cx="5467350" cy="3924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111079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g2f8676bec87_2_140"/>
          <p:cNvSpPr txBox="1">
            <a:spLocks noGrp="1"/>
          </p:cNvSpPr>
          <p:nvPr>
            <p:ph type="title"/>
          </p:nvPr>
        </p:nvSpPr>
        <p:spPr>
          <a:xfrm>
            <a:off x="145250" y="245275"/>
            <a:ext cx="8520600" cy="789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400"/>
              </a:spcAft>
              <a:buClr>
                <a:schemeClr val="dk1"/>
              </a:buClr>
              <a:buSzPts val="1100"/>
              <a:buFont typeface="Arial"/>
              <a:buNone/>
            </a:pPr>
            <a:r>
              <a:rPr lang="en" sz="3600" b="1" dirty="0">
                <a:solidFill>
                  <a:srgbClr val="FF0000"/>
                </a:solidFill>
                <a:latin typeface="Times New Roman" panose="02020603050405020304" pitchFamily="18" charset="0"/>
                <a:cs typeface="Times New Roman" panose="02020603050405020304" pitchFamily="18" charset="0"/>
              </a:rPr>
              <a:t>Data Visualization: Histogram</a:t>
            </a:r>
            <a:endParaRPr sz="3600" dirty="0">
              <a:solidFill>
                <a:srgbClr val="FF0000"/>
              </a:solidFill>
              <a:latin typeface="Times New Roman" panose="02020603050405020304" pitchFamily="18" charset="0"/>
              <a:cs typeface="Times New Roman" panose="02020603050405020304" pitchFamily="18" charset="0"/>
            </a:endParaRPr>
          </a:p>
        </p:txBody>
      </p:sp>
      <p:sp>
        <p:nvSpPr>
          <p:cNvPr id="234" name="Google Shape;234;g2f8676bec87_2_140"/>
          <p:cNvSpPr txBox="1">
            <a:spLocks noGrp="1"/>
          </p:cNvSpPr>
          <p:nvPr>
            <p:ph type="body" idx="1"/>
          </p:nvPr>
        </p:nvSpPr>
        <p:spPr>
          <a:xfrm>
            <a:off x="311700" y="1192697"/>
            <a:ext cx="7818509" cy="3705528"/>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15000"/>
              </a:lnSpc>
              <a:spcBef>
                <a:spcPts val="1400"/>
              </a:spcBef>
              <a:spcAft>
                <a:spcPts val="0"/>
              </a:spcAft>
              <a:buSzPct val="221538"/>
              <a:buNone/>
            </a:pPr>
            <a:endParaRPr lang="en-IN" sz="1300" b="1" dirty="0">
              <a:solidFill>
                <a:schemeClr val="dk1"/>
              </a:solidFill>
            </a:endParaRPr>
          </a:p>
          <a:p>
            <a:pPr marL="457200" lvl="0" indent="-357599" algn="l" rtl="0">
              <a:lnSpc>
                <a:spcPct val="150000"/>
              </a:lnSpc>
              <a:spcBef>
                <a:spcPts val="1200"/>
              </a:spcBef>
              <a:spcAft>
                <a:spcPts val="0"/>
              </a:spcAft>
              <a:buClr>
                <a:schemeClr val="dk1"/>
              </a:buClr>
              <a:buSzPct val="100000"/>
              <a:buChar char="●"/>
            </a:pPr>
            <a:r>
              <a:rPr lang="en" sz="3250" b="1" dirty="0">
                <a:solidFill>
                  <a:schemeClr val="dk1"/>
                </a:solidFill>
                <a:latin typeface="Times New Roman" panose="02020603050405020304" pitchFamily="18" charset="0"/>
                <a:cs typeface="Times New Roman" panose="02020603050405020304" pitchFamily="18" charset="0"/>
              </a:rPr>
              <a:t>Definition</a:t>
            </a:r>
            <a:r>
              <a:rPr lang="en" sz="3250" dirty="0">
                <a:solidFill>
                  <a:schemeClr val="dk1"/>
                </a:solidFill>
                <a:latin typeface="Times New Roman" panose="02020603050405020304" pitchFamily="18" charset="0"/>
                <a:cs typeface="Times New Roman" panose="02020603050405020304" pitchFamily="18" charset="0"/>
              </a:rPr>
              <a:t>: A </a:t>
            </a:r>
            <a:r>
              <a:rPr lang="en" sz="3250" b="1" dirty="0">
                <a:solidFill>
                  <a:schemeClr val="dk1"/>
                </a:solidFill>
                <a:latin typeface="Times New Roman" panose="02020603050405020304" pitchFamily="18" charset="0"/>
                <a:cs typeface="Times New Roman" panose="02020603050405020304" pitchFamily="18" charset="0"/>
              </a:rPr>
              <a:t>histogram</a:t>
            </a:r>
            <a:r>
              <a:rPr lang="en" sz="3250" dirty="0">
                <a:solidFill>
                  <a:schemeClr val="dk1"/>
                </a:solidFill>
                <a:latin typeface="Times New Roman" panose="02020603050405020304" pitchFamily="18" charset="0"/>
                <a:cs typeface="Times New Roman" panose="02020603050405020304" pitchFamily="18" charset="0"/>
              </a:rPr>
              <a:t> is a graphical representation of the distribution of numerical data. It is similar to a bar chart but specifically used for quantitative data that is divided into ranges (also called bins or intervals). Histograms are essential for visualizing the frequency of data points in each range, helping to understand the shape and spread of the data distribution.</a:t>
            </a:r>
            <a:endParaRPr sz="3250" dirty="0">
              <a:solidFill>
                <a:schemeClr val="dk1"/>
              </a:solidFill>
              <a:latin typeface="Times New Roman" panose="02020603050405020304" pitchFamily="18" charset="0"/>
              <a:cs typeface="Times New Roman" panose="02020603050405020304" pitchFamily="18" charset="0"/>
            </a:endParaRPr>
          </a:p>
          <a:p>
            <a:pPr marL="0" lvl="0" indent="0" algn="l" rtl="0">
              <a:lnSpc>
                <a:spcPct val="150000"/>
              </a:lnSpc>
              <a:spcBef>
                <a:spcPts val="0"/>
              </a:spcBef>
              <a:spcAft>
                <a:spcPts val="1200"/>
              </a:spcAft>
              <a:buSzPct val="88615"/>
              <a:buNone/>
            </a:pPr>
            <a:endParaRPr sz="32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g2f8676bec87_2_145"/>
          <p:cNvSpPr txBox="1"/>
          <p:nvPr/>
        </p:nvSpPr>
        <p:spPr>
          <a:xfrm>
            <a:off x="0" y="0"/>
            <a:ext cx="9144000" cy="50631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1400"/>
              </a:spcBef>
              <a:spcAft>
                <a:spcPts val="0"/>
              </a:spcAft>
              <a:buClr>
                <a:srgbClr val="000000"/>
              </a:buClr>
              <a:buSzPts val="3600"/>
              <a:buFont typeface="Arial"/>
              <a:buNone/>
            </a:pPr>
            <a:r>
              <a:rPr lang="en" sz="3600" b="1" i="0" u="none" strike="noStrike" cap="none" dirty="0">
                <a:solidFill>
                  <a:srgbClr val="FF0000"/>
                </a:solidFill>
                <a:latin typeface="Times New Roman" panose="02020603050405020304" pitchFamily="18" charset="0"/>
                <a:cs typeface="Times New Roman" panose="02020603050405020304" pitchFamily="18" charset="0"/>
                <a:sym typeface="Arial"/>
              </a:rPr>
              <a:t>Key Concepts Related to Histograms</a:t>
            </a:r>
            <a:endParaRPr sz="3600" b="1" i="0" u="none" strike="noStrike" cap="none" dirty="0">
              <a:solidFill>
                <a:srgbClr val="FF0000"/>
              </a:solidFill>
              <a:latin typeface="Times New Roman" panose="02020603050405020304" pitchFamily="18" charset="0"/>
              <a:cs typeface="Times New Roman" panose="02020603050405020304" pitchFamily="18" charset="0"/>
              <a:sym typeface="Arial"/>
            </a:endParaRPr>
          </a:p>
          <a:p>
            <a:pPr marL="457200" marR="0" lvl="0" indent="-381000" algn="l" rtl="0">
              <a:lnSpc>
                <a:spcPct val="115000"/>
              </a:lnSpc>
              <a:spcBef>
                <a:spcPts val="1400"/>
              </a:spcBef>
              <a:spcAft>
                <a:spcPts val="0"/>
              </a:spcAft>
              <a:buClr>
                <a:schemeClr val="dk1"/>
              </a:buClr>
              <a:buSzPts val="2400"/>
              <a:buFont typeface="Arial"/>
              <a:buChar char="●"/>
            </a:pPr>
            <a:r>
              <a:rPr lang="en" sz="2400" b="1" i="0" u="none" strike="noStrike" cap="none" dirty="0">
                <a:solidFill>
                  <a:schemeClr val="dk1"/>
                </a:solidFill>
                <a:latin typeface="Times New Roman" panose="02020603050405020304" pitchFamily="18" charset="0"/>
                <a:cs typeface="Times New Roman" panose="02020603050405020304" pitchFamily="18" charset="0"/>
                <a:sym typeface="Arial"/>
              </a:rPr>
              <a:t>Bins (Intervals)</a:t>
            </a:r>
            <a:endParaRPr sz="2400" b="1" i="0" u="none" strike="noStrike" cap="none" dirty="0">
              <a:solidFill>
                <a:schemeClr val="dk1"/>
              </a:solidFill>
              <a:latin typeface="Times New Roman" panose="02020603050405020304" pitchFamily="18" charset="0"/>
              <a:cs typeface="Times New Roman" panose="02020603050405020304" pitchFamily="18" charset="0"/>
              <a:sym typeface="Arial"/>
            </a:endParaRPr>
          </a:p>
          <a:p>
            <a:pPr marL="0" marR="0" lvl="0" indent="0" algn="l" rtl="0">
              <a:lnSpc>
                <a:spcPct val="115000"/>
              </a:lnSpc>
              <a:spcBef>
                <a:spcPts val="1200"/>
              </a:spcBef>
              <a:spcAft>
                <a:spcPts val="0"/>
              </a:spcAft>
              <a:buClr>
                <a:srgbClr val="000000"/>
              </a:buClr>
              <a:buSzPts val="2400"/>
              <a:buFont typeface="Arial"/>
              <a:buNone/>
            </a:pPr>
            <a:r>
              <a:rPr lang="en" sz="2400" b="1" i="0" u="none" strike="noStrike" cap="none" dirty="0">
                <a:solidFill>
                  <a:schemeClr val="dk1"/>
                </a:solidFill>
                <a:latin typeface="Times New Roman" panose="02020603050405020304" pitchFamily="18" charset="0"/>
                <a:cs typeface="Times New Roman" panose="02020603050405020304" pitchFamily="18" charset="0"/>
                <a:sym typeface="Arial"/>
              </a:rPr>
              <a:t>Definition</a:t>
            </a:r>
            <a:r>
              <a:rPr lang="en" sz="2400" b="0" i="0" u="none" strike="noStrike" cap="none" dirty="0">
                <a:solidFill>
                  <a:schemeClr val="dk1"/>
                </a:solidFill>
                <a:latin typeface="Times New Roman" panose="02020603050405020304" pitchFamily="18" charset="0"/>
                <a:cs typeface="Times New Roman" panose="02020603050405020304" pitchFamily="18" charset="0"/>
                <a:sym typeface="Arial"/>
              </a:rPr>
              <a:t>: A </a:t>
            </a:r>
            <a:r>
              <a:rPr lang="en" sz="2400" b="1" i="0" u="none" strike="noStrike" cap="none" dirty="0">
                <a:solidFill>
                  <a:schemeClr val="dk1"/>
                </a:solidFill>
                <a:latin typeface="Times New Roman" panose="02020603050405020304" pitchFamily="18" charset="0"/>
                <a:cs typeface="Times New Roman" panose="02020603050405020304" pitchFamily="18" charset="0"/>
                <a:sym typeface="Arial"/>
              </a:rPr>
              <a:t>bin</a:t>
            </a:r>
            <a:r>
              <a:rPr lang="en" sz="2400" b="0" i="0" u="none" strike="noStrike" cap="none" dirty="0">
                <a:solidFill>
                  <a:schemeClr val="dk1"/>
                </a:solidFill>
                <a:latin typeface="Times New Roman" panose="02020603050405020304" pitchFamily="18" charset="0"/>
                <a:cs typeface="Times New Roman" panose="02020603050405020304" pitchFamily="18" charset="0"/>
                <a:sym typeface="Arial"/>
              </a:rPr>
              <a:t> is a continuous range of values within which data points are grouped together. Each bin represents a specific interval of values, and the height of the bar for each bin shows the number of data points (or frequency) that fall within that range.</a:t>
            </a:r>
            <a:endParaRPr lang="en-IN" sz="2400" b="0" i="0" u="none" strike="noStrike" cap="none" dirty="0">
              <a:solidFill>
                <a:schemeClr val="dk1"/>
              </a:solidFill>
              <a:latin typeface="Times New Roman" panose="02020603050405020304" pitchFamily="18" charset="0"/>
              <a:cs typeface="Times New Roman" panose="02020603050405020304" pitchFamily="18" charset="0"/>
              <a:sym typeface="Arial"/>
            </a:endParaRPr>
          </a:p>
          <a:p>
            <a:pPr marL="0" marR="0" lvl="0" indent="0" algn="l" rtl="0">
              <a:lnSpc>
                <a:spcPct val="115000"/>
              </a:lnSpc>
              <a:spcBef>
                <a:spcPts val="1200"/>
              </a:spcBef>
              <a:spcAft>
                <a:spcPts val="0"/>
              </a:spcAft>
              <a:buClr>
                <a:srgbClr val="000000"/>
              </a:buClr>
              <a:buSzPts val="2400"/>
              <a:buFont typeface="Arial"/>
              <a:buNone/>
            </a:pPr>
            <a:endParaRPr lang="en-IN" sz="2400" b="0" i="0" u="none" strike="noStrike" cap="none" dirty="0">
              <a:solidFill>
                <a:schemeClr val="dk1"/>
              </a:solidFill>
              <a:latin typeface="Times New Roman" panose="02020603050405020304" pitchFamily="18" charset="0"/>
              <a:cs typeface="Times New Roman" panose="02020603050405020304" pitchFamily="18" charset="0"/>
              <a:sym typeface="Arial"/>
            </a:endParaRPr>
          </a:p>
          <a:p>
            <a:pPr marL="0" marR="0" lvl="0" indent="0" algn="l" rtl="0">
              <a:lnSpc>
                <a:spcPct val="115000"/>
              </a:lnSpc>
              <a:spcBef>
                <a:spcPts val="1200"/>
              </a:spcBef>
              <a:spcAft>
                <a:spcPts val="1200"/>
              </a:spcAft>
              <a:buClr>
                <a:srgbClr val="000000"/>
              </a:buClr>
              <a:buSzPts val="2400"/>
              <a:buFont typeface="Arial"/>
              <a:buNone/>
            </a:pPr>
            <a:r>
              <a:rPr lang="en" sz="2400" b="1" i="0" u="none" strike="noStrike" cap="none" dirty="0">
                <a:solidFill>
                  <a:schemeClr val="dk1"/>
                </a:solidFill>
                <a:latin typeface="Times New Roman" panose="02020603050405020304" pitchFamily="18" charset="0"/>
                <a:cs typeface="Times New Roman" panose="02020603050405020304" pitchFamily="18" charset="0"/>
                <a:sym typeface="Arial"/>
              </a:rPr>
              <a:t>Example</a:t>
            </a:r>
            <a:r>
              <a:rPr lang="en" sz="2400" b="0" i="0" u="none" strike="noStrike" cap="none" dirty="0">
                <a:solidFill>
                  <a:schemeClr val="dk1"/>
                </a:solidFill>
                <a:latin typeface="Times New Roman" panose="02020603050405020304" pitchFamily="18" charset="0"/>
                <a:cs typeface="Times New Roman" panose="02020603050405020304" pitchFamily="18" charset="0"/>
                <a:sym typeface="Arial"/>
              </a:rPr>
              <a:t>: If you're analyzing the test scores of students (0-100), bins could be set at intervals of 10 (0-10, 11-20, 21-30, etc.).</a:t>
            </a:r>
            <a:endParaRPr sz="2400" b="0" i="0" u="none" strike="noStrike" cap="none" dirty="0">
              <a:solidFill>
                <a:schemeClr val="dk1"/>
              </a:solidFill>
              <a:latin typeface="Times New Roman" panose="02020603050405020304" pitchFamily="18" charset="0"/>
              <a:cs typeface="Times New Roman" panose="02020603050405020304" pitchFamily="18" charset="0"/>
              <a:sym typeface="Arial"/>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g2f8676bec87_2_158"/>
          <p:cNvSpPr txBox="1"/>
          <p:nvPr/>
        </p:nvSpPr>
        <p:spPr>
          <a:xfrm>
            <a:off x="179350" y="195275"/>
            <a:ext cx="76623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 sz="3600" b="1" i="0" u="none" dirty="0">
                <a:solidFill>
                  <a:srgbClr val="FF0000"/>
                </a:solidFill>
                <a:latin typeface="Arial"/>
                <a:ea typeface="Arial"/>
                <a:cs typeface="Arial"/>
                <a:sym typeface="Arial"/>
              </a:rPr>
              <a:t>Frequency Distributions</a:t>
            </a:r>
            <a:endParaRPr sz="3600" dirty="0">
              <a:solidFill>
                <a:srgbClr val="FF0000"/>
              </a:solidFill>
            </a:endParaRPr>
          </a:p>
        </p:txBody>
      </p:sp>
      <p:sp>
        <p:nvSpPr>
          <p:cNvPr id="245" name="Google Shape;245;g2f8676bec87_2_158"/>
          <p:cNvSpPr txBox="1"/>
          <p:nvPr/>
        </p:nvSpPr>
        <p:spPr>
          <a:xfrm>
            <a:off x="468300" y="1153002"/>
            <a:ext cx="8136000" cy="1508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800"/>
              <a:buFont typeface="Times New Roman"/>
              <a:buNone/>
            </a:pPr>
            <a:endParaRPr sz="2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2800"/>
              <a:buFont typeface="Times New Roman"/>
              <a:buNone/>
            </a:pPr>
            <a:r>
              <a:rPr lang="en" sz="2300" b="0" i="0" u="none">
                <a:solidFill>
                  <a:schemeClr val="dk1"/>
                </a:solidFill>
                <a:latin typeface="Times New Roman"/>
                <a:ea typeface="Times New Roman"/>
                <a:cs typeface="Times New Roman"/>
                <a:sym typeface="Times New Roman"/>
              </a:rPr>
              <a:t>To construct a frequency distribution, we must divide the range of the data into intervals, which are usually called class intervals, cells, or bins.</a:t>
            </a:r>
            <a:endParaRPr sz="2300"/>
          </a:p>
        </p:txBody>
      </p:sp>
      <p:sp>
        <p:nvSpPr>
          <p:cNvPr id="246" name="Google Shape;246;g2f8676bec87_2_158"/>
          <p:cNvSpPr txBox="1"/>
          <p:nvPr/>
        </p:nvSpPr>
        <p:spPr>
          <a:xfrm>
            <a:off x="493700" y="2942877"/>
            <a:ext cx="7920000" cy="800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 sz="2300" b="0" i="0" u="none">
                <a:solidFill>
                  <a:schemeClr val="dk1"/>
                </a:solidFill>
                <a:latin typeface="Times New Roman"/>
                <a:ea typeface="Times New Roman"/>
                <a:cs typeface="Times New Roman"/>
                <a:sym typeface="Times New Roman"/>
              </a:rPr>
              <a:t>Choosing the number of bins approximately equal to the square root of the number of observations often works well in practice</a:t>
            </a:r>
            <a:endParaRPr sz="230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86449E-6340-DC1C-CC60-E251EB397687}"/>
              </a:ext>
            </a:extLst>
          </p:cNvPr>
          <p:cNvSpPr txBox="1"/>
          <p:nvPr/>
        </p:nvSpPr>
        <p:spPr>
          <a:xfrm>
            <a:off x="186358" y="149087"/>
            <a:ext cx="8736496" cy="4293483"/>
          </a:xfrm>
          <a:prstGeom prst="rect">
            <a:avLst/>
          </a:prstGeom>
          <a:no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100" dirty="0">
                <a:solidFill>
                  <a:srgbClr val="FF0000"/>
                </a:solidFill>
                <a:latin typeface="Times New Roman" panose="02020603050405020304" pitchFamily="18" charset="0"/>
                <a:cs typeface="Times New Roman" panose="02020603050405020304" pitchFamily="18" charset="0"/>
              </a:rPr>
              <a:t>Some of the important features of histograms. </a:t>
            </a:r>
          </a:p>
          <a:p>
            <a:r>
              <a:rPr lang="en-US" sz="2100" dirty="0">
                <a:latin typeface="Times New Roman" panose="02020603050405020304" pitchFamily="18" charset="0"/>
                <a:cs typeface="Times New Roman" panose="02020603050405020304" pitchFamily="18" charset="0"/>
              </a:rPr>
              <a:t>■ Equal units along the horizontal axis (the X axis, or abscissa) reflect the various class intervals of the frequency distribution.</a:t>
            </a:r>
          </a:p>
          <a:p>
            <a:endParaRPr lang="en-US" sz="2100" dirty="0">
              <a:latin typeface="Times New Roman" panose="02020603050405020304" pitchFamily="18" charset="0"/>
              <a:cs typeface="Times New Roman" panose="02020603050405020304" pitchFamily="18" charset="0"/>
            </a:endParaRPr>
          </a:p>
          <a:p>
            <a:r>
              <a:rPr lang="en-US" sz="2100" dirty="0">
                <a:latin typeface="Times New Roman" panose="02020603050405020304" pitchFamily="18" charset="0"/>
                <a:cs typeface="Times New Roman" panose="02020603050405020304" pitchFamily="18" charset="0"/>
              </a:rPr>
              <a:t>■ Equal units along the vertical axis (the Y axis, or ordinate) reflect increases in frequency. (The units along the vertical axis do not have to be the same width as those along the horizontal axis.) </a:t>
            </a:r>
          </a:p>
          <a:p>
            <a:endParaRPr lang="en-US" sz="2100" dirty="0">
              <a:latin typeface="Times New Roman" panose="02020603050405020304" pitchFamily="18" charset="0"/>
              <a:cs typeface="Times New Roman" panose="02020603050405020304" pitchFamily="18" charset="0"/>
            </a:endParaRPr>
          </a:p>
          <a:p>
            <a:r>
              <a:rPr lang="en-US" sz="2100" dirty="0">
                <a:latin typeface="Times New Roman" panose="02020603050405020304" pitchFamily="18" charset="0"/>
                <a:cs typeface="Times New Roman" panose="02020603050405020304" pitchFamily="18" charset="0"/>
              </a:rPr>
              <a:t>■ The intersection of the two axes defines the origin at which both numerical scales equal 0</a:t>
            </a:r>
          </a:p>
          <a:p>
            <a:endParaRPr lang="en-US" sz="2100" dirty="0">
              <a:latin typeface="Times New Roman" panose="02020603050405020304" pitchFamily="18" charset="0"/>
              <a:cs typeface="Times New Roman" panose="02020603050405020304" pitchFamily="18" charset="0"/>
            </a:endParaRPr>
          </a:p>
          <a:p>
            <a:r>
              <a:rPr lang="en-US" sz="2100" dirty="0">
                <a:latin typeface="Times New Roman" panose="02020603050405020304" pitchFamily="18" charset="0"/>
                <a:cs typeface="Times New Roman" panose="02020603050405020304" pitchFamily="18" charset="0"/>
              </a:rPr>
              <a:t>■ It is considered good practice to use wiggly lines to highlight breaks in scale</a:t>
            </a:r>
          </a:p>
          <a:p>
            <a:endParaRPr lang="en-IN"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813860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g2f8676bec87_2_149"/>
          <p:cNvSpPr txBox="1">
            <a:spLocks noGrp="1"/>
          </p:cNvSpPr>
          <p:nvPr>
            <p:ph type="body" idx="4294967295"/>
          </p:nvPr>
        </p:nvSpPr>
        <p:spPr>
          <a:xfrm>
            <a:off x="311700" y="85975"/>
            <a:ext cx="8520600" cy="5057400"/>
          </a:xfrm>
          <a:prstGeom prst="rect">
            <a:avLst/>
          </a:prstGeom>
          <a:noFill/>
          <a:ln>
            <a:noFill/>
          </a:ln>
        </p:spPr>
        <p:txBody>
          <a:bodyPr spcFirstLastPara="1" wrap="square" lIns="91425" tIns="91425" rIns="91425" bIns="91425" anchor="t" anchorCtr="0">
            <a:noAutofit/>
          </a:bodyPr>
          <a:lstStyle/>
          <a:p>
            <a:pPr marL="457200" lvl="0" indent="-457200" algn="l" rtl="0">
              <a:lnSpc>
                <a:spcPct val="115000"/>
              </a:lnSpc>
              <a:spcBef>
                <a:spcPts val="1200"/>
              </a:spcBef>
              <a:spcAft>
                <a:spcPts val="0"/>
              </a:spcAft>
              <a:buClr>
                <a:srgbClr val="FF0000"/>
              </a:buClr>
              <a:buSzPts val="3600"/>
              <a:buChar char="●"/>
            </a:pPr>
            <a:r>
              <a:rPr lang="en" sz="3600" b="1" dirty="0">
                <a:solidFill>
                  <a:srgbClr val="FF0000"/>
                </a:solidFill>
                <a:latin typeface="Times New Roman" panose="02020603050405020304" pitchFamily="18" charset="0"/>
                <a:cs typeface="Times New Roman" panose="02020603050405020304" pitchFamily="18" charset="0"/>
              </a:rPr>
              <a:t>Choosing Bin Width</a:t>
            </a:r>
            <a:r>
              <a:rPr lang="en" sz="3600" dirty="0">
                <a:solidFill>
                  <a:srgbClr val="FF0000"/>
                </a:solidFill>
                <a:latin typeface="Times New Roman" panose="02020603050405020304" pitchFamily="18" charset="0"/>
                <a:cs typeface="Times New Roman" panose="02020603050405020304" pitchFamily="18" charset="0"/>
              </a:rPr>
              <a:t>:</a:t>
            </a:r>
            <a:endParaRPr sz="2300" b="1" dirty="0">
              <a:solidFill>
                <a:srgbClr val="FF0000"/>
              </a:solidFill>
              <a:latin typeface="Times New Roman" panose="02020603050405020304" pitchFamily="18" charset="0"/>
              <a:cs typeface="Times New Roman" panose="02020603050405020304" pitchFamily="18" charset="0"/>
            </a:endParaRPr>
          </a:p>
          <a:p>
            <a:pPr marL="914400" lvl="0" indent="0" algn="l" rtl="0">
              <a:lnSpc>
                <a:spcPct val="115000"/>
              </a:lnSpc>
              <a:spcBef>
                <a:spcPts val="1200"/>
              </a:spcBef>
              <a:spcAft>
                <a:spcPts val="0"/>
              </a:spcAft>
              <a:buSzPts val="1800"/>
              <a:buNone/>
            </a:pPr>
            <a:r>
              <a:rPr lang="en" sz="2300" b="1" dirty="0">
                <a:solidFill>
                  <a:schemeClr val="dk1"/>
                </a:solidFill>
                <a:latin typeface="Times New Roman" panose="02020603050405020304" pitchFamily="18" charset="0"/>
                <a:cs typeface="Times New Roman" panose="02020603050405020304" pitchFamily="18" charset="0"/>
              </a:rPr>
              <a:t>Too Few Bins</a:t>
            </a:r>
            <a:r>
              <a:rPr lang="en" sz="2300" dirty="0">
                <a:solidFill>
                  <a:schemeClr val="dk1"/>
                </a:solidFill>
                <a:latin typeface="Times New Roman" panose="02020603050405020304" pitchFamily="18" charset="0"/>
                <a:cs typeface="Times New Roman" panose="02020603050405020304" pitchFamily="18" charset="0"/>
              </a:rPr>
              <a:t>: If the bin width is too large, the histogram may not show important details about the distribution.</a:t>
            </a:r>
            <a:endParaRPr sz="2300" b="1" dirty="0">
              <a:solidFill>
                <a:schemeClr val="dk1"/>
              </a:solidFill>
              <a:latin typeface="Times New Roman" panose="02020603050405020304" pitchFamily="18" charset="0"/>
              <a:cs typeface="Times New Roman" panose="02020603050405020304" pitchFamily="18" charset="0"/>
            </a:endParaRPr>
          </a:p>
          <a:p>
            <a:pPr marL="914400" lvl="0" indent="0" algn="l" rtl="0">
              <a:lnSpc>
                <a:spcPct val="115000"/>
              </a:lnSpc>
              <a:spcBef>
                <a:spcPts val="1200"/>
              </a:spcBef>
              <a:spcAft>
                <a:spcPts val="0"/>
              </a:spcAft>
              <a:buSzPts val="1800"/>
              <a:buNone/>
            </a:pPr>
            <a:r>
              <a:rPr lang="en" sz="2300" b="1" dirty="0">
                <a:solidFill>
                  <a:schemeClr val="dk1"/>
                </a:solidFill>
                <a:latin typeface="Times New Roman" panose="02020603050405020304" pitchFamily="18" charset="0"/>
                <a:cs typeface="Times New Roman" panose="02020603050405020304" pitchFamily="18" charset="0"/>
              </a:rPr>
              <a:t>Too Many Bins</a:t>
            </a:r>
            <a:r>
              <a:rPr lang="en" sz="2300" dirty="0">
                <a:solidFill>
                  <a:schemeClr val="dk1"/>
                </a:solidFill>
                <a:latin typeface="Times New Roman" panose="02020603050405020304" pitchFamily="18" charset="0"/>
                <a:cs typeface="Times New Roman" panose="02020603050405020304" pitchFamily="18" charset="0"/>
              </a:rPr>
              <a:t>: If the bin width is too small, the histogram can become overly detailed and noisy.</a:t>
            </a:r>
            <a:endParaRPr sz="2300"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200"/>
              </a:spcBef>
              <a:spcAft>
                <a:spcPts val="1200"/>
              </a:spcAft>
              <a:buSzPts val="1800"/>
              <a:buNone/>
            </a:pPr>
            <a:endParaRPr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2" name="Google Shape;252;g2f8676bec87_2_164"/>
          <p:cNvSpPr txBox="1"/>
          <p:nvPr/>
        </p:nvSpPr>
        <p:spPr>
          <a:xfrm>
            <a:off x="263525" y="628650"/>
            <a:ext cx="7921500"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 sz="2400" b="0" i="0" u="none" dirty="0">
                <a:solidFill>
                  <a:schemeClr val="dk1"/>
                </a:solidFill>
                <a:highlight>
                  <a:srgbClr val="FF00FF"/>
                </a:highlight>
                <a:latin typeface="Times New Roman"/>
                <a:ea typeface="Times New Roman"/>
                <a:cs typeface="Times New Roman"/>
                <a:sym typeface="Times New Roman"/>
              </a:rPr>
              <a:t>Constructing a Histogram (Equal Bin Widths)</a:t>
            </a:r>
            <a:endParaRPr sz="2400" dirty="0">
              <a:highlight>
                <a:srgbClr val="FF00FF"/>
              </a:highlight>
            </a:endParaRPr>
          </a:p>
        </p:txBody>
      </p:sp>
      <p:sp>
        <p:nvSpPr>
          <p:cNvPr id="253" name="Google Shape;253;g2f8676bec87_2_164"/>
          <p:cNvSpPr txBox="1"/>
          <p:nvPr/>
        </p:nvSpPr>
        <p:spPr>
          <a:xfrm>
            <a:off x="180975" y="1221581"/>
            <a:ext cx="8942400" cy="3560934"/>
          </a:xfrm>
          <a:prstGeom prst="rect">
            <a:avLst/>
          </a:prstGeom>
          <a:noFill/>
          <a:ln>
            <a:noFill/>
          </a:ln>
        </p:spPr>
        <p:txBody>
          <a:bodyPr spcFirstLastPara="1" wrap="square" lIns="91425" tIns="45700" rIns="91425" bIns="45700" anchor="t" anchorCtr="0">
            <a:spAutoFit/>
          </a:bodyPr>
          <a:lstStyle/>
          <a:p>
            <a:pPr marL="514350" marR="0" lvl="0" indent="-514350" algn="l" rtl="0">
              <a:lnSpc>
                <a:spcPct val="115000"/>
              </a:lnSpc>
              <a:spcBef>
                <a:spcPts val="0"/>
              </a:spcBef>
              <a:spcAft>
                <a:spcPts val="0"/>
              </a:spcAft>
              <a:buClr>
                <a:schemeClr val="dk1"/>
              </a:buClr>
              <a:buSzPts val="2800"/>
              <a:buFont typeface="Times New Roman"/>
              <a:buAutoNum type="arabicPeriod"/>
            </a:pPr>
            <a:r>
              <a:rPr lang="en" sz="28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Label the bin (class interval) boundaries on a horizontal scale. </a:t>
            </a:r>
            <a:endParaRPr dirty="0">
              <a:latin typeface="Times New Roman" panose="02020603050405020304" pitchFamily="18" charset="0"/>
              <a:cs typeface="Times New Roman" panose="02020603050405020304" pitchFamily="18" charset="0"/>
            </a:endParaRPr>
          </a:p>
          <a:p>
            <a:pPr marL="514350" marR="0" lvl="0" indent="-514350" algn="l" rtl="0">
              <a:lnSpc>
                <a:spcPct val="115000"/>
              </a:lnSpc>
              <a:spcBef>
                <a:spcPts val="0"/>
              </a:spcBef>
              <a:spcAft>
                <a:spcPts val="0"/>
              </a:spcAft>
              <a:buClr>
                <a:schemeClr val="dk1"/>
              </a:buClr>
              <a:buSzPts val="2800"/>
              <a:buFont typeface="Times New Roman"/>
              <a:buAutoNum type="arabicPeriod"/>
            </a:pPr>
            <a:r>
              <a:rPr lang="en" sz="28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Mark and label the vertical scale with the frequencies or the relative frequencies. </a:t>
            </a:r>
            <a:endParaRPr dirty="0">
              <a:latin typeface="Times New Roman" panose="02020603050405020304" pitchFamily="18" charset="0"/>
              <a:cs typeface="Times New Roman" panose="02020603050405020304" pitchFamily="18" charset="0"/>
            </a:endParaRPr>
          </a:p>
          <a:p>
            <a:pPr marL="514350" marR="0" lvl="0" indent="-514350" algn="l" rtl="0">
              <a:lnSpc>
                <a:spcPct val="115000"/>
              </a:lnSpc>
              <a:spcBef>
                <a:spcPts val="0"/>
              </a:spcBef>
              <a:spcAft>
                <a:spcPts val="0"/>
              </a:spcAft>
              <a:buClr>
                <a:schemeClr val="dk1"/>
              </a:buClr>
              <a:buSzPts val="2800"/>
              <a:buFont typeface="Times New Roman"/>
              <a:buAutoNum type="arabicPeriod"/>
            </a:pPr>
            <a:r>
              <a:rPr lang="en" sz="28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Above each bin, draw a rectangle where height is equal to the frequency (or relative frequency) corresponding to that bin.</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CD26785-B485-3E44-F8E7-E1673E87F86A}"/>
              </a:ext>
            </a:extLst>
          </p:cNvPr>
          <p:cNvSpPr txBox="1"/>
          <p:nvPr/>
        </p:nvSpPr>
        <p:spPr>
          <a:xfrm>
            <a:off x="350354" y="260903"/>
            <a:ext cx="6075293" cy="369332"/>
          </a:xfrm>
          <a:prstGeom prst="rect">
            <a:avLst/>
          </a:prstGeom>
          <a:no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IN" sz="1800" dirty="0"/>
              <a:t>Consider FREQUENCY DISTRIBUTION</a:t>
            </a:r>
          </a:p>
        </p:txBody>
      </p:sp>
      <p:graphicFrame>
        <p:nvGraphicFramePr>
          <p:cNvPr id="10" name="Table 9">
            <a:extLst>
              <a:ext uri="{FF2B5EF4-FFF2-40B4-BE49-F238E27FC236}">
                <a16:creationId xmlns:a16="http://schemas.microsoft.com/office/drawing/2014/main" id="{3C0839FF-D9BB-861D-EB9F-D12CC9D86B52}"/>
              </a:ext>
            </a:extLst>
          </p:cNvPr>
          <p:cNvGraphicFramePr>
            <a:graphicFrameLocks noGrp="1"/>
          </p:cNvGraphicFramePr>
          <p:nvPr/>
        </p:nvGraphicFramePr>
        <p:xfrm>
          <a:off x="1244876" y="1006724"/>
          <a:ext cx="3056284" cy="3665220"/>
        </p:xfrm>
        <a:graphic>
          <a:graphicData uri="http://schemas.openxmlformats.org/drawingml/2006/table">
            <a:tbl>
              <a:tblPr firstRow="1" bandRow="1">
                <a:tableStyleId>{2D5ABB26-0587-4C30-8999-92F81FD0307C}</a:tableStyleId>
              </a:tblPr>
              <a:tblGrid>
                <a:gridCol w="1259759">
                  <a:extLst>
                    <a:ext uri="{9D8B030D-6E8A-4147-A177-3AD203B41FA5}">
                      <a16:colId xmlns:a16="http://schemas.microsoft.com/office/drawing/2014/main" val="3151798468"/>
                    </a:ext>
                  </a:extLst>
                </a:gridCol>
                <a:gridCol w="1796525">
                  <a:extLst>
                    <a:ext uri="{9D8B030D-6E8A-4147-A177-3AD203B41FA5}">
                      <a16:colId xmlns:a16="http://schemas.microsoft.com/office/drawing/2014/main" val="675495003"/>
                    </a:ext>
                  </a:extLst>
                </a:gridCol>
              </a:tblGrid>
              <a:tr h="274320">
                <a:tc>
                  <a:txBody>
                    <a:bodyPr/>
                    <a:lstStyle/>
                    <a:p>
                      <a:r>
                        <a:rPr lang="en-US" sz="1400" b="1"/>
                        <a:t>Weight</a:t>
                      </a:r>
                      <a:endParaRPr lang="en-IN" sz="14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1"/>
                        <a:t>f</a:t>
                      </a:r>
                      <a:endParaRPr lang="en-IN" sz="14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6091954"/>
                  </a:ext>
                </a:extLst>
              </a:tr>
              <a:tr h="274320">
                <a:tc>
                  <a:txBody>
                    <a:bodyPr/>
                    <a:lstStyle/>
                    <a:p>
                      <a:r>
                        <a:rPr lang="en-IN" sz="1400"/>
                        <a:t>130–139</a:t>
                      </a:r>
                      <a:endParaRPr lang="en-IN" sz="1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3</a:t>
                      </a:r>
                      <a:endParaRPr lang="en-IN" sz="1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0287660"/>
                  </a:ext>
                </a:extLst>
              </a:tr>
              <a:tr h="274320">
                <a:tc>
                  <a:txBody>
                    <a:bodyPr/>
                    <a:lstStyle/>
                    <a:p>
                      <a:r>
                        <a:rPr lang="en-IN" sz="1400"/>
                        <a:t>140–149</a:t>
                      </a:r>
                      <a:endParaRPr lang="en-IN" sz="1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1</a:t>
                      </a:r>
                      <a:endParaRPr lang="en-IN" sz="1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9988779"/>
                  </a:ext>
                </a:extLst>
              </a:tr>
              <a:tr h="274320">
                <a:tc>
                  <a:txBody>
                    <a:bodyPr/>
                    <a:lstStyle/>
                    <a:p>
                      <a:r>
                        <a:rPr lang="en-IN" sz="1400"/>
                        <a:t>150–159</a:t>
                      </a:r>
                      <a:endParaRPr lang="en-IN" sz="1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17</a:t>
                      </a:r>
                      <a:endParaRPr lang="en-IN" sz="1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9580475"/>
                  </a:ext>
                </a:extLst>
              </a:tr>
              <a:tr h="274320">
                <a:tc>
                  <a:txBody>
                    <a:bodyPr/>
                    <a:lstStyle/>
                    <a:p>
                      <a:r>
                        <a:rPr lang="en-IN" sz="1400"/>
                        <a:t>160–169 </a:t>
                      </a:r>
                      <a:endParaRPr lang="en-IN" sz="1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12</a:t>
                      </a:r>
                      <a:endParaRPr lang="en-IN" sz="1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1299968"/>
                  </a:ext>
                </a:extLst>
              </a:tr>
              <a:tr h="274320">
                <a:tc>
                  <a:txBody>
                    <a:bodyPr/>
                    <a:lstStyle/>
                    <a:p>
                      <a:r>
                        <a:rPr lang="en-IN" sz="1400"/>
                        <a:t>170–179 </a:t>
                      </a:r>
                      <a:endParaRPr lang="en-IN" sz="1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7</a:t>
                      </a:r>
                      <a:endParaRPr lang="en-IN" sz="1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89278822"/>
                  </a:ext>
                </a:extLst>
              </a:tr>
              <a:tr h="274320">
                <a:tc>
                  <a:txBody>
                    <a:bodyPr/>
                    <a:lstStyle/>
                    <a:p>
                      <a:r>
                        <a:rPr lang="en-IN" sz="1400"/>
                        <a:t>180–189 </a:t>
                      </a:r>
                      <a:endParaRPr lang="en-IN" sz="1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3</a:t>
                      </a:r>
                      <a:endParaRPr lang="en-IN" sz="1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2517301"/>
                  </a:ext>
                </a:extLst>
              </a:tr>
              <a:tr h="274320">
                <a:tc>
                  <a:txBody>
                    <a:bodyPr/>
                    <a:lstStyle/>
                    <a:p>
                      <a:r>
                        <a:rPr lang="en-IN" sz="1400"/>
                        <a:t>190–199 </a:t>
                      </a:r>
                      <a:endParaRPr lang="en-IN" sz="1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4</a:t>
                      </a:r>
                      <a:endParaRPr lang="en-IN" sz="1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28630645"/>
                  </a:ext>
                </a:extLst>
              </a:tr>
              <a:tr h="274320">
                <a:tc>
                  <a:txBody>
                    <a:bodyPr/>
                    <a:lstStyle/>
                    <a:p>
                      <a:r>
                        <a:rPr lang="en-IN" sz="1400"/>
                        <a:t>200–209</a:t>
                      </a:r>
                      <a:endParaRPr lang="en-IN" sz="1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2</a:t>
                      </a:r>
                      <a:endParaRPr lang="en-IN" sz="1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3173538"/>
                  </a:ext>
                </a:extLst>
              </a:tr>
              <a:tr h="274320">
                <a:tc>
                  <a:txBody>
                    <a:bodyPr/>
                    <a:lstStyle/>
                    <a:p>
                      <a:r>
                        <a:rPr lang="en-IN" sz="1400"/>
                        <a:t>210–219 </a:t>
                      </a:r>
                      <a:endParaRPr lang="en-IN" sz="1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0</a:t>
                      </a:r>
                      <a:endParaRPr lang="en-IN" sz="1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8736639"/>
                  </a:ext>
                </a:extLst>
              </a:tr>
              <a:tr h="274320">
                <a:tc>
                  <a:txBody>
                    <a:bodyPr/>
                    <a:lstStyle/>
                    <a:p>
                      <a:r>
                        <a:rPr lang="en-IN" sz="1400"/>
                        <a:t>220–229 </a:t>
                      </a:r>
                      <a:endParaRPr lang="en-IN" sz="1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t>3</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178776"/>
                  </a:ext>
                </a:extLst>
              </a:tr>
              <a:tr h="274320">
                <a:tc>
                  <a:txBody>
                    <a:bodyPr/>
                    <a:lstStyle/>
                    <a:p>
                      <a:r>
                        <a:rPr lang="en-IN" sz="1400"/>
                        <a:t>230–239 </a:t>
                      </a:r>
                      <a:endParaRPr lang="en-IN" sz="1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0</a:t>
                      </a:r>
                      <a:endParaRPr lang="en-IN" sz="1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1131783"/>
                  </a:ext>
                </a:extLst>
              </a:tr>
              <a:tr h="274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a:t>240–249</a:t>
                      </a:r>
                      <a:endParaRPr lang="en-IN" sz="1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t>1</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3338960"/>
                  </a:ext>
                </a:extLst>
              </a:tr>
            </a:tbl>
          </a:graphicData>
        </a:graphic>
      </p:graphicFrame>
    </p:spTree>
    <p:extLst>
      <p:ext uri="{BB962C8B-B14F-4D97-AF65-F5344CB8AC3E}">
        <p14:creationId xmlns:p14="http://schemas.microsoft.com/office/powerpoint/2010/main" val="221261412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0058D8A-6CB7-3DB8-28FF-A788EE7F7F10}"/>
              </a:ext>
            </a:extLst>
          </p:cNvPr>
          <p:cNvPicPr>
            <a:picLocks noChangeAspect="1"/>
          </p:cNvPicPr>
          <p:nvPr/>
        </p:nvPicPr>
        <p:blipFill>
          <a:blip r:embed="rId3"/>
          <a:stretch>
            <a:fillRect/>
          </a:stretch>
        </p:blipFill>
        <p:spPr>
          <a:xfrm>
            <a:off x="834888" y="805662"/>
            <a:ext cx="6179654" cy="4218569"/>
          </a:xfrm>
          <a:prstGeom prst="rect">
            <a:avLst/>
          </a:prstGeom>
        </p:spPr>
      </p:pic>
      <p:sp>
        <p:nvSpPr>
          <p:cNvPr id="5" name="Title 4">
            <a:extLst>
              <a:ext uri="{FF2B5EF4-FFF2-40B4-BE49-F238E27FC236}">
                <a16:creationId xmlns:a16="http://schemas.microsoft.com/office/drawing/2014/main" id="{6C9F3C1B-8690-DDD6-4FA1-5DE45C384C7C}"/>
              </a:ext>
            </a:extLst>
          </p:cNvPr>
          <p:cNvSpPr>
            <a:spLocks noGrp="1"/>
          </p:cNvSpPr>
          <p:nvPr>
            <p:ph type="title"/>
          </p:nvPr>
        </p:nvSpPr>
        <p:spPr>
          <a:xfrm>
            <a:off x="628650" y="273844"/>
            <a:ext cx="7886700" cy="531818"/>
          </a:xfrm>
        </p:spPr>
        <p:txBody>
          <a:bodyPr>
            <a:norm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800" dirty="0">
                <a:latin typeface="Times New Roman" panose="02020603050405020304" pitchFamily="18" charset="0"/>
                <a:cs typeface="Times New Roman" panose="02020603050405020304" pitchFamily="18" charset="0"/>
              </a:rPr>
              <a:t>The required histogram is:</a:t>
            </a:r>
            <a:endParaRPr lang="en-IN" sz="1800"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9C32C1C2-2F4D-057B-EB81-CF0674DA1C00}"/>
              </a:ext>
            </a:extLst>
          </p:cNvPr>
          <p:cNvSpPr>
            <a:spLocks noGrp="1"/>
          </p:cNvSpPr>
          <p:nvPr>
            <p:ph idx="1"/>
          </p:nvPr>
        </p:nvSpPr>
        <p:spPr>
          <a:xfrm>
            <a:off x="628650" y="891540"/>
            <a:ext cx="7886700" cy="4191000"/>
          </a:xfrm>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endParaRPr lang="en-IN" dirty="0"/>
          </a:p>
        </p:txBody>
      </p:sp>
    </p:spTree>
    <p:extLst>
      <p:ext uri="{BB962C8B-B14F-4D97-AF65-F5344CB8AC3E}">
        <p14:creationId xmlns:p14="http://schemas.microsoft.com/office/powerpoint/2010/main" val="412059299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g2f8676bec87_2_170"/>
          <p:cNvSpPr txBox="1"/>
          <p:nvPr/>
        </p:nvSpPr>
        <p:spPr>
          <a:xfrm>
            <a:off x="214312" y="158353"/>
            <a:ext cx="23574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600"/>
              <a:buFont typeface="Calibri"/>
              <a:buNone/>
            </a:pPr>
            <a:r>
              <a:rPr lang="en" sz="3600" b="0" i="0" u="none" dirty="0">
                <a:solidFill>
                  <a:schemeClr val="dk1"/>
                </a:solidFill>
                <a:latin typeface="Calibri"/>
                <a:ea typeface="Calibri"/>
                <a:cs typeface="Calibri"/>
                <a:sym typeface="Calibri"/>
              </a:rPr>
              <a:t> </a:t>
            </a:r>
            <a:r>
              <a:rPr lang="en" sz="2800" b="1" i="0" u="none" dirty="0">
                <a:solidFill>
                  <a:srgbClr val="FF0000"/>
                </a:solidFill>
                <a:latin typeface="Times New Roman"/>
                <a:ea typeface="Times New Roman"/>
                <a:cs typeface="Times New Roman"/>
                <a:sym typeface="Times New Roman"/>
              </a:rPr>
              <a:t>DATA TYPE</a:t>
            </a:r>
            <a:endParaRPr b="1" dirty="0">
              <a:solidFill>
                <a:srgbClr val="FF0000"/>
              </a:solidFill>
            </a:endParaRPr>
          </a:p>
        </p:txBody>
      </p:sp>
      <p:sp>
        <p:nvSpPr>
          <p:cNvPr id="259" name="Google Shape;259;g2f8676bec87_2_170"/>
          <p:cNvSpPr txBox="1"/>
          <p:nvPr/>
        </p:nvSpPr>
        <p:spPr>
          <a:xfrm>
            <a:off x="285750" y="642938"/>
            <a:ext cx="79296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800"/>
              <a:buFont typeface="Times New Roman"/>
              <a:buNone/>
            </a:pPr>
            <a:r>
              <a:rPr lang="en" sz="2800" b="0" i="0" u="none">
                <a:solidFill>
                  <a:schemeClr val="dk1"/>
                </a:solidFill>
                <a:latin typeface="Times New Roman"/>
                <a:ea typeface="Times New Roman"/>
                <a:cs typeface="Times New Roman"/>
                <a:sym typeface="Times New Roman"/>
              </a:rPr>
              <a:t>Consider a data set of 26 children of ages 1-6 years</a:t>
            </a:r>
            <a:endParaRPr/>
          </a:p>
        </p:txBody>
      </p:sp>
      <p:graphicFrame>
        <p:nvGraphicFramePr>
          <p:cNvPr id="260" name="Google Shape;260;g2f8676bec87_2_170"/>
          <p:cNvGraphicFramePr/>
          <p:nvPr/>
        </p:nvGraphicFramePr>
        <p:xfrm>
          <a:off x="814412" y="1968806"/>
          <a:ext cx="6362675" cy="815925"/>
        </p:xfrm>
        <a:graphic>
          <a:graphicData uri="http://schemas.openxmlformats.org/drawingml/2006/table">
            <a:tbl>
              <a:tblPr>
                <a:noFill/>
                <a:tableStyleId>{E56736FE-0E8E-44BB-A387-68498AA667DC}</a:tableStyleId>
              </a:tblPr>
              <a:tblGrid>
                <a:gridCol w="1757350">
                  <a:extLst>
                    <a:ext uri="{9D8B030D-6E8A-4147-A177-3AD203B41FA5}">
                      <a16:colId xmlns:a16="http://schemas.microsoft.com/office/drawing/2014/main" val="20000"/>
                    </a:ext>
                  </a:extLst>
                </a:gridCol>
                <a:gridCol w="877875">
                  <a:extLst>
                    <a:ext uri="{9D8B030D-6E8A-4147-A177-3AD203B41FA5}">
                      <a16:colId xmlns:a16="http://schemas.microsoft.com/office/drawing/2014/main" val="20001"/>
                    </a:ext>
                  </a:extLst>
                </a:gridCol>
                <a:gridCol w="790575">
                  <a:extLst>
                    <a:ext uri="{9D8B030D-6E8A-4147-A177-3AD203B41FA5}">
                      <a16:colId xmlns:a16="http://schemas.microsoft.com/office/drawing/2014/main" val="20002"/>
                    </a:ext>
                  </a:extLst>
                </a:gridCol>
                <a:gridCol w="790575">
                  <a:extLst>
                    <a:ext uri="{9D8B030D-6E8A-4147-A177-3AD203B41FA5}">
                      <a16:colId xmlns:a16="http://schemas.microsoft.com/office/drawing/2014/main" val="20003"/>
                    </a:ext>
                  </a:extLst>
                </a:gridCol>
                <a:gridCol w="701675">
                  <a:extLst>
                    <a:ext uri="{9D8B030D-6E8A-4147-A177-3AD203B41FA5}">
                      <a16:colId xmlns:a16="http://schemas.microsoft.com/office/drawing/2014/main" val="20004"/>
                    </a:ext>
                  </a:extLst>
                </a:gridCol>
                <a:gridCol w="790575">
                  <a:extLst>
                    <a:ext uri="{9D8B030D-6E8A-4147-A177-3AD203B41FA5}">
                      <a16:colId xmlns:a16="http://schemas.microsoft.com/office/drawing/2014/main" val="20005"/>
                    </a:ext>
                  </a:extLst>
                </a:gridCol>
                <a:gridCol w="654050">
                  <a:extLst>
                    <a:ext uri="{9D8B030D-6E8A-4147-A177-3AD203B41FA5}">
                      <a16:colId xmlns:a16="http://schemas.microsoft.com/office/drawing/2014/main" val="20006"/>
                    </a:ext>
                  </a:extLst>
                </a:gridCol>
              </a:tblGrid>
              <a:tr h="422300">
                <a:tc>
                  <a:txBody>
                    <a:bodyPr/>
                    <a:lstStyle/>
                    <a:p>
                      <a:pPr marL="355600" marR="0" lvl="0" indent="-355600" algn="l" rtl="0">
                        <a:lnSpc>
                          <a:spcPct val="100000"/>
                        </a:lnSpc>
                        <a:spcBef>
                          <a:spcPts val="0"/>
                        </a:spcBef>
                        <a:spcAft>
                          <a:spcPts val="0"/>
                        </a:spcAft>
                        <a:buClr>
                          <a:schemeClr val="dk1"/>
                        </a:buClr>
                        <a:buSzPts val="1400"/>
                        <a:buFont typeface="Times New Roman"/>
                        <a:buNone/>
                      </a:pPr>
                      <a:r>
                        <a:rPr lang="en" sz="1400" b="1" i="0" u="none" strike="noStrike" cap="none">
                          <a:solidFill>
                            <a:schemeClr val="dk1"/>
                          </a:solidFill>
                          <a:latin typeface="Times New Roman"/>
                          <a:ea typeface="Times New Roman"/>
                          <a:cs typeface="Times New Roman"/>
                          <a:sym typeface="Times New Roman"/>
                        </a:rPr>
                        <a:t>Age</a:t>
                      </a:r>
                      <a:endParaRPr sz="1100"/>
                    </a:p>
                  </a:txBody>
                  <a:tcPr marL="91450" marR="91450" marT="34250" marB="3425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355600" marR="0" lvl="0" indent="-355600" algn="ctr" rtl="0">
                        <a:lnSpc>
                          <a:spcPct val="100000"/>
                        </a:lnSpc>
                        <a:spcBef>
                          <a:spcPts val="0"/>
                        </a:spcBef>
                        <a:spcAft>
                          <a:spcPts val="0"/>
                        </a:spcAft>
                        <a:buClr>
                          <a:schemeClr val="dk1"/>
                        </a:buClr>
                        <a:buSzPts val="1400"/>
                        <a:buFont typeface="Times New Roman"/>
                        <a:buNone/>
                      </a:pPr>
                      <a:r>
                        <a:rPr lang="en" sz="1400" b="1" i="0" u="none" strike="noStrike" cap="none">
                          <a:solidFill>
                            <a:schemeClr val="dk1"/>
                          </a:solidFill>
                          <a:latin typeface="Times New Roman"/>
                          <a:ea typeface="Times New Roman"/>
                          <a:cs typeface="Times New Roman"/>
                          <a:sym typeface="Times New Roman"/>
                        </a:rPr>
                        <a:t>1</a:t>
                      </a:r>
                      <a:endParaRPr sz="1100"/>
                    </a:p>
                  </a:txBody>
                  <a:tcPr marL="91450" marR="91450" marT="34250" marB="3425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355600" marR="0" lvl="0" indent="-355600" algn="ctr" rtl="0">
                        <a:lnSpc>
                          <a:spcPct val="100000"/>
                        </a:lnSpc>
                        <a:spcBef>
                          <a:spcPts val="0"/>
                        </a:spcBef>
                        <a:spcAft>
                          <a:spcPts val="0"/>
                        </a:spcAft>
                        <a:buClr>
                          <a:schemeClr val="dk1"/>
                        </a:buClr>
                        <a:buSzPts val="1400"/>
                        <a:buFont typeface="Times New Roman"/>
                        <a:buNone/>
                      </a:pPr>
                      <a:r>
                        <a:rPr lang="en" sz="1400" b="1" i="0" u="none" strike="noStrike" cap="none">
                          <a:solidFill>
                            <a:schemeClr val="dk1"/>
                          </a:solidFill>
                          <a:latin typeface="Times New Roman"/>
                          <a:ea typeface="Times New Roman"/>
                          <a:cs typeface="Times New Roman"/>
                          <a:sym typeface="Times New Roman"/>
                        </a:rPr>
                        <a:t>2</a:t>
                      </a:r>
                      <a:endParaRPr sz="1100"/>
                    </a:p>
                  </a:txBody>
                  <a:tcPr marL="91450" marR="91450" marT="34250" marB="3425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355600" marR="0" lvl="0" indent="-355600" algn="ctr" rtl="0">
                        <a:lnSpc>
                          <a:spcPct val="100000"/>
                        </a:lnSpc>
                        <a:spcBef>
                          <a:spcPts val="0"/>
                        </a:spcBef>
                        <a:spcAft>
                          <a:spcPts val="0"/>
                        </a:spcAft>
                        <a:buClr>
                          <a:schemeClr val="dk1"/>
                        </a:buClr>
                        <a:buSzPts val="1400"/>
                        <a:buFont typeface="Times New Roman"/>
                        <a:buNone/>
                      </a:pPr>
                      <a:r>
                        <a:rPr lang="en" sz="1400" b="1" i="0" u="none" strike="noStrike" cap="none">
                          <a:solidFill>
                            <a:schemeClr val="dk1"/>
                          </a:solidFill>
                          <a:latin typeface="Times New Roman"/>
                          <a:ea typeface="Times New Roman"/>
                          <a:cs typeface="Times New Roman"/>
                          <a:sym typeface="Times New Roman"/>
                        </a:rPr>
                        <a:t>3</a:t>
                      </a:r>
                      <a:endParaRPr sz="1100"/>
                    </a:p>
                  </a:txBody>
                  <a:tcPr marL="91450" marR="91450" marT="34250" marB="3425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355600" marR="0" lvl="0" indent="-355600" algn="ctr" rtl="0">
                        <a:lnSpc>
                          <a:spcPct val="100000"/>
                        </a:lnSpc>
                        <a:spcBef>
                          <a:spcPts val="0"/>
                        </a:spcBef>
                        <a:spcAft>
                          <a:spcPts val="0"/>
                        </a:spcAft>
                        <a:buClr>
                          <a:schemeClr val="dk1"/>
                        </a:buClr>
                        <a:buSzPts val="1400"/>
                        <a:buFont typeface="Times New Roman"/>
                        <a:buNone/>
                      </a:pPr>
                      <a:r>
                        <a:rPr lang="en" sz="1400" b="1" i="0" u="none" strike="noStrike" cap="none">
                          <a:solidFill>
                            <a:schemeClr val="dk1"/>
                          </a:solidFill>
                          <a:latin typeface="Times New Roman"/>
                          <a:ea typeface="Times New Roman"/>
                          <a:cs typeface="Times New Roman"/>
                          <a:sym typeface="Times New Roman"/>
                        </a:rPr>
                        <a:t>4</a:t>
                      </a:r>
                      <a:endParaRPr sz="1100"/>
                    </a:p>
                  </a:txBody>
                  <a:tcPr marL="91450" marR="91450" marT="34250" marB="3425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355600" marR="0" lvl="0" indent="-355600" algn="ctr" rtl="0">
                        <a:lnSpc>
                          <a:spcPct val="100000"/>
                        </a:lnSpc>
                        <a:spcBef>
                          <a:spcPts val="0"/>
                        </a:spcBef>
                        <a:spcAft>
                          <a:spcPts val="0"/>
                        </a:spcAft>
                        <a:buClr>
                          <a:schemeClr val="dk1"/>
                        </a:buClr>
                        <a:buSzPts val="1400"/>
                        <a:buFont typeface="Times New Roman"/>
                        <a:buNone/>
                      </a:pPr>
                      <a:r>
                        <a:rPr lang="en" sz="1400" b="1" i="0" u="none" strike="noStrike" cap="none">
                          <a:solidFill>
                            <a:schemeClr val="dk1"/>
                          </a:solidFill>
                          <a:latin typeface="Times New Roman"/>
                          <a:ea typeface="Times New Roman"/>
                          <a:cs typeface="Times New Roman"/>
                          <a:sym typeface="Times New Roman"/>
                        </a:rPr>
                        <a:t>5</a:t>
                      </a:r>
                      <a:endParaRPr sz="1100"/>
                    </a:p>
                  </a:txBody>
                  <a:tcPr marL="91450" marR="91450" marT="34250" marB="3425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355600" marR="0" lvl="0" indent="-355600" algn="ctr" rtl="0">
                        <a:lnSpc>
                          <a:spcPct val="100000"/>
                        </a:lnSpc>
                        <a:spcBef>
                          <a:spcPts val="0"/>
                        </a:spcBef>
                        <a:spcAft>
                          <a:spcPts val="0"/>
                        </a:spcAft>
                        <a:buClr>
                          <a:schemeClr val="dk1"/>
                        </a:buClr>
                        <a:buSzPts val="1400"/>
                        <a:buFont typeface="Times New Roman"/>
                        <a:buNone/>
                      </a:pPr>
                      <a:r>
                        <a:rPr lang="en" sz="1400" b="1" i="0" u="none" strike="noStrike" cap="none">
                          <a:solidFill>
                            <a:schemeClr val="dk1"/>
                          </a:solidFill>
                          <a:latin typeface="Times New Roman"/>
                          <a:ea typeface="Times New Roman"/>
                          <a:cs typeface="Times New Roman"/>
                          <a:sym typeface="Times New Roman"/>
                        </a:rPr>
                        <a:t>6</a:t>
                      </a:r>
                      <a:endParaRPr sz="1100"/>
                    </a:p>
                  </a:txBody>
                  <a:tcPr marL="91450" marR="91450" marT="34250" marB="3425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393625">
                <a:tc>
                  <a:txBody>
                    <a:bodyPr/>
                    <a:lstStyle/>
                    <a:p>
                      <a:pPr marL="355600" marR="0" lvl="0" indent="-355600" algn="l" rtl="0">
                        <a:lnSpc>
                          <a:spcPct val="100000"/>
                        </a:lnSpc>
                        <a:spcBef>
                          <a:spcPts val="0"/>
                        </a:spcBef>
                        <a:spcAft>
                          <a:spcPts val="0"/>
                        </a:spcAft>
                        <a:buClr>
                          <a:schemeClr val="dk1"/>
                        </a:buClr>
                        <a:buSzPts val="1400"/>
                        <a:buFont typeface="Times New Roman"/>
                        <a:buNone/>
                      </a:pPr>
                      <a:r>
                        <a:rPr lang="en" sz="1400" b="1" i="0" u="none" strike="noStrike" cap="none">
                          <a:solidFill>
                            <a:schemeClr val="dk1"/>
                          </a:solidFill>
                          <a:latin typeface="Times New Roman"/>
                          <a:ea typeface="Times New Roman"/>
                          <a:cs typeface="Times New Roman"/>
                          <a:sym typeface="Times New Roman"/>
                        </a:rPr>
                        <a:t>Frequency</a:t>
                      </a:r>
                      <a:endParaRPr sz="1100"/>
                    </a:p>
                  </a:txBody>
                  <a:tcPr marL="91450" marR="91450" marT="34250" marB="3425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355600" marR="0" lvl="0" indent="-355600" algn="ctr" rtl="0">
                        <a:lnSpc>
                          <a:spcPct val="100000"/>
                        </a:lnSpc>
                        <a:spcBef>
                          <a:spcPts val="0"/>
                        </a:spcBef>
                        <a:spcAft>
                          <a:spcPts val="0"/>
                        </a:spcAft>
                        <a:buClr>
                          <a:schemeClr val="dk1"/>
                        </a:buClr>
                        <a:buSzPts val="1400"/>
                        <a:buFont typeface="Times New Roman"/>
                        <a:buNone/>
                      </a:pPr>
                      <a:r>
                        <a:rPr lang="en" sz="1400" b="1" i="0" u="none" strike="noStrike" cap="none">
                          <a:solidFill>
                            <a:schemeClr val="dk1"/>
                          </a:solidFill>
                          <a:latin typeface="Times New Roman"/>
                          <a:ea typeface="Times New Roman"/>
                          <a:cs typeface="Times New Roman"/>
                          <a:sym typeface="Times New Roman"/>
                        </a:rPr>
                        <a:t>5</a:t>
                      </a:r>
                      <a:endParaRPr sz="1100"/>
                    </a:p>
                  </a:txBody>
                  <a:tcPr marL="91450" marR="91450" marT="34250" marB="3425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355600" marR="0" lvl="0" indent="-355600" algn="ctr" rtl="0">
                        <a:lnSpc>
                          <a:spcPct val="100000"/>
                        </a:lnSpc>
                        <a:spcBef>
                          <a:spcPts val="0"/>
                        </a:spcBef>
                        <a:spcAft>
                          <a:spcPts val="0"/>
                        </a:spcAft>
                        <a:buClr>
                          <a:schemeClr val="dk1"/>
                        </a:buClr>
                        <a:buSzPts val="1400"/>
                        <a:buFont typeface="Times New Roman"/>
                        <a:buNone/>
                      </a:pPr>
                      <a:r>
                        <a:rPr lang="en" sz="1400" b="1" i="0" u="none" strike="noStrike" cap="none">
                          <a:solidFill>
                            <a:schemeClr val="dk1"/>
                          </a:solidFill>
                          <a:latin typeface="Times New Roman"/>
                          <a:ea typeface="Times New Roman"/>
                          <a:cs typeface="Times New Roman"/>
                          <a:sym typeface="Times New Roman"/>
                        </a:rPr>
                        <a:t>3</a:t>
                      </a:r>
                      <a:endParaRPr sz="1100"/>
                    </a:p>
                  </a:txBody>
                  <a:tcPr marL="91450" marR="91450" marT="34250" marB="3425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355600" marR="0" lvl="0" indent="-355600" algn="ctr" rtl="0">
                        <a:lnSpc>
                          <a:spcPct val="100000"/>
                        </a:lnSpc>
                        <a:spcBef>
                          <a:spcPts val="0"/>
                        </a:spcBef>
                        <a:spcAft>
                          <a:spcPts val="0"/>
                        </a:spcAft>
                        <a:buClr>
                          <a:schemeClr val="dk1"/>
                        </a:buClr>
                        <a:buSzPts val="1400"/>
                        <a:buFont typeface="Times New Roman"/>
                        <a:buNone/>
                      </a:pPr>
                      <a:r>
                        <a:rPr lang="en" sz="1400" b="1" i="0" u="none" strike="noStrike" cap="none">
                          <a:solidFill>
                            <a:schemeClr val="dk1"/>
                          </a:solidFill>
                          <a:latin typeface="Times New Roman"/>
                          <a:ea typeface="Times New Roman"/>
                          <a:cs typeface="Times New Roman"/>
                          <a:sym typeface="Times New Roman"/>
                        </a:rPr>
                        <a:t>7</a:t>
                      </a:r>
                      <a:endParaRPr sz="1100"/>
                    </a:p>
                  </a:txBody>
                  <a:tcPr marL="91450" marR="91450" marT="34250" marB="3425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355600" marR="0" lvl="0" indent="-355600" algn="ctr" rtl="0">
                        <a:lnSpc>
                          <a:spcPct val="100000"/>
                        </a:lnSpc>
                        <a:spcBef>
                          <a:spcPts val="0"/>
                        </a:spcBef>
                        <a:spcAft>
                          <a:spcPts val="0"/>
                        </a:spcAft>
                        <a:buClr>
                          <a:schemeClr val="dk1"/>
                        </a:buClr>
                        <a:buSzPts val="1400"/>
                        <a:buFont typeface="Times New Roman"/>
                        <a:buNone/>
                      </a:pPr>
                      <a:r>
                        <a:rPr lang="en" sz="1400" b="1" i="0" u="none" strike="noStrike" cap="none">
                          <a:solidFill>
                            <a:schemeClr val="dk1"/>
                          </a:solidFill>
                          <a:latin typeface="Times New Roman"/>
                          <a:ea typeface="Times New Roman"/>
                          <a:cs typeface="Times New Roman"/>
                          <a:sym typeface="Times New Roman"/>
                        </a:rPr>
                        <a:t>5</a:t>
                      </a:r>
                      <a:endParaRPr sz="1100"/>
                    </a:p>
                  </a:txBody>
                  <a:tcPr marL="91450" marR="91450" marT="34250" marB="3425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355600" marR="0" lvl="0" indent="-355600" algn="ctr" rtl="0">
                        <a:lnSpc>
                          <a:spcPct val="100000"/>
                        </a:lnSpc>
                        <a:spcBef>
                          <a:spcPts val="0"/>
                        </a:spcBef>
                        <a:spcAft>
                          <a:spcPts val="0"/>
                        </a:spcAft>
                        <a:buClr>
                          <a:schemeClr val="dk1"/>
                        </a:buClr>
                        <a:buSzPts val="1400"/>
                        <a:buFont typeface="Times New Roman"/>
                        <a:buNone/>
                      </a:pPr>
                      <a:r>
                        <a:rPr lang="en" sz="1400" b="1" i="0" u="none" strike="noStrike" cap="none">
                          <a:solidFill>
                            <a:schemeClr val="dk1"/>
                          </a:solidFill>
                          <a:latin typeface="Times New Roman"/>
                          <a:ea typeface="Times New Roman"/>
                          <a:cs typeface="Times New Roman"/>
                          <a:sym typeface="Times New Roman"/>
                        </a:rPr>
                        <a:t>4</a:t>
                      </a:r>
                      <a:endParaRPr sz="1100"/>
                    </a:p>
                  </a:txBody>
                  <a:tcPr marL="91450" marR="91450" marT="34250" marB="3425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355600" marR="0" lvl="0" indent="-355600" algn="ctr" rtl="0">
                        <a:lnSpc>
                          <a:spcPct val="100000"/>
                        </a:lnSpc>
                        <a:spcBef>
                          <a:spcPts val="0"/>
                        </a:spcBef>
                        <a:spcAft>
                          <a:spcPts val="0"/>
                        </a:spcAft>
                        <a:buClr>
                          <a:schemeClr val="dk1"/>
                        </a:buClr>
                        <a:buSzPts val="1400"/>
                        <a:buFont typeface="Times New Roman"/>
                        <a:buNone/>
                      </a:pPr>
                      <a:r>
                        <a:rPr lang="en" sz="1400" b="1" i="0" u="none" strike="noStrike" cap="none">
                          <a:solidFill>
                            <a:schemeClr val="dk1"/>
                          </a:solidFill>
                          <a:latin typeface="Times New Roman"/>
                          <a:ea typeface="Times New Roman"/>
                          <a:cs typeface="Times New Roman"/>
                          <a:sym typeface="Times New Roman"/>
                        </a:rPr>
                        <a:t>2</a:t>
                      </a:r>
                      <a:endParaRPr sz="1100"/>
                    </a:p>
                  </a:txBody>
                  <a:tcPr marL="91450" marR="91450" marT="34250" marB="3425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261" name="Google Shape;261;g2f8676bec87_2_170"/>
          <p:cNvSpPr txBox="1"/>
          <p:nvPr/>
        </p:nvSpPr>
        <p:spPr>
          <a:xfrm>
            <a:off x="285750" y="1312069"/>
            <a:ext cx="24876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New Roman"/>
              <a:buNone/>
            </a:pPr>
            <a:r>
              <a:rPr lang="en" sz="2400" b="1" i="0" u="none" dirty="0">
                <a:solidFill>
                  <a:srgbClr val="FF0000"/>
                </a:solidFill>
                <a:latin typeface="Times New Roman"/>
                <a:ea typeface="Times New Roman"/>
                <a:cs typeface="Times New Roman"/>
                <a:sym typeface="Times New Roman"/>
              </a:rPr>
              <a:t>Ungrouped Data</a:t>
            </a:r>
            <a:endParaRPr dirty="0">
              <a:solidFill>
                <a:srgbClr val="FF0000"/>
              </a:solidFill>
            </a:endParaRPr>
          </a:p>
        </p:txBody>
      </p:sp>
      <p:sp>
        <p:nvSpPr>
          <p:cNvPr id="262" name="Google Shape;262;g2f8676bec87_2_170"/>
          <p:cNvSpPr txBox="1"/>
          <p:nvPr/>
        </p:nvSpPr>
        <p:spPr>
          <a:xfrm>
            <a:off x="320675" y="2969413"/>
            <a:ext cx="6362700" cy="430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New Roman"/>
              <a:buNone/>
            </a:pPr>
            <a:r>
              <a:rPr lang="en" sz="2200" dirty="0">
                <a:solidFill>
                  <a:schemeClr val="dk1"/>
                </a:solidFill>
              </a:rPr>
              <a:t>Histogram of this data is as given here… </a:t>
            </a:r>
            <a:endParaRPr sz="2200" dirty="0">
              <a:solidFill>
                <a:schemeClr val="dk1"/>
              </a:solidFill>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grpSp>
        <p:nvGrpSpPr>
          <p:cNvPr id="267" name="Google Shape;267;g2f8676bec87_2_178"/>
          <p:cNvGrpSpPr/>
          <p:nvPr/>
        </p:nvGrpSpPr>
        <p:grpSpPr>
          <a:xfrm>
            <a:off x="-27" y="322650"/>
            <a:ext cx="8027944" cy="4466274"/>
            <a:chOff x="898530" y="331777"/>
            <a:chExt cx="7129613" cy="5955031"/>
          </a:xfrm>
        </p:grpSpPr>
        <p:sp>
          <p:nvSpPr>
            <p:cNvPr id="268" name="Google Shape;268;g2f8676bec87_2_178"/>
            <p:cNvSpPr txBox="1"/>
            <p:nvPr/>
          </p:nvSpPr>
          <p:spPr>
            <a:xfrm>
              <a:off x="1047750" y="4848225"/>
              <a:ext cx="400200" cy="615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Arial"/>
                <a:buNone/>
              </a:pPr>
              <a:r>
                <a:rPr lang="en" sz="2400" b="0" i="0" u="none">
                  <a:solidFill>
                    <a:schemeClr val="dk1"/>
                  </a:solidFill>
                  <a:latin typeface="Arial"/>
                  <a:ea typeface="Arial"/>
                  <a:cs typeface="Arial"/>
                  <a:sym typeface="Arial"/>
                </a:rPr>
                <a:t>1</a:t>
              </a:r>
              <a:endParaRPr/>
            </a:p>
          </p:txBody>
        </p:sp>
        <p:grpSp>
          <p:nvGrpSpPr>
            <p:cNvPr id="269" name="Google Shape;269;g2f8676bec87_2_178"/>
            <p:cNvGrpSpPr/>
            <p:nvPr/>
          </p:nvGrpSpPr>
          <p:grpSpPr>
            <a:xfrm>
              <a:off x="898530" y="331777"/>
              <a:ext cx="7129613" cy="5955031"/>
              <a:chOff x="899200" y="332011"/>
              <a:chExt cx="7128900" cy="5954436"/>
            </a:xfrm>
          </p:grpSpPr>
          <p:grpSp>
            <p:nvGrpSpPr>
              <p:cNvPr id="270" name="Google Shape;270;g2f8676bec87_2_178"/>
              <p:cNvGrpSpPr/>
              <p:nvPr/>
            </p:nvGrpSpPr>
            <p:grpSpPr>
              <a:xfrm>
                <a:off x="899200" y="332011"/>
                <a:ext cx="7128900" cy="5954436"/>
                <a:chOff x="899200" y="332011"/>
                <a:chExt cx="7128900" cy="5954436"/>
              </a:xfrm>
            </p:grpSpPr>
            <p:grpSp>
              <p:nvGrpSpPr>
                <p:cNvPr id="271" name="Google Shape;271;g2f8676bec87_2_178"/>
                <p:cNvGrpSpPr/>
                <p:nvPr/>
              </p:nvGrpSpPr>
              <p:grpSpPr>
                <a:xfrm>
                  <a:off x="899200" y="332011"/>
                  <a:ext cx="7128900" cy="5954436"/>
                  <a:chOff x="899200" y="332011"/>
                  <a:chExt cx="7128900" cy="5954436"/>
                </a:xfrm>
              </p:grpSpPr>
              <p:grpSp>
                <p:nvGrpSpPr>
                  <p:cNvPr id="272" name="Google Shape;272;g2f8676bec87_2_178"/>
                  <p:cNvGrpSpPr/>
                  <p:nvPr/>
                </p:nvGrpSpPr>
                <p:grpSpPr>
                  <a:xfrm>
                    <a:off x="899200" y="332011"/>
                    <a:ext cx="7128900" cy="5954436"/>
                    <a:chOff x="899200" y="332011"/>
                    <a:chExt cx="7128900" cy="5954436"/>
                  </a:xfrm>
                </p:grpSpPr>
                <p:grpSp>
                  <p:nvGrpSpPr>
                    <p:cNvPr id="273" name="Google Shape;273;g2f8676bec87_2_178"/>
                    <p:cNvGrpSpPr/>
                    <p:nvPr/>
                  </p:nvGrpSpPr>
                  <p:grpSpPr>
                    <a:xfrm>
                      <a:off x="899200" y="351004"/>
                      <a:ext cx="7128900" cy="5935443"/>
                      <a:chOff x="899200" y="351004"/>
                      <a:chExt cx="7128900" cy="5935443"/>
                    </a:xfrm>
                  </p:grpSpPr>
                  <p:grpSp>
                    <p:nvGrpSpPr>
                      <p:cNvPr id="274" name="Google Shape;274;g2f8676bec87_2_178"/>
                      <p:cNvGrpSpPr/>
                      <p:nvPr/>
                    </p:nvGrpSpPr>
                    <p:grpSpPr>
                      <a:xfrm>
                        <a:off x="899200" y="351004"/>
                        <a:ext cx="7128900" cy="5935443"/>
                        <a:chOff x="899200" y="351004"/>
                        <a:chExt cx="7128900" cy="5935443"/>
                      </a:xfrm>
                    </p:grpSpPr>
                    <p:sp>
                      <p:nvSpPr>
                        <p:cNvPr id="275" name="Google Shape;275;g2f8676bec87_2_178"/>
                        <p:cNvSpPr txBox="1"/>
                        <p:nvPr/>
                      </p:nvSpPr>
                      <p:spPr>
                        <a:xfrm>
                          <a:off x="1092226" y="3288049"/>
                          <a:ext cx="432000" cy="615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Arial"/>
                            <a:buNone/>
                          </a:pPr>
                          <a:r>
                            <a:rPr lang="en" sz="2400" b="0" i="0" u="none">
                              <a:solidFill>
                                <a:schemeClr val="dk1"/>
                              </a:solidFill>
                              <a:latin typeface="Arial"/>
                              <a:ea typeface="Arial"/>
                              <a:cs typeface="Arial"/>
                              <a:sym typeface="Arial"/>
                            </a:rPr>
                            <a:t>3</a:t>
                          </a:r>
                          <a:endParaRPr/>
                        </a:p>
                      </p:txBody>
                    </p:sp>
                    <p:grpSp>
                      <p:nvGrpSpPr>
                        <p:cNvPr id="276" name="Google Shape;276;g2f8676bec87_2_178"/>
                        <p:cNvGrpSpPr/>
                        <p:nvPr/>
                      </p:nvGrpSpPr>
                      <p:grpSpPr>
                        <a:xfrm>
                          <a:off x="899200" y="351004"/>
                          <a:ext cx="7128900" cy="5935443"/>
                          <a:chOff x="899200" y="351004"/>
                          <a:chExt cx="7128900" cy="5935443"/>
                        </a:xfrm>
                      </p:grpSpPr>
                      <p:sp>
                        <p:nvSpPr>
                          <p:cNvPr id="277" name="Google Shape;277;g2f8676bec87_2_178"/>
                          <p:cNvSpPr txBox="1"/>
                          <p:nvPr/>
                        </p:nvSpPr>
                        <p:spPr>
                          <a:xfrm>
                            <a:off x="1055740" y="2492896"/>
                            <a:ext cx="432000" cy="615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Arial"/>
                              <a:buNone/>
                            </a:pPr>
                            <a:r>
                              <a:rPr lang="en" sz="2400" b="0" i="0" u="none">
                                <a:solidFill>
                                  <a:schemeClr val="dk1"/>
                                </a:solidFill>
                                <a:latin typeface="Arial"/>
                                <a:ea typeface="Arial"/>
                                <a:cs typeface="Arial"/>
                                <a:sym typeface="Arial"/>
                              </a:rPr>
                              <a:t>4</a:t>
                            </a:r>
                            <a:endParaRPr/>
                          </a:p>
                        </p:txBody>
                      </p:sp>
                      <p:grpSp>
                        <p:nvGrpSpPr>
                          <p:cNvPr id="278" name="Google Shape;278;g2f8676bec87_2_178"/>
                          <p:cNvGrpSpPr/>
                          <p:nvPr/>
                        </p:nvGrpSpPr>
                        <p:grpSpPr>
                          <a:xfrm>
                            <a:off x="899200" y="351004"/>
                            <a:ext cx="7128900" cy="5935443"/>
                            <a:chOff x="899200" y="351004"/>
                            <a:chExt cx="7128900" cy="5935443"/>
                          </a:xfrm>
                        </p:grpSpPr>
                        <p:sp>
                          <p:nvSpPr>
                            <p:cNvPr id="279" name="Google Shape;279;g2f8676bec87_2_178"/>
                            <p:cNvSpPr txBox="1"/>
                            <p:nvPr/>
                          </p:nvSpPr>
                          <p:spPr>
                            <a:xfrm>
                              <a:off x="1092226" y="1685999"/>
                              <a:ext cx="432000" cy="615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Arial"/>
                                <a:buNone/>
                              </a:pPr>
                              <a:r>
                                <a:rPr lang="en" sz="2400" b="0" i="0" u="none">
                                  <a:solidFill>
                                    <a:schemeClr val="dk1"/>
                                  </a:solidFill>
                                  <a:latin typeface="Arial"/>
                                  <a:ea typeface="Arial"/>
                                  <a:cs typeface="Arial"/>
                                  <a:sym typeface="Arial"/>
                                </a:rPr>
                                <a:t>5</a:t>
                              </a:r>
                              <a:endParaRPr/>
                            </a:p>
                          </p:txBody>
                        </p:sp>
                        <p:grpSp>
                          <p:nvGrpSpPr>
                            <p:cNvPr id="280" name="Google Shape;280;g2f8676bec87_2_178"/>
                            <p:cNvGrpSpPr/>
                            <p:nvPr/>
                          </p:nvGrpSpPr>
                          <p:grpSpPr>
                            <a:xfrm>
                              <a:off x="899200" y="351004"/>
                              <a:ext cx="7128900" cy="5935443"/>
                              <a:chOff x="899200" y="351004"/>
                              <a:chExt cx="7128900" cy="5935443"/>
                            </a:xfrm>
                          </p:grpSpPr>
                          <p:sp>
                            <p:nvSpPr>
                              <p:cNvPr id="281" name="Google Shape;281;g2f8676bec87_2_178"/>
                              <p:cNvSpPr txBox="1"/>
                              <p:nvPr/>
                            </p:nvSpPr>
                            <p:spPr>
                              <a:xfrm>
                                <a:off x="1092226" y="948165"/>
                                <a:ext cx="432000" cy="615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Arial"/>
                                  <a:buNone/>
                                </a:pPr>
                                <a:r>
                                  <a:rPr lang="en" sz="2400" b="0" i="0" u="none">
                                    <a:solidFill>
                                      <a:schemeClr val="dk1"/>
                                    </a:solidFill>
                                    <a:latin typeface="Arial"/>
                                    <a:ea typeface="Arial"/>
                                    <a:cs typeface="Arial"/>
                                    <a:sym typeface="Arial"/>
                                  </a:rPr>
                                  <a:t>6</a:t>
                                </a:r>
                                <a:endParaRPr/>
                              </a:p>
                            </p:txBody>
                          </p:sp>
                          <p:grpSp>
                            <p:nvGrpSpPr>
                              <p:cNvPr id="282" name="Google Shape;282;g2f8676bec87_2_178"/>
                              <p:cNvGrpSpPr/>
                              <p:nvPr/>
                            </p:nvGrpSpPr>
                            <p:grpSpPr>
                              <a:xfrm>
                                <a:off x="899200" y="351004"/>
                                <a:ext cx="7128900" cy="5935443"/>
                                <a:chOff x="899200" y="351004"/>
                                <a:chExt cx="7128900" cy="5935443"/>
                              </a:xfrm>
                            </p:grpSpPr>
                            <p:sp>
                              <p:nvSpPr>
                                <p:cNvPr id="283" name="Google Shape;283;g2f8676bec87_2_178"/>
                                <p:cNvSpPr txBox="1"/>
                                <p:nvPr/>
                              </p:nvSpPr>
                              <p:spPr>
                                <a:xfrm>
                                  <a:off x="1092226" y="4127942"/>
                                  <a:ext cx="432000" cy="615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Arial"/>
                                    <a:buNone/>
                                  </a:pPr>
                                  <a:r>
                                    <a:rPr lang="en" sz="2400" b="0" i="0" u="none">
                                      <a:solidFill>
                                        <a:schemeClr val="dk1"/>
                                      </a:solidFill>
                                      <a:latin typeface="Arial"/>
                                      <a:ea typeface="Arial"/>
                                      <a:cs typeface="Arial"/>
                                      <a:sym typeface="Arial"/>
                                    </a:rPr>
                                    <a:t>2</a:t>
                                  </a:r>
                                  <a:endParaRPr/>
                                </a:p>
                              </p:txBody>
                            </p:sp>
                            <p:grpSp>
                              <p:nvGrpSpPr>
                                <p:cNvPr id="284" name="Google Shape;284;g2f8676bec87_2_178"/>
                                <p:cNvGrpSpPr/>
                                <p:nvPr/>
                              </p:nvGrpSpPr>
                              <p:grpSpPr>
                                <a:xfrm>
                                  <a:off x="899200" y="351004"/>
                                  <a:ext cx="7128900" cy="5935443"/>
                                  <a:chOff x="899200" y="351004"/>
                                  <a:chExt cx="7128900" cy="5935443"/>
                                </a:xfrm>
                              </p:grpSpPr>
                              <p:sp>
                                <p:nvSpPr>
                                  <p:cNvPr id="285" name="Google Shape;285;g2f8676bec87_2_178"/>
                                  <p:cNvSpPr txBox="1"/>
                                  <p:nvPr/>
                                </p:nvSpPr>
                                <p:spPr>
                                  <a:xfrm>
                                    <a:off x="959349" y="5670847"/>
                                    <a:ext cx="432000" cy="615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Arial"/>
                                      <a:buNone/>
                                    </a:pPr>
                                    <a:r>
                                      <a:rPr lang="en" sz="2400" b="0" i="0" u="none">
                                        <a:solidFill>
                                          <a:schemeClr val="dk1"/>
                                        </a:solidFill>
                                        <a:latin typeface="Arial"/>
                                        <a:ea typeface="Arial"/>
                                        <a:cs typeface="Arial"/>
                                        <a:sym typeface="Arial"/>
                                      </a:rPr>
                                      <a:t>0</a:t>
                                    </a:r>
                                    <a:endParaRPr/>
                                  </a:p>
                                </p:txBody>
                              </p:sp>
                              <p:grpSp>
                                <p:nvGrpSpPr>
                                  <p:cNvPr id="286" name="Google Shape;286;g2f8676bec87_2_178"/>
                                  <p:cNvGrpSpPr/>
                                  <p:nvPr/>
                                </p:nvGrpSpPr>
                                <p:grpSpPr>
                                  <a:xfrm>
                                    <a:off x="899200" y="351004"/>
                                    <a:ext cx="7128900" cy="5814300"/>
                                    <a:chOff x="899200" y="351004"/>
                                    <a:chExt cx="7128900" cy="5814300"/>
                                  </a:xfrm>
                                </p:grpSpPr>
                                <p:cxnSp>
                                  <p:nvCxnSpPr>
                                    <p:cNvPr id="287" name="Google Shape;287;g2f8676bec87_2_178"/>
                                    <p:cNvCxnSpPr/>
                                    <p:nvPr/>
                                  </p:nvCxnSpPr>
                                  <p:spPr>
                                    <a:xfrm>
                                      <a:off x="899200" y="5646260"/>
                                      <a:ext cx="7128900" cy="0"/>
                                    </a:xfrm>
                                    <a:prstGeom prst="straightConnector1">
                                      <a:avLst/>
                                    </a:prstGeom>
                                    <a:noFill/>
                                    <a:ln w="9525" cap="flat" cmpd="sng">
                                      <a:solidFill>
                                        <a:srgbClr val="4A7EBB"/>
                                      </a:solidFill>
                                      <a:prstDash val="solid"/>
                                      <a:miter lim="800000"/>
                                      <a:headEnd type="none" w="med" len="med"/>
                                      <a:tailEnd type="stealth" w="med" len="med"/>
                                    </a:ln>
                                  </p:spPr>
                                </p:cxnSp>
                                <p:cxnSp>
                                  <p:nvCxnSpPr>
                                    <p:cNvPr id="288" name="Google Shape;288;g2f8676bec87_2_178"/>
                                    <p:cNvCxnSpPr/>
                                    <p:nvPr/>
                                  </p:nvCxnSpPr>
                                  <p:spPr>
                                    <a:xfrm rot="10800000">
                                      <a:off x="1391279" y="351004"/>
                                      <a:ext cx="0" cy="5814300"/>
                                    </a:xfrm>
                                    <a:prstGeom prst="straightConnector1">
                                      <a:avLst/>
                                    </a:prstGeom>
                                    <a:noFill/>
                                    <a:ln w="9525" cap="flat" cmpd="sng">
                                      <a:solidFill>
                                        <a:srgbClr val="4A7EBB"/>
                                      </a:solidFill>
                                      <a:prstDash val="solid"/>
                                      <a:miter lim="800000"/>
                                      <a:headEnd type="none" w="med" len="med"/>
                                      <a:tailEnd type="stealth" w="med" len="med"/>
                                    </a:ln>
                                  </p:spPr>
                                </p:cxnSp>
                                <p:cxnSp>
                                  <p:nvCxnSpPr>
                                    <p:cNvPr id="289" name="Google Shape;289;g2f8676bec87_2_178"/>
                                    <p:cNvCxnSpPr/>
                                    <p:nvPr/>
                                  </p:nvCxnSpPr>
                                  <p:spPr>
                                    <a:xfrm>
                                      <a:off x="1391279" y="1917714"/>
                                      <a:ext cx="588900" cy="0"/>
                                    </a:xfrm>
                                    <a:prstGeom prst="straightConnector1">
                                      <a:avLst/>
                                    </a:prstGeom>
                                    <a:noFill/>
                                    <a:ln w="9525" cap="flat" cmpd="sng">
                                      <a:solidFill>
                                        <a:srgbClr val="4A7EBB"/>
                                      </a:solidFill>
                                      <a:prstDash val="solid"/>
                                      <a:miter lim="800000"/>
                                      <a:headEnd type="none" w="med" len="med"/>
                                      <a:tailEnd type="none" w="med" len="med"/>
                                    </a:ln>
                                  </p:spPr>
                                </p:cxnSp>
                                <p:cxnSp>
                                  <p:nvCxnSpPr>
                                    <p:cNvPr id="290" name="Google Shape;290;g2f8676bec87_2_178"/>
                                    <p:cNvCxnSpPr/>
                                    <p:nvPr/>
                                  </p:nvCxnSpPr>
                                  <p:spPr>
                                    <a:xfrm>
                                      <a:off x="1980186" y="1917714"/>
                                      <a:ext cx="0" cy="3728400"/>
                                    </a:xfrm>
                                    <a:prstGeom prst="straightConnector1">
                                      <a:avLst/>
                                    </a:prstGeom>
                                    <a:noFill/>
                                    <a:ln w="9525" cap="flat" cmpd="sng">
                                      <a:solidFill>
                                        <a:srgbClr val="4A7EBB"/>
                                      </a:solidFill>
                                      <a:prstDash val="solid"/>
                                      <a:miter lim="800000"/>
                                      <a:headEnd type="none" w="med" len="med"/>
                                      <a:tailEnd type="none" w="med" len="med"/>
                                    </a:ln>
                                  </p:spPr>
                                </p:cxnSp>
                              </p:grpSp>
                            </p:grpSp>
                          </p:grpSp>
                        </p:grpSp>
                      </p:grpSp>
                    </p:grpSp>
                  </p:grpSp>
                  <p:cxnSp>
                    <p:nvCxnSpPr>
                      <p:cNvPr id="291" name="Google Shape;291;g2f8676bec87_2_178"/>
                      <p:cNvCxnSpPr/>
                      <p:nvPr/>
                    </p:nvCxnSpPr>
                    <p:spPr>
                      <a:xfrm>
                        <a:off x="1980186" y="3519291"/>
                        <a:ext cx="576300" cy="0"/>
                      </a:xfrm>
                      <a:prstGeom prst="straightConnector1">
                        <a:avLst/>
                      </a:prstGeom>
                      <a:noFill/>
                      <a:ln w="9525" cap="flat" cmpd="sng">
                        <a:solidFill>
                          <a:srgbClr val="4A7EBB"/>
                        </a:solidFill>
                        <a:prstDash val="solid"/>
                        <a:miter lim="800000"/>
                        <a:headEnd type="none" w="med" len="med"/>
                        <a:tailEnd type="none" w="med" len="med"/>
                      </a:ln>
                    </p:spPr>
                  </p:cxnSp>
                  <p:cxnSp>
                    <p:nvCxnSpPr>
                      <p:cNvPr id="292" name="Google Shape;292;g2f8676bec87_2_178"/>
                      <p:cNvCxnSpPr/>
                      <p:nvPr/>
                    </p:nvCxnSpPr>
                    <p:spPr>
                      <a:xfrm>
                        <a:off x="2556394" y="3519291"/>
                        <a:ext cx="0" cy="2152500"/>
                      </a:xfrm>
                      <a:prstGeom prst="straightConnector1">
                        <a:avLst/>
                      </a:prstGeom>
                      <a:noFill/>
                      <a:ln w="9525" cap="flat" cmpd="sng">
                        <a:solidFill>
                          <a:srgbClr val="4A7EBB"/>
                        </a:solidFill>
                        <a:prstDash val="solid"/>
                        <a:miter lim="800000"/>
                        <a:headEnd type="none" w="med" len="med"/>
                        <a:tailEnd type="none" w="med" len="med"/>
                      </a:ln>
                    </p:spPr>
                  </p:cxnSp>
                </p:grpSp>
                <p:sp>
                  <p:nvSpPr>
                    <p:cNvPr id="293" name="Google Shape;293;g2f8676bec87_2_178"/>
                    <p:cNvSpPr txBox="1"/>
                    <p:nvPr/>
                  </p:nvSpPr>
                  <p:spPr>
                    <a:xfrm>
                      <a:off x="1048399" y="332011"/>
                      <a:ext cx="312300" cy="615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Arial"/>
                        <a:buNone/>
                      </a:pPr>
                      <a:r>
                        <a:rPr lang="en" sz="2400" b="0" i="0" u="none">
                          <a:solidFill>
                            <a:schemeClr val="dk1"/>
                          </a:solidFill>
                          <a:latin typeface="Arial"/>
                          <a:ea typeface="Arial"/>
                          <a:cs typeface="Arial"/>
                          <a:sym typeface="Arial"/>
                        </a:rPr>
                        <a:t>7</a:t>
                      </a:r>
                      <a:endParaRPr/>
                    </a:p>
                  </p:txBody>
                </p:sp>
              </p:grpSp>
              <p:cxnSp>
                <p:nvCxnSpPr>
                  <p:cNvPr id="294" name="Google Shape;294;g2f8676bec87_2_178"/>
                  <p:cNvCxnSpPr/>
                  <p:nvPr/>
                </p:nvCxnSpPr>
                <p:spPr>
                  <a:xfrm rot="10800000">
                    <a:off x="2556394" y="562191"/>
                    <a:ext cx="0" cy="2957100"/>
                  </a:xfrm>
                  <a:prstGeom prst="straightConnector1">
                    <a:avLst/>
                  </a:prstGeom>
                  <a:noFill/>
                  <a:ln w="9525" cap="flat" cmpd="sng">
                    <a:solidFill>
                      <a:srgbClr val="4A7EBB"/>
                    </a:solidFill>
                    <a:prstDash val="solid"/>
                    <a:miter lim="800000"/>
                    <a:headEnd type="none" w="med" len="med"/>
                    <a:tailEnd type="none" w="med" len="med"/>
                  </a:ln>
                </p:spPr>
              </p:cxnSp>
              <p:cxnSp>
                <p:nvCxnSpPr>
                  <p:cNvPr id="295" name="Google Shape;295;g2f8676bec87_2_178"/>
                  <p:cNvCxnSpPr/>
                  <p:nvPr/>
                </p:nvCxnSpPr>
                <p:spPr>
                  <a:xfrm>
                    <a:off x="2556394" y="562168"/>
                    <a:ext cx="576300" cy="0"/>
                  </a:xfrm>
                  <a:prstGeom prst="straightConnector1">
                    <a:avLst/>
                  </a:prstGeom>
                  <a:noFill/>
                  <a:ln w="9525" cap="flat" cmpd="sng">
                    <a:solidFill>
                      <a:srgbClr val="4A7EBB"/>
                    </a:solidFill>
                    <a:prstDash val="solid"/>
                    <a:miter lim="800000"/>
                    <a:headEnd type="none" w="med" len="med"/>
                    <a:tailEnd type="none" w="med" len="med"/>
                  </a:ln>
                </p:spPr>
              </p:cxnSp>
              <p:cxnSp>
                <p:nvCxnSpPr>
                  <p:cNvPr id="296" name="Google Shape;296;g2f8676bec87_2_178"/>
                  <p:cNvCxnSpPr/>
                  <p:nvPr/>
                </p:nvCxnSpPr>
                <p:spPr>
                  <a:xfrm>
                    <a:off x="3132603" y="562168"/>
                    <a:ext cx="0" cy="5107800"/>
                  </a:xfrm>
                  <a:prstGeom prst="straightConnector1">
                    <a:avLst/>
                  </a:prstGeom>
                  <a:noFill/>
                  <a:ln w="9525" cap="flat" cmpd="sng">
                    <a:solidFill>
                      <a:srgbClr val="4A7EBB"/>
                    </a:solidFill>
                    <a:prstDash val="solid"/>
                    <a:miter lim="800000"/>
                    <a:headEnd type="none" w="med" len="med"/>
                    <a:tailEnd type="none" w="med" len="med"/>
                  </a:ln>
                </p:spPr>
              </p:cxnSp>
            </p:grpSp>
            <p:cxnSp>
              <p:nvCxnSpPr>
                <p:cNvPr id="297" name="Google Shape;297;g2f8676bec87_2_178"/>
                <p:cNvCxnSpPr/>
                <p:nvPr/>
              </p:nvCxnSpPr>
              <p:spPr>
                <a:xfrm>
                  <a:off x="3132603" y="1916127"/>
                  <a:ext cx="647700" cy="0"/>
                </a:xfrm>
                <a:prstGeom prst="straightConnector1">
                  <a:avLst/>
                </a:prstGeom>
                <a:noFill/>
                <a:ln w="9525" cap="flat" cmpd="sng">
                  <a:solidFill>
                    <a:srgbClr val="4A7EBB"/>
                  </a:solidFill>
                  <a:prstDash val="solid"/>
                  <a:miter lim="800000"/>
                  <a:headEnd type="none" w="med" len="med"/>
                  <a:tailEnd type="none" w="med" len="med"/>
                </a:ln>
              </p:spPr>
            </p:cxnSp>
            <p:cxnSp>
              <p:nvCxnSpPr>
                <p:cNvPr id="298" name="Google Shape;298;g2f8676bec87_2_178"/>
                <p:cNvCxnSpPr/>
                <p:nvPr/>
              </p:nvCxnSpPr>
              <p:spPr>
                <a:xfrm>
                  <a:off x="3780242" y="1916127"/>
                  <a:ext cx="0" cy="3753900"/>
                </a:xfrm>
                <a:prstGeom prst="straightConnector1">
                  <a:avLst/>
                </a:prstGeom>
                <a:noFill/>
                <a:ln w="9525" cap="flat" cmpd="sng">
                  <a:solidFill>
                    <a:srgbClr val="4A7EBB"/>
                  </a:solidFill>
                  <a:prstDash val="solid"/>
                  <a:miter lim="800000"/>
                  <a:headEnd type="none" w="med" len="med"/>
                  <a:tailEnd type="none" w="med" len="med"/>
                </a:ln>
              </p:spPr>
            </p:cxnSp>
          </p:grpSp>
          <p:cxnSp>
            <p:nvCxnSpPr>
              <p:cNvPr id="299" name="Google Shape;299;g2f8676bec87_2_178"/>
              <p:cNvCxnSpPr/>
              <p:nvPr/>
            </p:nvCxnSpPr>
            <p:spPr>
              <a:xfrm>
                <a:off x="3780242" y="2724058"/>
                <a:ext cx="576300" cy="0"/>
              </a:xfrm>
              <a:prstGeom prst="straightConnector1">
                <a:avLst/>
              </a:prstGeom>
              <a:noFill/>
              <a:ln w="9525" cap="flat" cmpd="sng">
                <a:solidFill>
                  <a:srgbClr val="4A7EBB"/>
                </a:solidFill>
                <a:prstDash val="solid"/>
                <a:miter lim="800000"/>
                <a:headEnd type="none" w="med" len="med"/>
                <a:tailEnd type="none" w="med" len="med"/>
              </a:ln>
            </p:spPr>
          </p:cxnSp>
          <p:cxnSp>
            <p:nvCxnSpPr>
              <p:cNvPr id="300" name="Google Shape;300;g2f8676bec87_2_178"/>
              <p:cNvCxnSpPr/>
              <p:nvPr/>
            </p:nvCxnSpPr>
            <p:spPr>
              <a:xfrm>
                <a:off x="4356450" y="2724058"/>
                <a:ext cx="0" cy="2946000"/>
              </a:xfrm>
              <a:prstGeom prst="straightConnector1">
                <a:avLst/>
              </a:prstGeom>
              <a:noFill/>
              <a:ln w="9525" cap="flat" cmpd="sng">
                <a:solidFill>
                  <a:srgbClr val="4A7EBB"/>
                </a:solidFill>
                <a:prstDash val="solid"/>
                <a:miter lim="800000"/>
                <a:headEnd type="none" w="med" len="med"/>
                <a:tailEnd type="none" w="med" len="med"/>
              </a:ln>
            </p:spPr>
          </p:cxnSp>
          <p:cxnSp>
            <p:nvCxnSpPr>
              <p:cNvPr id="301" name="Google Shape;301;g2f8676bec87_2_178"/>
              <p:cNvCxnSpPr/>
              <p:nvPr/>
            </p:nvCxnSpPr>
            <p:spPr>
              <a:xfrm>
                <a:off x="4356450" y="4358967"/>
                <a:ext cx="503100" cy="0"/>
              </a:xfrm>
              <a:prstGeom prst="straightConnector1">
                <a:avLst/>
              </a:prstGeom>
              <a:noFill/>
              <a:ln w="9525" cap="flat" cmpd="sng">
                <a:solidFill>
                  <a:srgbClr val="4A7EBB"/>
                </a:solidFill>
                <a:prstDash val="solid"/>
                <a:miter lim="800000"/>
                <a:headEnd type="none" w="med" len="med"/>
                <a:tailEnd type="none" w="med" len="med"/>
              </a:ln>
            </p:spPr>
          </p:cxnSp>
          <p:cxnSp>
            <p:nvCxnSpPr>
              <p:cNvPr id="302" name="Google Shape;302;g2f8676bec87_2_178"/>
              <p:cNvCxnSpPr/>
              <p:nvPr/>
            </p:nvCxnSpPr>
            <p:spPr>
              <a:xfrm>
                <a:off x="4859640" y="4358967"/>
                <a:ext cx="0" cy="1311000"/>
              </a:xfrm>
              <a:prstGeom prst="straightConnector1">
                <a:avLst/>
              </a:prstGeom>
              <a:noFill/>
              <a:ln w="9525" cap="flat" cmpd="sng">
                <a:solidFill>
                  <a:srgbClr val="4A7EBB"/>
                </a:solidFill>
                <a:prstDash val="solid"/>
                <a:miter lim="800000"/>
                <a:headEnd type="none" w="med" len="med"/>
                <a:tailEnd type="none" w="med" len="med"/>
              </a:ln>
            </p:spPr>
          </p:cxnSp>
        </p:grpSp>
      </p:grpSp>
      <p:grpSp>
        <p:nvGrpSpPr>
          <p:cNvPr id="303" name="Google Shape;303;g2f8676bec87_2_178"/>
          <p:cNvGrpSpPr/>
          <p:nvPr/>
        </p:nvGrpSpPr>
        <p:grpSpPr>
          <a:xfrm>
            <a:off x="715134" y="4271963"/>
            <a:ext cx="1747276" cy="466554"/>
            <a:chOff x="1529843" y="5703639"/>
            <a:chExt cx="1747451" cy="621989"/>
          </a:xfrm>
        </p:grpSpPr>
        <p:sp>
          <p:nvSpPr>
            <p:cNvPr id="304" name="Google Shape;304;g2f8676bec87_2_178"/>
            <p:cNvSpPr txBox="1"/>
            <p:nvPr/>
          </p:nvSpPr>
          <p:spPr>
            <a:xfrm>
              <a:off x="1529843" y="5703639"/>
              <a:ext cx="311400" cy="61560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Arial"/>
                <a:buNone/>
              </a:pPr>
              <a:r>
                <a:rPr lang="en" sz="2400" b="0" i="0" u="none" dirty="0">
                  <a:solidFill>
                    <a:schemeClr val="dk1"/>
                  </a:solidFill>
                  <a:latin typeface="Arial"/>
                  <a:ea typeface="Arial"/>
                  <a:cs typeface="Arial"/>
                  <a:sym typeface="Arial"/>
                </a:rPr>
                <a:t>1</a:t>
              </a:r>
              <a:endParaRPr lang="en" dirty="0"/>
            </a:p>
          </p:txBody>
        </p:sp>
        <p:sp>
          <p:nvSpPr>
            <p:cNvPr id="305" name="Google Shape;305;g2f8676bec87_2_178"/>
            <p:cNvSpPr txBox="1"/>
            <p:nvPr/>
          </p:nvSpPr>
          <p:spPr>
            <a:xfrm>
              <a:off x="2123728" y="5703640"/>
              <a:ext cx="457801" cy="61541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Arial"/>
                <a:buNone/>
              </a:pPr>
              <a:r>
                <a:rPr lang="en" sz="2400" b="0" i="0" u="none" dirty="0">
                  <a:solidFill>
                    <a:schemeClr val="dk1"/>
                  </a:solidFill>
                  <a:latin typeface="Arial"/>
                  <a:ea typeface="Arial"/>
                  <a:cs typeface="Arial"/>
                  <a:sym typeface="Arial"/>
                </a:rPr>
                <a:t> 2</a:t>
              </a:r>
              <a:endParaRPr dirty="0"/>
            </a:p>
          </p:txBody>
        </p:sp>
        <p:sp>
          <p:nvSpPr>
            <p:cNvPr id="306" name="Google Shape;306;g2f8676bec87_2_178"/>
            <p:cNvSpPr txBox="1"/>
            <p:nvPr/>
          </p:nvSpPr>
          <p:spPr>
            <a:xfrm>
              <a:off x="2699792" y="5710211"/>
              <a:ext cx="577502" cy="61541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Arial"/>
                <a:buNone/>
              </a:pPr>
              <a:r>
                <a:rPr lang="en" sz="2400" b="0" i="0" u="none" dirty="0">
                  <a:solidFill>
                    <a:schemeClr val="dk1"/>
                  </a:solidFill>
                  <a:latin typeface="Arial"/>
                  <a:ea typeface="Arial"/>
                  <a:cs typeface="Arial"/>
                  <a:sym typeface="Arial"/>
                </a:rPr>
                <a:t>  3</a:t>
              </a:r>
              <a:endParaRPr dirty="0"/>
            </a:p>
          </p:txBody>
        </p:sp>
      </p:grpSp>
      <p:sp>
        <p:nvSpPr>
          <p:cNvPr id="307" name="Google Shape;307;g2f8676bec87_2_178"/>
          <p:cNvSpPr txBox="1"/>
          <p:nvPr/>
        </p:nvSpPr>
        <p:spPr>
          <a:xfrm>
            <a:off x="2588069" y="4257675"/>
            <a:ext cx="1186906"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Arial"/>
              <a:buNone/>
            </a:pPr>
            <a:r>
              <a:rPr lang="en" sz="2400" b="0" i="0" u="none" dirty="0">
                <a:solidFill>
                  <a:schemeClr val="dk1"/>
                </a:solidFill>
                <a:latin typeface="Arial"/>
                <a:ea typeface="Arial"/>
                <a:cs typeface="Arial"/>
                <a:sym typeface="Arial"/>
              </a:rPr>
              <a:t>4</a:t>
            </a:r>
            <a:endParaRPr dirty="0"/>
          </a:p>
        </p:txBody>
      </p:sp>
      <p:sp>
        <p:nvSpPr>
          <p:cNvPr id="308" name="Google Shape;308;g2f8676bec87_2_178"/>
          <p:cNvSpPr txBox="1"/>
          <p:nvPr/>
        </p:nvSpPr>
        <p:spPr>
          <a:xfrm>
            <a:off x="3244284" y="4271963"/>
            <a:ext cx="1054566"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Arial"/>
              <a:buNone/>
            </a:pPr>
            <a:r>
              <a:rPr lang="en" sz="2400" b="0" i="0" u="none" dirty="0">
                <a:solidFill>
                  <a:schemeClr val="dk1"/>
                </a:solidFill>
                <a:latin typeface="Arial"/>
                <a:ea typeface="Arial"/>
                <a:cs typeface="Arial"/>
                <a:sym typeface="Arial"/>
              </a:rPr>
              <a:t>  5</a:t>
            </a:r>
            <a:endParaRPr dirty="0"/>
          </a:p>
        </p:txBody>
      </p:sp>
      <p:sp>
        <p:nvSpPr>
          <p:cNvPr id="309" name="Google Shape;309;g2f8676bec87_2_178"/>
          <p:cNvSpPr txBox="1"/>
          <p:nvPr/>
        </p:nvSpPr>
        <p:spPr>
          <a:xfrm>
            <a:off x="3900634" y="4256484"/>
            <a:ext cx="995116"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Arial"/>
              <a:buNone/>
            </a:pPr>
            <a:r>
              <a:rPr lang="en" sz="2400" b="0" i="0" u="none" dirty="0">
                <a:solidFill>
                  <a:schemeClr val="dk1"/>
                </a:solidFill>
                <a:latin typeface="Arial"/>
                <a:ea typeface="Arial"/>
                <a:cs typeface="Arial"/>
                <a:sym typeface="Arial"/>
              </a:rPr>
              <a:t>  6</a:t>
            </a:r>
            <a:endParaRPr dirty="0"/>
          </a:p>
        </p:txBody>
      </p:sp>
      <p:sp>
        <p:nvSpPr>
          <p:cNvPr id="310" name="Google Shape;310;g2f8676bec87_2_178"/>
          <p:cNvSpPr txBox="1"/>
          <p:nvPr/>
        </p:nvSpPr>
        <p:spPr>
          <a:xfrm>
            <a:off x="4679950" y="1040606"/>
            <a:ext cx="37671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 sz="3200" b="1" i="0" u="none" dirty="0">
                <a:solidFill>
                  <a:schemeClr val="dk1"/>
                </a:solidFill>
                <a:latin typeface="Times New Roman"/>
                <a:ea typeface="Times New Roman"/>
                <a:cs typeface="Times New Roman"/>
                <a:sym typeface="Times New Roman"/>
              </a:rPr>
              <a:t>Childrens age data</a:t>
            </a:r>
            <a:endParaRPr dirty="0"/>
          </a:p>
        </p:txBody>
      </p:sp>
      <p:sp>
        <p:nvSpPr>
          <p:cNvPr id="311" name="Google Shape;311;g2f8676bec87_2_178"/>
          <p:cNvSpPr txBox="1"/>
          <p:nvPr/>
        </p:nvSpPr>
        <p:spPr>
          <a:xfrm>
            <a:off x="4679950" y="263128"/>
            <a:ext cx="24843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600"/>
              <a:buFont typeface="Arial"/>
              <a:buNone/>
            </a:pPr>
            <a:r>
              <a:rPr lang="en" sz="3600" b="1" i="0" u="none">
                <a:solidFill>
                  <a:schemeClr val="dk1"/>
                </a:solidFill>
                <a:latin typeface="Arial"/>
                <a:ea typeface="Arial"/>
                <a:cs typeface="Arial"/>
                <a:sym typeface="Arial"/>
              </a:rPr>
              <a:t>Histogram</a:t>
            </a:r>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43"/>
          <p:cNvSpPr txBox="1">
            <a:spLocks noGrp="1"/>
          </p:cNvSpPr>
          <p:nvPr>
            <p:ph type="title"/>
          </p:nvPr>
        </p:nvSpPr>
        <p:spPr>
          <a:xfrm>
            <a:off x="311700" y="89452"/>
            <a:ext cx="8520600" cy="1480931"/>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400"/>
              </a:spcAft>
              <a:buClr>
                <a:schemeClr val="dk1"/>
              </a:buClr>
              <a:buSzPts val="1100"/>
              <a:buFont typeface="Arial"/>
              <a:buNone/>
            </a:pPr>
            <a:r>
              <a:rPr lang="en" sz="3200" b="1" dirty="0">
                <a:solidFill>
                  <a:srgbClr val="FF0000"/>
                </a:solidFill>
                <a:latin typeface="Times New Roman" panose="02020603050405020304" pitchFamily="18" charset="0"/>
                <a:cs typeface="Times New Roman" panose="02020603050405020304" pitchFamily="18" charset="0"/>
              </a:rPr>
              <a:t>Data Visualization:</a:t>
            </a:r>
            <a:br>
              <a:rPr lang="en" sz="3200" b="1" dirty="0">
                <a:solidFill>
                  <a:srgbClr val="FF0000"/>
                </a:solidFill>
                <a:latin typeface="Times New Roman" panose="02020603050405020304" pitchFamily="18" charset="0"/>
                <a:cs typeface="Times New Roman" panose="02020603050405020304" pitchFamily="18" charset="0"/>
              </a:rPr>
            </a:br>
            <a:r>
              <a:rPr lang="en" sz="3200" b="1" dirty="0">
                <a:latin typeface="Times New Roman" panose="02020603050405020304" pitchFamily="18" charset="0"/>
                <a:cs typeface="Times New Roman" panose="02020603050405020304" pitchFamily="18" charset="0"/>
              </a:rPr>
              <a:t>Box Plot (Box-and-Whisker Plot)</a:t>
            </a:r>
            <a:endParaRPr sz="3200" dirty="0">
              <a:solidFill>
                <a:srgbClr val="9900FF"/>
              </a:solidFill>
              <a:latin typeface="Times New Roman" panose="02020603050405020304" pitchFamily="18" charset="0"/>
              <a:cs typeface="Times New Roman" panose="02020603050405020304" pitchFamily="18" charset="0"/>
            </a:endParaRPr>
          </a:p>
        </p:txBody>
      </p:sp>
      <p:sp>
        <p:nvSpPr>
          <p:cNvPr id="403" name="Google Shape;403;p43"/>
          <p:cNvSpPr txBox="1">
            <a:spLocks noGrp="1"/>
          </p:cNvSpPr>
          <p:nvPr>
            <p:ph type="body" idx="1"/>
          </p:nvPr>
        </p:nvSpPr>
        <p:spPr>
          <a:xfrm>
            <a:off x="311700" y="1411357"/>
            <a:ext cx="8520600" cy="3518452"/>
          </a:xfrm>
          <a:prstGeom prst="rect">
            <a:avLst/>
          </a:prstGeom>
          <a:noFill/>
          <a:ln>
            <a:noFill/>
          </a:ln>
        </p:spPr>
        <p:txBody>
          <a:bodyPr spcFirstLastPara="1" wrap="square" lIns="91425" tIns="91425" rIns="91425" bIns="91425" anchor="t" anchorCtr="0">
            <a:normAutofit fontScale="25000" lnSpcReduction="20000"/>
          </a:bodyPr>
          <a:lstStyle/>
          <a:p>
            <a:pPr marL="0" lvl="0" indent="0" algn="l" rtl="0">
              <a:lnSpc>
                <a:spcPct val="150000"/>
              </a:lnSpc>
              <a:spcBef>
                <a:spcPts val="400"/>
              </a:spcBef>
              <a:spcAft>
                <a:spcPts val="0"/>
              </a:spcAft>
              <a:buClr>
                <a:schemeClr val="dk1"/>
              </a:buClr>
              <a:buSzPts val="275"/>
              <a:buFont typeface="Arial"/>
              <a:buNone/>
            </a:pPr>
            <a:r>
              <a:rPr lang="en" sz="9600" dirty="0">
                <a:solidFill>
                  <a:schemeClr val="tx1"/>
                </a:solidFill>
                <a:highlight>
                  <a:srgbClr val="FFFFFF"/>
                </a:highlight>
                <a:latin typeface="Times New Roman" panose="02020603050405020304" pitchFamily="18" charset="0"/>
                <a:cs typeface="Times New Roman" panose="02020603050405020304" pitchFamily="18" charset="0"/>
              </a:rPr>
              <a:t>The </a:t>
            </a:r>
            <a:r>
              <a:rPr lang="en" sz="9600" b="1" dirty="0">
                <a:solidFill>
                  <a:schemeClr val="tx1"/>
                </a:solidFill>
                <a:highlight>
                  <a:srgbClr val="FFFFFF"/>
                </a:highlight>
                <a:latin typeface="Times New Roman" panose="02020603050405020304" pitchFamily="18" charset="0"/>
                <a:cs typeface="Times New Roman" panose="02020603050405020304" pitchFamily="18" charset="0"/>
              </a:rPr>
              <a:t>Box Plot</a:t>
            </a:r>
            <a:r>
              <a:rPr lang="en" sz="9600" dirty="0">
                <a:solidFill>
                  <a:schemeClr val="tx1"/>
                </a:solidFill>
                <a:highlight>
                  <a:srgbClr val="FFFFFF"/>
                </a:highlight>
                <a:latin typeface="Times New Roman" panose="02020603050405020304" pitchFamily="18" charset="0"/>
                <a:cs typeface="Times New Roman" panose="02020603050405020304" pitchFamily="18" charset="0"/>
              </a:rPr>
              <a:t> is a graphical representation of a dataset’s five-number summary: minimum, first quartile (25th percentile), median (50th percentile), third quartile (75th percentile), and maximum. Developed by John Tukey in the 1970s, this plotting system has been recognized for its concise delivery of the distribution of a dataset, thus simplifying the data analysis process.</a:t>
            </a:r>
            <a:endParaRPr sz="9600" dirty="0">
              <a:solidFill>
                <a:schemeClr val="tx1"/>
              </a:solidFill>
              <a:highlight>
                <a:srgbClr val="FFFFFF"/>
              </a:highlight>
              <a:latin typeface="Times New Roman" panose="02020603050405020304" pitchFamily="18" charset="0"/>
              <a:cs typeface="Times New Roman" panose="02020603050405020304" pitchFamily="18" charset="0"/>
            </a:endParaRPr>
          </a:p>
          <a:p>
            <a:pPr marL="0" lvl="0" indent="0" algn="l" rtl="0">
              <a:lnSpc>
                <a:spcPct val="100000"/>
              </a:lnSpc>
              <a:spcBef>
                <a:spcPts val="0"/>
              </a:spcBef>
              <a:spcAft>
                <a:spcPts val="0"/>
              </a:spcAft>
              <a:buClr>
                <a:schemeClr val="dk1"/>
              </a:buClr>
              <a:buSzPts val="275"/>
              <a:buFont typeface="Arial"/>
              <a:buNone/>
            </a:pPr>
            <a:endParaRPr sz="9600" dirty="0">
              <a:solidFill>
                <a:schemeClr val="tx1"/>
              </a:solidFill>
              <a:highlight>
                <a:srgbClr val="FFFFFF"/>
              </a:highlight>
              <a:latin typeface="Times New Roman" panose="02020603050405020304" pitchFamily="18" charset="0"/>
              <a:cs typeface="Times New Roman" panose="02020603050405020304" pitchFamily="18" charset="0"/>
            </a:endParaRPr>
          </a:p>
          <a:p>
            <a:pPr marL="0" lvl="0" indent="0" algn="l" rtl="0">
              <a:lnSpc>
                <a:spcPct val="115000"/>
              </a:lnSpc>
              <a:spcBef>
                <a:spcPts val="1200"/>
              </a:spcBef>
              <a:spcAft>
                <a:spcPts val="0"/>
              </a:spcAft>
              <a:buSzPct val="78260"/>
              <a:buNone/>
            </a:pPr>
            <a:endParaRPr sz="9200" dirty="0">
              <a:solidFill>
                <a:schemeClr val="dk1"/>
              </a:solidFill>
            </a:endParaRPr>
          </a:p>
          <a:p>
            <a:pPr marL="0" lvl="0" indent="0" algn="l" rtl="0">
              <a:lnSpc>
                <a:spcPct val="115000"/>
              </a:lnSpc>
              <a:spcBef>
                <a:spcPts val="1400"/>
              </a:spcBef>
              <a:spcAft>
                <a:spcPts val="400"/>
              </a:spcAft>
              <a:buClr>
                <a:schemeClr val="dk1"/>
              </a:buClr>
              <a:buSzPts val="275"/>
              <a:buFont typeface="Arial"/>
              <a:buNone/>
            </a:pPr>
            <a:endParaRPr sz="9200" b="1" dirty="0">
              <a:solidFill>
                <a:schemeClr val="dk1"/>
              </a:solidFill>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44"/>
          <p:cNvSpPr txBox="1">
            <a:spLocks noGrp="1"/>
          </p:cNvSpPr>
          <p:nvPr>
            <p:ph type="body" idx="4294967295"/>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2400" dirty="0">
                <a:solidFill>
                  <a:schemeClr val="tx1"/>
                </a:solidFill>
                <a:highlight>
                  <a:srgbClr val="FFFFFF"/>
                </a:highlight>
                <a:latin typeface="Times New Roman" panose="02020603050405020304" pitchFamily="18" charset="0"/>
                <a:cs typeface="Times New Roman" panose="02020603050405020304" pitchFamily="18" charset="0"/>
              </a:rPr>
              <a:t>It’s a powerful tool in </a:t>
            </a:r>
            <a:r>
              <a:rPr lang="en" sz="2400" b="1" dirty="0">
                <a:solidFill>
                  <a:schemeClr val="tx1"/>
                </a:solidFill>
                <a:highlight>
                  <a:srgbClr val="FFFFFF"/>
                </a:highlight>
                <a:latin typeface="Times New Roman" panose="02020603050405020304" pitchFamily="18" charset="0"/>
                <a:cs typeface="Times New Roman" panose="02020603050405020304" pitchFamily="18" charset="0"/>
              </a:rPr>
              <a:t>data analysis</a:t>
            </a:r>
            <a:r>
              <a:rPr lang="en" sz="2400" dirty="0">
                <a:solidFill>
                  <a:schemeClr val="tx1"/>
                </a:solidFill>
                <a:highlight>
                  <a:srgbClr val="FFFFFF"/>
                </a:highlight>
                <a:latin typeface="Times New Roman" panose="02020603050405020304" pitchFamily="18" charset="0"/>
                <a:cs typeface="Times New Roman" panose="02020603050405020304" pitchFamily="18" charset="0"/>
              </a:rPr>
              <a:t> because it can clearly highlight the dataset’s central tendency, dispersion, and skewness. Moreover, it effectively visualizes outliers, providing a complete picture of the data distribution. This is particularly useful when comparing multiple datasets, as it offers a clear, comparative visualization of the different data distributions.</a:t>
            </a:r>
            <a:endParaRPr sz="2400" dirty="0">
              <a:solidFill>
                <a:schemeClr val="tx1"/>
              </a:solidFill>
              <a:highlight>
                <a:srgbClr val="FFFFFF"/>
              </a:highlight>
              <a:latin typeface="Times New Roman" panose="02020603050405020304" pitchFamily="18" charset="0"/>
              <a:cs typeface="Times New Roman" panose="02020603050405020304" pitchFamily="18" charset="0"/>
            </a:endParaRPr>
          </a:p>
          <a:p>
            <a:pPr marL="0" lvl="0" indent="0" algn="l" rtl="0">
              <a:lnSpc>
                <a:spcPct val="115000"/>
              </a:lnSpc>
              <a:spcBef>
                <a:spcPts val="0"/>
              </a:spcBef>
              <a:spcAft>
                <a:spcPts val="0"/>
              </a:spcAft>
              <a:buClr>
                <a:schemeClr val="dk1"/>
              </a:buClr>
              <a:buSzPts val="1100"/>
              <a:buFont typeface="Arial"/>
              <a:buNone/>
            </a:pPr>
            <a:endParaRPr sz="2400"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0"/>
              </a:spcBef>
              <a:spcAft>
                <a:spcPts val="1200"/>
              </a:spcAft>
              <a:buSzPts val="1800"/>
              <a:buNone/>
            </a:pPr>
            <a:endParaRPr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45"/>
          <p:cNvSpPr txBox="1">
            <a:spLocks noGrp="1"/>
          </p:cNvSpPr>
          <p:nvPr>
            <p:ph type="title"/>
          </p:nvPr>
        </p:nvSpPr>
        <p:spPr>
          <a:xfrm>
            <a:off x="311700" y="445025"/>
            <a:ext cx="8520600" cy="827184"/>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Clr>
                <a:schemeClr val="dk1"/>
              </a:buClr>
              <a:buSzPts val="1100"/>
              <a:buFont typeface="Arial"/>
              <a:buNone/>
            </a:pPr>
            <a:r>
              <a:rPr lang="en" sz="3500" dirty="0">
                <a:latin typeface="Times New Roman" panose="02020603050405020304" pitchFamily="18" charset="0"/>
                <a:cs typeface="Times New Roman" panose="02020603050405020304" pitchFamily="18" charset="0"/>
              </a:rPr>
              <a:t>The </a:t>
            </a:r>
            <a:r>
              <a:rPr lang="en" sz="3500" dirty="0">
                <a:solidFill>
                  <a:srgbClr val="FF0000"/>
                </a:solidFill>
                <a:latin typeface="Times New Roman" panose="02020603050405020304" pitchFamily="18" charset="0"/>
                <a:cs typeface="Times New Roman" panose="02020603050405020304" pitchFamily="18" charset="0"/>
              </a:rPr>
              <a:t>five numbers </a:t>
            </a:r>
            <a:r>
              <a:rPr lang="en" sz="3500" dirty="0">
                <a:latin typeface="Times New Roman" panose="02020603050405020304" pitchFamily="18" charset="0"/>
                <a:cs typeface="Times New Roman" panose="02020603050405020304" pitchFamily="18" charset="0"/>
              </a:rPr>
              <a:t>used in a box plot are</a:t>
            </a:r>
            <a:r>
              <a:rPr lang="en" sz="3600" dirty="0">
                <a:latin typeface="Times New Roman" panose="02020603050405020304" pitchFamily="18" charset="0"/>
                <a:cs typeface="Times New Roman" panose="02020603050405020304" pitchFamily="18" charset="0"/>
              </a:rPr>
              <a:t>:</a:t>
            </a:r>
            <a:endParaRPr sz="3600" dirty="0">
              <a:latin typeface="Times New Roman" panose="02020603050405020304" pitchFamily="18" charset="0"/>
              <a:cs typeface="Times New Roman" panose="02020603050405020304" pitchFamily="18" charset="0"/>
            </a:endParaRPr>
          </a:p>
        </p:txBody>
      </p:sp>
      <p:sp>
        <p:nvSpPr>
          <p:cNvPr id="414" name="Google Shape;414;p45"/>
          <p:cNvSpPr txBox="1">
            <a:spLocks noGrp="1"/>
          </p:cNvSpPr>
          <p:nvPr>
            <p:ph type="body" idx="1"/>
          </p:nvPr>
        </p:nvSpPr>
        <p:spPr>
          <a:xfrm>
            <a:off x="311700" y="1272209"/>
            <a:ext cx="8520600" cy="3313266"/>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1200"/>
              </a:spcBef>
              <a:spcAft>
                <a:spcPts val="0"/>
              </a:spcAft>
              <a:buClr>
                <a:schemeClr val="dk1"/>
              </a:buClr>
              <a:buSzPct val="100000"/>
              <a:buFont typeface="Arial"/>
              <a:buNone/>
            </a:pPr>
            <a:endParaRPr sz="1100" dirty="0">
              <a:solidFill>
                <a:schemeClr val="dk1"/>
              </a:solidFill>
            </a:endParaRPr>
          </a:p>
          <a:p>
            <a:pPr marL="457200" lvl="0" indent="-374332" algn="l" rtl="0">
              <a:lnSpc>
                <a:spcPct val="115000"/>
              </a:lnSpc>
              <a:spcBef>
                <a:spcPts val="1200"/>
              </a:spcBef>
              <a:spcAft>
                <a:spcPts val="0"/>
              </a:spcAft>
              <a:buClr>
                <a:schemeClr val="dk1"/>
              </a:buClr>
              <a:buSzPct val="100000"/>
              <a:buAutoNum type="arabicPeriod"/>
            </a:pPr>
            <a:r>
              <a:rPr lang="en" sz="2700" dirty="0">
                <a:solidFill>
                  <a:schemeClr val="dk1"/>
                </a:solidFill>
                <a:latin typeface="Times New Roman" panose="02020603050405020304" pitchFamily="18" charset="0"/>
                <a:cs typeface="Times New Roman" panose="02020603050405020304" pitchFamily="18" charset="0"/>
              </a:rPr>
              <a:t>Minimum</a:t>
            </a:r>
            <a:endParaRPr sz="2700" dirty="0">
              <a:solidFill>
                <a:schemeClr val="dk1"/>
              </a:solidFill>
              <a:latin typeface="Times New Roman" panose="02020603050405020304" pitchFamily="18" charset="0"/>
              <a:cs typeface="Times New Roman" panose="02020603050405020304" pitchFamily="18" charset="0"/>
            </a:endParaRPr>
          </a:p>
          <a:p>
            <a:pPr marL="457200" lvl="0" indent="-374332" algn="l" rtl="0">
              <a:lnSpc>
                <a:spcPct val="115000"/>
              </a:lnSpc>
              <a:spcBef>
                <a:spcPts val="0"/>
              </a:spcBef>
              <a:spcAft>
                <a:spcPts val="0"/>
              </a:spcAft>
              <a:buClr>
                <a:schemeClr val="dk1"/>
              </a:buClr>
              <a:buSzPct val="100000"/>
              <a:buAutoNum type="arabicPeriod"/>
            </a:pPr>
            <a:r>
              <a:rPr lang="en" sz="2700" dirty="0">
                <a:solidFill>
                  <a:schemeClr val="dk1"/>
                </a:solidFill>
                <a:latin typeface="Times New Roman" panose="02020603050405020304" pitchFamily="18" charset="0"/>
                <a:cs typeface="Times New Roman" panose="02020603050405020304" pitchFamily="18" charset="0"/>
              </a:rPr>
              <a:t>First Quartile (Q1)</a:t>
            </a:r>
            <a:endParaRPr sz="2700" dirty="0">
              <a:solidFill>
                <a:schemeClr val="dk1"/>
              </a:solidFill>
              <a:latin typeface="Times New Roman" panose="02020603050405020304" pitchFamily="18" charset="0"/>
              <a:cs typeface="Times New Roman" panose="02020603050405020304" pitchFamily="18" charset="0"/>
            </a:endParaRPr>
          </a:p>
          <a:p>
            <a:pPr marL="457200" lvl="0" indent="-374332" algn="l" rtl="0">
              <a:lnSpc>
                <a:spcPct val="115000"/>
              </a:lnSpc>
              <a:spcBef>
                <a:spcPts val="0"/>
              </a:spcBef>
              <a:spcAft>
                <a:spcPts val="0"/>
              </a:spcAft>
              <a:buClr>
                <a:schemeClr val="dk1"/>
              </a:buClr>
              <a:buSzPct val="100000"/>
              <a:buAutoNum type="arabicPeriod"/>
            </a:pPr>
            <a:r>
              <a:rPr lang="en" sz="2700" dirty="0">
                <a:solidFill>
                  <a:schemeClr val="dk1"/>
                </a:solidFill>
                <a:latin typeface="Times New Roman" panose="02020603050405020304" pitchFamily="18" charset="0"/>
                <a:cs typeface="Times New Roman" panose="02020603050405020304" pitchFamily="18" charset="0"/>
              </a:rPr>
              <a:t>Median (Q2)</a:t>
            </a:r>
            <a:endParaRPr sz="2700" dirty="0">
              <a:solidFill>
                <a:schemeClr val="dk1"/>
              </a:solidFill>
              <a:latin typeface="Times New Roman" panose="02020603050405020304" pitchFamily="18" charset="0"/>
              <a:cs typeface="Times New Roman" panose="02020603050405020304" pitchFamily="18" charset="0"/>
            </a:endParaRPr>
          </a:p>
          <a:p>
            <a:pPr marL="457200" lvl="0" indent="-374332" algn="l" rtl="0">
              <a:lnSpc>
                <a:spcPct val="115000"/>
              </a:lnSpc>
              <a:spcBef>
                <a:spcPts val="0"/>
              </a:spcBef>
              <a:spcAft>
                <a:spcPts val="0"/>
              </a:spcAft>
              <a:buClr>
                <a:schemeClr val="dk1"/>
              </a:buClr>
              <a:buSzPct val="100000"/>
              <a:buAutoNum type="arabicPeriod"/>
            </a:pPr>
            <a:r>
              <a:rPr lang="en" sz="2700" dirty="0">
                <a:solidFill>
                  <a:schemeClr val="dk1"/>
                </a:solidFill>
                <a:latin typeface="Times New Roman" panose="02020603050405020304" pitchFamily="18" charset="0"/>
                <a:cs typeface="Times New Roman" panose="02020603050405020304" pitchFamily="18" charset="0"/>
              </a:rPr>
              <a:t>Third Quartile (Q3)</a:t>
            </a:r>
            <a:endParaRPr sz="2700" dirty="0">
              <a:solidFill>
                <a:schemeClr val="dk1"/>
              </a:solidFill>
              <a:latin typeface="Times New Roman" panose="02020603050405020304" pitchFamily="18" charset="0"/>
              <a:cs typeface="Times New Roman" panose="02020603050405020304" pitchFamily="18" charset="0"/>
            </a:endParaRPr>
          </a:p>
          <a:p>
            <a:pPr marL="457200" lvl="0" indent="-374332" algn="l" rtl="0">
              <a:lnSpc>
                <a:spcPct val="115000"/>
              </a:lnSpc>
              <a:spcBef>
                <a:spcPts val="0"/>
              </a:spcBef>
              <a:spcAft>
                <a:spcPts val="0"/>
              </a:spcAft>
              <a:buClr>
                <a:schemeClr val="dk1"/>
              </a:buClr>
              <a:buSzPct val="100000"/>
              <a:buAutoNum type="arabicPeriod"/>
            </a:pPr>
            <a:r>
              <a:rPr lang="en" sz="2700" dirty="0">
                <a:solidFill>
                  <a:schemeClr val="dk1"/>
                </a:solidFill>
                <a:latin typeface="Times New Roman" panose="02020603050405020304" pitchFamily="18" charset="0"/>
                <a:cs typeface="Times New Roman" panose="02020603050405020304" pitchFamily="18" charset="0"/>
              </a:rPr>
              <a:t>Maximum</a:t>
            </a:r>
            <a:endParaRPr sz="2700"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200"/>
              </a:spcBef>
              <a:spcAft>
                <a:spcPts val="1200"/>
              </a:spcAft>
              <a:buSzPct val="86434"/>
              <a:buNone/>
            </a:pPr>
            <a:endParaRPr sz="24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pic>
        <p:nvPicPr>
          <p:cNvPr id="419" name="Google Shape;419;p46"/>
          <p:cNvPicPr preferRelativeResize="0"/>
          <p:nvPr/>
        </p:nvPicPr>
        <p:blipFill rotWithShape="1">
          <a:blip r:embed="rId3">
            <a:alphaModFix/>
          </a:blip>
          <a:srcRect/>
          <a:stretch/>
        </p:blipFill>
        <p:spPr>
          <a:xfrm>
            <a:off x="0" y="618625"/>
            <a:ext cx="8723801" cy="3845150"/>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pic>
        <p:nvPicPr>
          <p:cNvPr id="424" name="Google Shape;424;p47"/>
          <p:cNvPicPr preferRelativeResize="0"/>
          <p:nvPr/>
        </p:nvPicPr>
        <p:blipFill rotWithShape="1">
          <a:blip r:embed="rId3">
            <a:alphaModFix/>
          </a:blip>
          <a:srcRect/>
          <a:stretch/>
        </p:blipFill>
        <p:spPr>
          <a:xfrm>
            <a:off x="500875" y="589350"/>
            <a:ext cx="7873375" cy="3841125"/>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48"/>
          <p:cNvSpPr txBox="1"/>
          <p:nvPr/>
        </p:nvSpPr>
        <p:spPr>
          <a:xfrm>
            <a:off x="0" y="0"/>
            <a:ext cx="9144000" cy="5539948"/>
          </a:xfrm>
          <a:prstGeom prst="rect">
            <a:avLst/>
          </a:prstGeom>
          <a:noFill/>
          <a:ln>
            <a:noFill/>
          </a:ln>
        </p:spPr>
        <p:txBody>
          <a:bodyPr spcFirstLastPara="1" wrap="square" lIns="91425" tIns="91425" rIns="91425" bIns="91425" anchor="t" anchorCtr="0">
            <a:spAutoFit/>
          </a:bodyPr>
          <a:lstStyle/>
          <a:p>
            <a:pPr marL="76200">
              <a:lnSpc>
                <a:spcPct val="150000"/>
              </a:lnSpc>
              <a:buClr>
                <a:srgbClr val="2D3748"/>
              </a:buClr>
              <a:buSzPts val="2400"/>
            </a:pPr>
            <a:r>
              <a:rPr lang="en-US" sz="2400" b="1" i="0" u="none" strike="noStrike" cap="none" dirty="0">
                <a:solidFill>
                  <a:srgbClr val="FF0000"/>
                </a:solidFill>
                <a:highlight>
                  <a:srgbClr val="FFFFFF"/>
                </a:highlight>
                <a:latin typeface="Times New Roman" panose="02020603050405020304" pitchFamily="18" charset="0"/>
                <a:cs typeface="Times New Roman" panose="02020603050405020304" pitchFamily="18" charset="0"/>
                <a:sym typeface="Arial"/>
              </a:rPr>
              <a:t>     The Essential Components of a Box Plot</a:t>
            </a:r>
          </a:p>
          <a:p>
            <a:pPr marL="457200" indent="-381000">
              <a:lnSpc>
                <a:spcPct val="150000"/>
              </a:lnSpc>
              <a:buClr>
                <a:srgbClr val="2D3748"/>
              </a:buClr>
              <a:buSzPts val="2400"/>
              <a:buFont typeface="Wingdings" panose="05000000000000000000" pitchFamily="2" charset="2"/>
              <a:buChar char="Ø"/>
            </a:pPr>
            <a:r>
              <a:rPr lang="en-US" sz="2000" b="0" i="0" u="none" strike="noStrike" cap="none" dirty="0">
                <a:solidFill>
                  <a:srgbClr val="2D3748"/>
                </a:solidFill>
                <a:highlight>
                  <a:srgbClr val="FFFFFF"/>
                </a:highlight>
                <a:latin typeface="Times New Roman" panose="02020603050405020304" pitchFamily="18" charset="0"/>
                <a:cs typeface="Times New Roman" panose="02020603050405020304" pitchFamily="18" charset="0"/>
                <a:sym typeface="Arial"/>
              </a:rPr>
              <a:t>The second quartile (Q2) median is the middle value that separates the data into two halves. It measures central tendency, providing a snapshot of the data’s center.</a:t>
            </a:r>
            <a:endParaRPr sz="2000" b="0" i="0" u="none" strike="noStrike" cap="none" dirty="0">
              <a:solidFill>
                <a:srgbClr val="2D3748"/>
              </a:solidFill>
              <a:highlight>
                <a:srgbClr val="FFFFFF"/>
              </a:highlight>
              <a:latin typeface="Times New Roman" panose="02020603050405020304" pitchFamily="18" charset="0"/>
              <a:cs typeface="Times New Roman" panose="02020603050405020304" pitchFamily="18" charset="0"/>
              <a:sym typeface="Arial"/>
            </a:endParaRPr>
          </a:p>
          <a:p>
            <a:pPr marL="457200" indent="-381000">
              <a:lnSpc>
                <a:spcPct val="150000"/>
              </a:lnSpc>
              <a:buClr>
                <a:srgbClr val="2D3748"/>
              </a:buClr>
              <a:buSzPts val="2400"/>
              <a:buFont typeface="Wingdings" panose="05000000000000000000" pitchFamily="2" charset="2"/>
              <a:buChar char="Ø"/>
            </a:pPr>
            <a:r>
              <a:rPr lang="en-US" sz="2000" b="0" i="0" u="none" strike="noStrike" cap="none" dirty="0">
                <a:solidFill>
                  <a:srgbClr val="2D3748"/>
                </a:solidFill>
                <a:highlight>
                  <a:srgbClr val="FFFFFF"/>
                </a:highlight>
                <a:latin typeface="Times New Roman" panose="02020603050405020304" pitchFamily="18" charset="0"/>
                <a:cs typeface="Times New Roman" panose="02020603050405020304" pitchFamily="18" charset="0"/>
                <a:sym typeface="Arial"/>
              </a:rPr>
              <a:t>Quartiles Q1 and Q3, marking the box ends, reflect the data’s dispersion. These quartiles represent the 25th and 75th percentiles of the dataset, respectively. The Q1 mark represents the median of the first half of the data, while the Q3 represents the median of the second half.</a:t>
            </a:r>
          </a:p>
          <a:p>
            <a:pPr marL="457200" indent="-381000">
              <a:lnSpc>
                <a:spcPct val="150000"/>
              </a:lnSpc>
              <a:buClr>
                <a:srgbClr val="2D3748"/>
              </a:buClr>
              <a:buSzPts val="2400"/>
              <a:buFont typeface="Wingdings" panose="05000000000000000000" pitchFamily="2" charset="2"/>
              <a:buChar char="Ø"/>
            </a:pPr>
            <a:r>
              <a:rPr lang="en-US" sz="2000" b="0" i="0" u="none" strike="noStrike" cap="none" dirty="0">
                <a:solidFill>
                  <a:srgbClr val="2D3748"/>
                </a:solidFill>
                <a:highlight>
                  <a:srgbClr val="FFFFFF"/>
                </a:highlight>
                <a:latin typeface="Times New Roman" panose="02020603050405020304" pitchFamily="18" charset="0"/>
                <a:cs typeface="Times New Roman" panose="02020603050405020304" pitchFamily="18" charset="0"/>
                <a:sym typeface="Arial"/>
              </a:rPr>
              <a:t>The </a:t>
            </a:r>
            <a:r>
              <a:rPr lang="en-US" sz="2000" b="1" i="0" u="none" strike="noStrike" cap="none" dirty="0">
                <a:solidFill>
                  <a:srgbClr val="2D3748"/>
                </a:solidFill>
                <a:highlight>
                  <a:srgbClr val="FFFFFF"/>
                </a:highlight>
                <a:latin typeface="Times New Roman" panose="02020603050405020304" pitchFamily="18" charset="0"/>
                <a:cs typeface="Times New Roman" panose="02020603050405020304" pitchFamily="18" charset="0"/>
                <a:sym typeface="Arial"/>
              </a:rPr>
              <a:t>whiskers </a:t>
            </a:r>
            <a:r>
              <a:rPr lang="en-US" sz="2000" b="0" i="0" u="none" strike="noStrike" cap="none" dirty="0">
                <a:solidFill>
                  <a:srgbClr val="2D3748"/>
                </a:solidFill>
                <a:highlight>
                  <a:srgbClr val="FFFFFF"/>
                </a:highlight>
                <a:latin typeface="Times New Roman" panose="02020603050405020304" pitchFamily="18" charset="0"/>
                <a:cs typeface="Times New Roman" panose="02020603050405020304" pitchFamily="18" charset="0"/>
                <a:sym typeface="Arial"/>
              </a:rPr>
              <a:t>are lines extending from the box, reaching the minimum and maximum non-outlier data points. </a:t>
            </a:r>
          </a:p>
          <a:p>
            <a:pPr marL="457200" marR="0" lvl="0" indent="-381000" algn="l" rtl="0">
              <a:lnSpc>
                <a:spcPct val="150000"/>
              </a:lnSpc>
              <a:spcBef>
                <a:spcPts val="0"/>
              </a:spcBef>
              <a:spcAft>
                <a:spcPts val="0"/>
              </a:spcAft>
              <a:buClr>
                <a:srgbClr val="2D3748"/>
              </a:buClr>
              <a:buSzPts val="2400"/>
              <a:buFont typeface="Wingdings" panose="05000000000000000000" pitchFamily="2" charset="2"/>
              <a:buChar char="Ø"/>
            </a:pPr>
            <a:endParaRPr lang="en-US" sz="2400" dirty="0">
              <a:solidFill>
                <a:srgbClr val="2D3748"/>
              </a:solidFill>
              <a:highlight>
                <a:srgbClr val="FFFFFF"/>
              </a:highlight>
              <a:latin typeface="Times New Roman" panose="02020603050405020304" pitchFamily="18" charset="0"/>
              <a:cs typeface="Times New Roman" panose="02020603050405020304" pitchFamily="18" charset="0"/>
            </a:endParaRPr>
          </a:p>
          <a:p>
            <a:pPr marL="76200" marR="0" lvl="0" algn="l" rtl="0">
              <a:lnSpc>
                <a:spcPct val="150000"/>
              </a:lnSpc>
              <a:spcBef>
                <a:spcPts val="0"/>
              </a:spcBef>
              <a:spcAft>
                <a:spcPts val="0"/>
              </a:spcAft>
              <a:buClr>
                <a:srgbClr val="2D3748"/>
              </a:buClr>
              <a:buSzPts val="2400"/>
            </a:pPr>
            <a:endParaRPr lang="en-US" sz="2400" b="0" i="0" u="none" strike="noStrike" cap="none" dirty="0">
              <a:solidFill>
                <a:srgbClr val="2D3748"/>
              </a:solidFill>
              <a:highlight>
                <a:srgbClr val="FFFFFF"/>
              </a:highlight>
              <a:latin typeface="Times New Roman" panose="02020603050405020304" pitchFamily="18" charset="0"/>
              <a:cs typeface="Times New Roman" panose="02020603050405020304" pitchFamily="18" charset="0"/>
              <a:sym typeface="Arial"/>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50"/>
          <p:cNvSpPr txBox="1"/>
          <p:nvPr/>
        </p:nvSpPr>
        <p:spPr>
          <a:xfrm>
            <a:off x="0" y="0"/>
            <a:ext cx="9056700" cy="7078831"/>
          </a:xfrm>
          <a:prstGeom prst="rect">
            <a:avLst/>
          </a:prstGeom>
          <a:noFill/>
          <a:ln>
            <a:noFill/>
          </a:ln>
        </p:spPr>
        <p:txBody>
          <a:bodyPr spcFirstLastPara="1" wrap="square" lIns="91425" tIns="91425" rIns="91425" bIns="91425" anchor="t" anchorCtr="0">
            <a:spAutoFit/>
          </a:bodyPr>
          <a:lstStyle/>
          <a:p>
            <a:pPr marL="360000">
              <a:lnSpc>
                <a:spcPct val="115000"/>
              </a:lnSpc>
              <a:buSzPts val="2200"/>
            </a:pPr>
            <a:r>
              <a:rPr lang="en-US" sz="2000" b="0" i="0" u="none" strike="noStrike" cap="none" dirty="0">
                <a:solidFill>
                  <a:srgbClr val="2D3748"/>
                </a:solidFill>
                <a:highlight>
                  <a:srgbClr val="FFFFFF"/>
                </a:highlight>
                <a:latin typeface="Times New Roman" panose="02020603050405020304" pitchFamily="18" charset="0"/>
                <a:cs typeface="Times New Roman" panose="02020603050405020304" pitchFamily="18" charset="0"/>
                <a:sym typeface="Arial"/>
              </a:rPr>
              <a:t>Usually, the lower whisker extends from Q1 to the smallest non-outlier data point, and the upper whisker extends from Q3 to the largest non-outlier data point.</a:t>
            </a:r>
            <a:endParaRPr lang="en" sz="2000" b="0" i="0" u="none" strike="noStrike" cap="none" dirty="0">
              <a:solidFill>
                <a:srgbClr val="2D3748"/>
              </a:solidFill>
              <a:highlight>
                <a:srgbClr val="FFFFFF"/>
              </a:highlight>
              <a:latin typeface="Times New Roman" panose="02020603050405020304" pitchFamily="18" charset="0"/>
              <a:cs typeface="Times New Roman" panose="02020603050405020304" pitchFamily="18" charset="0"/>
              <a:sym typeface="Arial"/>
            </a:endParaRPr>
          </a:p>
          <a:p>
            <a:pPr marL="360000" marR="0" lvl="0" indent="-342900" algn="l" rtl="0">
              <a:lnSpc>
                <a:spcPct val="150000"/>
              </a:lnSpc>
              <a:spcBef>
                <a:spcPts val="0"/>
              </a:spcBef>
              <a:spcAft>
                <a:spcPts val="0"/>
              </a:spcAft>
              <a:buClr>
                <a:srgbClr val="000000"/>
              </a:buClr>
              <a:buSzPts val="2200"/>
              <a:buFont typeface="Wingdings" panose="05000000000000000000" pitchFamily="2" charset="2"/>
              <a:buChar char="Ø"/>
            </a:pPr>
            <a:r>
              <a:rPr lang="en" sz="2000" b="0" i="0" u="none" strike="noStrike" cap="none" dirty="0">
                <a:solidFill>
                  <a:srgbClr val="2D3748"/>
                </a:solidFill>
                <a:highlight>
                  <a:srgbClr val="FFFFFF"/>
                </a:highlight>
                <a:latin typeface="Times New Roman" panose="02020603050405020304" pitchFamily="18" charset="0"/>
                <a:cs typeface="Times New Roman" panose="02020603050405020304" pitchFamily="18" charset="0"/>
                <a:sym typeface="Arial"/>
              </a:rPr>
              <a:t>The length of the box is the </a:t>
            </a:r>
            <a:r>
              <a:rPr lang="en" sz="2000" b="1" i="0" u="none" strike="noStrike" cap="none" dirty="0">
                <a:solidFill>
                  <a:srgbClr val="2D3748"/>
                </a:solidFill>
                <a:highlight>
                  <a:srgbClr val="FFFFFF"/>
                </a:highlight>
                <a:latin typeface="Times New Roman" panose="02020603050405020304" pitchFamily="18" charset="0"/>
                <a:cs typeface="Times New Roman" panose="02020603050405020304" pitchFamily="18" charset="0"/>
                <a:sym typeface="Arial"/>
              </a:rPr>
              <a:t>Inter Quartile Range (IQR)</a:t>
            </a:r>
            <a:r>
              <a:rPr lang="en" sz="2000" b="0" i="0" u="none" strike="noStrike" cap="none" dirty="0">
                <a:solidFill>
                  <a:srgbClr val="2D3748"/>
                </a:solidFill>
                <a:highlight>
                  <a:srgbClr val="FFFFFF"/>
                </a:highlight>
                <a:latin typeface="Times New Roman" panose="02020603050405020304" pitchFamily="18" charset="0"/>
                <a:cs typeface="Times New Roman" panose="02020603050405020304" pitchFamily="18" charset="0"/>
                <a:sym typeface="Arial"/>
              </a:rPr>
              <a:t>, calculated by subtracting Q1 from Q3 (IQR = Q3 – Q1). </a:t>
            </a:r>
          </a:p>
          <a:p>
            <a:pPr marL="360000" marR="0" lvl="0" indent="-342900" algn="l" rtl="0">
              <a:lnSpc>
                <a:spcPct val="150000"/>
              </a:lnSpc>
              <a:spcBef>
                <a:spcPts val="0"/>
              </a:spcBef>
              <a:spcAft>
                <a:spcPts val="0"/>
              </a:spcAft>
              <a:buClr>
                <a:srgbClr val="000000"/>
              </a:buClr>
              <a:buSzPts val="2200"/>
              <a:buFont typeface="Wingdings" panose="05000000000000000000" pitchFamily="2" charset="2"/>
              <a:buChar char="Ø"/>
            </a:pPr>
            <a:r>
              <a:rPr lang="en" sz="2000" b="0" i="0" u="none" strike="noStrike" cap="none" dirty="0">
                <a:solidFill>
                  <a:srgbClr val="2D3748"/>
                </a:solidFill>
                <a:highlight>
                  <a:srgbClr val="FFFFFF"/>
                </a:highlight>
                <a:latin typeface="Times New Roman" panose="02020603050405020304" pitchFamily="18" charset="0"/>
                <a:cs typeface="Times New Roman" panose="02020603050405020304" pitchFamily="18" charset="0"/>
                <a:sym typeface="Arial"/>
              </a:rPr>
              <a:t>The IQR measures the middle 50% of the data, measuring dispersion or spread.</a:t>
            </a:r>
            <a:endParaRPr lang="en" sz="2000" dirty="0">
              <a:solidFill>
                <a:srgbClr val="2D3748"/>
              </a:solidFill>
              <a:highlight>
                <a:srgbClr val="FFFFFF"/>
              </a:highlight>
              <a:latin typeface="Times New Roman" panose="02020603050405020304" pitchFamily="18" charset="0"/>
              <a:cs typeface="Times New Roman" panose="02020603050405020304" pitchFamily="18" charset="0"/>
            </a:endParaRPr>
          </a:p>
          <a:p>
            <a:pPr marL="360000" marR="0" lvl="0" indent="-342900" algn="l" rtl="0">
              <a:lnSpc>
                <a:spcPct val="150000"/>
              </a:lnSpc>
              <a:spcBef>
                <a:spcPts val="0"/>
              </a:spcBef>
              <a:spcAft>
                <a:spcPts val="0"/>
              </a:spcAft>
              <a:buClr>
                <a:srgbClr val="000000"/>
              </a:buClr>
              <a:buSzPts val="2200"/>
              <a:buFont typeface="Wingdings" panose="05000000000000000000" pitchFamily="2" charset="2"/>
              <a:buChar char="Ø"/>
            </a:pPr>
            <a:r>
              <a:rPr lang="en-US" sz="2000" b="1" i="0" u="none" strike="noStrike" cap="none" dirty="0">
                <a:solidFill>
                  <a:srgbClr val="2D3748"/>
                </a:solidFill>
                <a:highlight>
                  <a:srgbClr val="FFFFFF"/>
                </a:highlight>
                <a:latin typeface="Times New Roman" panose="02020603050405020304" pitchFamily="18" charset="0"/>
                <a:cs typeface="Times New Roman" panose="02020603050405020304" pitchFamily="18" charset="0"/>
                <a:sym typeface="Arial"/>
              </a:rPr>
              <a:t>Outliers </a:t>
            </a:r>
            <a:r>
              <a:rPr lang="en-US" sz="2000" b="0" i="0" u="none" strike="noStrike" cap="none" dirty="0">
                <a:solidFill>
                  <a:srgbClr val="2D3748"/>
                </a:solidFill>
                <a:highlight>
                  <a:srgbClr val="FFFFFF"/>
                </a:highlight>
                <a:latin typeface="Times New Roman" panose="02020603050405020304" pitchFamily="18" charset="0"/>
                <a:cs typeface="Times New Roman" panose="02020603050405020304" pitchFamily="18" charset="0"/>
                <a:sym typeface="Arial"/>
              </a:rPr>
              <a:t>are typically calculated as data points that fall below (Q1 – 1.5</a:t>
            </a:r>
            <a:r>
              <a:rPr lang="en-US" sz="2000" b="0" i="1" u="none" strike="noStrike" cap="none" dirty="0">
                <a:solidFill>
                  <a:srgbClr val="2D3748"/>
                </a:solidFill>
                <a:highlight>
                  <a:srgbClr val="FFFFFF"/>
                </a:highlight>
                <a:latin typeface="Times New Roman" panose="02020603050405020304" pitchFamily="18" charset="0"/>
                <a:cs typeface="Times New Roman" panose="02020603050405020304" pitchFamily="18" charset="0"/>
                <a:sym typeface="Arial"/>
              </a:rPr>
              <a:t>IQR) or above (Q3 + 1.5</a:t>
            </a:r>
            <a:r>
              <a:rPr lang="en-US" sz="2000" b="0" i="0" u="none" strike="noStrike" cap="none" dirty="0">
                <a:solidFill>
                  <a:srgbClr val="2D3748"/>
                </a:solidFill>
                <a:highlight>
                  <a:srgbClr val="FFFFFF"/>
                </a:highlight>
                <a:latin typeface="Times New Roman" panose="02020603050405020304" pitchFamily="18" charset="0"/>
                <a:cs typeface="Times New Roman" panose="02020603050405020304" pitchFamily="18" charset="0"/>
                <a:sym typeface="Arial"/>
              </a:rPr>
              <a:t>IQR). These outliers are represented as individual points outside the whiskers in the box plot.</a:t>
            </a:r>
          </a:p>
          <a:p>
            <a:pPr marL="360000" indent="-342900">
              <a:lnSpc>
                <a:spcPct val="150000"/>
              </a:lnSpc>
              <a:buSzPts val="2200"/>
              <a:buFont typeface="Wingdings" panose="05000000000000000000" pitchFamily="2" charset="2"/>
              <a:buChar char="Ø"/>
            </a:pPr>
            <a:r>
              <a:rPr lang="en-US" sz="20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A point more than 3 interquartile ranges from the box edge is called an extreme outlier.</a:t>
            </a:r>
            <a:endParaRPr lang="en-US" sz="2000" dirty="0">
              <a:latin typeface="Times New Roman" panose="02020603050405020304" pitchFamily="18" charset="0"/>
              <a:cs typeface="Times New Roman" panose="02020603050405020304" pitchFamily="18" charset="0"/>
            </a:endParaRPr>
          </a:p>
          <a:p>
            <a:pPr marL="360000" marR="0" lvl="0" indent="-342900" algn="l" rtl="0">
              <a:lnSpc>
                <a:spcPct val="150000"/>
              </a:lnSpc>
              <a:spcBef>
                <a:spcPts val="0"/>
              </a:spcBef>
              <a:spcAft>
                <a:spcPts val="0"/>
              </a:spcAft>
              <a:buClr>
                <a:srgbClr val="000000"/>
              </a:buClr>
              <a:buSzPts val="2200"/>
              <a:buFont typeface="Wingdings" panose="05000000000000000000" pitchFamily="2" charset="2"/>
              <a:buChar char="Ø"/>
            </a:pPr>
            <a:endParaRPr lang="en-US" sz="2000" b="0" i="0" u="none" strike="noStrike" cap="none" dirty="0">
              <a:solidFill>
                <a:srgbClr val="2D3748"/>
              </a:solidFill>
              <a:highlight>
                <a:srgbClr val="FFFFFF"/>
              </a:highlight>
              <a:latin typeface="Times New Roman" panose="02020603050405020304" pitchFamily="18" charset="0"/>
              <a:cs typeface="Times New Roman" panose="02020603050405020304" pitchFamily="18" charset="0"/>
              <a:sym typeface="Arial"/>
            </a:endParaRPr>
          </a:p>
          <a:p>
            <a:pPr marL="0" marR="0" lvl="0" indent="0" algn="l" rtl="0">
              <a:lnSpc>
                <a:spcPct val="150000"/>
              </a:lnSpc>
              <a:spcBef>
                <a:spcPts val="0"/>
              </a:spcBef>
              <a:spcAft>
                <a:spcPts val="0"/>
              </a:spcAft>
              <a:buClr>
                <a:srgbClr val="000000"/>
              </a:buClr>
              <a:buSzPts val="2200"/>
              <a:buFont typeface="Arial"/>
              <a:buNone/>
            </a:pPr>
            <a:endParaRPr lang="en-US" sz="2200" b="0" i="0" u="none" strike="noStrike" cap="none" dirty="0">
              <a:solidFill>
                <a:srgbClr val="2D3748"/>
              </a:solidFill>
              <a:highlight>
                <a:srgbClr val="FFFFFF"/>
              </a:highlight>
              <a:latin typeface="Arial"/>
              <a:ea typeface="Arial"/>
              <a:cs typeface="Arial"/>
              <a:sym typeface="Arial"/>
            </a:endParaRPr>
          </a:p>
          <a:p>
            <a:pPr marL="360000" marR="0" lvl="0" indent="0" algn="l" rtl="0">
              <a:lnSpc>
                <a:spcPct val="150000"/>
              </a:lnSpc>
              <a:spcBef>
                <a:spcPts val="0"/>
              </a:spcBef>
              <a:spcAft>
                <a:spcPts val="0"/>
              </a:spcAft>
              <a:buClr>
                <a:srgbClr val="000000"/>
              </a:buClr>
              <a:buSzPts val="2200"/>
              <a:buFont typeface="Arial"/>
              <a:buNone/>
            </a:pPr>
            <a:endParaRPr sz="2200" b="0" i="0" u="none" strike="noStrike" cap="none" dirty="0">
              <a:solidFill>
                <a:srgbClr val="2D3748"/>
              </a:solidFill>
              <a:highlight>
                <a:srgbClr val="FFFFFF"/>
              </a:highlight>
              <a:latin typeface="Times New Roman" panose="02020603050405020304" pitchFamily="18" charset="0"/>
              <a:cs typeface="Times New Roman" panose="02020603050405020304" pitchFamily="18" charset="0"/>
              <a:sym typeface="Arial"/>
            </a:endParaRPr>
          </a:p>
          <a:p>
            <a:pPr marL="0" marR="0" lvl="0" indent="0" algn="l" rtl="0">
              <a:lnSpc>
                <a:spcPct val="150000"/>
              </a:lnSpc>
              <a:spcBef>
                <a:spcPts val="0"/>
              </a:spcBef>
              <a:spcAft>
                <a:spcPts val="0"/>
              </a:spcAft>
              <a:buClr>
                <a:srgbClr val="000000"/>
              </a:buClr>
              <a:buSzPts val="2200"/>
              <a:buFont typeface="Arial"/>
              <a:buNone/>
            </a:pPr>
            <a:endParaRPr sz="2200" b="0" i="0" u="none" strike="noStrike" cap="none" dirty="0">
              <a:solidFill>
                <a:srgbClr val="2D3748"/>
              </a:solidFill>
              <a:highlight>
                <a:srgbClr val="FFFFFF"/>
              </a:highlight>
              <a:latin typeface="Arial"/>
              <a:ea typeface="Arial"/>
              <a:cs typeface="Arial"/>
              <a:sym typeface="Arial"/>
            </a:endParaRPr>
          </a:p>
          <a:p>
            <a:pPr marL="0" marR="0" lvl="0" indent="0" algn="l" rtl="0">
              <a:lnSpc>
                <a:spcPct val="150000"/>
              </a:lnSpc>
              <a:spcBef>
                <a:spcPts val="0"/>
              </a:spcBef>
              <a:spcAft>
                <a:spcPts val="0"/>
              </a:spcAft>
              <a:buClr>
                <a:srgbClr val="000000"/>
              </a:buClr>
              <a:buSzPts val="2200"/>
              <a:buFont typeface="Arial"/>
              <a:buNone/>
            </a:pPr>
            <a:endParaRPr sz="2200" b="0" i="0" u="none" strike="noStrike" cap="none" dirty="0">
              <a:solidFill>
                <a:srgbClr val="2D3748"/>
              </a:solidFill>
              <a:highlight>
                <a:srgbClr val="FFFFFF"/>
              </a:highlight>
              <a:latin typeface="Arial"/>
              <a:ea typeface="Arial"/>
              <a:cs typeface="Arial"/>
              <a:sym typeface="Arial"/>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50" name="Google Shape;450;p52"/>
          <p:cNvSpPr txBox="1">
            <a:spLocks noGrp="1"/>
          </p:cNvSpPr>
          <p:nvPr>
            <p:ph type="body" idx="4294967295"/>
          </p:nvPr>
        </p:nvSpPr>
        <p:spPr>
          <a:xfrm>
            <a:off x="0" y="-1"/>
            <a:ext cx="8521700" cy="5143501"/>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1400"/>
              </a:spcBef>
              <a:spcAft>
                <a:spcPts val="0"/>
              </a:spcAft>
              <a:buClr>
                <a:schemeClr val="dk1"/>
              </a:buClr>
              <a:buSzPct val="84615"/>
              <a:buFont typeface="Arial"/>
              <a:buNone/>
            </a:pPr>
            <a:r>
              <a:rPr lang="en-US" sz="3200" b="1" dirty="0">
                <a:solidFill>
                  <a:srgbClr val="9900FF"/>
                </a:solidFill>
              </a:rPr>
              <a:t>   </a:t>
            </a:r>
            <a:r>
              <a:rPr lang="en-US" sz="3200" b="1" dirty="0">
                <a:solidFill>
                  <a:srgbClr val="FF0000"/>
                </a:solidFill>
                <a:latin typeface="Times New Roman" panose="02020603050405020304" pitchFamily="18" charset="0"/>
                <a:cs typeface="Times New Roman" panose="02020603050405020304" pitchFamily="18" charset="0"/>
              </a:rPr>
              <a:t>How to Interpret a Box Plot</a:t>
            </a:r>
          </a:p>
          <a:p>
            <a:pPr marL="360000" indent="0">
              <a:spcBef>
                <a:spcPts val="1200"/>
              </a:spcBef>
              <a:buClr>
                <a:schemeClr val="dk1"/>
              </a:buClr>
              <a:buSzPct val="100000"/>
              <a:buNone/>
            </a:pPr>
            <a:r>
              <a:rPr lang="en-US" sz="2300" dirty="0">
                <a:solidFill>
                  <a:schemeClr val="dk1"/>
                </a:solidFill>
                <a:latin typeface="Times New Roman" panose="02020603050405020304" pitchFamily="18" charset="0"/>
                <a:cs typeface="Times New Roman" panose="02020603050405020304" pitchFamily="18" charset="0"/>
              </a:rPr>
              <a:t>1)Length of the Box: The length of the box (between Q1 and Q3) represents the IQR, showing the spread of the middle 50% of the data.</a:t>
            </a:r>
          </a:p>
          <a:p>
            <a:pPr marL="360000" indent="0">
              <a:buClr>
                <a:schemeClr val="dk1"/>
              </a:buClr>
              <a:buSzPct val="126315"/>
              <a:buNone/>
            </a:pPr>
            <a:r>
              <a:rPr lang="en-US" sz="2300" dirty="0">
                <a:solidFill>
                  <a:schemeClr val="dk1"/>
                </a:solidFill>
                <a:latin typeface="Times New Roman" panose="02020603050405020304" pitchFamily="18" charset="0"/>
                <a:cs typeface="Times New Roman" panose="02020603050405020304" pitchFamily="18" charset="0"/>
              </a:rPr>
              <a:t>2) Median Line: If the median is closer to Q1, the data is left-skewed (longer whisker on the right). If it's closer to Q3, the data is right-skewed (longer whisker on the left).</a:t>
            </a:r>
          </a:p>
          <a:p>
            <a:pPr marL="360000" indent="0">
              <a:spcBef>
                <a:spcPts val="1200"/>
              </a:spcBef>
              <a:buSzPct val="75000"/>
              <a:buNone/>
            </a:pPr>
            <a:r>
              <a:rPr lang="en-US" sz="2300" dirty="0">
                <a:solidFill>
                  <a:schemeClr val="dk1"/>
                </a:solidFill>
                <a:latin typeface="Times New Roman" panose="02020603050405020304" pitchFamily="18" charset="0"/>
                <a:cs typeface="Times New Roman" panose="02020603050405020304" pitchFamily="18" charset="0"/>
              </a:rPr>
              <a:t>3)Whiskers: The whiskers represent the range of the data, excluding outliers. Longer whiskers indicate more variability.</a:t>
            </a:r>
          </a:p>
          <a:p>
            <a:pPr marL="0" lvl="0" indent="0" algn="l" rtl="0">
              <a:lnSpc>
                <a:spcPct val="115000"/>
              </a:lnSpc>
              <a:spcBef>
                <a:spcPts val="1200"/>
              </a:spcBef>
              <a:spcAft>
                <a:spcPts val="1200"/>
              </a:spcAft>
              <a:buSzPct val="58333"/>
              <a:buNone/>
            </a:pPr>
            <a:endParaRPr lang="en-US" sz="96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54"/>
          <p:cNvSpPr txBox="1">
            <a:spLocks noGrp="1"/>
          </p:cNvSpPr>
          <p:nvPr>
            <p:ph type="title"/>
          </p:nvPr>
        </p:nvSpPr>
        <p:spPr>
          <a:xfrm>
            <a:off x="311700" y="445025"/>
            <a:ext cx="8520600" cy="606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400"/>
              </a:spcAft>
              <a:buClr>
                <a:schemeClr val="dk1"/>
              </a:buClr>
              <a:buSzPts val="1100"/>
              <a:buFont typeface="Arial"/>
              <a:buNone/>
            </a:pPr>
            <a:r>
              <a:rPr lang="en" sz="3600" b="1" dirty="0">
                <a:solidFill>
                  <a:srgbClr val="FF0000"/>
                </a:solidFill>
                <a:latin typeface="Times New Roman" panose="02020603050405020304" pitchFamily="18" charset="0"/>
                <a:cs typeface="Times New Roman" panose="02020603050405020304" pitchFamily="18" charset="0"/>
              </a:rPr>
              <a:t>Conclusion</a:t>
            </a:r>
            <a:endParaRPr sz="3600" dirty="0">
              <a:solidFill>
                <a:srgbClr val="FF0000"/>
              </a:solidFill>
              <a:latin typeface="Times New Roman" panose="02020603050405020304" pitchFamily="18" charset="0"/>
              <a:cs typeface="Times New Roman" panose="02020603050405020304" pitchFamily="18" charset="0"/>
            </a:endParaRPr>
          </a:p>
        </p:txBody>
      </p:sp>
      <p:sp>
        <p:nvSpPr>
          <p:cNvPr id="463" name="Google Shape;463;p54"/>
          <p:cNvSpPr txBox="1">
            <a:spLocks noGrp="1"/>
          </p:cNvSpPr>
          <p:nvPr>
            <p:ph type="body" idx="1"/>
          </p:nvPr>
        </p:nvSpPr>
        <p:spPr>
          <a:xfrm>
            <a:off x="311700" y="1252330"/>
            <a:ext cx="8520600" cy="2822714"/>
          </a:xfrm>
          <a:prstGeom prst="rect">
            <a:avLst/>
          </a:prstGeom>
          <a:noFill/>
          <a:ln>
            <a:noFill/>
          </a:ln>
        </p:spPr>
        <p:txBody>
          <a:bodyPr spcFirstLastPara="1" wrap="square" lIns="91425" tIns="91425" rIns="91425" bIns="91425" anchor="t" anchorCtr="0">
            <a:normAutofit fontScale="25000" lnSpcReduction="20000"/>
          </a:bodyPr>
          <a:lstStyle/>
          <a:p>
            <a:pPr marL="0" lvl="0" indent="0" algn="l" rtl="0">
              <a:lnSpc>
                <a:spcPct val="150000"/>
              </a:lnSpc>
              <a:spcBef>
                <a:spcPts val="400"/>
              </a:spcBef>
              <a:spcAft>
                <a:spcPts val="0"/>
              </a:spcAft>
              <a:buClr>
                <a:schemeClr val="dk1"/>
              </a:buClr>
              <a:buSzPts val="275"/>
              <a:buFont typeface="Arial"/>
              <a:buNone/>
            </a:pPr>
            <a:r>
              <a:rPr lang="en" sz="9750" dirty="0">
                <a:solidFill>
                  <a:srgbClr val="2D3748"/>
                </a:solidFill>
                <a:highlight>
                  <a:srgbClr val="FFFFFF"/>
                </a:highlight>
                <a:latin typeface="Times New Roman" panose="02020603050405020304" pitchFamily="18" charset="0"/>
                <a:cs typeface="Times New Roman" panose="02020603050405020304" pitchFamily="18" charset="0"/>
              </a:rPr>
              <a:t>Understanding these components of a box plot allows for rapid comprehension of the data’s distribution, spread, and skewness. It also aids in identifying and visualizing potential outliers, which can be invaluable in data analysis.</a:t>
            </a:r>
            <a:endParaRPr sz="9750" dirty="0">
              <a:solidFill>
                <a:srgbClr val="2D3748"/>
              </a:solidFill>
              <a:highlight>
                <a:srgbClr val="FFFFFF"/>
              </a:highlight>
              <a:latin typeface="Times New Roman" panose="02020603050405020304" pitchFamily="18" charset="0"/>
              <a:cs typeface="Times New Roman" panose="02020603050405020304" pitchFamily="18" charset="0"/>
            </a:endParaRPr>
          </a:p>
          <a:p>
            <a:pPr marL="0" lvl="0" indent="0" algn="l" rtl="0">
              <a:lnSpc>
                <a:spcPct val="150000"/>
              </a:lnSpc>
              <a:spcBef>
                <a:spcPts val="0"/>
              </a:spcBef>
              <a:spcAft>
                <a:spcPts val="0"/>
              </a:spcAft>
              <a:buClr>
                <a:schemeClr val="dk1"/>
              </a:buClr>
              <a:buSzPts val="275"/>
              <a:buFont typeface="Arial"/>
              <a:buNone/>
            </a:pPr>
            <a:endParaRPr sz="9750" dirty="0">
              <a:solidFill>
                <a:schemeClr val="dk1"/>
              </a:solidFill>
              <a:latin typeface="Times New Roman" panose="02020603050405020304" pitchFamily="18" charset="0"/>
              <a:cs typeface="Times New Roman" panose="02020603050405020304" pitchFamily="18" charset="0"/>
            </a:endParaRPr>
          </a:p>
          <a:p>
            <a:pPr marL="0" lvl="0" indent="0" algn="l" rtl="0">
              <a:lnSpc>
                <a:spcPct val="150000"/>
              </a:lnSpc>
              <a:spcBef>
                <a:spcPts val="1200"/>
              </a:spcBef>
              <a:spcAft>
                <a:spcPts val="0"/>
              </a:spcAft>
              <a:buClr>
                <a:schemeClr val="dk1"/>
              </a:buClr>
              <a:buSzPts val="275"/>
              <a:buFont typeface="Arial"/>
              <a:buNone/>
            </a:pPr>
            <a:endParaRPr sz="7350" dirty="0">
              <a:solidFill>
                <a:schemeClr val="dk1"/>
              </a:solidFill>
            </a:endParaRPr>
          </a:p>
          <a:p>
            <a:pPr marL="0" lvl="0" indent="0" algn="l" rtl="0">
              <a:lnSpc>
                <a:spcPct val="115000"/>
              </a:lnSpc>
              <a:spcBef>
                <a:spcPts val="1200"/>
              </a:spcBef>
              <a:spcAft>
                <a:spcPts val="1200"/>
              </a:spcAft>
              <a:buSzPts val="1800"/>
              <a:buNone/>
            </a:pPr>
            <a:endParaRPr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p55"/>
          <p:cNvSpPr txBox="1"/>
          <p:nvPr/>
        </p:nvSpPr>
        <p:spPr>
          <a:xfrm>
            <a:off x="1258887" y="195263"/>
            <a:ext cx="1757362"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 sz="3200" b="1" i="0" u="none" strike="noStrike" cap="none" dirty="0">
                <a:solidFill>
                  <a:srgbClr val="FF0000"/>
                </a:solidFill>
                <a:latin typeface="Times New Roman" panose="02020603050405020304" pitchFamily="18" charset="0"/>
                <a:ea typeface="Times New Roman"/>
                <a:cs typeface="Times New Roman" panose="02020603050405020304" pitchFamily="18" charset="0"/>
                <a:sym typeface="Times New Roman"/>
              </a:rPr>
              <a:t>Box plot </a:t>
            </a:r>
            <a:endParaRPr sz="1400" b="0" i="0" u="none" strike="noStrike" cap="none" dirty="0">
              <a:solidFill>
                <a:srgbClr val="FF0000"/>
              </a:solidFill>
              <a:latin typeface="Times New Roman" panose="02020603050405020304" pitchFamily="18" charset="0"/>
              <a:cs typeface="Times New Roman" panose="02020603050405020304" pitchFamily="18" charset="0"/>
              <a:sym typeface="Arial"/>
            </a:endParaRPr>
          </a:p>
        </p:txBody>
      </p:sp>
      <p:grpSp>
        <p:nvGrpSpPr>
          <p:cNvPr id="469" name="Google Shape;469;p55"/>
          <p:cNvGrpSpPr/>
          <p:nvPr/>
        </p:nvGrpSpPr>
        <p:grpSpPr>
          <a:xfrm>
            <a:off x="755650" y="1903809"/>
            <a:ext cx="7704137" cy="1132284"/>
            <a:chOff x="755576" y="4077072"/>
            <a:chExt cx="7704856" cy="1509349"/>
          </a:xfrm>
        </p:grpSpPr>
        <p:sp>
          <p:nvSpPr>
            <p:cNvPr id="470" name="Google Shape;470;p55"/>
            <p:cNvSpPr txBox="1"/>
            <p:nvPr/>
          </p:nvSpPr>
          <p:spPr>
            <a:xfrm>
              <a:off x="2376901" y="5063201"/>
              <a:ext cx="432048"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800"/>
                <a:buFont typeface="Arial"/>
                <a:buNone/>
              </a:pPr>
              <a:r>
                <a:rPr lang="en" sz="2800" b="0" i="0" u="none" strike="noStrike" cap="none">
                  <a:solidFill>
                    <a:schemeClr val="dk1"/>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471" name="Google Shape;471;p55"/>
            <p:cNvSpPr txBox="1"/>
            <p:nvPr/>
          </p:nvSpPr>
          <p:spPr>
            <a:xfrm>
              <a:off x="1090370" y="5018491"/>
              <a:ext cx="432048"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800"/>
                <a:buFont typeface="Arial"/>
                <a:buNone/>
              </a:pPr>
              <a:r>
                <a:rPr lang="en" sz="2800" b="0" i="0" u="none" strike="noStrike" cap="none">
                  <a:solidFill>
                    <a:schemeClr val="dk1"/>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sp>
          <p:nvSpPr>
            <p:cNvPr id="472" name="Google Shape;472;p55"/>
            <p:cNvSpPr txBox="1"/>
            <p:nvPr/>
          </p:nvSpPr>
          <p:spPr>
            <a:xfrm>
              <a:off x="3491880" y="5063201"/>
              <a:ext cx="432048"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800"/>
                <a:buFont typeface="Arial"/>
                <a:buNone/>
              </a:pPr>
              <a:r>
                <a:rPr lang="en" sz="2800" b="0" i="0" u="none" strike="noStrike" cap="none">
                  <a:solidFill>
                    <a:schemeClr val="dk1"/>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p:txBody>
        </p:sp>
        <p:sp>
          <p:nvSpPr>
            <p:cNvPr id="473" name="Google Shape;473;p55"/>
            <p:cNvSpPr txBox="1"/>
            <p:nvPr/>
          </p:nvSpPr>
          <p:spPr>
            <a:xfrm>
              <a:off x="4643830" y="5063201"/>
              <a:ext cx="432048"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800"/>
                <a:buFont typeface="Arial"/>
                <a:buNone/>
              </a:pPr>
              <a:r>
                <a:rPr lang="en" sz="2800" b="0" i="0" u="none" strike="noStrike" cap="none">
                  <a:solidFill>
                    <a:schemeClr val="dk1"/>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sp>
          <p:nvSpPr>
            <p:cNvPr id="474" name="Google Shape;474;p55"/>
            <p:cNvSpPr txBox="1"/>
            <p:nvPr/>
          </p:nvSpPr>
          <p:spPr>
            <a:xfrm>
              <a:off x="7020272" y="5060055"/>
              <a:ext cx="432048"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800"/>
                <a:buFont typeface="Arial"/>
                <a:buNone/>
              </a:pPr>
              <a:r>
                <a:rPr lang="en" sz="2800" b="0" i="0" u="none" strike="noStrike" cap="none">
                  <a:solidFill>
                    <a:schemeClr val="dk1"/>
                  </a:solidFill>
                  <a:latin typeface="Arial"/>
                  <a:ea typeface="Arial"/>
                  <a:cs typeface="Arial"/>
                  <a:sym typeface="Arial"/>
                </a:rPr>
                <a:t>6</a:t>
              </a:r>
              <a:endParaRPr sz="1400" b="0" i="0" u="none" strike="noStrike" cap="none">
                <a:solidFill>
                  <a:srgbClr val="000000"/>
                </a:solidFill>
                <a:latin typeface="Arial"/>
                <a:ea typeface="Arial"/>
                <a:cs typeface="Arial"/>
                <a:sym typeface="Arial"/>
              </a:endParaRPr>
            </a:p>
          </p:txBody>
        </p:sp>
        <p:grpSp>
          <p:nvGrpSpPr>
            <p:cNvPr id="475" name="Google Shape;475;p55"/>
            <p:cNvGrpSpPr/>
            <p:nvPr/>
          </p:nvGrpSpPr>
          <p:grpSpPr>
            <a:xfrm>
              <a:off x="755576" y="4077072"/>
              <a:ext cx="7704856" cy="936400"/>
              <a:chOff x="755576" y="4077072"/>
              <a:chExt cx="7704856" cy="936400"/>
            </a:xfrm>
          </p:grpSpPr>
          <p:cxnSp>
            <p:nvCxnSpPr>
              <p:cNvPr id="476" name="Google Shape;476;p55"/>
              <p:cNvCxnSpPr/>
              <p:nvPr/>
            </p:nvCxnSpPr>
            <p:spPr>
              <a:xfrm>
                <a:off x="755576" y="5013472"/>
                <a:ext cx="7704856" cy="0"/>
              </a:xfrm>
              <a:prstGeom prst="straightConnector1">
                <a:avLst/>
              </a:prstGeom>
              <a:noFill/>
              <a:ln w="9525" cap="flat" cmpd="sng">
                <a:solidFill>
                  <a:srgbClr val="4A7EBB"/>
                </a:solidFill>
                <a:prstDash val="solid"/>
                <a:miter lim="800000"/>
                <a:headEnd type="stealth" w="med" len="med"/>
                <a:tailEnd type="stealth" w="med" len="med"/>
              </a:ln>
            </p:spPr>
          </p:cxnSp>
          <p:sp>
            <p:nvSpPr>
              <p:cNvPr id="477" name="Google Shape;477;p55"/>
              <p:cNvSpPr txBox="1"/>
              <p:nvPr/>
            </p:nvSpPr>
            <p:spPr>
              <a:xfrm>
                <a:off x="2592485" y="4077072"/>
                <a:ext cx="2267161" cy="720552"/>
              </a:xfrm>
              <a:prstGeom prst="rect">
                <a:avLst/>
              </a:prstGeom>
              <a:solidFill>
                <a:schemeClr val="accent1"/>
              </a:solidFill>
              <a:ln w="25400" cap="flat" cmpd="sng">
                <a:solidFill>
                  <a:srgbClr val="385D8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478" name="Google Shape;478;p55"/>
              <p:cNvCxnSpPr/>
              <p:nvPr/>
            </p:nvCxnSpPr>
            <p:spPr>
              <a:xfrm>
                <a:off x="3726066" y="4077072"/>
                <a:ext cx="0" cy="720552"/>
              </a:xfrm>
              <a:prstGeom prst="straightConnector1">
                <a:avLst/>
              </a:prstGeom>
              <a:noFill/>
              <a:ln w="25400" cap="flat" cmpd="sng">
                <a:solidFill>
                  <a:schemeClr val="dk1"/>
                </a:solidFill>
                <a:prstDash val="solid"/>
                <a:miter lim="800000"/>
                <a:headEnd type="none" w="sm" len="sm"/>
                <a:tailEnd type="none" w="sm" len="sm"/>
              </a:ln>
              <a:effectLst>
                <a:outerShdw blurRad="63500" dist="20000" dir="5400000">
                  <a:srgbClr val="000000">
                    <a:alpha val="37254"/>
                  </a:srgbClr>
                </a:outerShdw>
              </a:effectLst>
            </p:spPr>
          </p:cxnSp>
          <p:cxnSp>
            <p:nvCxnSpPr>
              <p:cNvPr id="479" name="Google Shape;479;p55"/>
              <p:cNvCxnSpPr/>
              <p:nvPr/>
            </p:nvCxnSpPr>
            <p:spPr>
              <a:xfrm>
                <a:off x="1306490" y="4437347"/>
                <a:ext cx="1285995" cy="0"/>
              </a:xfrm>
              <a:prstGeom prst="straightConnector1">
                <a:avLst/>
              </a:prstGeom>
              <a:noFill/>
              <a:ln w="25400" cap="flat" cmpd="sng">
                <a:solidFill>
                  <a:schemeClr val="dk1"/>
                </a:solidFill>
                <a:prstDash val="solid"/>
                <a:miter lim="800000"/>
                <a:headEnd type="none" w="sm" len="sm"/>
                <a:tailEnd type="none" w="sm" len="sm"/>
              </a:ln>
              <a:effectLst>
                <a:outerShdw blurRad="63500" dist="20000" dir="5400000">
                  <a:srgbClr val="000000">
                    <a:alpha val="37254"/>
                  </a:srgbClr>
                </a:outerShdw>
              </a:effectLst>
            </p:spPr>
          </p:cxnSp>
          <p:cxnSp>
            <p:nvCxnSpPr>
              <p:cNvPr id="480" name="Google Shape;480;p55"/>
              <p:cNvCxnSpPr/>
              <p:nvPr/>
            </p:nvCxnSpPr>
            <p:spPr>
              <a:xfrm>
                <a:off x="4859646" y="4426238"/>
                <a:ext cx="2376708" cy="11109"/>
              </a:xfrm>
              <a:prstGeom prst="straightConnector1">
                <a:avLst/>
              </a:prstGeom>
              <a:noFill/>
              <a:ln w="25400" cap="flat" cmpd="sng">
                <a:solidFill>
                  <a:schemeClr val="dk1"/>
                </a:solidFill>
                <a:prstDash val="solid"/>
                <a:miter lim="800000"/>
                <a:headEnd type="none" w="sm" len="sm"/>
                <a:tailEnd type="none" w="sm" len="sm"/>
              </a:ln>
              <a:effectLst>
                <a:outerShdw blurRad="63500" dist="20000" dir="5400000">
                  <a:srgbClr val="000000">
                    <a:alpha val="37254"/>
                  </a:srgbClr>
                </a:outerShdw>
              </a:effectLst>
            </p:spPr>
          </p:cxnSp>
        </p:grpSp>
      </p:grpSp>
      <p:sp>
        <p:nvSpPr>
          <p:cNvPr id="481" name="Google Shape;481;p55"/>
          <p:cNvSpPr txBox="1"/>
          <p:nvPr/>
        </p:nvSpPr>
        <p:spPr>
          <a:xfrm>
            <a:off x="522287" y="897731"/>
            <a:ext cx="3765550"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 sz="3200" b="1" i="0" u="none" strike="noStrike" cap="none" dirty="0">
                <a:solidFill>
                  <a:srgbClr val="FF0000"/>
                </a:solidFill>
                <a:latin typeface="Times New Roman" panose="02020603050405020304" pitchFamily="18" charset="0"/>
                <a:ea typeface="Times New Roman"/>
                <a:cs typeface="Times New Roman" panose="02020603050405020304" pitchFamily="18" charset="0"/>
                <a:sym typeface="Times New Roman"/>
              </a:rPr>
              <a:t>Childrens age data</a:t>
            </a:r>
            <a:endParaRPr sz="1400" b="0" i="0" u="none" strike="noStrike" cap="none" dirty="0">
              <a:solidFill>
                <a:srgbClr val="FF0000"/>
              </a:solidFill>
              <a:latin typeface="Times New Roman" panose="02020603050405020304" pitchFamily="18" charset="0"/>
              <a:cs typeface="Times New Roman" panose="02020603050405020304" pitchFamily="18" charset="0"/>
              <a:sym typeface="Arial"/>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FCE9254-0804-D2B3-DBB8-C9BF0CAB5F41}"/>
              </a:ext>
            </a:extLst>
          </p:cNvPr>
          <p:cNvSpPr txBox="1"/>
          <p:nvPr/>
        </p:nvSpPr>
        <p:spPr>
          <a:xfrm>
            <a:off x="0" y="-57254"/>
            <a:ext cx="9144000" cy="5509200"/>
          </a:xfrm>
          <a:prstGeom prst="rect">
            <a:avLst/>
          </a:prstGeom>
          <a:noFill/>
        </p:spPr>
        <p:txBody>
          <a:bodyPr wrap="square">
            <a:spAutoFit/>
          </a:bodyPr>
          <a:lstStyle/>
          <a:p>
            <a:pPr marL="360000" algn="l">
              <a:lnSpc>
                <a:spcPct val="150000"/>
              </a:lnSpc>
            </a:pPr>
            <a:r>
              <a:rPr lang="en-US" sz="1900" b="1" i="0" dirty="0">
                <a:solidFill>
                  <a:srgbClr val="7030A0"/>
                </a:solidFill>
                <a:effectLst/>
                <a:latin typeface="Times New Roman" panose="02020603050405020304" pitchFamily="18" charset="0"/>
                <a:cs typeface="Times New Roman" panose="02020603050405020304" pitchFamily="18" charset="0"/>
              </a:rPr>
              <a:t>Example: </a:t>
            </a:r>
          </a:p>
          <a:p>
            <a:pPr marL="360000" algn="l">
              <a:lnSpc>
                <a:spcPct val="150000"/>
              </a:lnSpc>
            </a:pPr>
            <a:r>
              <a:rPr lang="en-US" sz="1900" b="0" i="0" dirty="0">
                <a:solidFill>
                  <a:srgbClr val="000000"/>
                </a:solidFill>
                <a:effectLst/>
                <a:latin typeface="Times New Roman" panose="02020603050405020304" pitchFamily="18" charset="0"/>
                <a:cs typeface="Times New Roman" panose="02020603050405020304" pitchFamily="18" charset="0"/>
              </a:rPr>
              <a:t>Test scores for a college statistics class held during the day are:</a:t>
            </a:r>
          </a:p>
          <a:p>
            <a:pPr marL="360000" algn="l">
              <a:lnSpc>
                <a:spcPct val="150000"/>
              </a:lnSpc>
            </a:pPr>
            <a:r>
              <a:rPr lang="en-US" sz="1900" b="0" i="0" dirty="0">
                <a:solidFill>
                  <a:srgbClr val="000000"/>
                </a:solidFill>
                <a:effectLst/>
                <a:latin typeface="Times New Roman" panose="02020603050405020304" pitchFamily="18" charset="0"/>
                <a:cs typeface="Times New Roman" panose="02020603050405020304" pitchFamily="18" charset="0"/>
              </a:rPr>
              <a:t>99, 56; 78; 55.5; 32; 90; 80; 81; 56; 59; 45; 77; 84.5; 84; 70; 72; 68; 32; 79; 90</a:t>
            </a:r>
          </a:p>
          <a:p>
            <a:pPr marL="360000" algn="l">
              <a:lnSpc>
                <a:spcPct val="150000"/>
              </a:lnSpc>
            </a:pPr>
            <a:r>
              <a:rPr lang="en-US" sz="1900" b="0" i="0" dirty="0">
                <a:solidFill>
                  <a:srgbClr val="000000"/>
                </a:solidFill>
                <a:effectLst/>
                <a:latin typeface="Times New Roman" panose="02020603050405020304" pitchFamily="18" charset="0"/>
                <a:cs typeface="Times New Roman" panose="02020603050405020304" pitchFamily="18" charset="0"/>
              </a:rPr>
              <a:t>Find the smallest and largest values, the median, and the first and third quartile for the day class.</a:t>
            </a:r>
          </a:p>
          <a:p>
            <a:pPr marL="360000" algn="l">
              <a:lnSpc>
                <a:spcPct val="150000"/>
              </a:lnSpc>
            </a:pPr>
            <a:r>
              <a:rPr lang="en-US" sz="1800" b="1" dirty="0">
                <a:solidFill>
                  <a:srgbClr val="7030A0"/>
                </a:solidFill>
                <a:latin typeface="Times New Roman" panose="02020603050405020304" pitchFamily="18" charset="0"/>
                <a:cs typeface="Times New Roman" panose="02020603050405020304" pitchFamily="18" charset="0"/>
              </a:rPr>
              <a:t>Solution: Arranging data in ascending order </a:t>
            </a:r>
          </a:p>
          <a:p>
            <a:pPr marL="360000" algn="l">
              <a:lnSpc>
                <a:spcPct val="150000"/>
              </a:lnSpc>
            </a:pPr>
            <a:r>
              <a:rPr lang="en-IN" sz="1800" dirty="0">
                <a:latin typeface="Times New Roman" panose="02020603050405020304" pitchFamily="18" charset="0"/>
                <a:cs typeface="Times New Roman" panose="02020603050405020304" pitchFamily="18" charset="0"/>
              </a:rPr>
              <a:t>32,32,45,55.5,56,56,59,68,70,72,77,78,79,80,81,84,84.5,90,90,99</a:t>
            </a:r>
            <a:endParaRPr lang="en-US" sz="1800" b="1" i="0" dirty="0">
              <a:solidFill>
                <a:srgbClr val="7030A0"/>
              </a:solidFill>
              <a:effectLst/>
              <a:latin typeface="Times New Roman" panose="02020603050405020304" pitchFamily="18" charset="0"/>
              <a:cs typeface="Times New Roman" panose="02020603050405020304" pitchFamily="18" charset="0"/>
            </a:endParaRPr>
          </a:p>
          <a:p>
            <a:pPr marL="1800000" indent="-285750" algn="l">
              <a:lnSpc>
                <a:spcPct val="150000"/>
              </a:lnSpc>
              <a:buFont typeface="Wingdings" panose="05000000000000000000" pitchFamily="2" charset="2"/>
              <a:buChar char="Ø"/>
            </a:pPr>
            <a:r>
              <a:rPr lang="en-IN" sz="1700" b="0" i="0" dirty="0">
                <a:solidFill>
                  <a:srgbClr val="000000"/>
                </a:solidFill>
                <a:effectLst/>
                <a:latin typeface="Times New Roman" panose="02020603050405020304" pitchFamily="18" charset="0"/>
                <a:cs typeface="Times New Roman" panose="02020603050405020304" pitchFamily="18" charset="0"/>
              </a:rPr>
              <a:t>Min = 32</a:t>
            </a:r>
          </a:p>
          <a:p>
            <a:pPr marL="1800000" indent="-285750" algn="l">
              <a:lnSpc>
                <a:spcPct val="150000"/>
              </a:lnSpc>
              <a:buFont typeface="Wingdings" panose="05000000000000000000" pitchFamily="2" charset="2"/>
              <a:buChar char="Ø"/>
            </a:pPr>
            <a:r>
              <a:rPr lang="en-IN" sz="1700" b="0" i="1" dirty="0">
                <a:solidFill>
                  <a:srgbClr val="000000"/>
                </a:solidFill>
                <a:effectLst/>
                <a:latin typeface="Times New Roman" panose="02020603050405020304" pitchFamily="18" charset="0"/>
                <a:cs typeface="Times New Roman" panose="02020603050405020304" pitchFamily="18" charset="0"/>
              </a:rPr>
              <a:t>Q</a:t>
            </a:r>
            <a:r>
              <a:rPr lang="en-IN" sz="1700" b="0" i="0" baseline="-25000" dirty="0">
                <a:solidFill>
                  <a:srgbClr val="000000"/>
                </a:solidFill>
                <a:effectLst/>
                <a:latin typeface="Times New Roman" panose="02020603050405020304" pitchFamily="18" charset="0"/>
                <a:cs typeface="Times New Roman" panose="02020603050405020304" pitchFamily="18" charset="0"/>
              </a:rPr>
              <a:t>1</a:t>
            </a:r>
            <a:r>
              <a:rPr lang="en-IN" sz="1700" b="0" i="0" dirty="0">
                <a:solidFill>
                  <a:srgbClr val="000000"/>
                </a:solidFill>
                <a:effectLst/>
                <a:latin typeface="Times New Roman" panose="02020603050405020304" pitchFamily="18" charset="0"/>
                <a:cs typeface="Times New Roman" panose="02020603050405020304" pitchFamily="18" charset="0"/>
              </a:rPr>
              <a:t> = 56</a:t>
            </a:r>
          </a:p>
          <a:p>
            <a:pPr marL="1800000" indent="-285750" algn="l">
              <a:lnSpc>
                <a:spcPct val="150000"/>
              </a:lnSpc>
              <a:buFont typeface="Wingdings" panose="05000000000000000000" pitchFamily="2" charset="2"/>
              <a:buChar char="Ø"/>
            </a:pPr>
            <a:r>
              <a:rPr lang="en-IN" sz="1700" b="0" i="1" dirty="0">
                <a:solidFill>
                  <a:srgbClr val="000000"/>
                </a:solidFill>
                <a:effectLst/>
                <a:latin typeface="Times New Roman" panose="02020603050405020304" pitchFamily="18" charset="0"/>
                <a:cs typeface="Times New Roman" panose="02020603050405020304" pitchFamily="18" charset="0"/>
              </a:rPr>
              <a:t>M</a:t>
            </a:r>
            <a:r>
              <a:rPr lang="en-IN" sz="1700" b="0" i="0" dirty="0">
                <a:solidFill>
                  <a:srgbClr val="000000"/>
                </a:solidFill>
                <a:effectLst/>
                <a:latin typeface="Times New Roman" panose="02020603050405020304" pitchFamily="18" charset="0"/>
                <a:cs typeface="Times New Roman" panose="02020603050405020304" pitchFamily="18" charset="0"/>
              </a:rPr>
              <a:t> = 74.5</a:t>
            </a:r>
          </a:p>
          <a:p>
            <a:pPr marL="1800000" indent="-285750" algn="l">
              <a:lnSpc>
                <a:spcPct val="150000"/>
              </a:lnSpc>
              <a:buFont typeface="Wingdings" panose="05000000000000000000" pitchFamily="2" charset="2"/>
              <a:buChar char="Ø"/>
            </a:pPr>
            <a:r>
              <a:rPr lang="en-IN" sz="1700" b="0" i="1" dirty="0">
                <a:solidFill>
                  <a:srgbClr val="000000"/>
                </a:solidFill>
                <a:effectLst/>
                <a:latin typeface="Times New Roman" panose="02020603050405020304" pitchFamily="18" charset="0"/>
                <a:cs typeface="Times New Roman" panose="02020603050405020304" pitchFamily="18" charset="0"/>
              </a:rPr>
              <a:t>Q</a:t>
            </a:r>
            <a:r>
              <a:rPr lang="en-IN" sz="1700" b="0" i="0" baseline="-25000" dirty="0">
                <a:solidFill>
                  <a:srgbClr val="000000"/>
                </a:solidFill>
                <a:effectLst/>
                <a:latin typeface="Times New Roman" panose="02020603050405020304" pitchFamily="18" charset="0"/>
                <a:cs typeface="Times New Roman" panose="02020603050405020304" pitchFamily="18" charset="0"/>
              </a:rPr>
              <a:t>3</a:t>
            </a:r>
            <a:r>
              <a:rPr lang="en-IN" sz="1700" b="0" i="0" dirty="0">
                <a:solidFill>
                  <a:srgbClr val="000000"/>
                </a:solidFill>
                <a:effectLst/>
                <a:latin typeface="Times New Roman" panose="02020603050405020304" pitchFamily="18" charset="0"/>
                <a:cs typeface="Times New Roman" panose="02020603050405020304" pitchFamily="18" charset="0"/>
              </a:rPr>
              <a:t> = 82.5</a:t>
            </a:r>
          </a:p>
          <a:p>
            <a:pPr marL="1800000" indent="-285750" algn="l">
              <a:lnSpc>
                <a:spcPct val="150000"/>
              </a:lnSpc>
              <a:buFont typeface="Wingdings" panose="05000000000000000000" pitchFamily="2" charset="2"/>
              <a:buChar char="Ø"/>
            </a:pPr>
            <a:r>
              <a:rPr lang="en-IN" sz="1700" b="0" i="0" dirty="0">
                <a:solidFill>
                  <a:srgbClr val="000000"/>
                </a:solidFill>
                <a:effectLst/>
                <a:latin typeface="Times New Roman" panose="02020603050405020304" pitchFamily="18" charset="0"/>
                <a:cs typeface="Times New Roman" panose="02020603050405020304" pitchFamily="18" charset="0"/>
              </a:rPr>
              <a:t>Max = 99</a:t>
            </a:r>
          </a:p>
          <a:p>
            <a:pPr algn="l">
              <a:buFont typeface="+mj-lt"/>
              <a:buAutoNum type="arabicPeriod"/>
            </a:pPr>
            <a:endParaRPr lang="en-US" dirty="0">
              <a:latin typeface="Tahoma" panose="020B0604030504040204" pitchFamily="34" charset="0"/>
            </a:endParaRPr>
          </a:p>
          <a:p>
            <a:pPr algn="l"/>
            <a:endParaRPr lang="en-US" b="0" i="0" dirty="0">
              <a:solidFill>
                <a:srgbClr val="000000"/>
              </a:solidFill>
              <a:effectLst/>
              <a:latin typeface="Tahoma" panose="020B0604030504040204" pitchFamily="34" charset="0"/>
            </a:endParaRPr>
          </a:p>
        </p:txBody>
      </p:sp>
    </p:spTree>
    <p:extLst>
      <p:ext uri="{BB962C8B-B14F-4D97-AF65-F5344CB8AC3E}">
        <p14:creationId xmlns:p14="http://schemas.microsoft.com/office/powerpoint/2010/main" val="11306416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67FBFC46-C511-EE8E-5819-3132A4F379C1}"/>
              </a:ext>
            </a:extLst>
          </p:cNvPr>
          <p:cNvSpPr txBox="1"/>
          <p:nvPr/>
        </p:nvSpPr>
        <p:spPr>
          <a:xfrm>
            <a:off x="69574" y="129209"/>
            <a:ext cx="8945217" cy="6990632"/>
          </a:xfrm>
          <a:prstGeom prst="rect">
            <a:avLst/>
          </a:prstGeom>
          <a:noFill/>
        </p:spPr>
        <p:txBody>
          <a:bodyPr wrap="square">
            <a:spAutoFit/>
          </a:bodyPr>
          <a:lstStyle/>
          <a:p>
            <a:pPr marL="360000">
              <a:lnSpc>
                <a:spcPct val="150000"/>
              </a:lnSpc>
            </a:pPr>
            <a:r>
              <a:rPr lang="en-US" sz="1800" b="1" i="0" dirty="0">
                <a:solidFill>
                  <a:srgbClr val="7030A0"/>
                </a:solidFill>
                <a:effectLst/>
                <a:latin typeface="Times New Roman" panose="02020603050405020304" pitchFamily="18" charset="0"/>
                <a:cs typeface="Times New Roman" panose="02020603050405020304" pitchFamily="18" charset="0"/>
              </a:rPr>
              <a:t>Example: </a:t>
            </a:r>
          </a:p>
          <a:p>
            <a:pPr marL="360000" algn="l">
              <a:lnSpc>
                <a:spcPct val="150000"/>
              </a:lnSpc>
            </a:pPr>
            <a:r>
              <a:rPr lang="en-US" sz="1800" b="0" i="0" dirty="0">
                <a:solidFill>
                  <a:srgbClr val="000000"/>
                </a:solidFill>
                <a:effectLst/>
                <a:latin typeface="Times New Roman" panose="02020603050405020304" pitchFamily="18" charset="0"/>
                <a:cs typeface="Times New Roman" panose="02020603050405020304" pitchFamily="18" charset="0"/>
              </a:rPr>
              <a:t>Test scores for college statistics class held during the evening are:</a:t>
            </a:r>
          </a:p>
          <a:p>
            <a:pPr marL="360000" algn="l">
              <a:lnSpc>
                <a:spcPct val="150000"/>
              </a:lnSpc>
            </a:pPr>
            <a:r>
              <a:rPr lang="en-US" sz="1800" b="0" i="0" dirty="0">
                <a:solidFill>
                  <a:srgbClr val="000000"/>
                </a:solidFill>
                <a:effectLst/>
                <a:latin typeface="Times New Roman" panose="02020603050405020304" pitchFamily="18" charset="0"/>
                <a:cs typeface="Times New Roman" panose="02020603050405020304" pitchFamily="18" charset="0"/>
              </a:rPr>
              <a:t>98; 78; 68; 83; 81; 89; 88; 76; 65; 45; 98; 90; 80; 84.5; 85; 79; 78; 98; 90; 79; 81; 25.5</a:t>
            </a:r>
          </a:p>
          <a:p>
            <a:pPr marL="360000" algn="l">
              <a:lnSpc>
                <a:spcPct val="150000"/>
              </a:lnSpc>
            </a:pPr>
            <a:r>
              <a:rPr lang="en-US" sz="1800" b="0" i="0" dirty="0">
                <a:solidFill>
                  <a:srgbClr val="000000"/>
                </a:solidFill>
                <a:effectLst/>
                <a:latin typeface="Times New Roman" panose="02020603050405020304" pitchFamily="18" charset="0"/>
                <a:cs typeface="Times New Roman" panose="02020603050405020304" pitchFamily="18" charset="0"/>
              </a:rPr>
              <a:t>Find the smallest and largest values, the median, and the first and third quartile for the night class.</a:t>
            </a:r>
            <a:r>
              <a:rPr kumimoji="0" lang="en-US"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a:t>
            </a:r>
          </a:p>
          <a:p>
            <a:pPr marL="360000" algn="l">
              <a:lnSpc>
                <a:spcPct val="150000"/>
              </a:lnSpc>
            </a:pPr>
            <a:r>
              <a:rPr lang="en-US" sz="1800" b="1" dirty="0">
                <a:solidFill>
                  <a:srgbClr val="7030A0"/>
                </a:solidFill>
                <a:latin typeface="Times New Roman" panose="02020603050405020304" pitchFamily="18" charset="0"/>
                <a:cs typeface="Times New Roman" panose="02020603050405020304" pitchFamily="18" charset="0"/>
              </a:rPr>
              <a:t>Solution:</a:t>
            </a:r>
            <a:endParaRPr kumimoji="0" lang="en-US" sz="1800" b="1" i="0" u="none" strike="noStrike" kern="0" cap="none" spc="0" normalizeH="0" baseline="0" noProof="0" dirty="0">
              <a:ln>
                <a:noFill/>
              </a:ln>
              <a:solidFill>
                <a:srgbClr val="7030A0"/>
              </a:solidFill>
              <a:effectLst/>
              <a:uLnTx/>
              <a:uFillTx/>
              <a:latin typeface="Times New Roman" panose="02020603050405020304" pitchFamily="18" charset="0"/>
              <a:cs typeface="Times New Roman" panose="02020603050405020304" pitchFamily="18" charset="0"/>
              <a:sym typeface="Arial"/>
            </a:endParaRPr>
          </a:p>
          <a:p>
            <a:pPr marL="1800000" indent="-342900" algn="l">
              <a:lnSpc>
                <a:spcPct val="150000"/>
              </a:lnSpc>
              <a:buFont typeface="Wingdings" panose="05000000000000000000" pitchFamily="2" charset="2"/>
              <a:buChar char="Ø"/>
            </a:pPr>
            <a:r>
              <a:rPr lang="en-IN" sz="1700" b="0" i="0" dirty="0">
                <a:solidFill>
                  <a:srgbClr val="000000"/>
                </a:solidFill>
                <a:effectLst/>
                <a:latin typeface="Times New Roman" panose="02020603050405020304" pitchFamily="18" charset="0"/>
                <a:cs typeface="Times New Roman" panose="02020603050405020304" pitchFamily="18" charset="0"/>
              </a:rPr>
              <a:t>Min = 25.5</a:t>
            </a:r>
          </a:p>
          <a:p>
            <a:pPr marL="1800000" indent="-342900" algn="l">
              <a:lnSpc>
                <a:spcPct val="150000"/>
              </a:lnSpc>
              <a:buFont typeface="Wingdings" panose="05000000000000000000" pitchFamily="2" charset="2"/>
              <a:buChar char="Ø"/>
            </a:pPr>
            <a:r>
              <a:rPr lang="en-IN" sz="1700" b="0" i="1" dirty="0">
                <a:solidFill>
                  <a:srgbClr val="000000"/>
                </a:solidFill>
                <a:effectLst/>
                <a:latin typeface="Times New Roman" panose="02020603050405020304" pitchFamily="18" charset="0"/>
                <a:cs typeface="Times New Roman" panose="02020603050405020304" pitchFamily="18" charset="0"/>
              </a:rPr>
              <a:t>Q</a:t>
            </a:r>
            <a:r>
              <a:rPr lang="en-IN" sz="1700" b="0" i="0" baseline="-25000" dirty="0">
                <a:solidFill>
                  <a:srgbClr val="000000"/>
                </a:solidFill>
                <a:effectLst/>
                <a:latin typeface="Times New Roman" panose="02020603050405020304" pitchFamily="18" charset="0"/>
                <a:cs typeface="Times New Roman" panose="02020603050405020304" pitchFamily="18" charset="0"/>
              </a:rPr>
              <a:t>1</a:t>
            </a:r>
            <a:r>
              <a:rPr lang="en-IN" sz="1700" b="0" i="0" dirty="0">
                <a:solidFill>
                  <a:srgbClr val="000000"/>
                </a:solidFill>
                <a:effectLst/>
                <a:latin typeface="Times New Roman" panose="02020603050405020304" pitchFamily="18" charset="0"/>
                <a:cs typeface="Times New Roman" panose="02020603050405020304" pitchFamily="18" charset="0"/>
              </a:rPr>
              <a:t> = 78</a:t>
            </a:r>
          </a:p>
          <a:p>
            <a:pPr marL="1800000" indent="-342900" algn="l">
              <a:lnSpc>
                <a:spcPct val="150000"/>
              </a:lnSpc>
              <a:buFont typeface="Wingdings" panose="05000000000000000000" pitchFamily="2" charset="2"/>
              <a:buChar char="Ø"/>
            </a:pPr>
            <a:r>
              <a:rPr lang="en-IN" sz="1700" b="0" i="1" dirty="0">
                <a:solidFill>
                  <a:srgbClr val="000000"/>
                </a:solidFill>
                <a:effectLst/>
                <a:latin typeface="Times New Roman" panose="02020603050405020304" pitchFamily="18" charset="0"/>
                <a:cs typeface="Times New Roman" panose="02020603050405020304" pitchFamily="18" charset="0"/>
              </a:rPr>
              <a:t>M</a:t>
            </a:r>
            <a:r>
              <a:rPr lang="en-IN" sz="1700" b="0" i="0" dirty="0">
                <a:solidFill>
                  <a:srgbClr val="000000"/>
                </a:solidFill>
                <a:effectLst/>
                <a:latin typeface="Times New Roman" panose="02020603050405020304" pitchFamily="18" charset="0"/>
                <a:cs typeface="Times New Roman" panose="02020603050405020304" pitchFamily="18" charset="0"/>
              </a:rPr>
              <a:t> = 81</a:t>
            </a:r>
          </a:p>
          <a:p>
            <a:pPr marL="1800000" indent="-342900" algn="l">
              <a:lnSpc>
                <a:spcPct val="150000"/>
              </a:lnSpc>
              <a:buFont typeface="Wingdings" panose="05000000000000000000" pitchFamily="2" charset="2"/>
              <a:buChar char="Ø"/>
            </a:pPr>
            <a:r>
              <a:rPr lang="en-IN" sz="1700" b="0" i="1" dirty="0">
                <a:solidFill>
                  <a:srgbClr val="000000"/>
                </a:solidFill>
                <a:effectLst/>
                <a:latin typeface="Times New Roman" panose="02020603050405020304" pitchFamily="18" charset="0"/>
                <a:cs typeface="Times New Roman" panose="02020603050405020304" pitchFamily="18" charset="0"/>
              </a:rPr>
              <a:t>Q</a:t>
            </a:r>
            <a:r>
              <a:rPr lang="en-IN" sz="1700" b="0" i="0" baseline="-25000" dirty="0">
                <a:solidFill>
                  <a:srgbClr val="000000"/>
                </a:solidFill>
                <a:effectLst/>
                <a:latin typeface="Times New Roman" panose="02020603050405020304" pitchFamily="18" charset="0"/>
                <a:cs typeface="Times New Roman" panose="02020603050405020304" pitchFamily="18" charset="0"/>
              </a:rPr>
              <a:t>3</a:t>
            </a:r>
            <a:r>
              <a:rPr lang="en-IN" sz="1700" b="0" i="0" dirty="0">
                <a:solidFill>
                  <a:srgbClr val="000000"/>
                </a:solidFill>
                <a:effectLst/>
                <a:latin typeface="Times New Roman" panose="02020603050405020304" pitchFamily="18" charset="0"/>
                <a:cs typeface="Times New Roman" panose="02020603050405020304" pitchFamily="18" charset="0"/>
              </a:rPr>
              <a:t> = 89</a:t>
            </a:r>
          </a:p>
          <a:p>
            <a:pPr marL="1800000" indent="-342900" algn="l">
              <a:lnSpc>
                <a:spcPct val="150000"/>
              </a:lnSpc>
              <a:buFont typeface="Wingdings" panose="05000000000000000000" pitchFamily="2" charset="2"/>
              <a:buChar char="Ø"/>
            </a:pPr>
            <a:r>
              <a:rPr lang="en-IN" sz="1700" b="0" i="0" dirty="0">
                <a:solidFill>
                  <a:srgbClr val="000000"/>
                </a:solidFill>
                <a:effectLst/>
                <a:latin typeface="Times New Roman" panose="02020603050405020304" pitchFamily="18" charset="0"/>
                <a:cs typeface="Times New Roman" panose="02020603050405020304" pitchFamily="18" charset="0"/>
              </a:rPr>
              <a:t>Max = 98</a:t>
            </a:r>
          </a:p>
          <a:p>
            <a:pPr marL="360000" algn="l">
              <a:lnSpc>
                <a:spcPct val="150000"/>
              </a:lnSpc>
            </a:pPr>
            <a:endParaRPr lang="en-US" sz="1800" dirty="0">
              <a:latin typeface="Times New Roman" panose="02020603050405020304" pitchFamily="18" charset="0"/>
              <a:cs typeface="Times New Roman" panose="02020603050405020304" pitchFamily="18" charset="0"/>
            </a:endParaRPr>
          </a:p>
          <a:p>
            <a:pPr marL="360000" algn="l">
              <a:lnSpc>
                <a:spcPct val="150000"/>
              </a:lnSpc>
              <a:buFont typeface="+mj-lt"/>
              <a:buAutoNum type="arabicPeriod"/>
            </a:pPr>
            <a:endParaRPr lang="en-US" sz="1800" b="0" i="0" dirty="0">
              <a:solidFill>
                <a:srgbClr val="000000"/>
              </a:solidFill>
              <a:effectLst/>
              <a:latin typeface="Times New Roman" panose="02020603050405020304" pitchFamily="18" charset="0"/>
              <a:cs typeface="Times New Roman" panose="02020603050405020304" pitchFamily="18" charset="0"/>
            </a:endParaRPr>
          </a:p>
          <a:p>
            <a:pPr marL="360000" algn="l">
              <a:lnSpc>
                <a:spcPct val="150000"/>
              </a:lnSpc>
              <a:buFont typeface="+mj-lt"/>
              <a:buAutoNum type="arabicPeriod"/>
            </a:pPr>
            <a:endParaRPr lang="en-US" sz="1800" dirty="0">
              <a:latin typeface="Times New Roman" panose="02020603050405020304" pitchFamily="18" charset="0"/>
              <a:cs typeface="Times New Roman" panose="02020603050405020304" pitchFamily="18" charset="0"/>
            </a:endParaRPr>
          </a:p>
          <a:p>
            <a:pPr marL="360000" algn="l">
              <a:lnSpc>
                <a:spcPct val="150000"/>
              </a:lnSpc>
              <a:buFont typeface="+mj-lt"/>
              <a:buAutoNum type="arabicPeriod"/>
            </a:pPr>
            <a:endParaRPr lang="en-US" sz="1800" b="0" i="0" dirty="0">
              <a:solidFill>
                <a:srgbClr val="000000"/>
              </a:solidFill>
              <a:effectLst/>
              <a:latin typeface="Times New Roman" panose="02020603050405020304" pitchFamily="18" charset="0"/>
              <a:cs typeface="Times New Roman" panose="02020603050405020304" pitchFamily="18" charset="0"/>
            </a:endParaRPr>
          </a:p>
          <a:p>
            <a:pPr marL="360000" algn="l">
              <a:lnSpc>
                <a:spcPct val="150000"/>
              </a:lnSpc>
              <a:buFont typeface="+mj-lt"/>
              <a:buAutoNum type="arabicPeriod"/>
            </a:pPr>
            <a:endParaRPr lang="en-US" sz="1800" dirty="0">
              <a:latin typeface="Times New Roman" panose="02020603050405020304" pitchFamily="18" charset="0"/>
              <a:cs typeface="Times New Roman" panose="02020603050405020304" pitchFamily="18" charset="0"/>
            </a:endParaRPr>
          </a:p>
          <a:p>
            <a:pPr marL="360000" algn="l">
              <a:lnSpc>
                <a:spcPct val="150000"/>
              </a:lnSpc>
            </a:pPr>
            <a:endParaRPr lang="en-US" sz="18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175256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28630E4-EFED-F76E-5785-8AC950CCDF40}"/>
              </a:ext>
            </a:extLst>
          </p:cNvPr>
          <p:cNvSpPr txBox="1"/>
          <p:nvPr/>
        </p:nvSpPr>
        <p:spPr>
          <a:xfrm>
            <a:off x="248478" y="109330"/>
            <a:ext cx="8716618" cy="2408160"/>
          </a:xfrm>
          <a:prstGeom prst="rect">
            <a:avLst/>
          </a:prstGeom>
          <a:noFill/>
        </p:spPr>
        <p:txBody>
          <a:bodyPr wrap="square">
            <a:spAutoFit/>
          </a:bodyPr>
          <a:lstStyle/>
          <a:p>
            <a:pPr marL="702900" indent="-342900">
              <a:lnSpc>
                <a:spcPct val="150000"/>
              </a:lnSpc>
              <a:buFont typeface="+mj-lt"/>
              <a:buAutoNum type="arabicParenR"/>
              <a:defRPr/>
            </a:pPr>
            <a:r>
              <a:rPr lang="en-US" sz="1800" dirty="0">
                <a:latin typeface="Times New Roman" panose="02020603050405020304" pitchFamily="18" charset="0"/>
                <a:cs typeface="Times New Roman" panose="02020603050405020304" pitchFamily="18" charset="0"/>
              </a:rPr>
              <a:t>Create a box plot for each data set.(</a:t>
            </a:r>
            <a:r>
              <a:rPr kumimoji="0" lang="en-US"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Note: Use one number line for both box plots.</a:t>
            </a:r>
            <a:r>
              <a:rPr lang="en-US" sz="1800" dirty="0">
                <a:latin typeface="Times New Roman" panose="02020603050405020304" pitchFamily="18" charset="0"/>
                <a:cs typeface="Times New Roman" panose="02020603050405020304" pitchFamily="18" charset="0"/>
              </a:rPr>
              <a:t>)</a:t>
            </a:r>
          </a:p>
          <a:p>
            <a:pPr marL="702900" marR="0" lvl="0" indent="-342900" defTabSz="914400" rtl="0" eaLnBrk="1" fontAlgn="auto" latinLnBrk="0" hangingPunct="1">
              <a:lnSpc>
                <a:spcPct val="150000"/>
              </a:lnSpc>
              <a:spcBef>
                <a:spcPts val="0"/>
              </a:spcBef>
              <a:spcAft>
                <a:spcPts val="0"/>
              </a:spcAft>
              <a:buClr>
                <a:srgbClr val="000000"/>
              </a:buClr>
              <a:buSzTx/>
              <a:buFont typeface="+mj-lt"/>
              <a:buAutoNum type="arabicParenR"/>
              <a:tabLst/>
              <a:defRPr/>
            </a:pPr>
            <a:r>
              <a:rPr kumimoji="0" lang="en-US"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Which box plot has the widest spread for the middle 50% of the data (the data between the first and third quartiles)? What does this mean for that set of data in comparison to the other set of data?</a:t>
            </a:r>
          </a:p>
          <a:p>
            <a:pPr marL="360000">
              <a:lnSpc>
                <a:spcPct val="150000"/>
              </a:lnSpc>
              <a:defRPr/>
            </a:pPr>
            <a:endParaRPr lang="en-US" sz="1600" dirty="0">
              <a:latin typeface="Times New Roman" panose="02020603050405020304" pitchFamily="18" charset="0"/>
              <a:cs typeface="Times New Roman" panose="02020603050405020304" pitchFamily="18" charset="0"/>
            </a:endParaRPr>
          </a:p>
          <a:p>
            <a:pPr marL="360000" marR="0" lvl="0" indent="0" algn="l" defTabSz="914400" rtl="0" eaLnBrk="1" fontAlgn="auto" latinLnBrk="0" hangingPunct="1">
              <a:lnSpc>
                <a:spcPct val="150000"/>
              </a:lnSpc>
              <a:spcBef>
                <a:spcPts val="0"/>
              </a:spcBef>
              <a:spcAft>
                <a:spcPts val="0"/>
              </a:spcAft>
              <a:buClr>
                <a:srgbClr val="000000"/>
              </a:buClr>
              <a:buSzTx/>
              <a:buFont typeface="+mj-lt"/>
              <a:buAutoNum type="arabicPeriod"/>
              <a:tabLst/>
              <a:defRPr/>
            </a:pPr>
            <a:endPar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pic>
        <p:nvPicPr>
          <p:cNvPr id="7" name="Picture 6">
            <a:extLst>
              <a:ext uri="{FF2B5EF4-FFF2-40B4-BE49-F238E27FC236}">
                <a16:creationId xmlns:a16="http://schemas.microsoft.com/office/drawing/2014/main" id="{C64815E8-30ED-0E34-5D80-7CD138F7C0CB}"/>
              </a:ext>
            </a:extLst>
          </p:cNvPr>
          <p:cNvPicPr>
            <a:picLocks noChangeAspect="1"/>
          </p:cNvPicPr>
          <p:nvPr/>
        </p:nvPicPr>
        <p:blipFill>
          <a:blip r:embed="rId2"/>
          <a:stretch>
            <a:fillRect/>
          </a:stretch>
        </p:blipFill>
        <p:spPr>
          <a:xfrm>
            <a:off x="178904" y="1490867"/>
            <a:ext cx="7096125" cy="2677146"/>
          </a:xfrm>
          <a:prstGeom prst="rect">
            <a:avLst/>
          </a:prstGeom>
        </p:spPr>
      </p:pic>
      <p:sp>
        <p:nvSpPr>
          <p:cNvPr id="8" name="TextBox 7">
            <a:extLst>
              <a:ext uri="{FF2B5EF4-FFF2-40B4-BE49-F238E27FC236}">
                <a16:creationId xmlns:a16="http://schemas.microsoft.com/office/drawing/2014/main" id="{6F8F84B5-3D0D-16E2-DA80-54B1123A5D6E}"/>
              </a:ext>
            </a:extLst>
          </p:cNvPr>
          <p:cNvSpPr txBox="1"/>
          <p:nvPr/>
        </p:nvSpPr>
        <p:spPr>
          <a:xfrm>
            <a:off x="7444409" y="1908313"/>
            <a:ext cx="1311965" cy="30777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Day Class </a:t>
            </a:r>
            <a:endParaRPr lang="en-IN" dirty="0">
              <a:latin typeface="Times New Roman" panose="02020603050405020304" pitchFamily="18" charset="0"/>
              <a:cs typeface="Times New Roman" panose="02020603050405020304" pitchFamily="18" charset="0"/>
            </a:endParaRPr>
          </a:p>
        </p:txBody>
      </p:sp>
      <p:cxnSp>
        <p:nvCxnSpPr>
          <p:cNvPr id="11" name="Straight Arrow Connector 10">
            <a:extLst>
              <a:ext uri="{FF2B5EF4-FFF2-40B4-BE49-F238E27FC236}">
                <a16:creationId xmlns:a16="http://schemas.microsoft.com/office/drawing/2014/main" id="{5DA9FB04-0B1D-B669-663D-5A29C8A53D1E}"/>
              </a:ext>
            </a:extLst>
          </p:cNvPr>
          <p:cNvCxnSpPr>
            <a:cxnSpLocks/>
            <a:stCxn id="8" idx="1"/>
          </p:cNvCxnSpPr>
          <p:nvPr/>
        </p:nvCxnSpPr>
        <p:spPr>
          <a:xfrm flipH="1">
            <a:off x="6927574" y="2062202"/>
            <a:ext cx="516835" cy="99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944868F-E6C8-3DAE-D3C9-BC8EDE935639}"/>
              </a:ext>
            </a:extLst>
          </p:cNvPr>
          <p:cNvCxnSpPr>
            <a:cxnSpLocks/>
          </p:cNvCxnSpPr>
          <p:nvPr/>
        </p:nvCxnSpPr>
        <p:spPr>
          <a:xfrm flipH="1">
            <a:off x="6758194" y="3110948"/>
            <a:ext cx="51683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26B223D0-D018-B615-BA43-6064AF4287AC}"/>
              </a:ext>
            </a:extLst>
          </p:cNvPr>
          <p:cNvSpPr txBox="1"/>
          <p:nvPr/>
        </p:nvSpPr>
        <p:spPr>
          <a:xfrm>
            <a:off x="7275029" y="2961861"/>
            <a:ext cx="1481345" cy="52322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Evening Class </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69582518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A9BD4D8-7C36-68CD-6983-83CABD05FD16}"/>
              </a:ext>
            </a:extLst>
          </p:cNvPr>
          <p:cNvSpPr>
            <a:spLocks noGrp="1"/>
          </p:cNvSpPr>
          <p:nvPr>
            <p:ph type="title"/>
          </p:nvPr>
        </p:nvSpPr>
        <p:spPr/>
        <p:txBody>
          <a:bodyPr>
            <a:noAutofit/>
          </a:bodyPr>
          <a:lstStyle/>
          <a:p>
            <a:r>
              <a:rPr lang="en-US" sz="3200" b="1" dirty="0">
                <a:solidFill>
                  <a:srgbClr val="FF0000"/>
                </a:solidFill>
                <a:latin typeface="Times New Roman" panose="02020603050405020304" pitchFamily="18" charset="0"/>
                <a:cs typeface="Times New Roman" panose="02020603050405020304" pitchFamily="18" charset="0"/>
              </a:rPr>
              <a:t>Conclusion:</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781DCAE6-27DD-4CE5-C228-028CF63C116F}"/>
              </a:ext>
            </a:extLst>
          </p:cNvPr>
          <p:cNvSpPr>
            <a:spLocks noGrp="1"/>
          </p:cNvSpPr>
          <p:nvPr>
            <p:ph type="body" idx="1"/>
          </p:nvPr>
        </p:nvSpPr>
        <p:spPr/>
        <p:txBody>
          <a:bodyPr/>
          <a:lstStyle/>
          <a:p>
            <a:pPr marL="114300" indent="0">
              <a:buNone/>
            </a:pPr>
            <a:r>
              <a:rPr lang="en-US" sz="2400" b="0" i="0" dirty="0">
                <a:solidFill>
                  <a:srgbClr val="000000"/>
                </a:solidFill>
                <a:effectLst/>
                <a:latin typeface="Times New Roman" panose="02020603050405020304" pitchFamily="18" charset="0"/>
                <a:cs typeface="Times New Roman" panose="02020603050405020304" pitchFamily="18" charset="0"/>
              </a:rPr>
              <a:t>The first data set has the wider spread for the middle 50% of the data. The </a:t>
            </a:r>
            <a:r>
              <a:rPr lang="en-US" sz="2400" b="0" i="1" dirty="0">
                <a:solidFill>
                  <a:srgbClr val="000000"/>
                </a:solidFill>
                <a:effectLst/>
                <a:latin typeface="Times New Roman" panose="02020603050405020304" pitchFamily="18" charset="0"/>
                <a:cs typeface="Times New Roman" panose="02020603050405020304" pitchFamily="18" charset="0"/>
              </a:rPr>
              <a:t>IQR </a:t>
            </a:r>
            <a:r>
              <a:rPr lang="en-US" sz="2400" b="0" i="0" dirty="0">
                <a:solidFill>
                  <a:srgbClr val="000000"/>
                </a:solidFill>
                <a:effectLst/>
                <a:latin typeface="Times New Roman" panose="02020603050405020304" pitchFamily="18" charset="0"/>
                <a:cs typeface="Times New Roman" panose="02020603050405020304" pitchFamily="18" charset="0"/>
              </a:rPr>
              <a:t>for the first data set is greater than the </a:t>
            </a:r>
            <a:r>
              <a:rPr lang="en-US" sz="2400" b="0" i="1" dirty="0">
                <a:solidFill>
                  <a:srgbClr val="000000"/>
                </a:solidFill>
                <a:effectLst/>
                <a:latin typeface="Times New Roman" panose="02020603050405020304" pitchFamily="18" charset="0"/>
                <a:cs typeface="Times New Roman" panose="02020603050405020304" pitchFamily="18" charset="0"/>
              </a:rPr>
              <a:t>IQR</a:t>
            </a:r>
            <a:r>
              <a:rPr lang="en-US" sz="2400" b="0" i="0" dirty="0">
                <a:solidFill>
                  <a:srgbClr val="000000"/>
                </a:solidFill>
                <a:effectLst/>
                <a:latin typeface="Times New Roman" panose="02020603050405020304" pitchFamily="18" charset="0"/>
                <a:cs typeface="Times New Roman" panose="02020603050405020304" pitchFamily="18" charset="0"/>
              </a:rPr>
              <a:t> for the second set. </a:t>
            </a:r>
          </a:p>
          <a:p>
            <a:pPr marL="114300" indent="0">
              <a:buNone/>
            </a:pPr>
            <a:r>
              <a:rPr lang="en-US" sz="2400" b="0" i="0" dirty="0">
                <a:solidFill>
                  <a:srgbClr val="000000"/>
                </a:solidFill>
                <a:effectLst/>
                <a:latin typeface="Times New Roman" panose="02020603050405020304" pitchFamily="18" charset="0"/>
                <a:cs typeface="Times New Roman" panose="02020603050405020304" pitchFamily="18" charset="0"/>
              </a:rPr>
              <a:t>This means that there is more variability in the middle 50% of the first data set.</a:t>
            </a:r>
          </a:p>
          <a:p>
            <a:pPr marL="114300" indent="0">
              <a:buNone/>
            </a:pPr>
            <a:endParaRPr lang="en-IN" dirty="0"/>
          </a:p>
        </p:txBody>
      </p:sp>
    </p:spTree>
    <p:extLst>
      <p:ext uri="{BB962C8B-B14F-4D97-AF65-F5344CB8AC3E}">
        <p14:creationId xmlns:p14="http://schemas.microsoft.com/office/powerpoint/2010/main" val="276853800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3">
            <a:extLst>
              <a:ext uri="{FF2B5EF4-FFF2-40B4-BE49-F238E27FC236}">
                <a16:creationId xmlns:a16="http://schemas.microsoft.com/office/drawing/2014/main" id="{00E33188-19AE-FF47-8750-5301EBA15072}"/>
              </a:ext>
            </a:extLst>
          </p:cNvPr>
          <p:cNvSpPr>
            <a:spLocks noChangeArrowheads="1"/>
          </p:cNvSpPr>
          <p:nvPr/>
        </p:nvSpPr>
        <p:spPr bwMode="auto">
          <a:xfrm>
            <a:off x="1357312" y="428626"/>
            <a:ext cx="6482954" cy="1981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1">
                <a:latin typeface="Times New Roman" panose="02020603050405020304" pitchFamily="18" charset="0"/>
                <a:cs typeface="Times New Roman" panose="02020603050405020304" pitchFamily="18" charset="0"/>
              </a:rPr>
              <a:t>Softwares to perform statistical analysis and visualization of data. </a:t>
            </a:r>
          </a:p>
          <a:p>
            <a:pPr eaLnBrk="1" hangingPunct="1">
              <a:lnSpc>
                <a:spcPct val="150000"/>
              </a:lnSpc>
              <a:spcBef>
                <a:spcPct val="50000"/>
              </a:spcBef>
            </a:pPr>
            <a:r>
              <a:rPr lang="en-US" altLang="en-US" sz="1800">
                <a:latin typeface="Times New Roman" panose="02020603050405020304" pitchFamily="18" charset="0"/>
                <a:cs typeface="Times New Roman" panose="02020603050405020304" pitchFamily="18" charset="0"/>
              </a:rPr>
              <a:t> SAS (System for Statistical Analysis),  S-plus, R, Matlab, Minitab, BMDP, Stata, SPSS, StatXact, Statistica, LISREL, JMP, GLIM, HIL, MS Excel etc. </a:t>
            </a:r>
          </a:p>
        </p:txBody>
      </p:sp>
      <p:sp>
        <p:nvSpPr>
          <p:cNvPr id="58371" name="Rectangle 4">
            <a:extLst>
              <a:ext uri="{FF2B5EF4-FFF2-40B4-BE49-F238E27FC236}">
                <a16:creationId xmlns:a16="http://schemas.microsoft.com/office/drawing/2014/main" id="{233B6D1B-F879-FC83-B134-4F9A6242CCF5}"/>
              </a:ext>
            </a:extLst>
          </p:cNvPr>
          <p:cNvSpPr>
            <a:spLocks noChangeArrowheads="1"/>
          </p:cNvSpPr>
          <p:nvPr/>
        </p:nvSpPr>
        <p:spPr bwMode="auto">
          <a:xfrm>
            <a:off x="1410891" y="2464594"/>
            <a:ext cx="632221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latin typeface="Times New Roman" panose="02020603050405020304" pitchFamily="18" charset="0"/>
                <a:cs typeface="Times New Roman" panose="02020603050405020304" pitchFamily="18" charset="0"/>
              </a:rPr>
              <a:t>Some useful websites for more information of statistical softwares</a:t>
            </a:r>
          </a:p>
        </p:txBody>
      </p:sp>
      <p:sp>
        <p:nvSpPr>
          <p:cNvPr id="58372" name="Rectangle 5">
            <a:extLst>
              <a:ext uri="{FF2B5EF4-FFF2-40B4-BE49-F238E27FC236}">
                <a16:creationId xmlns:a16="http://schemas.microsoft.com/office/drawing/2014/main" id="{644521E8-7E4E-5CA3-D308-C19B34DF77CB}"/>
              </a:ext>
            </a:extLst>
          </p:cNvPr>
          <p:cNvSpPr>
            <a:spLocks noChangeArrowheads="1"/>
          </p:cNvSpPr>
          <p:nvPr/>
        </p:nvSpPr>
        <p:spPr bwMode="auto">
          <a:xfrm>
            <a:off x="1518048" y="2893219"/>
            <a:ext cx="6107906" cy="170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100">
                <a:latin typeface="Times New Roman" panose="02020603050405020304" pitchFamily="18" charset="0"/>
                <a:cs typeface="Times New Roman" panose="02020603050405020304" pitchFamily="18" charset="0"/>
                <a:hlinkClick r:id="rId2"/>
              </a:rPr>
              <a:t>http://www.galaxy.gmu.edu/papers/astr1.html</a:t>
            </a:r>
            <a:endParaRPr lang="en-US" altLang="en-US" sz="2100">
              <a:latin typeface="Times New Roman" panose="02020603050405020304" pitchFamily="18" charset="0"/>
              <a:cs typeface="Times New Roman" panose="02020603050405020304" pitchFamily="18" charset="0"/>
            </a:endParaRPr>
          </a:p>
          <a:p>
            <a:pPr eaLnBrk="1" hangingPunct="1">
              <a:spcBef>
                <a:spcPct val="50000"/>
              </a:spcBef>
            </a:pPr>
            <a:r>
              <a:rPr lang="en-US" altLang="en-US" sz="2100">
                <a:latin typeface="Times New Roman" panose="02020603050405020304" pitchFamily="18" charset="0"/>
                <a:cs typeface="Times New Roman" panose="02020603050405020304" pitchFamily="18" charset="0"/>
                <a:hlinkClick r:id="rId3"/>
              </a:rPr>
              <a:t>http://ourworld.compuserve.com/homepages/Rainer_Wuerlaender/statsoft.htm#archiv</a:t>
            </a:r>
            <a:endParaRPr lang="en-US" altLang="en-US" sz="2100">
              <a:latin typeface="Times New Roman" panose="02020603050405020304" pitchFamily="18" charset="0"/>
              <a:cs typeface="Times New Roman" panose="02020603050405020304" pitchFamily="18" charset="0"/>
            </a:endParaRPr>
          </a:p>
          <a:p>
            <a:pPr eaLnBrk="1" hangingPunct="1">
              <a:spcBef>
                <a:spcPct val="50000"/>
              </a:spcBef>
            </a:pPr>
            <a:r>
              <a:rPr lang="en-US" altLang="en-US" sz="2100">
                <a:latin typeface="Times New Roman" panose="02020603050405020304" pitchFamily="18" charset="0"/>
                <a:cs typeface="Times New Roman" panose="02020603050405020304" pitchFamily="18" charset="0"/>
                <a:hlinkClick r:id="rId4"/>
              </a:rPr>
              <a:t>http://www.R-project.org</a:t>
            </a:r>
            <a:endParaRPr lang="en-US" altLang="en-US" sz="2100">
              <a:latin typeface="Times New Roman" panose="02020603050405020304" pitchFamily="18" charset="0"/>
              <a:cs typeface="Times New Roman" panose="02020603050405020304" pitchFamily="18"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4B3AF1A-F19B-3100-EB8A-D7B721C41C6C}"/>
              </a:ext>
            </a:extLst>
          </p:cNvPr>
          <p:cNvSpPr>
            <a:spLocks noGrp="1"/>
          </p:cNvSpPr>
          <p:nvPr>
            <p:ph type="ctrTitle"/>
          </p:nvPr>
        </p:nvSpPr>
        <p:spPr/>
        <p:txBody>
          <a:bodyPr/>
          <a:lstStyle/>
          <a:p>
            <a:endParaRPr lang="en-IN" dirty="0"/>
          </a:p>
        </p:txBody>
      </p:sp>
    </p:spTree>
    <p:extLst>
      <p:ext uri="{BB962C8B-B14F-4D97-AF65-F5344CB8AC3E}">
        <p14:creationId xmlns:p14="http://schemas.microsoft.com/office/powerpoint/2010/main" val="3873276465"/>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5016</TotalTime>
  <Words>6705</Words>
  <Application>Microsoft Office PowerPoint</Application>
  <PresentationFormat>On-screen Show (16:9)</PresentationFormat>
  <Paragraphs>937</Paragraphs>
  <Slides>113</Slides>
  <Notes>38</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113</vt:i4>
      </vt:variant>
    </vt:vector>
  </HeadingPairs>
  <TitlesOfParts>
    <vt:vector size="127" baseType="lpstr">
      <vt:lpstr>Aptos</vt:lpstr>
      <vt:lpstr>Aptos Display</vt:lpstr>
      <vt:lpstr>Arial</vt:lpstr>
      <vt:lpstr>Arial Narrow</vt:lpstr>
      <vt:lpstr>Calibri</vt:lpstr>
      <vt:lpstr>Cambria Math</vt:lpstr>
      <vt:lpstr>Nunito</vt:lpstr>
      <vt:lpstr>Symbol</vt:lpstr>
      <vt:lpstr>Tahoma</vt:lpstr>
      <vt:lpstr>Times New Roman</vt:lpstr>
      <vt:lpstr>Wingdings</vt:lpstr>
      <vt:lpstr>Simple Light</vt:lpstr>
      <vt:lpstr>Simple Light</vt:lpstr>
      <vt:lpstr>Office Theme</vt:lpstr>
      <vt:lpstr>       Calculus and Statistics(HS1076) Unit 5- Descriptive Statistics </vt:lpstr>
      <vt:lpstr>PowerPoint Presentation</vt:lpstr>
      <vt:lpstr>Content</vt:lpstr>
      <vt:lpstr>PowerPoint Presentation</vt:lpstr>
      <vt:lpstr>Introduction to Descriptive Statistics</vt:lpstr>
      <vt:lpstr>PowerPoint Presentation</vt:lpstr>
      <vt:lpstr>Applications  </vt:lpstr>
      <vt:lpstr>PowerPoint Presentation</vt:lpstr>
      <vt:lpstr>Population vs Sample</vt:lpstr>
      <vt:lpstr>PowerPoint Presentation</vt:lpstr>
      <vt:lpstr>Data/Statistical Variable: A collection of actual observations or scores in a survey or an experiment  Any statistical analysis is performed on data.  </vt:lpstr>
      <vt:lpstr>PowerPoint Presentation</vt:lpstr>
      <vt:lpstr>PowerPoint Presentation</vt:lpstr>
      <vt:lpstr>Data representation: Grouped vs Ungrouped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Measures of Central Tendency</vt:lpstr>
      <vt:lpstr>PowerPoint Presentation</vt:lpstr>
      <vt:lpstr>Illustrative  Examples </vt:lpstr>
      <vt:lpstr>PowerPoint Presentation</vt:lpstr>
      <vt:lpstr>PowerPoint Presentation</vt:lpstr>
      <vt:lpstr>PowerPoint Presentation</vt:lpstr>
      <vt:lpstr>Median: The middle value of the dataset when arranged in ascending order.  For ungrouped data:</vt:lpstr>
      <vt:lpstr>Illustrative  Examples </vt:lpstr>
      <vt:lpstr>PowerPoint Presentation</vt:lpstr>
      <vt:lpstr>Median for grouped data</vt:lpstr>
      <vt:lpstr>PowerPoint Presentation</vt:lpstr>
      <vt:lpstr>PowerPoint Presentation</vt:lpstr>
      <vt:lpstr>PowerPoint Presentation</vt:lpstr>
      <vt:lpstr>Illustrative example for Ungrouped data </vt:lpstr>
      <vt:lpstr>Conclusion: </vt:lpstr>
      <vt:lpstr>PowerPoint Presentation</vt:lpstr>
      <vt:lpstr>PowerPoint Presentation</vt:lpstr>
      <vt:lpstr>Measures of Dispersion/Spread</vt:lpstr>
      <vt:lpstr>PowerPoint Presentation</vt:lpstr>
      <vt:lpstr>Measures of Dispersion/ Variability Measurement </vt:lpstr>
      <vt:lpstr>PowerPoint Presentation</vt:lpstr>
      <vt:lpstr>PowerPoint Presentation</vt:lpstr>
      <vt:lpstr>.</vt:lpstr>
      <vt:lpst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Examples of Bowley's Measure solved after quartile introduction </vt:lpstr>
      <vt:lpstr>PowerPoint Presentation</vt:lpstr>
      <vt:lpstr>Kurtosis</vt:lpstr>
      <vt:lpstr>Moments</vt:lpstr>
      <vt:lpstr>Formulae to calculate Moments about the Mean:  </vt:lpstr>
      <vt:lpstr>The Coefficient of kurtosis:  </vt:lpstr>
      <vt:lpstr>PowerPoint Presentation</vt:lpstr>
      <vt:lpstr>PowerPoint Presentation</vt:lpstr>
      <vt:lpstr>PowerPoint Presentation</vt:lpstr>
      <vt:lpstr>PowerPoint Presentation</vt:lpstr>
      <vt:lpstr>PowerPoint Presentation</vt:lpstr>
      <vt:lpstr>Quartiles, Deciles, Percentiles Partition values are statistical measures that divide a dataset into equal parts.  They help in understanding the distribution and spread of data by indicating where certain percentages of the data fall.   There are several ways to divide an observation when required.   The most used partition values are quartiles, deciles, and percentiles.  To divide the observation into two equally sized parts, the median can be used.   </vt:lpstr>
      <vt:lpstr>Quartiles: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Visualization</vt:lpstr>
      <vt:lpstr>PowerPoint Presentation</vt:lpstr>
      <vt:lpstr>Data Visualization: Histogram</vt:lpstr>
      <vt:lpstr>PowerPoint Presentation</vt:lpstr>
      <vt:lpstr>PowerPoint Presentation</vt:lpstr>
      <vt:lpstr>PowerPoint Presentation</vt:lpstr>
      <vt:lpstr>PowerPoint Presentation</vt:lpstr>
      <vt:lpstr>PowerPoint Presentation</vt:lpstr>
      <vt:lpstr>PowerPoint Presentation</vt:lpstr>
      <vt:lpstr>The required histogram is:</vt:lpstr>
      <vt:lpstr>PowerPoint Presentation</vt:lpstr>
      <vt:lpstr>PowerPoint Presentation</vt:lpstr>
      <vt:lpstr>Data Visualization: Box Plot (Box-and-Whisker Plot)</vt:lpstr>
      <vt:lpstr>PowerPoint Presentation</vt:lpstr>
      <vt:lpstr>The five numbers used in a box plot are:</vt:lpstr>
      <vt:lpstr>PowerPoint Presentation</vt:lpstr>
      <vt:lpstr>PowerPoint Presentation</vt:lpstr>
      <vt:lpstr>PowerPoint Presentation</vt:lpstr>
      <vt:lpstr>PowerPoint Presentation</vt:lpstr>
      <vt:lpstr>PowerPoint Presentation</vt:lpstr>
      <vt:lpstr>Conclusion</vt:lpstr>
      <vt:lpstr>PowerPoint Presentation</vt:lpstr>
      <vt:lpstr>PowerPoint Presentation</vt:lpstr>
      <vt:lpstr>PowerPoint Presentation</vt:lpstr>
      <vt:lpstr>PowerPoint Presentation</vt:lpstr>
      <vt:lpstr>Conclusion: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Rutuja</dc:creator>
  <cp:lastModifiedBy>Pooja Wanjale</cp:lastModifiedBy>
  <cp:revision>42</cp:revision>
  <dcterms:modified xsi:type="dcterms:W3CDTF">2025-01-17T06:43:02Z</dcterms:modified>
</cp:coreProperties>
</file>